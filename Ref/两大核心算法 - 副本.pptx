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14" r:id="rId2"/>
    <p:sldId id="582" r:id="rId3"/>
    <p:sldId id="600" r:id="rId4"/>
    <p:sldId id="590" r:id="rId5"/>
    <p:sldId id="616" r:id="rId6"/>
    <p:sldId id="622" r:id="rId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0"/>
    </p:embeddedFont>
    <p:embeddedFont>
      <p:font typeface="Arial Unicode MS" panose="02010600030101010101" charset="-122"/>
      <p:regular r:id="rId11"/>
    </p:embeddedFont>
    <p:embeddedFont>
      <p:font typeface="黑体" panose="02010609060101010101" pitchFamily="49" charset="-122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等线 Light" panose="02010600030101010101" pitchFamily="2" charset="-122"/>
      <p:regular r:id="rId17"/>
    </p:embeddedFont>
    <p:embeddedFont>
      <p:font typeface="仿宋" panose="02010609060101010101" pitchFamily="49" charset="-122"/>
      <p:regular r:id="rId18"/>
    </p:embeddedFont>
    <p:embeddedFont>
      <p:font typeface="微软雅黑" panose="020B0503020204020204" pitchFamily="34" charset="-122"/>
      <p:regular r:id="rId19"/>
      <p:bold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88524E8-F18D-4925-8788-3BA63FD10D9F}">
          <p14:sldIdLst>
            <p14:sldId id="614"/>
            <p14:sldId id="582"/>
            <p14:sldId id="600"/>
            <p14:sldId id="590"/>
          </p14:sldIdLst>
        </p14:section>
        <p14:section name="无标题节" id="{295C8A62-12AE-4459-83D9-E34DB479808F}">
          <p14:sldIdLst>
            <p14:sldId id="616"/>
            <p14:sldId id="622"/>
          </p14:sldIdLst>
        </p14:section>
      </p14:sectionLst>
    </p:ext>
    <p:ext uri="{EFAFB233-063F-42B5-8137-9DF3F51BA10A}">
      <p15:sldGuideLst xmlns:p15="http://schemas.microsoft.com/office/powerpoint/2012/main">
        <p15:guide id="1" pos="2911">
          <p15:clr>
            <a:srgbClr val="A4A3A4"/>
          </p15:clr>
        </p15:guide>
        <p15:guide id="2" pos="432">
          <p15:clr>
            <a:srgbClr val="A4A3A4"/>
          </p15:clr>
        </p15:guide>
        <p15:guide id="3" pos="5472">
          <p15:clr>
            <a:srgbClr val="A4A3A4"/>
          </p15:clr>
        </p15:guide>
        <p15:guide id="4" orient="horz" pos="1398">
          <p15:clr>
            <a:srgbClr val="A4A3A4"/>
          </p15:clr>
        </p15:guide>
        <p15:guide id="5" orient="horz" pos="21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26">
          <p15:clr>
            <a:srgbClr val="A4A3A4"/>
          </p15:clr>
        </p15:guide>
        <p15:guide id="2" pos="218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PTer_Tang" initials="z" lastIdx="1" clrIdx="0"/>
  <p:cmAuthor id="1" name="未知用户1" initials="未知用户1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F29"/>
    <a:srgbClr val="1C2B38"/>
    <a:srgbClr val="1D9FDB"/>
    <a:srgbClr val="F34D03"/>
    <a:srgbClr val="FC611F"/>
    <a:srgbClr val="F9F8F7"/>
    <a:srgbClr val="B5E61D"/>
    <a:srgbClr val="F5F5C0"/>
    <a:srgbClr val="A4321B"/>
    <a:srgbClr val="FFC5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0" autoAdjust="0"/>
    <p:restoredTop sz="82949" autoAdjust="0"/>
  </p:normalViewPr>
  <p:slideViewPr>
    <p:cSldViewPr snapToGrid="0">
      <p:cViewPr varScale="1">
        <p:scale>
          <a:sx n="122" d="100"/>
          <a:sy n="122" d="100"/>
        </p:scale>
        <p:origin x="1092" y="90"/>
      </p:cViewPr>
      <p:guideLst>
        <p:guide pos="2911"/>
        <p:guide pos="432"/>
        <p:guide pos="5472"/>
        <p:guide orient="horz" pos="1398"/>
        <p:guide orient="horz" pos="21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820" y="78"/>
      </p:cViewPr>
      <p:guideLst>
        <p:guide orient="horz" pos="2826"/>
        <p:guide pos="218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3B35E-2B52-46A9-B487-11FFF08415F9}" type="datetimeFigureOut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A6BF4F-2F03-42A8-A044-974FC80D2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504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CCFDA-07A8-45FD-A46A-DFD73DA7AABA}" type="datetimeFigureOut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DB06F-26D1-4B27-BADA-80ECDEEE8B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63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DB06F-26D1-4B27-BADA-80ECDEEE8BC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93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DB06F-26D1-4B27-BADA-80ECDEEE8BC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62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DB06F-26D1-4B27-BADA-80ECDEEE8B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96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DB06F-26D1-4B27-BADA-80ECDEEE8BC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20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这个部分要写成流程图</a:t>
            </a:r>
            <a:endParaRPr lang="en-US" altLang="zh-CN" dirty="0" smtClean="0"/>
          </a:p>
          <a:p>
            <a:r>
              <a:rPr lang="zh-CN" altLang="en-US" dirty="0" smtClean="0"/>
              <a:t>层次评估模型是属于一个创新点，需要展开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DB06F-26D1-4B27-BADA-80ECDEEE8B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744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BD30-92A3-41D3-B856-2D8D66AD7106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D77D-49A0-4D11-AD82-4565438F9E92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8539966" y="214157"/>
            <a:ext cx="359569" cy="522682"/>
            <a:chOff x="8512534" y="214157"/>
            <a:chExt cx="359569" cy="522682"/>
          </a:xfrm>
        </p:grpSpPr>
        <p:sp>
          <p:nvSpPr>
            <p:cNvPr id="12" name="Oval 40"/>
            <p:cNvSpPr>
              <a:spLocks noChangeArrowheads="1"/>
            </p:cNvSpPr>
            <p:nvPr userDrawn="1"/>
          </p:nvSpPr>
          <p:spPr bwMode="auto">
            <a:xfrm>
              <a:off x="8543491" y="686833"/>
              <a:ext cx="297656" cy="500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3" name="Freeform 41"/>
            <p:cNvSpPr/>
            <p:nvPr userDrawn="1"/>
          </p:nvSpPr>
          <p:spPr bwMode="auto">
            <a:xfrm>
              <a:off x="8512534" y="214157"/>
              <a:ext cx="359569" cy="497681"/>
            </a:xfrm>
            <a:custGeom>
              <a:avLst/>
              <a:gdLst>
                <a:gd name="T0" fmla="*/ 128 w 128"/>
                <a:gd name="T1" fmla="*/ 68 h 177"/>
                <a:gd name="T2" fmla="*/ 128 w 128"/>
                <a:gd name="T3" fmla="*/ 64 h 177"/>
                <a:gd name="T4" fmla="*/ 64 w 128"/>
                <a:gd name="T5" fmla="*/ 0 h 177"/>
                <a:gd name="T6" fmla="*/ 0 w 128"/>
                <a:gd name="T7" fmla="*/ 64 h 177"/>
                <a:gd name="T8" fmla="*/ 0 w 128"/>
                <a:gd name="T9" fmla="*/ 70 h 177"/>
                <a:gd name="T10" fmla="*/ 0 w 128"/>
                <a:gd name="T11" fmla="*/ 71 h 177"/>
                <a:gd name="T12" fmla="*/ 64 w 128"/>
                <a:gd name="T13" fmla="*/ 177 h 177"/>
                <a:gd name="T14" fmla="*/ 125 w 128"/>
                <a:gd name="T15" fmla="*/ 83 h 177"/>
                <a:gd name="T16" fmla="*/ 128 w 128"/>
                <a:gd name="T17" fmla="*/ 6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77">
                  <a:moveTo>
                    <a:pt x="128" y="68"/>
                  </a:moveTo>
                  <a:cubicBezTo>
                    <a:pt x="128" y="65"/>
                    <a:pt x="128" y="64"/>
                    <a:pt x="128" y="64"/>
                  </a:cubicBezTo>
                  <a:cubicBezTo>
                    <a:pt x="128" y="28"/>
                    <a:pt x="99" y="0"/>
                    <a:pt x="64" y="0"/>
                  </a:cubicBezTo>
                  <a:cubicBezTo>
                    <a:pt x="29" y="0"/>
                    <a:pt x="0" y="28"/>
                    <a:pt x="0" y="64"/>
                  </a:cubicBezTo>
                  <a:cubicBezTo>
                    <a:pt x="0" y="66"/>
                    <a:pt x="0" y="68"/>
                    <a:pt x="0" y="70"/>
                  </a:cubicBezTo>
                  <a:cubicBezTo>
                    <a:pt x="0" y="70"/>
                    <a:pt x="0" y="70"/>
                    <a:pt x="0" y="71"/>
                  </a:cubicBezTo>
                  <a:cubicBezTo>
                    <a:pt x="5" y="122"/>
                    <a:pt x="64" y="177"/>
                    <a:pt x="64" y="177"/>
                  </a:cubicBezTo>
                  <a:cubicBezTo>
                    <a:pt x="105" y="138"/>
                    <a:pt x="120" y="103"/>
                    <a:pt x="125" y="83"/>
                  </a:cubicBezTo>
                  <a:cubicBezTo>
                    <a:pt x="127" y="78"/>
                    <a:pt x="127" y="73"/>
                    <a:pt x="128" y="68"/>
                  </a:cubicBezTo>
                  <a:close/>
                </a:path>
              </a:pathLst>
            </a:custGeom>
            <a:solidFill>
              <a:srgbClr val="FC611F"/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4" name="Oval 42"/>
            <p:cNvSpPr>
              <a:spLocks noChangeArrowheads="1"/>
            </p:cNvSpPr>
            <p:nvPr userDrawn="1"/>
          </p:nvSpPr>
          <p:spPr bwMode="auto">
            <a:xfrm>
              <a:off x="8557317" y="265733"/>
              <a:ext cx="270000" cy="270000"/>
            </a:xfrm>
            <a:prstGeom prst="ellipse">
              <a:avLst/>
            </a:prstGeom>
            <a:solidFill>
              <a:schemeClr val="bg1">
                <a:alpha val="32157"/>
              </a:schemeClr>
            </a:solidFill>
            <a:ln w="57150"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49248" y="261670"/>
            <a:ext cx="2133600" cy="274637"/>
          </a:xfrm>
        </p:spPr>
        <p:txBody>
          <a:bodyPr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9C689EE7-C798-4E5C-9338-2BD7BFF69A9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1FB8-671C-42D5-8780-4A37A3F9ABBB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8539966" y="214157"/>
            <a:ext cx="359569" cy="522682"/>
            <a:chOff x="8512534" y="214157"/>
            <a:chExt cx="359569" cy="522682"/>
          </a:xfrm>
        </p:grpSpPr>
        <p:sp>
          <p:nvSpPr>
            <p:cNvPr id="17" name="Oval 40"/>
            <p:cNvSpPr>
              <a:spLocks noChangeArrowheads="1"/>
            </p:cNvSpPr>
            <p:nvPr userDrawn="1"/>
          </p:nvSpPr>
          <p:spPr bwMode="auto">
            <a:xfrm>
              <a:off x="8543491" y="686833"/>
              <a:ext cx="297656" cy="500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8" name="Freeform 41"/>
            <p:cNvSpPr/>
            <p:nvPr userDrawn="1"/>
          </p:nvSpPr>
          <p:spPr bwMode="auto">
            <a:xfrm>
              <a:off x="8512534" y="214157"/>
              <a:ext cx="359569" cy="497681"/>
            </a:xfrm>
            <a:custGeom>
              <a:avLst/>
              <a:gdLst>
                <a:gd name="T0" fmla="*/ 128 w 128"/>
                <a:gd name="T1" fmla="*/ 68 h 177"/>
                <a:gd name="T2" fmla="*/ 128 w 128"/>
                <a:gd name="T3" fmla="*/ 64 h 177"/>
                <a:gd name="T4" fmla="*/ 64 w 128"/>
                <a:gd name="T5" fmla="*/ 0 h 177"/>
                <a:gd name="T6" fmla="*/ 0 w 128"/>
                <a:gd name="T7" fmla="*/ 64 h 177"/>
                <a:gd name="T8" fmla="*/ 0 w 128"/>
                <a:gd name="T9" fmla="*/ 70 h 177"/>
                <a:gd name="T10" fmla="*/ 0 w 128"/>
                <a:gd name="T11" fmla="*/ 71 h 177"/>
                <a:gd name="T12" fmla="*/ 64 w 128"/>
                <a:gd name="T13" fmla="*/ 177 h 177"/>
                <a:gd name="T14" fmla="*/ 125 w 128"/>
                <a:gd name="T15" fmla="*/ 83 h 177"/>
                <a:gd name="T16" fmla="*/ 128 w 128"/>
                <a:gd name="T17" fmla="*/ 6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77">
                  <a:moveTo>
                    <a:pt x="128" y="68"/>
                  </a:moveTo>
                  <a:cubicBezTo>
                    <a:pt x="128" y="65"/>
                    <a:pt x="128" y="64"/>
                    <a:pt x="128" y="64"/>
                  </a:cubicBezTo>
                  <a:cubicBezTo>
                    <a:pt x="128" y="28"/>
                    <a:pt x="99" y="0"/>
                    <a:pt x="64" y="0"/>
                  </a:cubicBezTo>
                  <a:cubicBezTo>
                    <a:pt x="29" y="0"/>
                    <a:pt x="0" y="28"/>
                    <a:pt x="0" y="64"/>
                  </a:cubicBezTo>
                  <a:cubicBezTo>
                    <a:pt x="0" y="66"/>
                    <a:pt x="0" y="68"/>
                    <a:pt x="0" y="70"/>
                  </a:cubicBezTo>
                  <a:cubicBezTo>
                    <a:pt x="0" y="70"/>
                    <a:pt x="0" y="70"/>
                    <a:pt x="0" y="71"/>
                  </a:cubicBezTo>
                  <a:cubicBezTo>
                    <a:pt x="5" y="122"/>
                    <a:pt x="64" y="177"/>
                    <a:pt x="64" y="177"/>
                  </a:cubicBezTo>
                  <a:cubicBezTo>
                    <a:pt x="105" y="138"/>
                    <a:pt x="120" y="103"/>
                    <a:pt x="125" y="83"/>
                  </a:cubicBezTo>
                  <a:cubicBezTo>
                    <a:pt x="127" y="78"/>
                    <a:pt x="127" y="73"/>
                    <a:pt x="128" y="68"/>
                  </a:cubicBezTo>
                  <a:close/>
                </a:path>
              </a:pathLst>
            </a:custGeom>
            <a:solidFill>
              <a:srgbClr val="1C2B38"/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19" name="Oval 42"/>
            <p:cNvSpPr>
              <a:spLocks noChangeArrowheads="1"/>
            </p:cNvSpPr>
            <p:nvPr userDrawn="1"/>
          </p:nvSpPr>
          <p:spPr bwMode="auto">
            <a:xfrm>
              <a:off x="8557317" y="265733"/>
              <a:ext cx="270000" cy="270000"/>
            </a:xfrm>
            <a:prstGeom prst="ellipse">
              <a:avLst/>
            </a:prstGeom>
            <a:solidFill>
              <a:schemeClr val="bg1">
                <a:alpha val="32157"/>
              </a:schemeClr>
            </a:solidFill>
            <a:ln w="57150"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49248" y="261670"/>
            <a:ext cx="2133600" cy="274637"/>
          </a:xfrm>
        </p:spPr>
        <p:txBody>
          <a:bodyPr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58D60263-A96F-46DE-8AEE-71093E484CC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472F-A5DA-4179-B9F8-99F9FACC98FA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8539966" y="214157"/>
            <a:ext cx="359569" cy="522682"/>
            <a:chOff x="8512534" y="214157"/>
            <a:chExt cx="359569" cy="522682"/>
          </a:xfrm>
        </p:grpSpPr>
        <p:sp>
          <p:nvSpPr>
            <p:cNvPr id="19" name="Oval 40"/>
            <p:cNvSpPr>
              <a:spLocks noChangeArrowheads="1"/>
            </p:cNvSpPr>
            <p:nvPr userDrawn="1"/>
          </p:nvSpPr>
          <p:spPr bwMode="auto">
            <a:xfrm>
              <a:off x="8543491" y="686833"/>
              <a:ext cx="297656" cy="500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0" name="Freeform 41"/>
            <p:cNvSpPr/>
            <p:nvPr userDrawn="1"/>
          </p:nvSpPr>
          <p:spPr bwMode="auto">
            <a:xfrm>
              <a:off x="8512534" y="214157"/>
              <a:ext cx="359569" cy="497681"/>
            </a:xfrm>
            <a:custGeom>
              <a:avLst/>
              <a:gdLst>
                <a:gd name="T0" fmla="*/ 128 w 128"/>
                <a:gd name="T1" fmla="*/ 68 h 177"/>
                <a:gd name="T2" fmla="*/ 128 w 128"/>
                <a:gd name="T3" fmla="*/ 64 h 177"/>
                <a:gd name="T4" fmla="*/ 64 w 128"/>
                <a:gd name="T5" fmla="*/ 0 h 177"/>
                <a:gd name="T6" fmla="*/ 0 w 128"/>
                <a:gd name="T7" fmla="*/ 64 h 177"/>
                <a:gd name="T8" fmla="*/ 0 w 128"/>
                <a:gd name="T9" fmla="*/ 70 h 177"/>
                <a:gd name="T10" fmla="*/ 0 w 128"/>
                <a:gd name="T11" fmla="*/ 71 h 177"/>
                <a:gd name="T12" fmla="*/ 64 w 128"/>
                <a:gd name="T13" fmla="*/ 177 h 177"/>
                <a:gd name="T14" fmla="*/ 125 w 128"/>
                <a:gd name="T15" fmla="*/ 83 h 177"/>
                <a:gd name="T16" fmla="*/ 128 w 128"/>
                <a:gd name="T17" fmla="*/ 6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77">
                  <a:moveTo>
                    <a:pt x="128" y="68"/>
                  </a:moveTo>
                  <a:cubicBezTo>
                    <a:pt x="128" y="65"/>
                    <a:pt x="128" y="64"/>
                    <a:pt x="128" y="64"/>
                  </a:cubicBezTo>
                  <a:cubicBezTo>
                    <a:pt x="128" y="28"/>
                    <a:pt x="99" y="0"/>
                    <a:pt x="64" y="0"/>
                  </a:cubicBezTo>
                  <a:cubicBezTo>
                    <a:pt x="29" y="0"/>
                    <a:pt x="0" y="28"/>
                    <a:pt x="0" y="64"/>
                  </a:cubicBezTo>
                  <a:cubicBezTo>
                    <a:pt x="0" y="66"/>
                    <a:pt x="0" y="68"/>
                    <a:pt x="0" y="70"/>
                  </a:cubicBezTo>
                  <a:cubicBezTo>
                    <a:pt x="0" y="70"/>
                    <a:pt x="0" y="70"/>
                    <a:pt x="0" y="71"/>
                  </a:cubicBezTo>
                  <a:cubicBezTo>
                    <a:pt x="5" y="122"/>
                    <a:pt x="64" y="177"/>
                    <a:pt x="64" y="177"/>
                  </a:cubicBezTo>
                  <a:cubicBezTo>
                    <a:pt x="105" y="138"/>
                    <a:pt x="120" y="103"/>
                    <a:pt x="125" y="83"/>
                  </a:cubicBezTo>
                  <a:cubicBezTo>
                    <a:pt x="127" y="78"/>
                    <a:pt x="127" y="73"/>
                    <a:pt x="128" y="68"/>
                  </a:cubicBezTo>
                  <a:close/>
                </a:path>
              </a:pathLst>
            </a:custGeom>
            <a:solidFill>
              <a:srgbClr val="464F5A"/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1" name="Oval 42"/>
            <p:cNvSpPr>
              <a:spLocks noChangeArrowheads="1"/>
            </p:cNvSpPr>
            <p:nvPr userDrawn="1"/>
          </p:nvSpPr>
          <p:spPr bwMode="auto">
            <a:xfrm>
              <a:off x="8557317" y="265733"/>
              <a:ext cx="270000" cy="270000"/>
            </a:xfrm>
            <a:prstGeom prst="ellipse">
              <a:avLst/>
            </a:prstGeom>
            <a:solidFill>
              <a:schemeClr val="bg1">
                <a:alpha val="32157"/>
              </a:schemeClr>
            </a:solidFill>
            <a:ln w="57150"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49248" y="261670"/>
            <a:ext cx="2133600" cy="274637"/>
          </a:xfrm>
        </p:spPr>
        <p:txBody>
          <a:bodyPr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15126A41-347E-4916-BBAE-EA725A5E32C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9419-A016-494D-98D6-AC0758BAF85D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8539966" y="214157"/>
            <a:ext cx="359569" cy="522682"/>
            <a:chOff x="8512534" y="214157"/>
            <a:chExt cx="359569" cy="522682"/>
          </a:xfrm>
        </p:grpSpPr>
        <p:sp>
          <p:nvSpPr>
            <p:cNvPr id="21" name="Oval 40"/>
            <p:cNvSpPr>
              <a:spLocks noChangeArrowheads="1"/>
            </p:cNvSpPr>
            <p:nvPr userDrawn="1"/>
          </p:nvSpPr>
          <p:spPr bwMode="auto">
            <a:xfrm>
              <a:off x="8543491" y="686833"/>
              <a:ext cx="297656" cy="500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2" name="Freeform 41"/>
            <p:cNvSpPr/>
            <p:nvPr userDrawn="1"/>
          </p:nvSpPr>
          <p:spPr bwMode="auto">
            <a:xfrm>
              <a:off x="8512534" y="214157"/>
              <a:ext cx="359569" cy="497681"/>
            </a:xfrm>
            <a:custGeom>
              <a:avLst/>
              <a:gdLst>
                <a:gd name="T0" fmla="*/ 128 w 128"/>
                <a:gd name="T1" fmla="*/ 68 h 177"/>
                <a:gd name="T2" fmla="*/ 128 w 128"/>
                <a:gd name="T3" fmla="*/ 64 h 177"/>
                <a:gd name="T4" fmla="*/ 64 w 128"/>
                <a:gd name="T5" fmla="*/ 0 h 177"/>
                <a:gd name="T6" fmla="*/ 0 w 128"/>
                <a:gd name="T7" fmla="*/ 64 h 177"/>
                <a:gd name="T8" fmla="*/ 0 w 128"/>
                <a:gd name="T9" fmla="*/ 70 h 177"/>
                <a:gd name="T10" fmla="*/ 0 w 128"/>
                <a:gd name="T11" fmla="*/ 71 h 177"/>
                <a:gd name="T12" fmla="*/ 64 w 128"/>
                <a:gd name="T13" fmla="*/ 177 h 177"/>
                <a:gd name="T14" fmla="*/ 125 w 128"/>
                <a:gd name="T15" fmla="*/ 83 h 177"/>
                <a:gd name="T16" fmla="*/ 128 w 128"/>
                <a:gd name="T17" fmla="*/ 6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77">
                  <a:moveTo>
                    <a:pt x="128" y="68"/>
                  </a:moveTo>
                  <a:cubicBezTo>
                    <a:pt x="128" y="65"/>
                    <a:pt x="128" y="64"/>
                    <a:pt x="128" y="64"/>
                  </a:cubicBezTo>
                  <a:cubicBezTo>
                    <a:pt x="128" y="28"/>
                    <a:pt x="99" y="0"/>
                    <a:pt x="64" y="0"/>
                  </a:cubicBezTo>
                  <a:cubicBezTo>
                    <a:pt x="29" y="0"/>
                    <a:pt x="0" y="28"/>
                    <a:pt x="0" y="64"/>
                  </a:cubicBezTo>
                  <a:cubicBezTo>
                    <a:pt x="0" y="66"/>
                    <a:pt x="0" y="68"/>
                    <a:pt x="0" y="70"/>
                  </a:cubicBezTo>
                  <a:cubicBezTo>
                    <a:pt x="0" y="70"/>
                    <a:pt x="0" y="70"/>
                    <a:pt x="0" y="71"/>
                  </a:cubicBezTo>
                  <a:cubicBezTo>
                    <a:pt x="5" y="122"/>
                    <a:pt x="64" y="177"/>
                    <a:pt x="64" y="177"/>
                  </a:cubicBezTo>
                  <a:cubicBezTo>
                    <a:pt x="105" y="138"/>
                    <a:pt x="120" y="103"/>
                    <a:pt x="125" y="83"/>
                  </a:cubicBezTo>
                  <a:cubicBezTo>
                    <a:pt x="127" y="78"/>
                    <a:pt x="127" y="73"/>
                    <a:pt x="128" y="68"/>
                  </a:cubicBezTo>
                  <a:close/>
                </a:path>
              </a:pathLst>
            </a:custGeom>
            <a:solidFill>
              <a:srgbClr val="FFC543"/>
            </a:solidFill>
            <a:ln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23" name="Oval 42"/>
            <p:cNvSpPr>
              <a:spLocks noChangeArrowheads="1"/>
            </p:cNvSpPr>
            <p:nvPr userDrawn="1"/>
          </p:nvSpPr>
          <p:spPr bwMode="auto">
            <a:xfrm>
              <a:off x="8557317" y="265733"/>
              <a:ext cx="270000" cy="270000"/>
            </a:xfrm>
            <a:prstGeom prst="ellipse">
              <a:avLst/>
            </a:prstGeom>
            <a:solidFill>
              <a:schemeClr val="bg1">
                <a:alpha val="69000"/>
              </a:schemeClr>
            </a:solidFill>
            <a:ln w="57150">
              <a:noFill/>
            </a:ln>
          </p:spPr>
          <p:txBody>
            <a:bodyPr vert="horz" wrap="square" lIns="68579" tIns="34289" rIns="68579" bIns="34289" numCol="1" anchor="t" anchorCtr="0" compatLnSpc="1"/>
            <a:lstStyle/>
            <a:p>
              <a:pPr defTabSz="685165"/>
              <a:endParaRPr lang="zh-CN" altLang="en-US" sz="1400">
                <a:solidFill>
                  <a:prstClr val="black"/>
                </a:solidFill>
              </a:endParaRPr>
            </a:p>
          </p:txBody>
        </p:sp>
      </p:grp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49248" y="261670"/>
            <a:ext cx="2133600" cy="274637"/>
          </a:xfrm>
        </p:spPr>
        <p:txBody>
          <a:bodyPr/>
          <a:lstStyle>
            <a:lvl1pPr algn="ctr">
              <a:defRPr sz="1600">
                <a:solidFill>
                  <a:srgbClr val="152C34"/>
                </a:solidFill>
              </a:defRPr>
            </a:lvl1pPr>
          </a:lstStyle>
          <a:p>
            <a:fld id="{9C689EE7-C798-4E5C-9338-2BD7BFF69A9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16252-7B8A-42FB-B731-A593BE82547B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479A-F0E9-408E-AC96-12A50DF6DFD5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16493-6163-4328-B0E8-1451112E27BD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5B05B-AFAC-47C2-9CCD-15FF9FAC62EE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EDAB2-564E-4532-81D9-99F974405A41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34B0C-A1BD-45C6-8646-14FE5DDBB0A6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6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76CB3-27E0-44FC-A32A-88810EDA6F90}" type="datetime1">
              <a:rPr lang="zh-CN" altLang="en-US" smtClean="0"/>
              <a:t>2017/12/4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B34C1-29DF-48A7-B438-B832F2B28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13" Type="http://schemas.openxmlformats.org/officeDocument/2006/relationships/image" Target="../media/image8.png"/><Relationship Id="rId18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7.png"/><Relationship Id="rId17" Type="http://schemas.openxmlformats.org/officeDocument/2006/relationships/image" Target="../media/image56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500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490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480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5.jpeg"/><Relationship Id="rId11" Type="http://schemas.openxmlformats.org/officeDocument/2006/relationships/oleObject" Target="../embeddings/oleObject4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21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0263-A96F-46DE-8AEE-71093E484CCF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4" name="AutoShape 3"/>
          <p:cNvSpPr>
            <a:spLocks noChangeAspect="1" noChangeArrowheads="1" noTextEdit="1"/>
          </p:cNvSpPr>
          <p:nvPr/>
        </p:nvSpPr>
        <p:spPr bwMode="auto">
          <a:xfrm>
            <a:off x="653594" y="1530351"/>
            <a:ext cx="8562975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289201" y="1528763"/>
            <a:ext cx="6968219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621559" y="4799303"/>
            <a:ext cx="213995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76479" y="207137"/>
            <a:ext cx="155448" cy="457200"/>
          </a:xfrm>
          <a:prstGeom prst="rect">
            <a:avLst/>
          </a:prstGeom>
          <a:solidFill>
            <a:srgbClr val="FC6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88315" y="207137"/>
            <a:ext cx="0" cy="457200"/>
          </a:xfrm>
          <a:prstGeom prst="line">
            <a:avLst/>
          </a:prstGeom>
          <a:ln w="38100">
            <a:solidFill>
              <a:srgbClr val="FC61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613349" y="235952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项目</a:t>
            </a:r>
            <a:r>
              <a:rPr lang="zh-CN" altLang="en-US" sz="2000" b="1" dirty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核心</a:t>
            </a:r>
            <a:r>
              <a:rPr lang="zh-CN" altLang="en-US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算法</a:t>
            </a:r>
            <a:endParaRPr lang="zh-CN" altLang="zh-CN" sz="1600" b="1" dirty="0">
              <a:solidFill>
                <a:srgbClr val="FC61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09625" y="1496060"/>
            <a:ext cx="4446270" cy="1816100"/>
            <a:chOff x="1275" y="2356"/>
            <a:chExt cx="7002" cy="286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802" y="2664"/>
              <a:ext cx="2843" cy="700"/>
            </a:xfrm>
            <a:prstGeom prst="rect">
              <a:avLst/>
            </a:prstGeom>
            <a:solidFill>
              <a:srgbClr val="FC611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275" y="2664"/>
              <a:ext cx="3370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209" y="2356"/>
              <a:ext cx="3994" cy="745"/>
            </a:xfrm>
            <a:prstGeom prst="rect">
              <a:avLst/>
            </a:prstGeom>
            <a:solidFill>
              <a:srgbClr val="FC6F3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r>
                <a:rPr lang="zh-CN" altLang="en-US" b="1" dirty="0" smtClean="0">
                  <a:solidFill>
                    <a:schemeClr val="bg1"/>
                  </a:solidFill>
                  <a:sym typeface="+mn-ea"/>
                </a:rPr>
                <a:t>小区</a:t>
              </a:r>
              <a:r>
                <a:rPr lang="zh-CN" altLang="en-US" b="1" dirty="0" smtClean="0">
                  <a:solidFill>
                    <a:schemeClr val="bg1"/>
                  </a:solidFill>
                </a:rPr>
                <a:t>覆盖</a:t>
              </a:r>
              <a:r>
                <a:rPr lang="zh-CN" altLang="en-US" b="1" dirty="0">
                  <a:solidFill>
                    <a:schemeClr val="bg1"/>
                  </a:solidFill>
                </a:rPr>
                <a:t>模型</a:t>
              </a: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3917" y="3101"/>
              <a:ext cx="727" cy="263"/>
            </a:xfrm>
            <a:custGeom>
              <a:avLst/>
              <a:gdLst>
                <a:gd name="T0" fmla="*/ 294 w 294"/>
                <a:gd name="T1" fmla="*/ 0 h 105"/>
                <a:gd name="T2" fmla="*/ 0 w 294"/>
                <a:gd name="T3" fmla="*/ 0 h 105"/>
                <a:gd name="T4" fmla="*/ 294 w 294"/>
                <a:gd name="T5" fmla="*/ 105 h 105"/>
                <a:gd name="T6" fmla="*/ 294 w 294"/>
                <a:gd name="T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4" h="105">
                  <a:moveTo>
                    <a:pt x="294" y="0"/>
                  </a:moveTo>
                  <a:lnTo>
                    <a:pt x="0" y="0"/>
                  </a:lnTo>
                  <a:lnTo>
                    <a:pt x="294" y="105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CC5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3917" y="3101"/>
              <a:ext cx="727" cy="263"/>
            </a:xfrm>
            <a:custGeom>
              <a:avLst/>
              <a:gdLst>
                <a:gd name="T0" fmla="*/ 294 w 294"/>
                <a:gd name="T1" fmla="*/ 0 h 105"/>
                <a:gd name="T2" fmla="*/ 0 w 294"/>
                <a:gd name="T3" fmla="*/ 0 h 105"/>
                <a:gd name="T4" fmla="*/ 294 w 294"/>
                <a:gd name="T5" fmla="*/ 105 h 105"/>
                <a:gd name="T6" fmla="*/ 294 w 294"/>
                <a:gd name="T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4" h="105">
                  <a:moveTo>
                    <a:pt x="294" y="0"/>
                  </a:moveTo>
                  <a:lnTo>
                    <a:pt x="0" y="0"/>
                  </a:lnTo>
                  <a:lnTo>
                    <a:pt x="294" y="105"/>
                  </a:lnTo>
                  <a:lnTo>
                    <a:pt x="2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793" y="4471"/>
              <a:ext cx="2870" cy="74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900" y="4030"/>
              <a:ext cx="3370" cy="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4135" y="4208"/>
              <a:ext cx="4143" cy="76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4135" y="4953"/>
              <a:ext cx="727" cy="263"/>
            </a:xfrm>
            <a:custGeom>
              <a:avLst/>
              <a:gdLst>
                <a:gd name="T0" fmla="*/ 294 w 294"/>
                <a:gd name="T1" fmla="*/ 0 h 105"/>
                <a:gd name="T2" fmla="*/ 0 w 294"/>
                <a:gd name="T3" fmla="*/ 0 h 105"/>
                <a:gd name="T4" fmla="*/ 294 w 294"/>
                <a:gd name="T5" fmla="*/ 105 h 105"/>
                <a:gd name="T6" fmla="*/ 294 w 294"/>
                <a:gd name="T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4" h="105">
                  <a:moveTo>
                    <a:pt x="294" y="0"/>
                  </a:moveTo>
                  <a:lnTo>
                    <a:pt x="0" y="0"/>
                  </a:lnTo>
                  <a:lnTo>
                    <a:pt x="294" y="105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4135" y="4953"/>
              <a:ext cx="727" cy="263"/>
            </a:xfrm>
            <a:custGeom>
              <a:avLst/>
              <a:gdLst>
                <a:gd name="T0" fmla="*/ 294 w 294"/>
                <a:gd name="T1" fmla="*/ 0 h 105"/>
                <a:gd name="T2" fmla="*/ 0 w 294"/>
                <a:gd name="T3" fmla="*/ 0 h 105"/>
                <a:gd name="T4" fmla="*/ 294 w 294"/>
                <a:gd name="T5" fmla="*/ 105 h 105"/>
                <a:gd name="T6" fmla="*/ 294 w 294"/>
                <a:gd name="T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4" h="105">
                  <a:moveTo>
                    <a:pt x="294" y="0"/>
                  </a:moveTo>
                  <a:lnTo>
                    <a:pt x="0" y="0"/>
                  </a:lnTo>
                  <a:lnTo>
                    <a:pt x="294" y="105"/>
                  </a:lnTo>
                  <a:lnTo>
                    <a:pt x="2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86" y="2603"/>
              <a:ext cx="28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Algorithm  I</a:t>
              </a:r>
              <a:r>
                <a:rPr lang="en-US" altLang="zh-CN" sz="2800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63" name="矩形 62"/>
            <p:cNvSpPr/>
            <p:nvPr/>
          </p:nvSpPr>
          <p:spPr>
            <a:xfrm>
              <a:off x="4358" y="4265"/>
              <a:ext cx="2645" cy="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栅格评价模型</a:t>
              </a:r>
            </a:p>
          </p:txBody>
        </p:sp>
        <p:sp>
          <p:nvSpPr>
            <p:cNvPr id="2" name="TextBox 28"/>
            <p:cNvSpPr txBox="1"/>
            <p:nvPr/>
          </p:nvSpPr>
          <p:spPr>
            <a:xfrm>
              <a:off x="1793" y="4394"/>
              <a:ext cx="28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Algorithm  II</a:t>
              </a:r>
              <a:r>
                <a:rPr lang="en-US" altLang="zh-CN" sz="2800" dirty="0">
                  <a:solidFill>
                    <a:schemeClr val="bg1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01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276479" y="207137"/>
            <a:ext cx="155448" cy="457200"/>
          </a:xfrm>
          <a:prstGeom prst="rect">
            <a:avLst/>
          </a:prstGeom>
          <a:solidFill>
            <a:srgbClr val="FC6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88315" y="207137"/>
            <a:ext cx="0" cy="457200"/>
          </a:xfrm>
          <a:prstGeom prst="line">
            <a:avLst/>
          </a:prstGeom>
          <a:ln w="38100">
            <a:solidFill>
              <a:srgbClr val="FC61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60214" y="264227"/>
            <a:ext cx="4759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项目核心算法 </a:t>
            </a:r>
            <a:r>
              <a:rPr lang="en-US" altLang="zh-CN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–</a:t>
            </a:r>
            <a:r>
              <a:rPr lang="zh-CN" altLang="en-US" sz="2000" b="1" dirty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基于传播模型的覆盖模型</a:t>
            </a:r>
          </a:p>
        </p:txBody>
      </p:sp>
      <p:sp>
        <p:nvSpPr>
          <p:cNvPr id="57" name="矩形 56"/>
          <p:cNvSpPr/>
          <p:nvPr/>
        </p:nvSpPr>
        <p:spPr>
          <a:xfrm>
            <a:off x="434950" y="828854"/>
            <a:ext cx="8183884" cy="1043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7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基本原理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marL="304792" indent="479988">
              <a:lnSpc>
                <a:spcPct val="150000"/>
              </a:lnSpc>
              <a:spcBef>
                <a:spcPts val="1333"/>
              </a:spcBef>
            </a:pPr>
            <a:r>
              <a:rPr lang="zh-CN" altLang="en-US" sz="1600" dirty="0">
                <a:latin typeface="+mn-ea"/>
              </a:rPr>
              <a:t>在某</a:t>
            </a:r>
            <a:r>
              <a:rPr lang="zh-CN" altLang="en-US" sz="1600" dirty="0" smtClean="0">
                <a:latin typeface="+mn-ea"/>
              </a:rPr>
              <a:t>区域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路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测数据</a:t>
            </a:r>
            <a:r>
              <a:rPr lang="zh-CN" altLang="en-US" sz="1600" dirty="0">
                <a:latin typeface="+mn-ea"/>
              </a:rPr>
              <a:t>的基础上，通过一定算法获得该区域无线传播路损公式的过程</a:t>
            </a: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40" y="2233330"/>
            <a:ext cx="3781533" cy="523817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937901" y="21733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路测数据</a:t>
            </a:r>
          </a:p>
        </p:txBody>
      </p:sp>
      <p:sp>
        <p:nvSpPr>
          <p:cNvPr id="60" name="线形标注 2 59"/>
          <p:cNvSpPr/>
          <p:nvPr/>
        </p:nvSpPr>
        <p:spPr>
          <a:xfrm>
            <a:off x="2247950" y="2298901"/>
            <a:ext cx="707780" cy="387518"/>
          </a:xfrm>
          <a:prstGeom prst="borderCallout2">
            <a:avLst>
              <a:gd name="adj1" fmla="val 85521"/>
              <a:gd name="adj2" fmla="val -2407"/>
              <a:gd name="adj3" fmla="val 69263"/>
              <a:gd name="adj4" fmla="val -30904"/>
              <a:gd name="adj5" fmla="val 62989"/>
              <a:gd name="adj6" fmla="val -46028"/>
            </a:avLst>
          </a:pr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线形标注 2 60"/>
          <p:cNvSpPr/>
          <p:nvPr/>
        </p:nvSpPr>
        <p:spPr>
          <a:xfrm>
            <a:off x="3264661" y="2291281"/>
            <a:ext cx="828980" cy="387518"/>
          </a:xfrm>
          <a:prstGeom prst="borderCallout2">
            <a:avLst>
              <a:gd name="adj1" fmla="val 14724"/>
              <a:gd name="adj2" fmla="val 99157"/>
              <a:gd name="adj3" fmla="val 16328"/>
              <a:gd name="adj4" fmla="val 99507"/>
              <a:gd name="adj5" fmla="val -3481"/>
              <a:gd name="adj6" fmla="val 165600"/>
            </a:avLst>
          </a:pr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619092" y="20836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天线工参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5975654" y="2249112"/>
            <a:ext cx="2685371" cy="703082"/>
            <a:chOff x="5832021" y="1691857"/>
            <a:chExt cx="2685371" cy="703082"/>
          </a:xfrm>
        </p:grpSpPr>
        <p:pic>
          <p:nvPicPr>
            <p:cNvPr id="64" name="图片 6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4331" y="2099094"/>
              <a:ext cx="688725" cy="252532"/>
            </a:xfrm>
            <a:prstGeom prst="rect">
              <a:avLst/>
            </a:prstGeom>
          </p:spPr>
        </p:pic>
        <p:grpSp>
          <p:nvGrpSpPr>
            <p:cNvPr id="65" name="组合 64"/>
            <p:cNvGrpSpPr/>
            <p:nvPr/>
          </p:nvGrpSpPr>
          <p:grpSpPr>
            <a:xfrm>
              <a:off x="5832021" y="1691857"/>
              <a:ext cx="2685371" cy="703082"/>
              <a:chOff x="5832021" y="1691857"/>
              <a:chExt cx="2685371" cy="703082"/>
            </a:xfrm>
          </p:grpSpPr>
          <p:pic>
            <p:nvPicPr>
              <p:cNvPr id="66" name="图片 6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32021" y="1731420"/>
                <a:ext cx="324091" cy="239328"/>
              </a:xfrm>
              <a:prstGeom prst="rect">
                <a:avLst/>
              </a:prstGeom>
            </p:spPr>
          </p:pic>
          <p:pic>
            <p:nvPicPr>
              <p:cNvPr id="67" name="图片 66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57788" y="1739598"/>
                <a:ext cx="160249" cy="207732"/>
              </a:xfrm>
              <a:prstGeom prst="rect">
                <a:avLst/>
              </a:prstGeom>
            </p:spPr>
          </p:pic>
          <p:pic>
            <p:nvPicPr>
              <p:cNvPr id="68" name="图片 67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00136" y="2155847"/>
                <a:ext cx="194705" cy="23256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矩形 68"/>
                  <p:cNvSpPr/>
                  <p:nvPr/>
                </p:nvSpPr>
                <p:spPr>
                  <a:xfrm>
                    <a:off x="7733056" y="2080071"/>
                    <a:ext cx="784336" cy="30777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zh-CN" altLang="en-US" sz="1400" dirty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路径损耗</m:t>
                          </m:r>
                        </m:oMath>
                      </m:oMathPara>
                    </a14:m>
                    <a:endParaRPr lang="zh-CN" altLang="en-US" sz="1400" dirty="0">
                      <a:latin typeface="Cambria Math" panose="02040503050406030204" pitchFamily="18" charset="0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5" name="矩形 2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3056" y="2080071"/>
                    <a:ext cx="784336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4844" b="-39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矩形 69"/>
                  <p:cNvSpPr/>
                  <p:nvPr/>
                </p:nvSpPr>
                <p:spPr>
                  <a:xfrm>
                    <a:off x="7502718" y="1700086"/>
                    <a:ext cx="784336" cy="30777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40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天线增益</m:t>
                          </m:r>
                        </m:oMath>
                      </m:oMathPara>
                    </a14:m>
                    <a:endParaRPr lang="zh-CN" altLang="en-US" sz="1400" dirty="0">
                      <a:latin typeface="Cambria Math" panose="02040503050406030204" pitchFamily="18" charset="0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6" name="矩形 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02718" y="1700086"/>
                    <a:ext cx="784336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4844" b="-4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矩形 70"/>
                  <p:cNvSpPr/>
                  <p:nvPr/>
                </p:nvSpPr>
                <p:spPr>
                  <a:xfrm>
                    <a:off x="6118225" y="2087162"/>
                    <a:ext cx="784336" cy="30777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zh-CN" altLang="en-US" sz="1400" dirty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线路损耗</m:t>
                          </m:r>
                        </m:oMath>
                      </m:oMathPara>
                    </a14:m>
                    <a:endParaRPr lang="zh-CN" altLang="en-US" sz="1400" dirty="0">
                      <a:latin typeface="Cambria Math" panose="02040503050406030204" pitchFamily="18" charset="0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7" name="矩形 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18225" y="2087162"/>
                    <a:ext cx="784336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4844" b="-39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矩形 71"/>
                  <p:cNvSpPr/>
                  <p:nvPr/>
                </p:nvSpPr>
                <p:spPr>
                  <a:xfrm>
                    <a:off x="6179793" y="1691857"/>
                    <a:ext cx="784336" cy="30777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400" i="0" dirty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发射功率</m:t>
                          </m:r>
                        </m:oMath>
                      </m:oMathPara>
                    </a14:m>
                    <a:endPara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8" name="矩形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9793" y="1691857"/>
                    <a:ext cx="784336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4844" b="-6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3" name="文本框 72"/>
          <p:cNvSpPr txBox="1"/>
          <p:nvPr/>
        </p:nvSpPr>
        <p:spPr>
          <a:xfrm>
            <a:off x="1260636" y="3003400"/>
            <a:ext cx="5785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以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LTE</a:t>
            </a:r>
            <a:r>
              <a:rPr lang="zh-CN" altLang="en-US" sz="1600" dirty="0">
                <a:latin typeface="+mn-ea"/>
              </a:rPr>
              <a:t>网络为例，目前普遍使用</a:t>
            </a:r>
            <a:r>
              <a:rPr lang="en-US" altLang="zh-CN" sz="2000" b="1" dirty="0">
                <a:latin typeface="+mn-ea"/>
              </a:rPr>
              <a:t>SPM</a:t>
            </a:r>
            <a:r>
              <a:rPr lang="zh-CN" altLang="en-US" sz="2000" b="1" dirty="0" smtClean="0">
                <a:latin typeface="+mn-ea"/>
              </a:rPr>
              <a:t>模型</a:t>
            </a:r>
            <a:r>
              <a:rPr lang="en-US" altLang="zh-CN" sz="1600" dirty="0" smtClean="0">
                <a:latin typeface="+mn-ea"/>
              </a:rPr>
              <a:t>[1],</a:t>
            </a:r>
            <a:r>
              <a:rPr lang="zh-CN" altLang="en-US" sz="1600" dirty="0">
                <a:latin typeface="+mn-ea"/>
              </a:rPr>
              <a:t>路损公式如下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1700884" y="3961405"/>
            <a:ext cx="6562946" cy="326315"/>
            <a:chOff x="1509227" y="3310616"/>
            <a:chExt cx="6562946" cy="326315"/>
          </a:xfrm>
        </p:grpSpPr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5918" y="3354530"/>
              <a:ext cx="1112376" cy="258431"/>
            </a:xfrm>
            <a:prstGeom prst="rect">
              <a:avLst/>
            </a:prstGeom>
          </p:spPr>
        </p:pic>
        <p:pic>
          <p:nvPicPr>
            <p:cNvPr id="76" name="图片 75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8376" y="3353125"/>
              <a:ext cx="319381" cy="259836"/>
            </a:xfrm>
            <a:prstGeom prst="rect">
              <a:avLst/>
            </a:prstGeom>
          </p:spPr>
        </p:pic>
        <p:pic>
          <p:nvPicPr>
            <p:cNvPr id="77" name="图片 7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2811" y="3327031"/>
              <a:ext cx="896551" cy="309717"/>
            </a:xfrm>
            <a:prstGeom prst="rect">
              <a:avLst/>
            </a:prstGeom>
          </p:spPr>
        </p:pic>
        <p:pic>
          <p:nvPicPr>
            <p:cNvPr id="78" name="图片 77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9227" y="3351404"/>
              <a:ext cx="255381" cy="26698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矩形 78"/>
                <p:cNvSpPr/>
                <p:nvPr/>
              </p:nvSpPr>
              <p:spPr>
                <a:xfrm>
                  <a:off x="1683674" y="3310616"/>
                  <a:ext cx="94288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40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天线挂高</m:t>
                        </m:r>
                      </m:oMath>
                    </m:oMathPara>
                  </a14:m>
                  <a:endParaRPr lang="zh-CN" altLang="en-US" sz="1400" dirty="0">
                    <a:latin typeface="Cambria Math" panose="02040503050406030204" pitchFamily="18" charset="0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6" name="矩形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3674" y="3310616"/>
                  <a:ext cx="942886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矩形 79"/>
                <p:cNvSpPr/>
                <p:nvPr/>
              </p:nvSpPr>
              <p:spPr>
                <a:xfrm>
                  <a:off x="5289850" y="3329154"/>
                  <a:ext cx="98296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40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绕射因子</m:t>
                        </m:r>
                        <m:r>
                          <a:rPr lang="en-US" altLang="zh-CN" sz="140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 </m:t>
                        </m:r>
                      </m:oMath>
                    </m:oMathPara>
                  </a14:m>
                  <a:endParaRPr lang="zh-CN" altLang="en-US" sz="1400" dirty="0">
                    <a:latin typeface="Cambria Math" panose="02040503050406030204" pitchFamily="18" charset="0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7" name="矩形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850" y="3329154"/>
                  <a:ext cx="982961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矩形 80"/>
                <p:cNvSpPr/>
                <p:nvPr/>
              </p:nvSpPr>
              <p:spPr>
                <a:xfrm>
                  <a:off x="3006484" y="3328971"/>
                  <a:ext cx="116249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400" dirty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移动台高度</m:t>
                        </m:r>
                        <m:r>
                          <a:rPr lang="en-US" altLang="zh-CN" sz="1400" dirty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 </m:t>
                        </m:r>
                      </m:oMath>
                    </m:oMathPara>
                  </a14:m>
                  <a:endParaRPr lang="zh-CN" altLang="en-US" sz="1400" dirty="0">
                    <a:latin typeface="Cambria Math" panose="02040503050406030204" pitchFamily="18" charset="0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8" name="矩形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6484" y="3328971"/>
                  <a:ext cx="1162498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矩形 81"/>
            <p:cNvSpPr/>
            <p:nvPr/>
          </p:nvSpPr>
          <p:spPr>
            <a:xfrm>
              <a:off x="7169362" y="3320047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latin typeface="Cambria Math" panose="02040503050406030204" pitchFamily="18" charset="0"/>
                  <a:ea typeface="仿宋" panose="02010609060101010101" pitchFamily="49" charset="-122"/>
                </a:rPr>
                <a:t>地物因子</a:t>
              </a: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940" y="3485620"/>
            <a:ext cx="7575288" cy="402452"/>
          </a:xfrm>
          <a:prstGeom prst="rect">
            <a:avLst/>
          </a:prstGeom>
        </p:spPr>
      </p:pic>
      <p:sp>
        <p:nvSpPr>
          <p:cNvPr id="84" name="线形标注 2 83"/>
          <p:cNvSpPr/>
          <p:nvPr/>
        </p:nvSpPr>
        <p:spPr>
          <a:xfrm>
            <a:off x="7609693" y="3518226"/>
            <a:ext cx="1099355" cy="331898"/>
          </a:xfrm>
          <a:prstGeom prst="borderCallout2">
            <a:avLst>
              <a:gd name="adj1" fmla="val 98708"/>
              <a:gd name="adj2" fmla="val 76480"/>
              <a:gd name="adj3" fmla="val 239990"/>
              <a:gd name="adj4" fmla="val 79393"/>
              <a:gd name="adj5" fmla="val 228654"/>
              <a:gd name="adj6" fmla="val 80315"/>
            </a:avLst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线形标注 2 86"/>
          <p:cNvSpPr/>
          <p:nvPr/>
        </p:nvSpPr>
        <p:spPr>
          <a:xfrm>
            <a:off x="2093921" y="3524587"/>
            <a:ext cx="5319752" cy="362594"/>
          </a:xfrm>
          <a:prstGeom prst="borderCallout2">
            <a:avLst>
              <a:gd name="adj1" fmla="val 90677"/>
              <a:gd name="adj2" fmla="val 315"/>
              <a:gd name="adj3" fmla="val 150048"/>
              <a:gd name="adj4" fmla="val -12856"/>
              <a:gd name="adj5" fmla="val 143774"/>
              <a:gd name="adj6" fmla="val -11794"/>
            </a:avLst>
          </a:pr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394636" y="404365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空间损耗</a:t>
            </a:r>
          </a:p>
        </p:txBody>
      </p:sp>
      <p:sp>
        <p:nvSpPr>
          <p:cNvPr id="89" name="矩形 88"/>
          <p:cNvSpPr/>
          <p:nvPr/>
        </p:nvSpPr>
        <p:spPr>
          <a:xfrm>
            <a:off x="7046194" y="4337105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地物</a:t>
            </a:r>
            <a:r>
              <a:rPr lang="zh-CN" altLang="en-US" dirty="0" smtClean="0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损耗 经验值</a:t>
            </a:r>
            <a:endParaRPr lang="zh-CN" altLang="en-US" dirty="0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070956" y="4679695"/>
            <a:ext cx="71928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仿宋" panose="02010609060101010101" pitchFamily="49" charset="-122"/>
                <a:cs typeface="Arial" panose="020B0604020202020204" pitchFamily="34" charset="0"/>
              </a:rPr>
              <a:t>[1] Martinez Z O N, Rodriguez C, Arias O M. Propagation characteristics of Managua city based on Standard Propagation Model (SPM) at 850 MHz for 3G-WCDMA systems[C]// Central America and Panama Convention. IEEE, 2015:1-6.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73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 animBg="1"/>
      <p:bldP spid="61" grpId="0" animBg="1"/>
      <p:bldP spid="62" grpId="0"/>
      <p:bldP spid="73" grpId="0"/>
      <p:bldP spid="84" grpId="0" animBg="1"/>
      <p:bldP spid="87" grpId="0" animBg="1"/>
      <p:bldP spid="88" grpId="0"/>
      <p:bldP spid="8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473" y="786270"/>
            <a:ext cx="6652481" cy="3897066"/>
          </a:xfrm>
          <a:prstGeom prst="rect">
            <a:avLst/>
          </a:prstGeom>
        </p:spPr>
      </p:pic>
      <p:sp>
        <p:nvSpPr>
          <p:cNvPr id="38" name="矩形标注 37"/>
          <p:cNvSpPr/>
          <p:nvPr/>
        </p:nvSpPr>
        <p:spPr>
          <a:xfrm>
            <a:off x="7203566" y="248576"/>
            <a:ext cx="1050351" cy="459486"/>
          </a:xfrm>
          <a:prstGeom prst="wedgeRectCallout">
            <a:avLst>
              <a:gd name="adj1" fmla="val -58693"/>
              <a:gd name="adj2" fmla="val 175478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 smtClean="0"/>
              <a:t>路测数据</a:t>
            </a:r>
            <a:endParaRPr lang="zh-CN" altLang="en-US" sz="1350" dirty="0"/>
          </a:p>
        </p:txBody>
      </p:sp>
      <p:sp>
        <p:nvSpPr>
          <p:cNvPr id="25" name="矩形 24"/>
          <p:cNvSpPr/>
          <p:nvPr/>
        </p:nvSpPr>
        <p:spPr>
          <a:xfrm>
            <a:off x="276479" y="207137"/>
            <a:ext cx="155448" cy="457200"/>
          </a:xfrm>
          <a:prstGeom prst="rect">
            <a:avLst/>
          </a:prstGeom>
          <a:solidFill>
            <a:srgbClr val="FC6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88315" y="207137"/>
            <a:ext cx="0" cy="457200"/>
          </a:xfrm>
          <a:prstGeom prst="line">
            <a:avLst/>
          </a:prstGeom>
          <a:ln w="38100">
            <a:solidFill>
              <a:srgbClr val="FC61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47098" y="235682"/>
            <a:ext cx="4759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项目核心算法 </a:t>
            </a:r>
            <a:r>
              <a:rPr lang="en-US" altLang="zh-CN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–</a:t>
            </a:r>
            <a:r>
              <a:rPr lang="zh-CN" altLang="en-US" sz="2000" b="1" dirty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基于传播模型的覆盖模型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09258" y="954523"/>
            <a:ext cx="6601467" cy="2766474"/>
            <a:chOff x="1309258" y="954523"/>
            <a:chExt cx="6601467" cy="2766474"/>
          </a:xfrm>
        </p:grpSpPr>
        <p:sp>
          <p:nvSpPr>
            <p:cNvPr id="53" name="文本框 21"/>
            <p:cNvSpPr txBox="1"/>
            <p:nvPr/>
          </p:nvSpPr>
          <p:spPr>
            <a:xfrm>
              <a:off x="6517853" y="3162138"/>
              <a:ext cx="13928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Bef>
                  <a:spcPts val="780"/>
                </a:spcBef>
                <a:spcAft>
                  <a:spcPts val="780"/>
                </a:spcAft>
              </a:pPr>
              <a:endParaRPr lang="zh-CN" kern="100" dirty="0">
                <a:solidFill>
                  <a:srgbClr val="FF0000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1331237" y="954523"/>
              <a:ext cx="1193131" cy="100544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1315260" y="1959968"/>
              <a:ext cx="1209108" cy="63474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1309258" y="3115971"/>
              <a:ext cx="1215109" cy="605026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1309260" y="2593698"/>
              <a:ext cx="1215108" cy="52227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1" name="文本框 21"/>
            <p:cNvSpPr txBox="1"/>
            <p:nvPr/>
          </p:nvSpPr>
          <p:spPr>
            <a:xfrm>
              <a:off x="1422390" y="2165385"/>
              <a:ext cx="13928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spcBef>
                  <a:spcPts val="780"/>
                </a:spcBef>
                <a:spcAft>
                  <a:spcPts val="780"/>
                </a:spcAft>
              </a:pPr>
              <a:r>
                <a:rPr lang="zh-CN" altLang="en-US" kern="100" dirty="0" smtClean="0">
                  <a:solidFill>
                    <a:srgbClr val="FF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位置重复</a:t>
              </a:r>
              <a:endParaRPr lang="zh-CN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8" name="矩形 97"/>
          <p:cNvSpPr/>
          <p:nvPr/>
        </p:nvSpPr>
        <p:spPr>
          <a:xfrm>
            <a:off x="5100796" y="786269"/>
            <a:ext cx="2740157" cy="38970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1229413" y="791272"/>
            <a:ext cx="3903345" cy="3892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14225" y="2854834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780"/>
              </a:spcBef>
              <a:spcAft>
                <a:spcPts val="780"/>
              </a:spcAft>
            </a:pPr>
            <a:r>
              <a:rPr lang="zh-CN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主服务小区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30103" y="225320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780"/>
              </a:spcBef>
              <a:spcAft>
                <a:spcPts val="780"/>
              </a:spcAft>
            </a:pPr>
            <a:r>
              <a:rPr lang="zh-CN" altLang="zh-CN" kern="1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邻区</a:t>
            </a:r>
            <a:endParaRPr lang="zh-CN" altLang="zh-CN" kern="100" dirty="0">
              <a:solidFill>
                <a:srgbClr val="00206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195563" y="2904913"/>
            <a:ext cx="1456109" cy="184955"/>
          </a:xfrm>
          <a:prstGeom prst="rect">
            <a:avLst/>
          </a:prstGeom>
          <a:noFill/>
          <a:ln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436690" y="31579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780"/>
              </a:spcBef>
              <a:spcAft>
                <a:spcPts val="780"/>
              </a:spcAft>
            </a:pPr>
            <a:r>
              <a:rPr lang="zh-CN" altLang="en-US" kern="100" dirty="0">
                <a:solidFill>
                  <a:srgbClr val="002060"/>
                </a:solidFill>
                <a:latin typeface="等线 Light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信息</a:t>
            </a:r>
            <a:r>
              <a:rPr lang="zh-CN" altLang="zh-CN" kern="100" dirty="0">
                <a:solidFill>
                  <a:srgbClr val="002060"/>
                </a:solidFill>
                <a:latin typeface="等线 Light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缺失</a:t>
            </a:r>
            <a:endParaRPr lang="zh-CN" altLang="zh-CN" kern="100" dirty="0">
              <a:solidFill>
                <a:srgbClr val="00206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32332" y="957263"/>
            <a:ext cx="7869166" cy="3895300"/>
            <a:chOff x="280885" y="938512"/>
            <a:chExt cx="7869166" cy="389530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374" y="938512"/>
              <a:ext cx="7270677" cy="3895300"/>
            </a:xfrm>
            <a:prstGeom prst="rect">
              <a:avLst/>
            </a:prstGeom>
          </p:spPr>
        </p:pic>
        <p:sp>
          <p:nvSpPr>
            <p:cNvPr id="45" name="矩形标注 44"/>
            <p:cNvSpPr/>
            <p:nvPr/>
          </p:nvSpPr>
          <p:spPr>
            <a:xfrm>
              <a:off x="280885" y="1599846"/>
              <a:ext cx="1050351" cy="459486"/>
            </a:xfrm>
            <a:prstGeom prst="wedgeRectCallout">
              <a:avLst>
                <a:gd name="adj1" fmla="val 36979"/>
                <a:gd name="adj2" fmla="val 167705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 smtClean="0"/>
                <a:t>小区工参表</a:t>
              </a:r>
              <a:endParaRPr lang="zh-CN" altLang="en-US" sz="135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363881" y="1871953"/>
            <a:ext cx="1391615" cy="662764"/>
            <a:chOff x="6057859" y="3032887"/>
            <a:chExt cx="1391615" cy="662764"/>
          </a:xfrm>
        </p:grpSpPr>
        <p:sp>
          <p:nvSpPr>
            <p:cNvPr id="120" name="矩形 119"/>
            <p:cNvSpPr/>
            <p:nvPr/>
          </p:nvSpPr>
          <p:spPr>
            <a:xfrm>
              <a:off x="6057859" y="3032887"/>
              <a:ext cx="342597" cy="381778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341478" y="3326319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spcBef>
                  <a:spcPts val="780"/>
                </a:spcBef>
                <a:spcAft>
                  <a:spcPts val="780"/>
                </a:spcAft>
              </a:pPr>
              <a:r>
                <a:rPr lang="zh-CN" altLang="en-US" kern="100" dirty="0" smtClean="0">
                  <a:solidFill>
                    <a:srgbClr val="FF0000"/>
                  </a:solidFill>
                  <a:latin typeface="等线 Light" panose="02010600030101010101" pitchFamily="2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工参错误</a:t>
              </a:r>
              <a:endParaRPr lang="zh-CN" altLang="zh-CN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761" y="2334773"/>
            <a:ext cx="3557206" cy="2350800"/>
          </a:xfrm>
          <a:prstGeom prst="rect">
            <a:avLst/>
          </a:prstGeom>
        </p:spPr>
      </p:pic>
      <p:sp>
        <p:nvSpPr>
          <p:cNvPr id="47" name="矩形标注 46"/>
          <p:cNvSpPr/>
          <p:nvPr/>
        </p:nvSpPr>
        <p:spPr>
          <a:xfrm>
            <a:off x="1356565" y="2327284"/>
            <a:ext cx="1011147" cy="459486"/>
          </a:xfrm>
          <a:prstGeom prst="wedgeRectCallout">
            <a:avLst>
              <a:gd name="adj1" fmla="val 57703"/>
              <a:gd name="adj2" fmla="val 128319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 smtClean="0"/>
              <a:t>路测数据示意图</a:t>
            </a:r>
            <a:endParaRPr lang="zh-CN" altLang="en-US" sz="1350" dirty="0"/>
          </a:p>
        </p:txBody>
      </p:sp>
      <p:sp>
        <p:nvSpPr>
          <p:cNvPr id="48" name="矩形标注 47"/>
          <p:cNvSpPr/>
          <p:nvPr/>
        </p:nvSpPr>
        <p:spPr>
          <a:xfrm>
            <a:off x="1309258" y="3909188"/>
            <a:ext cx="3321424" cy="684580"/>
          </a:xfrm>
          <a:prstGeom prst="wedgeRectCallout">
            <a:avLst>
              <a:gd name="adj1" fmla="val -14623"/>
              <a:gd name="adj2" fmla="val 4642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红色点的服务基站为当前基站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蓝色点为邻区中包含当前基站</a:t>
            </a:r>
            <a:endParaRPr lang="zh-CN" altLang="en-US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113" y="2239455"/>
            <a:ext cx="3586663" cy="270071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210" y="2456714"/>
            <a:ext cx="3219450" cy="271600"/>
          </a:xfrm>
          <a:prstGeom prst="rect">
            <a:avLst/>
          </a:prstGeom>
        </p:spPr>
      </p:pic>
      <p:sp>
        <p:nvSpPr>
          <p:cNvPr id="56" name="矩形标注 55"/>
          <p:cNvSpPr/>
          <p:nvPr/>
        </p:nvSpPr>
        <p:spPr>
          <a:xfrm>
            <a:off x="7558940" y="3838807"/>
            <a:ext cx="1050351" cy="459486"/>
          </a:xfrm>
          <a:prstGeom prst="wedgeRectCallout">
            <a:avLst>
              <a:gd name="adj1" fmla="val -52766"/>
              <a:gd name="adj2" fmla="val -2145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 smtClean="0"/>
              <a:t>拟合结果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77332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98" grpId="0" animBg="1"/>
      <p:bldP spid="100" grpId="0" animBg="1"/>
      <p:bldP spid="4" grpId="0"/>
      <p:bldP spid="5" grpId="0"/>
      <p:bldP spid="44" grpId="0" animBg="1"/>
      <p:bldP spid="9" grpId="0"/>
      <p:bldP spid="47" grpId="0" animBg="1"/>
      <p:bldP spid="48" grpId="0" animBg="1"/>
      <p:bldP spid="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741" y="917138"/>
            <a:ext cx="3270120" cy="327012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76479" y="207137"/>
            <a:ext cx="155448" cy="457200"/>
          </a:xfrm>
          <a:prstGeom prst="rect">
            <a:avLst/>
          </a:prstGeom>
          <a:solidFill>
            <a:srgbClr val="FC6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88315" y="207137"/>
            <a:ext cx="0" cy="457200"/>
          </a:xfrm>
          <a:prstGeom prst="line">
            <a:avLst/>
          </a:prstGeom>
          <a:ln w="38100">
            <a:solidFill>
              <a:srgbClr val="FC61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679145" y="264227"/>
            <a:ext cx="32207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项目核心算法 </a:t>
            </a:r>
            <a:r>
              <a:rPr lang="en-US" altLang="zh-CN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–</a:t>
            </a:r>
            <a:r>
              <a:rPr lang="zh-CN" altLang="en-US" sz="2000" b="1" dirty="0" smtClean="0">
                <a:solidFill>
                  <a:srgbClr val="FC61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未拟合基站</a:t>
            </a:r>
            <a:endParaRPr lang="zh-CN" altLang="en-US" sz="2000" b="1" dirty="0">
              <a:solidFill>
                <a:srgbClr val="FC61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315" y="1557218"/>
            <a:ext cx="282110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+mn-ea"/>
                <a:cs typeface="Times New Roman" panose="02020603050405020304" pitchFamily="18" charset="0"/>
              </a:rPr>
              <a:t>原理</a:t>
            </a:r>
            <a:r>
              <a:rPr lang="zh-CN" altLang="en-US" b="1" dirty="0" smtClean="0">
                <a:latin typeface="+mn-ea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泰森多边形</a:t>
            </a:r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对空间平面的一种剖分，其特点是多边形内的任何位置离该多边形的样点（如居民点）的距离最近，离相邻多边形内样点的距离远，且每个多边形内含且仅包含一个样点。</a:t>
            </a:r>
            <a:endParaRPr lang="en-US" altLang="zh-CN" dirty="0" smtClean="0">
              <a:latin typeface="+mn-ea"/>
              <a:cs typeface="Times New Roman" panose="02020603050405020304" pitchFamily="18" charset="0"/>
            </a:endParaRPr>
          </a:p>
          <a:p>
            <a:endParaRPr lang="en-US" altLang="zh-CN" dirty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 smtClean="0"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0904" y="1210776"/>
            <a:ext cx="25103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    以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已校验过小区为基准点</a:t>
            </a:r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dirty="0" smtClean="0">
                <a:latin typeface="+mn-ea"/>
                <a:cs typeface="Times New Roman" panose="02020603050405020304" pitchFamily="18" charset="0"/>
              </a:rPr>
              <a:t>对</a:t>
            </a:r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珠海进行</a:t>
            </a:r>
            <a:r>
              <a:rPr lang="zh-CN" altLang="zh-CN" dirty="0">
                <a:latin typeface="+mn-ea"/>
                <a:cs typeface="Times New Roman" panose="02020603050405020304" pitchFamily="18" charset="0"/>
              </a:rPr>
              <a:t>剖分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，未校正的小区可</a:t>
            </a:r>
            <a:r>
              <a:rPr lang="zh-CN" altLang="en-US" dirty="0" smtClean="0">
                <a:latin typeface="+mn-ea"/>
                <a:cs typeface="Times New Roman" panose="02020603050405020304" pitchFamily="18" charset="0"/>
              </a:rPr>
              <a:t>划分到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各个多边形内，采用最临近小区的模型，若小区的路测数据积累到符合校正规则，重新计算</a:t>
            </a:r>
            <a:r>
              <a:rPr lang="zh-CN" altLang="en-US" dirty="0"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02" y="917138"/>
            <a:ext cx="6132319" cy="307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5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263779" y="164046"/>
            <a:ext cx="155448" cy="457200"/>
          </a:xfrm>
          <a:prstGeom prst="rect">
            <a:avLst/>
          </a:prstGeom>
          <a:solidFill>
            <a:srgbClr val="FC6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75615" y="164046"/>
            <a:ext cx="0" cy="457200"/>
          </a:xfrm>
          <a:prstGeom prst="line">
            <a:avLst/>
          </a:prstGeom>
          <a:ln w="38100">
            <a:solidFill>
              <a:srgbClr val="FC61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51804" y="222072"/>
            <a:ext cx="4076758" cy="399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999" b="1" dirty="0">
                <a:solidFill>
                  <a:srgbClr val="FC611F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项目核心算法 </a:t>
            </a:r>
            <a:r>
              <a:rPr lang="en-US" altLang="zh-CN" sz="1999" b="1" dirty="0">
                <a:solidFill>
                  <a:srgbClr val="FC611F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--</a:t>
            </a:r>
            <a:r>
              <a:rPr lang="zh-CN" altLang="en-US" sz="1999" b="1" dirty="0">
                <a:solidFill>
                  <a:srgbClr val="FC611F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栅格网络质量评估</a:t>
            </a:r>
            <a:endParaRPr lang="zh-CN" altLang="en-US" sz="1999" b="1" dirty="0">
              <a:solidFill>
                <a:srgbClr val="FC61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0912" y="704282"/>
            <a:ext cx="8115300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zh-CN" altLang="en-US" sz="1600" b="1" dirty="0"/>
              <a:t>传统方法：</a:t>
            </a:r>
          </a:p>
          <a:p>
            <a:pPr marL="214313" indent="-2143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网络质量评估无统一标准，大都依赖网优工程师经验</a:t>
            </a:r>
            <a:r>
              <a:rPr lang="zh-CN" altLang="en-US" sz="1600" dirty="0" smtClean="0"/>
              <a:t>判断</a:t>
            </a:r>
            <a:r>
              <a:rPr lang="zh-CN" altLang="en-US" sz="1600" dirty="0" smtClean="0"/>
              <a:t>，且往往不能即时发现问题</a:t>
            </a:r>
            <a:r>
              <a:rPr lang="zh-CN" altLang="en-US" sz="1600" dirty="0" smtClean="0"/>
              <a:t>。</a:t>
            </a:r>
            <a:endParaRPr lang="zh-CN" altLang="en-US" sz="1600" b="1" dirty="0"/>
          </a:p>
          <a:p>
            <a:pPr>
              <a:lnSpc>
                <a:spcPts val="2300"/>
              </a:lnSpc>
            </a:pPr>
            <a:r>
              <a:rPr lang="zh-CN" altLang="en-US" sz="1600" b="1" dirty="0"/>
              <a:t>机器学习方法：</a:t>
            </a:r>
          </a:p>
          <a:p>
            <a:pPr marL="214313" indent="-214313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从</a:t>
            </a:r>
            <a:r>
              <a:rPr lang="zh-CN" altLang="en-US" sz="1600" dirty="0"/>
              <a:t>数据中进行学习和</a:t>
            </a:r>
            <a:r>
              <a:rPr lang="zh-CN" altLang="en-US" sz="1600" dirty="0" smtClean="0"/>
              <a:t>预测，</a:t>
            </a:r>
            <a:r>
              <a:rPr lang="zh-CN" altLang="en-US" sz="1600" dirty="0">
                <a:sym typeface="+mn-ea"/>
              </a:rPr>
              <a:t>解放人力</a:t>
            </a:r>
            <a:r>
              <a:rPr lang="zh-CN" altLang="en-US" sz="1600" dirty="0" smtClean="0">
                <a:sym typeface="+mn-ea"/>
              </a:rPr>
              <a:t>，即时发现问题和快速处理</a:t>
            </a:r>
            <a:r>
              <a:rPr lang="zh-CN" altLang="en-US" sz="1600" dirty="0">
                <a:sym typeface="+mn-ea"/>
              </a:rPr>
              <a:t>海量</a:t>
            </a:r>
            <a:r>
              <a:rPr lang="zh-CN" altLang="en-US" sz="1600" dirty="0" smtClean="0">
                <a:sym typeface="+mn-ea"/>
              </a:rPr>
              <a:t>数据</a:t>
            </a:r>
            <a:r>
              <a:rPr lang="zh-CN" altLang="en-US" sz="1600" dirty="0">
                <a:sym typeface="+mn-ea"/>
              </a:rPr>
              <a:t>。</a:t>
            </a:r>
            <a:endParaRPr lang="zh-CN" altLang="en-US" sz="1600" dirty="0"/>
          </a:p>
        </p:txBody>
      </p:sp>
      <p:sp>
        <p:nvSpPr>
          <p:cNvPr id="7" name="文本框 6"/>
          <p:cNvSpPr txBox="1"/>
          <p:nvPr/>
        </p:nvSpPr>
        <p:spPr>
          <a:xfrm>
            <a:off x="3464368" y="2058654"/>
            <a:ext cx="232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算法</a:t>
            </a:r>
            <a:r>
              <a:rPr lang="zh-CN" altLang="en-US" b="1" dirty="0" smtClean="0"/>
              <a:t>选择</a:t>
            </a:r>
            <a:r>
              <a:rPr lang="en-US" altLang="zh-CN" b="1" dirty="0" smtClean="0"/>
              <a:t>:</a:t>
            </a:r>
            <a:r>
              <a:rPr lang="zh-CN" altLang="en-US" b="1" dirty="0" smtClean="0"/>
              <a:t>决策树算法</a:t>
            </a:r>
            <a:endParaRPr lang="zh-CN" altLang="en-US" b="1" dirty="0"/>
          </a:p>
        </p:txBody>
      </p:sp>
      <p:grpSp>
        <p:nvGrpSpPr>
          <p:cNvPr id="57" name="组合 56"/>
          <p:cNvGrpSpPr/>
          <p:nvPr/>
        </p:nvGrpSpPr>
        <p:grpSpPr>
          <a:xfrm>
            <a:off x="5667613" y="1061237"/>
            <a:ext cx="2739389" cy="523240"/>
            <a:chOff x="9913" y="1746"/>
            <a:chExt cx="3051" cy="824"/>
          </a:xfrm>
        </p:grpSpPr>
        <p:sp>
          <p:nvSpPr>
            <p:cNvPr id="58" name="文本框 21"/>
            <p:cNvSpPr txBox="1"/>
            <p:nvPr/>
          </p:nvSpPr>
          <p:spPr>
            <a:xfrm>
              <a:off x="9913" y="1746"/>
              <a:ext cx="3051" cy="824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        </a:t>
              </a:r>
              <a:r>
                <a:rPr lang="zh-CN" altLang="zh-CN" sz="1400" dirty="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代表第</a:t>
              </a: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k</a:t>
              </a:r>
              <a:r>
                <a: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个树的拟合函数</a:t>
              </a:r>
            </a:p>
          </p:txBody>
        </p:sp>
        <p:graphicFrame>
          <p:nvGraphicFramePr>
            <p:cNvPr id="59" name="对象 19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9970" y="1791"/>
            <a:ext cx="51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r:id="rId4" imgW="393700" imgH="228600" progId="Equation.KSEE3">
                    <p:embed/>
                  </p:oleObj>
                </mc:Choice>
                <mc:Fallback>
                  <p:oleObj r:id="rId4" imgW="393700" imgH="228600" progId="Equation.KSEE3">
                    <p:embed/>
                    <p:pic>
                      <p:nvPicPr>
                        <p:cNvPr id="12304" name="对象 19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970" y="1791"/>
                          <a:ext cx="514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矩形 59"/>
          <p:cNvSpPr/>
          <p:nvPr/>
        </p:nvSpPr>
        <p:spPr>
          <a:xfrm>
            <a:off x="5075873" y="1010987"/>
            <a:ext cx="3922871" cy="38467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5736591" y="4382036"/>
            <a:ext cx="2950531" cy="338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1" b="1" dirty="0"/>
              <a:t>多棵这样的树组合形成</a:t>
            </a:r>
            <a:r>
              <a:rPr lang="en-US" altLang="zh-CN" sz="1601" b="1" dirty="0"/>
              <a:t>GBDT</a:t>
            </a:r>
            <a:endParaRPr lang="zh-CN" altLang="en-US" sz="1601" b="1" dirty="0"/>
          </a:p>
        </p:txBody>
      </p:sp>
      <p:pic>
        <p:nvPicPr>
          <p:cNvPr id="62" name="图片 61" descr="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8734" y="1734019"/>
            <a:ext cx="3890010" cy="2306955"/>
          </a:xfrm>
          <a:prstGeom prst="rect">
            <a:avLst/>
          </a:prstGeom>
        </p:spPr>
      </p:pic>
      <p:sp>
        <p:nvSpPr>
          <p:cNvPr id="63" name="文本框 1"/>
          <p:cNvSpPr txBox="1"/>
          <p:nvPr/>
        </p:nvSpPr>
        <p:spPr>
          <a:xfrm>
            <a:off x="175897" y="1135024"/>
            <a:ext cx="902811" cy="30777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400" b="1" dirty="0">
                <a:latin typeface="+mn-ea"/>
              </a:rPr>
              <a:t>迭代过程</a:t>
            </a:r>
          </a:p>
        </p:txBody>
      </p:sp>
      <p:graphicFrame>
        <p:nvGraphicFramePr>
          <p:cNvPr id="64" name="对象 8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591826"/>
              </p:ext>
            </p:extLst>
          </p:nvPr>
        </p:nvGraphicFramePr>
        <p:xfrm>
          <a:off x="229474" y="1388629"/>
          <a:ext cx="1864519" cy="1451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r:id="rId7" imgW="2108200" imgH="1638300" progId="Equation.KSEE3">
                  <p:embed/>
                </p:oleObj>
              </mc:Choice>
              <mc:Fallback>
                <p:oleObj r:id="rId7" imgW="2108200" imgH="1638300" progId="Equation.KSEE3">
                  <p:embed/>
                  <p:pic>
                    <p:nvPicPr>
                      <p:cNvPr id="12290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9474" y="1388629"/>
                        <a:ext cx="1864519" cy="145137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2"/>
          <p:cNvSpPr txBox="1"/>
          <p:nvPr/>
        </p:nvSpPr>
        <p:spPr>
          <a:xfrm>
            <a:off x="2269690" y="1202095"/>
            <a:ext cx="2071846" cy="30777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400" b="1" dirty="0">
                <a:latin typeface="+mn-ea"/>
              </a:rPr>
              <a:t>第</a:t>
            </a:r>
            <a:r>
              <a:rPr lang="en-US" altLang="zh-CN" sz="1400" b="1" dirty="0">
                <a:latin typeface="+mn-ea"/>
              </a:rPr>
              <a:t>t</a:t>
            </a:r>
            <a:r>
              <a:rPr lang="zh-CN" altLang="en-US" sz="1400" b="1" dirty="0">
                <a:latin typeface="+mn-ea"/>
              </a:rPr>
              <a:t>轮迭代的目标函数</a:t>
            </a:r>
          </a:p>
        </p:txBody>
      </p:sp>
      <p:graphicFrame>
        <p:nvGraphicFramePr>
          <p:cNvPr id="66" name="对象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932873"/>
              </p:ext>
            </p:extLst>
          </p:nvPr>
        </p:nvGraphicFramePr>
        <p:xfrm>
          <a:off x="2308901" y="1525757"/>
          <a:ext cx="19526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r:id="rId9" imgW="2159000" imgH="889000" progId="Equation.KSEE3">
                  <p:embed/>
                </p:oleObj>
              </mc:Choice>
              <mc:Fallback>
                <p:oleObj r:id="rId9" imgW="2159000" imgH="889000" progId="Equation.KSEE3">
                  <p:embed/>
                  <p:pic>
                    <p:nvPicPr>
                      <p:cNvPr id="12292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08901" y="1525757"/>
                        <a:ext cx="1952625" cy="804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4"/>
          <p:cNvSpPr txBox="1"/>
          <p:nvPr/>
        </p:nvSpPr>
        <p:spPr>
          <a:xfrm>
            <a:off x="229632" y="2896991"/>
            <a:ext cx="3619341" cy="30777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</a:rPr>
              <a:t>目标函数通过泰勒公式展开（一阶泰勒）</a:t>
            </a:r>
          </a:p>
        </p:txBody>
      </p:sp>
      <p:sp>
        <p:nvSpPr>
          <p:cNvPr id="68" name="文本框 10"/>
          <p:cNvSpPr txBox="1"/>
          <p:nvPr/>
        </p:nvSpPr>
        <p:spPr>
          <a:xfrm>
            <a:off x="175897" y="4342568"/>
            <a:ext cx="2561748" cy="30777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1400" dirty="0">
                <a:latin typeface="+mn-ea"/>
              </a:rPr>
              <a:t>n</a:t>
            </a:r>
            <a:r>
              <a:rPr lang="zh-CN" altLang="en-US" sz="1400" dirty="0">
                <a:latin typeface="+mn-ea"/>
              </a:rPr>
              <a:t>个样本在</a:t>
            </a:r>
            <a:r>
              <a:rPr lang="en-US" altLang="zh-CN" sz="1400" dirty="0">
                <a:latin typeface="+mn-ea"/>
              </a:rPr>
              <a:t>K</a:t>
            </a:r>
            <a:r>
              <a:rPr lang="zh-CN" altLang="en-US" sz="1400" dirty="0">
                <a:latin typeface="+mn-ea"/>
              </a:rPr>
              <a:t>颗树的</a:t>
            </a:r>
            <a:r>
              <a:rPr lang="zh-CN" altLang="en-US" sz="1400" dirty="0" smtClean="0">
                <a:latin typeface="+mn-ea"/>
              </a:rPr>
              <a:t>目标函数</a:t>
            </a:r>
            <a:endParaRPr lang="zh-CN" altLang="en-US" sz="1400" dirty="0">
              <a:latin typeface="+mn-ea"/>
            </a:endParaRPr>
          </a:p>
        </p:txBody>
      </p:sp>
      <p:graphicFrame>
        <p:nvGraphicFramePr>
          <p:cNvPr id="69" name="对象 1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643193"/>
              </p:ext>
            </p:extLst>
          </p:nvPr>
        </p:nvGraphicFramePr>
        <p:xfrm>
          <a:off x="2539247" y="4309449"/>
          <a:ext cx="1389380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r:id="rId11" imgW="889000" imgH="431800" progId="Equation.KSEE3">
                  <p:embed/>
                </p:oleObj>
              </mc:Choice>
              <mc:Fallback>
                <p:oleObj r:id="rId11" imgW="889000" imgH="431800" progId="Equation.KSEE3">
                  <p:embed/>
                  <p:pic>
                    <p:nvPicPr>
                      <p:cNvPr id="12297" name="对象 1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39247" y="4309449"/>
                        <a:ext cx="1389380" cy="438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516524"/>
              </p:ext>
            </p:extLst>
          </p:nvPr>
        </p:nvGraphicFramePr>
        <p:xfrm>
          <a:off x="1106251" y="3501988"/>
          <a:ext cx="3120866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r:id="rId13" imgW="3263900" imgH="431800" progId="Equation.KSEE3">
                  <p:embed/>
                </p:oleObj>
              </mc:Choice>
              <mc:Fallback>
                <p:oleObj r:id="rId13" imgW="3263900" imgH="431800" progId="Equation.KSEE3">
                  <p:embed/>
                  <p:pic>
                    <p:nvPicPr>
                      <p:cNvPr id="52" name="对象 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06251" y="3501988"/>
                        <a:ext cx="3120866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8350"/>
              </p:ext>
            </p:extLst>
          </p:nvPr>
        </p:nvGraphicFramePr>
        <p:xfrm>
          <a:off x="476410" y="3283866"/>
          <a:ext cx="2943225" cy="217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r:id="rId15" imgW="2400300" imgH="203200" progId="Equation.KSEE3">
                  <p:embed/>
                </p:oleObj>
              </mc:Choice>
              <mc:Fallback>
                <p:oleObj r:id="rId15" imgW="2400300" imgH="203200" progId="Equation.KSEE3">
                  <p:embed/>
                  <p:pic>
                    <p:nvPicPr>
                      <p:cNvPr id="54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6410" y="3283866"/>
                        <a:ext cx="2943225" cy="2178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" name="直接连接符 71"/>
          <p:cNvCxnSpPr/>
          <p:nvPr/>
        </p:nvCxnSpPr>
        <p:spPr>
          <a:xfrm>
            <a:off x="1752998" y="3860603"/>
            <a:ext cx="702469" cy="0"/>
          </a:xfrm>
          <a:prstGeom prst="line">
            <a:avLst/>
          </a:prstGeom>
          <a:ln>
            <a:prstDash val="soli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3" name="文本框 16"/>
          <p:cNvSpPr txBox="1"/>
          <p:nvPr/>
        </p:nvSpPr>
        <p:spPr>
          <a:xfrm>
            <a:off x="1752998" y="3916324"/>
            <a:ext cx="984647" cy="25391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105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L</a:t>
            </a:r>
            <a:r>
              <a:rPr lang="zh-CN" altLang="en-US" sz="105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的一阶导数</a:t>
            </a:r>
          </a:p>
        </p:txBody>
      </p:sp>
    </p:spTree>
    <p:extLst>
      <p:ext uri="{BB962C8B-B14F-4D97-AF65-F5344CB8AC3E}">
        <p14:creationId xmlns:p14="http://schemas.microsoft.com/office/powerpoint/2010/main" val="335299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11111E-6 L 0.00017 -0.2990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9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60" grpId="0" animBg="1"/>
      <p:bldP spid="61" grpId="1"/>
      <p:bldP spid="63" grpId="0"/>
      <p:bldP spid="65" grpId="0"/>
      <p:bldP spid="67" grpId="0"/>
      <p:bldP spid="68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576060" y="6573203"/>
            <a:ext cx="2133600" cy="274637"/>
          </a:xfrm>
        </p:spPr>
        <p:txBody>
          <a:bodyPr/>
          <a:lstStyle/>
          <a:p>
            <a:fld id="{B67B34C1-29DF-48A7-B438-B832F2B2885C}" type="slidenum">
              <a:rPr lang="zh-CN" altLang="en-US"/>
              <a:t>6</a:t>
            </a:fld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76479" y="207137"/>
            <a:ext cx="155448" cy="457200"/>
          </a:xfrm>
          <a:prstGeom prst="rect">
            <a:avLst/>
          </a:prstGeom>
          <a:solidFill>
            <a:srgbClr val="FC6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>
            <a:off x="513080" y="207137"/>
            <a:ext cx="0" cy="457200"/>
          </a:xfrm>
          <a:prstGeom prst="line">
            <a:avLst/>
          </a:prstGeom>
          <a:ln w="38100">
            <a:solidFill>
              <a:srgbClr val="FC61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565453" y="235953"/>
            <a:ext cx="3486852" cy="399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999" b="1" dirty="0">
                <a:solidFill>
                  <a:srgbClr val="FC611F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项目核心算法</a:t>
            </a:r>
            <a:r>
              <a:rPr lang="en-US" altLang="zh-CN" sz="1999" b="1" dirty="0">
                <a:solidFill>
                  <a:srgbClr val="FC611F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--</a:t>
            </a:r>
            <a:r>
              <a:rPr lang="zh-CN" altLang="en-US" sz="1999" b="1" dirty="0">
                <a:solidFill>
                  <a:srgbClr val="FC611F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评估模型建立</a:t>
            </a:r>
            <a:endParaRPr lang="zh-CN" altLang="en-US" sz="1999" b="1" dirty="0">
              <a:solidFill>
                <a:srgbClr val="FC61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622" y="2165561"/>
            <a:ext cx="4246840" cy="1775088"/>
          </a:xfrm>
          <a:prstGeom prst="rect">
            <a:avLst/>
          </a:prstGeom>
        </p:spPr>
      </p:pic>
      <p:sp>
        <p:nvSpPr>
          <p:cNvPr id="64" name="矩形 63"/>
          <p:cNvSpPr/>
          <p:nvPr/>
        </p:nvSpPr>
        <p:spPr>
          <a:xfrm>
            <a:off x="2083621" y="2493859"/>
            <a:ext cx="538169" cy="131743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436" y="3423037"/>
            <a:ext cx="3891318" cy="1660505"/>
          </a:xfrm>
          <a:prstGeom prst="rect">
            <a:avLst/>
          </a:prstGeom>
        </p:spPr>
      </p:pic>
      <p:sp>
        <p:nvSpPr>
          <p:cNvPr id="66" name="直角上箭头 65"/>
          <p:cNvSpPr/>
          <p:nvPr/>
        </p:nvSpPr>
        <p:spPr>
          <a:xfrm rot="10800000" flipH="1">
            <a:off x="5224335" y="3169046"/>
            <a:ext cx="582496" cy="384528"/>
          </a:xfrm>
          <a:prstGeom prst="bentUpArrow">
            <a:avLst>
              <a:gd name="adj1" fmla="val 14014"/>
              <a:gd name="adj2" fmla="val 25000"/>
              <a:gd name="adj3" fmla="val 25000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2174949" y="2166743"/>
            <a:ext cx="4880548" cy="2773661"/>
            <a:chOff x="2286" y="1580"/>
            <a:chExt cx="7972" cy="5566"/>
          </a:xfrm>
          <a:solidFill>
            <a:schemeClr val="accent4">
              <a:alpha val="74000"/>
            </a:schemeClr>
          </a:solidFill>
        </p:grpSpPr>
        <p:sp>
          <p:nvSpPr>
            <p:cNvPr id="68" name="矩形 67"/>
            <p:cNvSpPr/>
            <p:nvPr/>
          </p:nvSpPr>
          <p:spPr>
            <a:xfrm>
              <a:off x="2286" y="1580"/>
              <a:ext cx="7972" cy="556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5668" y="1722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MSC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4048" y="2798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bsc1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6946" y="2798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bsc2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3299" y="3989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/>
                <a:t>CELL1</a:t>
              </a:r>
            </a:p>
          </p:txBody>
        </p:sp>
        <p:sp>
          <p:nvSpPr>
            <p:cNvPr id="73" name="矩形 72"/>
            <p:cNvSpPr/>
            <p:nvPr/>
          </p:nvSpPr>
          <p:spPr>
            <a:xfrm>
              <a:off x="4742" y="3989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/>
                <a:t>CELL2</a:t>
              </a:r>
            </a:p>
          </p:txBody>
        </p:sp>
        <p:cxnSp>
          <p:nvCxnSpPr>
            <p:cNvPr id="74" name="直接箭头连接符 73"/>
            <p:cNvCxnSpPr/>
            <p:nvPr/>
          </p:nvCxnSpPr>
          <p:spPr>
            <a:xfrm flipH="1">
              <a:off x="4742" y="2310"/>
              <a:ext cx="1482" cy="50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5" name="直接箭头连接符 74"/>
            <p:cNvCxnSpPr>
              <a:endCxn id="71" idx="0"/>
            </p:cNvCxnSpPr>
            <p:nvPr/>
          </p:nvCxnSpPr>
          <p:spPr>
            <a:xfrm>
              <a:off x="6224" y="2287"/>
              <a:ext cx="1326" cy="51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6" name="直接箭头连接符 75"/>
            <p:cNvCxnSpPr>
              <a:stCxn id="70" idx="2"/>
              <a:endCxn id="72" idx="0"/>
            </p:cNvCxnSpPr>
            <p:nvPr/>
          </p:nvCxnSpPr>
          <p:spPr>
            <a:xfrm flipH="1">
              <a:off x="3903" y="3344"/>
              <a:ext cx="749" cy="64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7" name="直接箭头连接符 76"/>
            <p:cNvCxnSpPr>
              <a:stCxn id="71" idx="2"/>
            </p:cNvCxnSpPr>
            <p:nvPr/>
          </p:nvCxnSpPr>
          <p:spPr>
            <a:xfrm flipH="1">
              <a:off x="6897" y="3344"/>
              <a:ext cx="653" cy="64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8" name="直接箭头连接符 77"/>
            <p:cNvCxnSpPr>
              <a:stCxn id="71" idx="2"/>
            </p:cNvCxnSpPr>
            <p:nvPr/>
          </p:nvCxnSpPr>
          <p:spPr>
            <a:xfrm>
              <a:off x="7550" y="3344"/>
              <a:ext cx="657" cy="64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9" name="直接箭头连接符 78"/>
            <p:cNvCxnSpPr>
              <a:stCxn id="71" idx="2"/>
            </p:cNvCxnSpPr>
            <p:nvPr/>
          </p:nvCxnSpPr>
          <p:spPr>
            <a:xfrm>
              <a:off x="7550" y="3344"/>
              <a:ext cx="2003" cy="64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80" name="文本框 79"/>
            <p:cNvSpPr txBox="1"/>
            <p:nvPr/>
          </p:nvSpPr>
          <p:spPr>
            <a:xfrm>
              <a:off x="3033" y="5375"/>
              <a:ext cx="6382" cy="15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zh-CN" altLang="zh-CN" sz="1601" dirty="0"/>
                <a:t>指标的类型不同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zh-CN" altLang="zh-CN" sz="1601" dirty="0"/>
                <a:t>指标的层级不同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6328" y="3989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/>
                <a:t>CELL1</a:t>
              </a:r>
            </a:p>
          </p:txBody>
        </p:sp>
        <p:sp>
          <p:nvSpPr>
            <p:cNvPr id="82" name="矩形 81"/>
            <p:cNvSpPr/>
            <p:nvPr/>
          </p:nvSpPr>
          <p:spPr>
            <a:xfrm>
              <a:off x="7638" y="3989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/>
                <a:t>CELL2</a:t>
              </a:r>
            </a:p>
          </p:txBody>
        </p:sp>
        <p:sp>
          <p:nvSpPr>
            <p:cNvPr id="83" name="矩形 82"/>
            <p:cNvSpPr/>
            <p:nvPr/>
          </p:nvSpPr>
          <p:spPr>
            <a:xfrm>
              <a:off x="8984" y="3989"/>
              <a:ext cx="1208" cy="54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/>
                <a:t>CELL3</a:t>
              </a:r>
            </a:p>
          </p:txBody>
        </p:sp>
        <p:cxnSp>
          <p:nvCxnSpPr>
            <p:cNvPr id="84" name="直接箭头连接符 83"/>
            <p:cNvCxnSpPr/>
            <p:nvPr/>
          </p:nvCxnSpPr>
          <p:spPr>
            <a:xfrm>
              <a:off x="4687" y="3344"/>
              <a:ext cx="694" cy="64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85" name="文本框 84"/>
          <p:cNvSpPr txBox="1"/>
          <p:nvPr/>
        </p:nvSpPr>
        <p:spPr>
          <a:xfrm>
            <a:off x="310713" y="1899944"/>
            <a:ext cx="148760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792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特征选择</a:t>
            </a:r>
            <a:endParaRPr lang="zh-CN" altLang="en-US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1122233" y="1266008"/>
            <a:ext cx="1025396" cy="588233"/>
            <a:chOff x="2440" y="1699"/>
            <a:chExt cx="2187" cy="1482"/>
          </a:xfrm>
        </p:grpSpPr>
        <p:sp>
          <p:nvSpPr>
            <p:cNvPr id="87" name="圆角矩形 86"/>
            <p:cNvSpPr/>
            <p:nvPr/>
          </p:nvSpPr>
          <p:spPr>
            <a:xfrm>
              <a:off x="2871" y="2491"/>
              <a:ext cx="1756" cy="69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栅格</a:t>
              </a:r>
            </a:p>
          </p:txBody>
        </p:sp>
        <p:cxnSp>
          <p:nvCxnSpPr>
            <p:cNvPr id="88" name="直接箭头连接符 87"/>
            <p:cNvCxnSpPr/>
            <p:nvPr/>
          </p:nvCxnSpPr>
          <p:spPr>
            <a:xfrm flipV="1">
              <a:off x="2440" y="1699"/>
              <a:ext cx="391" cy="65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>
              <a:endCxn id="87" idx="1"/>
            </p:cNvCxnSpPr>
            <p:nvPr/>
          </p:nvCxnSpPr>
          <p:spPr>
            <a:xfrm>
              <a:off x="2480" y="2396"/>
              <a:ext cx="391" cy="44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0" name="文本框 89"/>
          <p:cNvSpPr txBox="1"/>
          <p:nvPr/>
        </p:nvSpPr>
        <p:spPr>
          <a:xfrm>
            <a:off x="2347254" y="969918"/>
            <a:ext cx="5100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无关于覆盖模型，只与小区单位数据相关，可验证已有的规则学习利用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347254" y="1500727"/>
            <a:ext cx="5100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通过覆盖模型数据映射，具有地理直接属性，可以在这个基础上引入环境、投诉类型，路测等多维特征</a:t>
            </a:r>
          </a:p>
        </p:txBody>
      </p:sp>
      <p:sp>
        <p:nvSpPr>
          <p:cNvPr id="92" name="圆角矩形 91"/>
          <p:cNvSpPr/>
          <p:nvPr/>
        </p:nvSpPr>
        <p:spPr>
          <a:xfrm>
            <a:off x="402249" y="1436824"/>
            <a:ext cx="641930" cy="27893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+mn-ea"/>
              </a:rPr>
              <a:t>对象</a:t>
            </a:r>
          </a:p>
        </p:txBody>
      </p:sp>
      <p:sp>
        <p:nvSpPr>
          <p:cNvPr id="93" name="圆角矩形 92"/>
          <p:cNvSpPr/>
          <p:nvPr/>
        </p:nvSpPr>
        <p:spPr>
          <a:xfrm>
            <a:off x="1369989" y="1072492"/>
            <a:ext cx="804960" cy="2598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小区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310713" y="528547"/>
            <a:ext cx="1487607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792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评估对象</a:t>
            </a:r>
            <a:endParaRPr lang="zh-CN" altLang="en-US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47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ldLvl="0" animBg="1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517</Words>
  <Application>Microsoft Office PowerPoint</Application>
  <PresentationFormat>全屏显示(16:9)</PresentationFormat>
  <Paragraphs>78</Paragraphs>
  <Slides>6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Cambria Math</vt:lpstr>
      <vt:lpstr>Times New Roman</vt:lpstr>
      <vt:lpstr>Arial Unicode MS</vt:lpstr>
      <vt:lpstr>黑体</vt:lpstr>
      <vt:lpstr>Calibri</vt:lpstr>
      <vt:lpstr>宋体</vt:lpstr>
      <vt:lpstr>等线 Light</vt:lpstr>
      <vt:lpstr>仿宋</vt:lpstr>
      <vt:lpstr>Arial</vt:lpstr>
      <vt:lpstr>微软雅黑</vt:lpstr>
      <vt:lpstr>自定义设计方案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cong x</cp:lastModifiedBy>
  <cp:revision>920</cp:revision>
  <dcterms:created xsi:type="dcterms:W3CDTF">2017-03-30T02:39:00Z</dcterms:created>
  <dcterms:modified xsi:type="dcterms:W3CDTF">2017-12-04T07:51:12Z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