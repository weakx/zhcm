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AF1B-800E-4104-9CBA-C05C13C88DA9}" type="datetimeFigureOut">
              <a:rPr lang="zh-CN" altLang="en-US" smtClean="0"/>
              <a:t>2018/3/29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A18C-4C54-467A-B26A-DBF3A06393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222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AF1B-800E-4104-9CBA-C05C13C88DA9}" type="datetimeFigureOut">
              <a:rPr lang="zh-CN" altLang="en-US" smtClean="0"/>
              <a:t>2018/3/29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A18C-4C54-467A-B26A-DBF3A06393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387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AF1B-800E-4104-9CBA-C05C13C88DA9}" type="datetimeFigureOut">
              <a:rPr lang="zh-CN" altLang="en-US" smtClean="0"/>
              <a:t>2018/3/29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A18C-4C54-467A-B26A-DBF3A06393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532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1" y="2133601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505201" y="2133601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AF1B-800E-4104-9CBA-C05C13C88DA9}" type="datetimeFigureOut">
              <a:rPr lang="zh-CN" altLang="en-US" smtClean="0"/>
              <a:t>2018/3/29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A18C-4C54-467A-B26A-DBF3A06393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6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AF1B-800E-4104-9CBA-C05C13C88DA9}" type="datetimeFigureOut">
              <a:rPr lang="zh-CN" altLang="en-US" smtClean="0"/>
              <a:t>2018/3/29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A18C-4C54-467A-B26A-DBF3A06393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447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AF1B-800E-4104-9CBA-C05C13C88DA9}" type="datetimeFigureOut">
              <a:rPr lang="zh-CN" altLang="en-US" smtClean="0"/>
              <a:t>2018/3/29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A18C-4C54-467A-B26A-DBF3A06393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625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AF1B-800E-4104-9CBA-C05C13C88DA9}" type="datetimeFigureOut">
              <a:rPr lang="zh-CN" altLang="en-US" smtClean="0"/>
              <a:t>2018/3/29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A18C-4C54-467A-B26A-DBF3A06393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31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AF1B-800E-4104-9CBA-C05C13C88DA9}" type="datetimeFigureOut">
              <a:rPr lang="zh-CN" altLang="en-US" smtClean="0"/>
              <a:t>2018/3/29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A18C-4C54-467A-B26A-DBF3A06393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70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AF1B-800E-4104-9CBA-C05C13C88DA9}" type="datetimeFigureOut">
              <a:rPr lang="zh-CN" altLang="en-US" smtClean="0"/>
              <a:t>2018/3/29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A18C-4C54-467A-B26A-DBF3A06393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113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AF1B-800E-4104-9CBA-C05C13C88DA9}" type="datetimeFigureOut">
              <a:rPr lang="zh-CN" altLang="en-US" smtClean="0"/>
              <a:t>2018/3/29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A18C-4C54-467A-B26A-DBF3A06393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215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49" y="366713"/>
            <a:ext cx="1543051" cy="7800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1" y="366713"/>
            <a:ext cx="4476751" cy="7800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AF1B-800E-4104-9CBA-C05C13C88DA9}" type="datetimeFigureOut">
              <a:rPr lang="zh-CN" altLang="en-US" smtClean="0"/>
              <a:t>2018/3/29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A18C-4C54-467A-B26A-DBF3A06393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67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5AF1B-800E-4104-9CBA-C05C13C88DA9}" type="datetimeFigureOut">
              <a:rPr lang="zh-CN" altLang="en-US" smtClean="0"/>
              <a:t>2018/3/29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CA18C-4C54-467A-B26A-DBF3A06393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777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/>
          <p:cNvSpPr/>
          <p:nvPr/>
        </p:nvSpPr>
        <p:spPr bwMode="auto">
          <a:xfrm>
            <a:off x="833685" y="1850048"/>
            <a:ext cx="5775747" cy="22452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 110"/>
          <p:cNvSpPr>
            <a:spLocks noChangeArrowheads="1"/>
          </p:cNvSpPr>
          <p:nvPr/>
        </p:nvSpPr>
        <p:spPr bwMode="auto">
          <a:xfrm>
            <a:off x="1005509" y="3140968"/>
            <a:ext cx="4502596" cy="702776"/>
          </a:xfrm>
          <a:prstGeom prst="roundRect">
            <a:avLst>
              <a:gd name="adj" fmla="val 9305"/>
            </a:avLst>
          </a:prstGeom>
          <a:solidFill>
            <a:srgbClr val="FFFF00">
              <a:alpha val="50195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1424" tIns="45712" rIns="91424" bIns="45712"/>
          <a:lstStyle>
            <a:lvl1pPr marL="801688" indent="-269875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"/>
              </a:spcBef>
              <a:buClr>
                <a:srgbClr val="FF0000"/>
              </a:buClr>
              <a:buFont typeface="Wingdings" pitchFamily="2" charset="2"/>
              <a:buAutoNum type="circleNumDbPlain"/>
            </a:pPr>
            <a:endParaRPr lang="zh-CN" altLang="en-US" sz="1800">
              <a:solidFill>
                <a:schemeClr val="tx1"/>
              </a:solidFill>
              <a:latin typeface="Calibri" pitchFamily="34" charset="0"/>
              <a:ea typeface="黑体" pitchFamily="49" charset="-122"/>
            </a:endParaRPr>
          </a:p>
        </p:txBody>
      </p:sp>
      <p:sp>
        <p:nvSpPr>
          <p:cNvPr id="6" name="Rectangle 18"/>
          <p:cNvSpPr/>
          <p:nvPr/>
        </p:nvSpPr>
        <p:spPr bwMode="auto">
          <a:xfrm>
            <a:off x="827584" y="4221088"/>
            <a:ext cx="5775747" cy="1115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18"/>
          <p:cNvSpPr/>
          <p:nvPr/>
        </p:nvSpPr>
        <p:spPr bwMode="auto">
          <a:xfrm>
            <a:off x="831852" y="5501306"/>
            <a:ext cx="5775747" cy="880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Rectangle 28"/>
          <p:cNvSpPr/>
          <p:nvPr/>
        </p:nvSpPr>
        <p:spPr>
          <a:xfrm>
            <a:off x="1012254" y="5625110"/>
            <a:ext cx="1001366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日志文件</a:t>
            </a:r>
            <a:endParaRPr lang="en-US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29"/>
          <p:cNvSpPr txBox="1">
            <a:spLocks noChangeArrowheads="1"/>
          </p:cNvSpPr>
          <p:nvPr/>
        </p:nvSpPr>
        <p:spPr bwMode="auto">
          <a:xfrm>
            <a:off x="35496" y="5677373"/>
            <a:ext cx="7953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 smtClean="0">
                <a:solidFill>
                  <a:schemeClr val="tx1"/>
                </a:solidFill>
              </a:rPr>
              <a:t>采集</a:t>
            </a:r>
            <a:r>
              <a:rPr lang="zh-CN" altLang="en-US" sz="1600" dirty="0">
                <a:solidFill>
                  <a:schemeClr val="tx1"/>
                </a:solidFill>
              </a:rPr>
              <a:t>层</a:t>
            </a:r>
          </a:p>
        </p:txBody>
      </p:sp>
      <p:sp>
        <p:nvSpPr>
          <p:cNvPr id="10" name="TextBox 25"/>
          <p:cNvSpPr txBox="1">
            <a:spLocks noChangeArrowheads="1"/>
          </p:cNvSpPr>
          <p:nvPr/>
        </p:nvSpPr>
        <p:spPr bwMode="auto">
          <a:xfrm>
            <a:off x="35496" y="4638484"/>
            <a:ext cx="9064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 smtClean="0">
                <a:solidFill>
                  <a:schemeClr val="tx1"/>
                </a:solidFill>
              </a:rPr>
              <a:t>处理层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TextBox 25"/>
          <p:cNvSpPr txBox="1">
            <a:spLocks noChangeArrowheads="1"/>
          </p:cNvSpPr>
          <p:nvPr/>
        </p:nvSpPr>
        <p:spPr bwMode="auto">
          <a:xfrm>
            <a:off x="35544" y="2982300"/>
            <a:ext cx="10080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业务</a:t>
            </a:r>
            <a:r>
              <a:rPr lang="zh-CN" altLang="en-US" sz="1600" dirty="0" smtClean="0">
                <a:solidFill>
                  <a:schemeClr val="tx1"/>
                </a:solidFill>
              </a:rPr>
              <a:t>层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TextBox 25"/>
          <p:cNvSpPr txBox="1">
            <a:spLocks noChangeArrowheads="1"/>
          </p:cNvSpPr>
          <p:nvPr/>
        </p:nvSpPr>
        <p:spPr bwMode="auto">
          <a:xfrm>
            <a:off x="0" y="764704"/>
            <a:ext cx="9064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dirty="0">
                <a:solidFill>
                  <a:schemeClr val="tx1"/>
                </a:solidFill>
              </a:rPr>
              <a:t>应用层</a:t>
            </a:r>
          </a:p>
        </p:txBody>
      </p:sp>
      <p:sp>
        <p:nvSpPr>
          <p:cNvPr id="13" name="Can 70"/>
          <p:cNvSpPr/>
          <p:nvPr/>
        </p:nvSpPr>
        <p:spPr bwMode="auto">
          <a:xfrm rot="5400000">
            <a:off x="3147624" y="-259190"/>
            <a:ext cx="256466" cy="4608511"/>
          </a:xfrm>
          <a:prstGeom prst="can">
            <a:avLst/>
          </a:prstGeom>
          <a:solidFill>
            <a:srgbClr val="92D05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270" anchor="ctr" anchorCtr="1"/>
          <a:lstStyle/>
          <a:p>
            <a:pPr>
              <a:defRPr/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服务接口（</a:t>
            </a:r>
            <a:r>
              <a:rPr lang="en-US" altLang="zh-CN" sz="1400" dirty="0" err="1" smtClean="0">
                <a:latin typeface="微软雅黑" pitchFamily="34" charset="-122"/>
                <a:ea typeface="微软雅黑" pitchFamily="34" charset="-122"/>
              </a:rPr>
              <a:t>WebService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005508" y="4933677"/>
            <a:ext cx="699853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/>
              <a:t>SFTP</a:t>
            </a:r>
          </a:p>
        </p:txBody>
      </p:sp>
      <p:sp>
        <p:nvSpPr>
          <p:cNvPr id="15" name="Rectangle 28"/>
          <p:cNvSpPr/>
          <p:nvPr/>
        </p:nvSpPr>
        <p:spPr>
          <a:xfrm>
            <a:off x="2085627" y="5625110"/>
            <a:ext cx="773320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CP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备份</a:t>
            </a:r>
            <a:endParaRPr lang="en-US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Rectangle 28"/>
          <p:cNvSpPr/>
          <p:nvPr/>
        </p:nvSpPr>
        <p:spPr>
          <a:xfrm>
            <a:off x="2915816" y="5625110"/>
            <a:ext cx="1299373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APG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备份文件</a:t>
            </a:r>
            <a:endParaRPr lang="en-US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Rectangle 28"/>
          <p:cNvSpPr/>
          <p:nvPr/>
        </p:nvSpPr>
        <p:spPr>
          <a:xfrm>
            <a:off x="4305782" y="5625110"/>
            <a:ext cx="1150743" cy="2851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CV</a:t>
            </a: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备份文件</a:t>
            </a:r>
            <a:endParaRPr lang="en-US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Rectangle 28"/>
          <p:cNvSpPr/>
          <p:nvPr/>
        </p:nvSpPr>
        <p:spPr>
          <a:xfrm>
            <a:off x="5577468" y="5700690"/>
            <a:ext cx="792088" cy="419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en-US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虚尾箭头 20"/>
          <p:cNvSpPr/>
          <p:nvPr/>
        </p:nvSpPr>
        <p:spPr>
          <a:xfrm>
            <a:off x="6660232" y="5846650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143"/>
          <p:cNvSpPr txBox="1"/>
          <p:nvPr/>
        </p:nvSpPr>
        <p:spPr>
          <a:xfrm>
            <a:off x="7031091" y="5920242"/>
            <a:ext cx="2112909" cy="9002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/>
              <a:t>4</a:t>
            </a:r>
            <a:r>
              <a:rPr lang="zh-CN" altLang="en-US" dirty="0" smtClean="0"/>
              <a:t>、</a:t>
            </a:r>
            <a:r>
              <a:rPr lang="zh-CN" altLang="en-US" dirty="0"/>
              <a:t>接入华为、爱立信、阿尔卡特等多厂家</a:t>
            </a:r>
            <a:r>
              <a:rPr lang="zh-CN" altLang="en-US" dirty="0" smtClean="0"/>
              <a:t>的网元数据</a:t>
            </a:r>
            <a:endParaRPr lang="zh-CN" altLang="en-US" dirty="0"/>
          </a:p>
        </p:txBody>
      </p:sp>
      <p:sp>
        <p:nvSpPr>
          <p:cNvPr id="23" name="虚尾箭头 22"/>
          <p:cNvSpPr/>
          <p:nvPr/>
        </p:nvSpPr>
        <p:spPr>
          <a:xfrm>
            <a:off x="6696744" y="4610320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143"/>
          <p:cNvSpPr txBox="1"/>
          <p:nvPr/>
        </p:nvSpPr>
        <p:spPr>
          <a:xfrm>
            <a:off x="7067603" y="4077072"/>
            <a:ext cx="2076397" cy="1708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600">
                <a:solidFill>
                  <a:prstClr val="black">
                    <a:lumMod val="50000"/>
                    <a:lumOff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r>
              <a:rPr lang="zh-CN" altLang="en-US" sz="14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、提供</a:t>
            </a:r>
            <a:r>
              <a:rPr lang="en-US" altLang="zh-CN" sz="14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SFTP\FTP\TELNET\SNMP</a:t>
            </a:r>
            <a:r>
              <a:rPr lang="zh-CN" altLang="en-US" sz="14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等</a:t>
            </a:r>
            <a:r>
              <a:rPr lang="zh-CN" altLang="en-US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实时</a:t>
            </a:r>
            <a:r>
              <a:rPr lang="en-US" altLang="zh-CN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/</a:t>
            </a:r>
            <a:r>
              <a:rPr lang="zh-CN" altLang="en-US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非实时</a:t>
            </a:r>
            <a:r>
              <a:rPr lang="zh-CN" altLang="en-US" sz="14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数据采集接口。底层通过</a:t>
            </a:r>
            <a:r>
              <a:rPr lang="zh-CN" altLang="en-US" sz="14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高效的</a:t>
            </a:r>
            <a:r>
              <a:rPr lang="en-US" altLang="zh-CN" sz="1400" b="1" smtClean="0">
                <a:solidFill>
                  <a:schemeClr val="tx2">
                    <a:lumMod val="60000"/>
                    <a:lumOff val="4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C/C++/JAVA</a:t>
            </a:r>
            <a:r>
              <a:rPr lang="zh-CN" altLang="en-US" sz="140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实现</a:t>
            </a:r>
            <a:r>
              <a:rPr lang="zh-CN" altLang="en-US" sz="14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数据清洗、转换、加载</a:t>
            </a:r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5" name="虚尾箭头 24"/>
          <p:cNvSpPr/>
          <p:nvPr/>
        </p:nvSpPr>
        <p:spPr>
          <a:xfrm>
            <a:off x="6705736" y="2534282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143"/>
          <p:cNvSpPr txBox="1"/>
          <p:nvPr/>
        </p:nvSpPr>
        <p:spPr>
          <a:xfrm>
            <a:off x="7067603" y="1844824"/>
            <a:ext cx="2076397" cy="22467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/>
              <a:t>2</a:t>
            </a:r>
            <a:r>
              <a:rPr lang="zh-CN" altLang="en-US" dirty="0" smtClean="0"/>
              <a:t>、数据存储采用</a:t>
            </a:r>
            <a:r>
              <a:rPr lang="en-US" altLang="zh-CN" dirty="0" err="1" smtClean="0"/>
              <a:t>Greenplum+Mysql</a:t>
            </a:r>
            <a:r>
              <a:rPr lang="zh-CN" altLang="en-US" dirty="0" smtClean="0"/>
              <a:t>方式，</a:t>
            </a:r>
            <a:r>
              <a:rPr lang="en-US" altLang="zh-CN" dirty="0" err="1" smtClean="0"/>
              <a:t>GreenPlum</a:t>
            </a:r>
            <a:r>
              <a:rPr lang="zh-CN" altLang="en-US" dirty="0" smtClean="0"/>
              <a:t>用于存储业务指标数据，</a:t>
            </a:r>
            <a:r>
              <a:rPr lang="en-US" altLang="zh-CN" dirty="0" err="1" smtClean="0"/>
              <a:t>MySql</a:t>
            </a:r>
            <a:r>
              <a:rPr lang="zh-CN" altLang="en-US" dirty="0" smtClean="0"/>
              <a:t>用于存储任务策略、权限、日志等数据。并通过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实现智能运维功能。</a:t>
            </a:r>
            <a:endParaRPr lang="zh-CN" altLang="en-US" dirty="0"/>
          </a:p>
        </p:txBody>
      </p:sp>
      <p:sp>
        <p:nvSpPr>
          <p:cNvPr id="27" name="文本框 143"/>
          <p:cNvSpPr txBox="1"/>
          <p:nvPr/>
        </p:nvSpPr>
        <p:spPr>
          <a:xfrm>
            <a:off x="7067603" y="188640"/>
            <a:ext cx="2076397" cy="1708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1400">
                <a:solidFill>
                  <a:prstClr val="black">
                    <a:lumMod val="50000"/>
                    <a:lumOff val="50000"/>
                  </a:prstClr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en-US" altLang="zh-CN" dirty="0"/>
              <a:t>1</a:t>
            </a:r>
            <a:r>
              <a:rPr lang="zh-CN" altLang="en-US" dirty="0" smtClean="0"/>
              <a:t>、应用层采用业界流行的</a:t>
            </a:r>
            <a:r>
              <a:rPr lang="zh-CN" alt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开源框架</a:t>
            </a:r>
            <a:r>
              <a:rPr lang="en-US" altLang="zh-CN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SSH</a:t>
            </a:r>
            <a:r>
              <a:rPr lang="zh-CN" altLang="en-US" dirty="0" smtClean="0"/>
              <a:t>搭建平台，前端采用</a:t>
            </a:r>
            <a:r>
              <a:rPr lang="en-US" altLang="zh-CN" dirty="0" smtClean="0"/>
              <a:t>SSH</a:t>
            </a:r>
            <a:r>
              <a:rPr lang="zh-CN" altLang="en-US" dirty="0" smtClean="0"/>
              <a:t>开源架构及</a:t>
            </a:r>
            <a:r>
              <a:rPr lang="zh-CN" alt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开源的报表控件</a:t>
            </a:r>
            <a:r>
              <a:rPr lang="zh-CN" altLang="en-US" dirty="0"/>
              <a:t>实现业务系统的人机交互。</a:t>
            </a:r>
          </a:p>
        </p:txBody>
      </p:sp>
      <p:sp>
        <p:nvSpPr>
          <p:cNvPr id="28" name="虚尾箭头 27"/>
          <p:cNvSpPr/>
          <p:nvPr/>
        </p:nvSpPr>
        <p:spPr>
          <a:xfrm>
            <a:off x="6718988" y="908720"/>
            <a:ext cx="360040" cy="534678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Rectangle 18"/>
          <p:cNvSpPr/>
          <p:nvPr/>
        </p:nvSpPr>
        <p:spPr bwMode="auto">
          <a:xfrm>
            <a:off x="840284" y="188640"/>
            <a:ext cx="5775747" cy="15197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0">
            <a:solidFill>
              <a:schemeClr val="accent1">
                <a:shade val="95000"/>
                <a:satMod val="105000"/>
              </a:schemeClr>
            </a:solidFill>
          </a:ln>
          <a:effectLst/>
          <a:extLst/>
        </p:spPr>
        <p:txBody>
          <a:bodyPr anchor="ctr" anchorCtr="1"/>
          <a:lstStyle/>
          <a:p>
            <a:pPr>
              <a:defRPr/>
            </a:pPr>
            <a:endParaRPr lang="en-US" sz="1400" dirty="0">
              <a:solidFill>
                <a:srgbClr val="3333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" name="Picture 70" descr="상승_4"/>
          <p:cNvPicPr>
            <a:picLocks noChangeAspect="1" noChangeArrowheads="1"/>
          </p:cNvPicPr>
          <p:nvPr/>
        </p:nvPicPr>
        <p:blipFill>
          <a:blip r:embed="rId3" cstate="print">
            <a:lum bright="-6000" contrast="36000"/>
          </a:blip>
          <a:srcRect l="3534"/>
          <a:stretch>
            <a:fillRect/>
          </a:stretch>
        </p:blipFill>
        <p:spPr bwMode="auto">
          <a:xfrm rot="10800000">
            <a:off x="2041246" y="3870351"/>
            <a:ext cx="3071834" cy="571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矩形 30"/>
          <p:cNvSpPr/>
          <p:nvPr/>
        </p:nvSpPr>
        <p:spPr>
          <a:xfrm>
            <a:off x="2483768" y="3751990"/>
            <a:ext cx="2214578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01370">
              <a:lnSpc>
                <a:spcPct val="110000"/>
              </a:lnSpc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en-US" altLang="zh-CN" sz="1600" b="1" dirty="0" smtClean="0">
                <a:solidFill>
                  <a:schemeClr val="tx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ETL</a:t>
            </a:r>
          </a:p>
          <a:p>
            <a:pPr algn="ctr" defTabSz="801370">
              <a:lnSpc>
                <a:spcPct val="110000"/>
              </a:lnSpc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1600" b="1" dirty="0" smtClean="0">
                <a:solidFill>
                  <a:schemeClr val="tx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（清洗、转换、加载）</a:t>
            </a:r>
            <a:endParaRPr lang="zh-CN" altLang="en-US" sz="1600" b="1" dirty="0">
              <a:solidFill>
                <a:schemeClr val="tx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 bwMode="auto">
          <a:xfrm>
            <a:off x="1763688" y="4941169"/>
            <a:ext cx="556158" cy="2880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/>
              <a:t>FTP</a:t>
            </a:r>
          </a:p>
        </p:txBody>
      </p:sp>
      <p:sp>
        <p:nvSpPr>
          <p:cNvPr id="33" name="TextBox 32"/>
          <p:cNvSpPr txBox="1"/>
          <p:nvPr/>
        </p:nvSpPr>
        <p:spPr bwMode="auto">
          <a:xfrm>
            <a:off x="2377852" y="4941169"/>
            <a:ext cx="1258044" cy="2880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/>
              <a:t>TELNET</a:t>
            </a:r>
          </a:p>
        </p:txBody>
      </p:sp>
      <p:sp>
        <p:nvSpPr>
          <p:cNvPr id="34" name="TextBox 33"/>
          <p:cNvSpPr txBox="1"/>
          <p:nvPr/>
        </p:nvSpPr>
        <p:spPr bwMode="auto">
          <a:xfrm>
            <a:off x="3683087" y="4941168"/>
            <a:ext cx="1223553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/>
              <a:t>SNMP</a:t>
            </a:r>
          </a:p>
        </p:txBody>
      </p:sp>
      <p:sp>
        <p:nvSpPr>
          <p:cNvPr id="35" name="TextBox 34"/>
          <p:cNvSpPr txBox="1"/>
          <p:nvPr/>
        </p:nvSpPr>
        <p:spPr bwMode="auto">
          <a:xfrm>
            <a:off x="4944741" y="4941168"/>
            <a:ext cx="514200" cy="29552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/>
              <a:t>……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1012254" y="4509119"/>
            <a:ext cx="4446687" cy="2986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/>
              <a:t>C/C++</a:t>
            </a:r>
          </a:p>
        </p:txBody>
      </p:sp>
      <p:sp>
        <p:nvSpPr>
          <p:cNvPr id="37" name="TextBox 25"/>
          <p:cNvSpPr txBox="1">
            <a:spLocks noChangeArrowheads="1"/>
          </p:cNvSpPr>
          <p:nvPr/>
        </p:nvSpPr>
        <p:spPr bwMode="auto">
          <a:xfrm>
            <a:off x="5580112" y="4941168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</a:rPr>
              <a:t>采集接口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38" name="TextBox 25"/>
          <p:cNvSpPr txBox="1">
            <a:spLocks noChangeArrowheads="1"/>
          </p:cNvSpPr>
          <p:nvPr/>
        </p:nvSpPr>
        <p:spPr bwMode="auto">
          <a:xfrm>
            <a:off x="5580112" y="4509120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</a:rPr>
              <a:t>数据处理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 bwMode="auto">
          <a:xfrm>
            <a:off x="1115616" y="3465939"/>
            <a:ext cx="1891258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err="1" smtClean="0"/>
              <a:t>GreenPlum</a:t>
            </a:r>
            <a:endParaRPr lang="en-US" altLang="zh-CN" sz="1400" dirty="0" smtClean="0"/>
          </a:p>
        </p:txBody>
      </p:sp>
      <p:sp>
        <p:nvSpPr>
          <p:cNvPr id="43" name="TextBox 25"/>
          <p:cNvSpPr txBox="1">
            <a:spLocks noChangeArrowheads="1"/>
          </p:cNvSpPr>
          <p:nvPr/>
        </p:nvSpPr>
        <p:spPr bwMode="auto">
          <a:xfrm>
            <a:off x="2595633" y="2996952"/>
            <a:ext cx="125628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</a:rPr>
              <a:t>数据存储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46" name="TextBox 25"/>
          <p:cNvSpPr txBox="1">
            <a:spLocks noChangeArrowheads="1"/>
          </p:cNvSpPr>
          <p:nvPr/>
        </p:nvSpPr>
        <p:spPr bwMode="auto">
          <a:xfrm>
            <a:off x="1423554" y="3140968"/>
            <a:ext cx="12762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</a:rPr>
              <a:t>业务数据存储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48" name="TextBox 25"/>
          <p:cNvSpPr txBox="1">
            <a:spLocks noChangeArrowheads="1"/>
          </p:cNvSpPr>
          <p:nvPr/>
        </p:nvSpPr>
        <p:spPr bwMode="auto">
          <a:xfrm>
            <a:off x="5580112" y="2833772"/>
            <a:ext cx="10232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</a:rPr>
              <a:t>数据存储</a:t>
            </a:r>
            <a:r>
              <a:rPr lang="en-US" altLang="zh-CN" sz="1400" b="1" dirty="0" smtClean="0">
                <a:solidFill>
                  <a:schemeClr val="tx1"/>
                </a:solidFill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</a:rPr>
              <a:t>智能运维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49" name="TextBox 25"/>
          <p:cNvSpPr txBox="1">
            <a:spLocks noChangeArrowheads="1"/>
          </p:cNvSpPr>
          <p:nvPr/>
        </p:nvSpPr>
        <p:spPr bwMode="auto">
          <a:xfrm>
            <a:off x="5580112" y="1916832"/>
            <a:ext cx="90646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</a:rPr>
              <a:t>数据</a:t>
            </a:r>
            <a:r>
              <a:rPr lang="zh-CN" altLang="en-US" sz="1400" b="1" dirty="0">
                <a:solidFill>
                  <a:schemeClr val="tx1"/>
                </a:solidFill>
              </a:rPr>
              <a:t>接口</a:t>
            </a:r>
          </a:p>
        </p:txBody>
      </p:sp>
      <p:sp>
        <p:nvSpPr>
          <p:cNvPr id="50" name="TextBox 49"/>
          <p:cNvSpPr txBox="1"/>
          <p:nvPr/>
        </p:nvSpPr>
        <p:spPr bwMode="auto">
          <a:xfrm>
            <a:off x="987128" y="126876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/>
              <a:t>Spring</a:t>
            </a:r>
          </a:p>
        </p:txBody>
      </p:sp>
      <p:sp>
        <p:nvSpPr>
          <p:cNvPr id="51" name="TextBox 50"/>
          <p:cNvSpPr txBox="1"/>
          <p:nvPr/>
        </p:nvSpPr>
        <p:spPr bwMode="auto">
          <a:xfrm>
            <a:off x="2571305" y="126876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/>
              <a:t>Struts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4158320" y="1268760"/>
            <a:ext cx="1496639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smtClean="0"/>
              <a:t>Hibernate</a:t>
            </a:r>
          </a:p>
        </p:txBody>
      </p:sp>
      <p:sp>
        <p:nvSpPr>
          <p:cNvPr id="53" name="TextBox 25"/>
          <p:cNvSpPr txBox="1">
            <a:spLocks noChangeArrowheads="1"/>
          </p:cNvSpPr>
          <p:nvPr/>
        </p:nvSpPr>
        <p:spPr bwMode="auto">
          <a:xfrm>
            <a:off x="5580111" y="980728"/>
            <a:ext cx="10232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400" b="1" dirty="0" smtClean="0">
                <a:solidFill>
                  <a:schemeClr val="tx1"/>
                </a:solidFill>
              </a:rPr>
              <a:t>WEB</a:t>
            </a:r>
            <a:r>
              <a:rPr lang="zh-CN" altLang="en-US" sz="1400" b="1" dirty="0" smtClean="0">
                <a:solidFill>
                  <a:schemeClr val="tx1"/>
                </a:solidFill>
              </a:rPr>
              <a:t>框架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987130" y="836712"/>
            <a:ext cx="2144710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200" dirty="0" err="1" smtClean="0"/>
              <a:t>Echart</a:t>
            </a:r>
            <a:r>
              <a:rPr lang="zh-CN" altLang="en-US" sz="1200" dirty="0" smtClean="0"/>
              <a:t>报表</a:t>
            </a:r>
            <a:endParaRPr lang="en-US" altLang="zh-CN" sz="1200" dirty="0" smtClean="0"/>
          </a:p>
        </p:txBody>
      </p:sp>
      <p:sp>
        <p:nvSpPr>
          <p:cNvPr id="56" name="TextBox 55"/>
          <p:cNvSpPr txBox="1"/>
          <p:nvPr/>
        </p:nvSpPr>
        <p:spPr bwMode="auto">
          <a:xfrm>
            <a:off x="3256806" y="836713"/>
            <a:ext cx="2395314" cy="2880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200" dirty="0" err="1"/>
              <a:t>A</a:t>
            </a:r>
            <a:r>
              <a:rPr lang="en-US" altLang="zh-CN" sz="1200" dirty="0" err="1" smtClean="0"/>
              <a:t>Jax</a:t>
            </a:r>
            <a:endParaRPr lang="en-US" altLang="zh-CN" sz="1200" dirty="0" smtClean="0"/>
          </a:p>
        </p:txBody>
      </p:sp>
      <p:sp>
        <p:nvSpPr>
          <p:cNvPr id="57" name="TextBox 25"/>
          <p:cNvSpPr txBox="1">
            <a:spLocks noChangeArrowheads="1"/>
          </p:cNvSpPr>
          <p:nvPr/>
        </p:nvSpPr>
        <p:spPr bwMode="auto">
          <a:xfrm>
            <a:off x="5580112" y="404664"/>
            <a:ext cx="10232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业务</a:t>
            </a:r>
            <a:r>
              <a:rPr lang="zh-CN" altLang="en-US" sz="1400" b="1" dirty="0" smtClean="0">
                <a:solidFill>
                  <a:schemeClr val="tx1"/>
                </a:solidFill>
              </a:rPr>
              <a:t>呈现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 bwMode="auto">
          <a:xfrm>
            <a:off x="3319624" y="3465938"/>
            <a:ext cx="1989750" cy="2708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en-US" altLang="zh-CN" sz="1400" dirty="0" err="1" smtClean="0"/>
              <a:t>MySql</a:t>
            </a:r>
            <a:endParaRPr lang="en-US" altLang="zh-CN" sz="1400" dirty="0" smtClean="0"/>
          </a:p>
        </p:txBody>
      </p:sp>
      <p:sp>
        <p:nvSpPr>
          <p:cNvPr id="59" name="TextBox 25"/>
          <p:cNvSpPr txBox="1">
            <a:spLocks noChangeArrowheads="1"/>
          </p:cNvSpPr>
          <p:nvPr/>
        </p:nvSpPr>
        <p:spPr bwMode="auto">
          <a:xfrm>
            <a:off x="3563888" y="3140968"/>
            <a:ext cx="14939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</a:rPr>
              <a:t>策略</a:t>
            </a:r>
            <a:r>
              <a:rPr lang="en-US" altLang="zh-CN" sz="1400" b="1" dirty="0" smtClean="0">
                <a:solidFill>
                  <a:schemeClr val="tx1"/>
                </a:solidFill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</a:rPr>
              <a:t>权限</a:t>
            </a:r>
            <a:r>
              <a:rPr lang="en-US" altLang="zh-CN" sz="1400" b="1" dirty="0" smtClean="0">
                <a:solidFill>
                  <a:schemeClr val="tx1"/>
                </a:solidFill>
              </a:rPr>
              <a:t>/</a:t>
            </a:r>
            <a:r>
              <a:rPr lang="zh-CN" altLang="en-US" sz="1400" b="1" dirty="0" smtClean="0">
                <a:solidFill>
                  <a:schemeClr val="tx1"/>
                </a:solidFill>
              </a:rPr>
              <a:t>日志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4" name="圆角矩形 110"/>
          <p:cNvSpPr>
            <a:spLocks noChangeArrowheads="1"/>
          </p:cNvSpPr>
          <p:nvPr/>
        </p:nvSpPr>
        <p:spPr bwMode="auto">
          <a:xfrm>
            <a:off x="1005508" y="2222168"/>
            <a:ext cx="4502596" cy="774784"/>
          </a:xfrm>
          <a:prstGeom prst="roundRect">
            <a:avLst>
              <a:gd name="adj" fmla="val 9305"/>
            </a:avLst>
          </a:prstGeom>
          <a:solidFill>
            <a:srgbClr val="FFFF00">
              <a:alpha val="50195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lIns="91424" tIns="45712" rIns="91424" bIns="45712"/>
          <a:lstStyle>
            <a:lvl1pPr marL="801688" indent="-269875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>
              <a:lnSpc>
                <a:spcPct val="130000"/>
              </a:lnSpc>
              <a:spcBef>
                <a:spcPct val="5000"/>
              </a:spcBef>
              <a:buClr>
                <a:srgbClr val="FF0000"/>
              </a:buClr>
              <a:buFont typeface="Wingdings" pitchFamily="2" charset="2"/>
              <a:buAutoNum type="circleNumDbPlain"/>
            </a:pPr>
            <a:endParaRPr lang="zh-CN" altLang="en-US" sz="1800">
              <a:solidFill>
                <a:schemeClr val="tx1"/>
              </a:solidFill>
              <a:latin typeface="Calibri" pitchFamily="34" charset="0"/>
              <a:ea typeface="黑体" pitchFamily="49" charset="-122"/>
            </a:endParaRPr>
          </a:p>
        </p:txBody>
      </p:sp>
      <p:sp>
        <p:nvSpPr>
          <p:cNvPr id="65" name="TextBox 25"/>
          <p:cNvSpPr txBox="1">
            <a:spLocks noChangeArrowheads="1"/>
          </p:cNvSpPr>
          <p:nvPr/>
        </p:nvSpPr>
        <p:spPr bwMode="auto">
          <a:xfrm>
            <a:off x="2411760" y="2089961"/>
            <a:ext cx="19763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2pPr>
            <a:lvl3pPr marL="11430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3pPr>
            <a:lvl4pPr marL="16002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4pPr>
            <a:lvl5pPr marL="2057400" indent="-228600" eaLnBrk="0" hangingPunct="0">
              <a:spcBef>
                <a:spcPct val="20000"/>
              </a:spcBef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sz="240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 dirty="0" smtClean="0">
                <a:solidFill>
                  <a:schemeClr val="tx1"/>
                </a:solidFill>
              </a:rPr>
              <a:t>智能</a:t>
            </a:r>
            <a:r>
              <a:rPr lang="zh-CN" altLang="en-US" sz="1400" b="1" smtClean="0">
                <a:solidFill>
                  <a:schemeClr val="tx1"/>
                </a:solidFill>
              </a:rPr>
              <a:t>运维（</a:t>
            </a:r>
            <a:r>
              <a:rPr lang="en-US" altLang="zh-CN" sz="1400" b="1" dirty="0" smtClean="0">
                <a:solidFill>
                  <a:schemeClr val="tx1"/>
                </a:solidFill>
              </a:rPr>
              <a:t>JAVA</a:t>
            </a:r>
            <a:r>
              <a:rPr lang="zh-CN" altLang="en-US" sz="1400" b="1" dirty="0" smtClean="0">
                <a:solidFill>
                  <a:schemeClr val="tx1"/>
                </a:solidFill>
              </a:rPr>
              <a:t>）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 bwMode="auto">
          <a:xfrm>
            <a:off x="1096566" y="2654106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/>
              <a:t>数据备份</a:t>
            </a:r>
            <a:endParaRPr lang="en-US" altLang="zh-CN" sz="1400" dirty="0" smtClean="0"/>
          </a:p>
        </p:txBody>
      </p:sp>
      <p:sp>
        <p:nvSpPr>
          <p:cNvPr id="67" name="TextBox 66"/>
          <p:cNvSpPr txBox="1"/>
          <p:nvPr/>
        </p:nvSpPr>
        <p:spPr bwMode="auto">
          <a:xfrm>
            <a:off x="2142779" y="2654106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/>
              <a:t>例行检查</a:t>
            </a:r>
            <a:endParaRPr lang="en-US" altLang="zh-CN" sz="1400" dirty="0" smtClean="0"/>
          </a:p>
        </p:txBody>
      </p:sp>
      <p:sp>
        <p:nvSpPr>
          <p:cNvPr id="68" name="TextBox 67"/>
          <p:cNvSpPr txBox="1"/>
          <p:nvPr/>
        </p:nvSpPr>
        <p:spPr bwMode="auto">
          <a:xfrm>
            <a:off x="3217981" y="2654106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/>
              <a:t>智能分析</a:t>
            </a:r>
            <a:endParaRPr lang="en-US" altLang="zh-CN" sz="1400" dirty="0" smtClean="0"/>
          </a:p>
        </p:txBody>
      </p:sp>
      <p:sp>
        <p:nvSpPr>
          <p:cNvPr id="69" name="TextBox 68"/>
          <p:cNvSpPr txBox="1"/>
          <p:nvPr/>
        </p:nvSpPr>
        <p:spPr bwMode="auto">
          <a:xfrm>
            <a:off x="4303019" y="2648487"/>
            <a:ext cx="989061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/>
              <a:t>智能预警</a:t>
            </a:r>
            <a:endParaRPr lang="en-US" altLang="zh-CN" sz="1400" dirty="0" smtClean="0"/>
          </a:p>
        </p:txBody>
      </p:sp>
      <p:sp>
        <p:nvSpPr>
          <p:cNvPr id="70" name="Rectangle 28"/>
          <p:cNvSpPr/>
          <p:nvPr/>
        </p:nvSpPr>
        <p:spPr>
          <a:xfrm>
            <a:off x="1004054" y="5993114"/>
            <a:ext cx="1373798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华为</a:t>
            </a:r>
            <a:endParaRPr lang="en-US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Rectangle 28"/>
          <p:cNvSpPr/>
          <p:nvPr/>
        </p:nvSpPr>
        <p:spPr>
          <a:xfrm>
            <a:off x="2526847" y="5998138"/>
            <a:ext cx="1325073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爱立信</a:t>
            </a:r>
            <a:endParaRPr lang="en-US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Rectangle 28"/>
          <p:cNvSpPr/>
          <p:nvPr/>
        </p:nvSpPr>
        <p:spPr>
          <a:xfrm>
            <a:off x="4019086" y="5995672"/>
            <a:ext cx="1433414" cy="316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阿尔卡特</a:t>
            </a:r>
            <a:endParaRPr lang="en-US" sz="1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1104041" y="2348880"/>
            <a:ext cx="4188039" cy="2708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400" dirty="0" smtClean="0"/>
              <a:t>智能运维体检</a:t>
            </a:r>
            <a:endParaRPr lang="en-US" altLang="zh-CN" sz="1400" dirty="0" smtClean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994750" y="404665"/>
            <a:ext cx="1066495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/>
              <a:t>全景呈现</a:t>
            </a:r>
            <a:endParaRPr lang="en-US" altLang="zh-CN" sz="1200" dirty="0" smtClean="0"/>
          </a:p>
        </p:txBody>
      </p:sp>
      <p:sp>
        <p:nvSpPr>
          <p:cNvPr id="75" name="TextBox 74"/>
          <p:cNvSpPr txBox="1"/>
          <p:nvPr/>
        </p:nvSpPr>
        <p:spPr bwMode="auto">
          <a:xfrm>
            <a:off x="2215665" y="404664"/>
            <a:ext cx="1060191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/>
              <a:t>日常维护</a:t>
            </a:r>
            <a:endParaRPr lang="en-US" altLang="zh-CN" sz="1200" dirty="0" smtClean="0"/>
          </a:p>
        </p:txBody>
      </p:sp>
      <p:sp>
        <p:nvSpPr>
          <p:cNvPr id="76" name="TextBox 75"/>
          <p:cNvSpPr txBox="1"/>
          <p:nvPr/>
        </p:nvSpPr>
        <p:spPr bwMode="auto">
          <a:xfrm>
            <a:off x="3382589" y="404664"/>
            <a:ext cx="1071667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/>
              <a:t>应急保障</a:t>
            </a:r>
            <a:endParaRPr lang="en-US" altLang="zh-CN" sz="1200" dirty="0" smtClean="0"/>
          </a:p>
        </p:txBody>
      </p:sp>
      <p:sp>
        <p:nvSpPr>
          <p:cNvPr id="77" name="TextBox 76"/>
          <p:cNvSpPr txBox="1"/>
          <p:nvPr/>
        </p:nvSpPr>
        <p:spPr bwMode="auto">
          <a:xfrm>
            <a:off x="4580453" y="404664"/>
            <a:ext cx="1071667" cy="2880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ctr" fontAlgn="auto">
              <a:spcBef>
                <a:spcPts val="0"/>
              </a:spcBef>
              <a:spcAft>
                <a:spcPts val="0"/>
              </a:spcAft>
              <a:defRPr sz="1000" b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r>
              <a:rPr lang="zh-CN" altLang="en-US" sz="1200" dirty="0" smtClean="0"/>
              <a:t>网络规划</a:t>
            </a:r>
            <a:endParaRPr lang="en-US" altLang="zh-CN" sz="1200" dirty="0" smtClean="0"/>
          </a:p>
        </p:txBody>
      </p:sp>
    </p:spTree>
    <p:extLst>
      <p:ext uri="{BB962C8B-B14F-4D97-AF65-F5344CB8AC3E}">
        <p14:creationId xmlns:p14="http://schemas.microsoft.com/office/powerpoint/2010/main" val="2466804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210</Words>
  <Application>Microsoft Office PowerPoint</Application>
  <PresentationFormat>全屏显示(4:3)</PresentationFormat>
  <Paragraphs>51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黑体</vt:lpstr>
      <vt:lpstr>华文细黑</vt:lpstr>
      <vt:lpstr>宋体</vt:lpstr>
      <vt:lpstr>微软雅黑</vt:lpstr>
      <vt:lpstr>Arial</vt:lpstr>
      <vt:lpstr>Calibri</vt:lpstr>
      <vt:lpstr>Wingdings</vt:lpstr>
      <vt:lpstr>Office 主题​​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Users</dc:creator>
  <cp:lastModifiedBy>cong x</cp:lastModifiedBy>
  <cp:revision>32</cp:revision>
  <dcterms:created xsi:type="dcterms:W3CDTF">2018-03-23T06:45:25Z</dcterms:created>
  <dcterms:modified xsi:type="dcterms:W3CDTF">2018-03-29T03:15:54Z</dcterms:modified>
</cp:coreProperties>
</file>