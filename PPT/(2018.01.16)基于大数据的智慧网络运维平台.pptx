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80" r:id="rId2"/>
    <p:sldId id="257" r:id="rId3"/>
    <p:sldId id="319" r:id="rId4"/>
    <p:sldId id="271" r:id="rId5"/>
    <p:sldId id="388" r:id="rId6"/>
    <p:sldId id="347" r:id="rId7"/>
    <p:sldId id="348" r:id="rId8"/>
    <p:sldId id="349" r:id="rId9"/>
    <p:sldId id="326" r:id="rId10"/>
    <p:sldId id="350" r:id="rId11"/>
    <p:sldId id="351" r:id="rId12"/>
    <p:sldId id="321" r:id="rId13"/>
    <p:sldId id="352" r:id="rId14"/>
    <p:sldId id="385" r:id="rId15"/>
    <p:sldId id="386" r:id="rId16"/>
    <p:sldId id="373" r:id="rId17"/>
    <p:sldId id="374" r:id="rId18"/>
    <p:sldId id="375" r:id="rId19"/>
    <p:sldId id="376" r:id="rId20"/>
    <p:sldId id="377" r:id="rId21"/>
    <p:sldId id="378" r:id="rId22"/>
    <p:sldId id="379" r:id="rId23"/>
    <p:sldId id="380" r:id="rId24"/>
    <p:sldId id="381" r:id="rId25"/>
    <p:sldId id="382" r:id="rId26"/>
    <p:sldId id="383" r:id="rId27"/>
    <p:sldId id="384" r:id="rId28"/>
    <p:sldId id="354"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55" r:id="rId47"/>
    <p:sldId id="277"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4E"/>
    <a:srgbClr val="E73A1C"/>
    <a:srgbClr val="B7B7B7"/>
    <a:srgbClr val="765A00"/>
    <a:srgbClr val="007A37"/>
    <a:srgbClr val="00DE64"/>
    <a:srgbClr val="FFFFFF"/>
    <a:srgbClr val="00B050"/>
    <a:srgbClr val="33C073"/>
    <a:srgbClr val="5EF1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88084" autoAdjust="0"/>
  </p:normalViewPr>
  <p:slideViewPr>
    <p:cSldViewPr snapToGrid="0">
      <p:cViewPr varScale="1">
        <p:scale>
          <a:sx n="101" d="100"/>
          <a:sy n="101" d="100"/>
        </p:scale>
        <p:origin x="70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00036"/>
          <c:y val="2.502620854911048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系统问题原因</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C28-4C13-8753-E0BB95EA023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9C45-44FB-8E83-BCA8300560A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C28-4C13-8753-E0BB95EA0239}"/>
              </c:ext>
            </c:extLst>
          </c:dPt>
          <c:dLbls>
            <c:dLbl>
              <c:idx val="1"/>
              <c:layout/>
              <c:tx>
                <c:rich>
                  <a:bodyPr/>
                  <a:lstStyle/>
                  <a:p>
                    <a:fld id="{0EC5AB0B-A94E-43BE-8023-523628AC3C90}" type="PERCENTAGE">
                      <a:rPr lang="en-US" altLang="zh-CN">
                        <a:solidFill>
                          <a:schemeClr val="bg1"/>
                        </a:solidFill>
                      </a:rPr>
                      <a:pPr/>
                      <a:t>[百分比]</a:t>
                    </a:fld>
                    <a:endParaRPr lang="zh-CN" altLang="en-US"/>
                  </a:p>
                </c:rich>
              </c:tx>
              <c:dLblPos val="inEnd"/>
              <c:showLegendKey val="0"/>
              <c:showVal val="0"/>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9C45-44FB-8E83-BCA8300560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extLst>
            <c:ext xmlns:c16="http://schemas.microsoft.com/office/drawing/2014/chart" uri="{C3380CC4-5D6E-409C-BE32-E72D297353CC}">
              <c16:uniqueId val="{00000000-9C45-44FB-8E83-BCA8300560A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异常检测</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根因分析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异常检测</a:t>
          </a:r>
          <a:endParaRPr lang="zh-CN" altLang="en-US" sz="2000" kern="1200" dirty="0"/>
        </a:p>
      </dsp:txBody>
      <dsp:txXfrm>
        <a:off x="23494" y="23494"/>
        <a:ext cx="1216235" cy="7551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根因分析</a:t>
          </a:r>
          <a:endParaRPr lang="zh-CN" altLang="en-US" sz="2000" kern="1200" dirty="0"/>
        </a:p>
      </dsp:txBody>
      <dsp:txXfrm>
        <a:off x="23494" y="23494"/>
        <a:ext cx="1216235" cy="755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3767944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406838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2800291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7</a:t>
            </a:fld>
            <a:endParaRPr lang="zh-CN" altLang="en-US"/>
          </a:p>
        </p:txBody>
      </p:sp>
    </p:spTree>
    <p:extLst>
      <p:ext uri="{BB962C8B-B14F-4D97-AF65-F5344CB8AC3E}">
        <p14:creationId xmlns:p14="http://schemas.microsoft.com/office/powerpoint/2010/main" val="388018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411683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2573284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1048404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873266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2727618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1836615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1791911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9525967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3831728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2436570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3918390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29</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1015014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32</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33</a:t>
            </a:fld>
            <a:endParaRPr lang="zh-CN" altLang="en-US"/>
          </a:p>
        </p:txBody>
      </p:sp>
    </p:spTree>
    <p:extLst>
      <p:ext uri="{BB962C8B-B14F-4D97-AF65-F5344CB8AC3E}">
        <p14:creationId xmlns:p14="http://schemas.microsoft.com/office/powerpoint/2010/main" val="1300194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34</a:t>
            </a:fld>
            <a:endParaRPr lang="zh-CN" altLang="en-US"/>
          </a:p>
        </p:txBody>
      </p:sp>
    </p:spTree>
    <p:extLst>
      <p:ext uri="{BB962C8B-B14F-4D97-AF65-F5344CB8AC3E}">
        <p14:creationId xmlns:p14="http://schemas.microsoft.com/office/powerpoint/2010/main" val="575712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35</a:t>
            </a:fld>
            <a:endParaRPr lang="zh-CN" altLang="en-US"/>
          </a:p>
        </p:txBody>
      </p:sp>
    </p:spTree>
    <p:extLst>
      <p:ext uri="{BB962C8B-B14F-4D97-AF65-F5344CB8AC3E}">
        <p14:creationId xmlns:p14="http://schemas.microsoft.com/office/powerpoint/2010/main" val="2894791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36</a:t>
            </a:fld>
            <a:endParaRPr lang="zh-CN" altLang="en-US"/>
          </a:p>
        </p:txBody>
      </p:sp>
    </p:spTree>
    <p:extLst>
      <p:ext uri="{BB962C8B-B14F-4D97-AF65-F5344CB8AC3E}">
        <p14:creationId xmlns:p14="http://schemas.microsoft.com/office/powerpoint/2010/main" val="275501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37</a:t>
            </a:fld>
            <a:endParaRPr lang="zh-CN" altLang="en-US"/>
          </a:p>
        </p:txBody>
      </p:sp>
    </p:spTree>
    <p:extLst>
      <p:ext uri="{BB962C8B-B14F-4D97-AF65-F5344CB8AC3E}">
        <p14:creationId xmlns:p14="http://schemas.microsoft.com/office/powerpoint/2010/main" val="8148571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38</a:t>
            </a:fld>
            <a:endParaRPr lang="zh-CN" altLang="en-US"/>
          </a:p>
        </p:txBody>
      </p:sp>
    </p:spTree>
    <p:extLst>
      <p:ext uri="{BB962C8B-B14F-4D97-AF65-F5344CB8AC3E}">
        <p14:creationId xmlns:p14="http://schemas.microsoft.com/office/powerpoint/2010/main" val="14617877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39</a:t>
            </a:fld>
            <a:endParaRPr lang="zh-CN" altLang="en-US"/>
          </a:p>
        </p:txBody>
      </p:sp>
    </p:spTree>
    <p:extLst>
      <p:ext uri="{BB962C8B-B14F-4D97-AF65-F5344CB8AC3E}">
        <p14:creationId xmlns:p14="http://schemas.microsoft.com/office/powerpoint/2010/main" val="15661838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40</a:t>
            </a:fld>
            <a:endParaRPr lang="zh-CN" altLang="en-US"/>
          </a:p>
        </p:txBody>
      </p:sp>
    </p:spTree>
    <p:extLst>
      <p:ext uri="{BB962C8B-B14F-4D97-AF65-F5344CB8AC3E}">
        <p14:creationId xmlns:p14="http://schemas.microsoft.com/office/powerpoint/2010/main" val="33949891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41</a:t>
            </a:fld>
            <a:endParaRPr lang="zh-CN" altLang="en-US"/>
          </a:p>
        </p:txBody>
      </p:sp>
    </p:spTree>
    <p:extLst>
      <p:ext uri="{BB962C8B-B14F-4D97-AF65-F5344CB8AC3E}">
        <p14:creationId xmlns:p14="http://schemas.microsoft.com/office/powerpoint/2010/main" val="1622292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42</a:t>
            </a:fld>
            <a:endParaRPr lang="zh-CN" altLang="en-US"/>
          </a:p>
        </p:txBody>
      </p:sp>
    </p:spTree>
    <p:extLst>
      <p:ext uri="{BB962C8B-B14F-4D97-AF65-F5344CB8AC3E}">
        <p14:creationId xmlns:p14="http://schemas.microsoft.com/office/powerpoint/2010/main" val="33634189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43</a:t>
            </a:fld>
            <a:endParaRPr lang="zh-CN" altLang="en-US"/>
          </a:p>
        </p:txBody>
      </p:sp>
    </p:spTree>
    <p:extLst>
      <p:ext uri="{BB962C8B-B14F-4D97-AF65-F5344CB8AC3E}">
        <p14:creationId xmlns:p14="http://schemas.microsoft.com/office/powerpoint/2010/main" val="2975018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44</a:t>
            </a:fld>
            <a:endParaRPr lang="zh-CN" altLang="en-US"/>
          </a:p>
        </p:txBody>
      </p:sp>
    </p:spTree>
    <p:extLst>
      <p:ext uri="{BB962C8B-B14F-4D97-AF65-F5344CB8AC3E}">
        <p14:creationId xmlns:p14="http://schemas.microsoft.com/office/powerpoint/2010/main" val="31039674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45</a:t>
            </a:fld>
            <a:endParaRPr lang="zh-CN" altLang="en-US"/>
          </a:p>
        </p:txBody>
      </p:sp>
    </p:spTree>
    <p:extLst>
      <p:ext uri="{BB962C8B-B14F-4D97-AF65-F5344CB8AC3E}">
        <p14:creationId xmlns:p14="http://schemas.microsoft.com/office/powerpoint/2010/main" val="2229118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7.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011515" y="1835754"/>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2011515" y="3394052"/>
            <a:ext cx="7770660" cy="1708160"/>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p14="http://schemas.microsoft.com/office/powerpoint/2010/main" val="309517308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29400"/>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数据源分散</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获取方式未统一</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人员沟通成本</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本地无原始数据</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重复性劳动</a:t>
            </a:r>
            <a:endParaRPr lang="en-US" altLang="zh-CN" sz="1400" dirty="0" smtClean="0"/>
          </a:p>
          <a:p>
            <a:pPr>
              <a:lnSpc>
                <a:spcPct val="150000"/>
              </a:lnSpc>
            </a:pPr>
            <a:endParaRPr lang="en-US" altLang="zh-CN" sz="1400" dirty="0" smtClean="0"/>
          </a:p>
        </p:txBody>
      </p:sp>
      <p:pic>
        <p:nvPicPr>
          <p:cNvPr id="19" name="图片 18"/>
          <p:cNvPicPr>
            <a:picLocks noChangeAspect="1"/>
          </p:cNvPicPr>
          <p:nvPr/>
        </p:nvPicPr>
        <p:blipFill>
          <a:blip r:embed="rId3"/>
          <a:stretch>
            <a:fillRect/>
          </a:stretch>
        </p:blipFill>
        <p:spPr>
          <a:xfrm>
            <a:off x="2809875" y="1448990"/>
            <a:ext cx="9258300" cy="4893019"/>
          </a:xfrm>
          <a:prstGeom prst="rect">
            <a:avLst/>
          </a:prstGeom>
        </p:spPr>
      </p:pic>
    </p:spTree>
    <p:extLst>
      <p:ext uri="{BB962C8B-B14F-4D97-AF65-F5344CB8AC3E}">
        <p14:creationId xmlns:p14="http://schemas.microsoft.com/office/powerpoint/2010/main" val="2436083854"/>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a:t>数据分析</a:t>
            </a:r>
            <a:r>
              <a:rPr lang="zh-CN" altLang="en-US" sz="1400" dirty="0" smtClean="0"/>
              <a:t>：</a:t>
            </a:r>
            <a:endParaRPr lang="en-US" altLang="zh-CN" sz="1400" dirty="0" smtClean="0"/>
          </a:p>
          <a:p>
            <a:pPr marL="742950" lvl="1" indent="-285750">
              <a:lnSpc>
                <a:spcPct val="150000"/>
              </a:lnSpc>
              <a:buFont typeface="Arial" panose="020B0604020202020204" pitchFamily="34" charset="0"/>
              <a:buChar char="•"/>
            </a:pPr>
            <a:r>
              <a:rPr lang="en-US" altLang="zh-CN" sz="1400" dirty="0" smtClean="0"/>
              <a:t>Excel</a:t>
            </a:r>
            <a:r>
              <a:rPr lang="zh-CN" altLang="en-US" sz="1400" dirty="0" smtClean="0"/>
              <a:t>工具</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手动拆分合并表格</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经验</a:t>
            </a:r>
            <a:r>
              <a:rPr lang="zh-CN" altLang="en-US" sz="1400" dirty="0"/>
              <a:t>性</a:t>
            </a:r>
            <a:r>
              <a:rPr lang="zh-CN" altLang="en-US" sz="1400" dirty="0" smtClean="0"/>
              <a:t>指导</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缺乏深层分析</a:t>
            </a:r>
            <a:endParaRPr lang="en-US" altLang="zh-CN" sz="1400" dirty="0" smtClean="0"/>
          </a:p>
        </p:txBody>
      </p:sp>
      <p:pic>
        <p:nvPicPr>
          <p:cNvPr id="24" name="图片 23"/>
          <p:cNvPicPr>
            <a:picLocks noChangeAspect="1"/>
          </p:cNvPicPr>
          <p:nvPr/>
        </p:nvPicPr>
        <p:blipFill>
          <a:blip r:embed="rId3"/>
          <a:stretch>
            <a:fillRect/>
          </a:stretch>
        </p:blipFill>
        <p:spPr>
          <a:xfrm>
            <a:off x="5390249" y="256963"/>
            <a:ext cx="6258826" cy="6166174"/>
          </a:xfrm>
          <a:prstGeom prst="rect">
            <a:avLst/>
          </a:prstGeom>
        </p:spPr>
      </p:pic>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spTree>
    <p:extLst>
      <p:ext uri="{BB962C8B-B14F-4D97-AF65-F5344CB8AC3E}">
        <p14:creationId xmlns:p14="http://schemas.microsoft.com/office/powerpoint/2010/main" val="4020900888"/>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031325"/>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手动整理数据</a:t>
            </a:r>
            <a:endParaRPr lang="en-US" altLang="zh-CN" sz="1400" dirty="0" smtClean="0"/>
          </a:p>
          <a:p>
            <a:pPr marL="742950" lvl="1" indent="-285750">
              <a:lnSpc>
                <a:spcPct val="150000"/>
              </a:lnSpc>
              <a:buFont typeface="Arial" panose="020B0604020202020204" pitchFamily="34" charset="0"/>
              <a:buChar char="•"/>
            </a:pPr>
            <a:r>
              <a:rPr lang="zh-CN" altLang="en-US" sz="1400" dirty="0"/>
              <a:t>呈现形式</a:t>
            </a:r>
            <a:r>
              <a:rPr lang="zh-CN" altLang="en-US" sz="1400" dirty="0" smtClean="0"/>
              <a:t>单一</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无统一通报途径</a:t>
            </a:r>
            <a:endParaRPr lang="zh-CN" altLang="en-US" sz="1400" dirty="0"/>
          </a:p>
        </p:txBody>
      </p:sp>
      <p:pic>
        <p:nvPicPr>
          <p:cNvPr id="12" name="图片 11"/>
          <p:cNvPicPr>
            <a:picLocks noChangeAspect="1"/>
          </p:cNvPicPr>
          <p:nvPr/>
        </p:nvPicPr>
        <p:blipFill>
          <a:blip r:embed="rId2"/>
          <a:stretch>
            <a:fillRect/>
          </a:stretch>
        </p:blipFill>
        <p:spPr>
          <a:xfrm>
            <a:off x="5667375" y="400964"/>
            <a:ext cx="5886450" cy="6028055"/>
          </a:xfrm>
          <a:prstGeom prst="rect">
            <a:avLst/>
          </a:prstGeom>
        </p:spPr>
      </p:pic>
    </p:spTree>
    <p:extLst>
      <p:ext uri="{BB962C8B-B14F-4D97-AF65-F5344CB8AC3E}">
        <p14:creationId xmlns:p14="http://schemas.microsoft.com/office/powerpoint/2010/main" val="1230905350"/>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pic>
        <p:nvPicPr>
          <p:cNvPr id="10" name="图片 9"/>
          <p:cNvPicPr>
            <a:picLocks noChangeAspect="1"/>
          </p:cNvPicPr>
          <p:nvPr/>
        </p:nvPicPr>
        <p:blipFill>
          <a:blip r:embed="rId3"/>
          <a:stretch>
            <a:fillRect/>
          </a:stretch>
        </p:blipFill>
        <p:spPr>
          <a:xfrm>
            <a:off x="0" y="1268263"/>
            <a:ext cx="12207375" cy="4103110"/>
          </a:xfrm>
          <a:prstGeom prst="rect">
            <a:avLst/>
          </a:prstGeom>
        </p:spPr>
      </p:pic>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维护报表制作只是所有</a:t>
            </a:r>
            <a:r>
              <a:rPr lang="en-US" altLang="zh-CN" sz="1600" dirty="0" smtClean="0">
                <a:latin typeface="+mn-ea"/>
              </a:rPr>
              <a:t>13</a:t>
            </a:r>
            <a:r>
              <a:rPr lang="zh-CN" altLang="en-US" sz="1600" dirty="0" smtClean="0">
                <a:latin typeface="+mn-ea"/>
              </a:rPr>
              <a:t>类网络中城域网工作中的一小部分</a:t>
            </a:r>
            <a:endParaRPr lang="zh-CN" altLang="en-US" sz="1600" dirty="0">
              <a:latin typeface="+mn-ea"/>
            </a:endParaRPr>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4113" y="896821"/>
            <a:ext cx="8058150" cy="463588"/>
          </a:xfrm>
          <a:prstGeom prst="rect">
            <a:avLst/>
          </a:prstGeom>
          <a:noFill/>
        </p:spPr>
        <p:txBody>
          <a:bodyPr wrap="square" rtlCol="0">
            <a:spAutoFit/>
          </a:bodyPr>
          <a:lstStyle/>
          <a:p>
            <a:pPr indent="457200">
              <a:lnSpc>
                <a:spcPct val="150000"/>
              </a:lnSpc>
            </a:pPr>
            <a:r>
              <a:rPr lang="zh-CN" altLang="en-US" dirty="0" smtClean="0"/>
              <a:t>驾驶舱简介</a:t>
            </a:r>
            <a:endParaRPr lang="zh-CN" altLang="en-US" dirty="0"/>
          </a:p>
        </p:txBody>
      </p:sp>
      <p:sp>
        <p:nvSpPr>
          <p:cNvPr id="3" name="文本框 2"/>
          <p:cNvSpPr txBox="1"/>
          <p:nvPr/>
        </p:nvSpPr>
        <p:spPr>
          <a:xfrm>
            <a:off x="624113" y="1562100"/>
            <a:ext cx="473201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全局总览，整体把控</a:t>
            </a:r>
            <a:endParaRPr lang="en-US" altLang="zh-CN" dirty="0" smtClean="0"/>
          </a:p>
          <a:p>
            <a:pPr marL="285750" indent="285750">
              <a:lnSpc>
                <a:spcPct val="150000"/>
              </a:lnSpc>
              <a:buFont typeface="Arial" panose="020B0604020202020204" pitchFamily="34" charset="0"/>
              <a:buChar char="•"/>
            </a:pPr>
            <a:endParaRPr lang="zh-CN" altLang="en-US" dirty="0"/>
          </a:p>
        </p:txBody>
      </p:sp>
      <p:pic>
        <p:nvPicPr>
          <p:cNvPr id="7" name="图片 6"/>
          <p:cNvPicPr>
            <a:picLocks noChangeAspect="1"/>
          </p:cNvPicPr>
          <p:nvPr/>
        </p:nvPicPr>
        <p:blipFill>
          <a:blip r:embed="rId2"/>
          <a:stretch>
            <a:fillRect/>
          </a:stretch>
        </p:blipFill>
        <p:spPr>
          <a:xfrm>
            <a:off x="1570875" y="2023765"/>
            <a:ext cx="9459076" cy="4373346"/>
          </a:xfrm>
          <a:prstGeom prst="rect">
            <a:avLst/>
          </a:prstGeom>
        </p:spPr>
      </p:pic>
    </p:spTree>
    <p:extLst>
      <p:ext uri="{BB962C8B-B14F-4D97-AF65-F5344CB8AC3E}">
        <p14:creationId xmlns:p14="http://schemas.microsoft.com/office/powerpoint/2010/main" val="4224749760"/>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72056" y="1780216"/>
            <a:ext cx="490764" cy="614589"/>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extLst/>
          </p:nvPr>
        </p:nvGraphicFramePr>
        <p:xfrm>
          <a:off x="3319333" y="3400841"/>
          <a:ext cx="4690836" cy="2537340"/>
        </p:xfrm>
        <a:graphic>
          <a:graphicData uri="http://schemas.openxmlformats.org/drawingml/2006/chart">
            <c:chart xmlns:c="http://schemas.openxmlformats.org/drawingml/2006/chart" xmlns:r="http://schemas.openxmlformats.org/officeDocument/2006/relationships" r:id="rId3"/>
          </a:graphicData>
        </a:graphic>
      </p:graphicFrame>
      <p:sp>
        <p:nvSpPr>
          <p:cNvPr id="32" name="文本框 31"/>
          <p:cNvSpPr txBox="1"/>
          <p:nvPr/>
        </p:nvSpPr>
        <p:spPr>
          <a:xfrm>
            <a:off x="7862311" y="3630237"/>
            <a:ext cx="4082039" cy="203132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sp>
        <p:nvSpPr>
          <p:cNvPr id="2" name="右箭头 1"/>
          <p:cNvSpPr/>
          <p:nvPr/>
        </p:nvSpPr>
        <p:spPr>
          <a:xfrm rot="5400000">
            <a:off x="5493282" y="2850463"/>
            <a:ext cx="680407" cy="571916"/>
          </a:xfrm>
          <a:prstGeom prst="right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71260" y="2832798"/>
            <a:ext cx="729031" cy="369332"/>
          </a:xfrm>
          <a:prstGeom prst="rect">
            <a:avLst/>
          </a:prstGeom>
          <a:noFill/>
        </p:spPr>
        <p:txBody>
          <a:bodyPr wrap="square" rtlCol="0">
            <a:spAutoFit/>
          </a:bodyPr>
          <a:lstStyle/>
          <a:p>
            <a:r>
              <a:rPr lang="zh-CN" altLang="en-US" dirty="0" smtClean="0"/>
              <a:t>解决</a:t>
            </a:r>
            <a:endParaRPr lang="zh-CN" altLang="en-US" dirty="0"/>
          </a:p>
        </p:txBody>
      </p:sp>
      <p:sp>
        <p:nvSpPr>
          <p:cNvPr id="9" name="下箭头 8"/>
          <p:cNvSpPr/>
          <p:nvPr/>
        </p:nvSpPr>
        <p:spPr>
          <a:xfrm rot="10800000">
            <a:off x="9326889" y="2758525"/>
            <a:ext cx="576441" cy="681246"/>
          </a:xfrm>
          <a:prstGeom prst="down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740190" y="3035382"/>
            <a:ext cx="729031" cy="369332"/>
          </a:xfrm>
          <a:prstGeom prst="rect">
            <a:avLst/>
          </a:prstGeom>
          <a:noFill/>
        </p:spPr>
        <p:txBody>
          <a:bodyPr wrap="square" rtlCol="0">
            <a:spAutoFit/>
          </a:bodyPr>
          <a:lstStyle/>
          <a:p>
            <a:r>
              <a:rPr lang="zh-CN" altLang="en-US" dirty="0" smtClean="0"/>
              <a:t>需要</a:t>
            </a:r>
            <a:endParaRPr lang="zh-CN" altLang="en-US" dirty="0"/>
          </a:p>
        </p:txBody>
      </p:sp>
      <p:sp>
        <p:nvSpPr>
          <p:cNvPr id="12" name="文本框 11"/>
          <p:cNvSpPr txBox="1"/>
          <p:nvPr/>
        </p:nvSpPr>
        <p:spPr>
          <a:xfrm>
            <a:off x="904793" y="3864304"/>
            <a:ext cx="2593198"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重复性劳动</a:t>
            </a:r>
            <a:endParaRPr lang="en-US" altLang="zh-CN" dirty="0" smtClean="0"/>
          </a:p>
          <a:p>
            <a:pPr marL="285750" indent="285750">
              <a:lnSpc>
                <a:spcPct val="150000"/>
              </a:lnSpc>
              <a:buFont typeface="Arial" panose="020B0604020202020204" pitchFamily="34" charset="0"/>
              <a:buChar char="•"/>
            </a:pPr>
            <a:r>
              <a:rPr lang="zh-CN" altLang="en-US" dirty="0" smtClean="0"/>
              <a:t>个人经验驱动</a:t>
            </a:r>
            <a:endParaRPr lang="en-US" altLang="zh-CN" dirty="0" smtClean="0"/>
          </a:p>
          <a:p>
            <a:pPr marL="285750" indent="285750">
              <a:lnSpc>
                <a:spcPct val="150000"/>
              </a:lnSpc>
              <a:buFont typeface="Arial" panose="020B0604020202020204" pitchFamily="34" charset="0"/>
              <a:buChar char="•"/>
            </a:pPr>
            <a:r>
              <a:rPr lang="zh-CN" altLang="en-US" dirty="0" smtClean="0"/>
              <a:t>人力资源耗费</a:t>
            </a:r>
            <a:endParaRPr lang="en-US" altLang="zh-CN" dirty="0" smtClean="0"/>
          </a:p>
        </p:txBody>
      </p:sp>
      <p:sp>
        <p:nvSpPr>
          <p:cNvPr id="22" name="矩形 21"/>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a:solidFill>
                  <a:srgbClr val="FF0000"/>
                </a:solidFill>
              </a:rPr>
              <a:t>在自动化运维的基础上，</a:t>
            </a:r>
            <a:r>
              <a:rPr lang="zh-CN" altLang="zh-CN" sz="2400" b="1" dirty="0">
                <a:solidFill>
                  <a:srgbClr val="FF0000"/>
                </a:solidFill>
              </a:rPr>
              <a:t>通过人工智能的方式，进一步提升运维效率，包括运维决策、故障预测</a:t>
            </a:r>
            <a:r>
              <a:rPr lang="zh-CN" altLang="zh-CN" sz="2400" b="1" dirty="0" smtClean="0">
                <a:solidFill>
                  <a:srgbClr val="FF0000"/>
                </a:solidFill>
              </a:rPr>
              <a:t>和</a:t>
            </a:r>
            <a:r>
              <a:rPr lang="zh-CN" altLang="en-US" sz="2400" b="1" dirty="0" smtClean="0">
                <a:solidFill>
                  <a:srgbClr val="FF0000"/>
                </a:solidFill>
              </a:rPr>
              <a:t>数据</a:t>
            </a:r>
            <a:r>
              <a:rPr lang="zh-CN" altLang="zh-CN" sz="2400" b="1" dirty="0" smtClean="0">
                <a:solidFill>
                  <a:srgbClr val="FF0000"/>
                </a:solidFill>
              </a:rPr>
              <a:t>分析</a:t>
            </a:r>
            <a:r>
              <a:rPr lang="zh-CN" altLang="zh-CN" sz="2400" b="1" dirty="0">
                <a:solidFill>
                  <a:srgbClr val="FF0000"/>
                </a:solidFill>
              </a:rPr>
              <a:t>等</a:t>
            </a:r>
            <a:endParaRPr lang="zh-CN" altLang="en-US" sz="2400" b="1" dirty="0">
              <a:solidFill>
                <a:srgbClr val="FF000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barn(inVertical)">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P spid="2" grpId="0" animBg="1"/>
      <p:bldP spid="8" grpId="0"/>
      <p:bldP spid="9" grpId="0" animBg="1"/>
      <p:bldP spid="19" grpId="0"/>
      <p:bldP spid="12" grpId="0"/>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19389" y="1570146"/>
            <a:ext cx="936213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解决自动化运维中规则需要人为制定的缺点</a:t>
            </a:r>
            <a:endParaRPr lang="en-US" altLang="zh-CN" dirty="0" smtClean="0"/>
          </a:p>
          <a:p>
            <a:pPr marL="285750" indent="-285750">
              <a:lnSpc>
                <a:spcPct val="150000"/>
              </a:lnSpc>
              <a:buFont typeface="Arial" panose="020B0604020202020204" pitchFamily="34" charset="0"/>
              <a:buChar char="•"/>
            </a:pPr>
            <a:r>
              <a:rPr lang="zh-CN" altLang="en-US" dirty="0" smtClean="0"/>
              <a:t>通过机器学习等方式自动</a:t>
            </a:r>
            <a:r>
              <a:rPr lang="zh-CN" altLang="en-US" dirty="0"/>
              <a:t>地从海量运维数据中不断地学习，不断地提炼并总结</a:t>
            </a:r>
            <a:r>
              <a:rPr lang="zh-CN" altLang="en-US" dirty="0" smtClean="0"/>
              <a:t>规则</a:t>
            </a:r>
            <a:endParaRPr lang="en-US" altLang="zh-CN" dirty="0" smtClean="0"/>
          </a:p>
          <a:p>
            <a:pPr marL="285750" indent="-285750">
              <a:lnSpc>
                <a:spcPct val="150000"/>
              </a:lnSpc>
              <a:buFont typeface="Arial" panose="020B0604020202020204" pitchFamily="34" charset="0"/>
              <a:buChar char="•"/>
            </a:pPr>
            <a:r>
              <a:rPr lang="zh-CN" altLang="en-US" dirty="0" smtClean="0"/>
              <a:t>能够更好更快的适应新的业务挑战</a:t>
            </a:r>
            <a:endParaRPr lang="zh-CN" altLang="en-US" dirty="0"/>
          </a:p>
        </p:txBody>
      </p:sp>
      <p:sp>
        <p:nvSpPr>
          <p:cNvPr id="25" name="矩形 24"/>
          <p:cNvSpPr/>
          <p:nvPr/>
        </p:nvSpPr>
        <p:spPr>
          <a:xfrm>
            <a:off x="919388" y="3782826"/>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6" name="文本框 25"/>
          <p:cNvSpPr txBox="1"/>
          <p:nvPr/>
        </p:nvSpPr>
        <p:spPr>
          <a:xfrm>
            <a:off x="944002" y="3843843"/>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27" name="矩形 26"/>
          <p:cNvSpPr/>
          <p:nvPr/>
        </p:nvSpPr>
        <p:spPr>
          <a:xfrm>
            <a:off x="6908364" y="3782725"/>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8" name="圆角矩形 27"/>
          <p:cNvSpPr/>
          <p:nvPr/>
        </p:nvSpPr>
        <p:spPr>
          <a:xfrm>
            <a:off x="7181849" y="40114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29" name="圆角矩形 28"/>
          <p:cNvSpPr/>
          <p:nvPr/>
        </p:nvSpPr>
        <p:spPr>
          <a:xfrm>
            <a:off x="7181849" y="439173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30" name="圆角矩形 29"/>
          <p:cNvSpPr/>
          <p:nvPr/>
        </p:nvSpPr>
        <p:spPr>
          <a:xfrm>
            <a:off x="7181849" y="48371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32" name="圆角矩形 31"/>
          <p:cNvSpPr/>
          <p:nvPr/>
        </p:nvSpPr>
        <p:spPr>
          <a:xfrm>
            <a:off x="7181849" y="52320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33" name="圆角矩形 32"/>
          <p:cNvSpPr/>
          <p:nvPr/>
        </p:nvSpPr>
        <p:spPr>
          <a:xfrm>
            <a:off x="7181849" y="5618543"/>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34" name="右箭头 33"/>
          <p:cNvSpPr/>
          <p:nvPr/>
        </p:nvSpPr>
        <p:spPr>
          <a:xfrm>
            <a:off x="4864253" y="4529845"/>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19388" y="3155332"/>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6" name="文本框 35"/>
          <p:cNvSpPr txBox="1"/>
          <p:nvPr/>
        </p:nvSpPr>
        <p:spPr>
          <a:xfrm>
            <a:off x="919388" y="1092750"/>
            <a:ext cx="3944865" cy="369332"/>
          </a:xfrm>
          <a:prstGeom prst="rect">
            <a:avLst/>
          </a:prstGeom>
          <a:noFill/>
        </p:spPr>
        <p:txBody>
          <a:bodyPr wrap="square" rtlCol="0">
            <a:spAutoFit/>
          </a:bodyPr>
          <a:lstStyle/>
          <a:p>
            <a:r>
              <a:rPr lang="zh-CN" altLang="en-US" dirty="0" smtClean="0">
                <a:solidFill>
                  <a:srgbClr val="333F50"/>
                </a:solidFill>
              </a:rPr>
              <a:t>目标</a:t>
            </a:r>
            <a:endParaRPr lang="zh-CN" altLang="en-US" dirty="0">
              <a:solidFill>
                <a:srgbClr val="333F50"/>
              </a:solidFill>
            </a:endParaRP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down)">
                                      <p:cBhvr>
                                        <p:cTn id="10" dur="500"/>
                                        <p:tgtEl>
                                          <p:spTgt spid="3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animBg="1"/>
      <p:bldP spid="29" grpId="0" animBg="1"/>
      <p:bldP spid="30" grpId="0" animBg="1"/>
      <p:bldP spid="32" grpId="0" animBg="1"/>
      <p:bldP spid="33" grpId="0" animBg="1"/>
      <p:bldP spid="34" grpId="0" animBg="1"/>
      <p:bldP spid="35" grpId="0"/>
      <p:bldP spid="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数据统一获取</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结构化存储和调用</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一键调用导出</a:t>
            </a:r>
            <a:endParaRPr lang="en-US" altLang="zh-CN" sz="1400" dirty="0" smtClean="0"/>
          </a:p>
        </p:txBody>
      </p:sp>
      <p:sp>
        <p:nvSpPr>
          <p:cNvPr id="10" name="矩形 9"/>
          <p:cNvSpPr/>
          <p:nvPr/>
        </p:nvSpPr>
        <p:spPr>
          <a:xfrm>
            <a:off x="4495801" y="3814384"/>
            <a:ext cx="6743699" cy="488265"/>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40"/>
          <p:cNvSpPr txBox="1"/>
          <p:nvPr/>
        </p:nvSpPr>
        <p:spPr>
          <a:xfrm>
            <a:off x="4735812" y="3933317"/>
            <a:ext cx="1776060" cy="369332"/>
          </a:xfrm>
          <a:prstGeom prst="rect">
            <a:avLst/>
          </a:prstGeom>
          <a:noFill/>
        </p:spPr>
        <p:txBody>
          <a:bodyPr wrap="square" rtlCol="0">
            <a:spAutoFit/>
          </a:bodyPr>
          <a:lstStyle/>
          <a:p>
            <a:r>
              <a:rPr lang="en-US" altLang="zh-CN" dirty="0" smtClean="0"/>
              <a:t>Telnet</a:t>
            </a:r>
            <a:endParaRPr lang="zh-CN" altLang="en-US" dirty="0" smtClean="0"/>
          </a:p>
        </p:txBody>
      </p:sp>
      <p:sp>
        <p:nvSpPr>
          <p:cNvPr id="12" name="TextBox 41"/>
          <p:cNvSpPr txBox="1"/>
          <p:nvPr/>
        </p:nvSpPr>
        <p:spPr>
          <a:xfrm>
            <a:off x="6708481" y="3928063"/>
            <a:ext cx="4835819" cy="307777"/>
          </a:xfrm>
          <a:prstGeom prst="rect">
            <a:avLst/>
          </a:prstGeom>
          <a:noFill/>
        </p:spPr>
        <p:txBody>
          <a:bodyPr wrap="square" rtlCol="0">
            <a:spAutoFit/>
          </a:bodyPr>
          <a:lstStyle/>
          <a:p>
            <a:r>
              <a:rPr lang="en-US" altLang="zh-CN" sz="1400" b="1" dirty="0" err="1" smtClean="0"/>
              <a:t>WebServices</a:t>
            </a:r>
            <a:r>
              <a:rPr lang="en-US" altLang="zh-CN" sz="1400" b="1" dirty="0" smtClean="0"/>
              <a:t>/FTP/JDBC/ODBC/ESB/</a:t>
            </a:r>
            <a:r>
              <a:rPr lang="en-US" altLang="zh-CN" sz="1400" b="1" dirty="0" err="1" smtClean="0"/>
              <a:t>syslog</a:t>
            </a:r>
            <a:r>
              <a:rPr lang="en-US" altLang="zh-CN" sz="1400" b="1" dirty="0" smtClean="0"/>
              <a:t>/SNMP/</a:t>
            </a:r>
            <a:r>
              <a:rPr lang="en-US" altLang="zh-CN" sz="1400" b="1" dirty="0" err="1" smtClean="0"/>
              <a:t>Hadoop</a:t>
            </a:r>
            <a:r>
              <a:rPr lang="en-US" altLang="zh-CN" sz="1400" b="1" dirty="0" smtClean="0"/>
              <a:t>…</a:t>
            </a:r>
            <a:endParaRPr lang="zh-CN" altLang="en-US" sz="1400" dirty="0" smtClean="0"/>
          </a:p>
        </p:txBody>
      </p:sp>
      <p:sp>
        <p:nvSpPr>
          <p:cNvPr id="13" name="矩形 12"/>
          <p:cNvSpPr/>
          <p:nvPr/>
        </p:nvSpPr>
        <p:spPr>
          <a:xfrm>
            <a:off x="4495801" y="4970289"/>
            <a:ext cx="6736192" cy="49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33"/>
          <p:cNvSpPr txBox="1"/>
          <p:nvPr/>
        </p:nvSpPr>
        <p:spPr>
          <a:xfrm>
            <a:off x="4674541" y="5046312"/>
            <a:ext cx="1472876"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15" name="TextBox 34"/>
          <p:cNvSpPr txBox="1"/>
          <p:nvPr/>
        </p:nvSpPr>
        <p:spPr>
          <a:xfrm>
            <a:off x="6289790" y="5062078"/>
            <a:ext cx="1430544"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16" name="TextBox 35"/>
          <p:cNvSpPr txBox="1"/>
          <p:nvPr/>
        </p:nvSpPr>
        <p:spPr>
          <a:xfrm>
            <a:off x="7907603" y="5056822"/>
            <a:ext cx="1874225"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17" name="TextBox 45"/>
          <p:cNvSpPr txBox="1"/>
          <p:nvPr/>
        </p:nvSpPr>
        <p:spPr>
          <a:xfrm>
            <a:off x="9977465" y="5046311"/>
            <a:ext cx="1088252"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3" name="上箭头 2"/>
          <p:cNvSpPr/>
          <p:nvPr/>
        </p:nvSpPr>
        <p:spPr>
          <a:xfrm>
            <a:off x="6664251" y="4345317"/>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上箭头 20"/>
          <p:cNvSpPr/>
          <p:nvPr/>
        </p:nvSpPr>
        <p:spPr>
          <a:xfrm>
            <a:off x="6664250" y="3189412"/>
            <a:ext cx="2399291" cy="558163"/>
          </a:xfrm>
          <a:prstGeom prs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2" name="矩形 21"/>
          <p:cNvSpPr/>
          <p:nvPr/>
        </p:nvSpPr>
        <p:spPr>
          <a:xfrm>
            <a:off x="4495802" y="2539387"/>
            <a:ext cx="6736192" cy="558791"/>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7"/>
          <p:cNvSpPr txBox="1"/>
          <p:nvPr/>
        </p:nvSpPr>
        <p:spPr>
          <a:xfrm>
            <a:off x="4503455" y="2610452"/>
            <a:ext cx="6459820"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400" b="0" dirty="0" smtClean="0">
                <a:solidFill>
                  <a:schemeClr val="tx1"/>
                </a:solidFill>
                <a:effectLst/>
              </a:rPr>
              <a:t>   网元拓扑关系数据   指令数据    告警数据    指标数据    话统数据   其它数据</a:t>
            </a:r>
            <a:endParaRPr lang="zh-CN" altLang="en-US" sz="1400" b="0" dirty="0">
              <a:solidFill>
                <a:schemeClr val="tx1"/>
              </a:solidFill>
              <a:effectLst/>
            </a:endParaRPr>
          </a:p>
        </p:txBody>
      </p:sp>
      <p:sp>
        <p:nvSpPr>
          <p:cNvPr id="7" name="文本框 6"/>
          <p:cNvSpPr txBox="1"/>
          <p:nvPr/>
        </p:nvSpPr>
        <p:spPr>
          <a:xfrm>
            <a:off x="3775720" y="3897285"/>
            <a:ext cx="653405" cy="369332"/>
          </a:xfrm>
          <a:prstGeom prst="rect">
            <a:avLst/>
          </a:prstGeom>
          <a:noFill/>
        </p:spPr>
        <p:txBody>
          <a:bodyPr wrap="square" rtlCol="0">
            <a:spAutoFit/>
          </a:bodyPr>
          <a:lstStyle/>
          <a:p>
            <a:r>
              <a:rPr lang="zh-CN" altLang="en-US" dirty="0" smtClean="0"/>
              <a:t>采集</a:t>
            </a:r>
            <a:endParaRPr lang="zh-CN" altLang="en-US" dirty="0"/>
          </a:p>
        </p:txBody>
      </p:sp>
      <p:sp>
        <p:nvSpPr>
          <p:cNvPr id="25" name="文本框 24"/>
          <p:cNvSpPr txBox="1"/>
          <p:nvPr/>
        </p:nvSpPr>
        <p:spPr>
          <a:xfrm>
            <a:off x="3775719" y="2614120"/>
            <a:ext cx="653405" cy="369332"/>
          </a:xfrm>
          <a:prstGeom prst="rect">
            <a:avLst/>
          </a:prstGeom>
          <a:noFill/>
        </p:spPr>
        <p:txBody>
          <a:bodyPr wrap="square" rtlCol="0">
            <a:spAutoFit/>
          </a:bodyPr>
          <a:lstStyle/>
          <a:p>
            <a:r>
              <a:rPr lang="zh-CN" altLang="en-US" dirty="0" smtClean="0"/>
              <a:t>存储</a:t>
            </a:r>
            <a:endParaRPr lang="zh-CN" altLang="en-US" dirty="0"/>
          </a:p>
        </p:txBody>
      </p:sp>
      <p:pic>
        <p:nvPicPr>
          <p:cNvPr id="2050" name="Picture 2" descr="“one button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1690" y="549798"/>
            <a:ext cx="1157288" cy="1157288"/>
          </a:xfrm>
          <a:prstGeom prst="rect">
            <a:avLst/>
          </a:prstGeom>
          <a:noFill/>
          <a:extLst>
            <a:ext uri="{909E8E84-426E-40DD-AFC4-6F175D3DCCD1}">
              <a14:hiddenFill xmlns:a14="http://schemas.microsoft.com/office/drawing/2010/main">
                <a:solidFill>
                  <a:srgbClr val="FFFFFF"/>
                </a:solidFill>
              </a14:hiddenFill>
            </a:ext>
          </a:extLst>
        </p:spPr>
      </p:pic>
      <p:sp>
        <p:nvSpPr>
          <p:cNvPr id="27" name="上箭头 26"/>
          <p:cNvSpPr/>
          <p:nvPr/>
        </p:nvSpPr>
        <p:spPr>
          <a:xfrm>
            <a:off x="6533719" y="1903745"/>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3709044" y="1812933"/>
            <a:ext cx="8020057" cy="4006842"/>
          </a:xfrm>
          <a:prstGeom prst="roundRect">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数据分析：</a:t>
            </a:r>
            <a:endParaRPr lang="en-US" altLang="zh-CN" sz="1400" dirty="0"/>
          </a:p>
          <a:p>
            <a:pPr marL="742950" lvl="1" indent="-285750">
              <a:lnSpc>
                <a:spcPct val="150000"/>
              </a:lnSpc>
              <a:buFont typeface="Arial" panose="020B0604020202020204" pitchFamily="34" charset="0"/>
              <a:buChar char="•"/>
            </a:pPr>
            <a:r>
              <a:rPr lang="zh-CN" altLang="en-US" sz="1400" dirty="0" smtClean="0"/>
              <a:t>常用</a:t>
            </a:r>
            <a:r>
              <a:rPr lang="zh-CN" altLang="en-US" sz="1400" dirty="0"/>
              <a:t>分析</a:t>
            </a:r>
            <a:r>
              <a:rPr lang="zh-CN" altLang="en-US" sz="1400" dirty="0" smtClean="0"/>
              <a:t>自动完成</a:t>
            </a:r>
            <a:endParaRPr lang="en-US" altLang="zh-CN" sz="1400" dirty="0" smtClean="0"/>
          </a:p>
          <a:p>
            <a:pPr marL="742950" lvl="1" indent="-285750">
              <a:lnSpc>
                <a:spcPct val="150000"/>
              </a:lnSpc>
              <a:buFont typeface="Arial" panose="020B0604020202020204" pitchFamily="34" charset="0"/>
              <a:buChar char="•"/>
            </a:pPr>
            <a:r>
              <a:rPr lang="zh-CN" altLang="en-US" sz="1400" dirty="0"/>
              <a:t>自动</a:t>
            </a:r>
            <a:r>
              <a:rPr lang="zh-CN" altLang="en-US" sz="1400" dirty="0" smtClean="0"/>
              <a:t>调整门限阈值</a:t>
            </a:r>
            <a:endParaRPr lang="en-US" altLang="zh-CN" sz="1400" dirty="0" smtClean="0"/>
          </a:p>
          <a:p>
            <a:pPr marL="742950" lvl="1" indent="-285750">
              <a:lnSpc>
                <a:spcPct val="150000"/>
              </a:lnSpc>
              <a:buFont typeface="Arial" panose="020B0604020202020204" pitchFamily="34" charset="0"/>
              <a:buChar char="•"/>
            </a:pPr>
            <a:endParaRPr lang="en-US" altLang="zh-CN" sz="1400" dirty="0" smtClean="0"/>
          </a:p>
        </p:txBody>
      </p:sp>
      <p:sp>
        <p:nvSpPr>
          <p:cNvPr id="2" name="文本框 1"/>
          <p:cNvSpPr txBox="1"/>
          <p:nvPr/>
        </p:nvSpPr>
        <p:spPr>
          <a:xfrm>
            <a:off x="7620000" y="3638550"/>
            <a:ext cx="1895475"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061829"/>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呈现：</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通过全景图直观全面呈现</a:t>
            </a:r>
            <a:endParaRPr lang="en-US" altLang="zh-CN" sz="1400" dirty="0"/>
          </a:p>
        </p:txBody>
      </p:sp>
      <p:sp>
        <p:nvSpPr>
          <p:cNvPr id="2" name="文本框 1"/>
          <p:cNvSpPr txBox="1"/>
          <p:nvPr/>
        </p:nvSpPr>
        <p:spPr>
          <a:xfrm>
            <a:off x="6429375" y="3373380"/>
            <a:ext cx="1838325" cy="369332"/>
          </a:xfrm>
          <a:prstGeom prst="rect">
            <a:avLst/>
          </a:prstGeom>
          <a:noFill/>
        </p:spPr>
        <p:txBody>
          <a:bodyPr wrap="square" rtlCol="0">
            <a:spAutoFit/>
          </a:bodyPr>
          <a:lstStyle/>
          <a:p>
            <a:r>
              <a:rPr lang="zh-CN" altLang="en-US" dirty="0" smtClean="0"/>
              <a:t>驾驶舱演示视频</a:t>
            </a:r>
            <a:endParaRPr lang="zh-CN" altLang="en-US" dirty="0"/>
          </a:p>
        </p:txBody>
      </p:sp>
    </p:spTree>
    <p:extLst>
      <p:ext uri="{BB962C8B-B14F-4D97-AF65-F5344CB8AC3E}">
        <p14:creationId xmlns:p14="http://schemas.microsoft.com/office/powerpoint/2010/main" val="924282353"/>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3" name="文本框 2"/>
          <p:cNvSpPr txBox="1"/>
          <p:nvPr/>
        </p:nvSpPr>
        <p:spPr>
          <a:xfrm>
            <a:off x="4237799" y="1874903"/>
            <a:ext cx="265345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a:t>数据解码模块</a:t>
            </a:r>
          </a:p>
          <a:p>
            <a:pPr marL="285750" indent="-285750">
              <a:lnSpc>
                <a:spcPct val="150000"/>
              </a:lnSpc>
              <a:buFont typeface="Arial" panose="020B0604020202020204" pitchFamily="34" charset="0"/>
              <a:buChar char="•"/>
            </a:pPr>
            <a:r>
              <a:rPr lang="zh-CN" altLang="en-US" dirty="0"/>
              <a:t>数据存储模块</a:t>
            </a:r>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业务管理模块</a:t>
            </a:r>
          </a:p>
          <a:p>
            <a:pPr marL="285750" indent="-285750">
              <a:lnSpc>
                <a:spcPct val="150000"/>
              </a:lnSpc>
              <a:buFont typeface="Arial" panose="020B0604020202020204" pitchFamily="34" charset="0"/>
              <a:buChar char="•"/>
            </a:pPr>
            <a:r>
              <a:rPr lang="zh-CN" altLang="en-US" dirty="0"/>
              <a:t>场景保障模块</a:t>
            </a:r>
          </a:p>
          <a:p>
            <a:pPr marL="285750" indent="-285750">
              <a:lnSpc>
                <a:spcPct val="150000"/>
              </a:lnSpc>
              <a:buFont typeface="Arial" panose="020B0604020202020204" pitchFamily="34" charset="0"/>
              <a:buChar char="•"/>
            </a:pPr>
            <a:r>
              <a:rPr lang="zh-CN" altLang="en-US" dirty="0"/>
              <a:t>故障处理模块</a:t>
            </a:r>
          </a:p>
          <a:p>
            <a:pPr marL="285750" indent="-285750">
              <a:lnSpc>
                <a:spcPct val="150000"/>
              </a:lnSpc>
              <a:buFont typeface="Arial" panose="020B0604020202020204" pitchFamily="34" charset="0"/>
              <a:buChar char="•"/>
            </a:pPr>
            <a:r>
              <a:rPr lang="zh-CN" altLang="en-US" dirty="0"/>
              <a:t>用户呈现模块</a:t>
            </a:r>
          </a:p>
        </p:txBody>
      </p:sp>
      <p:sp>
        <p:nvSpPr>
          <p:cNvPr id="2" name="文本框 1"/>
          <p:cNvSpPr txBox="1"/>
          <p:nvPr/>
        </p:nvSpPr>
        <p:spPr>
          <a:xfrm>
            <a:off x="7162800" y="3362325"/>
            <a:ext cx="2152650" cy="369332"/>
          </a:xfrm>
          <a:prstGeom prst="rect">
            <a:avLst/>
          </a:prstGeom>
          <a:noFill/>
        </p:spPr>
        <p:txBody>
          <a:bodyPr wrap="square" rtlCol="0">
            <a:spAutoFit/>
          </a:bodyPr>
          <a:lstStyle/>
          <a:p>
            <a:r>
              <a:rPr lang="zh-CN" altLang="en-US" dirty="0" smtClean="0">
                <a:solidFill>
                  <a:srgbClr val="FF0000"/>
                </a:solidFill>
              </a:rPr>
              <a:t>（待完善）</a:t>
            </a:r>
            <a:endParaRPr lang="zh-CN" altLang="en-US" dirty="0">
              <a:solidFill>
                <a:srgbClr val="FF0000"/>
              </a:solidFill>
            </a:endParaRPr>
          </a:p>
        </p:txBody>
      </p:sp>
      <p:sp>
        <p:nvSpPr>
          <p:cNvPr id="5" name="文本框 4"/>
          <p:cNvSpPr txBox="1"/>
          <p:nvPr/>
        </p:nvSpPr>
        <p:spPr>
          <a:xfrm>
            <a:off x="2629535" y="2390140"/>
            <a:ext cx="1097280" cy="368300"/>
          </a:xfrm>
          <a:prstGeom prst="rect">
            <a:avLst/>
          </a:prstGeom>
          <a:noFill/>
        </p:spPr>
        <p:txBody>
          <a:bodyPr wrap="none" rtlCol="0">
            <a:spAutoFit/>
          </a:bodyPr>
          <a:lstStyle/>
          <a:p>
            <a:r>
              <a:rPr lang="zh-CN" altLang="en-US"/>
              <a:t>感知系统</a:t>
            </a:r>
          </a:p>
        </p:txBody>
      </p:sp>
      <p:sp>
        <p:nvSpPr>
          <p:cNvPr id="9" name="文本框 8"/>
          <p:cNvSpPr txBox="1"/>
          <p:nvPr/>
        </p:nvSpPr>
        <p:spPr>
          <a:xfrm>
            <a:off x="2629535" y="3434080"/>
            <a:ext cx="1097280" cy="368300"/>
          </a:xfrm>
          <a:prstGeom prst="rect">
            <a:avLst/>
          </a:prstGeom>
          <a:noFill/>
        </p:spPr>
        <p:txBody>
          <a:bodyPr wrap="none" rtlCol="0">
            <a:spAutoFit/>
          </a:bodyPr>
          <a:lstStyle/>
          <a:p>
            <a:r>
              <a:rPr lang="zh-CN" altLang="en-US"/>
              <a:t>决策系统</a:t>
            </a:r>
          </a:p>
        </p:txBody>
      </p:sp>
      <p:sp>
        <p:nvSpPr>
          <p:cNvPr id="10" name="文本框 9"/>
          <p:cNvSpPr txBox="1"/>
          <p:nvPr/>
        </p:nvSpPr>
        <p:spPr>
          <a:xfrm>
            <a:off x="2629535" y="4465955"/>
            <a:ext cx="1097280" cy="368300"/>
          </a:xfrm>
          <a:prstGeom prst="rect">
            <a:avLst/>
          </a:prstGeom>
          <a:noFill/>
        </p:spPr>
        <p:txBody>
          <a:bodyPr wrap="none" rtlCol="0">
            <a:spAutoFit/>
          </a:bodyPr>
          <a:lstStyle/>
          <a:p>
            <a:r>
              <a:rPr lang="zh-CN" altLang="en-US"/>
              <a:t>控制系统</a:t>
            </a:r>
          </a:p>
        </p:txBody>
      </p:sp>
      <p:sp>
        <p:nvSpPr>
          <p:cNvPr id="18" name="左大括号 17"/>
          <p:cNvSpPr/>
          <p:nvPr/>
        </p:nvSpPr>
        <p:spPr>
          <a:xfrm>
            <a:off x="4003040" y="2138680"/>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1" name="左大括号 10"/>
          <p:cNvSpPr/>
          <p:nvPr/>
        </p:nvSpPr>
        <p:spPr>
          <a:xfrm>
            <a:off x="4003040" y="3399155"/>
            <a:ext cx="234950" cy="43815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2" name="左大括号 11"/>
          <p:cNvSpPr/>
          <p:nvPr/>
        </p:nvSpPr>
        <p:spPr>
          <a:xfrm>
            <a:off x="4003040" y="4214495"/>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437765" y="894080"/>
            <a:ext cx="2364105" cy="5107305"/>
          </a:xfrm>
          <a:prstGeom prst="roundRect">
            <a:avLst/>
          </a:prstGeom>
          <a:ln w="28575">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grpSp>
        <p:nvGrpSpPr>
          <p:cNvPr id="5" name="组合 4"/>
          <p:cNvGrpSpPr/>
          <p:nvPr/>
        </p:nvGrpSpPr>
        <p:grpSpPr>
          <a:xfrm>
            <a:off x="446405" y="812165"/>
            <a:ext cx="11278870" cy="4902200"/>
            <a:chOff x="263" y="2075"/>
            <a:chExt cx="17762" cy="7720"/>
          </a:xfrm>
        </p:grpSpPr>
        <p:pic>
          <p:nvPicPr>
            <p:cNvPr id="9" name="图片 8" descr="brain_72px_1087349_easyicon.net"/>
            <p:cNvPicPr>
              <a:picLocks noChangeAspect="1"/>
            </p:cNvPicPr>
            <p:nvPr/>
          </p:nvPicPr>
          <p:blipFill>
            <a:blip r:embed="rId3"/>
            <a:stretch>
              <a:fillRect/>
            </a:stretch>
          </p:blipFill>
          <p:spPr>
            <a:xfrm>
              <a:off x="9727" y="3351"/>
              <a:ext cx="4098" cy="4098"/>
            </a:xfrm>
            <a:prstGeom prst="rect">
              <a:avLst/>
            </a:prstGeom>
          </p:spPr>
        </p:pic>
        <p:sp>
          <p:nvSpPr>
            <p:cNvPr id="10" name="文本框 9"/>
            <p:cNvSpPr txBox="1"/>
            <p:nvPr/>
          </p:nvSpPr>
          <p:spPr>
            <a:xfrm>
              <a:off x="263" y="5717"/>
              <a:ext cx="2088" cy="1016"/>
            </a:xfrm>
            <a:prstGeom prst="rect">
              <a:avLst/>
            </a:prstGeom>
            <a:noFill/>
          </p:spPr>
          <p:txBody>
            <a:bodyPr wrap="none" rtlCol="0">
              <a:spAutoFit/>
            </a:bodyPr>
            <a:lstStyle/>
            <a:p>
              <a:r>
                <a:rPr lang="zh-CN" altLang="en-US"/>
                <a:t>感知对象：</a:t>
              </a:r>
            </a:p>
            <a:p>
              <a:r>
                <a:rPr lang="zh-CN" altLang="en-US"/>
                <a:t>各类数据源</a:t>
              </a:r>
            </a:p>
          </p:txBody>
        </p:sp>
        <p:sp>
          <p:nvSpPr>
            <p:cNvPr id="11" name="KSO_Shape"/>
            <p:cNvSpPr/>
            <p:nvPr/>
          </p:nvSpPr>
          <p:spPr bwMode="auto">
            <a:xfrm>
              <a:off x="3763" y="2654"/>
              <a:ext cx="1457" cy="111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5394" y="2922"/>
              <a:ext cx="1728" cy="580"/>
            </a:xfrm>
            <a:prstGeom prst="rect">
              <a:avLst/>
            </a:prstGeom>
            <a:noFill/>
          </p:spPr>
          <p:txBody>
            <a:bodyPr wrap="none" rtlCol="0">
              <a:spAutoFit/>
            </a:bodyPr>
            <a:lstStyle/>
            <a:p>
              <a:r>
                <a:rPr lang="zh-CN" altLang="en-US"/>
                <a:t>用户数据</a:t>
              </a:r>
            </a:p>
          </p:txBody>
        </p:sp>
        <p:pic>
          <p:nvPicPr>
            <p:cNvPr id="13" name="图片 12" descr="business_Card_47.481081081081px_1197727_easyicon.net"/>
            <p:cNvPicPr>
              <a:picLocks noChangeAspect="1"/>
            </p:cNvPicPr>
            <p:nvPr/>
          </p:nvPicPr>
          <p:blipFill>
            <a:blip r:embed="rId4"/>
            <a:stretch>
              <a:fillRect/>
            </a:stretch>
          </p:blipFill>
          <p:spPr>
            <a:xfrm>
              <a:off x="3875" y="4340"/>
              <a:ext cx="1233" cy="1259"/>
            </a:xfrm>
            <a:prstGeom prst="rect">
              <a:avLst/>
            </a:prstGeom>
          </p:spPr>
        </p:pic>
        <p:sp>
          <p:nvSpPr>
            <p:cNvPr id="14" name="文本框 13"/>
            <p:cNvSpPr txBox="1"/>
            <p:nvPr/>
          </p:nvSpPr>
          <p:spPr>
            <a:xfrm>
              <a:off x="5394" y="4680"/>
              <a:ext cx="1728" cy="58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5"/>
            <a:stretch>
              <a:fillRect/>
            </a:stretch>
          </p:blipFill>
          <p:spPr>
            <a:xfrm>
              <a:off x="3699" y="8271"/>
              <a:ext cx="1584" cy="1524"/>
            </a:xfrm>
            <a:prstGeom prst="rect">
              <a:avLst/>
            </a:prstGeom>
          </p:spPr>
        </p:pic>
        <p:sp>
          <p:nvSpPr>
            <p:cNvPr id="16" name="文本框 15"/>
            <p:cNvSpPr txBox="1"/>
            <p:nvPr/>
          </p:nvSpPr>
          <p:spPr>
            <a:xfrm>
              <a:off x="5394" y="8561"/>
              <a:ext cx="1728" cy="58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6"/>
            <a:stretch>
              <a:fillRect/>
            </a:stretch>
          </p:blipFill>
          <p:spPr>
            <a:xfrm>
              <a:off x="3724" y="6167"/>
              <a:ext cx="1536" cy="1536"/>
            </a:xfrm>
            <a:prstGeom prst="rect">
              <a:avLst/>
            </a:prstGeom>
          </p:spPr>
        </p:pic>
        <p:sp>
          <p:nvSpPr>
            <p:cNvPr id="19" name="文本框 18"/>
            <p:cNvSpPr txBox="1"/>
            <p:nvPr/>
          </p:nvSpPr>
          <p:spPr>
            <a:xfrm>
              <a:off x="5394" y="6645"/>
              <a:ext cx="1728" cy="580"/>
            </a:xfrm>
            <a:prstGeom prst="rect">
              <a:avLst/>
            </a:prstGeom>
            <a:noFill/>
          </p:spPr>
          <p:txBody>
            <a:bodyPr wrap="none" rtlCol="0">
              <a:spAutoFit/>
            </a:bodyPr>
            <a:lstStyle/>
            <a:p>
              <a:r>
                <a:rPr lang="zh-CN" altLang="en-US"/>
                <a:t>网络数据</a:t>
              </a:r>
            </a:p>
          </p:txBody>
        </p:sp>
        <p:sp>
          <p:nvSpPr>
            <p:cNvPr id="20" name="左大括号 19"/>
            <p:cNvSpPr/>
            <p:nvPr/>
          </p:nvSpPr>
          <p:spPr>
            <a:xfrm>
              <a:off x="2453" y="2654"/>
              <a:ext cx="568" cy="7141"/>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1" name="燕尾形箭头 20"/>
            <p:cNvSpPr/>
            <p:nvPr/>
          </p:nvSpPr>
          <p:spPr>
            <a:xfrm rot="840000">
              <a:off x="7533" y="3357"/>
              <a:ext cx="2270"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 name="燕尾形箭头 21"/>
            <p:cNvSpPr/>
            <p:nvPr/>
          </p:nvSpPr>
          <p:spPr>
            <a:xfrm rot="240000">
              <a:off x="7383" y="4689"/>
              <a:ext cx="1986"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3" name="燕尾形箭头 22"/>
            <p:cNvSpPr/>
            <p:nvPr/>
          </p:nvSpPr>
          <p:spPr>
            <a:xfrm rot="20340000">
              <a:off x="7390" y="6113"/>
              <a:ext cx="2313"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燕尾形箭头 23"/>
            <p:cNvSpPr/>
            <p:nvPr/>
          </p:nvSpPr>
          <p:spPr>
            <a:xfrm rot="19440000">
              <a:off x="7374" y="7481"/>
              <a:ext cx="3065"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 name="文本框 25"/>
            <p:cNvSpPr txBox="1"/>
            <p:nvPr/>
          </p:nvSpPr>
          <p:spPr>
            <a:xfrm>
              <a:off x="8196" y="2075"/>
              <a:ext cx="2808" cy="1016"/>
            </a:xfrm>
            <a:prstGeom prst="rect">
              <a:avLst/>
            </a:prstGeom>
            <a:noFill/>
          </p:spPr>
          <p:txBody>
            <a:bodyPr wrap="none" rtlCol="0">
              <a:spAutoFit/>
            </a:bodyPr>
            <a:lstStyle/>
            <a:p>
              <a:r>
                <a:rPr lang="zh-CN" altLang="en-US"/>
                <a:t>感知渠道：</a:t>
              </a:r>
            </a:p>
            <a:p>
              <a:r>
                <a:rPr lang="zh-CN" altLang="en-US"/>
                <a:t>丰富的数据接口</a:t>
              </a:r>
            </a:p>
          </p:txBody>
        </p:sp>
        <p:sp>
          <p:nvSpPr>
            <p:cNvPr id="27" name="文本框 26"/>
            <p:cNvSpPr txBox="1"/>
            <p:nvPr/>
          </p:nvSpPr>
          <p:spPr>
            <a:xfrm>
              <a:off x="14857" y="3091"/>
              <a:ext cx="3168" cy="1016"/>
            </a:xfrm>
            <a:prstGeom prst="rect">
              <a:avLst/>
            </a:prstGeom>
            <a:noFill/>
          </p:spPr>
          <p:txBody>
            <a:bodyPr wrap="none" rtlCol="0">
              <a:spAutoFit/>
            </a:bodyPr>
            <a:lstStyle/>
            <a:p>
              <a:r>
                <a:rPr lang="zh-CN" altLang="en-US"/>
                <a:t>网络大脑的记忆：</a:t>
              </a:r>
            </a:p>
            <a:p>
              <a:r>
                <a:rPr lang="zh-CN" altLang="en-US"/>
                <a:t>结构化数据仓库</a:t>
              </a:r>
            </a:p>
          </p:txBody>
        </p:sp>
        <p:pic>
          <p:nvPicPr>
            <p:cNvPr id="28" name="图片 27" descr="STORAGE_135.26977687627px_1199104_easyicon.net"/>
            <p:cNvPicPr>
              <a:picLocks noChangeAspect="1"/>
            </p:cNvPicPr>
            <p:nvPr/>
          </p:nvPicPr>
          <p:blipFill>
            <a:blip r:embed="rId7"/>
            <a:stretch>
              <a:fillRect/>
            </a:stretch>
          </p:blipFill>
          <p:spPr>
            <a:xfrm>
              <a:off x="15857" y="4186"/>
              <a:ext cx="2168" cy="2056"/>
            </a:xfrm>
            <a:prstGeom prst="rect">
              <a:avLst/>
            </a:prstGeom>
          </p:spPr>
        </p:pic>
        <p:sp>
          <p:nvSpPr>
            <p:cNvPr id="29" name="燕尾形箭头 28"/>
            <p:cNvSpPr/>
            <p:nvPr/>
          </p:nvSpPr>
          <p:spPr>
            <a:xfrm>
              <a:off x="13825" y="5036"/>
              <a:ext cx="1562"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sp>
        <p:nvSpPr>
          <p:cNvPr id="30" name="文本框 29"/>
          <p:cNvSpPr txBox="1"/>
          <p:nvPr/>
        </p:nvSpPr>
        <p:spPr>
          <a:xfrm>
            <a:off x="2820035"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6979920"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数据解码模块</a:t>
            </a:r>
          </a:p>
        </p:txBody>
      </p:sp>
      <p:sp>
        <p:nvSpPr>
          <p:cNvPr id="33" name="文本框 32"/>
          <p:cNvSpPr txBox="1"/>
          <p:nvPr/>
        </p:nvSpPr>
        <p:spPr>
          <a:xfrm>
            <a:off x="10259695"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数据存储模块</a:t>
            </a: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数据采集模块</a:t>
            </a:r>
            <a:endParaRPr lang="zh-CN" altLang="en-US" dirty="0">
              <a:solidFill>
                <a:srgbClr val="333F50"/>
              </a:solidFill>
            </a:endParaRPr>
          </a:p>
        </p:txBody>
      </p:sp>
      <p:sp>
        <p:nvSpPr>
          <p:cNvPr id="2" name="文本框 1"/>
          <p:cNvSpPr txBox="1"/>
          <p:nvPr/>
        </p:nvSpPr>
        <p:spPr>
          <a:xfrm>
            <a:off x="1245235" y="1542415"/>
            <a:ext cx="9309735" cy="2168525"/>
          </a:xfrm>
          <a:prstGeom prst="rect">
            <a:avLst/>
          </a:prstGeom>
          <a:noFill/>
        </p:spPr>
        <p:txBody>
          <a:bodyPr wrap="square" rtlCol="0">
            <a:spAutoFit/>
          </a:bodyPr>
          <a:lstStyle/>
          <a:p>
            <a:pPr indent="457200" algn="l">
              <a:lnSpc>
                <a:spcPct val="150000"/>
              </a:lnSpc>
            </a:pPr>
            <a:r>
              <a:rPr lang="zh-CN" altLang="en-US" b="1" dirty="0"/>
              <a:t>模块简介</a:t>
            </a:r>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网络运维所需处理的数据包括用户、业务、网络、设备四种，</a:t>
            </a:r>
            <a:r>
              <a:rPr lang="zh-CN" dirty="0">
                <a:effectLst/>
                <a:latin typeface="微软雅黑" panose="020B0503020204020204" pitchFamily="34" charset="-122"/>
                <a:ea typeface="微软雅黑" panose="020B0503020204020204" pitchFamily="34" charset="-122"/>
                <a:sym typeface="+mn-ea"/>
              </a:rPr>
              <a:t>日常工作中</a:t>
            </a:r>
            <a:r>
              <a:rPr lang="zh-CN" altLang="en-US" dirty="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a:effectLst/>
                <a:latin typeface="微软雅黑" panose="020B0503020204020204" pitchFamily="34" charset="-122"/>
                <a:ea typeface="微软雅黑" panose="020B0503020204020204" pitchFamily="34" charset="-122"/>
                <a:sym typeface="+mn-ea"/>
              </a:rPr>
              <a:t>    采集系统可由用户自定义目标源，实现多个源同时自动实时上传下载文件，解决了数据异源端口，手工下载不统一等繁杂问题。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7067097"/>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数据解码模块</a:t>
            </a:r>
            <a:endParaRPr lang="zh-CN" altLang="en-US" dirty="0">
              <a:solidFill>
                <a:srgbClr val="333F50"/>
              </a:solidFill>
            </a:endParaRPr>
          </a:p>
        </p:txBody>
      </p:sp>
      <p:sp>
        <p:nvSpPr>
          <p:cNvPr id="2" name="文本框 1"/>
          <p:cNvSpPr txBox="1"/>
          <p:nvPr/>
        </p:nvSpPr>
        <p:spPr>
          <a:xfrm>
            <a:off x="1245235" y="1542415"/>
            <a:ext cx="9309735" cy="21685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通过采集系统采集到的相关数据保留着网管侧的源格式，有</a:t>
            </a:r>
            <a:r>
              <a:rPr lang="en-US" altLang="zh-CN" dirty="0">
                <a:effectLst/>
                <a:latin typeface="+mn-ea"/>
                <a:sym typeface="+mn-ea"/>
              </a:rPr>
              <a:t>xml</a:t>
            </a:r>
            <a:r>
              <a:rPr lang="zh-CN" altLang="en-US" dirty="0">
                <a:effectLst/>
                <a:latin typeface="+mn-ea"/>
                <a:sym typeface="+mn-ea"/>
              </a:rPr>
              <a:t>等格式的非结构化数据，不具备良好的数据交互接口。</a:t>
            </a:r>
          </a:p>
          <a:p>
            <a:pPr indent="457200" algn="l">
              <a:lnSpc>
                <a:spcPct val="150000"/>
              </a:lnSpc>
            </a:pPr>
            <a:r>
              <a:rPr lang="zh-CN" altLang="en-US" dirty="0">
                <a:effectLst/>
                <a:latin typeface="+mn-ea"/>
                <a:sym typeface="+mn-ea"/>
              </a:rPr>
              <a:t>    解码模块将多端异源数据经不同规则解析</a:t>
            </a:r>
            <a:r>
              <a:rPr lang="en-US" altLang="zh-CN" dirty="0">
                <a:effectLst/>
                <a:latin typeface="+mn-ea"/>
                <a:sym typeface="+mn-ea"/>
              </a:rPr>
              <a:t>,</a:t>
            </a:r>
            <a:r>
              <a:rPr lang="zh-CN" altLang="en-US" dirty="0">
                <a:effectLst/>
                <a:latin typeface="+mn-ea"/>
                <a:sym typeface="+mn-ea"/>
              </a:rPr>
              <a:t>使原本不规则的数据汇总重整，变成结构化的可读数据，最终上传至数据仓库。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文件归类</a:t>
            </a:r>
          </a:p>
          <a:p>
            <a:pPr indent="457200" algn="l">
              <a:lnSpc>
                <a:spcPct val="150000"/>
              </a:lnSpc>
            </a:pPr>
            <a:r>
              <a:rPr lang="zh-CN" altLang="en-US" dirty="0">
                <a:effectLst/>
                <a:latin typeface="+mn-ea"/>
                <a:sym typeface="+mn-ea"/>
              </a:rPr>
              <a:t>    汇总解析</a:t>
            </a:r>
          </a:p>
          <a:p>
            <a:pPr indent="457200" algn="l">
              <a:lnSpc>
                <a:spcPct val="150000"/>
              </a:lnSpc>
            </a:pPr>
            <a:r>
              <a:rPr lang="zh-CN" altLang="en-US" dirty="0">
                <a:effectLst/>
                <a:latin typeface="+mn-ea"/>
                <a:sym typeface="+mn-ea"/>
              </a:rPr>
              <a:t>    数据入库。</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185676"/>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数据存储模块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该模块是网络大脑的记忆区，存放上传后的汇总数据，用于支撑上层决策等应用。</a:t>
            </a:r>
          </a:p>
          <a:p>
            <a:pPr indent="457200" algn="l">
              <a:lnSpc>
                <a:spcPct val="150000"/>
              </a:lnSpc>
            </a:pPr>
            <a:r>
              <a:rPr lang="zh-CN" dirty="0">
                <a:effectLst/>
                <a:latin typeface="+mn-ea"/>
                <a:sym typeface="+mn-ea"/>
              </a:rPr>
              <a:t>    网络基础</a:t>
            </a:r>
            <a:r>
              <a:rPr lang="zh-CN" altLang="en-US" dirty="0">
                <a:effectLst/>
                <a:latin typeface="+mn-ea"/>
                <a:sym typeface="+mn-ea"/>
              </a:rPr>
              <a:t>数据种类繁杂且体量巨大，需要结构化底层设计数据存储。</a:t>
            </a:r>
          </a:p>
          <a:p>
            <a:pPr indent="457200" algn="l">
              <a:lnSpc>
                <a:spcPct val="150000"/>
              </a:lnSpc>
            </a:pPr>
            <a:r>
              <a:rPr lang="zh-CN" altLang="en-US" dirty="0">
                <a:effectLst/>
                <a:latin typeface="+mn-ea"/>
                <a:sym typeface="+mn-ea"/>
              </a:rPr>
              <a:t>    经验库通过人工干预和自主学习进行不断丰富完善。</a:t>
            </a:r>
            <a:endParaRPr lang="zh-CN" dirty="0">
              <a:latin typeface="+mn-ea"/>
            </a:endParaRPr>
          </a:p>
        </p:txBody>
      </p:sp>
      <p:sp>
        <p:nvSpPr>
          <p:cNvPr id="5" name="文本框 4"/>
          <p:cNvSpPr txBox="1"/>
          <p:nvPr/>
        </p:nvSpPr>
        <p:spPr>
          <a:xfrm>
            <a:off x="1245234" y="4208626"/>
            <a:ext cx="9309735" cy="1291379"/>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基础数据库：用于存放未加工的所有类型结构化数据</a:t>
            </a:r>
          </a:p>
          <a:p>
            <a:pPr indent="457200" algn="l">
              <a:lnSpc>
                <a:spcPct val="150000"/>
              </a:lnSpc>
            </a:pPr>
            <a:r>
              <a:rPr lang="zh-CN" altLang="en-US" dirty="0">
                <a:latin typeface="+mn-ea"/>
              </a:rPr>
              <a:t>    </a:t>
            </a:r>
            <a:r>
              <a:rPr lang="zh-CN" altLang="en-US" dirty="0">
                <a:effectLst/>
                <a:latin typeface="+mn-ea"/>
                <a:sym typeface="+mn-ea"/>
              </a:rPr>
              <a:t>经验库：算法库、模型库、场景库、指令库等</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8324918"/>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决策系统</a:t>
            </a:r>
            <a:endParaRPr lang="zh-CN" altLang="en-US" dirty="0">
              <a:solidFill>
                <a:srgbClr val="333F50"/>
              </a:solidFill>
            </a:endParaRPr>
          </a:p>
        </p:txBody>
      </p:sp>
      <p:sp>
        <p:nvSpPr>
          <p:cNvPr id="37" name="文本框 36"/>
          <p:cNvSpPr txBox="1"/>
          <p:nvPr/>
        </p:nvSpPr>
        <p:spPr>
          <a:xfrm>
            <a:off x="624205" y="3399790"/>
            <a:ext cx="1554480" cy="368300"/>
          </a:xfrm>
          <a:prstGeom prst="rect">
            <a:avLst/>
          </a:prstGeom>
          <a:noFill/>
        </p:spPr>
        <p:txBody>
          <a:bodyPr wrap="none" rtlCol="0">
            <a:spAutoFit/>
          </a:bodyPr>
          <a:lstStyle/>
          <a:p>
            <a:pPr algn="ctr"/>
            <a:r>
              <a:rPr lang="zh-CN" altLang="en-US"/>
              <a:t>数据存储模块</a:t>
            </a:r>
          </a:p>
        </p:txBody>
      </p:sp>
      <p:grpSp>
        <p:nvGrpSpPr>
          <p:cNvPr id="9" name="组合 8"/>
          <p:cNvGrpSpPr/>
          <p:nvPr/>
        </p:nvGrpSpPr>
        <p:grpSpPr>
          <a:xfrm>
            <a:off x="5866765" y="1781810"/>
            <a:ext cx="1554480" cy="1528445"/>
            <a:chOff x="7847" y="1740"/>
            <a:chExt cx="2448" cy="2407"/>
          </a:xfrm>
        </p:grpSpPr>
        <p:sp>
          <p:nvSpPr>
            <p:cNvPr id="30" name="文本框 29"/>
            <p:cNvSpPr txBox="1"/>
            <p:nvPr/>
          </p:nvSpPr>
          <p:spPr>
            <a:xfrm>
              <a:off x="7847" y="3567"/>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自主学习模块</a:t>
              </a:r>
            </a:p>
          </p:txBody>
        </p:sp>
        <p:sp>
          <p:nvSpPr>
            <p:cNvPr id="2" name="KSO_Shape"/>
            <p:cNvSpPr/>
            <p:nvPr/>
          </p:nvSpPr>
          <p:spPr bwMode="auto">
            <a:xfrm>
              <a:off x="8111" y="1740"/>
              <a:ext cx="2056" cy="1640"/>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grpSp>
      <p:grpSp>
        <p:nvGrpSpPr>
          <p:cNvPr id="10" name="组合 9"/>
          <p:cNvGrpSpPr/>
          <p:nvPr/>
        </p:nvGrpSpPr>
        <p:grpSpPr>
          <a:xfrm>
            <a:off x="5866765" y="4056380"/>
            <a:ext cx="1554480" cy="1587500"/>
            <a:chOff x="8210" y="6203"/>
            <a:chExt cx="2448" cy="2500"/>
          </a:xfrm>
        </p:grpSpPr>
        <p:sp>
          <p:nvSpPr>
            <p:cNvPr id="51" name="文本框 50"/>
            <p:cNvSpPr txBox="1"/>
            <p:nvPr/>
          </p:nvSpPr>
          <p:spPr>
            <a:xfrm>
              <a:off x="8210" y="8123"/>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业务管理模块</a:t>
              </a:r>
            </a:p>
          </p:txBody>
        </p:sp>
        <p:pic>
          <p:nvPicPr>
            <p:cNvPr id="5" name="图片 4" descr="Monitor_128px_1178229_easyicon.net"/>
            <p:cNvPicPr>
              <a:picLocks noChangeAspect="1"/>
            </p:cNvPicPr>
            <p:nvPr/>
          </p:nvPicPr>
          <p:blipFill>
            <a:blip r:embed="rId3"/>
            <a:stretch>
              <a:fillRect/>
            </a:stretch>
          </p:blipFill>
          <p:spPr>
            <a:xfrm>
              <a:off x="8474" y="6203"/>
              <a:ext cx="1920" cy="1920"/>
            </a:xfrm>
            <a:prstGeom prst="rect">
              <a:avLst/>
            </a:prstGeom>
          </p:spPr>
        </p:pic>
      </p:grpSp>
      <p:grpSp>
        <p:nvGrpSpPr>
          <p:cNvPr id="13" name="组合 12"/>
          <p:cNvGrpSpPr/>
          <p:nvPr/>
        </p:nvGrpSpPr>
        <p:grpSpPr>
          <a:xfrm>
            <a:off x="4425950" y="1839595"/>
            <a:ext cx="1441450" cy="782320"/>
            <a:chOff x="5236" y="1874"/>
            <a:chExt cx="2270" cy="1232"/>
          </a:xfrm>
        </p:grpSpPr>
        <p:sp>
          <p:nvSpPr>
            <p:cNvPr id="11" name="右箭头 10"/>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5237" y="1874"/>
              <a:ext cx="2088" cy="580"/>
            </a:xfrm>
            <a:prstGeom prst="rect">
              <a:avLst/>
            </a:prstGeom>
            <a:noFill/>
          </p:spPr>
          <p:txBody>
            <a:bodyPr wrap="none" rtlCol="0">
              <a:spAutoFit/>
            </a:bodyPr>
            <a:lstStyle/>
            <a:p>
              <a:r>
                <a:rPr lang="zh-CN" altLang="en-US"/>
                <a:t>建立经验库</a:t>
              </a:r>
            </a:p>
          </p:txBody>
        </p:sp>
      </p:grpSp>
      <p:grpSp>
        <p:nvGrpSpPr>
          <p:cNvPr id="14" name="组合 13"/>
          <p:cNvGrpSpPr/>
          <p:nvPr/>
        </p:nvGrpSpPr>
        <p:grpSpPr>
          <a:xfrm>
            <a:off x="4425315" y="4056380"/>
            <a:ext cx="1441450" cy="803275"/>
            <a:chOff x="5236" y="1842"/>
            <a:chExt cx="2270" cy="1265"/>
          </a:xfrm>
        </p:grpSpPr>
        <p:sp>
          <p:nvSpPr>
            <p:cNvPr id="15" name="左右箭头 14"/>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 name="文本框 15"/>
            <p:cNvSpPr txBox="1"/>
            <p:nvPr/>
          </p:nvSpPr>
          <p:spPr>
            <a:xfrm>
              <a:off x="5507" y="1842"/>
              <a:ext cx="1728" cy="580"/>
            </a:xfrm>
            <a:prstGeom prst="rect">
              <a:avLst/>
            </a:prstGeom>
            <a:noFill/>
          </p:spPr>
          <p:txBody>
            <a:bodyPr wrap="none" rtlCol="0">
              <a:spAutoFit/>
            </a:bodyPr>
            <a:lstStyle/>
            <a:p>
              <a:r>
                <a:rPr lang="zh-CN" altLang="en-US"/>
                <a:t>实时监测</a:t>
              </a:r>
            </a:p>
          </p:txBody>
        </p:sp>
      </p:grpSp>
      <p:grpSp>
        <p:nvGrpSpPr>
          <p:cNvPr id="17" name="组合 16"/>
          <p:cNvGrpSpPr/>
          <p:nvPr/>
        </p:nvGrpSpPr>
        <p:grpSpPr>
          <a:xfrm>
            <a:off x="7582535" y="1413510"/>
            <a:ext cx="1554480" cy="755015"/>
            <a:chOff x="5147" y="1918"/>
            <a:chExt cx="2448" cy="1189"/>
          </a:xfrm>
        </p:grpSpPr>
        <p:sp>
          <p:nvSpPr>
            <p:cNvPr id="19" name="左右箭头 18"/>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 name="文本框 19"/>
            <p:cNvSpPr txBox="1"/>
            <p:nvPr/>
          </p:nvSpPr>
          <p:spPr>
            <a:xfrm>
              <a:off x="5147" y="1918"/>
              <a:ext cx="2448" cy="580"/>
            </a:xfrm>
            <a:prstGeom prst="rect">
              <a:avLst/>
            </a:prstGeom>
            <a:noFill/>
          </p:spPr>
          <p:txBody>
            <a:bodyPr wrap="none" rtlCol="0">
              <a:spAutoFit/>
            </a:bodyPr>
            <a:lstStyle/>
            <a:p>
              <a:r>
                <a:rPr lang="zh-CN" altLang="en-US"/>
                <a:t>历史数据建模</a:t>
              </a:r>
            </a:p>
          </p:txBody>
        </p:sp>
      </p:grpSp>
      <p:grpSp>
        <p:nvGrpSpPr>
          <p:cNvPr id="22" name="组合 21"/>
          <p:cNvGrpSpPr/>
          <p:nvPr/>
        </p:nvGrpSpPr>
        <p:grpSpPr>
          <a:xfrm>
            <a:off x="7582535" y="2644775"/>
            <a:ext cx="1554480" cy="755015"/>
            <a:chOff x="5147" y="1918"/>
            <a:chExt cx="2448" cy="1189"/>
          </a:xfrm>
        </p:grpSpPr>
        <p:sp>
          <p:nvSpPr>
            <p:cNvPr id="23" name="左右箭头 22"/>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文本框 23"/>
            <p:cNvSpPr txBox="1"/>
            <p:nvPr/>
          </p:nvSpPr>
          <p:spPr>
            <a:xfrm>
              <a:off x="5147" y="1918"/>
              <a:ext cx="2448" cy="580"/>
            </a:xfrm>
            <a:prstGeom prst="rect">
              <a:avLst/>
            </a:prstGeom>
            <a:noFill/>
          </p:spPr>
          <p:txBody>
            <a:bodyPr wrap="none" rtlCol="0">
              <a:spAutoFit/>
            </a:bodyPr>
            <a:lstStyle/>
            <a:p>
              <a:r>
                <a:rPr lang="zh-CN" altLang="en-US"/>
                <a:t>故障处理指令</a:t>
              </a:r>
            </a:p>
          </p:txBody>
        </p:sp>
      </p:grpSp>
      <p:grpSp>
        <p:nvGrpSpPr>
          <p:cNvPr id="29" name="组合 28"/>
          <p:cNvGrpSpPr/>
          <p:nvPr/>
        </p:nvGrpSpPr>
        <p:grpSpPr>
          <a:xfrm>
            <a:off x="7639050" y="4056380"/>
            <a:ext cx="1441450" cy="803275"/>
            <a:chOff x="5236" y="1842"/>
            <a:chExt cx="2270" cy="1265"/>
          </a:xfrm>
        </p:grpSpPr>
        <p:sp>
          <p:nvSpPr>
            <p:cNvPr id="32" name="右箭头 31"/>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5507" y="1842"/>
              <a:ext cx="1728" cy="580"/>
            </a:xfrm>
            <a:prstGeom prst="rect">
              <a:avLst/>
            </a:prstGeom>
            <a:noFill/>
          </p:spPr>
          <p:txBody>
            <a:bodyPr wrap="none" rtlCol="0">
              <a:spAutoFit/>
            </a:bodyPr>
            <a:lstStyle/>
            <a:p>
              <a:r>
                <a:rPr lang="zh-CN" altLang="en-US"/>
                <a:t>异常上报</a:t>
              </a:r>
            </a:p>
          </p:txBody>
        </p:sp>
      </p:grpSp>
      <p:sp>
        <p:nvSpPr>
          <p:cNvPr id="52" name="圆角矩形 51"/>
          <p:cNvSpPr/>
          <p:nvPr/>
        </p:nvSpPr>
        <p:spPr>
          <a:xfrm>
            <a:off x="9450705" y="3013075"/>
            <a:ext cx="1017270" cy="1918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a:t>
            </a:r>
          </a:p>
          <a:p>
            <a:pPr algn="ctr"/>
            <a:r>
              <a:rPr lang="zh-CN" altLang="en-US"/>
              <a:t>处理</a:t>
            </a:r>
          </a:p>
          <a:p>
            <a:pPr algn="ctr"/>
            <a:r>
              <a:rPr lang="zh-CN" altLang="en-US"/>
              <a:t>模块</a:t>
            </a:r>
          </a:p>
        </p:txBody>
      </p:sp>
      <p:pic>
        <p:nvPicPr>
          <p:cNvPr id="53" name="图片 52" descr="model_vrml_72px_1078125_easyicon.net"/>
          <p:cNvPicPr>
            <a:picLocks noChangeAspect="1"/>
          </p:cNvPicPr>
          <p:nvPr/>
        </p:nvPicPr>
        <p:blipFill>
          <a:blip r:embed="rId4"/>
          <a:stretch>
            <a:fillRect/>
          </a:stretch>
        </p:blipFill>
        <p:spPr>
          <a:xfrm>
            <a:off x="3046095" y="1791335"/>
            <a:ext cx="914400" cy="914400"/>
          </a:xfrm>
          <a:prstGeom prst="rect">
            <a:avLst/>
          </a:prstGeom>
        </p:spPr>
      </p:pic>
      <p:sp>
        <p:nvSpPr>
          <p:cNvPr id="54" name="文本框 53"/>
          <p:cNvSpPr txBox="1"/>
          <p:nvPr/>
        </p:nvSpPr>
        <p:spPr>
          <a:xfrm>
            <a:off x="2954020" y="2941955"/>
            <a:ext cx="1097280" cy="368300"/>
          </a:xfrm>
          <a:prstGeom prst="rect">
            <a:avLst/>
          </a:prstGeom>
          <a:noFill/>
        </p:spPr>
        <p:txBody>
          <a:bodyPr wrap="none" rtlCol="0">
            <a:spAutoFit/>
          </a:bodyPr>
          <a:lstStyle/>
          <a:p>
            <a:r>
              <a:rPr lang="zh-CN" altLang="en-US"/>
              <a:t>经验模型</a:t>
            </a:r>
          </a:p>
        </p:txBody>
      </p:sp>
      <p:pic>
        <p:nvPicPr>
          <p:cNvPr id="55" name="图片 54" descr="cogs_153.32620320856px_1185588_easyicon.net"/>
          <p:cNvPicPr>
            <a:picLocks noChangeAspect="1"/>
          </p:cNvPicPr>
          <p:nvPr/>
        </p:nvPicPr>
        <p:blipFill>
          <a:blip r:embed="rId5"/>
          <a:stretch>
            <a:fillRect/>
          </a:stretch>
        </p:blipFill>
        <p:spPr>
          <a:xfrm>
            <a:off x="2920365" y="3956050"/>
            <a:ext cx="1165860" cy="975360"/>
          </a:xfrm>
          <a:prstGeom prst="rect">
            <a:avLst/>
          </a:prstGeom>
        </p:spPr>
      </p:pic>
      <p:sp>
        <p:nvSpPr>
          <p:cNvPr id="56" name="文本框 55"/>
          <p:cNvSpPr txBox="1"/>
          <p:nvPr/>
        </p:nvSpPr>
        <p:spPr>
          <a:xfrm>
            <a:off x="2954655" y="5142865"/>
            <a:ext cx="1097280" cy="368300"/>
          </a:xfrm>
          <a:prstGeom prst="rect">
            <a:avLst/>
          </a:prstGeom>
          <a:noFill/>
        </p:spPr>
        <p:txBody>
          <a:bodyPr wrap="none" rtlCol="0">
            <a:spAutoFit/>
          </a:bodyPr>
          <a:lstStyle/>
          <a:p>
            <a:r>
              <a:rPr lang="zh-CN" altLang="en-US"/>
              <a:t>基础数据</a:t>
            </a:r>
          </a:p>
        </p:txBody>
      </p:sp>
      <p:sp>
        <p:nvSpPr>
          <p:cNvPr id="57" name="圆角矩形 56"/>
          <p:cNvSpPr/>
          <p:nvPr/>
        </p:nvSpPr>
        <p:spPr>
          <a:xfrm>
            <a:off x="9450705" y="1560830"/>
            <a:ext cx="1313815" cy="84518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p>
        </p:txBody>
      </p:sp>
      <p:sp>
        <p:nvSpPr>
          <p:cNvPr id="58" name="左大括号 57"/>
          <p:cNvSpPr/>
          <p:nvPr/>
        </p:nvSpPr>
        <p:spPr>
          <a:xfrm>
            <a:off x="2450465" y="1843405"/>
            <a:ext cx="234950" cy="347853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59" name="圆角矩形 58"/>
          <p:cNvSpPr/>
          <p:nvPr/>
        </p:nvSpPr>
        <p:spPr>
          <a:xfrm>
            <a:off x="5728335" y="141287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5638165" y="605599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6552112"/>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自主</a:t>
            </a:r>
            <a:r>
              <a:rPr lang="zh-CN" altLang="en-US" dirty="0" smtClean="0">
                <a:solidFill>
                  <a:srgbClr val="333F50"/>
                </a:solidFill>
              </a:rPr>
              <a:t>学习模块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zh-CN" dirty="0">
              <a:latin typeface="+mn-ea"/>
            </a:endParaRPr>
          </a:p>
        </p:txBody>
      </p:sp>
      <p:sp>
        <p:nvSpPr>
          <p:cNvPr id="5" name="文本框 4"/>
          <p:cNvSpPr txBox="1"/>
          <p:nvPr/>
        </p:nvSpPr>
        <p:spPr>
          <a:xfrm>
            <a:off x="1245235" y="3711855"/>
            <a:ext cx="9309735" cy="2168525"/>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数据挖掘</a:t>
            </a:r>
          </a:p>
          <a:p>
            <a:pPr indent="457200" algn="l">
              <a:lnSpc>
                <a:spcPct val="150000"/>
              </a:lnSpc>
            </a:pPr>
            <a:r>
              <a:rPr lang="zh-CN" altLang="en-US" dirty="0">
                <a:latin typeface="+mn-ea"/>
              </a:rPr>
              <a:t>    </a:t>
            </a:r>
            <a:r>
              <a:rPr lang="zh-CN" altLang="en-US" dirty="0">
                <a:effectLst/>
                <a:latin typeface="+mn-ea"/>
                <a:sym typeface="+mn-ea"/>
              </a:rPr>
              <a:t>规则制定</a:t>
            </a:r>
          </a:p>
          <a:p>
            <a:pPr indent="457200" algn="l">
              <a:lnSpc>
                <a:spcPct val="150000"/>
              </a:lnSpc>
            </a:pPr>
            <a:r>
              <a:rPr lang="zh-CN" altLang="en-US" dirty="0">
                <a:effectLst/>
                <a:latin typeface="+mn-ea"/>
                <a:sym typeface="+mn-ea"/>
              </a:rPr>
              <a:t>    风险评估</a:t>
            </a:r>
          </a:p>
          <a:p>
            <a:pPr indent="457200" algn="l">
              <a:lnSpc>
                <a:spcPct val="150000"/>
              </a:lnSpc>
            </a:pPr>
            <a:r>
              <a:rPr lang="zh-CN" altLang="en-US" dirty="0">
                <a:effectLst/>
                <a:latin typeface="+mn-ea"/>
                <a:sym typeface="+mn-ea"/>
              </a:rPr>
              <a:t>    行为选择。</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854896"/>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业务管理模块</a:t>
            </a:r>
            <a:endParaRPr lang="zh-CN" altLang="en-US" dirty="0">
              <a:solidFill>
                <a:srgbClr val="333F50"/>
              </a:solidFill>
            </a:endParaRPr>
          </a:p>
        </p:txBody>
      </p:sp>
      <p:sp>
        <p:nvSpPr>
          <p:cNvPr id="2" name="文本框 1"/>
          <p:cNvSpPr txBox="1"/>
          <p:nvPr/>
        </p:nvSpPr>
        <p:spPr>
          <a:xfrm>
            <a:off x="1245235" y="1542415"/>
            <a:ext cx="9309735" cy="21685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网维中心各部门数据的格式、类型等不同，数据无法有效的被整合、归类。数据存储、管理、利用与分析工作效率低下。</a:t>
            </a:r>
          </a:p>
          <a:p>
            <a:pPr indent="457200" fontAlgn="auto">
              <a:lnSpc>
                <a:spcPct val="150000"/>
              </a:lnSpc>
              <a:spcBef>
                <a:spcPts val="0"/>
              </a:spcBef>
              <a:spcAft>
                <a:spcPts val="0"/>
              </a:spcAft>
              <a:defRPr/>
            </a:pPr>
            <a:r>
              <a:rPr lang="zh-CN" altLang="en-US" dirty="0">
                <a:latin typeface="+mn-ea"/>
                <a:sym typeface="+mn-ea"/>
              </a:rPr>
              <a:t>    业务查询模块为各部门提供开放的数据接口，</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管理，并按照分类周期性导出数据报表</a:t>
            </a:r>
            <a:r>
              <a:rPr lang="zh-CN" altLang="en-US" dirty="0">
                <a:latin typeface="+mn-ea"/>
                <a:sym typeface="+mn-ea"/>
              </a:rPr>
              <a:t>。</a:t>
            </a:r>
            <a:endParaRPr lang="zh-CN" dirty="0">
              <a:latin typeface="+mn-ea"/>
            </a:endParaRPr>
          </a:p>
        </p:txBody>
      </p:sp>
      <p:sp>
        <p:nvSpPr>
          <p:cNvPr id="5" name="文本框 4"/>
          <p:cNvSpPr txBox="1"/>
          <p:nvPr/>
        </p:nvSpPr>
        <p:spPr>
          <a:xfrm>
            <a:off x="1245234" y="4221292"/>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指标归类整合</a:t>
            </a:r>
          </a:p>
          <a:p>
            <a:pPr indent="457200" algn="l">
              <a:lnSpc>
                <a:spcPct val="150000"/>
              </a:lnSpc>
            </a:pPr>
            <a:r>
              <a:rPr lang="zh-CN" altLang="en-US" dirty="0">
                <a:effectLst/>
                <a:latin typeface="+mn-ea"/>
                <a:sym typeface="+mn-ea"/>
              </a:rPr>
              <a:t>    实时自主监控</a:t>
            </a:r>
          </a:p>
          <a:p>
            <a:pPr indent="457200" algn="l">
              <a:lnSpc>
                <a:spcPct val="150000"/>
              </a:lnSpc>
            </a:pPr>
            <a:r>
              <a:rPr lang="zh-CN" altLang="en-US" dirty="0">
                <a:effectLst/>
                <a:latin typeface="+mn-ea"/>
                <a:sym typeface="+mn-ea"/>
              </a:rPr>
              <a:t>    报表自动生成。</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48007220"/>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grpSp>
        <p:nvGrpSpPr>
          <p:cNvPr id="59" name="组合 58"/>
          <p:cNvGrpSpPr/>
          <p:nvPr/>
        </p:nvGrpSpPr>
        <p:grpSpPr>
          <a:xfrm>
            <a:off x="1684020" y="1809750"/>
            <a:ext cx="7820025" cy="3445510"/>
            <a:chOff x="2580" y="2211"/>
            <a:chExt cx="12315" cy="5426"/>
          </a:xfrm>
        </p:grpSpPr>
        <p:grpSp>
          <p:nvGrpSpPr>
            <p:cNvPr id="28" name="组合 27"/>
            <p:cNvGrpSpPr/>
            <p:nvPr/>
          </p:nvGrpSpPr>
          <p:grpSpPr>
            <a:xfrm>
              <a:off x="5155" y="2211"/>
              <a:ext cx="2270" cy="1189"/>
              <a:chOff x="5236" y="1918"/>
              <a:chExt cx="2270" cy="1189"/>
            </a:xfrm>
          </p:grpSpPr>
          <p:sp>
            <p:nvSpPr>
              <p:cNvPr id="34" name="右箭头 33"/>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5" name="文本框 34"/>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38" name="右箭头 37"/>
            <p:cNvSpPr/>
            <p:nvPr/>
          </p:nvSpPr>
          <p:spPr>
            <a:xfrm>
              <a:off x="5155" y="4730"/>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1" name="右箭头 40"/>
            <p:cNvSpPr/>
            <p:nvPr/>
          </p:nvSpPr>
          <p:spPr>
            <a:xfrm>
              <a:off x="5133" y="6666"/>
              <a:ext cx="7315"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圆角矩形 42"/>
            <p:cNvSpPr/>
            <p:nvPr/>
          </p:nvSpPr>
          <p:spPr>
            <a:xfrm>
              <a:off x="7681" y="4367"/>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故障处理</a:t>
              </a:r>
            </a:p>
            <a:p>
              <a:pPr algn="ctr"/>
              <a:r>
                <a:rPr lang="zh-CN" altLang="en-US"/>
                <a:t>模块</a:t>
              </a:r>
            </a:p>
          </p:txBody>
        </p:sp>
        <p:sp>
          <p:nvSpPr>
            <p:cNvPr id="44" name="圆角矩形 43"/>
            <p:cNvSpPr/>
            <p:nvPr/>
          </p:nvSpPr>
          <p:spPr>
            <a:xfrm>
              <a:off x="7681" y="2430"/>
              <a:ext cx="2069" cy="133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p>
          </p:txBody>
        </p:sp>
        <p:sp>
          <p:nvSpPr>
            <p:cNvPr id="45" name="圆角矩形 44"/>
            <p:cNvSpPr/>
            <p:nvPr/>
          </p:nvSpPr>
          <p:spPr>
            <a:xfrm>
              <a:off x="2580" y="6303"/>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业务管理</a:t>
              </a:r>
            </a:p>
            <a:p>
              <a:pPr algn="ctr"/>
              <a:r>
                <a:rPr lang="zh-CN" altLang="en-US"/>
                <a:t>模块</a:t>
              </a:r>
            </a:p>
          </p:txBody>
        </p:sp>
        <p:sp>
          <p:nvSpPr>
            <p:cNvPr id="46" name="圆角矩形 45"/>
            <p:cNvSpPr/>
            <p:nvPr/>
          </p:nvSpPr>
          <p:spPr>
            <a:xfrm>
              <a:off x="2580" y="2430"/>
              <a:ext cx="2069" cy="327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决策系统</a:t>
              </a:r>
            </a:p>
          </p:txBody>
        </p:sp>
        <p:sp>
          <p:nvSpPr>
            <p:cNvPr id="47" name="右箭头 46"/>
            <p:cNvSpPr/>
            <p:nvPr/>
          </p:nvSpPr>
          <p:spPr>
            <a:xfrm>
              <a:off x="10050" y="2791"/>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右箭头 47"/>
            <p:cNvSpPr/>
            <p:nvPr/>
          </p:nvSpPr>
          <p:spPr>
            <a:xfrm>
              <a:off x="10050" y="4730"/>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p:cNvSpPr txBox="1"/>
            <p:nvPr/>
          </p:nvSpPr>
          <p:spPr>
            <a:xfrm>
              <a:off x="10141" y="2211"/>
              <a:ext cx="2088" cy="580"/>
            </a:xfrm>
            <a:prstGeom prst="rect">
              <a:avLst/>
            </a:prstGeom>
            <a:noFill/>
          </p:spPr>
          <p:txBody>
            <a:bodyPr wrap="none" rtlCol="0">
              <a:spAutoFit/>
            </a:bodyPr>
            <a:lstStyle/>
            <a:p>
              <a:r>
                <a:rPr lang="zh-CN" altLang="en-US"/>
                <a:t>可视化呈现</a:t>
              </a:r>
            </a:p>
          </p:txBody>
        </p:sp>
        <p:sp>
          <p:nvSpPr>
            <p:cNvPr id="50" name="圆角矩形 49"/>
            <p:cNvSpPr/>
            <p:nvPr/>
          </p:nvSpPr>
          <p:spPr>
            <a:xfrm>
              <a:off x="12827" y="2430"/>
              <a:ext cx="2069" cy="52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用户</a:t>
              </a:r>
            </a:p>
            <a:p>
              <a:pPr algn="ctr"/>
              <a:r>
                <a:rPr lang="zh-CN" altLang="en-US"/>
                <a:t>呈现</a:t>
              </a:r>
            </a:p>
            <a:p>
              <a:pPr algn="ctr"/>
              <a:r>
                <a:rPr lang="zh-CN" altLang="en-US"/>
                <a:t>模块</a:t>
              </a:r>
            </a:p>
          </p:txBody>
        </p:sp>
      </p:grpSp>
      <p:sp>
        <p:nvSpPr>
          <p:cNvPr id="60" name="圆角矩形 59"/>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1" name="文本框 60"/>
          <p:cNvSpPr txBox="1"/>
          <p:nvPr/>
        </p:nvSpPr>
        <p:spPr>
          <a:xfrm>
            <a:off x="6268085" y="593280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控制系统核心模块</a:t>
            </a: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3647825"/>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场景保障模块</a:t>
            </a:r>
            <a:endParaRPr lang="zh-CN" altLang="en-US" dirty="0">
              <a:solidFill>
                <a:srgbClr val="333F50"/>
              </a:solidFill>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3804285"/>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场景预测</a:t>
            </a:r>
          </a:p>
          <a:p>
            <a:pPr indent="457200" algn="l">
              <a:lnSpc>
                <a:spcPct val="150000"/>
              </a:lnSpc>
            </a:pPr>
            <a:r>
              <a:rPr lang="zh-CN" altLang="en-US" dirty="0">
                <a:effectLst/>
                <a:latin typeface="+mn-ea"/>
                <a:sym typeface="+mn-ea"/>
              </a:rPr>
              <a:t>    网络结构优化</a:t>
            </a:r>
          </a:p>
          <a:p>
            <a:pPr indent="457200" algn="l">
              <a:lnSpc>
                <a:spcPct val="150000"/>
              </a:lnSpc>
            </a:pPr>
            <a:r>
              <a:rPr lang="zh-CN" altLang="en-US" dirty="0">
                <a:effectLst/>
                <a:latin typeface="+mn-ea"/>
                <a:sym typeface="+mn-ea"/>
              </a:rPr>
              <a:t>    投诉预警与回溯分析</a:t>
            </a:r>
          </a:p>
          <a:p>
            <a:pPr indent="457200" algn="l">
              <a:lnSpc>
                <a:spcPct val="150000"/>
              </a:lnSpc>
            </a:pPr>
            <a:r>
              <a:rPr lang="zh-CN" altLang="en-US" dirty="0">
                <a:effectLst/>
                <a:latin typeface="+mn-ea"/>
                <a:sym typeface="+mn-ea"/>
              </a:rPr>
              <a:t>    重要场景应用。</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3098393"/>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故障处理模块</a:t>
            </a:r>
            <a:endParaRPr lang="zh-CN" altLang="en-US" dirty="0">
              <a:solidFill>
                <a:srgbClr val="333F50"/>
              </a:solidFill>
            </a:endParaRPr>
          </a:p>
        </p:txBody>
      </p:sp>
      <p:sp>
        <p:nvSpPr>
          <p:cNvPr id="2" name="文本框 1"/>
          <p:cNvSpPr txBox="1"/>
          <p:nvPr/>
        </p:nvSpPr>
        <p:spPr>
          <a:xfrm>
            <a:off x="1245235" y="1542415"/>
            <a:ext cx="52584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该模块目的是实现智能化故障处理，</a:t>
            </a:r>
          </a:p>
          <a:p>
            <a:pPr indent="457200" fontAlgn="auto">
              <a:lnSpc>
                <a:spcPct val="150000"/>
              </a:lnSpc>
              <a:spcBef>
                <a:spcPts val="0"/>
              </a:spcBef>
              <a:spcAft>
                <a:spcPts val="0"/>
              </a:spcAft>
              <a:defRPr/>
            </a:pPr>
            <a:r>
              <a:rPr lang="zh-CN" altLang="en-US" dirty="0">
                <a:latin typeface="+mn-ea"/>
                <a:sym typeface="+mn-ea"/>
              </a:rPr>
              <a:t>具体流程如图。</a:t>
            </a:r>
          </a:p>
          <a:p>
            <a:pPr indent="457200" fontAlgn="auto">
              <a:lnSpc>
                <a:spcPct val="150000"/>
              </a:lnSpc>
              <a:spcBef>
                <a:spcPts val="0"/>
              </a:spcBef>
              <a:spcAft>
                <a:spcPts val="0"/>
              </a:spcAft>
              <a:defRPr/>
            </a:pPr>
            <a:r>
              <a:rPr lang="zh-CN" altLang="en-US" dirty="0">
                <a:latin typeface="+mn-ea"/>
                <a:sym typeface="+mn-ea"/>
              </a:rPr>
              <a:t>    </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智能告警识别</a:t>
            </a:r>
          </a:p>
          <a:p>
            <a:pPr indent="457200" algn="l">
              <a:lnSpc>
                <a:spcPct val="150000"/>
              </a:lnSpc>
            </a:pPr>
            <a:r>
              <a:rPr lang="zh-CN" altLang="en-US" dirty="0">
                <a:effectLst/>
                <a:latin typeface="+mn-ea"/>
                <a:sym typeface="+mn-ea"/>
              </a:rPr>
              <a:t>    异常根因分析与故障定位</a:t>
            </a:r>
          </a:p>
          <a:p>
            <a:pPr indent="457200" algn="l">
              <a:lnSpc>
                <a:spcPct val="150000"/>
              </a:lnSpc>
            </a:pPr>
            <a:r>
              <a:rPr lang="zh-CN" altLang="en-US" dirty="0">
                <a:effectLst/>
                <a:latin typeface="+mn-ea"/>
                <a:sym typeface="+mn-ea"/>
              </a:rPr>
              <a:t>    自主故障处理</a:t>
            </a:r>
          </a:p>
          <a:p>
            <a:pPr indent="457200" algn="l">
              <a:lnSpc>
                <a:spcPct val="150000"/>
              </a:lnSpc>
            </a:pPr>
            <a:r>
              <a:rPr lang="zh-CN" altLang="en-US" dirty="0">
                <a:effectLst/>
                <a:latin typeface="+mn-ea"/>
                <a:sym typeface="+mn-ea"/>
              </a:rPr>
              <a:t>    故障告警上报。</a:t>
            </a:r>
            <a:endParaRPr lang="zh-CN" altLang="en-US" dirty="0">
              <a:latin typeface="+mn-ea"/>
            </a:endParaRPr>
          </a:p>
        </p:txBody>
      </p:sp>
      <p:sp>
        <p:nvSpPr>
          <p:cNvPr id="3" name="矩形 2"/>
          <p:cNvSpPr/>
          <p:nvPr/>
        </p:nvSpPr>
        <p:spPr>
          <a:xfrm>
            <a:off x="8477885" y="775335"/>
            <a:ext cx="145288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异常检测</a:t>
            </a:r>
          </a:p>
        </p:txBody>
      </p:sp>
      <p:sp>
        <p:nvSpPr>
          <p:cNvPr id="9" name="矩形 8"/>
          <p:cNvSpPr/>
          <p:nvPr/>
        </p:nvSpPr>
        <p:spPr>
          <a:xfrm>
            <a:off x="8364855" y="2256155"/>
            <a:ext cx="167894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故障定位</a:t>
            </a:r>
          </a:p>
        </p:txBody>
      </p:sp>
      <p:sp>
        <p:nvSpPr>
          <p:cNvPr id="10" name="文本框 9"/>
          <p:cNvSpPr txBox="1"/>
          <p:nvPr/>
        </p:nvSpPr>
        <p:spPr>
          <a:xfrm>
            <a:off x="9516110" y="1443355"/>
            <a:ext cx="1554480" cy="645160"/>
          </a:xfrm>
          <a:prstGeom prst="rect">
            <a:avLst/>
          </a:prstGeom>
          <a:noFill/>
        </p:spPr>
        <p:txBody>
          <a:bodyPr wrap="none" rtlCol="0">
            <a:spAutoFit/>
          </a:bodyPr>
          <a:lstStyle/>
          <a:p>
            <a:r>
              <a:rPr lang="zh-CN" altLang="en-US"/>
              <a:t>按故障传播链</a:t>
            </a:r>
          </a:p>
          <a:p>
            <a:r>
              <a:rPr lang="zh-CN" altLang="en-US"/>
              <a:t>依次查找</a:t>
            </a:r>
          </a:p>
        </p:txBody>
      </p:sp>
      <p:sp>
        <p:nvSpPr>
          <p:cNvPr id="11" name="矩形 10"/>
          <p:cNvSpPr/>
          <p:nvPr/>
        </p:nvSpPr>
        <p:spPr>
          <a:xfrm>
            <a:off x="5676900" y="775335"/>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业务管理模块</a:t>
            </a:r>
          </a:p>
        </p:txBody>
      </p:sp>
      <p:sp>
        <p:nvSpPr>
          <p:cNvPr id="12" name="矩形 11"/>
          <p:cNvSpPr/>
          <p:nvPr/>
        </p:nvSpPr>
        <p:spPr>
          <a:xfrm>
            <a:off x="5676900" y="3614420"/>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自主学习模块</a:t>
            </a:r>
          </a:p>
        </p:txBody>
      </p:sp>
      <p:sp>
        <p:nvSpPr>
          <p:cNvPr id="13" name="矩形 12"/>
          <p:cNvSpPr/>
          <p:nvPr/>
        </p:nvSpPr>
        <p:spPr>
          <a:xfrm>
            <a:off x="8328660" y="352425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查找预设经验库</a:t>
            </a:r>
          </a:p>
          <a:p>
            <a:pPr algn="ctr"/>
            <a:r>
              <a:rPr lang="zh-CN" altLang="en-US"/>
              <a:t>解决方案</a:t>
            </a:r>
          </a:p>
        </p:txBody>
      </p:sp>
      <p:sp>
        <p:nvSpPr>
          <p:cNvPr id="15" name="矩形 14"/>
          <p:cNvSpPr/>
          <p:nvPr/>
        </p:nvSpPr>
        <p:spPr>
          <a:xfrm>
            <a:off x="6523990"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自动化脚本</a:t>
            </a:r>
          </a:p>
          <a:p>
            <a:pPr algn="ctr"/>
            <a:r>
              <a:rPr lang="zh-CN" altLang="en-US"/>
              <a:t>止损处理</a:t>
            </a:r>
          </a:p>
        </p:txBody>
      </p:sp>
      <p:sp>
        <p:nvSpPr>
          <p:cNvPr id="16" name="矩形 15"/>
          <p:cNvSpPr/>
          <p:nvPr/>
        </p:nvSpPr>
        <p:spPr>
          <a:xfrm>
            <a:off x="10043795"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上报至相关运维</a:t>
            </a:r>
          </a:p>
          <a:p>
            <a:pPr algn="ctr"/>
            <a:r>
              <a:rPr lang="zh-CN" altLang="en-US"/>
              <a:t>责任人员</a:t>
            </a:r>
          </a:p>
        </p:txBody>
      </p:sp>
      <p:sp>
        <p:nvSpPr>
          <p:cNvPr id="17" name="下箭头 16"/>
          <p:cNvSpPr/>
          <p:nvPr/>
        </p:nvSpPr>
        <p:spPr>
          <a:xfrm>
            <a:off x="9055735" y="1443355"/>
            <a:ext cx="297815" cy="730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9055100" y="2880360"/>
            <a:ext cx="297815" cy="5676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rot="1740000">
            <a:off x="820483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593330" y="4519930"/>
            <a:ext cx="640080" cy="368300"/>
          </a:xfrm>
          <a:prstGeom prst="rect">
            <a:avLst/>
          </a:prstGeom>
          <a:noFill/>
        </p:spPr>
        <p:txBody>
          <a:bodyPr wrap="none" rtlCol="0">
            <a:spAutoFit/>
          </a:bodyPr>
          <a:lstStyle/>
          <a:p>
            <a:r>
              <a:rPr lang="zh-CN" altLang="en-US"/>
              <a:t>存在</a:t>
            </a:r>
          </a:p>
        </p:txBody>
      </p:sp>
      <p:sp>
        <p:nvSpPr>
          <p:cNvPr id="21" name="下箭头 20"/>
          <p:cNvSpPr/>
          <p:nvPr/>
        </p:nvSpPr>
        <p:spPr>
          <a:xfrm rot="19860000" flipH="1">
            <a:off x="1000315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336530" y="4519930"/>
            <a:ext cx="868680" cy="368300"/>
          </a:xfrm>
          <a:prstGeom prst="rect">
            <a:avLst/>
          </a:prstGeom>
          <a:noFill/>
        </p:spPr>
        <p:txBody>
          <a:bodyPr wrap="none" rtlCol="0">
            <a:spAutoFit/>
          </a:bodyPr>
          <a:lstStyle/>
          <a:p>
            <a:r>
              <a:rPr lang="zh-CN" altLang="en-US"/>
              <a:t>不存在</a:t>
            </a:r>
          </a:p>
        </p:txBody>
      </p:sp>
      <p:sp>
        <p:nvSpPr>
          <p:cNvPr id="23" name="左右箭头 22"/>
          <p:cNvSpPr/>
          <p:nvPr/>
        </p:nvSpPr>
        <p:spPr>
          <a:xfrm>
            <a:off x="7403465" y="915035"/>
            <a:ext cx="972820"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左右箭头 23"/>
          <p:cNvSpPr/>
          <p:nvPr/>
        </p:nvSpPr>
        <p:spPr>
          <a:xfrm>
            <a:off x="7403465" y="3754120"/>
            <a:ext cx="829945"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009450"/>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用户呈现模块</a:t>
            </a:r>
            <a:endParaRPr lang="zh-CN" altLang="en-US" dirty="0">
              <a:solidFill>
                <a:srgbClr val="333F50"/>
              </a:solidFill>
            </a:endParaRPr>
          </a:p>
        </p:txBody>
      </p:sp>
      <p:sp>
        <p:nvSpPr>
          <p:cNvPr id="2" name="文本框 1"/>
          <p:cNvSpPr txBox="1"/>
          <p:nvPr/>
        </p:nvSpPr>
        <p:spPr>
          <a:xfrm>
            <a:off x="1245235" y="1542415"/>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dirty="0">
              <a:effectLst/>
              <a:latin typeface="+mn-ea"/>
              <a:sym typeface="+mn-ea"/>
            </a:endParaRPr>
          </a:p>
          <a:p>
            <a:pPr indent="457200" fontAlgn="auto">
              <a:lnSpc>
                <a:spcPct val="150000"/>
              </a:lnSpc>
              <a:spcBef>
                <a:spcPts val="0"/>
              </a:spcBef>
              <a:spcAft>
                <a:spcPts val="0"/>
              </a:spcAft>
              <a:defRPr/>
            </a:pPr>
            <a:r>
              <a:rPr lang="zh-CN" altLang="en-US" dirty="0">
                <a:effectLst/>
                <a:latin typeface="+mn-ea"/>
                <a:sym typeface="+mn-ea"/>
              </a:rPr>
              <a:t>    该模块利用数据可视化技术，实时呈现网络整体情况，为当下决策提供数据支撑，为运维工作提供强有力的指导作用，实现全网综合全面评价分析，科学高效运维管理</a:t>
            </a:r>
            <a:r>
              <a:rPr lang="zh-CN" altLang="en-US" dirty="0">
                <a:latin typeface="+mn-ea"/>
                <a:sym typeface="+mn-ea"/>
              </a:rPr>
              <a:t>。</a:t>
            </a:r>
            <a:endParaRPr lang="zh-CN" dirty="0">
              <a:latin typeface="+mn-ea"/>
            </a:endParaRPr>
          </a:p>
        </p:txBody>
      </p:sp>
      <p:sp>
        <p:nvSpPr>
          <p:cNvPr id="5" name="文本框 4"/>
          <p:cNvSpPr txBox="1"/>
          <p:nvPr/>
        </p:nvSpPr>
        <p:spPr>
          <a:xfrm>
            <a:off x="1245235" y="3626180"/>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网络全景概览</a:t>
            </a:r>
          </a:p>
          <a:p>
            <a:pPr indent="457200" algn="l">
              <a:lnSpc>
                <a:spcPct val="150000"/>
              </a:lnSpc>
            </a:pPr>
            <a:r>
              <a:rPr lang="zh-CN" altLang="en-US" dirty="0">
                <a:effectLst/>
                <a:latin typeface="+mn-ea"/>
                <a:sym typeface="+mn-ea"/>
              </a:rPr>
              <a:t>    指标量化评估与统计呈现</a:t>
            </a: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20594432"/>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1792117"/>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83621" y="3332696"/>
            <a:ext cx="2030979"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3751297"/>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078278"/>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7" name="文本框 6"/>
          <p:cNvSpPr txBox="1"/>
          <p:nvPr/>
        </p:nvSpPr>
        <p:spPr>
          <a:xfrm>
            <a:off x="624114" y="3004048"/>
            <a:ext cx="4610100" cy="17121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latin typeface="等线 Light" panose="02010600030101010101" pitchFamily="2" charset="-122"/>
                <a:ea typeface="等线 Light" panose="02010600030101010101" pitchFamily="2" charset="-122"/>
              </a:rPr>
              <a:t>当一个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3"/>
          <a:stretch>
            <a:fillRect/>
          </a:stretch>
        </p:blipFill>
        <p:spPr>
          <a:xfrm>
            <a:off x="6761162" y="2213428"/>
            <a:ext cx="3937635" cy="2692400"/>
          </a:xfrm>
          <a:prstGeom prst="rect">
            <a:avLst/>
          </a:prstGeom>
        </p:spPr>
      </p:pic>
      <p:sp>
        <p:nvSpPr>
          <p:cNvPr id="10" name="矩形 9"/>
          <p:cNvSpPr/>
          <p:nvPr/>
        </p:nvSpPr>
        <p:spPr>
          <a:xfrm>
            <a:off x="721810" y="2357718"/>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1" name="文本框 10"/>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1801087"/>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726584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792832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2"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extLst/>
          </p:nvPr>
        </p:nvGraphicFramePr>
        <p:xfrm>
          <a:off x="2070099" y="2862641"/>
          <a:ext cx="7378701" cy="399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图示 9"/>
          <p:cNvGraphicFramePr/>
          <p:nvPr>
            <p:extLst/>
          </p:nvPr>
        </p:nvGraphicFramePr>
        <p:xfrm>
          <a:off x="2222499" y="3015041"/>
          <a:ext cx="7378701" cy="39953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1" name="图示 10"/>
          <p:cNvGraphicFramePr/>
          <p:nvPr>
            <p:extLst/>
          </p:nvPr>
        </p:nvGraphicFramePr>
        <p:xfrm>
          <a:off x="1705278" y="2521206"/>
          <a:ext cx="1640717" cy="93602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2" name="图示 11"/>
          <p:cNvGraphicFramePr/>
          <p:nvPr>
            <p:extLst/>
          </p:nvPr>
        </p:nvGraphicFramePr>
        <p:xfrm>
          <a:off x="5116437" y="2470831"/>
          <a:ext cx="1640717" cy="93602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5" name="右箭头 4"/>
          <p:cNvSpPr/>
          <p:nvPr/>
        </p:nvSpPr>
        <p:spPr>
          <a:xfrm>
            <a:off x="3258001" y="2718663"/>
            <a:ext cx="1383393" cy="3042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502932" y="2124075"/>
            <a:ext cx="702582" cy="369332"/>
          </a:xfrm>
          <a:prstGeom prst="rect">
            <a:avLst/>
          </a:prstGeom>
          <a:noFill/>
        </p:spPr>
        <p:txBody>
          <a:bodyPr wrap="square" rtlCol="0">
            <a:spAutoFit/>
          </a:bodyPr>
          <a:lstStyle/>
          <a:p>
            <a:r>
              <a:rPr lang="zh-CN" altLang="en-US" dirty="0" smtClean="0"/>
              <a:t>输入</a:t>
            </a:r>
            <a:endParaRPr lang="zh-CN" altLang="en-US" dirty="0"/>
          </a:p>
        </p:txBody>
      </p:sp>
      <p:sp>
        <p:nvSpPr>
          <p:cNvPr id="13" name="下箭头 12"/>
          <p:cNvSpPr/>
          <p:nvPr/>
        </p:nvSpPr>
        <p:spPr>
          <a:xfrm>
            <a:off x="5568494" y="3293458"/>
            <a:ext cx="333375" cy="5315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901869" y="3400407"/>
            <a:ext cx="708481" cy="369332"/>
          </a:xfrm>
          <a:prstGeom prst="rect">
            <a:avLst/>
          </a:prstGeom>
          <a:noFill/>
        </p:spPr>
        <p:txBody>
          <a:bodyPr wrap="square" rtlCol="0">
            <a:spAutoFit/>
          </a:bodyPr>
          <a:lstStyle/>
          <a:p>
            <a:r>
              <a:rPr lang="zh-CN" altLang="en-US" dirty="0" smtClean="0"/>
              <a:t>方法</a:t>
            </a:r>
            <a:endParaRPr lang="zh-CN" altLang="en-US" dirty="0"/>
          </a:p>
        </p:txBody>
      </p:sp>
      <p:sp>
        <p:nvSpPr>
          <p:cNvPr id="15" name="文本框 1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4679956"/>
      </p:ext>
    </p:extLst>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2652913"/>
      </p:ext>
    </p:extLst>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28859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p>
        </p:txBody>
      </p:sp>
      <p:pic>
        <p:nvPicPr>
          <p:cNvPr id="18" name="图片 17"/>
          <p:cNvPicPr>
            <a:picLocks noChangeAspect="1"/>
          </p:cNvPicPr>
          <p:nvPr/>
        </p:nvPicPr>
        <p:blipFill>
          <a:blip r:embed="rId3"/>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22" name="文本框 21"/>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38782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1171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25156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804042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605422" cy="369332"/>
          </a:xfrm>
          <a:prstGeom prst="rect">
            <a:avLst/>
          </a:prstGeom>
          <a:noFill/>
        </p:spPr>
        <p:txBody>
          <a:bodyPr wrap="square" rtlCol="0">
            <a:spAutoFit/>
          </a:bodyPr>
          <a:lstStyle/>
          <a:p>
            <a:r>
              <a:rPr lang="zh-CN" altLang="en-US" dirty="0">
                <a:solidFill>
                  <a:srgbClr val="333F50"/>
                </a:solidFill>
              </a:rPr>
              <a:t>故障</a:t>
            </a:r>
            <a:r>
              <a:rPr lang="zh-CN" altLang="en-US" dirty="0" smtClean="0">
                <a:solidFill>
                  <a:srgbClr val="333F50"/>
                </a:solidFill>
              </a:rPr>
              <a:t>管理</a:t>
            </a:r>
            <a:r>
              <a:rPr lang="en-US" altLang="zh-CN" dirty="0" smtClean="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15512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433638" y="2571750"/>
            <a:ext cx="7405688" cy="2169825"/>
          </a:xfrm>
          <a:prstGeom prst="rect">
            <a:avLst/>
          </a:prstGeom>
          <a:noFill/>
        </p:spPr>
        <p:txBody>
          <a:bodyPr wrap="square" rtlCol="0">
            <a:spAutoFit/>
          </a:bodyPr>
          <a:lstStyle/>
          <a:p>
            <a:pPr indent="457200">
              <a:lnSpc>
                <a:spcPct val="150000"/>
              </a:lnSpc>
            </a:pPr>
            <a:r>
              <a:rPr lang="zh-CN" altLang="en-US" dirty="0" smtClean="0"/>
              <a:t>在对异常进行</a:t>
            </a:r>
            <a:r>
              <a:rPr lang="en-US" altLang="zh-CN" dirty="0" smtClean="0"/>
              <a:t>KPI</a:t>
            </a:r>
            <a:r>
              <a:rPr lang="zh-CN" altLang="en-US" dirty="0"/>
              <a:t>根</a:t>
            </a:r>
            <a:r>
              <a:rPr lang="zh-CN" altLang="en-US" dirty="0" smtClean="0"/>
              <a:t>因分析后，得到了导致这个异常的根因，然后</a:t>
            </a:r>
            <a:endParaRPr lang="en-US" altLang="zh-CN" dirty="0" smtClean="0"/>
          </a:p>
          <a:p>
            <a:pPr marL="285750" indent="-285750">
              <a:lnSpc>
                <a:spcPct val="150000"/>
              </a:lnSpc>
              <a:buFont typeface="Arial" panose="020B0604020202020204" pitchFamily="34" charset="0"/>
              <a:buChar char="•"/>
            </a:pPr>
            <a:r>
              <a:rPr lang="zh-CN" altLang="en-US" dirty="0" smtClean="0"/>
              <a:t>通过查找运维人员预设的经验库中的解决方案，如果存在相应的解决方案，那么可以通过完善的自动化脚本对故障进行止损处理；</a:t>
            </a:r>
            <a:endParaRPr lang="en-US" altLang="zh-CN" dirty="0" smtClean="0"/>
          </a:p>
          <a:p>
            <a:pPr marL="285750" indent="-285750">
              <a:lnSpc>
                <a:spcPct val="150000"/>
              </a:lnSpc>
              <a:buFont typeface="Arial" panose="020B0604020202020204" pitchFamily="34" charset="0"/>
              <a:buChar char="•"/>
            </a:pPr>
            <a:r>
              <a:rPr lang="zh-CN" altLang="en-US" dirty="0" smtClean="0"/>
              <a:t>对于相应解决方案不在经验库中的问题，可以通过多渠道的通知方式（短信、</a:t>
            </a:r>
            <a:r>
              <a:rPr lang="en-US" altLang="zh-CN" dirty="0" smtClean="0"/>
              <a:t>email</a:t>
            </a:r>
            <a:r>
              <a:rPr lang="zh-CN" altLang="en-US" dirty="0" smtClean="0"/>
              <a:t>等）对相关责任运维人员进行通知。</a:t>
            </a:r>
            <a:endParaRPr lang="zh-CN" altLang="en-US" dirty="0"/>
          </a:p>
        </p:txBody>
      </p:sp>
      <p:sp>
        <p:nvSpPr>
          <p:cNvPr id="7" name="文本框 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2139195"/>
      </p:ext>
    </p:extLst>
  </p:cSld>
  <p:clrMapOvr>
    <a:masterClrMapping/>
  </p:clrMapOvr>
  <p:transition spd="med">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g.blog.csdn.net/20170509161635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0" y="1991490"/>
            <a:ext cx="4978400" cy="310341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故障管理</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故障预测</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一条时序数据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是否有出现异常的趋势</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使用根因分析，异常检测的结果，对于未发生的问题进行预测，将问题处理在萌芽阶段。</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解决算法：决策树、支持向量机、随机森林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68505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其他应用</a:t>
            </a:r>
            <a:endParaRPr lang="zh-CN" altLang="en-US" dirty="0">
              <a:solidFill>
                <a:srgbClr val="333F50"/>
              </a:solidFill>
            </a:endParaRPr>
          </a:p>
        </p:txBody>
      </p:sp>
      <p:sp>
        <p:nvSpPr>
          <p:cNvPr id="2" name="文本框 1"/>
          <p:cNvSpPr txBox="1"/>
          <p:nvPr/>
        </p:nvSpPr>
        <p:spPr>
          <a:xfrm>
            <a:off x="2943225" y="2409825"/>
            <a:ext cx="55626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在实际情况中，还有其他运维场景可以应用智慧化运维的方法，但是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问题，如报警信息聚合（过滤）、动态阈值调整等。</a:t>
            </a:r>
            <a:endParaRPr lang="zh-CN" altLang="en-US" dirty="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8788797"/>
      </p:ext>
    </p:extLst>
  </p:cSld>
  <p:clrMapOvr>
    <a:masterClrMapping/>
  </p:clrMapOvr>
  <p:transition spd="med">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3140</TotalTime>
  <Words>2951</Words>
  <Application>Microsoft Office PowerPoint</Application>
  <PresentationFormat>宽屏</PresentationFormat>
  <Paragraphs>467</Paragraphs>
  <Slides>47</Slides>
  <Notes>35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Lato Light</vt:lpstr>
      <vt:lpstr>等线</vt:lpstr>
      <vt:lpstr>等线 Light</vt:lpstr>
      <vt:lpstr>宋体</vt:lpstr>
      <vt:lpstr>微软雅黑</vt:lpstr>
      <vt:lpstr>微软雅黑 Light</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215</cp:revision>
  <dcterms:created xsi:type="dcterms:W3CDTF">2015-08-05T01:47:03Z</dcterms:created>
  <dcterms:modified xsi:type="dcterms:W3CDTF">2018-01-16T05:38:45Z</dcterms:modified>
</cp:coreProperties>
</file>