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0" r:id="rId2"/>
    <p:sldId id="419" r:id="rId3"/>
    <p:sldId id="319" r:id="rId4"/>
    <p:sldId id="406" r:id="rId5"/>
    <p:sldId id="405" r:id="rId6"/>
    <p:sldId id="420" r:id="rId7"/>
    <p:sldId id="418" r:id="rId8"/>
    <p:sldId id="351" r:id="rId9"/>
    <p:sldId id="321" r:id="rId10"/>
    <p:sldId id="408" r:id="rId11"/>
    <p:sldId id="409" r:id="rId12"/>
    <p:sldId id="352" r:id="rId13"/>
    <p:sldId id="385" r:id="rId14"/>
    <p:sldId id="421" r:id="rId15"/>
    <p:sldId id="373" r:id="rId16"/>
    <p:sldId id="417" r:id="rId17"/>
    <p:sldId id="374" r:id="rId18"/>
    <p:sldId id="414" r:id="rId19"/>
    <p:sldId id="404" r:id="rId20"/>
    <p:sldId id="356" r:id="rId21"/>
    <p:sldId id="357" r:id="rId22"/>
    <p:sldId id="415" r:id="rId23"/>
    <p:sldId id="359" r:id="rId24"/>
    <p:sldId id="416" r:id="rId25"/>
    <p:sldId id="422" r:id="rId26"/>
    <p:sldId id="355"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x" initials="cx" lastIdx="1" clrIdx="0">
    <p:extLst>
      <p:ext uri="{19B8F6BF-5375-455C-9EA6-DF929625EA0E}">
        <p15:presenceInfo xmlns:p15="http://schemas.microsoft.com/office/powerpoint/2012/main" userId="41f651ea6314a8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BDE8"/>
    <a:srgbClr val="8FAADC"/>
    <a:srgbClr val="FF5050"/>
    <a:srgbClr val="103154"/>
    <a:srgbClr val="8C8C8C"/>
    <a:srgbClr val="D9D9D9"/>
    <a:srgbClr val="FFFFFF"/>
    <a:srgbClr val="000000"/>
    <a:srgbClr val="E73A1C"/>
    <a:srgbClr val="323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0" autoAdjust="0"/>
    <p:restoredTop sz="88084" autoAdjust="0"/>
  </p:normalViewPr>
  <p:slideViewPr>
    <p:cSldViewPr snapToGrid="0">
      <p:cViewPr>
        <p:scale>
          <a:sx n="100" d="100"/>
          <a:sy n="100" d="100"/>
        </p:scale>
        <p:origin x="6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2018/3/7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2174604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pPr indent="457200">
              <a:lnSpc>
                <a:spcPct val="150000"/>
              </a:lnSpc>
            </a:pPr>
            <a:r>
              <a:rPr lang="zh-CN" altLang="en-US" dirty="0" smtClean="0"/>
              <a:t>。</a:t>
            </a:r>
            <a:r>
              <a:rPr lang="zh-CN" altLang="en-US" sz="1200" dirty="0" smtClean="0"/>
              <a:t>新的挑战：</a:t>
            </a:r>
            <a:endParaRPr lang="en-US" altLang="zh-CN" sz="1200" dirty="0" smtClean="0"/>
          </a:p>
          <a:p>
            <a:pPr marL="285750" indent="-285750">
              <a:lnSpc>
                <a:spcPct val="150000"/>
              </a:lnSpc>
              <a:buFont typeface="Arial" panose="020B0604020202020204" pitchFamily="34" charset="0"/>
              <a:buChar char="•"/>
            </a:pPr>
            <a:r>
              <a:rPr lang="zh-CN" altLang="en-US" sz="1200" dirty="0" smtClean="0"/>
              <a:t>海量监测</a:t>
            </a:r>
            <a:r>
              <a:rPr lang="en-US" altLang="zh-CN" sz="1200" dirty="0" smtClean="0"/>
              <a:t>KPI</a:t>
            </a:r>
            <a:r>
              <a:rPr lang="zh-CN" altLang="en-US" sz="1200" dirty="0" smtClean="0"/>
              <a:t>如何快速发现异常（带宽利用率、</a:t>
            </a:r>
            <a:r>
              <a:rPr lang="en-US" altLang="zh-CN" sz="1200" dirty="0" smtClean="0"/>
              <a:t>CPU</a:t>
            </a:r>
            <a:r>
              <a:rPr lang="zh-CN" altLang="en-US" sz="1200" dirty="0" smtClean="0"/>
              <a:t>利用率、家宽用户数等）</a:t>
            </a:r>
            <a:endParaRPr lang="en-US" altLang="zh-CN" sz="1200" dirty="0" smtClean="0"/>
          </a:p>
          <a:p>
            <a:pPr marL="285750" indent="-285750">
              <a:lnSpc>
                <a:spcPct val="150000"/>
              </a:lnSpc>
              <a:buFont typeface="Arial" panose="020B0604020202020204" pitchFamily="34" charset="0"/>
              <a:buChar char="•"/>
            </a:pPr>
            <a:r>
              <a:rPr lang="zh-CN" altLang="en-US" sz="1200" dirty="0" smtClean="0"/>
              <a:t>繁杂的报警信息（硬件设备、传输、环境、性能）</a:t>
            </a:r>
            <a:endParaRPr lang="en-US" altLang="zh-CN" sz="1200" dirty="0" smtClean="0">
              <a:solidFill>
                <a:srgbClr val="FF0000"/>
              </a:solidFill>
            </a:endParaRPr>
          </a:p>
          <a:p>
            <a:pPr marL="285750" indent="-285750">
              <a:lnSpc>
                <a:spcPct val="150000"/>
              </a:lnSpc>
              <a:buFont typeface="Arial" panose="020B0604020202020204" pitchFamily="34" charset="0"/>
              <a:buChar char="•"/>
            </a:pPr>
            <a:r>
              <a:rPr lang="zh-CN" altLang="en-US" sz="1200" dirty="0" smtClean="0"/>
              <a:t>故障发生如何定位（线网组成复杂）</a:t>
            </a:r>
            <a:endParaRPr lang="en-US" altLang="zh-CN" sz="1200" dirty="0" smtClean="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8</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网管工具系统集成：是指将类似功能的系统或工具进行平台整合</a:t>
            </a:r>
            <a:endParaRPr lang="en-US" altLang="zh-CN" dirty="0" smtClean="0"/>
          </a:p>
          <a:p>
            <a:r>
              <a:rPr lang="zh-CN" altLang="en-US" dirty="0" smtClean="0"/>
              <a:t>运维动作一致有效：是指日常运维操作规范化及流程化，通过脚本执行解决经验性差异及疏失错误</a:t>
            </a:r>
            <a:endParaRPr lang="en-US" altLang="zh-CN" dirty="0" smtClean="0"/>
          </a:p>
          <a:p>
            <a:r>
              <a:rPr lang="zh-CN" altLang="en-US" dirty="0" smtClean="0"/>
              <a:t>运维语言统一清晰：是指通过结构化存储不同类型的数据，以及统一的对评价体系描述运维质量</a:t>
            </a:r>
            <a:endParaRPr lang="en-US" altLang="zh-CN" dirty="0" smtClean="0"/>
          </a:p>
          <a:p>
            <a:endParaRPr lang="en-US" altLang="zh-CN" dirty="0" smtClean="0"/>
          </a:p>
          <a:p>
            <a:r>
              <a:rPr lang="zh-CN" altLang="en-US" dirty="0" smtClean="0"/>
              <a:t>从自动化运维到智慧化运维，主要是摆脱规则人为制定这一痛点，将海量的运维数据及事件交给智能算法，由它自己发现和总结提炼</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110052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r>
            <a:br>
              <a:rPr lang="zh-CN" altLang="en-US" dirty="0" smtClean="0"/>
            </a:br>
            <a:r>
              <a:rPr lang="en-US" altLang="zh-CN" dirty="0" smtClean="0"/>
              <a:t>ML</a:t>
            </a:r>
            <a:r>
              <a:rPr lang="zh-CN" altLang="en-US" dirty="0" smtClean="0"/>
              <a:t>算法算是普通算法的一个进化。 允许程序可以根据提供的数据进行自动的学习，它可以使你的程序变得更</a:t>
            </a:r>
            <a:r>
              <a:rPr lang="en-US" altLang="zh-CN" dirty="0" smtClean="0"/>
              <a:t>"</a:t>
            </a:r>
            <a:r>
              <a:rPr lang="zh-CN" altLang="en-US" dirty="0" smtClean="0"/>
              <a:t>聪明</a:t>
            </a:r>
            <a:r>
              <a:rPr lang="en-US" altLang="zh-CN" dirty="0" smtClean="0"/>
              <a:t>"</a:t>
            </a:r>
            <a:r>
              <a:rPr lang="zh-CN" altLang="en-US" dirty="0" smtClean="0"/>
              <a:t>。</a:t>
            </a:r>
          </a:p>
          <a:p>
            <a:r>
              <a:rPr lang="zh-CN" altLang="en-US" dirty="0" smtClean="0"/>
              <a:t>你可以从市场随机购买一些芒果作为样本</a:t>
            </a:r>
            <a:r>
              <a:rPr lang="en-US" altLang="zh-CN" dirty="0" smtClean="0"/>
              <a:t>(</a:t>
            </a:r>
            <a:r>
              <a:rPr lang="en-US" altLang="zh-CN" b="1" dirty="0" smtClean="0"/>
              <a:t>training data</a:t>
            </a:r>
            <a:r>
              <a:rPr lang="en-US" altLang="zh-CN" dirty="0" smtClean="0"/>
              <a:t>)</a:t>
            </a:r>
            <a:r>
              <a:rPr lang="zh-CN" altLang="en-US" dirty="0" smtClean="0"/>
              <a:t>，然后列出所有芒果的属性，比如颜色，大小，形状，产地，经销商，等等</a:t>
            </a:r>
            <a:r>
              <a:rPr lang="en-US" altLang="zh-CN" dirty="0" smtClean="0"/>
              <a:t>(</a:t>
            </a:r>
            <a:r>
              <a:rPr lang="en-US" altLang="zh-CN" b="1" dirty="0" smtClean="0"/>
              <a:t>features</a:t>
            </a:r>
            <a:r>
              <a:rPr lang="en-US" altLang="zh-CN" dirty="0" smtClean="0"/>
              <a:t>)</a:t>
            </a:r>
            <a:r>
              <a:rPr lang="zh-CN" altLang="en-US" dirty="0" smtClean="0"/>
              <a:t>，以及 甜度，成熟度，是否多汁，等等</a:t>
            </a:r>
            <a:r>
              <a:rPr lang="en-US" altLang="zh-CN" dirty="0" smtClean="0"/>
              <a:t>(</a:t>
            </a:r>
            <a:r>
              <a:rPr lang="en-US" altLang="zh-CN" b="1" dirty="0" smtClean="0"/>
              <a:t>output variables</a:t>
            </a:r>
            <a:r>
              <a:rPr lang="en-US" altLang="zh-CN" dirty="0" smtClean="0"/>
              <a:t>)</a:t>
            </a:r>
            <a:r>
              <a:rPr lang="zh-CN" altLang="en-US" dirty="0" smtClean="0"/>
              <a:t>。将这些数据在机器学习算法里运行</a:t>
            </a:r>
            <a:r>
              <a:rPr lang="en-US" altLang="zh-CN" dirty="0" smtClean="0"/>
              <a:t>(</a:t>
            </a:r>
            <a:r>
              <a:rPr lang="en-US" altLang="zh-CN" b="1" dirty="0" smtClean="0"/>
              <a:t>classification/regression</a:t>
            </a:r>
            <a:r>
              <a:rPr lang="en-US" altLang="zh-CN" dirty="0" smtClean="0"/>
              <a:t>)</a:t>
            </a:r>
            <a:r>
              <a:rPr lang="zh-CN" altLang="en-US" dirty="0" smtClean="0"/>
              <a:t>，则</a:t>
            </a:r>
            <a:r>
              <a:rPr lang="en-US" altLang="zh-CN" dirty="0" smtClean="0"/>
              <a:t>ML</a:t>
            </a:r>
            <a:r>
              <a:rPr lang="zh-CN" altLang="en-US" dirty="0" smtClean="0"/>
              <a:t>算法构建一个模型：芒果的属性</a:t>
            </a:r>
            <a:r>
              <a:rPr lang="en-US" altLang="zh-CN" dirty="0" smtClean="0"/>
              <a:t>--</a:t>
            </a:r>
            <a:r>
              <a:rPr lang="zh-CN" altLang="en-US" dirty="0" smtClean="0"/>
              <a:t>芒果质量。</a:t>
            </a:r>
          </a:p>
          <a:p>
            <a:r>
              <a:rPr lang="zh-CN" altLang="en-US" dirty="0" smtClean="0"/>
              <a:t>下次你再去买芒果，你就可以检测一下芒果的属性</a:t>
            </a:r>
            <a:r>
              <a:rPr lang="en-US" altLang="zh-CN" dirty="0" smtClean="0"/>
              <a:t>(</a:t>
            </a:r>
            <a:r>
              <a:rPr lang="zh-CN" altLang="en-US" dirty="0" smtClean="0"/>
              <a:t>颜色，大小等等</a:t>
            </a:r>
            <a:r>
              <a:rPr lang="en-US" altLang="zh-CN" dirty="0" smtClean="0"/>
              <a:t>)(</a:t>
            </a:r>
            <a:r>
              <a:rPr lang="en-US" altLang="zh-CN" b="1" dirty="0" smtClean="0"/>
              <a:t>test data</a:t>
            </a:r>
            <a:r>
              <a:rPr lang="en-US" altLang="zh-CN" dirty="0" smtClean="0"/>
              <a:t>)</a:t>
            </a:r>
            <a:r>
              <a:rPr lang="zh-CN" altLang="en-US" dirty="0" smtClean="0"/>
              <a:t>，然后提供给</a:t>
            </a:r>
            <a:r>
              <a:rPr lang="en-US" altLang="zh-CN" dirty="0" smtClean="0"/>
              <a:t>ML</a:t>
            </a:r>
            <a:r>
              <a:rPr lang="zh-CN" altLang="en-US" dirty="0" smtClean="0"/>
              <a:t>算法。</a:t>
            </a:r>
            <a:r>
              <a:rPr lang="en-US" altLang="zh-CN" dirty="0" smtClean="0"/>
              <a:t>ML</a:t>
            </a:r>
            <a:r>
              <a:rPr lang="zh-CN" altLang="en-US" dirty="0" smtClean="0"/>
              <a:t>算法会根据模型</a:t>
            </a:r>
            <a:r>
              <a:rPr lang="en-US" altLang="zh-CN" dirty="0" smtClean="0"/>
              <a:t>(model)</a:t>
            </a:r>
            <a:r>
              <a:rPr lang="zh-CN" altLang="en-US" dirty="0" smtClean="0"/>
              <a:t>预测哪些芒果是甜的，较成熟的</a:t>
            </a:r>
            <a:r>
              <a:rPr lang="en-US" altLang="zh-CN" dirty="0" smtClean="0"/>
              <a:t>/</a:t>
            </a:r>
            <a:r>
              <a:rPr lang="zh-CN" altLang="en-US" dirty="0" smtClean="0"/>
              <a:t>或者更多汁。算法内部使用的规则也许会类似于你之前手动写的哪些规则</a:t>
            </a:r>
            <a:r>
              <a:rPr lang="en-US" altLang="zh-CN" dirty="0" smtClean="0"/>
              <a:t>(</a:t>
            </a:r>
            <a:r>
              <a:rPr lang="en-US" altLang="zh-CN" b="1" dirty="0" smtClean="0"/>
              <a:t>decision tree</a:t>
            </a:r>
            <a:r>
              <a:rPr lang="en-US" altLang="zh-CN" dirty="0" smtClean="0"/>
              <a:t>)</a:t>
            </a:r>
            <a:r>
              <a:rPr lang="zh-CN" altLang="en-US" dirty="0" smtClean="0"/>
              <a:t>，也或者使用更复杂的规则，但是基本上这些对于用户和使用者而言并不需要关心。</a:t>
            </a:r>
          </a:p>
          <a:p>
            <a:r>
              <a:rPr lang="zh-CN" altLang="en-US" dirty="0" smtClean="0"/>
              <a:t>你现在再去买芒果就有很大信心了，而且并不需要关心这些挑选好的芒果的细节。而且更重要的时候，随着时间你的</a:t>
            </a:r>
            <a:r>
              <a:rPr lang="en-US" altLang="zh-CN" dirty="0" smtClean="0"/>
              <a:t>ML</a:t>
            </a:r>
            <a:r>
              <a:rPr lang="zh-CN" altLang="en-US" dirty="0" smtClean="0"/>
              <a:t>算法会自我提升</a:t>
            </a:r>
            <a:r>
              <a:rPr lang="en-US" altLang="zh-CN" dirty="0" smtClean="0"/>
              <a:t>(</a:t>
            </a:r>
            <a:r>
              <a:rPr lang="en-US" altLang="zh-CN" b="1" dirty="0" smtClean="0"/>
              <a:t>reinforcement learning</a:t>
            </a:r>
            <a:r>
              <a:rPr lang="en-US" altLang="zh-CN" dirty="0" smtClean="0"/>
              <a:t>)</a:t>
            </a:r>
            <a:r>
              <a:rPr lang="zh-CN" altLang="en-US" dirty="0" smtClean="0"/>
              <a:t>，当预测错误的时候矫正自身，随着读取更多的</a:t>
            </a:r>
            <a:r>
              <a:rPr lang="en-US" altLang="zh-CN" dirty="0" smtClean="0"/>
              <a:t>training data</a:t>
            </a:r>
            <a:r>
              <a:rPr lang="zh-CN" altLang="en-US" dirty="0" smtClean="0"/>
              <a:t>预测也会越来越精准。你可以利用相同的算法而训练出不同的模型</a:t>
            </a:r>
            <a:r>
              <a:rPr lang="en-US" altLang="zh-CN" dirty="0" smtClean="0"/>
              <a:t>(model)</a:t>
            </a:r>
            <a:r>
              <a:rPr lang="zh-CN" altLang="en-US" dirty="0" smtClean="0"/>
              <a:t>，比如苹果，橘子，香蕉，西瓜等等。</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2778354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机器学习是实现人工智能的一种方法</a:t>
            </a:r>
            <a:endParaRPr lang="en-US" altLang="zh-CN" dirty="0" smtClean="0"/>
          </a:p>
          <a:p>
            <a:r>
              <a:rPr lang="zh-CN" altLang="en-US" dirty="0" smtClean="0"/>
              <a:t>深度</a:t>
            </a:r>
            <a:r>
              <a:rPr lang="zh-CN" altLang="en-US" smtClean="0"/>
              <a:t>学习是实施机器学习</a:t>
            </a:r>
            <a:r>
              <a:rPr lang="zh-CN" altLang="en-US" dirty="0" smtClean="0"/>
              <a:t>的一种技术</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2594220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899256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3570376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solidFill>
                  <a:srgbClr val="FF0000"/>
                </a:solidFill>
              </a:rPr>
              <a:t>数据采集：</a:t>
            </a:r>
            <a:endParaRPr lang="en-US" altLang="zh-CN" b="1" dirty="0" smtClean="0">
              <a:solidFill>
                <a:srgbClr val="FF0000"/>
              </a:solidFill>
            </a:endParaRPr>
          </a:p>
          <a:p>
            <a:pPr indent="457200" algn="l">
              <a:lnSpc>
                <a:spcPct val="150000"/>
              </a:lnSpc>
            </a:pPr>
            <a:r>
              <a:rPr lang="en-US" altLang="zh-CN" b="1" dirty="0" smtClean="0"/>
              <a:t>	</a:t>
            </a:r>
            <a:r>
              <a:rPr lang="zh-CN" altLang="en-US" b="1" dirty="0" smtClean="0"/>
              <a:t>模块简介</a:t>
            </a:r>
          </a:p>
          <a:p>
            <a:pPr indent="457200" algn="l">
              <a:lnSpc>
                <a:spcPct val="150000"/>
              </a:lnSpc>
            </a:pPr>
            <a:r>
              <a:rPr lang="zh-CN" altLang="en-US"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effectLst/>
                <a:latin typeface="微软雅黑" panose="020B0503020204020204" pitchFamily="34" charset="-122"/>
                <a:ea typeface="微软雅黑" panose="020B0503020204020204" pitchFamily="34" charset="-122"/>
                <a:sym typeface="+mn-ea"/>
              </a:rPr>
              <a:t>网络运维</a:t>
            </a:r>
            <a:r>
              <a:rPr lang="zh-CN" altLang="zh-CN" dirty="0" smtClean="0">
                <a:effectLst/>
                <a:latin typeface="微软雅黑" panose="020B0503020204020204" pitchFamily="34" charset="-122"/>
                <a:ea typeface="微软雅黑" panose="020B0503020204020204" pitchFamily="34" charset="-122"/>
                <a:sym typeface="+mn-ea"/>
              </a:rPr>
              <a:t>日常工作中数据获取</a:t>
            </a:r>
            <a:r>
              <a:rPr lang="zh-CN" altLang="en-US" dirty="0" smtClean="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smtClean="0">
                <a:effectLst/>
                <a:latin typeface="微软雅黑" panose="020B0503020204020204" pitchFamily="34" charset="-122"/>
                <a:ea typeface="微软雅黑" panose="020B0503020204020204" pitchFamily="34" charset="-122"/>
                <a:sym typeface="+mn-ea"/>
              </a:rPr>
              <a:t>    </a:t>
            </a:r>
            <a:r>
              <a:rPr lang="en-US" altLang="zh-CN" dirty="0" smtClean="0">
                <a:effectLst/>
                <a:latin typeface="微软雅黑" panose="020B0503020204020204" pitchFamily="34" charset="-122"/>
                <a:ea typeface="微软雅黑" panose="020B0503020204020204" pitchFamily="34" charset="-122"/>
                <a:sym typeface="+mn-ea"/>
              </a:rPr>
              <a:t>	</a:t>
            </a:r>
            <a:r>
              <a:rPr lang="zh-CN" altLang="en-US" dirty="0" smtClean="0">
                <a:effectLst/>
                <a:latin typeface="微软雅黑" panose="020B0503020204020204" pitchFamily="34" charset="-122"/>
                <a:ea typeface="微软雅黑" panose="020B0503020204020204" pitchFamily="34" charset="-122"/>
                <a:sym typeface="+mn-ea"/>
              </a:rPr>
              <a:t>采集系统可由用户自定义目标源，实现多个源同时自动实时上传下载文件，解决数据异源端口，手工下载不统一等繁杂问题。</a:t>
            </a:r>
            <a:endParaRPr lang="en-US" altLang="zh-CN" dirty="0" smtClean="0">
              <a:effectLst/>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t>	</a:t>
            </a:r>
            <a:r>
              <a:rPr lang="zh-CN" altLang="en-US" b="1" dirty="0" smtClean="0"/>
              <a:t>模块功能</a:t>
            </a:r>
          </a:p>
          <a:p>
            <a:pPr indent="457200" algn="l">
              <a:lnSpc>
                <a:spcPct val="150000"/>
              </a:lnSpc>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	</a:t>
            </a:r>
            <a:r>
              <a:rPr lang="zh-CN" altLang="en-US" dirty="0" smtClean="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smtClean="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自主实时采集上传</a:t>
            </a:r>
            <a:endParaRPr lang="en-US" altLang="zh-CN"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b="1" dirty="0" smtClean="0">
                <a:latin typeface="微软雅黑" panose="020B0503020204020204" pitchFamily="34" charset="-122"/>
                <a:ea typeface="微软雅黑" panose="020B0503020204020204" pitchFamily="34" charset="-122"/>
                <a:sym typeface="+mn-ea"/>
              </a:rPr>
              <a:t>数据处理</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模块简介：</a:t>
            </a:r>
            <a:endParaRPr lang="en-US" altLang="zh-CN" b="1" dirty="0" smtClean="0">
              <a:latin typeface="微软雅黑" panose="020B0503020204020204" pitchFamily="34" charset="-122"/>
              <a:ea typeface="微软雅黑" panose="020B0503020204020204" pitchFamily="34" charset="-122"/>
              <a:sym typeface="+mn-ea"/>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通过采集系统采集到的相关数据保留着网管侧的源格式，不具备良好的数据交互接口。需要通过解码模块变成结构化的可读数据，再上传至数据仓库。</a:t>
            </a:r>
            <a:r>
              <a:rPr lang="zh-CN" altLang="zh-CN" dirty="0" smtClean="0">
                <a:effectLst/>
                <a:latin typeface="+mn-ea"/>
                <a:sym typeface="+mn-ea"/>
              </a:rPr>
              <a:t>用于支撑上层决策等应用。</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模块功能：</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文件归类</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汇总解析</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数据入库</a:t>
            </a:r>
            <a:endParaRPr lang="en-US" altLang="zh-CN" dirty="0" smtClean="0">
              <a:effectLst/>
              <a:latin typeface="+mn-ea"/>
              <a:sym typeface="+mn-ea"/>
            </a:endParaRPr>
          </a:p>
          <a:p>
            <a:pPr indent="457200" algn="l">
              <a:lnSpc>
                <a:spcPct val="150000"/>
              </a:lnSpc>
            </a:pPr>
            <a:r>
              <a:rPr lang="en-US" altLang="zh-CN" b="1" dirty="0" smtClean="0">
                <a:effectLst/>
                <a:latin typeface="+mn-ea"/>
                <a:ea typeface="微软雅黑" panose="020B0503020204020204" pitchFamily="34" charset="-122"/>
                <a:sym typeface="+mn-ea"/>
              </a:rPr>
              <a:t>	</a:t>
            </a:r>
            <a:r>
              <a:rPr lang="zh-CN" altLang="en-US" b="0" dirty="0" smtClean="0">
                <a:effectLst/>
                <a:latin typeface="+mn-ea"/>
                <a:ea typeface="微软雅黑" panose="020B0503020204020204" pitchFamily="34" charset="-122"/>
                <a:sym typeface="+mn-ea"/>
              </a:rPr>
              <a:t>存储人工经验库</a:t>
            </a:r>
            <a:endParaRPr lang="zh-CN" altLang="en-US" b="0" dirty="0" smtClean="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latin typeface="+mn-ea"/>
              </a:rPr>
              <a:t>自主学习模块</a:t>
            </a:r>
            <a:endParaRPr lang="en-US" altLang="zh-CN" b="1" dirty="0" smtClean="0">
              <a:latin typeface="+mn-ea"/>
            </a:endParaRPr>
          </a:p>
          <a:p>
            <a:pPr indent="457200" algn="l">
              <a:lnSpc>
                <a:spcPct val="150000"/>
              </a:lnSpc>
            </a:pPr>
            <a:r>
              <a:rPr lang="en-US" altLang="zh-CN" b="1" dirty="0" smtClean="0">
                <a:latin typeface="+mn-ea"/>
              </a:rPr>
              <a:t>	</a:t>
            </a:r>
            <a:r>
              <a:rPr lang="zh-CN" altLang="en-US" b="1" dirty="0" smtClean="0">
                <a:latin typeface="+mn-ea"/>
              </a:rPr>
              <a:t>模块简介</a:t>
            </a:r>
          </a:p>
          <a:p>
            <a:pPr indent="457200" algn="l">
              <a:lnSpc>
                <a:spcPct val="150000"/>
              </a:lnSpc>
            </a:pPr>
            <a:r>
              <a:rPr lang="zh-CN" altLang="en-US" dirty="0" smtClean="0">
                <a:latin typeface="+mn-ea"/>
              </a:rPr>
              <a:t>    </a:t>
            </a:r>
            <a:r>
              <a:rPr lang="en-US" altLang="zh-CN" dirty="0" smtClean="0">
                <a:latin typeface="+mn-ea"/>
              </a:rPr>
              <a:t>	</a:t>
            </a:r>
            <a:r>
              <a:rPr lang="zh-CN" altLang="zh-CN" dirty="0" smtClean="0">
                <a:effectLst/>
                <a:latin typeface="+mn-ea"/>
                <a:sym typeface="+mn-ea"/>
              </a:rPr>
              <a:t>该模块是网络大脑执行决策的控制核心，以现有经验库为依据，</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en-US" altLang="zh-CN" dirty="0" smtClean="0">
              <a:latin typeface="+mn-ea"/>
              <a:sym typeface="+mn-ea"/>
            </a:endParaRPr>
          </a:p>
          <a:p>
            <a:pPr indent="457200" algn="l">
              <a:lnSpc>
                <a:spcPct val="150000"/>
              </a:lnSpc>
            </a:pPr>
            <a:r>
              <a:rPr lang="en-US" altLang="zh-CN" dirty="0" smtClean="0">
                <a:latin typeface="+mn-ea"/>
                <a:sym typeface="+mn-ea"/>
              </a:rPr>
              <a:t>	</a:t>
            </a:r>
            <a:r>
              <a:rPr lang="zh-CN" altLang="en-US" b="1" dirty="0" smtClean="0">
                <a:latin typeface="+mn-ea"/>
              </a:rPr>
              <a:t>模块功能</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数据挖掘</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 </a:t>
            </a:r>
            <a:r>
              <a:rPr lang="zh-CN" altLang="en-US" dirty="0" smtClean="0">
                <a:effectLst/>
                <a:latin typeface="+mn-ea"/>
                <a:sym typeface="+mn-ea"/>
              </a:rPr>
              <a:t>规则制定</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风险评估</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行为选择。</a:t>
            </a:r>
            <a:endParaRPr lang="en-US" altLang="zh-CN" dirty="0" smtClean="0">
              <a:effectLst/>
              <a:latin typeface="+mn-ea"/>
              <a:sym typeface="+mn-ea"/>
            </a:endParaRPr>
          </a:p>
          <a:p>
            <a:pPr indent="457200" algn="l">
              <a:lnSpc>
                <a:spcPct val="150000"/>
              </a:lnSpc>
            </a:pPr>
            <a:r>
              <a:rPr lang="zh-CN" altLang="en-US" b="1" dirty="0" smtClean="0">
                <a:effectLst/>
                <a:latin typeface="+mn-ea"/>
                <a:sym typeface="+mn-ea"/>
              </a:rPr>
              <a:t>业务管理模块</a:t>
            </a:r>
            <a:endParaRPr lang="zh-CN" altLang="en-US" b="1" dirty="0" smtClean="0">
              <a:latin typeface="+mn-ea"/>
            </a:endParaRPr>
          </a:p>
          <a:p>
            <a:pPr indent="457200" algn="l">
              <a:lnSpc>
                <a:spcPct val="150000"/>
              </a:lnSpc>
            </a:pPr>
            <a:r>
              <a:rPr lang="zh-CN" altLang="en-US" b="1" dirty="0" smtClean="0">
                <a:latin typeface="+mn-ea"/>
              </a:rPr>
              <a:t>模块简介</a:t>
            </a:r>
          </a:p>
          <a:p>
            <a:pPr indent="457200" fontAlgn="auto">
              <a:lnSpc>
                <a:spcPct val="150000"/>
              </a:lnSpc>
              <a:spcBef>
                <a:spcPts val="0"/>
              </a:spcBef>
              <a:spcAft>
                <a:spcPts val="0"/>
              </a:spcAft>
              <a:defRPr/>
            </a:pPr>
            <a:r>
              <a:rPr lang="zh-CN" altLang="en-US" dirty="0" smtClean="0">
                <a:latin typeface="+mn-ea"/>
              </a:rPr>
              <a:t>    </a:t>
            </a:r>
            <a:r>
              <a:rPr lang="zh-CN" altLang="en-US" dirty="0" smtClean="0">
                <a:latin typeface="+mn-ea"/>
                <a:sym typeface="+mn-ea"/>
              </a:rPr>
              <a:t>网维中心各部门数据的格式、类型等不同，数据无法有效的被整合、归类。数据存储、管理、利用与分析工作效率低下。</a:t>
            </a:r>
            <a:endParaRPr lang="en-US" altLang="zh-CN" dirty="0" smtClean="0">
              <a:latin typeface="+mn-ea"/>
              <a:sym typeface="+mn-ea"/>
            </a:endParaRPr>
          </a:p>
          <a:p>
            <a:pPr indent="457200" algn="l">
              <a:lnSpc>
                <a:spcPct val="150000"/>
              </a:lnSpc>
            </a:pPr>
            <a:r>
              <a:rPr lang="zh-CN" altLang="en-US" b="1" dirty="0" smtClean="0">
                <a:latin typeface="+mn-ea"/>
              </a:rPr>
              <a:t>模块功能</a:t>
            </a:r>
          </a:p>
          <a:p>
            <a:pPr indent="457200" algn="l">
              <a:lnSpc>
                <a:spcPct val="150000"/>
              </a:lnSpc>
            </a:pPr>
            <a:r>
              <a:rPr lang="zh-CN" altLang="en-US" dirty="0" smtClean="0">
                <a:latin typeface="+mn-ea"/>
              </a:rPr>
              <a:t>    </a:t>
            </a:r>
            <a:r>
              <a:rPr lang="zh-CN" altLang="en-US" dirty="0" smtClean="0">
                <a:effectLst/>
                <a:latin typeface="+mn-ea"/>
                <a:sym typeface="+mn-ea"/>
              </a:rPr>
              <a:t>指标归类整合</a:t>
            </a:r>
          </a:p>
          <a:p>
            <a:pPr indent="457200" algn="l">
              <a:lnSpc>
                <a:spcPct val="150000"/>
              </a:lnSpc>
            </a:pPr>
            <a:r>
              <a:rPr lang="zh-CN" altLang="en-US" dirty="0" smtClean="0">
                <a:effectLst/>
                <a:latin typeface="+mn-ea"/>
                <a:sym typeface="+mn-ea"/>
              </a:rPr>
              <a:t>    实时自主监控</a:t>
            </a:r>
          </a:p>
          <a:p>
            <a:pPr indent="457200" algn="l">
              <a:lnSpc>
                <a:spcPct val="150000"/>
              </a:lnSpc>
            </a:pPr>
            <a:r>
              <a:rPr lang="zh-CN" altLang="en-US" dirty="0" smtClean="0">
                <a:effectLst/>
                <a:latin typeface="+mn-ea"/>
                <a:sym typeface="+mn-ea"/>
              </a:rPr>
              <a:t>    报表自动生成。</a:t>
            </a:r>
            <a:endParaRPr lang="zh-CN" altLang="en-US" dirty="0" smtClean="0">
              <a:latin typeface="+mn-ea"/>
            </a:endParaRPr>
          </a:p>
          <a:p>
            <a:pPr indent="457200" fontAlgn="auto">
              <a:lnSpc>
                <a:spcPct val="150000"/>
              </a:lnSpc>
              <a:spcBef>
                <a:spcPts val="0"/>
              </a:spcBef>
              <a:spcAft>
                <a:spcPts val="0"/>
              </a:spcAft>
              <a:defRPr/>
            </a:pPr>
            <a:endParaRPr lang="zh-CN" altLang="en-US" dirty="0" smtClean="0">
              <a:latin typeface="+mn-ea"/>
              <a:sym typeface="+mn-ea"/>
            </a:endParaRPr>
          </a:p>
          <a:p>
            <a:pPr indent="457200" fontAlgn="auto">
              <a:lnSpc>
                <a:spcPct val="150000"/>
              </a:lnSpc>
              <a:spcBef>
                <a:spcPts val="0"/>
              </a:spcBef>
              <a:spcAft>
                <a:spcPts val="0"/>
              </a:spcAft>
              <a:defRPr/>
            </a:pPr>
            <a:r>
              <a:rPr lang="zh-CN" altLang="en-US" dirty="0" smtClean="0">
                <a:latin typeface="+mn-ea"/>
                <a:sym typeface="+mn-ea"/>
              </a:rPr>
              <a:t>    业务查询模块为各部门提供开放的数据接口，对业务流量及用户体验情况进行实时主动的监控管理，提高工作效率。</a:t>
            </a:r>
            <a:endParaRPr lang="zh-CN" altLang="zh-CN" dirty="0" smtClean="0">
              <a:latin typeface="+mn-ea"/>
            </a:endParaRPr>
          </a:p>
          <a:p>
            <a:pPr indent="457200" algn="l">
              <a:lnSpc>
                <a:spcPct val="150000"/>
              </a:lnSpc>
            </a:pPr>
            <a:endParaRPr lang="zh-CN" altLang="zh-CN" dirty="0" smtClean="0">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4051624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2109451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智能化故障管理由采集数据、异常检测及根因分析、故障处理组成，这三部分分别对应了大脑“感知决策控制”三元组。</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1865174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3991713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811530"/>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272054"/>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1111134" y="2550970"/>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事倍功半</a:t>
            </a:r>
          </a:p>
        </p:txBody>
      </p:sp>
      <p:sp>
        <p:nvSpPr>
          <p:cNvPr id="91" name="椭圆 90"/>
          <p:cNvSpPr/>
          <p:nvPr/>
        </p:nvSpPr>
        <p:spPr>
          <a:xfrm>
            <a:off x="6618506" y="2556521"/>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视而不见</a:t>
            </a:r>
            <a:endParaRPr kumimoji="0" lang="zh-CN" altLang="en-US" sz="1800" b="1" i="0" u="none" strike="noStrike" kern="0" cap="none" spc="0" normalizeH="0" baseline="0" noProof="0" dirty="0" smtClean="0">
              <a:ln>
                <a:noFill/>
              </a:ln>
              <a:solidFill>
                <a:prstClr val="white"/>
              </a:solidFill>
              <a:effectLst/>
              <a:uLnTx/>
              <a:uFillTx/>
              <a:latin typeface="Arial"/>
              <a:ea typeface="微软雅黑"/>
              <a:cs typeface="+mn-cs"/>
            </a:endParaRPr>
          </a:p>
        </p:txBody>
      </p:sp>
      <p:sp>
        <p:nvSpPr>
          <p:cNvPr id="92" name="椭圆 91"/>
          <p:cNvSpPr/>
          <p:nvPr/>
        </p:nvSpPr>
        <p:spPr>
          <a:xfrm>
            <a:off x="3864820" y="2550971"/>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400" b="1" kern="0" dirty="0" smtClean="0">
                <a:solidFill>
                  <a:prstClr val="white"/>
                </a:solidFill>
                <a:latin typeface="Arial"/>
                <a:ea typeface="微软雅黑"/>
              </a:rPr>
              <a:t>后知后觉</a:t>
            </a:r>
            <a:endParaRPr lang="zh-CN" altLang="en-US" b="1" kern="0" dirty="0">
              <a:solidFill>
                <a:prstClr val="white"/>
              </a:solidFill>
              <a:latin typeface="Arial"/>
              <a:ea typeface="微软雅黑"/>
            </a:endParaRPr>
          </a:p>
        </p:txBody>
      </p:sp>
      <p:sp>
        <p:nvSpPr>
          <p:cNvPr id="93" name="椭圆 92"/>
          <p:cNvSpPr/>
          <p:nvPr/>
        </p:nvSpPr>
        <p:spPr>
          <a:xfrm>
            <a:off x="9372192" y="2550970"/>
            <a:ext cx="2088000" cy="2088000"/>
          </a:xfrm>
          <a:prstGeom prst="ellipse">
            <a:avLst/>
          </a:prstGeom>
          <a:solidFill>
            <a:srgbClr val="1A7BAE"/>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Arial"/>
                <a:ea typeface="微软雅黑"/>
                <a:cs typeface="+mn-cs"/>
              </a:rPr>
              <a:t>各行其是</a:t>
            </a:r>
            <a:endParaRPr kumimoji="0" lang="zh-CN" altLang="en-US" sz="1800" b="1" i="0" u="none" strike="noStrike" kern="0" cap="none" spc="0" normalizeH="0" baseline="0" noProof="0" dirty="0" smtClean="0">
              <a:ln>
                <a:noFill/>
              </a:ln>
              <a:solidFill>
                <a:prstClr val="white"/>
              </a:solidFill>
              <a:effectLst/>
              <a:uLnTx/>
              <a:uFillTx/>
              <a:latin typeface="Arial"/>
              <a:ea typeface="微软雅黑"/>
              <a:cs typeface="+mn-cs"/>
            </a:endParaRPr>
          </a:p>
        </p:txBody>
      </p:sp>
      <p:sp>
        <p:nvSpPr>
          <p:cNvPr id="94" name="矩形 93"/>
          <p:cNvSpPr/>
          <p:nvPr/>
        </p:nvSpPr>
        <p:spPr>
          <a:xfrm>
            <a:off x="1015009" y="4745675"/>
            <a:ext cx="2280249" cy="1108380"/>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网络、服务、数据规模面临快速增长（</a:t>
            </a:r>
            <a:r>
              <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rPr>
              <a:t>5G</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rPr>
              <a:t>IOT</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等）</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a:solidFill>
                  <a:schemeClr val="tx1">
                    <a:lumMod val="65000"/>
                    <a:lumOff val="35000"/>
                  </a:schemeClr>
                </a:solidFill>
                <a:latin typeface="微软雅黑" panose="020B0503020204020204" pitchFamily="34" charset="-122"/>
                <a:ea typeface="微软雅黑" panose="020B0503020204020204" pitchFamily="34" charset="-122"/>
              </a:rPr>
              <a:t>传统</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运维方式效率较低</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5" name="矩形 94"/>
          <p:cNvSpPr/>
          <p:nvPr/>
        </p:nvSpPr>
        <p:spPr>
          <a:xfrm>
            <a:off x="3768695" y="4745675"/>
            <a:ext cx="2280249" cy="1108380"/>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网络问题通过被动投诉</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问题发现晚于客户</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a:solidFill>
                  <a:schemeClr val="tx1">
                    <a:lumMod val="65000"/>
                    <a:lumOff val="35000"/>
                  </a:schemeClr>
                </a:solidFill>
                <a:latin typeface="微软雅黑" panose="020B0503020204020204" pitchFamily="34" charset="-122"/>
                <a:ea typeface="微软雅黑" panose="020B0503020204020204" pitchFamily="34" charset="-122"/>
              </a:rPr>
              <a:t>运</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维动作晚于问题</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6" name="矩形 95"/>
          <p:cNvSpPr/>
          <p:nvPr/>
        </p:nvSpPr>
        <p:spPr>
          <a:xfrm>
            <a:off x="6522381" y="4745675"/>
            <a:ext cx="2280249" cy="1108380"/>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问题无法快速定位根源</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耗费大量资源</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a:solidFill>
                  <a:schemeClr val="tx1">
                    <a:lumMod val="65000"/>
                    <a:lumOff val="35000"/>
                  </a:schemeClr>
                </a:solidFill>
                <a:latin typeface="微软雅黑" panose="020B0503020204020204" pitchFamily="34" charset="-122"/>
                <a:ea typeface="微软雅黑" panose="020B0503020204020204" pitchFamily="34" charset="-122"/>
              </a:rPr>
              <a:t>换</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来提心吊胆</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7" name="矩形 96"/>
          <p:cNvSpPr/>
          <p:nvPr/>
        </p:nvSpPr>
        <p:spPr>
          <a:xfrm>
            <a:off x="9276067" y="4745675"/>
            <a:ext cx="2280249" cy="769698"/>
          </a:xfrm>
          <a:prstGeom prst="rect">
            <a:avLst/>
          </a:prstGeom>
        </p:spPr>
        <p:txBody>
          <a:bodyPr wrap="square">
            <a:spAutoFit/>
          </a:bodyPr>
          <a:lstStyle/>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分</a:t>
            </a: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专业人员背景不同</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67" dirty="0" smtClean="0">
                <a:solidFill>
                  <a:schemeClr val="tx1">
                    <a:lumMod val="65000"/>
                    <a:lumOff val="35000"/>
                  </a:schemeClr>
                </a:solidFill>
                <a:latin typeface="微软雅黑" panose="020B0503020204020204" pitchFamily="34" charset="-122"/>
                <a:ea typeface="微软雅黑" panose="020B0503020204020204" pitchFamily="34" charset="-122"/>
              </a:rPr>
              <a:t>无法统一运维语言</a:t>
            </a:r>
            <a:endParaRPr lang="en-US" altLang="zh-CN" sz="1467"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1058473" y="-83566"/>
            <a:ext cx="10494151" cy="663851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6264767" y="2237188"/>
            <a:ext cx="1638300" cy="1634067"/>
          </a:xfrm>
          <a:prstGeom prst="rect">
            <a:avLst/>
          </a:prstGeom>
        </p:spPr>
      </p:pic>
      <p:sp>
        <p:nvSpPr>
          <p:cNvPr id="13" name="矩形 12"/>
          <p:cNvSpPr/>
          <p:nvPr/>
        </p:nvSpPr>
        <p:spPr>
          <a:xfrm>
            <a:off x="1295400" y="4736268"/>
            <a:ext cx="9915525" cy="181868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4" name="矩形 13"/>
          <p:cNvSpPr/>
          <p:nvPr/>
        </p:nvSpPr>
        <p:spPr>
          <a:xfrm>
            <a:off x="1295400" y="13016"/>
            <a:ext cx="10020299" cy="190416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endParaRPr lang="zh-CN" altLang="en-US" dirty="0">
              <a:solidFill>
                <a:srgbClr val="333F50"/>
              </a:solidFill>
            </a:endParaRPr>
          </a:p>
        </p:txBody>
      </p:sp>
      <p:sp>
        <p:nvSpPr>
          <p:cNvPr id="15" name="矩形 14"/>
          <p:cNvSpPr/>
          <p:nvPr/>
        </p:nvSpPr>
        <p:spPr>
          <a:xfrm>
            <a:off x="942830" y="2038823"/>
            <a:ext cx="4872336" cy="21630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8188969" y="2009815"/>
            <a:ext cx="3302710" cy="183435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文本框 10"/>
          <p:cNvSpPr txBox="1"/>
          <p:nvPr/>
        </p:nvSpPr>
        <p:spPr>
          <a:xfrm>
            <a:off x="2864359" y="195425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感知</a:t>
            </a:r>
            <a:endParaRPr lang="zh-CN" altLang="en-US" dirty="0"/>
          </a:p>
        </p:txBody>
      </p:sp>
      <p:sp>
        <p:nvSpPr>
          <p:cNvPr id="18" name="文本框 17"/>
          <p:cNvSpPr txBox="1"/>
          <p:nvPr/>
        </p:nvSpPr>
        <p:spPr>
          <a:xfrm>
            <a:off x="6676807"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决策</a:t>
            </a:r>
            <a:endParaRPr lang="zh-CN" altLang="en-US" dirty="0"/>
          </a:p>
        </p:txBody>
      </p:sp>
      <p:sp>
        <p:nvSpPr>
          <p:cNvPr id="19" name="文本框 18"/>
          <p:cNvSpPr txBox="1"/>
          <p:nvPr/>
        </p:nvSpPr>
        <p:spPr>
          <a:xfrm>
            <a:off x="9775956"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控制</a:t>
            </a:r>
            <a:endParaRPr lang="zh-CN" altLang="en-US" dirty="0"/>
          </a:p>
        </p:txBody>
      </p:sp>
      <p:sp>
        <p:nvSpPr>
          <p:cNvPr id="20" name="文本框 19"/>
          <p:cNvSpPr txBox="1"/>
          <p:nvPr/>
        </p:nvSpPr>
        <p:spPr>
          <a:xfrm>
            <a:off x="7734299" y="4614628"/>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面向</a:t>
            </a:r>
            <a:endParaRPr lang="zh-CN" altLang="en-US" dirty="0"/>
          </a:p>
        </p:txBody>
      </p:sp>
      <p:sp>
        <p:nvSpPr>
          <p:cNvPr id="23" name="文本框 22"/>
          <p:cNvSpPr txBox="1"/>
          <p:nvPr/>
        </p:nvSpPr>
        <p:spPr>
          <a:xfrm>
            <a:off x="7667159" y="1518843"/>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呈现</a:t>
            </a:r>
            <a:endParaRPr lang="zh-CN" altLang="en-US" dirty="0"/>
          </a:p>
        </p:txBody>
      </p:sp>
      <p:sp>
        <p:nvSpPr>
          <p:cNvPr id="21" name="矩形 20"/>
          <p:cNvSpPr/>
          <p:nvPr/>
        </p:nvSpPr>
        <p:spPr>
          <a:xfrm>
            <a:off x="0" y="2478639"/>
            <a:ext cx="12192000" cy="2802535"/>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zh-CN" altLang="en-US" sz="2400" b="1" dirty="0" smtClean="0">
              <a:solidFill>
                <a:schemeClr val="bg1"/>
              </a:solidFill>
            </a:endParaRPr>
          </a:p>
        </p:txBody>
      </p:sp>
      <p:sp>
        <p:nvSpPr>
          <p:cNvPr id="17" name="矩形 16"/>
          <p:cNvSpPr/>
          <p:nvPr/>
        </p:nvSpPr>
        <p:spPr>
          <a:xfrm>
            <a:off x="3686175" y="4624435"/>
            <a:ext cx="4695824" cy="424415"/>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数据价值体现升级</a:t>
            </a:r>
            <a:endParaRPr lang="en-US" altLang="zh-CN" b="1" dirty="0">
              <a:solidFill>
                <a:schemeClr val="bg1"/>
              </a:solidFill>
            </a:endParaRPr>
          </a:p>
        </p:txBody>
      </p:sp>
      <p:sp>
        <p:nvSpPr>
          <p:cNvPr id="24" name="矩形 23"/>
          <p:cNvSpPr/>
          <p:nvPr/>
        </p:nvSpPr>
        <p:spPr>
          <a:xfrm>
            <a:off x="3686175" y="4064262"/>
            <a:ext cx="4695824" cy="452531"/>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网络运维方法革新</a:t>
            </a:r>
            <a:endParaRPr lang="en-US" altLang="zh-CN" b="1" dirty="0">
              <a:solidFill>
                <a:schemeClr val="bg1"/>
              </a:solidFill>
            </a:endParaRPr>
          </a:p>
        </p:txBody>
      </p:sp>
      <p:sp>
        <p:nvSpPr>
          <p:cNvPr id="25" name="矩形 24"/>
          <p:cNvSpPr/>
          <p:nvPr/>
        </p:nvSpPr>
        <p:spPr>
          <a:xfrm>
            <a:off x="3686175" y="3485309"/>
            <a:ext cx="4695824" cy="466049"/>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网络服务模式突破</a:t>
            </a:r>
            <a:endParaRPr lang="zh-CN" altLang="en-US" b="1" dirty="0">
              <a:solidFill>
                <a:schemeClr val="bg1"/>
              </a:solidFill>
            </a:endParaRPr>
          </a:p>
        </p:txBody>
      </p:sp>
      <p:sp>
        <p:nvSpPr>
          <p:cNvPr id="22" name="文本框 21"/>
          <p:cNvSpPr txBox="1"/>
          <p:nvPr/>
        </p:nvSpPr>
        <p:spPr>
          <a:xfrm>
            <a:off x="3188209" y="2687194"/>
            <a:ext cx="6428320" cy="646331"/>
          </a:xfrm>
          <a:prstGeom prst="rect">
            <a:avLst/>
          </a:prstGeom>
          <a:noFill/>
        </p:spPr>
        <p:txBody>
          <a:bodyPr wrap="square" rtlCol="0">
            <a:spAutoFit/>
          </a:bodyPr>
          <a:lstStyle/>
          <a:p>
            <a:r>
              <a:rPr lang="zh-CN" altLang="en-US" sz="3600" b="1" dirty="0" smtClean="0">
                <a:solidFill>
                  <a:schemeClr val="bg1"/>
                </a:solidFill>
              </a:rPr>
              <a:t>网络大脑</a:t>
            </a:r>
            <a:r>
              <a:rPr lang="en-US" altLang="zh-CN" sz="3600" b="1" dirty="0" smtClean="0">
                <a:solidFill>
                  <a:schemeClr val="bg1"/>
                </a:solidFill>
              </a:rPr>
              <a:t>– </a:t>
            </a:r>
            <a:r>
              <a:rPr lang="zh-CN" altLang="en-US" sz="3600" b="1" dirty="0" smtClean="0">
                <a:solidFill>
                  <a:schemeClr val="bg1"/>
                </a:solidFill>
              </a:rPr>
              <a:t>智能网络管理中枢</a:t>
            </a:r>
            <a:endParaRPr lang="zh-CN" altLang="en-US" sz="3600" b="1" dirty="0">
              <a:solidFill>
                <a:schemeClr val="bg1"/>
              </a:solidFill>
            </a:endParaRPr>
          </a:p>
        </p:txBody>
      </p:sp>
    </p:spTree>
    <p:extLst>
      <p:ext uri="{BB962C8B-B14F-4D97-AF65-F5344CB8AC3E}">
        <p14:creationId xmlns:p14="http://schemas.microsoft.com/office/powerpoint/2010/main" val="8352885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15"/>
                                        </p:tgtEl>
                                        <p:attrNameLst>
                                          <p:attrName>ppt_w</p:attrName>
                                        </p:attrNameLst>
                                      </p:cBhvr>
                                      <p:tavLst>
                                        <p:tav tm="0">
                                          <p:val>
                                            <p:strVal val="ppt_w"/>
                                          </p:val>
                                        </p:tav>
                                        <p:tav tm="100000">
                                          <p:val>
                                            <p:fltVal val="0"/>
                                          </p:val>
                                        </p:tav>
                                      </p:tavLst>
                                    </p:anim>
                                    <p:anim calcmode="lin" valueType="num">
                                      <p:cBhvr>
                                        <p:cTn id="7" dur="500"/>
                                        <p:tgtEl>
                                          <p:spTgt spid="15"/>
                                        </p:tgtEl>
                                        <p:attrNameLst>
                                          <p:attrName>ppt_h</p:attrName>
                                        </p:attrNameLst>
                                      </p:cBhvr>
                                      <p:tavLst>
                                        <p:tav tm="0">
                                          <p:val>
                                            <p:strVal val="ppt_h"/>
                                          </p:val>
                                        </p:tav>
                                        <p:tav tm="100000">
                                          <p:val>
                                            <p:fltVal val="0"/>
                                          </p:val>
                                        </p:tav>
                                      </p:tavLst>
                                    </p:anim>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32" fill="hold" grpId="0" nodeType="clickEffect">
                                  <p:stCondLst>
                                    <p:cond delay="0"/>
                                  </p:stCondLst>
                                  <p:childTnLst>
                                    <p:anim calcmode="lin" valueType="num">
                                      <p:cBhvr>
                                        <p:cTn id="30" dur="500"/>
                                        <p:tgtEl>
                                          <p:spTgt spid="16"/>
                                        </p:tgtEl>
                                        <p:attrNameLst>
                                          <p:attrName>ppt_w</p:attrName>
                                        </p:attrNameLst>
                                      </p:cBhvr>
                                      <p:tavLst>
                                        <p:tav tm="0">
                                          <p:val>
                                            <p:strVal val="ppt_w"/>
                                          </p:val>
                                        </p:tav>
                                        <p:tav tm="100000">
                                          <p:val>
                                            <p:fltVal val="0"/>
                                          </p:val>
                                        </p:tav>
                                      </p:tavLst>
                                    </p:anim>
                                    <p:anim calcmode="lin" valueType="num">
                                      <p:cBhvr>
                                        <p:cTn id="31" dur="500"/>
                                        <p:tgtEl>
                                          <p:spTgt spid="16"/>
                                        </p:tgtEl>
                                        <p:attrNameLst>
                                          <p:attrName>ppt_h</p:attrName>
                                        </p:attrNameLst>
                                      </p:cBhvr>
                                      <p:tavLst>
                                        <p:tav tm="0">
                                          <p:val>
                                            <p:strVal val="ppt_h"/>
                                          </p:val>
                                        </p:tav>
                                        <p:tav tm="100000">
                                          <p:val>
                                            <p:fltVal val="0"/>
                                          </p:val>
                                        </p:tav>
                                      </p:tavLst>
                                    </p:anim>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xit" presetSubtype="32" fill="hold" grpId="0" nodeType="clickEffect">
                                  <p:stCondLst>
                                    <p:cond delay="0"/>
                                  </p:stCondLst>
                                  <p:childTnLst>
                                    <p:anim calcmode="lin" valueType="num">
                                      <p:cBhvr>
                                        <p:cTn id="47" dur="500"/>
                                        <p:tgtEl>
                                          <p:spTgt spid="13"/>
                                        </p:tgtEl>
                                        <p:attrNameLst>
                                          <p:attrName>ppt_w</p:attrName>
                                        </p:attrNameLst>
                                      </p:cBhvr>
                                      <p:tavLst>
                                        <p:tav tm="0">
                                          <p:val>
                                            <p:strVal val="ppt_w"/>
                                          </p:val>
                                        </p:tav>
                                        <p:tav tm="100000">
                                          <p:val>
                                            <p:fltVal val="0"/>
                                          </p:val>
                                        </p:tav>
                                      </p:tavLst>
                                    </p:anim>
                                    <p:anim calcmode="lin" valueType="num">
                                      <p:cBhvr>
                                        <p:cTn id="48" dur="500"/>
                                        <p:tgtEl>
                                          <p:spTgt spid="13"/>
                                        </p:tgtEl>
                                        <p:attrNameLst>
                                          <p:attrName>ppt_h</p:attrName>
                                        </p:attrNameLst>
                                      </p:cBhvr>
                                      <p:tavLst>
                                        <p:tav tm="0">
                                          <p:val>
                                            <p:strVal val="ppt_h"/>
                                          </p:val>
                                        </p:tav>
                                        <p:tav tm="100000">
                                          <p:val>
                                            <p:fltVal val="0"/>
                                          </p:val>
                                        </p:tav>
                                      </p:tavLst>
                                    </p:anim>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dow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0" nodeType="clickEffect">
                                  <p:stCondLst>
                                    <p:cond delay="0"/>
                                  </p:stCondLst>
                                  <p:childTnLst>
                                    <p:anim calcmode="lin" valueType="num">
                                      <p:cBhvr>
                                        <p:cTn id="59" dur="500"/>
                                        <p:tgtEl>
                                          <p:spTgt spid="14"/>
                                        </p:tgtEl>
                                        <p:attrNameLst>
                                          <p:attrName>ppt_w</p:attrName>
                                        </p:attrNameLst>
                                      </p:cBhvr>
                                      <p:tavLst>
                                        <p:tav tm="0">
                                          <p:val>
                                            <p:strVal val="ppt_w"/>
                                          </p:val>
                                        </p:tav>
                                        <p:tav tm="100000">
                                          <p:val>
                                            <p:fltVal val="0"/>
                                          </p:val>
                                        </p:tav>
                                      </p:tavLst>
                                    </p:anim>
                                    <p:anim calcmode="lin" valueType="num">
                                      <p:cBhvr>
                                        <p:cTn id="60" dur="500"/>
                                        <p:tgtEl>
                                          <p:spTgt spid="14"/>
                                        </p:tgtEl>
                                        <p:attrNameLst>
                                          <p:attrName>ppt_h</p:attrName>
                                        </p:attrNameLst>
                                      </p:cBhvr>
                                      <p:tavLst>
                                        <p:tav tm="0">
                                          <p:val>
                                            <p:strVal val="ppt_h"/>
                                          </p:val>
                                        </p:tav>
                                        <p:tav tm="100000">
                                          <p:val>
                                            <p:fltVal val="0"/>
                                          </p:val>
                                        </p:tav>
                                      </p:tavLst>
                                    </p:anim>
                                    <p:animEffect transition="out" filter="fade">
                                      <p:cBhvr>
                                        <p:cTn id="61" dur="500"/>
                                        <p:tgtEl>
                                          <p:spTgt spid="14"/>
                                        </p:tgtEl>
                                      </p:cBhvr>
                                    </p:animEffect>
                                    <p:set>
                                      <p:cBhvr>
                                        <p:cTn id="62" dur="1" fill="hold">
                                          <p:stCondLst>
                                            <p:cond delay="499"/>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nodeType="clickEffect">
                                  <p:stCondLst>
                                    <p:cond delay="0"/>
                                  </p:stCondLst>
                                  <p:childTnLst>
                                    <p:set>
                                      <p:cBhvr>
                                        <p:cTn id="90" dur="1" fill="hold">
                                          <p:stCondLst>
                                            <p:cond delay="0"/>
                                          </p:stCondLst>
                                        </p:cTn>
                                        <p:tgtEl>
                                          <p:spTgt spid="22">
                                            <p:txEl>
                                              <p:pRg st="0" end="0"/>
                                            </p:txEl>
                                          </p:spTgt>
                                        </p:tgtEl>
                                        <p:attrNameLst>
                                          <p:attrName>style.visibility</p:attrName>
                                        </p:attrNameLst>
                                      </p:cBhvr>
                                      <p:to>
                                        <p:strVal val="visible"/>
                                      </p:to>
                                    </p:set>
                                    <p:animEffect transition="in" filter="randombar(horizontal)">
                                      <p:cBhvr>
                                        <p:cTn id="91"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1" grpId="0" animBg="1"/>
      <p:bldP spid="18" grpId="0" animBg="1"/>
      <p:bldP spid="19" grpId="0" animBg="1"/>
      <p:bldP spid="20" grpId="0" animBg="1"/>
      <p:bldP spid="23" grpId="0" animBg="1"/>
      <p:bldP spid="21" grpId="0" animBg="1"/>
      <p:bldP spid="17"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矩形 2"/>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4" name="矩形 3"/>
          <p:cNvSpPr/>
          <p:nvPr/>
        </p:nvSpPr>
        <p:spPr>
          <a:xfrm>
            <a:off x="624114" y="3816037"/>
            <a:ext cx="3907870" cy="1029511"/>
          </a:xfrm>
          <a:prstGeom prst="rect">
            <a:avLst/>
          </a:prstGeom>
        </p:spPr>
        <p:txBody>
          <a:bodyPr wrap="square" lIns="68570" tIns="34289" rIns="68570" bIns="34289">
            <a:spAutoFit/>
          </a:bodyPr>
          <a:lstStyle/>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 name="矩形 4"/>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平台特征</a:t>
            </a:r>
            <a:endParaRPr lang="zh-CN" altLang="en-US" sz="3200" b="1" dirty="0"/>
          </a:p>
        </p:txBody>
      </p:sp>
      <p:sp>
        <p:nvSpPr>
          <p:cNvPr id="6" name="矩形 5"/>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7" name="矩形 6"/>
          <p:cNvSpPr/>
          <p:nvPr/>
        </p:nvSpPr>
        <p:spPr>
          <a:xfrm>
            <a:off x="4704218" y="3311531"/>
            <a:ext cx="2652078" cy="2469905"/>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8255593" y="3575001"/>
            <a:ext cx="3598370" cy="1509642"/>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即时</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网</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全数据</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869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58203"/>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478280" y="846455"/>
            <a:ext cx="9375775" cy="737235"/>
          </a:xfrm>
          <a:prstGeom prst="rect">
            <a:avLst/>
          </a:prstGeom>
          <a:noFill/>
        </p:spPr>
        <p:txBody>
          <a:bodyPr wrap="square" rtlCol="0">
            <a:spAutoFit/>
          </a:bodyPr>
          <a:lstStyle/>
          <a:p>
            <a:pPr marL="285750" indent="0" algn="ctr">
              <a:lnSpc>
                <a:spcPct val="150000"/>
              </a:lnSpc>
              <a:buFont typeface="Arial" panose="020B0604020202020204" pitchFamily="34" charset="0"/>
              <a:buNone/>
            </a:pPr>
            <a:r>
              <a:rPr lang="zh-CN" altLang="en-US" sz="2800" dirty="0" smtClean="0"/>
              <a:t>全局总览，整体把控</a:t>
            </a:r>
          </a:p>
        </p:txBody>
      </p:sp>
      <p:pic>
        <p:nvPicPr>
          <p:cNvPr id="7" name="图片 6"/>
          <p:cNvPicPr>
            <a:picLocks noChangeAspect="1"/>
          </p:cNvPicPr>
          <p:nvPr/>
        </p:nvPicPr>
        <p:blipFill>
          <a:blip r:embed="rId2"/>
          <a:stretch>
            <a:fillRect/>
          </a:stretch>
        </p:blipFill>
        <p:spPr>
          <a:xfrm>
            <a:off x="1451495" y="1687215"/>
            <a:ext cx="9459076" cy="4373346"/>
          </a:xfrm>
          <a:prstGeom prst="rect">
            <a:avLst/>
          </a:prstGeom>
        </p:spPr>
      </p:pic>
    </p:spTree>
    <p:extLst>
      <p:ext uri="{BB962C8B-B14F-4D97-AF65-F5344CB8AC3E}">
        <p14:creationId xmlns:p14="http://schemas.microsoft.com/office/powerpoint/2010/main" val="550855145"/>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64643" y="1516011"/>
            <a:ext cx="490764" cy="1143000"/>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7955" y="1494294"/>
            <a:ext cx="490764" cy="1190625"/>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p:nvSpPr>
        <p:spPr>
          <a:xfrm>
            <a:off x="748865" y="3069788"/>
            <a:ext cx="285093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solidFill>
                  <a:srgbClr val="A27B00"/>
                </a:solidFill>
              </a:rPr>
              <a:t>手动完成运维工作</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人力</a:t>
            </a:r>
            <a:r>
              <a:rPr lang="zh-CN" altLang="en-US" dirty="0">
                <a:solidFill>
                  <a:srgbClr val="A27B00"/>
                </a:solidFill>
              </a:rPr>
              <a:t>劳动繁琐重复</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准确率及效率低下</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运维操作经验驱动</a:t>
            </a:r>
            <a:endParaRPr lang="en-US" altLang="zh-CN" dirty="0" smtClean="0">
              <a:solidFill>
                <a:srgbClr val="A27B00"/>
              </a:solidFill>
            </a:endParaRPr>
          </a:p>
        </p:txBody>
      </p:sp>
      <p:sp>
        <p:nvSpPr>
          <p:cNvPr id="24" name="文本框 23"/>
          <p:cNvSpPr txBox="1"/>
          <p:nvPr/>
        </p:nvSpPr>
        <p:spPr>
          <a:xfrm>
            <a:off x="770681" y="843119"/>
            <a:ext cx="3944865" cy="369332"/>
          </a:xfrm>
          <a:prstGeom prst="rect">
            <a:avLst/>
          </a:prstGeom>
          <a:noFill/>
        </p:spPr>
        <p:txBody>
          <a:bodyPr wrap="square" rtlCol="0">
            <a:spAutoFit/>
          </a:bodyPr>
          <a:lstStyle/>
          <a:p>
            <a:r>
              <a:rPr lang="zh-CN" altLang="en-US" dirty="0">
                <a:solidFill>
                  <a:srgbClr val="333F50"/>
                </a:solidFill>
              </a:rPr>
              <a:t>运</a:t>
            </a:r>
            <a:r>
              <a:rPr lang="zh-CN" altLang="en-US" dirty="0" smtClean="0">
                <a:solidFill>
                  <a:srgbClr val="333F50"/>
                </a:solidFill>
              </a:rPr>
              <a:t>维发展阶段</a:t>
            </a:r>
            <a:endParaRPr lang="zh-CN" altLang="en-US" dirty="0">
              <a:solidFill>
                <a:srgbClr val="333F50"/>
              </a:solidFill>
            </a:endParaRPr>
          </a:p>
        </p:txBody>
      </p:sp>
      <p:sp>
        <p:nvSpPr>
          <p:cNvPr id="11" name="矩形 10"/>
          <p:cNvSpPr/>
          <p:nvPr/>
        </p:nvSpPr>
        <p:spPr>
          <a:xfrm>
            <a:off x="3418323" y="1537206"/>
            <a:ext cx="1107996" cy="369332"/>
          </a:xfrm>
          <a:prstGeom prst="rect">
            <a:avLst/>
          </a:prstGeom>
        </p:spPr>
        <p:txBody>
          <a:bodyPr wrap="none">
            <a:spAutoFit/>
          </a:bodyPr>
          <a:lstStyle/>
          <a:p>
            <a:r>
              <a:rPr lang="zh-CN" altLang="en-US" dirty="0">
                <a:solidFill>
                  <a:srgbClr val="333F50"/>
                </a:solidFill>
              </a:rPr>
              <a:t>系统辅助</a:t>
            </a:r>
          </a:p>
        </p:txBody>
      </p:sp>
      <p:sp>
        <p:nvSpPr>
          <p:cNvPr id="25" name="矩形 24"/>
          <p:cNvSpPr/>
          <p:nvPr/>
        </p:nvSpPr>
        <p:spPr>
          <a:xfrm>
            <a:off x="7050417" y="1537206"/>
            <a:ext cx="1107996" cy="369332"/>
          </a:xfrm>
          <a:prstGeom prst="rect">
            <a:avLst/>
          </a:prstGeom>
        </p:spPr>
        <p:txBody>
          <a:bodyPr wrap="none">
            <a:spAutoFit/>
          </a:bodyPr>
          <a:lstStyle/>
          <a:p>
            <a:r>
              <a:rPr lang="zh-CN" altLang="en-US" dirty="0" smtClean="0">
                <a:solidFill>
                  <a:srgbClr val="333F50"/>
                </a:solidFill>
              </a:rPr>
              <a:t>智能学习</a:t>
            </a:r>
            <a:endParaRPr lang="zh-CN" altLang="en-US" dirty="0">
              <a:solidFill>
                <a:srgbClr val="333F50"/>
              </a:solidFill>
            </a:endParaRPr>
          </a:p>
        </p:txBody>
      </p:sp>
      <p:sp>
        <p:nvSpPr>
          <p:cNvPr id="26" name="文本框 25"/>
          <p:cNvSpPr txBox="1"/>
          <p:nvPr/>
        </p:nvSpPr>
        <p:spPr>
          <a:xfrm>
            <a:off x="4408018" y="3076086"/>
            <a:ext cx="285093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提高工作效率、质量</a:t>
            </a:r>
            <a:endParaRPr lang="en-US" altLang="zh-CN" dirty="0" smtClean="0"/>
          </a:p>
          <a:p>
            <a:pPr marL="285750" indent="285750">
              <a:lnSpc>
                <a:spcPct val="150000"/>
              </a:lnSpc>
              <a:buFont typeface="Arial" panose="020B0604020202020204" pitchFamily="34" charset="0"/>
              <a:buChar char="•"/>
            </a:pPr>
            <a:r>
              <a:rPr lang="zh-CN" altLang="en-US" dirty="0" smtClean="0"/>
              <a:t>重复工作流程自动化</a:t>
            </a:r>
            <a:endParaRPr lang="en-US" altLang="zh-CN" dirty="0" smtClean="0"/>
          </a:p>
          <a:p>
            <a:pPr marL="285750" indent="285750">
              <a:lnSpc>
                <a:spcPct val="150000"/>
              </a:lnSpc>
              <a:buFont typeface="Arial" panose="020B0604020202020204" pitchFamily="34" charset="0"/>
              <a:buChar char="•"/>
            </a:pPr>
            <a:r>
              <a:rPr lang="zh-CN" altLang="en-US" dirty="0" smtClean="0"/>
              <a:t>解决人员及流程问题</a:t>
            </a:r>
            <a:endParaRPr lang="en-US" altLang="zh-CN" dirty="0" smtClean="0"/>
          </a:p>
          <a:p>
            <a:pPr marL="285750" indent="285750">
              <a:lnSpc>
                <a:spcPct val="150000"/>
              </a:lnSpc>
              <a:buFont typeface="Arial" panose="020B0604020202020204" pitchFamily="34" charset="0"/>
              <a:buChar char="•"/>
            </a:pPr>
            <a:r>
              <a:rPr lang="zh-CN" altLang="en-US" dirty="0">
                <a:solidFill>
                  <a:srgbClr val="A27B00"/>
                </a:solidFill>
              </a:rPr>
              <a:t>无法自动适应新问题</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无法挖掘数据关联性</a:t>
            </a:r>
            <a:endParaRPr lang="en-US" altLang="zh-CN" dirty="0">
              <a:solidFill>
                <a:srgbClr val="A27B00"/>
              </a:solidFill>
            </a:endParaRPr>
          </a:p>
        </p:txBody>
      </p:sp>
      <p:sp>
        <p:nvSpPr>
          <p:cNvPr id="2" name="文本框 1"/>
          <p:cNvSpPr txBox="1"/>
          <p:nvPr/>
        </p:nvSpPr>
        <p:spPr>
          <a:xfrm>
            <a:off x="8248650" y="3076086"/>
            <a:ext cx="327695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海量数据高效处理</a:t>
            </a:r>
            <a:endParaRPr lang="en-US" altLang="zh-CN" dirty="0" smtClean="0"/>
          </a:p>
          <a:p>
            <a:pPr marL="285750" indent="-285750">
              <a:lnSpc>
                <a:spcPct val="150000"/>
              </a:lnSpc>
              <a:buFont typeface="Arial" panose="020B0604020202020204" pitchFamily="34" charset="0"/>
              <a:buChar char="•"/>
            </a:pPr>
            <a:r>
              <a:rPr lang="zh-CN" altLang="en-US" dirty="0" smtClean="0"/>
              <a:t>复杂规则自动挖掘</a:t>
            </a:r>
            <a:endParaRPr lang="en-US" altLang="zh-CN" dirty="0" smtClean="0"/>
          </a:p>
          <a:p>
            <a:pPr marL="285750" indent="-285750">
              <a:lnSpc>
                <a:spcPct val="150000"/>
              </a:lnSpc>
              <a:buFont typeface="Arial" panose="020B0604020202020204" pitchFamily="34" charset="0"/>
              <a:buChar char="•"/>
            </a:pPr>
            <a:r>
              <a:rPr lang="zh-CN" altLang="en-US" dirty="0" smtClean="0"/>
              <a:t>新兴问题快速适应</a:t>
            </a:r>
            <a:endParaRPr lang="en-US" altLang="zh-CN" dirty="0" smtClean="0"/>
          </a:p>
          <a:p>
            <a:pPr marL="285750" indent="-285750">
              <a:lnSpc>
                <a:spcPct val="150000"/>
              </a:lnSpc>
              <a:buFont typeface="Arial" panose="020B0604020202020204" pitchFamily="34" charset="0"/>
              <a:buChar char="•"/>
            </a:pPr>
            <a:r>
              <a:rPr lang="zh-CN" altLang="en-US" dirty="0" smtClean="0"/>
              <a:t>运维决策机器代理</a:t>
            </a:r>
            <a:endParaRPr lang="en-US" altLang="zh-CN" dirty="0" smtClean="0"/>
          </a:p>
          <a:p>
            <a:pPr marL="285750" indent="-285750">
              <a:lnSpc>
                <a:spcPct val="150000"/>
              </a:lnSpc>
              <a:buFont typeface="Arial" panose="020B0604020202020204" pitchFamily="34" charset="0"/>
              <a:buChar char="•"/>
            </a:pPr>
            <a:r>
              <a:rPr lang="zh-CN" altLang="en-US" dirty="0"/>
              <a:t>全网</a:t>
            </a:r>
            <a:r>
              <a:rPr lang="zh-CN" altLang="en-US" dirty="0" smtClean="0"/>
              <a:t>资源整体把控</a:t>
            </a:r>
            <a:endParaRPr lang="en-US" altLang="zh-CN" dirty="0" smtClean="0"/>
          </a:p>
        </p:txBody>
      </p:sp>
      <p:sp>
        <p:nvSpPr>
          <p:cNvPr id="8" name="矩形 7"/>
          <p:cNvSpPr/>
          <p:nvPr/>
        </p:nvSpPr>
        <p:spPr>
          <a:xfrm>
            <a:off x="162281" y="2934311"/>
            <a:ext cx="11363325" cy="3028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91553" y="3419619"/>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39" name="文本框 38"/>
          <p:cNvSpPr txBox="1"/>
          <p:nvPr/>
        </p:nvSpPr>
        <p:spPr>
          <a:xfrm>
            <a:off x="1216167" y="3480636"/>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0" name="矩形 39"/>
          <p:cNvSpPr/>
          <p:nvPr/>
        </p:nvSpPr>
        <p:spPr>
          <a:xfrm>
            <a:off x="7180529" y="3419518"/>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1" name="圆角矩形 40"/>
          <p:cNvSpPr/>
          <p:nvPr/>
        </p:nvSpPr>
        <p:spPr>
          <a:xfrm>
            <a:off x="7454014" y="364820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2" name="圆角矩形 41"/>
          <p:cNvSpPr/>
          <p:nvPr/>
        </p:nvSpPr>
        <p:spPr>
          <a:xfrm>
            <a:off x="7454014" y="40285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43" name="圆角矩形 42"/>
          <p:cNvSpPr/>
          <p:nvPr/>
        </p:nvSpPr>
        <p:spPr>
          <a:xfrm>
            <a:off x="7454014" y="44739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44" name="圆角矩形 43"/>
          <p:cNvSpPr/>
          <p:nvPr/>
        </p:nvSpPr>
        <p:spPr>
          <a:xfrm>
            <a:off x="7454014" y="4868812"/>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45" name="圆角矩形 44"/>
          <p:cNvSpPr/>
          <p:nvPr/>
        </p:nvSpPr>
        <p:spPr>
          <a:xfrm>
            <a:off x="7454014" y="5255336"/>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46" name="右箭头 45"/>
          <p:cNvSpPr/>
          <p:nvPr/>
        </p:nvSpPr>
        <p:spPr>
          <a:xfrm>
            <a:off x="5136418" y="4166638"/>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782510" y="2835113"/>
            <a:ext cx="3944865" cy="369332"/>
          </a:xfrm>
          <a:prstGeom prst="rect">
            <a:avLst/>
          </a:prstGeom>
          <a:noFill/>
        </p:spPr>
        <p:txBody>
          <a:bodyPr wrap="square" rtlCol="0">
            <a:spAutoFit/>
          </a:bodyPr>
          <a:lstStyle/>
          <a:p>
            <a:r>
              <a:rPr lang="zh-CN" altLang="en-US" dirty="0" smtClean="0">
                <a:solidFill>
                  <a:srgbClr val="333F50"/>
                </a:solidFill>
              </a:rPr>
              <a:t>运维智慧化需满足：</a:t>
            </a:r>
            <a:endParaRPr lang="zh-CN" altLang="en-US" dirty="0">
              <a:solidFill>
                <a:srgbClr val="333F5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randombar(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000"/>
                                        <p:tgtEl>
                                          <p:spTgt spid="21"/>
                                        </p:tgtEl>
                                      </p:cBhvr>
                                    </p:animEffect>
                                    <p:anim calcmode="lin" valueType="num">
                                      <p:cBhvr>
                                        <p:cTn id="39" dur="1000" fill="hold"/>
                                        <p:tgtEl>
                                          <p:spTgt spid="21"/>
                                        </p:tgtEl>
                                        <p:attrNameLst>
                                          <p:attrName>ppt_x</p:attrName>
                                        </p:attrNameLst>
                                      </p:cBhvr>
                                      <p:tavLst>
                                        <p:tav tm="0">
                                          <p:val>
                                            <p:strVal val="#ppt_x"/>
                                          </p:val>
                                        </p:tav>
                                        <p:tav tm="100000">
                                          <p:val>
                                            <p:strVal val="#ppt_x"/>
                                          </p:val>
                                        </p:tav>
                                      </p:tavLst>
                                    </p:anim>
                                    <p:anim calcmode="lin" valueType="num">
                                      <p:cBhvr>
                                        <p:cTn id="40" dur="1000" fill="hold"/>
                                        <p:tgtEl>
                                          <p:spTgt spid="2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randombar(horizontal)">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randombar(horizontal)">
                                      <p:cBhvr>
                                        <p:cTn id="55" dur="500"/>
                                        <p:tgtEl>
                                          <p:spTgt spid="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randombar(horizontal)">
                                      <p:cBhvr>
                                        <p:cTn id="58" dur="500"/>
                                        <p:tgtEl>
                                          <p:spTgt spid="4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down)">
                                      <p:cBhvr>
                                        <p:cTn id="63" dur="500"/>
                                        <p:tgtEl>
                                          <p:spTgt spid="39"/>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P spid="12" grpId="0"/>
      <p:bldP spid="11" grpId="0"/>
      <p:bldP spid="25" grpId="0"/>
      <p:bldP spid="26" grpId="0"/>
      <p:bldP spid="2" grpId="0"/>
      <p:bldP spid="8" grpId="0" animBg="1"/>
      <p:bldP spid="38" grpId="0" animBg="1"/>
      <p:bldP spid="39" grpId="0"/>
      <p:bldP spid="40" grpId="0" animBg="1"/>
      <p:bldP spid="41" grpId="0" animBg="1"/>
      <p:bldP spid="42" grpId="0" animBg="1"/>
      <p:bldP spid="43" grpId="0" animBg="1"/>
      <p:bldP spid="44" grpId="0" animBg="1"/>
      <p:bldP spid="45" grpId="0" animBg="1"/>
      <p:bldP spid="46" grpId="0" animBg="1"/>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0"/>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437756" y="2894640"/>
            <a:ext cx="678608" cy="769441"/>
          </a:xfrm>
          <a:prstGeom prst="rect">
            <a:avLst/>
          </a:prstGeom>
          <a:noFill/>
        </p:spPr>
        <p:txBody>
          <a:bodyPr wrap="square" rtlCol="0">
            <a:spAutoFit/>
          </a:bodyPr>
          <a:lstStyle/>
          <a:p>
            <a:pPr algn="ctr"/>
            <a:r>
              <a:rPr lang="en-US" altLang="zh-CN" sz="4400" b="1" dirty="0" smtClean="0"/>
              <a:t>+</a:t>
            </a:r>
          </a:p>
        </p:txBody>
      </p:sp>
      <p:pic>
        <p:nvPicPr>
          <p:cNvPr id="1028" name="Picture 4" descr="“fist icon”的图片搜索结果"/>
          <p:cNvPicPr>
            <a:picLocks noChangeAspect="1" noChangeArrowheads="1"/>
          </p:cNvPicPr>
          <p:nvPr/>
        </p:nvPicPr>
        <p:blipFill rotWithShape="1">
          <a:blip r:embed="rId3">
            <a:extLst>
              <a:ext uri="{28A0092B-C50C-407E-A947-70E740481C1C}">
                <a14:useLocalDpi xmlns:a14="http://schemas.microsoft.com/office/drawing/2010/main" val="0"/>
              </a:ext>
            </a:extLst>
          </a:blip>
          <a:srcRect t="1" r="-154" b="672"/>
          <a:stretch/>
        </p:blipFill>
        <p:spPr bwMode="auto">
          <a:xfrm>
            <a:off x="259181" y="2556225"/>
            <a:ext cx="1458302" cy="14462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atic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16365" y="2556226"/>
            <a:ext cx="1532550" cy="15300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748211" y="4852281"/>
            <a:ext cx="2695575" cy="369332"/>
          </a:xfrm>
          <a:prstGeom prst="rect">
            <a:avLst/>
          </a:prstGeom>
          <a:noFill/>
        </p:spPr>
        <p:txBody>
          <a:bodyPr wrap="square" rtlCol="0">
            <a:spAutoFit/>
          </a:bodyPr>
          <a:lstStyle/>
          <a:p>
            <a:pPr algn="ctr"/>
            <a:r>
              <a:rPr lang="zh-CN" altLang="en-US" dirty="0" smtClean="0">
                <a:solidFill>
                  <a:srgbClr val="FF0000"/>
                </a:solidFill>
              </a:rPr>
              <a:t>完善</a:t>
            </a:r>
            <a:r>
              <a:rPr lang="zh-CN" altLang="en-US" dirty="0" smtClean="0"/>
              <a:t>的自动化运维</a:t>
            </a:r>
            <a:endParaRPr lang="zh-CN" altLang="en-US" dirty="0"/>
          </a:p>
        </p:txBody>
      </p:sp>
      <p:sp>
        <p:nvSpPr>
          <p:cNvPr id="10" name="右箭头 9"/>
          <p:cNvSpPr/>
          <p:nvPr/>
        </p:nvSpPr>
        <p:spPr>
          <a:xfrm>
            <a:off x="3618850" y="2901975"/>
            <a:ext cx="986165" cy="547871"/>
          </a:xfrm>
          <a:prstGeom prst="rightArrow">
            <a:avLst/>
          </a:prstGeom>
          <a:solidFill>
            <a:srgbClr val="8C8C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descr="“Automation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2940" y="2337123"/>
            <a:ext cx="1903185" cy="1903185"/>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p:cNvSpPr txBox="1"/>
          <p:nvPr/>
        </p:nvSpPr>
        <p:spPr>
          <a:xfrm>
            <a:off x="619123" y="4852281"/>
            <a:ext cx="2695575" cy="369332"/>
          </a:xfrm>
          <a:prstGeom prst="rect">
            <a:avLst/>
          </a:prstGeom>
          <a:noFill/>
        </p:spPr>
        <p:txBody>
          <a:bodyPr wrap="square" rtlCol="0">
            <a:spAutoFit/>
          </a:bodyPr>
          <a:lstStyle/>
          <a:p>
            <a:pPr algn="ctr"/>
            <a:r>
              <a:rPr lang="zh-CN" altLang="en-US" dirty="0" smtClean="0"/>
              <a:t>手工</a:t>
            </a:r>
            <a:r>
              <a:rPr lang="en-US" altLang="zh-CN" dirty="0" smtClean="0"/>
              <a:t>+</a:t>
            </a:r>
            <a:r>
              <a:rPr lang="zh-CN" altLang="en-US" dirty="0" smtClean="0"/>
              <a:t>自动化</a:t>
            </a:r>
            <a:endParaRPr lang="zh-CN" altLang="en-US" dirty="0"/>
          </a:p>
        </p:txBody>
      </p:sp>
      <p:sp>
        <p:nvSpPr>
          <p:cNvPr id="38" name="右箭头 37"/>
          <p:cNvSpPr/>
          <p:nvPr/>
        </p:nvSpPr>
        <p:spPr>
          <a:xfrm>
            <a:off x="7903192" y="2859897"/>
            <a:ext cx="986165" cy="547871"/>
          </a:xfrm>
          <a:prstGeom prst="rightArrow">
            <a:avLst/>
          </a:prstGeom>
          <a:solidFill>
            <a:srgbClr val="1CBD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2" descr="相关图片"/>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2036" y="2433058"/>
            <a:ext cx="1460713" cy="1460713"/>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p:cNvSpPr txBox="1"/>
          <p:nvPr/>
        </p:nvSpPr>
        <p:spPr>
          <a:xfrm>
            <a:off x="9112036" y="4852281"/>
            <a:ext cx="2695575" cy="369332"/>
          </a:xfrm>
          <a:prstGeom prst="rect">
            <a:avLst/>
          </a:prstGeom>
          <a:noFill/>
        </p:spPr>
        <p:txBody>
          <a:bodyPr wrap="square" rtlCol="0">
            <a:spAutoFit/>
          </a:bodyPr>
          <a:lstStyle/>
          <a:p>
            <a:pPr algn="ctr"/>
            <a:r>
              <a:rPr lang="zh-CN" altLang="en-US" dirty="0" smtClean="0">
                <a:solidFill>
                  <a:srgbClr val="FF0000"/>
                </a:solidFill>
              </a:rPr>
              <a:t>智慧化</a:t>
            </a:r>
            <a:r>
              <a:rPr lang="zh-CN" altLang="en-US" dirty="0" smtClean="0"/>
              <a:t>运维</a:t>
            </a:r>
            <a:endParaRPr lang="zh-CN" altLang="en-US" dirty="0"/>
          </a:p>
        </p:txBody>
      </p:sp>
      <p:sp>
        <p:nvSpPr>
          <p:cNvPr id="15" name="矩形 14"/>
          <p:cNvSpPr/>
          <p:nvPr/>
        </p:nvSpPr>
        <p:spPr>
          <a:xfrm>
            <a:off x="619123" y="841807"/>
            <a:ext cx="2339102" cy="461665"/>
          </a:xfrm>
          <a:prstGeom prst="rect">
            <a:avLst/>
          </a:prstGeom>
        </p:spPr>
        <p:txBody>
          <a:bodyPr wrap="none">
            <a:spAutoFit/>
          </a:bodyPr>
          <a:lstStyle/>
          <a:p>
            <a:r>
              <a:rPr lang="zh-CN" altLang="en-US" sz="2400" b="1" dirty="0" smtClean="0"/>
              <a:t>现状及发展方向</a:t>
            </a:r>
            <a:endParaRPr lang="zh-CN" altLang="en-US" sz="2400" dirty="0"/>
          </a:p>
        </p:txBody>
      </p:sp>
      <p:sp>
        <p:nvSpPr>
          <p:cNvPr id="43" name="圆角矩形标注 42"/>
          <p:cNvSpPr/>
          <p:nvPr/>
        </p:nvSpPr>
        <p:spPr>
          <a:xfrm>
            <a:off x="349316" y="2033201"/>
            <a:ext cx="3209014" cy="2202132"/>
          </a:xfrm>
          <a:prstGeom prst="wedgeRoundRectCallout">
            <a:avLst/>
          </a:prstGeom>
          <a:solidFill>
            <a:schemeClr val="bg1">
              <a:lumMod val="50000"/>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362403" y="2198867"/>
            <a:ext cx="3076575" cy="19389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自动流程覆盖有限</a:t>
            </a:r>
          </a:p>
          <a:p>
            <a:pPr marL="285750" indent="285750">
              <a:lnSpc>
                <a:spcPct val="150000"/>
              </a:lnSpc>
              <a:buFont typeface="Arial" panose="020B0604020202020204" pitchFamily="34" charset="0"/>
              <a:buChar char="•"/>
            </a:pPr>
            <a:r>
              <a:rPr lang="zh-CN" altLang="en-US" sz="2000" b="1" dirty="0" smtClean="0">
                <a:solidFill>
                  <a:schemeClr val="bg1"/>
                </a:solidFill>
              </a:rPr>
              <a:t>功能类似系统冗余</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维语言尚未统一</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39" name="圆角矩形标注 38"/>
          <p:cNvSpPr/>
          <p:nvPr/>
        </p:nvSpPr>
        <p:spPr>
          <a:xfrm>
            <a:off x="4651723" y="2033938"/>
            <a:ext cx="3209014" cy="2202132"/>
          </a:xfrm>
          <a:prstGeom prst="wedgeRoundRectCallout">
            <a:avLst/>
          </a:prstGeom>
          <a:solidFill>
            <a:srgbClr val="1CBDE8">
              <a:alpha val="9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p:cNvSpPr txBox="1"/>
          <p:nvPr/>
        </p:nvSpPr>
        <p:spPr>
          <a:xfrm>
            <a:off x="460394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丰富预设脚本仓库</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网</a:t>
            </a:r>
            <a:r>
              <a:rPr lang="zh-CN" altLang="en-US" sz="2000" b="1" dirty="0" smtClean="0">
                <a:solidFill>
                  <a:schemeClr val="bg1"/>
                </a:solidFill>
              </a:rPr>
              <a:t>管工具系统集成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维动作一致有效</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运维语言统一清晰</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8" name="圆角矩形标注 7"/>
          <p:cNvSpPr/>
          <p:nvPr/>
        </p:nvSpPr>
        <p:spPr>
          <a:xfrm>
            <a:off x="8954130" y="2033201"/>
            <a:ext cx="3209014" cy="2202132"/>
          </a:xfrm>
          <a:prstGeom prst="wedgeRoundRectCallout">
            <a:avLst/>
          </a:prstGeom>
          <a:solidFill>
            <a:schemeClr val="accent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p:cNvSpPr txBox="1"/>
          <p:nvPr/>
        </p:nvSpPr>
        <p:spPr>
          <a:xfrm>
            <a:off x="895413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运维规则自主学习</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海量数据智能分析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线网故障快速定位</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任务分配智能调度</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500"/>
                                        <p:tgtEl>
                                          <p:spTgt spid="10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fade">
                                      <p:cBhvr>
                                        <p:cTn id="13" dur="500"/>
                                        <p:tgtEl>
                                          <p:spTgt spid="10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1000"/>
                                        <p:tgtEl>
                                          <p:spTgt spid="43"/>
                                        </p:tgtEl>
                                      </p:cBhvr>
                                    </p:animEffect>
                                    <p:anim calcmode="lin" valueType="num">
                                      <p:cBhvr>
                                        <p:cTn id="22" dur="1000" fill="hold"/>
                                        <p:tgtEl>
                                          <p:spTgt spid="43"/>
                                        </p:tgtEl>
                                        <p:attrNameLst>
                                          <p:attrName>ppt_x</p:attrName>
                                        </p:attrNameLst>
                                      </p:cBhvr>
                                      <p:tavLst>
                                        <p:tav tm="0">
                                          <p:val>
                                            <p:strVal val="#ppt_x"/>
                                          </p:val>
                                        </p:tav>
                                        <p:tav tm="100000">
                                          <p:val>
                                            <p:strVal val="#ppt_x"/>
                                          </p:val>
                                        </p:tav>
                                      </p:tavLst>
                                    </p:anim>
                                    <p:anim calcmode="lin" valueType="num">
                                      <p:cBhvr>
                                        <p:cTn id="23" dur="1000" fill="hold"/>
                                        <p:tgtEl>
                                          <p:spTgt spid="4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32"/>
                                        </p:tgtEl>
                                        <p:attrNameLst>
                                          <p:attrName>style.visibility</p:attrName>
                                        </p:attrNameLst>
                                      </p:cBhvr>
                                      <p:to>
                                        <p:strVal val="visible"/>
                                      </p:to>
                                    </p:set>
                                    <p:animEffect transition="in" filter="fade">
                                      <p:cBhvr>
                                        <p:cTn id="33" dur="500"/>
                                        <p:tgtEl>
                                          <p:spTgt spid="10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1000"/>
                                        <p:tgtEl>
                                          <p:spTgt spid="38"/>
                                        </p:tgtEl>
                                      </p:cBhvr>
                                    </p:animEffect>
                                    <p:anim calcmode="lin" valueType="num">
                                      <p:cBhvr>
                                        <p:cTn id="65" dur="1000" fill="hold"/>
                                        <p:tgtEl>
                                          <p:spTgt spid="38"/>
                                        </p:tgtEl>
                                        <p:attrNameLst>
                                          <p:attrName>ppt_x</p:attrName>
                                        </p:attrNameLst>
                                      </p:cBhvr>
                                      <p:tavLst>
                                        <p:tav tm="0">
                                          <p:val>
                                            <p:strVal val="#ppt_x"/>
                                          </p:val>
                                        </p:tav>
                                        <p:tav tm="100000">
                                          <p:val>
                                            <p:strVal val="#ppt_x"/>
                                          </p:val>
                                        </p:tav>
                                      </p:tavLst>
                                    </p:anim>
                                    <p:anim calcmode="lin" valueType="num">
                                      <p:cBhvr>
                                        <p:cTn id="6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1000"/>
                                        <p:tgtEl>
                                          <p:spTgt spid="47"/>
                                        </p:tgtEl>
                                      </p:cBhvr>
                                    </p:animEffect>
                                    <p:anim calcmode="lin" valueType="num">
                                      <p:cBhvr>
                                        <p:cTn id="72" dur="1000" fill="hold"/>
                                        <p:tgtEl>
                                          <p:spTgt spid="47"/>
                                        </p:tgtEl>
                                        <p:attrNameLst>
                                          <p:attrName>ppt_x</p:attrName>
                                        </p:attrNameLst>
                                      </p:cBhvr>
                                      <p:tavLst>
                                        <p:tav tm="0">
                                          <p:val>
                                            <p:strVal val="#ppt_x"/>
                                          </p:val>
                                        </p:tav>
                                        <p:tav tm="100000">
                                          <p:val>
                                            <p:strVal val="#ppt_x"/>
                                          </p:val>
                                        </p:tav>
                                      </p:tavLst>
                                    </p:anim>
                                    <p:anim calcmode="lin" valueType="num">
                                      <p:cBhvr>
                                        <p:cTn id="73" dur="1000" fill="hold"/>
                                        <p:tgtEl>
                                          <p:spTgt spid="4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1000"/>
                                        <p:tgtEl>
                                          <p:spTgt spid="8"/>
                                        </p:tgtEl>
                                      </p:cBhvr>
                                    </p:animEffect>
                                    <p:anim calcmode="lin" valueType="num">
                                      <p:cBhvr>
                                        <p:cTn id="77" dur="1000" fill="hold"/>
                                        <p:tgtEl>
                                          <p:spTgt spid="8"/>
                                        </p:tgtEl>
                                        <p:attrNameLst>
                                          <p:attrName>ppt_x</p:attrName>
                                        </p:attrNameLst>
                                      </p:cBhvr>
                                      <p:tavLst>
                                        <p:tav tm="0">
                                          <p:val>
                                            <p:strVal val="#ppt_x"/>
                                          </p:val>
                                        </p:tav>
                                        <p:tav tm="100000">
                                          <p:val>
                                            <p:strVal val="#ppt_x"/>
                                          </p:val>
                                        </p:tav>
                                      </p:tavLst>
                                    </p:anim>
                                    <p:anim calcmode="lin" valueType="num">
                                      <p:cBhvr>
                                        <p:cTn id="7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P spid="10" grpId="0" animBg="1"/>
      <p:bldP spid="37" grpId="0"/>
      <p:bldP spid="38" grpId="0" animBg="1"/>
      <p:bldP spid="42" grpId="0"/>
      <p:bldP spid="43" grpId="0" animBg="1"/>
      <p:bldP spid="9" grpId="0"/>
      <p:bldP spid="39" grpId="0" animBg="1"/>
      <p:bldP spid="40" grpId="0"/>
      <p:bldP spid="8" grpId="0" animBg="1"/>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95325" y="2506450"/>
            <a:ext cx="7448550" cy="2031325"/>
          </a:xfrm>
          <a:prstGeom prst="rect">
            <a:avLst/>
          </a:prstGeom>
          <a:noFill/>
        </p:spPr>
        <p:txBody>
          <a:bodyPr wrap="square" rtlCol="0">
            <a:spAutoFit/>
          </a:bodyPr>
          <a:lstStyle/>
          <a:p>
            <a:r>
              <a:rPr lang="zh-CN" altLang="en-US" dirty="0">
                <a:solidFill>
                  <a:srgbClr val="333F50"/>
                </a:solidFill>
              </a:rPr>
              <a:t>什么是机器学习？</a:t>
            </a:r>
            <a:endParaRPr lang="en-US" altLang="zh-CN" dirty="0">
              <a:solidFill>
                <a:srgbClr val="333F50"/>
              </a:solidFill>
            </a:endParaRPr>
          </a:p>
          <a:p>
            <a:endParaRPr lang="en-US" altLang="zh-CN" dirty="0"/>
          </a:p>
          <a:p>
            <a:r>
              <a:rPr lang="zh-CN" altLang="en-US" dirty="0"/>
              <a:t>“对于某类任务</a:t>
            </a:r>
            <a:r>
              <a:rPr lang="en-US" altLang="zh-CN" dirty="0"/>
              <a:t>T</a:t>
            </a:r>
            <a:r>
              <a:rPr lang="zh-CN" altLang="en-US" dirty="0"/>
              <a:t>和性能度量</a:t>
            </a:r>
            <a:r>
              <a:rPr lang="en-US" altLang="zh-CN" dirty="0"/>
              <a:t>P</a:t>
            </a:r>
            <a:r>
              <a:rPr lang="zh-CN" altLang="en-US" dirty="0"/>
              <a:t>，如果一个计算机程序在</a:t>
            </a:r>
            <a:r>
              <a:rPr lang="en-US" altLang="zh-CN" dirty="0"/>
              <a:t>T</a:t>
            </a:r>
            <a:r>
              <a:rPr lang="zh-CN" altLang="en-US" dirty="0"/>
              <a:t>上以</a:t>
            </a:r>
            <a:r>
              <a:rPr lang="en-US" altLang="zh-CN" dirty="0"/>
              <a:t>P</a:t>
            </a:r>
            <a:r>
              <a:rPr lang="zh-CN" altLang="en-US" dirty="0"/>
              <a:t>衡量的性能随着经验</a:t>
            </a:r>
            <a:r>
              <a:rPr lang="en-US" altLang="zh-CN" dirty="0"/>
              <a:t>E</a:t>
            </a:r>
            <a:r>
              <a:rPr lang="zh-CN" altLang="en-US" dirty="0"/>
              <a:t>而自我完善，那么我们称这个计算机程序在从经验</a:t>
            </a:r>
            <a:r>
              <a:rPr lang="en-US" altLang="zh-CN" dirty="0"/>
              <a:t>E</a:t>
            </a:r>
            <a:r>
              <a:rPr lang="zh-CN" altLang="en-US" dirty="0"/>
              <a:t>学习。</a:t>
            </a:r>
            <a:r>
              <a:rPr lang="zh-CN" altLang="en-US" dirty="0" smtClean="0"/>
              <a:t>”</a:t>
            </a:r>
            <a:endParaRPr lang="en-US" altLang="zh-CN" dirty="0" smtClean="0"/>
          </a:p>
          <a:p>
            <a:endParaRPr lang="en-US" altLang="zh-CN" dirty="0"/>
          </a:p>
          <a:p>
            <a:r>
              <a:rPr lang="en-US" altLang="zh-CN" dirty="0"/>
              <a:t>						-Tom Mitchell</a:t>
            </a:r>
            <a:endParaRPr lang="en-US" altLang="zh-CN" dirty="0" smtClean="0"/>
          </a:p>
          <a:p>
            <a:endParaRPr lang="en-US" altLang="zh-CN" dirty="0"/>
          </a:p>
        </p:txBody>
      </p:sp>
      <p:pic>
        <p:nvPicPr>
          <p:cNvPr id="1026" name="Picture 2" descr="https://timgsa.baidu.com/timg?image&amp;quality=80&amp;size=b9999_10000&amp;sec=1516865876729&amp;di=5c759be69438ffe9bc7b4c29e1b54267&amp;imgtype=0&amp;src=http%3A%2F%2F5b0988e595225.cdn.sohucs.com%2Fimages%2F20180102%2Fa48b18b7b52b40168b2d6798aab8f2c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841" y="1647825"/>
            <a:ext cx="3719159" cy="322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134895"/>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What's the difference between Artificial Intelligence (AI), Machine Learning, and Deep Learning?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884908"/>
            <a:ext cx="8940800" cy="568734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03612" y="884908"/>
            <a:ext cx="4339650" cy="369332"/>
          </a:xfrm>
          <a:prstGeom prst="rect">
            <a:avLst/>
          </a:prstGeom>
        </p:spPr>
        <p:txBody>
          <a:bodyPr wrap="none">
            <a:spAutoFit/>
          </a:bodyPr>
          <a:lstStyle/>
          <a:p>
            <a:r>
              <a:rPr lang="zh-CN" altLang="en-US" dirty="0" smtClean="0">
                <a:solidFill>
                  <a:srgbClr val="333F50"/>
                </a:solidFill>
              </a:rPr>
              <a:t>人工智能、机器学习、深度学习的关系？</a:t>
            </a:r>
            <a:endParaRPr lang="en-US" altLang="zh-CN" dirty="0">
              <a:solidFill>
                <a:srgbClr val="333F50"/>
              </a:solidFill>
            </a:endParaRPr>
          </a:p>
        </p:txBody>
      </p:sp>
    </p:spTree>
    <p:extLst>
      <p:ext uri="{BB962C8B-B14F-4D97-AF65-F5344CB8AC3E}">
        <p14:creationId xmlns:p14="http://schemas.microsoft.com/office/powerpoint/2010/main" val="1201235184"/>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261486" y="2396419"/>
            <a:ext cx="3757386" cy="2400657"/>
          </a:xfrm>
          <a:prstGeom prst="rect">
            <a:avLst/>
          </a:prstGeom>
          <a:noFill/>
        </p:spPr>
        <p:txBody>
          <a:bodyPr wrap="square" rtlCol="0">
            <a:spAutoFit/>
          </a:bodyPr>
          <a:lstStyle/>
          <a:p>
            <a:pPr indent="457200">
              <a:lnSpc>
                <a:spcPct val="150000"/>
              </a:lnSpc>
            </a:pPr>
            <a:endParaRPr lang="en-US" altLang="zh-CN" sz="2000" b="1" dirty="0" smtClean="0"/>
          </a:p>
          <a:p>
            <a:pPr marL="285750" indent="-285750">
              <a:lnSpc>
                <a:spcPct val="150000"/>
              </a:lnSpc>
              <a:buFont typeface="Arial" panose="020B0604020202020204" pitchFamily="34" charset="0"/>
              <a:buChar char="•"/>
            </a:pPr>
            <a:r>
              <a:rPr lang="zh-CN" altLang="en-US" sz="2000" b="1" dirty="0" smtClean="0"/>
              <a:t>数据获取</a:t>
            </a:r>
            <a:r>
              <a:rPr lang="zh-CN" altLang="en-US" sz="2000" dirty="0" smtClean="0"/>
              <a:t>：</a:t>
            </a:r>
            <a:endParaRPr lang="en-US" altLang="zh-CN" sz="2000" dirty="0"/>
          </a:p>
          <a:p>
            <a:pPr marL="742950" lvl="1" indent="-285750">
              <a:lnSpc>
                <a:spcPct val="150000"/>
              </a:lnSpc>
              <a:buFont typeface="Arial" panose="020B0604020202020204" pitchFamily="34" charset="0"/>
              <a:buChar char="•"/>
            </a:pPr>
            <a:r>
              <a:rPr lang="zh-CN" altLang="en-US" sz="2000" dirty="0" smtClean="0"/>
              <a:t>异源数据</a:t>
            </a:r>
            <a:r>
              <a:rPr lang="zh-CN" altLang="en-US" sz="2000" dirty="0" smtClean="0">
                <a:solidFill>
                  <a:srgbClr val="C00000"/>
                </a:solidFill>
              </a:rPr>
              <a:t>统一采集</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本地数据</a:t>
            </a:r>
            <a:r>
              <a:rPr lang="zh-CN" altLang="en-US" sz="2000" dirty="0" smtClean="0">
                <a:solidFill>
                  <a:srgbClr val="C00000"/>
                </a:solidFill>
              </a:rPr>
              <a:t>结构存储</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数据调用</a:t>
            </a:r>
            <a:r>
              <a:rPr lang="zh-CN" altLang="en-US" sz="2000" dirty="0" smtClean="0">
                <a:solidFill>
                  <a:srgbClr val="C00000"/>
                </a:solidFill>
              </a:rPr>
              <a:t>一键完成</a:t>
            </a:r>
            <a:endParaRPr lang="en-US" altLang="zh-CN" sz="2000" dirty="0" smtClean="0">
              <a:solidFill>
                <a:srgbClr val="C00000"/>
              </a:solidFill>
            </a:endParaRPr>
          </a:p>
        </p:txBody>
      </p:sp>
      <p:sp>
        <p:nvSpPr>
          <p:cNvPr id="26" name="KSO_Shape"/>
          <p:cNvSpPr/>
          <p:nvPr/>
        </p:nvSpPr>
        <p:spPr bwMode="auto">
          <a:xfrm>
            <a:off x="8307003" y="1885623"/>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8" name="KSO_Shape"/>
          <p:cNvSpPr/>
          <p:nvPr/>
        </p:nvSpPr>
        <p:spPr>
          <a:xfrm>
            <a:off x="6016879" y="2525592"/>
            <a:ext cx="1021276" cy="825399"/>
          </a:xfrm>
          <a:custGeom>
            <a:avLst/>
            <a:gdLst>
              <a:gd name="connsiteX0" fmla="*/ 876522 w 1879600"/>
              <a:gd name="connsiteY0" fmla="*/ 1026915 h 1901723"/>
              <a:gd name="connsiteX1" fmla="*/ 1879600 w 1879600"/>
              <a:gd name="connsiteY1" fmla="*/ 1035310 h 1901723"/>
              <a:gd name="connsiteX2" fmla="*/ 1879600 w 1879600"/>
              <a:gd name="connsiteY2" fmla="*/ 1901723 h 1901723"/>
              <a:gd name="connsiteX3" fmla="*/ 876522 w 1879600"/>
              <a:gd name="connsiteY3" fmla="*/ 1775813 h 1901723"/>
              <a:gd name="connsiteX4" fmla="*/ 0 w 1879600"/>
              <a:gd name="connsiteY4" fmla="*/ 1014080 h 1901723"/>
              <a:gd name="connsiteX5" fmla="*/ 717549 w 1879600"/>
              <a:gd name="connsiteY5" fmla="*/ 1026818 h 1901723"/>
              <a:gd name="connsiteX6" fmla="*/ 717549 w 1879600"/>
              <a:gd name="connsiteY6" fmla="*/ 1753167 h 1901723"/>
              <a:gd name="connsiteX7" fmla="*/ 0 w 1879600"/>
              <a:gd name="connsiteY7" fmla="*/ 1642117 h 1901723"/>
              <a:gd name="connsiteX8" fmla="*/ 717549 w 1879600"/>
              <a:gd name="connsiteY8" fmla="*/ 159389 h 1901723"/>
              <a:gd name="connsiteX9" fmla="*/ 717549 w 1879600"/>
              <a:gd name="connsiteY9" fmla="*/ 883871 h 1901723"/>
              <a:gd name="connsiteX10" fmla="*/ 0 w 1879600"/>
              <a:gd name="connsiteY10" fmla="*/ 908194 h 1901723"/>
              <a:gd name="connsiteX11" fmla="*/ 0 w 1879600"/>
              <a:gd name="connsiteY11" fmla="*/ 256684 h 1901723"/>
              <a:gd name="connsiteX12" fmla="*/ 1879600 w 1879600"/>
              <a:gd name="connsiteY12" fmla="*/ 0 h 1901723"/>
              <a:gd name="connsiteX13" fmla="*/ 1879600 w 1879600"/>
              <a:gd name="connsiteY13" fmla="*/ 872112 h 1901723"/>
              <a:gd name="connsiteX14" fmla="*/ 879497 w 1879600"/>
              <a:gd name="connsiteY14" fmla="*/ 880660 h 1901723"/>
              <a:gd name="connsiteX15" fmla="*/ 876522 w 1879600"/>
              <a:gd name="connsiteY15" fmla="*/ 626314 h 1901723"/>
              <a:gd name="connsiteX16" fmla="*/ 876522 w 1879600"/>
              <a:gd name="connsiteY16" fmla="*/ 144511 h 19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600" h="1901723">
                <a:moveTo>
                  <a:pt x="876522" y="1026915"/>
                </a:moveTo>
                <a:lnTo>
                  <a:pt x="1879600" y="1035310"/>
                </a:lnTo>
                <a:lnTo>
                  <a:pt x="1879600" y="1901723"/>
                </a:lnTo>
                <a:lnTo>
                  <a:pt x="876522" y="1775813"/>
                </a:lnTo>
                <a:close/>
                <a:moveTo>
                  <a:pt x="0" y="1014080"/>
                </a:moveTo>
                <a:lnTo>
                  <a:pt x="717549" y="1026818"/>
                </a:lnTo>
                <a:lnTo>
                  <a:pt x="717549" y="1753167"/>
                </a:lnTo>
                <a:lnTo>
                  <a:pt x="0" y="1642117"/>
                </a:lnTo>
                <a:close/>
                <a:moveTo>
                  <a:pt x="717549" y="159389"/>
                </a:moveTo>
                <a:lnTo>
                  <a:pt x="717549" y="883871"/>
                </a:lnTo>
                <a:lnTo>
                  <a:pt x="0" y="908194"/>
                </a:lnTo>
                <a:lnTo>
                  <a:pt x="0" y="256684"/>
                </a:lnTo>
                <a:close/>
                <a:moveTo>
                  <a:pt x="1879600" y="0"/>
                </a:moveTo>
                <a:lnTo>
                  <a:pt x="1879600" y="872112"/>
                </a:lnTo>
                <a:lnTo>
                  <a:pt x="879497" y="880660"/>
                </a:lnTo>
                <a:lnTo>
                  <a:pt x="876522" y="626314"/>
                </a:lnTo>
                <a:lnTo>
                  <a:pt x="876522" y="144511"/>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9" name="KSO_Shape"/>
          <p:cNvSpPr/>
          <p:nvPr/>
        </p:nvSpPr>
        <p:spPr bwMode="auto">
          <a:xfrm>
            <a:off x="3934308" y="191406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cxnSp>
        <p:nvCxnSpPr>
          <p:cNvPr id="30" name="直接连接符 29"/>
          <p:cNvCxnSpPr/>
          <p:nvPr/>
        </p:nvCxnSpPr>
        <p:spPr>
          <a:xfrm>
            <a:off x="5570855" y="1580856"/>
            <a:ext cx="36195" cy="3771900"/>
          </a:xfrm>
          <a:prstGeom prst="line">
            <a:avLst/>
          </a:prstGeom>
          <a:ln w="19050" cmpd="sng"/>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917180" y="1436711"/>
            <a:ext cx="43180" cy="3641725"/>
          </a:xfrm>
          <a:prstGeom prst="line">
            <a:avLst/>
          </a:prstGeom>
          <a:ln w="19050" cmpd="sng">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095462" y="287122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1</a:t>
            </a:r>
          </a:p>
        </p:txBody>
      </p:sp>
      <p:sp>
        <p:nvSpPr>
          <p:cNvPr id="34" name="文本框 33"/>
          <p:cNvSpPr txBox="1"/>
          <p:nvPr/>
        </p:nvSpPr>
        <p:spPr>
          <a:xfrm>
            <a:off x="6083017" y="2279550"/>
            <a:ext cx="95410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数据采集系统</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8477183" y="3810308"/>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6" name="文本框 35"/>
          <p:cNvSpPr txBox="1"/>
          <p:nvPr/>
        </p:nvSpPr>
        <p:spPr>
          <a:xfrm>
            <a:off x="8476987" y="3474619"/>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应用服务器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7" name="KSO_Shape"/>
          <p:cNvSpPr/>
          <p:nvPr/>
        </p:nvSpPr>
        <p:spPr bwMode="auto">
          <a:xfrm>
            <a:off x="3919703" y="312564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8" name="文本框 37"/>
          <p:cNvSpPr txBox="1"/>
          <p:nvPr/>
        </p:nvSpPr>
        <p:spPr>
          <a:xfrm>
            <a:off x="4109432" y="401930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2</a:t>
            </a:r>
          </a:p>
        </p:txBody>
      </p:sp>
      <p:sp>
        <p:nvSpPr>
          <p:cNvPr id="39" name="文本框 38"/>
          <p:cNvSpPr txBox="1"/>
          <p:nvPr/>
        </p:nvSpPr>
        <p:spPr>
          <a:xfrm>
            <a:off x="4313555" y="4352631"/>
            <a:ext cx="459740" cy="427355"/>
          </a:xfrm>
          <a:prstGeom prst="rect">
            <a:avLst/>
          </a:prstGeom>
          <a:noFill/>
        </p:spPr>
        <p:txBody>
          <a:bodyPr vert="eaVert" wrap="square" rtlCol="0">
            <a:spAutoFit/>
          </a:bodyPr>
          <a:lstStyle/>
          <a:p>
            <a:r>
              <a:rPr lang="en-US" altLang="zh-CN"/>
              <a:t>...</a:t>
            </a:r>
          </a:p>
        </p:txBody>
      </p:sp>
      <p:sp>
        <p:nvSpPr>
          <p:cNvPr id="40" name="KSO_Shape"/>
          <p:cNvSpPr/>
          <p:nvPr/>
        </p:nvSpPr>
        <p:spPr bwMode="auto">
          <a:xfrm>
            <a:off x="3919703" y="459249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1" name="文本框 40"/>
          <p:cNvSpPr txBox="1"/>
          <p:nvPr/>
        </p:nvSpPr>
        <p:spPr>
          <a:xfrm>
            <a:off x="4111972" y="5475980"/>
            <a:ext cx="89344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k</a:t>
            </a:r>
          </a:p>
        </p:txBody>
      </p:sp>
      <p:sp>
        <p:nvSpPr>
          <p:cNvPr id="42" name="左右箭头 41"/>
          <p:cNvSpPr/>
          <p:nvPr/>
        </p:nvSpPr>
        <p:spPr>
          <a:xfrm>
            <a:off x="5313680" y="3293451"/>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折角形 42"/>
          <p:cNvSpPr/>
          <p:nvPr/>
        </p:nvSpPr>
        <p:spPr>
          <a:xfrm>
            <a:off x="6035675" y="381034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折角形 43"/>
          <p:cNvSpPr/>
          <p:nvPr/>
        </p:nvSpPr>
        <p:spPr>
          <a:xfrm>
            <a:off x="6035675" y="3728426"/>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左右箭头 44"/>
          <p:cNvSpPr/>
          <p:nvPr/>
        </p:nvSpPr>
        <p:spPr>
          <a:xfrm>
            <a:off x="7663815" y="3351236"/>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折角形 45"/>
          <p:cNvSpPr/>
          <p:nvPr/>
        </p:nvSpPr>
        <p:spPr>
          <a:xfrm>
            <a:off x="6704965" y="386749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折角形 46"/>
          <p:cNvSpPr/>
          <p:nvPr/>
        </p:nvSpPr>
        <p:spPr>
          <a:xfrm>
            <a:off x="6704965" y="3729061"/>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130642" y="3425725"/>
            <a:ext cx="1082348"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工程和投诉信息</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6330315" y="4871426"/>
            <a:ext cx="575945" cy="344170"/>
            <a:chOff x="3186113" y="530112"/>
            <a:chExt cx="2625725" cy="2338387"/>
          </a:xfrm>
        </p:grpSpPr>
        <p:sp>
          <p:nvSpPr>
            <p:cNvPr id="50" name="Rectangle 9"/>
            <p:cNvSpPr>
              <a:spLocks noChangeArrowheads="1"/>
            </p:cNvSpPr>
            <p:nvPr/>
          </p:nvSpPr>
          <p:spPr bwMode="auto">
            <a:xfrm>
              <a:off x="3338513" y="693625"/>
              <a:ext cx="2320925" cy="163512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Freeform 11"/>
            <p:cNvSpPr>
              <a:spLocks noEditPoints="1"/>
            </p:cNvSpPr>
            <p:nvPr/>
          </p:nvSpPr>
          <p:spPr bwMode="auto">
            <a:xfrm>
              <a:off x="3186113" y="530112"/>
              <a:ext cx="2625725" cy="1895475"/>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2"/>
            <p:cNvSpPr/>
            <p:nvPr/>
          </p:nvSpPr>
          <p:spPr bwMode="auto">
            <a:xfrm>
              <a:off x="3867150" y="2546237"/>
              <a:ext cx="1257300" cy="322262"/>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3"/>
            <p:cNvSpPr/>
            <p:nvPr/>
          </p:nvSpPr>
          <p:spPr bwMode="auto">
            <a:xfrm>
              <a:off x="4340225" y="2546237"/>
              <a:ext cx="784225" cy="322262"/>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4" name="文本框 53"/>
          <p:cNvSpPr txBox="1"/>
          <p:nvPr/>
        </p:nvSpPr>
        <p:spPr>
          <a:xfrm>
            <a:off x="6208112" y="4585870"/>
            <a:ext cx="944880" cy="254635"/>
          </a:xfrm>
          <a:prstGeom prst="rect">
            <a:avLst/>
          </a:prstGeom>
          <a:noFill/>
        </p:spPr>
        <p:txBody>
          <a:bodyPr wrap="none" rtlCol="0">
            <a:spAutoFit/>
          </a:bodyPr>
          <a:lstStyle/>
          <a:p>
            <a:r>
              <a:rPr lang="zh-CN" altLang="en-US" sz="1000" b="1" dirty="0">
                <a:solidFill>
                  <a:srgbClr val="0070C0"/>
                </a:solidFill>
                <a:latin typeface="微软雅黑" panose="020B0503020204020204" pitchFamily="34" charset="-122"/>
                <a:ea typeface="微软雅黑" panose="020B0503020204020204" pitchFamily="34" charset="-122"/>
              </a:rPr>
              <a:t>其他项目数据</a:t>
            </a:r>
          </a:p>
        </p:txBody>
      </p:sp>
      <p:sp>
        <p:nvSpPr>
          <p:cNvPr id="55" name="圆角矩形标注 54"/>
          <p:cNvSpPr/>
          <p:nvPr/>
        </p:nvSpPr>
        <p:spPr>
          <a:xfrm>
            <a:off x="9803765" y="785201"/>
            <a:ext cx="2189480" cy="1296670"/>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a:p>
            <a:pPr algn="l"/>
            <a:endParaRPr lang="en-US" altLang="zh-CN" sz="1400" dirty="0">
              <a:solidFill>
                <a:schemeClr val="tx1"/>
              </a:solidFill>
            </a:endParaRPr>
          </a:p>
          <a:p>
            <a:pPr algn="l"/>
            <a:endParaRPr lang="en-US" altLang="zh-CN" sz="1400" dirty="0">
              <a:solidFill>
                <a:schemeClr val="tx1"/>
              </a:solidFill>
            </a:endParaRPr>
          </a:p>
          <a:p>
            <a:pPr algn="l"/>
            <a:r>
              <a:rPr lang="zh-CN" altLang="zh-CN" sz="1600" dirty="0" smtClean="0">
                <a:solidFill>
                  <a:schemeClr val="tx1"/>
                </a:solidFill>
              </a:rPr>
              <a:t>功能</a:t>
            </a:r>
            <a:r>
              <a:rPr lang="en-US" altLang="zh-CN" sz="1600" dirty="0">
                <a:solidFill>
                  <a:schemeClr val="tx1"/>
                </a:solidFill>
              </a:rPr>
              <a:t>:</a:t>
            </a:r>
          </a:p>
          <a:p>
            <a:pPr algn="l"/>
            <a:r>
              <a:rPr lang="en-US" altLang="zh-CN" sz="1600" dirty="0">
                <a:solidFill>
                  <a:schemeClr val="tx1"/>
                </a:solidFill>
              </a:rPr>
              <a:t>1.ftp</a:t>
            </a:r>
            <a:r>
              <a:rPr lang="zh-CN" altLang="en-US" sz="1600" dirty="0">
                <a:solidFill>
                  <a:schemeClr val="tx1"/>
                </a:solidFill>
              </a:rPr>
              <a:t>服务器</a:t>
            </a:r>
          </a:p>
          <a:p>
            <a:pPr algn="l"/>
            <a:r>
              <a:rPr lang="en-US" altLang="zh-CN" sz="1600" dirty="0">
                <a:solidFill>
                  <a:schemeClr val="tx1"/>
                </a:solidFill>
              </a:rPr>
              <a:t>2.</a:t>
            </a:r>
            <a:r>
              <a:rPr lang="zh-CN" altLang="en-US" sz="1600" dirty="0">
                <a:solidFill>
                  <a:schemeClr val="tx1"/>
                </a:solidFill>
              </a:rPr>
              <a:t>解析存储业务数据</a:t>
            </a:r>
          </a:p>
          <a:p>
            <a:pPr algn="l"/>
            <a:r>
              <a:rPr lang="en-US" altLang="zh-CN" sz="1600" dirty="0">
                <a:solidFill>
                  <a:schemeClr val="tx1"/>
                </a:solidFill>
              </a:rPr>
              <a:t>3.</a:t>
            </a:r>
            <a:r>
              <a:rPr lang="zh-CN" altLang="en-US" sz="1600" dirty="0">
                <a:solidFill>
                  <a:schemeClr val="tx1"/>
                </a:solidFill>
              </a:rPr>
              <a:t>支撑客户端</a:t>
            </a:r>
            <a:endParaRPr lang="en-US" altLang="zh-CN" sz="1600" dirty="0">
              <a:solidFill>
                <a:schemeClr val="tx1"/>
              </a:solidFill>
            </a:endParaRPr>
          </a:p>
          <a:p>
            <a:pPr algn="ctr"/>
            <a:endParaRPr lang="zh-CN" altLang="en-US" dirty="0">
              <a:solidFill>
                <a:schemeClr val="tx1"/>
              </a:solidFill>
            </a:endParaRPr>
          </a:p>
          <a:p>
            <a:pPr algn="ctr"/>
            <a:endParaRPr lang="en-US" altLang="zh-CN" dirty="0">
              <a:solidFill>
                <a:schemeClr val="tx1"/>
              </a:solidFill>
            </a:endParaRPr>
          </a:p>
        </p:txBody>
      </p:sp>
      <p:sp>
        <p:nvSpPr>
          <p:cNvPr id="56" name="圆角矩形标注 55"/>
          <p:cNvSpPr/>
          <p:nvPr/>
        </p:nvSpPr>
        <p:spPr>
          <a:xfrm>
            <a:off x="9968230" y="3043261"/>
            <a:ext cx="1978660" cy="1116965"/>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dirty="0">
                <a:solidFill>
                  <a:schemeClr val="tx1"/>
                </a:solidFill>
                <a:sym typeface="+mn-ea"/>
              </a:rPr>
              <a:t> </a:t>
            </a:r>
          </a:p>
          <a:p>
            <a:pPr algn="l"/>
            <a:r>
              <a:rPr lang="zh-CN" altLang="zh-CN" sz="1600" dirty="0" smtClean="0">
                <a:solidFill>
                  <a:schemeClr val="tx1"/>
                </a:solidFill>
                <a:sym typeface="+mn-ea"/>
              </a:rPr>
              <a:t>功能</a:t>
            </a:r>
            <a:r>
              <a:rPr lang="en-US" altLang="zh-CN" sz="1400" dirty="0">
                <a:solidFill>
                  <a:schemeClr val="tx1"/>
                </a:solidFill>
                <a:sym typeface="+mn-ea"/>
              </a:rPr>
              <a:t>:</a:t>
            </a:r>
          </a:p>
          <a:p>
            <a:pPr algn="l"/>
            <a:r>
              <a:rPr lang="zh-CN" altLang="en-US" sz="1600" dirty="0" smtClean="0">
                <a:solidFill>
                  <a:schemeClr val="tx1"/>
                </a:solidFill>
                <a:sym typeface="+mn-ea"/>
              </a:rPr>
              <a:t>支撑</a:t>
            </a:r>
            <a:r>
              <a:rPr lang="en-US" altLang="zh-CN" sz="1600" dirty="0">
                <a:solidFill>
                  <a:schemeClr val="tx1"/>
                </a:solidFill>
                <a:sym typeface="+mn-ea"/>
              </a:rPr>
              <a:t>web</a:t>
            </a:r>
            <a:r>
              <a:rPr lang="zh-CN" altLang="en-US" sz="1600" dirty="0">
                <a:solidFill>
                  <a:schemeClr val="tx1"/>
                </a:solidFill>
                <a:sym typeface="+mn-ea"/>
              </a:rPr>
              <a:t>系统</a:t>
            </a:r>
          </a:p>
          <a:p>
            <a:pPr algn="l"/>
            <a:endParaRPr lang="zh-CN" altLang="en-US" sz="1600" dirty="0">
              <a:solidFill>
                <a:schemeClr val="tx1"/>
              </a:solidFill>
              <a:sym typeface="+mn-ea"/>
            </a:endParaRPr>
          </a:p>
        </p:txBody>
      </p:sp>
      <p:sp>
        <p:nvSpPr>
          <p:cNvPr id="86" name="文本框 85"/>
          <p:cNvSpPr txBox="1"/>
          <p:nvPr/>
        </p:nvSpPr>
        <p:spPr>
          <a:xfrm>
            <a:off x="8476987" y="1617768"/>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 name="圆角矩形 2"/>
          <p:cNvSpPr/>
          <p:nvPr/>
        </p:nvSpPr>
        <p:spPr>
          <a:xfrm>
            <a:off x="541767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文本框 6"/>
          <p:cNvSpPr txBox="1"/>
          <p:nvPr/>
        </p:nvSpPr>
        <p:spPr>
          <a:xfrm>
            <a:off x="5879355" y="1433536"/>
            <a:ext cx="1685730" cy="369332"/>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dirty="0" smtClean="0"/>
              <a:t>数据来源分散</a:t>
            </a:r>
            <a:endParaRPr lang="zh-CN" altLang="en-US" dirty="0"/>
          </a:p>
        </p:txBody>
      </p:sp>
      <p:sp>
        <p:nvSpPr>
          <p:cNvPr id="57" name="圆角矩形 56"/>
          <p:cNvSpPr/>
          <p:nvPr/>
        </p:nvSpPr>
        <p:spPr>
          <a:xfrm>
            <a:off x="813453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8" name="文本框 57"/>
          <p:cNvSpPr txBox="1"/>
          <p:nvPr/>
        </p:nvSpPr>
        <p:spPr>
          <a:xfrm>
            <a:off x="8767155" y="1411306"/>
            <a:ext cx="180364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zh-CN" altLang="en-US" dirty="0" smtClean="0"/>
              <a:t>本地</a:t>
            </a:r>
            <a:r>
              <a:rPr lang="zh-CN" altLang="en-US" dirty="0"/>
              <a:t>数据</a:t>
            </a:r>
            <a:r>
              <a:rPr lang="zh-CN" altLang="en-US" dirty="0" smtClean="0"/>
              <a:t>无备份</a:t>
            </a:r>
            <a:endParaRPr lang="zh-CN" altLang="en-US" dirty="0"/>
          </a:p>
        </p:txBody>
      </p:sp>
      <p:sp>
        <p:nvSpPr>
          <p:cNvPr id="59" name="文本框 58"/>
          <p:cNvSpPr txBox="1"/>
          <p:nvPr/>
        </p:nvSpPr>
        <p:spPr>
          <a:xfrm>
            <a:off x="5881983" y="1460241"/>
            <a:ext cx="168573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数据统一采集</a:t>
            </a:r>
            <a:endParaRPr lang="zh-CN" altLang="en-US" dirty="0">
              <a:solidFill>
                <a:schemeClr val="bg1"/>
              </a:solidFill>
            </a:endParaRPr>
          </a:p>
        </p:txBody>
      </p:sp>
      <p:sp>
        <p:nvSpPr>
          <p:cNvPr id="60" name="文本框 59"/>
          <p:cNvSpPr txBox="1"/>
          <p:nvPr/>
        </p:nvSpPr>
        <p:spPr>
          <a:xfrm>
            <a:off x="8760170" y="1421680"/>
            <a:ext cx="180364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数据本地化存储</a:t>
            </a:r>
            <a:endParaRPr lang="zh-CN" altLang="en-US" dirty="0">
              <a:solidFill>
                <a:schemeClr val="bg1"/>
              </a:solidFill>
            </a:endParaRPr>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1"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xit" presetSubtype="10" fill="hold" grpId="0" nodeType="clickEffect">
                                  <p:stCondLst>
                                    <p:cond delay="0"/>
                                  </p:stCondLst>
                                  <p:childTnLst>
                                    <p:animEffect transition="out" filter="randombar(horizontal)">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4" presetClass="entr" presetSubtype="1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randombar(horizontal)">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7"/>
                                        </p:tgtEl>
                                        <p:attrNameLst>
                                          <p:attrName>style.visibility</p:attrName>
                                        </p:attrNameLst>
                                      </p:cBhvr>
                                      <p:to>
                                        <p:strVal val="visible"/>
                                      </p:to>
                                    </p:set>
                                    <p:anim calcmode="lin" valueType="num">
                                      <p:cBhvr>
                                        <p:cTn id="28" dur="500" fill="hold"/>
                                        <p:tgtEl>
                                          <p:spTgt spid="57"/>
                                        </p:tgtEl>
                                        <p:attrNameLst>
                                          <p:attrName>ppt_w</p:attrName>
                                        </p:attrNameLst>
                                      </p:cBhvr>
                                      <p:tavLst>
                                        <p:tav tm="0">
                                          <p:val>
                                            <p:fltVal val="0"/>
                                          </p:val>
                                        </p:tav>
                                        <p:tav tm="100000">
                                          <p:val>
                                            <p:strVal val="#ppt_w"/>
                                          </p:val>
                                        </p:tav>
                                      </p:tavLst>
                                    </p:anim>
                                    <p:anim calcmode="lin" valueType="num">
                                      <p:cBhvr>
                                        <p:cTn id="29" dur="500" fill="hold"/>
                                        <p:tgtEl>
                                          <p:spTgt spid="57"/>
                                        </p:tgtEl>
                                        <p:attrNameLst>
                                          <p:attrName>ppt_h</p:attrName>
                                        </p:attrNameLst>
                                      </p:cBhvr>
                                      <p:tavLst>
                                        <p:tav tm="0">
                                          <p:val>
                                            <p:fltVal val="0"/>
                                          </p:val>
                                        </p:tav>
                                        <p:tav tm="100000">
                                          <p:val>
                                            <p:strVal val="#ppt_h"/>
                                          </p:val>
                                        </p:tav>
                                      </p:tavLst>
                                    </p:anim>
                                    <p:animEffect transition="in" filter="fade">
                                      <p:cBhvr>
                                        <p:cTn id="30" dur="500"/>
                                        <p:tgtEl>
                                          <p:spTgt spid="57"/>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1000"/>
                                        <p:tgtEl>
                                          <p:spTgt spid="55"/>
                                        </p:tgtEl>
                                      </p:cBhvr>
                                    </p:animEffect>
                                    <p:anim calcmode="lin" valueType="num">
                                      <p:cBhvr>
                                        <p:cTn id="36" dur="1000" fill="hold"/>
                                        <p:tgtEl>
                                          <p:spTgt spid="55"/>
                                        </p:tgtEl>
                                        <p:attrNameLst>
                                          <p:attrName>ppt_x</p:attrName>
                                        </p:attrNameLst>
                                      </p:cBhvr>
                                      <p:tavLst>
                                        <p:tav tm="0">
                                          <p:val>
                                            <p:strVal val="#ppt_x"/>
                                          </p:val>
                                        </p:tav>
                                        <p:tav tm="100000">
                                          <p:val>
                                            <p:strVal val="#ppt_x"/>
                                          </p:val>
                                        </p:tav>
                                      </p:tavLst>
                                    </p:anim>
                                    <p:anim calcmode="lin" valueType="num">
                                      <p:cBhvr>
                                        <p:cTn id="3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1000"/>
                                        <p:tgtEl>
                                          <p:spTgt spid="55"/>
                                        </p:tgtEl>
                                      </p:cBhvr>
                                    </p:animEffect>
                                    <p:anim calcmode="lin" valueType="num">
                                      <p:cBhvr>
                                        <p:cTn id="42" dur="1000"/>
                                        <p:tgtEl>
                                          <p:spTgt spid="55"/>
                                        </p:tgtEl>
                                        <p:attrNameLst>
                                          <p:attrName>ppt_x</p:attrName>
                                        </p:attrNameLst>
                                      </p:cBhvr>
                                      <p:tavLst>
                                        <p:tav tm="0">
                                          <p:val>
                                            <p:strVal val="ppt_x"/>
                                          </p:val>
                                        </p:tav>
                                        <p:tav tm="100000">
                                          <p:val>
                                            <p:strVal val="ppt_x"/>
                                          </p:val>
                                        </p:tav>
                                      </p:tavLst>
                                    </p:anim>
                                    <p:anim calcmode="lin" valueType="num">
                                      <p:cBhvr>
                                        <p:cTn id="43" dur="1000"/>
                                        <p:tgtEl>
                                          <p:spTgt spid="55"/>
                                        </p:tgtEl>
                                        <p:attrNameLst>
                                          <p:attrName>ppt_y</p:attrName>
                                        </p:attrNameLst>
                                      </p:cBhvr>
                                      <p:tavLst>
                                        <p:tav tm="0">
                                          <p:val>
                                            <p:strVal val="ppt_y"/>
                                          </p:val>
                                        </p:tav>
                                        <p:tav tm="100000">
                                          <p:val>
                                            <p:strVal val="ppt_y+.1"/>
                                          </p:val>
                                        </p:tav>
                                      </p:tavLst>
                                    </p:anim>
                                    <p:set>
                                      <p:cBhvr>
                                        <p:cTn id="44" dur="1" fill="hold">
                                          <p:stCondLst>
                                            <p:cond delay="999"/>
                                          </p:stCondLst>
                                        </p:cTn>
                                        <p:tgtEl>
                                          <p:spTgt spid="5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1000"/>
                                        <p:tgtEl>
                                          <p:spTgt spid="56"/>
                                        </p:tgtEl>
                                      </p:cBhvr>
                                    </p:animEffect>
                                    <p:anim calcmode="lin" valueType="num">
                                      <p:cBhvr>
                                        <p:cTn id="50" dur="1000" fill="hold"/>
                                        <p:tgtEl>
                                          <p:spTgt spid="56"/>
                                        </p:tgtEl>
                                        <p:attrNameLst>
                                          <p:attrName>ppt_x</p:attrName>
                                        </p:attrNameLst>
                                      </p:cBhvr>
                                      <p:tavLst>
                                        <p:tav tm="0">
                                          <p:val>
                                            <p:strVal val="#ppt_x"/>
                                          </p:val>
                                        </p:tav>
                                        <p:tav tm="100000">
                                          <p:val>
                                            <p:strVal val="#ppt_x"/>
                                          </p:val>
                                        </p:tav>
                                      </p:tavLst>
                                    </p:anim>
                                    <p:anim calcmode="lin" valueType="num">
                                      <p:cBhvr>
                                        <p:cTn id="5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grpId="1" nodeType="clickEffect">
                                  <p:stCondLst>
                                    <p:cond delay="0"/>
                                  </p:stCondLst>
                                  <p:childTnLst>
                                    <p:animEffect transition="out" filter="fade">
                                      <p:cBhvr>
                                        <p:cTn id="55" dur="1000"/>
                                        <p:tgtEl>
                                          <p:spTgt spid="56"/>
                                        </p:tgtEl>
                                      </p:cBhvr>
                                    </p:animEffect>
                                    <p:anim calcmode="lin" valueType="num">
                                      <p:cBhvr>
                                        <p:cTn id="56" dur="1000"/>
                                        <p:tgtEl>
                                          <p:spTgt spid="56"/>
                                        </p:tgtEl>
                                        <p:attrNameLst>
                                          <p:attrName>ppt_x</p:attrName>
                                        </p:attrNameLst>
                                      </p:cBhvr>
                                      <p:tavLst>
                                        <p:tav tm="0">
                                          <p:val>
                                            <p:strVal val="ppt_x"/>
                                          </p:val>
                                        </p:tav>
                                        <p:tav tm="100000">
                                          <p:val>
                                            <p:strVal val="ppt_x"/>
                                          </p:val>
                                        </p:tav>
                                      </p:tavLst>
                                    </p:anim>
                                    <p:anim calcmode="lin" valueType="num">
                                      <p:cBhvr>
                                        <p:cTn id="57" dur="1000"/>
                                        <p:tgtEl>
                                          <p:spTgt spid="56"/>
                                        </p:tgtEl>
                                        <p:attrNameLst>
                                          <p:attrName>ppt_y</p:attrName>
                                        </p:attrNameLst>
                                      </p:cBhvr>
                                      <p:tavLst>
                                        <p:tav tm="0">
                                          <p:val>
                                            <p:strVal val="ppt_y"/>
                                          </p:val>
                                        </p:tav>
                                        <p:tav tm="100000">
                                          <p:val>
                                            <p:strVal val="ppt_y+.1"/>
                                          </p:val>
                                        </p:tav>
                                      </p:tavLst>
                                    </p:anim>
                                    <p:set>
                                      <p:cBhvr>
                                        <p:cTn id="58" dur="1" fill="hold">
                                          <p:stCondLst>
                                            <p:cond delay="9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additive="base">
                                        <p:cTn id="63" dur="500" fill="hold"/>
                                        <p:tgtEl>
                                          <p:spTgt spid="58"/>
                                        </p:tgtEl>
                                        <p:attrNameLst>
                                          <p:attrName>ppt_x</p:attrName>
                                        </p:attrNameLst>
                                      </p:cBhvr>
                                      <p:tavLst>
                                        <p:tav tm="0">
                                          <p:val>
                                            <p:strVal val="#ppt_x"/>
                                          </p:val>
                                        </p:tav>
                                        <p:tav tm="100000">
                                          <p:val>
                                            <p:strVal val="#ppt_x"/>
                                          </p:val>
                                        </p:tav>
                                      </p:tavLst>
                                    </p:anim>
                                    <p:anim calcmode="lin" valueType="num">
                                      <p:cBhvr additive="base">
                                        <p:cTn id="6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4" presetClass="exit" presetSubtype="10" fill="hold" grpId="0" nodeType="clickEffect">
                                  <p:stCondLst>
                                    <p:cond delay="0"/>
                                  </p:stCondLst>
                                  <p:childTnLst>
                                    <p:animEffect transition="out" filter="randombar(horizontal)">
                                      <p:cBhvr>
                                        <p:cTn id="68" dur="500"/>
                                        <p:tgtEl>
                                          <p:spTgt spid="58"/>
                                        </p:tgtEl>
                                      </p:cBhvr>
                                    </p:animEffect>
                                    <p:set>
                                      <p:cBhvr>
                                        <p:cTn id="69" dur="1" fill="hold">
                                          <p:stCondLst>
                                            <p:cond delay="499"/>
                                          </p:stCondLst>
                                        </p:cTn>
                                        <p:tgtEl>
                                          <p:spTgt spid="58"/>
                                        </p:tgtEl>
                                        <p:attrNameLst>
                                          <p:attrName>style.visibility</p:attrName>
                                        </p:attrNameLst>
                                      </p:cBhvr>
                                      <p:to>
                                        <p:strVal val="hidden"/>
                                      </p:to>
                                    </p:set>
                                  </p:childTnLst>
                                </p:cTn>
                              </p:par>
                              <p:par>
                                <p:cTn id="70" presetID="14" presetClass="entr" presetSubtype="1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randombar(horizontal)">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p:bldP spid="43" grpId="0" animBg="1"/>
      <p:bldP spid="44" grpId="0" animBg="1"/>
      <p:bldP spid="46" grpId="0" animBg="1"/>
      <p:bldP spid="47" grpId="0" animBg="1"/>
      <p:bldP spid="48" grpId="0"/>
      <p:bldP spid="54" grpId="0"/>
      <p:bldP spid="55" grpId="0" animBg="1"/>
      <p:bldP spid="55" grpId="1" animBg="1"/>
      <p:bldP spid="56" grpId="0" animBg="1"/>
      <p:bldP spid="56" grpId="1" animBg="1"/>
      <p:bldP spid="3" grpId="0" animBg="1"/>
      <p:bldP spid="7" grpId="0" animBg="1"/>
      <p:bldP spid="7" grpId="1" animBg="1"/>
      <p:bldP spid="57" grpId="0" animBg="1"/>
      <p:bldP spid="58" grpId="0" animBg="1"/>
      <p:bldP spid="58" grpId="1" animBg="1"/>
      <p:bldP spid="59" grpId="0" animBg="1"/>
      <p:bldP spid="6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957488" y="1827128"/>
            <a:ext cx="3757386" cy="3323987"/>
          </a:xfrm>
          <a:prstGeom prst="rect">
            <a:avLst/>
          </a:prstGeom>
          <a:noFill/>
        </p:spPr>
        <p:txBody>
          <a:bodyPr wrap="square" rtlCol="0">
            <a:spAutoFit/>
          </a:bodyPr>
          <a:lstStyle/>
          <a:p>
            <a:pPr indent="457200">
              <a:lnSpc>
                <a:spcPct val="150000"/>
              </a:lnSpc>
            </a:pPr>
            <a:endParaRPr lang="en-US" altLang="zh-CN" sz="2000" b="1" dirty="0" smtClean="0">
              <a:latin typeface="+mn-ea"/>
            </a:endParaRPr>
          </a:p>
          <a:p>
            <a:pPr marL="285750" indent="-285750">
              <a:lnSpc>
                <a:spcPct val="150000"/>
              </a:lnSpc>
              <a:buFont typeface="Arial" panose="020B0604020202020204" pitchFamily="34" charset="0"/>
              <a:buChar char="•"/>
            </a:pPr>
            <a:r>
              <a:rPr lang="zh-CN" altLang="en-US" sz="2000" b="1" dirty="0" smtClean="0">
                <a:latin typeface="+mn-ea"/>
              </a:rPr>
              <a:t>数据分析：自动化</a:t>
            </a:r>
            <a:r>
              <a:rPr lang="en-US" altLang="zh-CN" sz="2000" b="1" dirty="0" smtClean="0">
                <a:latin typeface="+mn-ea"/>
              </a:rPr>
              <a:t>--</a:t>
            </a:r>
            <a:r>
              <a:rPr lang="zh-CN" altLang="en-US" sz="2000" b="1" dirty="0" smtClean="0">
                <a:latin typeface="+mn-ea"/>
              </a:rPr>
              <a:t>智能化</a:t>
            </a:r>
            <a:endParaRPr lang="en-US" altLang="zh-CN" sz="2000" b="1" dirty="0">
              <a:latin typeface="+mn-ea"/>
            </a:endParaRPr>
          </a:p>
          <a:p>
            <a:pPr marL="742950" lvl="1" indent="-285750">
              <a:lnSpc>
                <a:spcPct val="150000"/>
              </a:lnSpc>
              <a:buFont typeface="Arial" panose="020B0604020202020204" pitchFamily="34" charset="0"/>
              <a:buChar char="•"/>
            </a:pPr>
            <a:r>
              <a:rPr lang="zh-CN" altLang="en-US" sz="2000" dirty="0">
                <a:latin typeface="+mn-ea"/>
              </a:rPr>
              <a:t>日常</a:t>
            </a:r>
            <a:r>
              <a:rPr lang="zh-CN" altLang="en-US" sz="2000" dirty="0" smtClean="0">
                <a:latin typeface="+mn-ea"/>
              </a:rPr>
              <a:t>分析</a:t>
            </a:r>
            <a:r>
              <a:rPr lang="zh-CN" altLang="en-US" sz="2000" dirty="0" smtClean="0">
                <a:solidFill>
                  <a:srgbClr val="C00000"/>
                </a:solidFill>
                <a:latin typeface="+mn-ea"/>
              </a:rPr>
              <a:t>自动完成</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门限阈值</a:t>
            </a:r>
            <a:r>
              <a:rPr lang="zh-CN" altLang="en-US" sz="2000" dirty="0" smtClean="0">
                <a:solidFill>
                  <a:srgbClr val="C00000"/>
                </a:solidFill>
                <a:latin typeface="+mn-ea"/>
              </a:rPr>
              <a:t>自动调整</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数据关系</a:t>
            </a:r>
            <a:r>
              <a:rPr lang="zh-CN" altLang="en-US" sz="2000" dirty="0">
                <a:solidFill>
                  <a:srgbClr val="C00000"/>
                </a:solidFill>
                <a:latin typeface="+mn-ea"/>
              </a:rPr>
              <a:t>智能挖掘</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数据异常</a:t>
            </a:r>
            <a:r>
              <a:rPr lang="zh-CN" altLang="en-US" sz="2000" dirty="0" smtClean="0">
                <a:solidFill>
                  <a:srgbClr val="C00000"/>
                </a:solidFill>
                <a:latin typeface="+mn-ea"/>
              </a:rPr>
              <a:t>及时告警</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潜在问题</a:t>
            </a:r>
            <a:r>
              <a:rPr lang="zh-CN" altLang="en-US" sz="2000" dirty="0" smtClean="0">
                <a:solidFill>
                  <a:srgbClr val="C00000"/>
                </a:solidFill>
                <a:latin typeface="+mn-ea"/>
              </a:rPr>
              <a:t>提前预测</a:t>
            </a:r>
            <a:endParaRPr lang="en-US" altLang="zh-CN" sz="2000" dirty="0" smtClean="0">
              <a:solidFill>
                <a:srgbClr val="C00000"/>
              </a:solidFill>
              <a:latin typeface="+mn-ea"/>
            </a:endParaRPr>
          </a:p>
        </p:txBody>
      </p:sp>
      <p:sp>
        <p:nvSpPr>
          <p:cNvPr id="3" name="文本框 2"/>
          <p:cNvSpPr txBox="1"/>
          <p:nvPr/>
        </p:nvSpPr>
        <p:spPr>
          <a:xfrm>
            <a:off x="6629400" y="2049565"/>
            <a:ext cx="3324225" cy="369332"/>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523504"/>
            <a:ext cx="5314286" cy="1333333"/>
          </a:xfrm>
          <a:prstGeom prst="rect">
            <a:avLst/>
          </a:prstGeom>
        </p:spPr>
      </p:pic>
      <p:sp>
        <p:nvSpPr>
          <p:cNvPr id="11" name="文本框 10"/>
          <p:cNvSpPr txBox="1"/>
          <p:nvPr/>
        </p:nvSpPr>
        <p:spPr>
          <a:xfrm>
            <a:off x="6276975" y="2049565"/>
            <a:ext cx="4267200" cy="369332"/>
          </a:xfrm>
          <a:prstGeom prst="rect">
            <a:avLst/>
          </a:prstGeom>
          <a:noFill/>
        </p:spPr>
        <p:txBody>
          <a:bodyPr wrap="square" rtlCol="0">
            <a:spAutoFit/>
          </a:bodyPr>
          <a:lstStyle/>
          <a:p>
            <a:pPr algn="ctr"/>
            <a:r>
              <a:rPr lang="zh-CN" altLang="en-US" dirty="0" smtClean="0"/>
              <a:t>预警门限自动调整</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6976" y="2703966"/>
            <a:ext cx="4362450" cy="3200669"/>
          </a:xfrm>
          <a:prstGeom prst="rect">
            <a:avLst/>
          </a:prstGeom>
        </p:spPr>
      </p:pic>
      <p:sp>
        <p:nvSpPr>
          <p:cNvPr id="14" name="文本框 13"/>
          <p:cNvSpPr txBox="1"/>
          <p:nvPr/>
        </p:nvSpPr>
        <p:spPr>
          <a:xfrm>
            <a:off x="6629400" y="3600450"/>
            <a:ext cx="1104900" cy="369332"/>
          </a:xfrm>
          <a:prstGeom prst="rect">
            <a:avLst/>
          </a:prstGeom>
          <a:noFill/>
        </p:spPr>
        <p:txBody>
          <a:bodyPr wrap="square" rtlCol="0">
            <a:spAutoFit/>
          </a:bodyPr>
          <a:lstStyle/>
          <a:p>
            <a:r>
              <a:rPr lang="zh-CN" altLang="en-US" dirty="0" smtClean="0"/>
              <a:t>原始数据</a:t>
            </a:r>
            <a:endParaRPr lang="zh-CN" altLang="en-US" dirty="0"/>
          </a:p>
        </p:txBody>
      </p:sp>
      <p:sp>
        <p:nvSpPr>
          <p:cNvPr id="16" name="文本框 15"/>
          <p:cNvSpPr txBox="1"/>
          <p:nvPr/>
        </p:nvSpPr>
        <p:spPr>
          <a:xfrm>
            <a:off x="7886700" y="4114799"/>
            <a:ext cx="914400" cy="523220"/>
          </a:xfrm>
          <a:prstGeom prst="rect">
            <a:avLst/>
          </a:prstGeom>
          <a:noFill/>
        </p:spPr>
        <p:txBody>
          <a:bodyPr wrap="square" rtlCol="0">
            <a:spAutoFit/>
          </a:bodyPr>
          <a:lstStyle/>
          <a:p>
            <a:r>
              <a:rPr lang="zh-CN" altLang="en-US" sz="1400" dirty="0" smtClean="0"/>
              <a:t>数据关联分析</a:t>
            </a:r>
            <a:endParaRPr lang="zh-CN" altLang="en-US" dirty="0"/>
          </a:p>
        </p:txBody>
      </p:sp>
      <p:sp>
        <p:nvSpPr>
          <p:cNvPr id="18" name="文本框 17"/>
          <p:cNvSpPr txBox="1"/>
          <p:nvPr/>
        </p:nvSpPr>
        <p:spPr>
          <a:xfrm>
            <a:off x="8162925" y="4638019"/>
            <a:ext cx="914400" cy="276999"/>
          </a:xfrm>
          <a:prstGeom prst="rect">
            <a:avLst/>
          </a:prstGeom>
          <a:noFill/>
        </p:spPr>
        <p:txBody>
          <a:bodyPr wrap="square" rtlCol="0">
            <a:spAutoFit/>
          </a:bodyPr>
          <a:lstStyle/>
          <a:p>
            <a:r>
              <a:rPr lang="zh-CN" altLang="en-US" sz="1200" dirty="0" smtClean="0"/>
              <a:t>数据聚类</a:t>
            </a:r>
            <a:endParaRPr lang="zh-CN" altLang="en-US" sz="1200" dirty="0"/>
          </a:p>
        </p:txBody>
      </p:sp>
      <p:sp>
        <p:nvSpPr>
          <p:cNvPr id="19" name="文本框 18"/>
          <p:cNvSpPr txBox="1"/>
          <p:nvPr/>
        </p:nvSpPr>
        <p:spPr>
          <a:xfrm>
            <a:off x="9263063" y="4613937"/>
            <a:ext cx="1057502" cy="276999"/>
          </a:xfrm>
          <a:prstGeom prst="rect">
            <a:avLst/>
          </a:prstGeom>
          <a:noFill/>
        </p:spPr>
        <p:txBody>
          <a:bodyPr wrap="square" rtlCol="0">
            <a:spAutoFit/>
          </a:bodyPr>
          <a:lstStyle/>
          <a:p>
            <a:r>
              <a:rPr lang="zh-CN" altLang="en-US" sz="1200" dirty="0" smtClean="0"/>
              <a:t>数据聚类簇</a:t>
            </a:r>
            <a:endParaRPr lang="zh-CN" altLang="en-US" sz="1200" dirty="0"/>
          </a:p>
        </p:txBody>
      </p:sp>
      <p:sp>
        <p:nvSpPr>
          <p:cNvPr id="20" name="文本框 19"/>
          <p:cNvSpPr txBox="1"/>
          <p:nvPr/>
        </p:nvSpPr>
        <p:spPr>
          <a:xfrm>
            <a:off x="6276975" y="6058523"/>
            <a:ext cx="4267200" cy="369332"/>
          </a:xfrm>
          <a:prstGeom prst="rect">
            <a:avLst/>
          </a:prstGeom>
          <a:noFill/>
        </p:spPr>
        <p:txBody>
          <a:bodyPr wrap="square" rtlCol="0">
            <a:spAutoFit/>
          </a:bodyPr>
          <a:lstStyle/>
          <a:p>
            <a:pPr algn="ctr"/>
            <a:r>
              <a:rPr lang="zh-CN" altLang="en-US" dirty="0" smtClean="0"/>
              <a:t>智能数据关联</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087479"/>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9" name="矩形 28"/>
          <p:cNvSpPr/>
          <p:nvPr/>
        </p:nvSpPr>
        <p:spPr>
          <a:xfrm>
            <a:off x="1072023" y="504334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30" name="矩形 29"/>
          <p:cNvSpPr/>
          <p:nvPr/>
        </p:nvSpPr>
        <p:spPr>
          <a:xfrm>
            <a:off x="1076943" y="439441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32" name="矩形 31"/>
          <p:cNvSpPr/>
          <p:nvPr/>
        </p:nvSpPr>
        <p:spPr>
          <a:xfrm>
            <a:off x="1076943" y="267381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33" name="矩形 32"/>
          <p:cNvSpPr/>
          <p:nvPr/>
        </p:nvSpPr>
        <p:spPr>
          <a:xfrm>
            <a:off x="1091688" y="178886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34" name="矩形 33"/>
          <p:cNvSpPr/>
          <p:nvPr/>
        </p:nvSpPr>
        <p:spPr>
          <a:xfrm>
            <a:off x="8721507" y="2678376"/>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r>
              <a:rPr lang="zh-CN" altLang="en-US" sz="1600" dirty="0"/>
              <a:t>决策结果执行</a:t>
            </a:r>
          </a:p>
          <a:p>
            <a:pPr algn="ctr"/>
            <a:r>
              <a:rPr lang="zh-CN" altLang="en-US" sz="1600" dirty="0"/>
              <a:t>事件</a:t>
            </a:r>
            <a:r>
              <a:rPr lang="zh-CN" altLang="en-US" sz="1600" dirty="0" smtClean="0"/>
              <a:t>日志</a:t>
            </a:r>
            <a:endParaRPr lang="zh-CN" altLang="en-US" sz="1600" dirty="0"/>
          </a:p>
        </p:txBody>
      </p:sp>
      <p:sp>
        <p:nvSpPr>
          <p:cNvPr id="35" name="矩形 34"/>
          <p:cNvSpPr/>
          <p:nvPr/>
        </p:nvSpPr>
        <p:spPr>
          <a:xfrm>
            <a:off x="2517366" y="1788555"/>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网络全景图、运维场景应用、故障跟踪处理、信息查询、多维分析等</a:t>
            </a:r>
            <a:endParaRPr lang="zh-CN" altLang="en-US" dirty="0"/>
          </a:p>
        </p:txBody>
      </p:sp>
      <p:sp>
        <p:nvSpPr>
          <p:cNvPr id="36" name="矩形 35"/>
          <p:cNvSpPr/>
          <p:nvPr/>
        </p:nvSpPr>
        <p:spPr>
          <a:xfrm>
            <a:off x="2517365" y="5038109"/>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37" name="矩形 36"/>
          <p:cNvSpPr/>
          <p:nvPr/>
        </p:nvSpPr>
        <p:spPr>
          <a:xfrm>
            <a:off x="2517365" y="4389187"/>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数据采集、数据处理</a:t>
            </a:r>
            <a:endParaRPr lang="zh-CN" altLang="en-US" dirty="0"/>
          </a:p>
        </p:txBody>
      </p:sp>
      <p:sp>
        <p:nvSpPr>
          <p:cNvPr id="38" name="矩形 37"/>
          <p:cNvSpPr/>
          <p:nvPr/>
        </p:nvSpPr>
        <p:spPr>
          <a:xfrm>
            <a:off x="2517365" y="2688207"/>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39" name="矩形 38"/>
          <p:cNvSpPr/>
          <p:nvPr/>
        </p:nvSpPr>
        <p:spPr>
          <a:xfrm>
            <a:off x="10260256" y="1798388"/>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40" name="矩形 39"/>
          <p:cNvSpPr/>
          <p:nvPr/>
        </p:nvSpPr>
        <p:spPr>
          <a:xfrm>
            <a:off x="2517365" y="3224067"/>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41" name="矩形 40"/>
          <p:cNvSpPr/>
          <p:nvPr/>
        </p:nvSpPr>
        <p:spPr>
          <a:xfrm>
            <a:off x="2517365" y="3804166"/>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8391525" y="28162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圆角矩形 15"/>
          <p:cNvSpPr/>
          <p:nvPr/>
        </p:nvSpPr>
        <p:spPr>
          <a:xfrm>
            <a:off x="5178425" y="281495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 name="圆角矩形 13"/>
          <p:cNvSpPr/>
          <p:nvPr/>
        </p:nvSpPr>
        <p:spPr>
          <a:xfrm>
            <a:off x="1725295" y="27908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995" y="887095"/>
            <a:ext cx="2040255" cy="521970"/>
          </a:xfrm>
          <a:prstGeom prst="rect">
            <a:avLst/>
          </a:prstGeom>
          <a:noFill/>
        </p:spPr>
        <p:txBody>
          <a:bodyPr wrap="square" rtlCol="0">
            <a:spAutoFit/>
          </a:bodyPr>
          <a:lstStyle/>
          <a:p>
            <a:r>
              <a:rPr lang="en-US" altLang="zh-CN" sz="2800" dirty="0">
                <a:solidFill>
                  <a:srgbClr val="333F50"/>
                </a:solidFill>
                <a:latin typeface="+mn-ea"/>
              </a:rPr>
              <a:t>”</a:t>
            </a:r>
            <a:r>
              <a:rPr lang="zh-CN" altLang="zh-CN" sz="2800" dirty="0">
                <a:solidFill>
                  <a:srgbClr val="333F50"/>
                </a:solidFill>
                <a:latin typeface="+mn-ea"/>
              </a:rPr>
              <a:t>三大系统</a:t>
            </a:r>
            <a:r>
              <a:rPr lang="en-US" altLang="zh-CN" sz="2800" dirty="0">
                <a:solidFill>
                  <a:srgbClr val="333F50"/>
                </a:solidFill>
                <a:latin typeface="+mn-ea"/>
              </a:rPr>
              <a:t>”</a:t>
            </a: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726565" y="1731613"/>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zh-CN" altLang="en-US" sz="4000" dirty="0"/>
              <a:t>感知系统</a:t>
            </a:r>
          </a:p>
        </p:txBody>
      </p:sp>
      <p:sp>
        <p:nvSpPr>
          <p:cNvPr id="21" name="文本框 20"/>
          <p:cNvSpPr txBox="1"/>
          <p:nvPr/>
        </p:nvSpPr>
        <p:spPr>
          <a:xfrm>
            <a:off x="5203190" y="1761412"/>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决策系统</a:t>
            </a:r>
          </a:p>
        </p:txBody>
      </p:sp>
      <p:sp>
        <p:nvSpPr>
          <p:cNvPr id="22" name="文本框 21"/>
          <p:cNvSpPr txBox="1"/>
          <p:nvPr/>
        </p:nvSpPr>
        <p:spPr>
          <a:xfrm>
            <a:off x="8366760" y="1750227"/>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控制系统</a:t>
            </a:r>
          </a:p>
        </p:txBody>
      </p:sp>
      <p:sp>
        <p:nvSpPr>
          <p:cNvPr id="2" name="文本框 1"/>
          <p:cNvSpPr txBox="1"/>
          <p:nvPr/>
        </p:nvSpPr>
        <p:spPr>
          <a:xfrm>
            <a:off x="2976245" y="3027680"/>
            <a:ext cx="55626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数</a:t>
            </a:r>
          </a:p>
          <a:p>
            <a:pPr lvl="0" algn="ctr">
              <a:lnSpc>
                <a:spcPct val="150000"/>
              </a:lnSpc>
              <a:buFont typeface="Arial" panose="020B0604020202020204" pitchFamily="34" charset="0"/>
            </a:pPr>
            <a:r>
              <a:rPr lang="zh-CN" altLang="en-US" dirty="0">
                <a:sym typeface="+mn-ea"/>
              </a:rPr>
              <a:t>据</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5" name="文本框 4"/>
          <p:cNvSpPr txBox="1"/>
          <p:nvPr/>
        </p:nvSpPr>
        <p:spPr>
          <a:xfrm>
            <a:off x="2041525" y="3018155"/>
            <a:ext cx="565785" cy="258445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indent="0" algn="ctr">
              <a:lnSpc>
                <a:spcPct val="150000"/>
              </a:lnSpc>
              <a:buFont typeface="Arial" panose="020B0604020202020204" pitchFamily="34" charset="0"/>
              <a:buNone/>
            </a:pPr>
            <a:r>
              <a:rPr lang="zh-CN" altLang="en-US" dirty="0">
                <a:sym typeface="+mn-ea"/>
              </a:rPr>
              <a:t>数</a:t>
            </a:r>
          </a:p>
          <a:p>
            <a:pPr indent="0" algn="ctr">
              <a:lnSpc>
                <a:spcPct val="150000"/>
              </a:lnSpc>
              <a:buFont typeface="Arial" panose="020B0604020202020204" pitchFamily="34" charset="0"/>
              <a:buNone/>
            </a:pPr>
            <a:r>
              <a:rPr lang="zh-CN" altLang="en-US" dirty="0">
                <a:sym typeface="+mn-ea"/>
              </a:rPr>
              <a:t>据</a:t>
            </a:r>
          </a:p>
          <a:p>
            <a:pPr indent="0" algn="ctr">
              <a:lnSpc>
                <a:spcPct val="150000"/>
              </a:lnSpc>
              <a:buFont typeface="Arial" panose="020B0604020202020204" pitchFamily="34" charset="0"/>
              <a:buNone/>
            </a:pPr>
            <a:r>
              <a:rPr lang="zh-CN" altLang="en-US" dirty="0">
                <a:sym typeface="+mn-ea"/>
              </a:rPr>
              <a:t>采</a:t>
            </a:r>
          </a:p>
          <a:p>
            <a:pPr indent="0" algn="ctr">
              <a:lnSpc>
                <a:spcPct val="150000"/>
              </a:lnSpc>
              <a:buFont typeface="Arial" panose="020B0604020202020204" pitchFamily="34" charset="0"/>
              <a:buNone/>
            </a:pPr>
            <a:r>
              <a:rPr lang="zh-CN" altLang="en-US" dirty="0">
                <a:sym typeface="+mn-ea"/>
              </a:rPr>
              <a:t>集</a:t>
            </a:r>
          </a:p>
          <a:p>
            <a:pPr indent="0" algn="ctr">
              <a:lnSpc>
                <a:spcPct val="150000"/>
              </a:lnSpc>
              <a:buFont typeface="Arial" panose="020B0604020202020204" pitchFamily="34" charset="0"/>
              <a:buNone/>
            </a:pPr>
            <a:r>
              <a:rPr lang="zh-CN" altLang="en-US" dirty="0">
                <a:sym typeface="+mn-ea"/>
              </a:rPr>
              <a:t>模</a:t>
            </a:r>
          </a:p>
          <a:p>
            <a:pPr indent="0" algn="ctr">
              <a:lnSpc>
                <a:spcPct val="150000"/>
              </a:lnSpc>
              <a:buFont typeface="Arial" panose="020B0604020202020204" pitchFamily="34" charset="0"/>
              <a:buNone/>
            </a:pPr>
            <a:r>
              <a:rPr lang="zh-CN" altLang="en-US" dirty="0">
                <a:sym typeface="+mn-ea"/>
              </a:rPr>
              <a:t>块</a:t>
            </a:r>
            <a:endParaRPr lang="zh-CN" altLang="en-US"/>
          </a:p>
        </p:txBody>
      </p:sp>
      <p:sp>
        <p:nvSpPr>
          <p:cNvPr id="9" name="文本框 8"/>
          <p:cNvSpPr txBox="1"/>
          <p:nvPr/>
        </p:nvSpPr>
        <p:spPr>
          <a:xfrm>
            <a:off x="5467350" y="307340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智</a:t>
            </a:r>
          </a:p>
          <a:p>
            <a:pPr lvl="0" algn="ctr">
              <a:lnSpc>
                <a:spcPct val="150000"/>
              </a:lnSpc>
              <a:buFont typeface="Arial" panose="020B0604020202020204" pitchFamily="34" charset="0"/>
            </a:pPr>
            <a:r>
              <a:rPr lang="zh-CN" altLang="en-US" dirty="0">
                <a:sym typeface="+mn-ea"/>
              </a:rPr>
              <a:t>能</a:t>
            </a:r>
          </a:p>
          <a:p>
            <a:pPr lvl="0" algn="ctr">
              <a:lnSpc>
                <a:spcPct val="150000"/>
              </a:lnSpc>
              <a:buFont typeface="Arial" panose="020B0604020202020204" pitchFamily="34" charset="0"/>
            </a:pPr>
            <a:r>
              <a:rPr lang="zh-CN" altLang="en-US" dirty="0">
                <a:sym typeface="+mn-ea"/>
              </a:rPr>
              <a:t>分</a:t>
            </a:r>
          </a:p>
          <a:p>
            <a:pPr lvl="0" algn="ctr">
              <a:lnSpc>
                <a:spcPct val="150000"/>
              </a:lnSpc>
              <a:buFont typeface="Arial" panose="020B0604020202020204" pitchFamily="34" charset="0"/>
            </a:pPr>
            <a:r>
              <a:rPr lang="zh-CN" altLang="en-US" dirty="0">
                <a:sym typeface="+mn-ea"/>
              </a:rPr>
              <a:t>析</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0" name="文本框 9"/>
          <p:cNvSpPr txBox="1"/>
          <p:nvPr/>
        </p:nvSpPr>
        <p:spPr>
          <a:xfrm>
            <a:off x="6390640" y="3076575"/>
            <a:ext cx="6756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自</a:t>
            </a:r>
          </a:p>
          <a:p>
            <a:pPr lvl="0" algn="ctr">
              <a:lnSpc>
                <a:spcPct val="150000"/>
              </a:lnSpc>
              <a:buFont typeface="Arial" panose="020B0604020202020204" pitchFamily="34" charset="0"/>
            </a:pPr>
            <a:r>
              <a:rPr lang="zh-CN" altLang="en-US" dirty="0">
                <a:sym typeface="+mn-ea"/>
              </a:rPr>
              <a:t>主</a:t>
            </a:r>
          </a:p>
          <a:p>
            <a:pPr lvl="0" algn="ctr">
              <a:lnSpc>
                <a:spcPct val="150000"/>
              </a:lnSpc>
              <a:buFont typeface="Arial" panose="020B0604020202020204" pitchFamily="34" charset="0"/>
            </a:pPr>
            <a:r>
              <a:rPr lang="zh-CN" altLang="en-US" dirty="0">
                <a:sym typeface="+mn-ea"/>
              </a:rPr>
              <a:t>学</a:t>
            </a:r>
          </a:p>
          <a:p>
            <a:pPr lvl="0" algn="ctr">
              <a:lnSpc>
                <a:spcPct val="150000"/>
              </a:lnSpc>
              <a:buFont typeface="Arial" panose="020B0604020202020204" pitchFamily="34" charset="0"/>
            </a:pPr>
            <a:r>
              <a:rPr lang="zh-CN" altLang="en-US" dirty="0">
                <a:sym typeface="+mn-ea"/>
              </a:rPr>
              <a:t>习</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1" name="文本框 10"/>
          <p:cNvSpPr txBox="1"/>
          <p:nvPr/>
        </p:nvSpPr>
        <p:spPr>
          <a:xfrm>
            <a:off x="8674735" y="3068955"/>
            <a:ext cx="6629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流</a:t>
            </a:r>
          </a:p>
          <a:p>
            <a:pPr lvl="0" algn="ctr">
              <a:lnSpc>
                <a:spcPct val="150000"/>
              </a:lnSpc>
              <a:buFont typeface="Arial" panose="020B0604020202020204" pitchFamily="34" charset="0"/>
            </a:pPr>
            <a:r>
              <a:rPr lang="zh-CN" altLang="en-US" dirty="0">
                <a:sym typeface="+mn-ea"/>
              </a:rPr>
              <a:t>程</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2" name="文本框 11"/>
          <p:cNvSpPr txBox="1"/>
          <p:nvPr/>
        </p:nvSpPr>
        <p:spPr>
          <a:xfrm>
            <a:off x="9614535" y="306959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信</a:t>
            </a:r>
          </a:p>
          <a:p>
            <a:pPr lvl="0" algn="ctr">
              <a:lnSpc>
                <a:spcPct val="150000"/>
              </a:lnSpc>
              <a:buFont typeface="Arial" panose="020B0604020202020204" pitchFamily="34" charset="0"/>
            </a:pPr>
            <a:r>
              <a:rPr lang="zh-CN" altLang="en-US" dirty="0">
                <a:sym typeface="+mn-ea"/>
              </a:rPr>
              <a:t>息</a:t>
            </a:r>
          </a:p>
          <a:p>
            <a:pPr lvl="0" algn="ctr">
              <a:lnSpc>
                <a:spcPct val="150000"/>
              </a:lnSpc>
              <a:buFont typeface="Arial" panose="020B0604020202020204" pitchFamily="34" charset="0"/>
            </a:pPr>
            <a:r>
              <a:rPr lang="zh-CN" altLang="en-US" dirty="0">
                <a:sym typeface="+mn-ea"/>
              </a:rPr>
              <a:t>通</a:t>
            </a:r>
          </a:p>
          <a:p>
            <a:pPr lvl="0" algn="ctr">
              <a:lnSpc>
                <a:spcPct val="150000"/>
              </a:lnSpc>
              <a:buFont typeface="Arial" panose="020B0604020202020204" pitchFamily="34" charset="0"/>
            </a:pPr>
            <a:r>
              <a:rPr lang="zh-CN" altLang="en-US" dirty="0">
                <a:sym typeface="+mn-ea"/>
              </a:rPr>
              <a:t>报</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Tree>
    <p:extLst>
      <p:ext uri="{BB962C8B-B14F-4D97-AF65-F5344CB8AC3E}">
        <p14:creationId xmlns:p14="http://schemas.microsoft.com/office/powerpoint/2010/main" val="1465741443"/>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070901" y="894080"/>
            <a:ext cx="3450077" cy="5107305"/>
          </a:xfrm>
          <a:prstGeom prst="roundRect">
            <a:avLst/>
          </a:prstGeom>
          <a:ln w="38100">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57250"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5774" y="646483"/>
            <a:ext cx="1169292" cy="369332"/>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sp>
        <p:nvSpPr>
          <p:cNvPr id="10" name="文本框 9"/>
          <p:cNvSpPr txBox="1"/>
          <p:nvPr/>
        </p:nvSpPr>
        <p:spPr>
          <a:xfrm>
            <a:off x="42076" y="3116558"/>
            <a:ext cx="1325880" cy="645160"/>
          </a:xfrm>
          <a:prstGeom prst="rect">
            <a:avLst/>
          </a:prstGeom>
          <a:noFill/>
        </p:spPr>
        <p:txBody>
          <a:bodyPr wrap="none" rtlCol="0">
            <a:spAutoFit/>
          </a:bodyPr>
          <a:lstStyle/>
          <a:p>
            <a:r>
              <a:rPr lang="zh-CN" altLang="en-US" dirty="0"/>
              <a:t>感知对象：</a:t>
            </a:r>
          </a:p>
          <a:p>
            <a:r>
              <a:rPr lang="zh-CN" altLang="en-US" dirty="0"/>
              <a:t>各类数据源</a:t>
            </a:r>
          </a:p>
        </p:txBody>
      </p:sp>
      <p:sp>
        <p:nvSpPr>
          <p:cNvPr id="11" name="KSO_Shape"/>
          <p:cNvSpPr/>
          <p:nvPr/>
        </p:nvSpPr>
        <p:spPr bwMode="auto">
          <a:xfrm>
            <a:off x="2264576" y="1171553"/>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3300261" y="1341733"/>
            <a:ext cx="1097280" cy="368300"/>
          </a:xfrm>
          <a:prstGeom prst="rect">
            <a:avLst/>
          </a:prstGeom>
          <a:noFill/>
        </p:spPr>
        <p:txBody>
          <a:bodyPr wrap="none" rtlCol="0">
            <a:spAutoFit/>
          </a:bodyPr>
          <a:lstStyle/>
          <a:p>
            <a:r>
              <a:rPr lang="zh-CN" altLang="en-US" dirty="0"/>
              <a:t>用户数据</a:t>
            </a:r>
          </a:p>
        </p:txBody>
      </p:sp>
      <p:pic>
        <p:nvPicPr>
          <p:cNvPr id="13" name="图片 12" descr="business_Card_47.481081081081px_1197727_easyicon.net"/>
          <p:cNvPicPr>
            <a:picLocks noChangeAspect="1"/>
          </p:cNvPicPr>
          <p:nvPr/>
        </p:nvPicPr>
        <p:blipFill>
          <a:blip r:embed="rId3"/>
          <a:stretch>
            <a:fillRect/>
          </a:stretch>
        </p:blipFill>
        <p:spPr>
          <a:xfrm>
            <a:off x="2335696" y="2242163"/>
            <a:ext cx="782955" cy="799465"/>
          </a:xfrm>
          <a:prstGeom prst="rect">
            <a:avLst/>
          </a:prstGeom>
        </p:spPr>
      </p:pic>
      <p:sp>
        <p:nvSpPr>
          <p:cNvPr id="14" name="文本框 13"/>
          <p:cNvSpPr txBox="1"/>
          <p:nvPr/>
        </p:nvSpPr>
        <p:spPr>
          <a:xfrm>
            <a:off x="3300261" y="2458063"/>
            <a:ext cx="1097280" cy="36830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2223936" y="4738348"/>
            <a:ext cx="1005840" cy="967740"/>
          </a:xfrm>
          <a:prstGeom prst="rect">
            <a:avLst/>
          </a:prstGeom>
        </p:spPr>
      </p:pic>
      <p:sp>
        <p:nvSpPr>
          <p:cNvPr id="16" name="文本框 15"/>
          <p:cNvSpPr txBox="1"/>
          <p:nvPr/>
        </p:nvSpPr>
        <p:spPr>
          <a:xfrm>
            <a:off x="3300261" y="4922498"/>
            <a:ext cx="1097280" cy="36830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2239811" y="3402308"/>
            <a:ext cx="975360" cy="975360"/>
          </a:xfrm>
          <a:prstGeom prst="rect">
            <a:avLst/>
          </a:prstGeom>
        </p:spPr>
      </p:pic>
      <p:sp>
        <p:nvSpPr>
          <p:cNvPr id="19" name="文本框 18"/>
          <p:cNvSpPr txBox="1"/>
          <p:nvPr/>
        </p:nvSpPr>
        <p:spPr>
          <a:xfrm>
            <a:off x="3300261" y="3705838"/>
            <a:ext cx="1097280" cy="368300"/>
          </a:xfrm>
          <a:prstGeom prst="rect">
            <a:avLst/>
          </a:prstGeom>
          <a:noFill/>
        </p:spPr>
        <p:txBody>
          <a:bodyPr wrap="none" rtlCol="0">
            <a:spAutoFit/>
          </a:bodyPr>
          <a:lstStyle/>
          <a:p>
            <a:r>
              <a:rPr lang="zh-CN" altLang="en-US" dirty="0"/>
              <a:t>网络数据</a:t>
            </a:r>
          </a:p>
        </p:txBody>
      </p:sp>
      <p:sp>
        <p:nvSpPr>
          <p:cNvPr id="20" name="左大括号 19"/>
          <p:cNvSpPr/>
          <p:nvPr/>
        </p:nvSpPr>
        <p:spPr>
          <a:xfrm>
            <a:off x="1432726" y="1171553"/>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p:cNvSpPr txBox="1"/>
          <p:nvPr/>
        </p:nvSpPr>
        <p:spPr>
          <a:xfrm>
            <a:off x="3485681" y="610213"/>
            <a:ext cx="1783080" cy="645160"/>
          </a:xfrm>
          <a:prstGeom prst="rect">
            <a:avLst/>
          </a:prstGeom>
          <a:solidFill>
            <a:schemeClr val="accent5">
              <a:lumMod val="40000"/>
              <a:lumOff val="60000"/>
            </a:schemeClr>
          </a:solidFill>
        </p:spPr>
        <p:txBody>
          <a:bodyPr wrap="none" rtlCol="0">
            <a:spAutoFit/>
          </a:bodyPr>
          <a:lstStyle/>
          <a:p>
            <a:r>
              <a:rPr lang="zh-CN" altLang="en-US" dirty="0"/>
              <a:t>感知渠道：</a:t>
            </a:r>
          </a:p>
          <a:p>
            <a:r>
              <a:rPr lang="zh-CN" altLang="en-US" dirty="0"/>
              <a:t>丰富的数据接口</a:t>
            </a:r>
          </a:p>
        </p:txBody>
      </p:sp>
      <p:sp>
        <p:nvSpPr>
          <p:cNvPr id="27" name="文本框 26"/>
          <p:cNvSpPr txBox="1"/>
          <p:nvPr/>
        </p:nvSpPr>
        <p:spPr>
          <a:xfrm>
            <a:off x="10952368" y="3633199"/>
            <a:ext cx="1107996" cy="369332"/>
          </a:xfrm>
          <a:prstGeom prst="rect">
            <a:avLst/>
          </a:prstGeom>
          <a:noFill/>
        </p:spPr>
        <p:txBody>
          <a:bodyPr wrap="none" rtlCol="0">
            <a:spAutoFit/>
          </a:bodyPr>
          <a:lstStyle/>
          <a:p>
            <a:r>
              <a:rPr lang="zh-CN" altLang="en-US" dirty="0" smtClean="0"/>
              <a:t>数据仓库</a:t>
            </a:r>
            <a:endParaRPr lang="zh-CN" altLang="en-US" dirty="0"/>
          </a:p>
        </p:txBody>
      </p:sp>
      <p:pic>
        <p:nvPicPr>
          <p:cNvPr id="28" name="图片 27" descr="STORAGE_135.26977687627px_1199104_easyicon.net"/>
          <p:cNvPicPr>
            <a:picLocks noChangeAspect="1"/>
          </p:cNvPicPr>
          <p:nvPr/>
        </p:nvPicPr>
        <p:blipFill>
          <a:blip r:embed="rId6"/>
          <a:stretch>
            <a:fillRect/>
          </a:stretch>
        </p:blipFill>
        <p:spPr>
          <a:xfrm>
            <a:off x="10818026" y="2237718"/>
            <a:ext cx="1376680" cy="1305560"/>
          </a:xfrm>
          <a:prstGeom prst="rect">
            <a:avLst/>
          </a:prstGeom>
        </p:spPr>
      </p:pic>
      <p:sp>
        <p:nvSpPr>
          <p:cNvPr id="29" name="燕尾形箭头 28"/>
          <p:cNvSpPr/>
          <p:nvPr/>
        </p:nvSpPr>
        <p:spPr>
          <a:xfrm>
            <a:off x="8105941" y="2720318"/>
            <a:ext cx="271208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7" name="燕尾形箭头 116"/>
          <p:cNvSpPr/>
          <p:nvPr/>
        </p:nvSpPr>
        <p:spPr>
          <a:xfrm>
            <a:off x="5530046" y="2784224"/>
            <a:ext cx="6286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2453171"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8521815" y="6041296"/>
            <a:ext cx="1569660" cy="369332"/>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数据</a:t>
            </a:r>
            <a:r>
              <a:rPr lang="zh-CN" altLang="en-US" b="1" dirty="0">
                <a:solidFill>
                  <a:schemeClr val="accent1"/>
                </a:solidFill>
                <a:effectLst>
                  <a:outerShdw blurRad="38100" dist="25400" dir="5400000" algn="ctr" rotWithShape="0">
                    <a:srgbClr val="6E747A">
                      <a:alpha val="43000"/>
                    </a:srgbClr>
                  </a:outerShdw>
                </a:effectLst>
              </a:rPr>
              <a:t>处理</a:t>
            </a:r>
            <a:r>
              <a:rPr lang="zh-CN" altLang="en-US" b="1" dirty="0" smtClean="0">
                <a:solidFill>
                  <a:schemeClr val="accent1"/>
                </a:solidFill>
                <a:effectLst>
                  <a:outerShdw blurRad="38100" dist="25400" dir="5400000" algn="ctr" rotWithShape="0">
                    <a:srgbClr val="6E747A">
                      <a:alpha val="43000"/>
                    </a:srgbClr>
                  </a:outerShdw>
                </a:effectLst>
              </a:rPr>
              <a:t>模块</a:t>
            </a:r>
            <a:endParaRPr lang="zh-CN" altLang="en-US" b="1" dirty="0">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181845" y="2084547"/>
            <a:ext cx="1869493" cy="162129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8" name="矩形 17"/>
          <p:cNvSpPr/>
          <p:nvPr/>
        </p:nvSpPr>
        <p:spPr>
          <a:xfrm>
            <a:off x="6345420" y="298935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35794" y="224981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678694" y="224980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022884" y="224980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362434" y="225392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711138" y="225186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335794" y="2610893"/>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345420"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69834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706089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4581"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022884"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363851" y="2989357"/>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6698343"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448246" y="1099053"/>
            <a:ext cx="1870605" cy="163248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68" name="矩形 67"/>
          <p:cNvSpPr/>
          <p:nvPr/>
        </p:nvSpPr>
        <p:spPr>
          <a:xfrm>
            <a:off x="8602195" y="126431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45095" y="126431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9289285" y="1254371"/>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9631010" y="1264315"/>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9972735" y="125577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8618238" y="1620383"/>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8961138" y="1620382"/>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9305328" y="1610437"/>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9647053" y="1620381"/>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9988778" y="1611841"/>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8605418" y="200245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948318" y="200244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9292508" y="1992504"/>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9634233" y="200244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9975958" y="1993908"/>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605418" y="235585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8948318" y="235585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9292508" y="234591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9634233" y="2355856"/>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9975958" y="2347316"/>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6524433" y="3862634"/>
            <a:ext cx="1054041" cy="338554"/>
          </a:xfrm>
          <a:prstGeom prst="rect">
            <a:avLst/>
          </a:prstGeom>
          <a:noFill/>
        </p:spPr>
        <p:txBody>
          <a:bodyPr wrap="square" rtlCol="0">
            <a:spAutoFit/>
          </a:bodyPr>
          <a:lstStyle/>
          <a:p>
            <a:r>
              <a:rPr lang="zh-CN" altLang="en-US" sz="1600" dirty="0" smtClean="0"/>
              <a:t>数据解码</a:t>
            </a:r>
            <a:endParaRPr lang="zh-CN" altLang="en-US" sz="1600" dirty="0"/>
          </a:p>
        </p:txBody>
      </p:sp>
      <p:sp>
        <p:nvSpPr>
          <p:cNvPr id="97" name="文本框 96"/>
          <p:cNvSpPr txBox="1"/>
          <p:nvPr/>
        </p:nvSpPr>
        <p:spPr>
          <a:xfrm>
            <a:off x="8861641" y="3100981"/>
            <a:ext cx="1201787" cy="338554"/>
          </a:xfrm>
          <a:prstGeom prst="rect">
            <a:avLst/>
          </a:prstGeom>
          <a:noFill/>
        </p:spPr>
        <p:txBody>
          <a:bodyPr wrap="square" rtlCol="0">
            <a:spAutoFit/>
          </a:bodyPr>
          <a:lstStyle/>
          <a:p>
            <a:r>
              <a:rPr lang="zh-CN" altLang="en-US" sz="1600" dirty="0" smtClean="0"/>
              <a:t>数据结构化</a:t>
            </a:r>
            <a:endParaRPr lang="zh-CN" altLang="en-US" sz="1600" dirty="0"/>
          </a:p>
        </p:txBody>
      </p:sp>
      <p:pic>
        <p:nvPicPr>
          <p:cNvPr id="98" name="Picture 2"/>
          <p:cNvPicPr>
            <a:picLocks noChangeAspect="1" noChangeArrowheads="1"/>
          </p:cNvPicPr>
          <p:nvPr/>
        </p:nvPicPr>
        <p:blipFill>
          <a:blip r:embed="rId7" cstate="print"/>
          <a:srcRect/>
          <a:stretch>
            <a:fillRect/>
          </a:stretch>
        </p:blipFill>
        <p:spPr bwMode="auto">
          <a:xfrm>
            <a:off x="4690855" y="2610892"/>
            <a:ext cx="785640" cy="874917"/>
          </a:xfrm>
          <a:prstGeom prst="rect">
            <a:avLst/>
          </a:prstGeom>
          <a:noFill/>
          <a:ln w="9525">
            <a:noFill/>
            <a:miter lim="800000"/>
            <a:headEnd/>
            <a:tailEnd/>
          </a:ln>
        </p:spPr>
      </p:pic>
      <p:cxnSp>
        <p:nvCxnSpPr>
          <p:cNvPr id="100" name="肘形连接符 99"/>
          <p:cNvCxnSpPr>
            <a:stCxn id="12" idx="1"/>
            <a:endCxn id="98" idx="1"/>
          </p:cNvCxnSpPr>
          <p:nvPr/>
        </p:nvCxnSpPr>
        <p:spPr>
          <a:xfrm rot="10800000" flipH="1" flipV="1">
            <a:off x="3300261" y="1525883"/>
            <a:ext cx="1390594" cy="1522468"/>
          </a:xfrm>
          <a:prstGeom prst="bentConnector3">
            <a:avLst>
              <a:gd name="adj1" fmla="val 294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13" idx="3"/>
          </p:cNvCxnSpPr>
          <p:nvPr/>
        </p:nvCxnSpPr>
        <p:spPr>
          <a:xfrm>
            <a:off x="3118651" y="2641896"/>
            <a:ext cx="1562578" cy="423656"/>
          </a:xfrm>
          <a:prstGeom prst="bentConnector3">
            <a:avLst>
              <a:gd name="adj1" fmla="val 148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肘形连接符 106"/>
          <p:cNvCxnSpPr>
            <a:stCxn id="17" idx="3"/>
            <a:endCxn id="98" idx="1"/>
          </p:cNvCxnSpPr>
          <p:nvPr/>
        </p:nvCxnSpPr>
        <p:spPr>
          <a:xfrm flipV="1">
            <a:off x="3215171" y="3048351"/>
            <a:ext cx="1475684" cy="841637"/>
          </a:xfrm>
          <a:prstGeom prst="bentConnector3">
            <a:avLst>
              <a:gd name="adj1" fmla="val 956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5" idx="3"/>
            <a:endCxn id="98" idx="1"/>
          </p:cNvCxnSpPr>
          <p:nvPr/>
        </p:nvCxnSpPr>
        <p:spPr>
          <a:xfrm flipV="1">
            <a:off x="3229776" y="3048351"/>
            <a:ext cx="1461079" cy="2173867"/>
          </a:xfrm>
          <a:prstGeom prst="bentConnector3">
            <a:avLst>
              <a:gd name="adj1" fmla="val 849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8" name="椭圆 117"/>
          <p:cNvSpPr/>
          <p:nvPr/>
        </p:nvSpPr>
        <p:spPr>
          <a:xfrm>
            <a:off x="3708571" y="278165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平行四边形 118"/>
          <p:cNvSpPr/>
          <p:nvPr/>
        </p:nvSpPr>
        <p:spPr>
          <a:xfrm>
            <a:off x="3682867" y="4088743"/>
            <a:ext cx="258084" cy="184150"/>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等腰三角形 119"/>
          <p:cNvSpPr/>
          <p:nvPr/>
        </p:nvSpPr>
        <p:spPr>
          <a:xfrm>
            <a:off x="3668399" y="1708436"/>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正五边形 120"/>
          <p:cNvSpPr/>
          <p:nvPr/>
        </p:nvSpPr>
        <p:spPr>
          <a:xfrm>
            <a:off x="3671635" y="5346888"/>
            <a:ext cx="280547" cy="266700"/>
          </a:xfrm>
          <a:prstGeom prst="pentagon">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圆角矩形 122"/>
          <p:cNvSpPr/>
          <p:nvPr/>
        </p:nvSpPr>
        <p:spPr>
          <a:xfrm>
            <a:off x="6161402" y="894080"/>
            <a:ext cx="6030598" cy="5107304"/>
          </a:xfrm>
          <a:prstGeom prst="roundRect">
            <a:avLst/>
          </a:prstGeom>
          <a:noFill/>
          <a:ln w="38100" cap="flat" cmpd="sng" algn="ctr">
            <a:solidFill>
              <a:srgbClr val="D71DCA"/>
            </a:solidFill>
            <a:prstDash val="dash"/>
            <a:round/>
            <a:headEnd type="none" w="med" len="med"/>
            <a:tailEnd type="none" w="med" len="med"/>
          </a:ln>
          <a:extLst/>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4" name="文本框 123"/>
          <p:cNvSpPr txBox="1"/>
          <p:nvPr/>
        </p:nvSpPr>
        <p:spPr>
          <a:xfrm>
            <a:off x="4533848" y="3515753"/>
            <a:ext cx="902811" cy="307777"/>
          </a:xfrm>
          <a:prstGeom prst="rect">
            <a:avLst/>
          </a:prstGeom>
          <a:noFill/>
        </p:spPr>
        <p:txBody>
          <a:bodyPr wrap="none" rtlCol="0">
            <a:spAutoFit/>
          </a:bodyPr>
          <a:lstStyle/>
          <a:p>
            <a:r>
              <a:rPr lang="zh-CN" altLang="en-US" sz="1400" dirty="0" smtClean="0"/>
              <a:t>采集工具</a:t>
            </a:r>
            <a:endParaRPr lang="zh-CN" altLang="en-US" sz="1400" dirty="0"/>
          </a:p>
        </p:txBody>
      </p:sp>
      <p:sp>
        <p:nvSpPr>
          <p:cNvPr id="125" name="文本框 124"/>
          <p:cNvSpPr txBox="1"/>
          <p:nvPr/>
        </p:nvSpPr>
        <p:spPr>
          <a:xfrm>
            <a:off x="6052623" y="647670"/>
            <a:ext cx="1800493" cy="646331"/>
          </a:xfrm>
          <a:prstGeom prst="rect">
            <a:avLst/>
          </a:prstGeom>
          <a:solidFill>
            <a:schemeClr val="accent5">
              <a:lumMod val="40000"/>
              <a:lumOff val="60000"/>
            </a:schemeClr>
          </a:solidFill>
        </p:spPr>
        <p:txBody>
          <a:bodyPr wrap="none" rtlCol="0">
            <a:spAutoFit/>
          </a:bodyPr>
          <a:lstStyle/>
          <a:p>
            <a:r>
              <a:rPr lang="zh-CN" altLang="en-US" dirty="0" smtClean="0"/>
              <a:t>感知</a:t>
            </a:r>
            <a:r>
              <a:rPr lang="zh-CN" altLang="en-US" dirty="0"/>
              <a:t>结果</a:t>
            </a:r>
            <a:r>
              <a:rPr lang="zh-CN" altLang="en-US" dirty="0" smtClean="0"/>
              <a:t>：</a:t>
            </a:r>
            <a:endParaRPr lang="zh-CN" altLang="en-US" dirty="0"/>
          </a:p>
          <a:p>
            <a:r>
              <a:rPr lang="zh-CN" altLang="en-US" dirty="0" smtClean="0"/>
              <a:t>统一结构化数据</a:t>
            </a:r>
            <a:endParaRPr lang="zh-CN" altLang="en-US" dirty="0"/>
          </a:p>
        </p:txBody>
      </p:sp>
      <p:pic>
        <p:nvPicPr>
          <p:cNvPr id="126" name="图片 125" descr="model_vrml_72px_1078125_easyicon.net"/>
          <p:cNvPicPr>
            <a:picLocks noChangeAspect="1"/>
          </p:cNvPicPr>
          <p:nvPr/>
        </p:nvPicPr>
        <p:blipFill>
          <a:blip r:embed="rId8"/>
          <a:stretch>
            <a:fillRect/>
          </a:stretch>
        </p:blipFill>
        <p:spPr>
          <a:xfrm>
            <a:off x="8961138" y="4081290"/>
            <a:ext cx="914400" cy="914400"/>
          </a:xfrm>
          <a:prstGeom prst="rect">
            <a:avLst/>
          </a:prstGeom>
        </p:spPr>
      </p:pic>
      <p:sp>
        <p:nvSpPr>
          <p:cNvPr id="127" name="文本框 126"/>
          <p:cNvSpPr txBox="1"/>
          <p:nvPr/>
        </p:nvSpPr>
        <p:spPr>
          <a:xfrm>
            <a:off x="8406514" y="5182837"/>
            <a:ext cx="2031325" cy="369332"/>
          </a:xfrm>
          <a:prstGeom prst="rect">
            <a:avLst/>
          </a:prstGeom>
          <a:noFill/>
        </p:spPr>
        <p:txBody>
          <a:bodyPr wrap="none" rtlCol="0">
            <a:spAutoFit/>
          </a:bodyPr>
          <a:lstStyle/>
          <a:p>
            <a:r>
              <a:rPr lang="zh-CN" altLang="en-US" dirty="0" smtClean="0"/>
              <a:t>经验模型、算法库</a:t>
            </a:r>
            <a:endParaRPr lang="zh-CN" altLang="en-US" dirty="0"/>
          </a:p>
        </p:txBody>
      </p:sp>
      <p:sp>
        <p:nvSpPr>
          <p:cNvPr id="128" name="直角上箭头 127"/>
          <p:cNvSpPr/>
          <p:nvPr/>
        </p:nvSpPr>
        <p:spPr>
          <a:xfrm>
            <a:off x="10363939" y="3916202"/>
            <a:ext cx="1430464" cy="1474344"/>
          </a:xfrm>
          <a:prstGeom prst="bentUpArrow">
            <a:avLst>
              <a:gd name="adj1" fmla="val 15678"/>
              <a:gd name="adj2" fmla="val 25000"/>
              <a:gd name="adj3" fmla="val 35654"/>
            </a:avLst>
          </a:prstGeom>
          <a:solidFill>
            <a:srgbClr val="323F4F"/>
          </a:solidFill>
          <a:ln>
            <a:solidFill>
              <a:srgbClr val="323F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arn(inVertical)">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barn(inVertical)">
                                      <p:cBhvr>
                                        <p:cTn id="41" dur="500"/>
                                        <p:tgtEl>
                                          <p:spTgt spid="100"/>
                                        </p:tgtEl>
                                      </p:cBhvr>
                                    </p:animEffect>
                                  </p:childTnLst>
                                </p:cTn>
                              </p:par>
                              <p:par>
                                <p:cTn id="42" presetID="16" presetClass="entr" presetSubtype="21" fill="hold" nodeType="withEffect">
                                  <p:stCondLst>
                                    <p:cond delay="0"/>
                                  </p:stCondLst>
                                  <p:childTnLst>
                                    <p:set>
                                      <p:cBhvr>
                                        <p:cTn id="43" dur="1" fill="hold">
                                          <p:stCondLst>
                                            <p:cond delay="0"/>
                                          </p:stCondLst>
                                        </p:cTn>
                                        <p:tgtEl>
                                          <p:spTgt spid="104"/>
                                        </p:tgtEl>
                                        <p:attrNameLst>
                                          <p:attrName>style.visibility</p:attrName>
                                        </p:attrNameLst>
                                      </p:cBhvr>
                                      <p:to>
                                        <p:strVal val="visible"/>
                                      </p:to>
                                    </p:set>
                                    <p:animEffect transition="in" filter="barn(inVertical)">
                                      <p:cBhvr>
                                        <p:cTn id="44" dur="500"/>
                                        <p:tgtEl>
                                          <p:spTgt spid="104"/>
                                        </p:tgtEl>
                                      </p:cBhvr>
                                    </p:animEffect>
                                  </p:childTnLst>
                                </p:cTn>
                              </p:par>
                              <p:par>
                                <p:cTn id="45" presetID="16" presetClass="entr" presetSubtype="21" fill="hold" nodeType="with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arn(inVertical)">
                                      <p:cBhvr>
                                        <p:cTn id="47" dur="500"/>
                                        <p:tgtEl>
                                          <p:spTgt spid="109"/>
                                        </p:tgtEl>
                                      </p:cBhvr>
                                    </p:animEffect>
                                  </p:childTnLst>
                                </p:cTn>
                              </p:par>
                              <p:par>
                                <p:cTn id="48" presetID="16" presetClass="entr" presetSubtype="21" fill="hold" nodeType="with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barn(inVertical)">
                                      <p:cBhvr>
                                        <p:cTn id="50" dur="500"/>
                                        <p:tgtEl>
                                          <p:spTgt spid="107"/>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barn(inVertical)">
                                      <p:cBhvr>
                                        <p:cTn id="53" dur="500"/>
                                        <p:tgtEl>
                                          <p:spTgt spid="120"/>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arn(inVertical)">
                                      <p:cBhvr>
                                        <p:cTn id="56" dur="500"/>
                                        <p:tgtEl>
                                          <p:spTgt spid="11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arn(inVertical)">
                                      <p:cBhvr>
                                        <p:cTn id="59" dur="500"/>
                                        <p:tgtEl>
                                          <p:spTgt spid="11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21"/>
                                        </p:tgtEl>
                                        <p:attrNameLst>
                                          <p:attrName>style.visibility</p:attrName>
                                        </p:attrNameLst>
                                      </p:cBhvr>
                                      <p:to>
                                        <p:strVal val="visible"/>
                                      </p:to>
                                    </p:set>
                                    <p:animEffect transition="in" filter="barn(inVertical)">
                                      <p:cBhvr>
                                        <p:cTn id="62" dur="500"/>
                                        <p:tgtEl>
                                          <p:spTgt spid="121"/>
                                        </p:tgtEl>
                                      </p:cBhvr>
                                    </p:animEffect>
                                  </p:childTnLst>
                                </p:cTn>
                              </p:par>
                              <p:par>
                                <p:cTn id="63" presetID="16" presetClass="entr" presetSubtype="21"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barn(inVertical)">
                                      <p:cBhvr>
                                        <p:cTn id="65" dur="500"/>
                                        <p:tgtEl>
                                          <p:spTgt spid="9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24"/>
                                        </p:tgtEl>
                                        <p:attrNameLst>
                                          <p:attrName>style.visibility</p:attrName>
                                        </p:attrNameLst>
                                      </p:cBhvr>
                                      <p:to>
                                        <p:strVal val="visible"/>
                                      </p:to>
                                    </p:set>
                                    <p:animEffect transition="in" filter="barn(inVertical)">
                                      <p:cBhvr>
                                        <p:cTn id="68" dur="500"/>
                                        <p:tgtEl>
                                          <p:spTgt spid="12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inVertical)">
                                      <p:cBhvr>
                                        <p:cTn id="76" dur="500"/>
                                        <p:tgtEl>
                                          <p:spTgt spid="25"/>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wipe(down)">
                                      <p:cBhvr>
                                        <p:cTn id="84" dur="500"/>
                                        <p:tgtEl>
                                          <p:spTgt spid="11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wipe(down)">
                                      <p:cBhvr>
                                        <p:cTn id="93" dur="500"/>
                                        <p:tgtEl>
                                          <p:spTgt spid="5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down)">
                                      <p:cBhvr>
                                        <p:cTn id="96" dur="500"/>
                                        <p:tgtEl>
                                          <p:spTgt spid="1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down)">
                                      <p:cBhvr>
                                        <p:cTn id="99" dur="500"/>
                                        <p:tgtEl>
                                          <p:spTgt spid="62"/>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down)">
                                      <p:cBhvr>
                                        <p:cTn id="102" dur="500"/>
                                        <p:tgtEl>
                                          <p:spTgt spid="6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wipe(down)">
                                      <p:cBhvr>
                                        <p:cTn id="105" dur="500"/>
                                        <p:tgtEl>
                                          <p:spTgt spid="6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500"/>
                                        <p:tgtEl>
                                          <p:spTgt spid="6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down)">
                                      <p:cBhvr>
                                        <p:cTn id="111" dur="500"/>
                                        <p:tgtEl>
                                          <p:spTgt spid="6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down)">
                                      <p:cBhvr>
                                        <p:cTn id="114" dur="500"/>
                                        <p:tgtEl>
                                          <p:spTgt spid="56"/>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wipe(down)">
                                      <p:cBhvr>
                                        <p:cTn id="117" dur="500"/>
                                        <p:tgtEl>
                                          <p:spTgt spid="5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wipe(down)">
                                      <p:cBhvr>
                                        <p:cTn id="123" dur="500"/>
                                        <p:tgtEl>
                                          <p:spTgt spid="5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down)">
                                      <p:cBhvr>
                                        <p:cTn id="126" dur="500"/>
                                        <p:tgtEl>
                                          <p:spTgt spid="5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wipe(down)">
                                      <p:cBhvr>
                                        <p:cTn id="129" dur="500"/>
                                        <p:tgtEl>
                                          <p:spTgt spid="5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96"/>
                                        </p:tgtEl>
                                        <p:attrNameLst>
                                          <p:attrName>style.visibility</p:attrName>
                                        </p:attrNameLst>
                                      </p:cBhvr>
                                      <p:to>
                                        <p:strVal val="visible"/>
                                      </p:to>
                                    </p:set>
                                    <p:animEffect transition="in" filter="wipe(down)">
                                      <p:cBhvr>
                                        <p:cTn id="132" dur="500"/>
                                        <p:tgtEl>
                                          <p:spTgt spid="96"/>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500" fill="hold"/>
                                        <p:tgtEl>
                                          <p:spTgt spid="29"/>
                                        </p:tgtEl>
                                        <p:attrNameLst>
                                          <p:attrName>ppt_w</p:attrName>
                                        </p:attrNameLst>
                                      </p:cBhvr>
                                      <p:tavLst>
                                        <p:tav tm="0">
                                          <p:val>
                                            <p:fltVal val="0"/>
                                          </p:val>
                                        </p:tav>
                                        <p:tav tm="100000">
                                          <p:val>
                                            <p:strVal val="#ppt_w"/>
                                          </p:val>
                                        </p:tav>
                                      </p:tavLst>
                                    </p:anim>
                                    <p:anim calcmode="lin" valueType="num">
                                      <p:cBhvr>
                                        <p:cTn id="138" dur="500" fill="hold"/>
                                        <p:tgtEl>
                                          <p:spTgt spid="29"/>
                                        </p:tgtEl>
                                        <p:attrNameLst>
                                          <p:attrName>ppt_h</p:attrName>
                                        </p:attrNameLst>
                                      </p:cBhvr>
                                      <p:tavLst>
                                        <p:tav tm="0">
                                          <p:val>
                                            <p:fltVal val="0"/>
                                          </p:val>
                                        </p:tav>
                                        <p:tav tm="100000">
                                          <p:val>
                                            <p:strVal val="#ppt_h"/>
                                          </p:val>
                                        </p:tav>
                                      </p:tavLst>
                                    </p:anim>
                                    <p:animEffect transition="in" filter="fade">
                                      <p:cBhvr>
                                        <p:cTn id="139" dur="50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66"/>
                                        </p:tgtEl>
                                        <p:attrNameLst>
                                          <p:attrName>style.visibility</p:attrName>
                                        </p:attrNameLst>
                                      </p:cBhvr>
                                      <p:to>
                                        <p:strVal val="visible"/>
                                      </p:to>
                                    </p:set>
                                    <p:anim calcmode="lin" valueType="num">
                                      <p:cBhvr>
                                        <p:cTn id="142" dur="500" fill="hold"/>
                                        <p:tgtEl>
                                          <p:spTgt spid="66"/>
                                        </p:tgtEl>
                                        <p:attrNameLst>
                                          <p:attrName>ppt_w</p:attrName>
                                        </p:attrNameLst>
                                      </p:cBhvr>
                                      <p:tavLst>
                                        <p:tav tm="0">
                                          <p:val>
                                            <p:fltVal val="0"/>
                                          </p:val>
                                        </p:tav>
                                        <p:tav tm="100000">
                                          <p:val>
                                            <p:strVal val="#ppt_w"/>
                                          </p:val>
                                        </p:tav>
                                      </p:tavLst>
                                    </p:anim>
                                    <p:anim calcmode="lin" valueType="num">
                                      <p:cBhvr>
                                        <p:cTn id="143" dur="500" fill="hold"/>
                                        <p:tgtEl>
                                          <p:spTgt spid="66"/>
                                        </p:tgtEl>
                                        <p:attrNameLst>
                                          <p:attrName>ppt_h</p:attrName>
                                        </p:attrNameLst>
                                      </p:cBhvr>
                                      <p:tavLst>
                                        <p:tav tm="0">
                                          <p:val>
                                            <p:fltVal val="0"/>
                                          </p:val>
                                        </p:tav>
                                        <p:tav tm="100000">
                                          <p:val>
                                            <p:strVal val="#ppt_h"/>
                                          </p:val>
                                        </p:tav>
                                      </p:tavLst>
                                    </p:anim>
                                    <p:animEffect transition="in" filter="fade">
                                      <p:cBhvr>
                                        <p:cTn id="144" dur="500"/>
                                        <p:tgtEl>
                                          <p:spTgt spid="66"/>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500" fill="hold"/>
                                        <p:tgtEl>
                                          <p:spTgt spid="91"/>
                                        </p:tgtEl>
                                        <p:attrNameLst>
                                          <p:attrName>ppt_w</p:attrName>
                                        </p:attrNameLst>
                                      </p:cBhvr>
                                      <p:tavLst>
                                        <p:tav tm="0">
                                          <p:val>
                                            <p:fltVal val="0"/>
                                          </p:val>
                                        </p:tav>
                                        <p:tav tm="100000">
                                          <p:val>
                                            <p:strVal val="#ppt_w"/>
                                          </p:val>
                                        </p:tav>
                                      </p:tavLst>
                                    </p:anim>
                                    <p:anim calcmode="lin" valueType="num">
                                      <p:cBhvr>
                                        <p:cTn id="148" dur="500" fill="hold"/>
                                        <p:tgtEl>
                                          <p:spTgt spid="91"/>
                                        </p:tgtEl>
                                        <p:attrNameLst>
                                          <p:attrName>ppt_h</p:attrName>
                                        </p:attrNameLst>
                                      </p:cBhvr>
                                      <p:tavLst>
                                        <p:tav tm="0">
                                          <p:val>
                                            <p:fltVal val="0"/>
                                          </p:val>
                                        </p:tav>
                                        <p:tav tm="100000">
                                          <p:val>
                                            <p:strVal val="#ppt_h"/>
                                          </p:val>
                                        </p:tav>
                                      </p:tavLst>
                                    </p:anim>
                                    <p:animEffect transition="in" filter="fade">
                                      <p:cBhvr>
                                        <p:cTn id="149" dur="50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 calcmode="lin" valueType="num">
                                      <p:cBhvr>
                                        <p:cTn id="152" dur="500" fill="hold"/>
                                        <p:tgtEl>
                                          <p:spTgt spid="86"/>
                                        </p:tgtEl>
                                        <p:attrNameLst>
                                          <p:attrName>ppt_w</p:attrName>
                                        </p:attrNameLst>
                                      </p:cBhvr>
                                      <p:tavLst>
                                        <p:tav tm="0">
                                          <p:val>
                                            <p:fltVal val="0"/>
                                          </p:val>
                                        </p:tav>
                                        <p:tav tm="100000">
                                          <p:val>
                                            <p:strVal val="#ppt_w"/>
                                          </p:val>
                                        </p:tav>
                                      </p:tavLst>
                                    </p:anim>
                                    <p:anim calcmode="lin" valueType="num">
                                      <p:cBhvr>
                                        <p:cTn id="153" dur="500" fill="hold"/>
                                        <p:tgtEl>
                                          <p:spTgt spid="86"/>
                                        </p:tgtEl>
                                        <p:attrNameLst>
                                          <p:attrName>ppt_h</p:attrName>
                                        </p:attrNameLst>
                                      </p:cBhvr>
                                      <p:tavLst>
                                        <p:tav tm="0">
                                          <p:val>
                                            <p:fltVal val="0"/>
                                          </p:val>
                                        </p:tav>
                                        <p:tav tm="100000">
                                          <p:val>
                                            <p:strVal val="#ppt_h"/>
                                          </p:val>
                                        </p:tav>
                                      </p:tavLst>
                                    </p:anim>
                                    <p:animEffect transition="in" filter="fade">
                                      <p:cBhvr>
                                        <p:cTn id="154" dur="500"/>
                                        <p:tgtEl>
                                          <p:spTgt spid="8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p:cTn id="157" dur="500" fill="hold"/>
                                        <p:tgtEl>
                                          <p:spTgt spid="81"/>
                                        </p:tgtEl>
                                        <p:attrNameLst>
                                          <p:attrName>ppt_w</p:attrName>
                                        </p:attrNameLst>
                                      </p:cBhvr>
                                      <p:tavLst>
                                        <p:tav tm="0">
                                          <p:val>
                                            <p:fltVal val="0"/>
                                          </p:val>
                                        </p:tav>
                                        <p:tav tm="100000">
                                          <p:val>
                                            <p:strVal val="#ppt_w"/>
                                          </p:val>
                                        </p:tav>
                                      </p:tavLst>
                                    </p:anim>
                                    <p:anim calcmode="lin" valueType="num">
                                      <p:cBhvr>
                                        <p:cTn id="158" dur="500" fill="hold"/>
                                        <p:tgtEl>
                                          <p:spTgt spid="81"/>
                                        </p:tgtEl>
                                        <p:attrNameLst>
                                          <p:attrName>ppt_h</p:attrName>
                                        </p:attrNameLst>
                                      </p:cBhvr>
                                      <p:tavLst>
                                        <p:tav tm="0">
                                          <p:val>
                                            <p:fltVal val="0"/>
                                          </p:val>
                                        </p:tav>
                                        <p:tav tm="100000">
                                          <p:val>
                                            <p:strVal val="#ppt_h"/>
                                          </p:val>
                                        </p:tav>
                                      </p:tavLst>
                                    </p:anim>
                                    <p:animEffect transition="in" filter="fade">
                                      <p:cBhvr>
                                        <p:cTn id="159" dur="500"/>
                                        <p:tgtEl>
                                          <p:spTgt spid="81"/>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p:cTn id="162" dur="500" fill="hold"/>
                                        <p:tgtEl>
                                          <p:spTgt spid="68"/>
                                        </p:tgtEl>
                                        <p:attrNameLst>
                                          <p:attrName>ppt_w</p:attrName>
                                        </p:attrNameLst>
                                      </p:cBhvr>
                                      <p:tavLst>
                                        <p:tav tm="0">
                                          <p:val>
                                            <p:fltVal val="0"/>
                                          </p:val>
                                        </p:tav>
                                        <p:tav tm="100000">
                                          <p:val>
                                            <p:strVal val="#ppt_w"/>
                                          </p:val>
                                        </p:tav>
                                      </p:tavLst>
                                    </p:anim>
                                    <p:anim calcmode="lin" valueType="num">
                                      <p:cBhvr>
                                        <p:cTn id="163" dur="500" fill="hold"/>
                                        <p:tgtEl>
                                          <p:spTgt spid="68"/>
                                        </p:tgtEl>
                                        <p:attrNameLst>
                                          <p:attrName>ppt_h</p:attrName>
                                        </p:attrNameLst>
                                      </p:cBhvr>
                                      <p:tavLst>
                                        <p:tav tm="0">
                                          <p:val>
                                            <p:fltVal val="0"/>
                                          </p:val>
                                        </p:tav>
                                        <p:tav tm="100000">
                                          <p:val>
                                            <p:strVal val="#ppt_h"/>
                                          </p:val>
                                        </p:tav>
                                      </p:tavLst>
                                    </p:anim>
                                    <p:animEffect transition="in" filter="fade">
                                      <p:cBhvr>
                                        <p:cTn id="164" dur="500"/>
                                        <p:tgtEl>
                                          <p:spTgt spid="6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69"/>
                                        </p:tgtEl>
                                        <p:attrNameLst>
                                          <p:attrName>style.visibility</p:attrName>
                                        </p:attrNameLst>
                                      </p:cBhvr>
                                      <p:to>
                                        <p:strVal val="visible"/>
                                      </p:to>
                                    </p:set>
                                    <p:anim calcmode="lin" valueType="num">
                                      <p:cBhvr>
                                        <p:cTn id="167" dur="500" fill="hold"/>
                                        <p:tgtEl>
                                          <p:spTgt spid="69"/>
                                        </p:tgtEl>
                                        <p:attrNameLst>
                                          <p:attrName>ppt_w</p:attrName>
                                        </p:attrNameLst>
                                      </p:cBhvr>
                                      <p:tavLst>
                                        <p:tav tm="0">
                                          <p:val>
                                            <p:fltVal val="0"/>
                                          </p:val>
                                        </p:tav>
                                        <p:tav tm="100000">
                                          <p:val>
                                            <p:strVal val="#ppt_w"/>
                                          </p:val>
                                        </p:tav>
                                      </p:tavLst>
                                    </p:anim>
                                    <p:anim calcmode="lin" valueType="num">
                                      <p:cBhvr>
                                        <p:cTn id="168" dur="500" fill="hold"/>
                                        <p:tgtEl>
                                          <p:spTgt spid="69"/>
                                        </p:tgtEl>
                                        <p:attrNameLst>
                                          <p:attrName>ppt_h</p:attrName>
                                        </p:attrNameLst>
                                      </p:cBhvr>
                                      <p:tavLst>
                                        <p:tav tm="0">
                                          <p:val>
                                            <p:fltVal val="0"/>
                                          </p:val>
                                        </p:tav>
                                        <p:tav tm="100000">
                                          <p:val>
                                            <p:strVal val="#ppt_h"/>
                                          </p:val>
                                        </p:tav>
                                      </p:tavLst>
                                    </p:anim>
                                    <p:animEffect transition="in" filter="fade">
                                      <p:cBhvr>
                                        <p:cTn id="169" dur="500"/>
                                        <p:tgtEl>
                                          <p:spTgt spid="6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82"/>
                                        </p:tgtEl>
                                        <p:attrNameLst>
                                          <p:attrName>style.visibility</p:attrName>
                                        </p:attrNameLst>
                                      </p:cBhvr>
                                      <p:to>
                                        <p:strVal val="visible"/>
                                      </p:to>
                                    </p:set>
                                    <p:anim calcmode="lin" valueType="num">
                                      <p:cBhvr>
                                        <p:cTn id="172" dur="500" fill="hold"/>
                                        <p:tgtEl>
                                          <p:spTgt spid="82"/>
                                        </p:tgtEl>
                                        <p:attrNameLst>
                                          <p:attrName>ppt_w</p:attrName>
                                        </p:attrNameLst>
                                      </p:cBhvr>
                                      <p:tavLst>
                                        <p:tav tm="0">
                                          <p:val>
                                            <p:fltVal val="0"/>
                                          </p:val>
                                        </p:tav>
                                        <p:tav tm="100000">
                                          <p:val>
                                            <p:strVal val="#ppt_w"/>
                                          </p:val>
                                        </p:tav>
                                      </p:tavLst>
                                    </p:anim>
                                    <p:anim calcmode="lin" valueType="num">
                                      <p:cBhvr>
                                        <p:cTn id="173" dur="500" fill="hold"/>
                                        <p:tgtEl>
                                          <p:spTgt spid="82"/>
                                        </p:tgtEl>
                                        <p:attrNameLst>
                                          <p:attrName>ppt_h</p:attrName>
                                        </p:attrNameLst>
                                      </p:cBhvr>
                                      <p:tavLst>
                                        <p:tav tm="0">
                                          <p:val>
                                            <p:fltVal val="0"/>
                                          </p:val>
                                        </p:tav>
                                        <p:tav tm="100000">
                                          <p:val>
                                            <p:strVal val="#ppt_h"/>
                                          </p:val>
                                        </p:tav>
                                      </p:tavLst>
                                    </p:anim>
                                    <p:animEffect transition="in" filter="fade">
                                      <p:cBhvr>
                                        <p:cTn id="174" dur="500"/>
                                        <p:tgtEl>
                                          <p:spTgt spid="82"/>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anim calcmode="lin" valueType="num">
                                      <p:cBhvr>
                                        <p:cTn id="177" dur="500" fill="hold"/>
                                        <p:tgtEl>
                                          <p:spTgt spid="87"/>
                                        </p:tgtEl>
                                        <p:attrNameLst>
                                          <p:attrName>ppt_w</p:attrName>
                                        </p:attrNameLst>
                                      </p:cBhvr>
                                      <p:tavLst>
                                        <p:tav tm="0">
                                          <p:val>
                                            <p:fltVal val="0"/>
                                          </p:val>
                                        </p:tav>
                                        <p:tav tm="100000">
                                          <p:val>
                                            <p:strVal val="#ppt_w"/>
                                          </p:val>
                                        </p:tav>
                                      </p:tavLst>
                                    </p:anim>
                                    <p:anim calcmode="lin" valueType="num">
                                      <p:cBhvr>
                                        <p:cTn id="178" dur="500" fill="hold"/>
                                        <p:tgtEl>
                                          <p:spTgt spid="87"/>
                                        </p:tgtEl>
                                        <p:attrNameLst>
                                          <p:attrName>ppt_h</p:attrName>
                                        </p:attrNameLst>
                                      </p:cBhvr>
                                      <p:tavLst>
                                        <p:tav tm="0">
                                          <p:val>
                                            <p:fltVal val="0"/>
                                          </p:val>
                                        </p:tav>
                                        <p:tav tm="100000">
                                          <p:val>
                                            <p:strVal val="#ppt_h"/>
                                          </p:val>
                                        </p:tav>
                                      </p:tavLst>
                                    </p:anim>
                                    <p:animEffect transition="in" filter="fade">
                                      <p:cBhvr>
                                        <p:cTn id="179" dur="500"/>
                                        <p:tgtEl>
                                          <p:spTgt spid="8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 calcmode="lin" valueType="num">
                                      <p:cBhvr>
                                        <p:cTn id="182" dur="500" fill="hold"/>
                                        <p:tgtEl>
                                          <p:spTgt spid="92"/>
                                        </p:tgtEl>
                                        <p:attrNameLst>
                                          <p:attrName>ppt_w</p:attrName>
                                        </p:attrNameLst>
                                      </p:cBhvr>
                                      <p:tavLst>
                                        <p:tav tm="0">
                                          <p:val>
                                            <p:fltVal val="0"/>
                                          </p:val>
                                        </p:tav>
                                        <p:tav tm="100000">
                                          <p:val>
                                            <p:strVal val="#ppt_w"/>
                                          </p:val>
                                        </p:tav>
                                      </p:tavLst>
                                    </p:anim>
                                    <p:anim calcmode="lin" valueType="num">
                                      <p:cBhvr>
                                        <p:cTn id="183" dur="500" fill="hold"/>
                                        <p:tgtEl>
                                          <p:spTgt spid="92"/>
                                        </p:tgtEl>
                                        <p:attrNameLst>
                                          <p:attrName>ppt_h</p:attrName>
                                        </p:attrNameLst>
                                      </p:cBhvr>
                                      <p:tavLst>
                                        <p:tav tm="0">
                                          <p:val>
                                            <p:fltVal val="0"/>
                                          </p:val>
                                        </p:tav>
                                        <p:tav tm="100000">
                                          <p:val>
                                            <p:strVal val="#ppt_h"/>
                                          </p:val>
                                        </p:tav>
                                      </p:tavLst>
                                    </p:anim>
                                    <p:animEffect transition="in" filter="fade">
                                      <p:cBhvr>
                                        <p:cTn id="184" dur="500"/>
                                        <p:tgtEl>
                                          <p:spTgt spid="9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p:cTn id="187" dur="500" fill="hold"/>
                                        <p:tgtEl>
                                          <p:spTgt spid="93"/>
                                        </p:tgtEl>
                                        <p:attrNameLst>
                                          <p:attrName>ppt_w</p:attrName>
                                        </p:attrNameLst>
                                      </p:cBhvr>
                                      <p:tavLst>
                                        <p:tav tm="0">
                                          <p:val>
                                            <p:fltVal val="0"/>
                                          </p:val>
                                        </p:tav>
                                        <p:tav tm="100000">
                                          <p:val>
                                            <p:strVal val="#ppt_w"/>
                                          </p:val>
                                        </p:tav>
                                      </p:tavLst>
                                    </p:anim>
                                    <p:anim calcmode="lin" valueType="num">
                                      <p:cBhvr>
                                        <p:cTn id="188" dur="500" fill="hold"/>
                                        <p:tgtEl>
                                          <p:spTgt spid="93"/>
                                        </p:tgtEl>
                                        <p:attrNameLst>
                                          <p:attrName>ppt_h</p:attrName>
                                        </p:attrNameLst>
                                      </p:cBhvr>
                                      <p:tavLst>
                                        <p:tav tm="0">
                                          <p:val>
                                            <p:fltVal val="0"/>
                                          </p:val>
                                        </p:tav>
                                        <p:tav tm="100000">
                                          <p:val>
                                            <p:strVal val="#ppt_h"/>
                                          </p:val>
                                        </p:tav>
                                      </p:tavLst>
                                    </p:anim>
                                    <p:animEffect transition="in" filter="fade">
                                      <p:cBhvr>
                                        <p:cTn id="189" dur="500"/>
                                        <p:tgtEl>
                                          <p:spTgt spid="93"/>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88"/>
                                        </p:tgtEl>
                                        <p:attrNameLst>
                                          <p:attrName>style.visibility</p:attrName>
                                        </p:attrNameLst>
                                      </p:cBhvr>
                                      <p:to>
                                        <p:strVal val="visible"/>
                                      </p:to>
                                    </p:set>
                                    <p:anim calcmode="lin" valueType="num">
                                      <p:cBhvr>
                                        <p:cTn id="192" dur="500" fill="hold"/>
                                        <p:tgtEl>
                                          <p:spTgt spid="88"/>
                                        </p:tgtEl>
                                        <p:attrNameLst>
                                          <p:attrName>ppt_w</p:attrName>
                                        </p:attrNameLst>
                                      </p:cBhvr>
                                      <p:tavLst>
                                        <p:tav tm="0">
                                          <p:val>
                                            <p:fltVal val="0"/>
                                          </p:val>
                                        </p:tav>
                                        <p:tav tm="100000">
                                          <p:val>
                                            <p:strVal val="#ppt_w"/>
                                          </p:val>
                                        </p:tav>
                                      </p:tavLst>
                                    </p:anim>
                                    <p:anim calcmode="lin" valueType="num">
                                      <p:cBhvr>
                                        <p:cTn id="193" dur="500" fill="hold"/>
                                        <p:tgtEl>
                                          <p:spTgt spid="88"/>
                                        </p:tgtEl>
                                        <p:attrNameLst>
                                          <p:attrName>ppt_h</p:attrName>
                                        </p:attrNameLst>
                                      </p:cBhvr>
                                      <p:tavLst>
                                        <p:tav tm="0">
                                          <p:val>
                                            <p:fltVal val="0"/>
                                          </p:val>
                                        </p:tav>
                                        <p:tav tm="100000">
                                          <p:val>
                                            <p:strVal val="#ppt_h"/>
                                          </p:val>
                                        </p:tav>
                                      </p:tavLst>
                                    </p:anim>
                                    <p:animEffect transition="in" filter="fade">
                                      <p:cBhvr>
                                        <p:cTn id="194" dur="500"/>
                                        <p:tgtEl>
                                          <p:spTgt spid="88"/>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500" fill="hold"/>
                                        <p:tgtEl>
                                          <p:spTgt spid="83"/>
                                        </p:tgtEl>
                                        <p:attrNameLst>
                                          <p:attrName>ppt_w</p:attrName>
                                        </p:attrNameLst>
                                      </p:cBhvr>
                                      <p:tavLst>
                                        <p:tav tm="0">
                                          <p:val>
                                            <p:fltVal val="0"/>
                                          </p:val>
                                        </p:tav>
                                        <p:tav tm="100000">
                                          <p:val>
                                            <p:strVal val="#ppt_w"/>
                                          </p:val>
                                        </p:tav>
                                      </p:tavLst>
                                    </p:anim>
                                    <p:anim calcmode="lin" valueType="num">
                                      <p:cBhvr>
                                        <p:cTn id="198" dur="500" fill="hold"/>
                                        <p:tgtEl>
                                          <p:spTgt spid="83"/>
                                        </p:tgtEl>
                                        <p:attrNameLst>
                                          <p:attrName>ppt_h</p:attrName>
                                        </p:attrNameLst>
                                      </p:cBhvr>
                                      <p:tavLst>
                                        <p:tav tm="0">
                                          <p:val>
                                            <p:fltVal val="0"/>
                                          </p:val>
                                        </p:tav>
                                        <p:tav tm="100000">
                                          <p:val>
                                            <p:strVal val="#ppt_h"/>
                                          </p:val>
                                        </p:tav>
                                      </p:tavLst>
                                    </p:anim>
                                    <p:animEffect transition="in" filter="fade">
                                      <p:cBhvr>
                                        <p:cTn id="199" dur="500"/>
                                        <p:tgtEl>
                                          <p:spTgt spid="8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70"/>
                                        </p:tgtEl>
                                        <p:attrNameLst>
                                          <p:attrName>style.visibility</p:attrName>
                                        </p:attrNameLst>
                                      </p:cBhvr>
                                      <p:to>
                                        <p:strVal val="visible"/>
                                      </p:to>
                                    </p:set>
                                    <p:anim calcmode="lin" valueType="num">
                                      <p:cBhvr>
                                        <p:cTn id="202" dur="500" fill="hold"/>
                                        <p:tgtEl>
                                          <p:spTgt spid="70"/>
                                        </p:tgtEl>
                                        <p:attrNameLst>
                                          <p:attrName>ppt_w</p:attrName>
                                        </p:attrNameLst>
                                      </p:cBhvr>
                                      <p:tavLst>
                                        <p:tav tm="0">
                                          <p:val>
                                            <p:fltVal val="0"/>
                                          </p:val>
                                        </p:tav>
                                        <p:tav tm="100000">
                                          <p:val>
                                            <p:strVal val="#ppt_w"/>
                                          </p:val>
                                        </p:tav>
                                      </p:tavLst>
                                    </p:anim>
                                    <p:anim calcmode="lin" valueType="num">
                                      <p:cBhvr>
                                        <p:cTn id="203" dur="500" fill="hold"/>
                                        <p:tgtEl>
                                          <p:spTgt spid="70"/>
                                        </p:tgtEl>
                                        <p:attrNameLst>
                                          <p:attrName>ppt_h</p:attrName>
                                        </p:attrNameLst>
                                      </p:cBhvr>
                                      <p:tavLst>
                                        <p:tav tm="0">
                                          <p:val>
                                            <p:fltVal val="0"/>
                                          </p:val>
                                        </p:tav>
                                        <p:tav tm="100000">
                                          <p:val>
                                            <p:strVal val="#ppt_h"/>
                                          </p:val>
                                        </p:tav>
                                      </p:tavLst>
                                    </p:anim>
                                    <p:animEffect transition="in" filter="fade">
                                      <p:cBhvr>
                                        <p:cTn id="204" dur="500"/>
                                        <p:tgtEl>
                                          <p:spTgt spid="70"/>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79"/>
                                        </p:tgtEl>
                                        <p:attrNameLst>
                                          <p:attrName>style.visibility</p:attrName>
                                        </p:attrNameLst>
                                      </p:cBhvr>
                                      <p:to>
                                        <p:strVal val="visible"/>
                                      </p:to>
                                    </p:set>
                                    <p:anim calcmode="lin" valueType="num">
                                      <p:cBhvr>
                                        <p:cTn id="207" dur="500" fill="hold"/>
                                        <p:tgtEl>
                                          <p:spTgt spid="79"/>
                                        </p:tgtEl>
                                        <p:attrNameLst>
                                          <p:attrName>ppt_w</p:attrName>
                                        </p:attrNameLst>
                                      </p:cBhvr>
                                      <p:tavLst>
                                        <p:tav tm="0">
                                          <p:val>
                                            <p:fltVal val="0"/>
                                          </p:val>
                                        </p:tav>
                                        <p:tav tm="100000">
                                          <p:val>
                                            <p:strVal val="#ppt_w"/>
                                          </p:val>
                                        </p:tav>
                                      </p:tavLst>
                                    </p:anim>
                                    <p:anim calcmode="lin" valueType="num">
                                      <p:cBhvr>
                                        <p:cTn id="208" dur="500" fill="hold"/>
                                        <p:tgtEl>
                                          <p:spTgt spid="79"/>
                                        </p:tgtEl>
                                        <p:attrNameLst>
                                          <p:attrName>ppt_h</p:attrName>
                                        </p:attrNameLst>
                                      </p:cBhvr>
                                      <p:tavLst>
                                        <p:tav tm="0">
                                          <p:val>
                                            <p:fltVal val="0"/>
                                          </p:val>
                                        </p:tav>
                                        <p:tav tm="100000">
                                          <p:val>
                                            <p:strVal val="#ppt_h"/>
                                          </p:val>
                                        </p:tav>
                                      </p:tavLst>
                                    </p:anim>
                                    <p:animEffect transition="in" filter="fade">
                                      <p:cBhvr>
                                        <p:cTn id="209" dur="500"/>
                                        <p:tgtEl>
                                          <p:spTgt spid="79"/>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84"/>
                                        </p:tgtEl>
                                        <p:attrNameLst>
                                          <p:attrName>style.visibility</p:attrName>
                                        </p:attrNameLst>
                                      </p:cBhvr>
                                      <p:to>
                                        <p:strVal val="visible"/>
                                      </p:to>
                                    </p:set>
                                    <p:anim calcmode="lin" valueType="num">
                                      <p:cBhvr>
                                        <p:cTn id="212" dur="500" fill="hold"/>
                                        <p:tgtEl>
                                          <p:spTgt spid="84"/>
                                        </p:tgtEl>
                                        <p:attrNameLst>
                                          <p:attrName>ppt_w</p:attrName>
                                        </p:attrNameLst>
                                      </p:cBhvr>
                                      <p:tavLst>
                                        <p:tav tm="0">
                                          <p:val>
                                            <p:fltVal val="0"/>
                                          </p:val>
                                        </p:tav>
                                        <p:tav tm="100000">
                                          <p:val>
                                            <p:strVal val="#ppt_w"/>
                                          </p:val>
                                        </p:tav>
                                      </p:tavLst>
                                    </p:anim>
                                    <p:anim calcmode="lin" valueType="num">
                                      <p:cBhvr>
                                        <p:cTn id="213" dur="500" fill="hold"/>
                                        <p:tgtEl>
                                          <p:spTgt spid="84"/>
                                        </p:tgtEl>
                                        <p:attrNameLst>
                                          <p:attrName>ppt_h</p:attrName>
                                        </p:attrNameLst>
                                      </p:cBhvr>
                                      <p:tavLst>
                                        <p:tav tm="0">
                                          <p:val>
                                            <p:fltVal val="0"/>
                                          </p:val>
                                        </p:tav>
                                        <p:tav tm="100000">
                                          <p:val>
                                            <p:strVal val="#ppt_h"/>
                                          </p:val>
                                        </p:tav>
                                      </p:tavLst>
                                    </p:anim>
                                    <p:animEffect transition="in" filter="fade">
                                      <p:cBhvr>
                                        <p:cTn id="214" dur="500"/>
                                        <p:tgtEl>
                                          <p:spTgt spid="84"/>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 calcmode="lin" valueType="num">
                                      <p:cBhvr>
                                        <p:cTn id="217" dur="500" fill="hold"/>
                                        <p:tgtEl>
                                          <p:spTgt spid="89"/>
                                        </p:tgtEl>
                                        <p:attrNameLst>
                                          <p:attrName>ppt_w</p:attrName>
                                        </p:attrNameLst>
                                      </p:cBhvr>
                                      <p:tavLst>
                                        <p:tav tm="0">
                                          <p:val>
                                            <p:fltVal val="0"/>
                                          </p:val>
                                        </p:tav>
                                        <p:tav tm="100000">
                                          <p:val>
                                            <p:strVal val="#ppt_w"/>
                                          </p:val>
                                        </p:tav>
                                      </p:tavLst>
                                    </p:anim>
                                    <p:anim calcmode="lin" valueType="num">
                                      <p:cBhvr>
                                        <p:cTn id="218" dur="500" fill="hold"/>
                                        <p:tgtEl>
                                          <p:spTgt spid="89"/>
                                        </p:tgtEl>
                                        <p:attrNameLst>
                                          <p:attrName>ppt_h</p:attrName>
                                        </p:attrNameLst>
                                      </p:cBhvr>
                                      <p:tavLst>
                                        <p:tav tm="0">
                                          <p:val>
                                            <p:fltVal val="0"/>
                                          </p:val>
                                        </p:tav>
                                        <p:tav tm="100000">
                                          <p:val>
                                            <p:strVal val="#ppt_h"/>
                                          </p:val>
                                        </p:tav>
                                      </p:tavLst>
                                    </p:anim>
                                    <p:animEffect transition="in" filter="fade">
                                      <p:cBhvr>
                                        <p:cTn id="219" dur="500"/>
                                        <p:tgtEl>
                                          <p:spTgt spid="8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94"/>
                                        </p:tgtEl>
                                        <p:attrNameLst>
                                          <p:attrName>style.visibility</p:attrName>
                                        </p:attrNameLst>
                                      </p:cBhvr>
                                      <p:to>
                                        <p:strVal val="visible"/>
                                      </p:to>
                                    </p:set>
                                    <p:anim calcmode="lin" valueType="num">
                                      <p:cBhvr>
                                        <p:cTn id="222" dur="500" fill="hold"/>
                                        <p:tgtEl>
                                          <p:spTgt spid="94"/>
                                        </p:tgtEl>
                                        <p:attrNameLst>
                                          <p:attrName>ppt_w</p:attrName>
                                        </p:attrNameLst>
                                      </p:cBhvr>
                                      <p:tavLst>
                                        <p:tav tm="0">
                                          <p:val>
                                            <p:fltVal val="0"/>
                                          </p:val>
                                        </p:tav>
                                        <p:tav tm="100000">
                                          <p:val>
                                            <p:strVal val="#ppt_w"/>
                                          </p:val>
                                        </p:tav>
                                      </p:tavLst>
                                    </p:anim>
                                    <p:anim calcmode="lin" valueType="num">
                                      <p:cBhvr>
                                        <p:cTn id="223" dur="500" fill="hold"/>
                                        <p:tgtEl>
                                          <p:spTgt spid="94"/>
                                        </p:tgtEl>
                                        <p:attrNameLst>
                                          <p:attrName>ppt_h</p:attrName>
                                        </p:attrNameLst>
                                      </p:cBhvr>
                                      <p:tavLst>
                                        <p:tav tm="0">
                                          <p:val>
                                            <p:fltVal val="0"/>
                                          </p:val>
                                        </p:tav>
                                        <p:tav tm="100000">
                                          <p:val>
                                            <p:strVal val="#ppt_h"/>
                                          </p:val>
                                        </p:tav>
                                      </p:tavLst>
                                    </p:anim>
                                    <p:animEffect transition="in" filter="fade">
                                      <p:cBhvr>
                                        <p:cTn id="224" dur="500"/>
                                        <p:tgtEl>
                                          <p:spTgt spid="94"/>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95"/>
                                        </p:tgtEl>
                                        <p:attrNameLst>
                                          <p:attrName>style.visibility</p:attrName>
                                        </p:attrNameLst>
                                      </p:cBhvr>
                                      <p:to>
                                        <p:strVal val="visible"/>
                                      </p:to>
                                    </p:set>
                                    <p:anim calcmode="lin" valueType="num">
                                      <p:cBhvr>
                                        <p:cTn id="227" dur="500" fill="hold"/>
                                        <p:tgtEl>
                                          <p:spTgt spid="95"/>
                                        </p:tgtEl>
                                        <p:attrNameLst>
                                          <p:attrName>ppt_w</p:attrName>
                                        </p:attrNameLst>
                                      </p:cBhvr>
                                      <p:tavLst>
                                        <p:tav tm="0">
                                          <p:val>
                                            <p:fltVal val="0"/>
                                          </p:val>
                                        </p:tav>
                                        <p:tav tm="100000">
                                          <p:val>
                                            <p:strVal val="#ppt_w"/>
                                          </p:val>
                                        </p:tav>
                                      </p:tavLst>
                                    </p:anim>
                                    <p:anim calcmode="lin" valueType="num">
                                      <p:cBhvr>
                                        <p:cTn id="228" dur="500" fill="hold"/>
                                        <p:tgtEl>
                                          <p:spTgt spid="95"/>
                                        </p:tgtEl>
                                        <p:attrNameLst>
                                          <p:attrName>ppt_h</p:attrName>
                                        </p:attrNameLst>
                                      </p:cBhvr>
                                      <p:tavLst>
                                        <p:tav tm="0">
                                          <p:val>
                                            <p:fltVal val="0"/>
                                          </p:val>
                                        </p:tav>
                                        <p:tav tm="100000">
                                          <p:val>
                                            <p:strVal val="#ppt_h"/>
                                          </p:val>
                                        </p:tav>
                                      </p:tavLst>
                                    </p:anim>
                                    <p:animEffect transition="in" filter="fade">
                                      <p:cBhvr>
                                        <p:cTn id="229" dur="500"/>
                                        <p:tgtEl>
                                          <p:spTgt spid="9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90"/>
                                        </p:tgtEl>
                                        <p:attrNameLst>
                                          <p:attrName>style.visibility</p:attrName>
                                        </p:attrNameLst>
                                      </p:cBhvr>
                                      <p:to>
                                        <p:strVal val="visible"/>
                                      </p:to>
                                    </p:set>
                                    <p:anim calcmode="lin" valueType="num">
                                      <p:cBhvr>
                                        <p:cTn id="232" dur="500" fill="hold"/>
                                        <p:tgtEl>
                                          <p:spTgt spid="90"/>
                                        </p:tgtEl>
                                        <p:attrNameLst>
                                          <p:attrName>ppt_w</p:attrName>
                                        </p:attrNameLst>
                                      </p:cBhvr>
                                      <p:tavLst>
                                        <p:tav tm="0">
                                          <p:val>
                                            <p:fltVal val="0"/>
                                          </p:val>
                                        </p:tav>
                                        <p:tav tm="100000">
                                          <p:val>
                                            <p:strVal val="#ppt_w"/>
                                          </p:val>
                                        </p:tav>
                                      </p:tavLst>
                                    </p:anim>
                                    <p:anim calcmode="lin" valueType="num">
                                      <p:cBhvr>
                                        <p:cTn id="233" dur="500" fill="hold"/>
                                        <p:tgtEl>
                                          <p:spTgt spid="90"/>
                                        </p:tgtEl>
                                        <p:attrNameLst>
                                          <p:attrName>ppt_h</p:attrName>
                                        </p:attrNameLst>
                                      </p:cBhvr>
                                      <p:tavLst>
                                        <p:tav tm="0">
                                          <p:val>
                                            <p:fltVal val="0"/>
                                          </p:val>
                                        </p:tav>
                                        <p:tav tm="100000">
                                          <p:val>
                                            <p:strVal val="#ppt_h"/>
                                          </p:val>
                                        </p:tav>
                                      </p:tavLst>
                                    </p:anim>
                                    <p:animEffect transition="in" filter="fade">
                                      <p:cBhvr>
                                        <p:cTn id="234" dur="500"/>
                                        <p:tgtEl>
                                          <p:spTgt spid="9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85"/>
                                        </p:tgtEl>
                                        <p:attrNameLst>
                                          <p:attrName>style.visibility</p:attrName>
                                        </p:attrNameLst>
                                      </p:cBhvr>
                                      <p:to>
                                        <p:strVal val="visible"/>
                                      </p:to>
                                    </p:set>
                                    <p:anim calcmode="lin" valueType="num">
                                      <p:cBhvr>
                                        <p:cTn id="237" dur="500" fill="hold"/>
                                        <p:tgtEl>
                                          <p:spTgt spid="85"/>
                                        </p:tgtEl>
                                        <p:attrNameLst>
                                          <p:attrName>ppt_w</p:attrName>
                                        </p:attrNameLst>
                                      </p:cBhvr>
                                      <p:tavLst>
                                        <p:tav tm="0">
                                          <p:val>
                                            <p:fltVal val="0"/>
                                          </p:val>
                                        </p:tav>
                                        <p:tav tm="100000">
                                          <p:val>
                                            <p:strVal val="#ppt_w"/>
                                          </p:val>
                                        </p:tav>
                                      </p:tavLst>
                                    </p:anim>
                                    <p:anim calcmode="lin" valueType="num">
                                      <p:cBhvr>
                                        <p:cTn id="238" dur="500" fill="hold"/>
                                        <p:tgtEl>
                                          <p:spTgt spid="85"/>
                                        </p:tgtEl>
                                        <p:attrNameLst>
                                          <p:attrName>ppt_h</p:attrName>
                                        </p:attrNameLst>
                                      </p:cBhvr>
                                      <p:tavLst>
                                        <p:tav tm="0">
                                          <p:val>
                                            <p:fltVal val="0"/>
                                          </p:val>
                                        </p:tav>
                                        <p:tav tm="100000">
                                          <p:val>
                                            <p:strVal val="#ppt_h"/>
                                          </p:val>
                                        </p:tav>
                                      </p:tavLst>
                                    </p:anim>
                                    <p:animEffect transition="in" filter="fade">
                                      <p:cBhvr>
                                        <p:cTn id="239" dur="500"/>
                                        <p:tgtEl>
                                          <p:spTgt spid="85"/>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80"/>
                                        </p:tgtEl>
                                        <p:attrNameLst>
                                          <p:attrName>style.visibility</p:attrName>
                                        </p:attrNameLst>
                                      </p:cBhvr>
                                      <p:to>
                                        <p:strVal val="visible"/>
                                      </p:to>
                                    </p:set>
                                    <p:anim calcmode="lin" valueType="num">
                                      <p:cBhvr>
                                        <p:cTn id="242" dur="500" fill="hold"/>
                                        <p:tgtEl>
                                          <p:spTgt spid="80"/>
                                        </p:tgtEl>
                                        <p:attrNameLst>
                                          <p:attrName>ppt_w</p:attrName>
                                        </p:attrNameLst>
                                      </p:cBhvr>
                                      <p:tavLst>
                                        <p:tav tm="0">
                                          <p:val>
                                            <p:fltVal val="0"/>
                                          </p:val>
                                        </p:tav>
                                        <p:tav tm="100000">
                                          <p:val>
                                            <p:strVal val="#ppt_w"/>
                                          </p:val>
                                        </p:tav>
                                      </p:tavLst>
                                    </p:anim>
                                    <p:anim calcmode="lin" valueType="num">
                                      <p:cBhvr>
                                        <p:cTn id="243" dur="500" fill="hold"/>
                                        <p:tgtEl>
                                          <p:spTgt spid="80"/>
                                        </p:tgtEl>
                                        <p:attrNameLst>
                                          <p:attrName>ppt_h</p:attrName>
                                        </p:attrNameLst>
                                      </p:cBhvr>
                                      <p:tavLst>
                                        <p:tav tm="0">
                                          <p:val>
                                            <p:fltVal val="0"/>
                                          </p:val>
                                        </p:tav>
                                        <p:tav tm="100000">
                                          <p:val>
                                            <p:strVal val="#ppt_h"/>
                                          </p:val>
                                        </p:tav>
                                      </p:tavLst>
                                    </p:anim>
                                    <p:animEffect transition="in" filter="fade">
                                      <p:cBhvr>
                                        <p:cTn id="244" dur="500"/>
                                        <p:tgtEl>
                                          <p:spTgt spid="80"/>
                                        </p:tgtEl>
                                      </p:cBhvr>
                                    </p:animEffect>
                                  </p:childTnLst>
                                </p:cTn>
                              </p:par>
                              <p:par>
                                <p:cTn id="245" presetID="53" presetClass="entr" presetSubtype="16" fill="hold" nodeType="withEffect">
                                  <p:stCondLst>
                                    <p:cond delay="0"/>
                                  </p:stCondLst>
                                  <p:childTnLst>
                                    <p:set>
                                      <p:cBhvr>
                                        <p:cTn id="246" dur="1" fill="hold">
                                          <p:stCondLst>
                                            <p:cond delay="0"/>
                                          </p:stCondLst>
                                        </p:cTn>
                                        <p:tgtEl>
                                          <p:spTgt spid="28"/>
                                        </p:tgtEl>
                                        <p:attrNameLst>
                                          <p:attrName>style.visibility</p:attrName>
                                        </p:attrNameLst>
                                      </p:cBhvr>
                                      <p:to>
                                        <p:strVal val="visible"/>
                                      </p:to>
                                    </p:set>
                                    <p:anim calcmode="lin" valueType="num">
                                      <p:cBhvr>
                                        <p:cTn id="247" dur="500" fill="hold"/>
                                        <p:tgtEl>
                                          <p:spTgt spid="28"/>
                                        </p:tgtEl>
                                        <p:attrNameLst>
                                          <p:attrName>ppt_w</p:attrName>
                                        </p:attrNameLst>
                                      </p:cBhvr>
                                      <p:tavLst>
                                        <p:tav tm="0">
                                          <p:val>
                                            <p:fltVal val="0"/>
                                          </p:val>
                                        </p:tav>
                                        <p:tav tm="100000">
                                          <p:val>
                                            <p:strVal val="#ppt_w"/>
                                          </p:val>
                                        </p:tav>
                                      </p:tavLst>
                                    </p:anim>
                                    <p:anim calcmode="lin" valueType="num">
                                      <p:cBhvr>
                                        <p:cTn id="248" dur="500" fill="hold"/>
                                        <p:tgtEl>
                                          <p:spTgt spid="28"/>
                                        </p:tgtEl>
                                        <p:attrNameLst>
                                          <p:attrName>ppt_h</p:attrName>
                                        </p:attrNameLst>
                                      </p:cBhvr>
                                      <p:tavLst>
                                        <p:tav tm="0">
                                          <p:val>
                                            <p:fltVal val="0"/>
                                          </p:val>
                                        </p:tav>
                                        <p:tav tm="100000">
                                          <p:val>
                                            <p:strVal val="#ppt_h"/>
                                          </p:val>
                                        </p:tav>
                                      </p:tavLst>
                                    </p:anim>
                                    <p:animEffect transition="in" filter="fade">
                                      <p:cBhvr>
                                        <p:cTn id="249" dur="500"/>
                                        <p:tgtEl>
                                          <p:spTgt spid="28"/>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97"/>
                                        </p:tgtEl>
                                        <p:attrNameLst>
                                          <p:attrName>style.visibility</p:attrName>
                                        </p:attrNameLst>
                                      </p:cBhvr>
                                      <p:to>
                                        <p:strVal val="visible"/>
                                      </p:to>
                                    </p:set>
                                    <p:anim calcmode="lin" valueType="num">
                                      <p:cBhvr>
                                        <p:cTn id="252" dur="500" fill="hold"/>
                                        <p:tgtEl>
                                          <p:spTgt spid="97"/>
                                        </p:tgtEl>
                                        <p:attrNameLst>
                                          <p:attrName>ppt_w</p:attrName>
                                        </p:attrNameLst>
                                      </p:cBhvr>
                                      <p:tavLst>
                                        <p:tav tm="0">
                                          <p:val>
                                            <p:fltVal val="0"/>
                                          </p:val>
                                        </p:tav>
                                        <p:tav tm="100000">
                                          <p:val>
                                            <p:strVal val="#ppt_w"/>
                                          </p:val>
                                        </p:tav>
                                      </p:tavLst>
                                    </p:anim>
                                    <p:anim calcmode="lin" valueType="num">
                                      <p:cBhvr>
                                        <p:cTn id="253" dur="500" fill="hold"/>
                                        <p:tgtEl>
                                          <p:spTgt spid="97"/>
                                        </p:tgtEl>
                                        <p:attrNameLst>
                                          <p:attrName>ppt_h</p:attrName>
                                        </p:attrNameLst>
                                      </p:cBhvr>
                                      <p:tavLst>
                                        <p:tav tm="0">
                                          <p:val>
                                            <p:fltVal val="0"/>
                                          </p:val>
                                        </p:tav>
                                        <p:tav tm="100000">
                                          <p:val>
                                            <p:strVal val="#ppt_h"/>
                                          </p:val>
                                        </p:tav>
                                      </p:tavLst>
                                    </p:anim>
                                    <p:animEffect transition="in" filter="fade">
                                      <p:cBhvr>
                                        <p:cTn id="254" dur="500"/>
                                        <p:tgtEl>
                                          <p:spTgt spid="97"/>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7"/>
                                        </p:tgtEl>
                                        <p:attrNameLst>
                                          <p:attrName>style.visibility</p:attrName>
                                        </p:attrNameLst>
                                      </p:cBhvr>
                                      <p:to>
                                        <p:strVal val="visible"/>
                                      </p:to>
                                    </p:set>
                                    <p:anim calcmode="lin" valueType="num">
                                      <p:cBhvr>
                                        <p:cTn id="257" dur="500" fill="hold"/>
                                        <p:tgtEl>
                                          <p:spTgt spid="27"/>
                                        </p:tgtEl>
                                        <p:attrNameLst>
                                          <p:attrName>ppt_w</p:attrName>
                                        </p:attrNameLst>
                                      </p:cBhvr>
                                      <p:tavLst>
                                        <p:tav tm="0">
                                          <p:val>
                                            <p:fltVal val="0"/>
                                          </p:val>
                                        </p:tav>
                                        <p:tav tm="100000">
                                          <p:val>
                                            <p:strVal val="#ppt_w"/>
                                          </p:val>
                                        </p:tav>
                                      </p:tavLst>
                                    </p:anim>
                                    <p:anim calcmode="lin" valueType="num">
                                      <p:cBhvr>
                                        <p:cTn id="258" dur="500" fill="hold"/>
                                        <p:tgtEl>
                                          <p:spTgt spid="27"/>
                                        </p:tgtEl>
                                        <p:attrNameLst>
                                          <p:attrName>ppt_h</p:attrName>
                                        </p:attrNameLst>
                                      </p:cBhvr>
                                      <p:tavLst>
                                        <p:tav tm="0">
                                          <p:val>
                                            <p:fltVal val="0"/>
                                          </p:val>
                                        </p:tav>
                                        <p:tav tm="100000">
                                          <p:val>
                                            <p:strVal val="#ppt_h"/>
                                          </p:val>
                                        </p:tav>
                                      </p:tavLst>
                                    </p:anim>
                                    <p:animEffect transition="in" filter="fade">
                                      <p:cBhvr>
                                        <p:cTn id="259" dur="500"/>
                                        <p:tgtEl>
                                          <p:spTgt spid="27"/>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126"/>
                                        </p:tgtEl>
                                        <p:attrNameLst>
                                          <p:attrName>style.visibility</p:attrName>
                                        </p:attrNameLst>
                                      </p:cBhvr>
                                      <p:to>
                                        <p:strVal val="visible"/>
                                      </p:to>
                                    </p:set>
                                    <p:animEffect transition="in" filter="wipe(down)">
                                      <p:cBhvr>
                                        <p:cTn id="264" dur="500"/>
                                        <p:tgtEl>
                                          <p:spTgt spid="126"/>
                                        </p:tgtEl>
                                      </p:cBhvr>
                                    </p:animEffect>
                                  </p:childTnLst>
                                </p:cTn>
                              </p:par>
                              <p:par>
                                <p:cTn id="265" presetID="22" presetClass="entr" presetSubtype="4" fill="hold" grpId="0" nodeType="withEffect">
                                  <p:stCondLst>
                                    <p:cond delay="0"/>
                                  </p:stCondLst>
                                  <p:childTnLst>
                                    <p:set>
                                      <p:cBhvr>
                                        <p:cTn id="266" dur="1" fill="hold">
                                          <p:stCondLst>
                                            <p:cond delay="0"/>
                                          </p:stCondLst>
                                        </p:cTn>
                                        <p:tgtEl>
                                          <p:spTgt spid="128"/>
                                        </p:tgtEl>
                                        <p:attrNameLst>
                                          <p:attrName>style.visibility</p:attrName>
                                        </p:attrNameLst>
                                      </p:cBhvr>
                                      <p:to>
                                        <p:strVal val="visible"/>
                                      </p:to>
                                    </p:set>
                                    <p:animEffect transition="in" filter="wipe(down)">
                                      <p:cBhvr>
                                        <p:cTn id="267" dur="500"/>
                                        <p:tgtEl>
                                          <p:spTgt spid="128"/>
                                        </p:tgtEl>
                                      </p:cBhvr>
                                    </p:animEffect>
                                  </p:childTnLst>
                                </p:cTn>
                              </p:par>
                              <p:par>
                                <p:cTn id="268" presetID="22" presetClass="entr" presetSubtype="4" fill="hold" grpId="0" nodeType="withEffect">
                                  <p:stCondLst>
                                    <p:cond delay="0"/>
                                  </p:stCondLst>
                                  <p:childTnLst>
                                    <p:set>
                                      <p:cBhvr>
                                        <p:cTn id="269" dur="1" fill="hold">
                                          <p:stCondLst>
                                            <p:cond delay="0"/>
                                          </p:stCondLst>
                                        </p:cTn>
                                        <p:tgtEl>
                                          <p:spTgt spid="127"/>
                                        </p:tgtEl>
                                        <p:attrNameLst>
                                          <p:attrName>style.visibility</p:attrName>
                                        </p:attrNameLst>
                                      </p:cBhvr>
                                      <p:to>
                                        <p:strVal val="visible"/>
                                      </p:to>
                                    </p:set>
                                    <p:animEffect transition="in" filter="wipe(down)">
                                      <p:cBhvr>
                                        <p:cTn id="270" dur="500"/>
                                        <p:tgtEl>
                                          <p:spTgt spid="127"/>
                                        </p:tgtEl>
                                      </p:cBhvr>
                                    </p:animEffect>
                                  </p:childTnLst>
                                </p:cTn>
                              </p:par>
                            </p:childTnLst>
                          </p:cTn>
                        </p:par>
                      </p:childTnLst>
                    </p:cTn>
                  </p:par>
                  <p:par>
                    <p:cTn id="271" fill="hold">
                      <p:stCondLst>
                        <p:cond delay="indefinite"/>
                      </p:stCondLst>
                      <p:childTnLst>
                        <p:par>
                          <p:cTn id="272" fill="hold">
                            <p:stCondLst>
                              <p:cond delay="0"/>
                            </p:stCondLst>
                            <p:childTnLst>
                              <p:par>
                                <p:cTn id="273" presetID="53" presetClass="entr" presetSubtype="16" fill="hold" grpId="0" nodeType="clickEffect">
                                  <p:stCondLst>
                                    <p:cond delay="0"/>
                                  </p:stCondLst>
                                  <p:childTnLst>
                                    <p:set>
                                      <p:cBhvr>
                                        <p:cTn id="274" dur="1" fill="hold">
                                          <p:stCondLst>
                                            <p:cond delay="0"/>
                                          </p:stCondLst>
                                        </p:cTn>
                                        <p:tgtEl>
                                          <p:spTgt spid="123"/>
                                        </p:tgtEl>
                                        <p:attrNameLst>
                                          <p:attrName>style.visibility</p:attrName>
                                        </p:attrNameLst>
                                      </p:cBhvr>
                                      <p:to>
                                        <p:strVal val="visible"/>
                                      </p:to>
                                    </p:set>
                                    <p:anim calcmode="lin" valueType="num">
                                      <p:cBhvr>
                                        <p:cTn id="275" dur="500" fill="hold"/>
                                        <p:tgtEl>
                                          <p:spTgt spid="123"/>
                                        </p:tgtEl>
                                        <p:attrNameLst>
                                          <p:attrName>ppt_w</p:attrName>
                                        </p:attrNameLst>
                                      </p:cBhvr>
                                      <p:tavLst>
                                        <p:tav tm="0">
                                          <p:val>
                                            <p:fltVal val="0"/>
                                          </p:val>
                                        </p:tav>
                                        <p:tav tm="100000">
                                          <p:val>
                                            <p:strVal val="#ppt_w"/>
                                          </p:val>
                                        </p:tav>
                                      </p:tavLst>
                                    </p:anim>
                                    <p:anim calcmode="lin" valueType="num">
                                      <p:cBhvr>
                                        <p:cTn id="276" dur="500" fill="hold"/>
                                        <p:tgtEl>
                                          <p:spTgt spid="123"/>
                                        </p:tgtEl>
                                        <p:attrNameLst>
                                          <p:attrName>ppt_h</p:attrName>
                                        </p:attrNameLst>
                                      </p:cBhvr>
                                      <p:tavLst>
                                        <p:tav tm="0">
                                          <p:val>
                                            <p:fltVal val="0"/>
                                          </p:val>
                                        </p:tav>
                                        <p:tav tm="100000">
                                          <p:val>
                                            <p:strVal val="#ppt_h"/>
                                          </p:val>
                                        </p:tav>
                                      </p:tavLst>
                                    </p:anim>
                                    <p:animEffect transition="in" filter="fade">
                                      <p:cBhvr>
                                        <p:cTn id="277" dur="500"/>
                                        <p:tgtEl>
                                          <p:spTgt spid="123"/>
                                        </p:tgtEl>
                                      </p:cBhvr>
                                    </p:animEffect>
                                  </p:childTnLst>
                                </p:cTn>
                              </p:par>
                              <p:par>
                                <p:cTn id="278" presetID="53" presetClass="entr" presetSubtype="16" fill="hold" grpId="0" nodeType="withEffect">
                                  <p:stCondLst>
                                    <p:cond delay="0"/>
                                  </p:stCondLst>
                                  <p:childTnLst>
                                    <p:set>
                                      <p:cBhvr>
                                        <p:cTn id="279" dur="1" fill="hold">
                                          <p:stCondLst>
                                            <p:cond delay="0"/>
                                          </p:stCondLst>
                                        </p:cTn>
                                        <p:tgtEl>
                                          <p:spTgt spid="32"/>
                                        </p:tgtEl>
                                        <p:attrNameLst>
                                          <p:attrName>style.visibility</p:attrName>
                                        </p:attrNameLst>
                                      </p:cBhvr>
                                      <p:to>
                                        <p:strVal val="visible"/>
                                      </p:to>
                                    </p:set>
                                    <p:anim calcmode="lin" valueType="num">
                                      <p:cBhvr>
                                        <p:cTn id="280" dur="500" fill="hold"/>
                                        <p:tgtEl>
                                          <p:spTgt spid="32"/>
                                        </p:tgtEl>
                                        <p:attrNameLst>
                                          <p:attrName>ppt_w</p:attrName>
                                        </p:attrNameLst>
                                      </p:cBhvr>
                                      <p:tavLst>
                                        <p:tav tm="0">
                                          <p:val>
                                            <p:fltVal val="0"/>
                                          </p:val>
                                        </p:tav>
                                        <p:tav tm="100000">
                                          <p:val>
                                            <p:strVal val="#ppt_w"/>
                                          </p:val>
                                        </p:tav>
                                      </p:tavLst>
                                    </p:anim>
                                    <p:anim calcmode="lin" valueType="num">
                                      <p:cBhvr>
                                        <p:cTn id="281" dur="500" fill="hold"/>
                                        <p:tgtEl>
                                          <p:spTgt spid="32"/>
                                        </p:tgtEl>
                                        <p:attrNameLst>
                                          <p:attrName>ppt_h</p:attrName>
                                        </p:attrNameLst>
                                      </p:cBhvr>
                                      <p:tavLst>
                                        <p:tav tm="0">
                                          <p:val>
                                            <p:fltVal val="0"/>
                                          </p:val>
                                        </p:tav>
                                        <p:tav tm="100000">
                                          <p:val>
                                            <p:strVal val="#ppt_h"/>
                                          </p:val>
                                        </p:tav>
                                      </p:tavLst>
                                    </p:anim>
                                    <p:animEffect transition="in" filter="fade">
                                      <p:cBhvr>
                                        <p:cTn id="282" dur="500"/>
                                        <p:tgtEl>
                                          <p:spTgt spid="32"/>
                                        </p:tgtEl>
                                      </p:cBhvr>
                                    </p:animEffect>
                                  </p:childTnLst>
                                </p:cTn>
                              </p:par>
                              <p:par>
                                <p:cTn id="283" presetID="16" presetClass="entr" presetSubtype="21" fill="hold" grpId="0" nodeType="withEffect">
                                  <p:stCondLst>
                                    <p:cond delay="0"/>
                                  </p:stCondLst>
                                  <p:childTnLst>
                                    <p:set>
                                      <p:cBhvr>
                                        <p:cTn id="284" dur="1" fill="hold">
                                          <p:stCondLst>
                                            <p:cond delay="0"/>
                                          </p:stCondLst>
                                        </p:cTn>
                                        <p:tgtEl>
                                          <p:spTgt spid="125"/>
                                        </p:tgtEl>
                                        <p:attrNameLst>
                                          <p:attrName>style.visibility</p:attrName>
                                        </p:attrNameLst>
                                      </p:cBhvr>
                                      <p:to>
                                        <p:strVal val="visible"/>
                                      </p:to>
                                    </p:set>
                                    <p:animEffect transition="in" filter="barn(inVertical)">
                                      <p:cBhvr>
                                        <p:cTn id="2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1" grpId="0" animBg="1"/>
      <p:bldP spid="12" grpId="0"/>
      <p:bldP spid="14" grpId="0"/>
      <p:bldP spid="16" grpId="0"/>
      <p:bldP spid="19" grpId="0"/>
      <p:bldP spid="20" grpId="0" animBg="1"/>
      <p:bldP spid="26" grpId="0" animBg="1"/>
      <p:bldP spid="27" grpId="0"/>
      <p:bldP spid="29" grpId="0" animBg="1"/>
      <p:bldP spid="117" grpId="0" animBg="1"/>
      <p:bldP spid="30" grpId="0"/>
      <p:bldP spid="32" grpId="0"/>
      <p:bldP spid="3" grpId="0" animBg="1"/>
      <p:bldP spid="18" grpId="0" animBg="1"/>
      <p:bldP spid="50" grpId="0" animBg="1"/>
      <p:bldP spid="51" grpId="0" animBg="1"/>
      <p:bldP spid="52" grpId="0" animBg="1"/>
      <p:bldP spid="53" grpId="0" animBg="1"/>
      <p:bldP spid="54" grpId="0" animBg="1"/>
      <p:bldP spid="56"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118" grpId="0" animBg="1"/>
      <p:bldP spid="119" grpId="0" animBg="1"/>
      <p:bldP spid="120" grpId="0" animBg="1"/>
      <p:bldP spid="121" grpId="0" animBg="1"/>
      <p:bldP spid="123" grpId="0" animBg="1"/>
      <p:bldP spid="124" grpId="0"/>
      <p:bldP spid="125" grpId="0" animBg="1"/>
      <p:bldP spid="127" grpId="0"/>
      <p:bldP spid="1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652813" y="1092376"/>
            <a:ext cx="8510362" cy="4931339"/>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44928" y="742052"/>
            <a:ext cx="5469440" cy="461665"/>
          </a:xfrm>
          <a:prstGeom prst="rect">
            <a:avLst/>
          </a:prstGeom>
          <a:noFill/>
        </p:spPr>
        <p:txBody>
          <a:bodyPr wrap="square" rtlCol="0">
            <a:spAutoFit/>
          </a:bodyPr>
          <a:lstStyle/>
          <a:p>
            <a:r>
              <a:rPr lang="zh-CN" altLang="en-US" sz="2400" b="1" dirty="0" smtClean="0">
                <a:solidFill>
                  <a:srgbClr val="333F50"/>
                </a:solidFill>
              </a:rPr>
              <a:t>决策系统</a:t>
            </a:r>
            <a:endParaRPr lang="zh-CN" altLang="en-US" sz="2400" b="1" dirty="0">
              <a:solidFill>
                <a:srgbClr val="333F50"/>
              </a:solidFill>
            </a:endParaRPr>
          </a:p>
        </p:txBody>
      </p:sp>
      <p:sp>
        <p:nvSpPr>
          <p:cNvPr id="59" name="圆角矩形 58"/>
          <p:cNvSpPr/>
          <p:nvPr/>
        </p:nvSpPr>
        <p:spPr>
          <a:xfrm>
            <a:off x="4813300" y="146020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4722812" y="6044269"/>
            <a:ext cx="20116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1038" name="左右箭头 1037"/>
          <p:cNvSpPr/>
          <p:nvPr/>
        </p:nvSpPr>
        <p:spPr>
          <a:xfrm>
            <a:off x="6884773" y="4288470"/>
            <a:ext cx="1438639" cy="370157"/>
          </a:xfrm>
          <a:prstGeom prst="leftRightArrow">
            <a:avLst/>
          </a:prstGeom>
          <a:solidFill>
            <a:srgbClr val="FFFFFF"/>
          </a:solid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文本框 1038"/>
          <p:cNvSpPr txBox="1"/>
          <p:nvPr/>
        </p:nvSpPr>
        <p:spPr>
          <a:xfrm>
            <a:off x="6906935" y="3708105"/>
            <a:ext cx="1521065" cy="646331"/>
          </a:xfrm>
          <a:prstGeom prst="rect">
            <a:avLst/>
          </a:prstGeom>
          <a:noFill/>
        </p:spPr>
        <p:txBody>
          <a:bodyPr wrap="square" rtlCol="0">
            <a:spAutoFit/>
          </a:bodyPr>
          <a:lstStyle/>
          <a:p>
            <a:r>
              <a:rPr lang="zh-CN" altLang="en-US" dirty="0" smtClean="0"/>
              <a:t>通过感知系统闭环反馈</a:t>
            </a:r>
            <a:endParaRPr lang="zh-CN" altLang="en-US" dirty="0"/>
          </a:p>
        </p:txBody>
      </p:sp>
      <p:sp>
        <p:nvSpPr>
          <p:cNvPr id="8" name="左弧形箭头 7"/>
          <p:cNvSpPr/>
          <p:nvPr/>
        </p:nvSpPr>
        <p:spPr>
          <a:xfrm rot="16200000" flipH="1">
            <a:off x="3727118" y="-243330"/>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左弧形箭头 22"/>
          <p:cNvSpPr/>
          <p:nvPr/>
        </p:nvSpPr>
        <p:spPr>
          <a:xfrm rot="16200000" flipV="1">
            <a:off x="5219301" y="2274544"/>
            <a:ext cx="1018700" cy="7257347"/>
          </a:xfrm>
          <a:prstGeom prst="curv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矩形 23"/>
          <p:cNvSpPr/>
          <p:nvPr/>
        </p:nvSpPr>
        <p:spPr>
          <a:xfrm>
            <a:off x="3226915" y="1190172"/>
            <a:ext cx="3507577" cy="137819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5" name="矩形 24"/>
          <p:cNvSpPr/>
          <p:nvPr/>
        </p:nvSpPr>
        <p:spPr>
          <a:xfrm>
            <a:off x="4883079" y="2457450"/>
            <a:ext cx="2001694" cy="115034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6" name="矩形 25"/>
          <p:cNvSpPr/>
          <p:nvPr/>
        </p:nvSpPr>
        <p:spPr>
          <a:xfrm>
            <a:off x="6426305" y="1464040"/>
            <a:ext cx="2048809" cy="112313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7" name="矩形 26"/>
          <p:cNvSpPr/>
          <p:nvPr/>
        </p:nvSpPr>
        <p:spPr>
          <a:xfrm>
            <a:off x="8606840" y="1558415"/>
            <a:ext cx="2048809" cy="3654894"/>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34" name="矩形标注 1033"/>
          <p:cNvSpPr/>
          <p:nvPr/>
        </p:nvSpPr>
        <p:spPr>
          <a:xfrm>
            <a:off x="5110661" y="368206"/>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利用智库中的算法及模型对数据进行判别及分析</a:t>
            </a:r>
            <a:endParaRPr lang="zh-CN" altLang="en-US" dirty="0"/>
          </a:p>
        </p:txBody>
      </p:sp>
      <p:sp>
        <p:nvSpPr>
          <p:cNvPr id="28" name="矩形 27"/>
          <p:cNvSpPr/>
          <p:nvPr/>
        </p:nvSpPr>
        <p:spPr>
          <a:xfrm>
            <a:off x="3291709" y="3607798"/>
            <a:ext cx="3615226" cy="230457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左弧形箭头 21"/>
          <p:cNvSpPr/>
          <p:nvPr/>
        </p:nvSpPr>
        <p:spPr>
          <a:xfrm rot="16200000" flipH="1">
            <a:off x="7200248" y="-283232"/>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2" name="矩形标注 91"/>
          <p:cNvSpPr/>
          <p:nvPr/>
        </p:nvSpPr>
        <p:spPr>
          <a:xfrm flipH="1">
            <a:off x="4568044" y="3260658"/>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使用反馈的数据对算法模型进行完善，达到自我学习的功能</a:t>
            </a:r>
            <a:endParaRPr lang="zh-CN" altLang="en-US" dirty="0"/>
          </a:p>
        </p:txBody>
      </p:sp>
    </p:spTree>
    <p:extLst>
      <p:ext uri="{BB962C8B-B14F-4D97-AF65-F5344CB8AC3E}">
        <p14:creationId xmlns:p14="http://schemas.microsoft.com/office/powerpoint/2010/main" val="10157771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5"/>
                                        </p:tgtEl>
                                      </p:cBhvr>
                                    </p:animEffect>
                                    <p:set>
                                      <p:cBhvr>
                                        <p:cTn id="12" dur="1" fill="hold">
                                          <p:stCondLst>
                                            <p:cond delay="499"/>
                                          </p:stCondLst>
                                        </p:cTn>
                                        <p:tgtEl>
                                          <p:spTgt spid="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1000"/>
                                        <p:tgtEl>
                                          <p:spTgt spid="1034"/>
                                        </p:tgtEl>
                                      </p:cBhvr>
                                    </p:animEffect>
                                    <p:anim calcmode="lin" valueType="num">
                                      <p:cBhvr>
                                        <p:cTn id="18" dur="1000" fill="hold"/>
                                        <p:tgtEl>
                                          <p:spTgt spid="1034"/>
                                        </p:tgtEl>
                                        <p:attrNameLst>
                                          <p:attrName>ppt_x</p:attrName>
                                        </p:attrNameLst>
                                      </p:cBhvr>
                                      <p:tavLst>
                                        <p:tav tm="0">
                                          <p:val>
                                            <p:strVal val="#ppt_x"/>
                                          </p:val>
                                        </p:tav>
                                        <p:tav tm="100000">
                                          <p:val>
                                            <p:strVal val="#ppt_x"/>
                                          </p:val>
                                        </p:tav>
                                      </p:tavLst>
                                    </p:anim>
                                    <p:anim calcmode="lin" valueType="num">
                                      <p:cBhvr>
                                        <p:cTn id="19"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grpId="1" nodeType="clickEffect">
                                  <p:stCondLst>
                                    <p:cond delay="0"/>
                                  </p:stCondLst>
                                  <p:childTnLst>
                                    <p:animEffect transition="out" filter="fade">
                                      <p:cBhvr>
                                        <p:cTn id="23" dur="1000"/>
                                        <p:tgtEl>
                                          <p:spTgt spid="1034"/>
                                        </p:tgtEl>
                                      </p:cBhvr>
                                    </p:animEffect>
                                    <p:anim calcmode="lin" valueType="num">
                                      <p:cBhvr>
                                        <p:cTn id="24" dur="1000"/>
                                        <p:tgtEl>
                                          <p:spTgt spid="1034"/>
                                        </p:tgtEl>
                                        <p:attrNameLst>
                                          <p:attrName>ppt_x</p:attrName>
                                        </p:attrNameLst>
                                      </p:cBhvr>
                                      <p:tavLst>
                                        <p:tav tm="0">
                                          <p:val>
                                            <p:strVal val="ppt_x"/>
                                          </p:val>
                                        </p:tav>
                                        <p:tav tm="100000">
                                          <p:val>
                                            <p:strVal val="ppt_x"/>
                                          </p:val>
                                        </p:tav>
                                      </p:tavLst>
                                    </p:anim>
                                    <p:anim calcmode="lin" valueType="num">
                                      <p:cBhvr>
                                        <p:cTn id="25" dur="1000"/>
                                        <p:tgtEl>
                                          <p:spTgt spid="1034"/>
                                        </p:tgtEl>
                                        <p:attrNameLst>
                                          <p:attrName>ppt_y</p:attrName>
                                        </p:attrNameLst>
                                      </p:cBhvr>
                                      <p:tavLst>
                                        <p:tav tm="0">
                                          <p:val>
                                            <p:strVal val="ppt_y"/>
                                          </p:val>
                                        </p:tav>
                                        <p:tav tm="100000">
                                          <p:val>
                                            <p:strVal val="ppt_y+.1"/>
                                          </p:val>
                                        </p:tav>
                                      </p:tavLst>
                                    </p:anim>
                                    <p:set>
                                      <p:cBhvr>
                                        <p:cTn id="26" dur="1" fill="hold">
                                          <p:stCondLst>
                                            <p:cond delay="999"/>
                                          </p:stCondLst>
                                        </p:cTn>
                                        <p:tgtEl>
                                          <p:spTgt spid="103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0" nodeType="clickEffect">
                                  <p:stCondLst>
                                    <p:cond delay="0"/>
                                  </p:stCondLst>
                                  <p:childTnLst>
                                    <p:animEffect transition="out" filter="wipe(down)">
                                      <p:cBhvr>
                                        <p:cTn id="30" dur="500"/>
                                        <p:tgtEl>
                                          <p:spTgt spid="26"/>
                                        </p:tgtEl>
                                      </p:cBhvr>
                                    </p:animEffect>
                                    <p:set>
                                      <p:cBhvr>
                                        <p:cTn id="31" dur="1" fill="hold">
                                          <p:stCondLst>
                                            <p:cond delay="499"/>
                                          </p:stCondLst>
                                        </p:cTn>
                                        <p:tgtEl>
                                          <p:spTgt spid="2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0" nodeType="clickEffect">
                                  <p:stCondLst>
                                    <p:cond delay="0"/>
                                  </p:stCondLst>
                                  <p:childTnLst>
                                    <p:animEffect transition="out" filter="wipe(down)">
                                      <p:cBhvr>
                                        <p:cTn id="35" dur="500"/>
                                        <p:tgtEl>
                                          <p:spTgt spid="27"/>
                                        </p:tgtEl>
                                      </p:cBhvr>
                                    </p:animEffect>
                                    <p:set>
                                      <p:cBhvr>
                                        <p:cTn id="36" dur="1" fill="hold">
                                          <p:stCondLst>
                                            <p:cond delay="499"/>
                                          </p:stCondLst>
                                        </p:cTn>
                                        <p:tgtEl>
                                          <p:spTgt spid="2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randombar(horizontal)">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randombar(horizontal)">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randombar(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4" fill="hold" grpId="0" nodeType="clickEffect">
                                  <p:stCondLst>
                                    <p:cond delay="0"/>
                                  </p:stCondLst>
                                  <p:childTnLst>
                                    <p:animEffect transition="out" filter="wipe(down)">
                                      <p:cBhvr>
                                        <p:cTn id="55" dur="500"/>
                                        <p:tgtEl>
                                          <p:spTgt spid="28"/>
                                        </p:tgtEl>
                                      </p:cBhvr>
                                    </p:animEffect>
                                    <p:set>
                                      <p:cBhvr>
                                        <p:cTn id="56" dur="1" fill="hold">
                                          <p:stCondLst>
                                            <p:cond delay="499"/>
                                          </p:stCondLst>
                                        </p:cTn>
                                        <p:tgtEl>
                                          <p:spTgt spid="2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2"/>
                                        </p:tgtEl>
                                        <p:attrNameLst>
                                          <p:attrName>style.visibility</p:attrName>
                                        </p:attrNameLst>
                                      </p:cBhvr>
                                      <p:to>
                                        <p:strVal val="visible"/>
                                      </p:to>
                                    </p:set>
                                    <p:animEffect transition="in" filter="fade">
                                      <p:cBhvr>
                                        <p:cTn id="61" dur="1000"/>
                                        <p:tgtEl>
                                          <p:spTgt spid="92"/>
                                        </p:tgtEl>
                                      </p:cBhvr>
                                    </p:animEffect>
                                    <p:anim calcmode="lin" valueType="num">
                                      <p:cBhvr>
                                        <p:cTn id="62" dur="1000" fill="hold"/>
                                        <p:tgtEl>
                                          <p:spTgt spid="92"/>
                                        </p:tgtEl>
                                        <p:attrNameLst>
                                          <p:attrName>ppt_x</p:attrName>
                                        </p:attrNameLst>
                                      </p:cBhvr>
                                      <p:tavLst>
                                        <p:tav tm="0">
                                          <p:val>
                                            <p:strVal val="#ppt_x"/>
                                          </p:val>
                                        </p:tav>
                                        <p:tav tm="100000">
                                          <p:val>
                                            <p:strVal val="#ppt_x"/>
                                          </p:val>
                                        </p:tav>
                                      </p:tavLst>
                                    </p:anim>
                                    <p:anim calcmode="lin" valueType="num">
                                      <p:cBhvr>
                                        <p:cTn id="63"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xit" presetSubtype="0" fill="hold" grpId="1" nodeType="clickEffect">
                                  <p:stCondLst>
                                    <p:cond delay="0"/>
                                  </p:stCondLst>
                                  <p:childTnLst>
                                    <p:animEffect transition="out" filter="fade">
                                      <p:cBhvr>
                                        <p:cTn id="67" dur="1000"/>
                                        <p:tgtEl>
                                          <p:spTgt spid="92"/>
                                        </p:tgtEl>
                                      </p:cBhvr>
                                    </p:animEffect>
                                    <p:anim calcmode="lin" valueType="num">
                                      <p:cBhvr>
                                        <p:cTn id="68" dur="1000"/>
                                        <p:tgtEl>
                                          <p:spTgt spid="92"/>
                                        </p:tgtEl>
                                        <p:attrNameLst>
                                          <p:attrName>ppt_x</p:attrName>
                                        </p:attrNameLst>
                                      </p:cBhvr>
                                      <p:tavLst>
                                        <p:tav tm="0">
                                          <p:val>
                                            <p:strVal val="ppt_x"/>
                                          </p:val>
                                        </p:tav>
                                        <p:tav tm="100000">
                                          <p:val>
                                            <p:strVal val="ppt_x"/>
                                          </p:val>
                                        </p:tav>
                                      </p:tavLst>
                                    </p:anim>
                                    <p:anim calcmode="lin" valueType="num">
                                      <p:cBhvr>
                                        <p:cTn id="69" dur="1000"/>
                                        <p:tgtEl>
                                          <p:spTgt spid="92"/>
                                        </p:tgtEl>
                                        <p:attrNameLst>
                                          <p:attrName>ppt_y</p:attrName>
                                        </p:attrNameLst>
                                      </p:cBhvr>
                                      <p:tavLst>
                                        <p:tav tm="0">
                                          <p:val>
                                            <p:strVal val="ppt_y"/>
                                          </p:val>
                                        </p:tav>
                                        <p:tav tm="100000">
                                          <p:val>
                                            <p:strVal val="ppt_y+.1"/>
                                          </p:val>
                                        </p:tav>
                                      </p:tavLst>
                                    </p:anim>
                                    <p:set>
                                      <p:cBhvr>
                                        <p:cTn id="70" dur="1" fill="hold">
                                          <p:stCondLst>
                                            <p:cond delay="999"/>
                                          </p:stCondLst>
                                        </p:cTn>
                                        <p:tgtEl>
                                          <p:spTgt spid="9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039"/>
                                        </p:tgtEl>
                                        <p:attrNameLst>
                                          <p:attrName>style.visibility</p:attrName>
                                        </p:attrNameLst>
                                      </p:cBhvr>
                                      <p:to>
                                        <p:strVal val="visible"/>
                                      </p:to>
                                    </p:set>
                                    <p:animEffect transition="in" filter="wipe(down)">
                                      <p:cBhvr>
                                        <p:cTn id="75" dur="500"/>
                                        <p:tgtEl>
                                          <p:spTgt spid="1039"/>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038"/>
                                        </p:tgtEl>
                                        <p:attrNameLst>
                                          <p:attrName>style.visibility</p:attrName>
                                        </p:attrNameLst>
                                      </p:cBhvr>
                                      <p:to>
                                        <p:strVal val="visible"/>
                                      </p:to>
                                    </p:set>
                                    <p:animEffect transition="in" filter="wipe(down)">
                                      <p:cBhvr>
                                        <p:cTn id="78" dur="500"/>
                                        <p:tgtEl>
                                          <p:spTgt spid="1038"/>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anim calcmode="lin" valueType="num">
                                      <p:cBhvr>
                                        <p:cTn id="83" dur="500" fill="hold"/>
                                        <p:tgtEl>
                                          <p:spTgt spid="59"/>
                                        </p:tgtEl>
                                        <p:attrNameLst>
                                          <p:attrName>ppt_w</p:attrName>
                                        </p:attrNameLst>
                                      </p:cBhvr>
                                      <p:tavLst>
                                        <p:tav tm="0">
                                          <p:val>
                                            <p:fltVal val="0"/>
                                          </p:val>
                                        </p:tav>
                                        <p:tav tm="100000">
                                          <p:val>
                                            <p:strVal val="#ppt_w"/>
                                          </p:val>
                                        </p:tav>
                                      </p:tavLst>
                                    </p:anim>
                                    <p:anim calcmode="lin" valueType="num">
                                      <p:cBhvr>
                                        <p:cTn id="84" dur="500" fill="hold"/>
                                        <p:tgtEl>
                                          <p:spTgt spid="59"/>
                                        </p:tgtEl>
                                        <p:attrNameLst>
                                          <p:attrName>ppt_h</p:attrName>
                                        </p:attrNameLst>
                                      </p:cBhvr>
                                      <p:tavLst>
                                        <p:tav tm="0">
                                          <p:val>
                                            <p:fltVal val="0"/>
                                          </p:val>
                                        </p:tav>
                                        <p:tav tm="100000">
                                          <p:val>
                                            <p:strVal val="#ppt_h"/>
                                          </p:val>
                                        </p:tav>
                                      </p:tavLst>
                                    </p:anim>
                                    <p:animEffect transition="in" filter="fade">
                                      <p:cBhvr>
                                        <p:cTn id="85" dur="500"/>
                                        <p:tgtEl>
                                          <p:spTgt spid="5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60"/>
                                        </p:tgtEl>
                                        <p:attrNameLst>
                                          <p:attrName>style.visibility</p:attrName>
                                        </p:attrNameLst>
                                      </p:cBhvr>
                                      <p:to>
                                        <p:strVal val="visible"/>
                                      </p:to>
                                    </p:set>
                                    <p:anim calcmode="lin" valueType="num">
                                      <p:cBhvr>
                                        <p:cTn id="88" dur="500" fill="hold"/>
                                        <p:tgtEl>
                                          <p:spTgt spid="60"/>
                                        </p:tgtEl>
                                        <p:attrNameLst>
                                          <p:attrName>ppt_w</p:attrName>
                                        </p:attrNameLst>
                                      </p:cBhvr>
                                      <p:tavLst>
                                        <p:tav tm="0">
                                          <p:val>
                                            <p:fltVal val="0"/>
                                          </p:val>
                                        </p:tav>
                                        <p:tav tm="100000">
                                          <p:val>
                                            <p:strVal val="#ppt_w"/>
                                          </p:val>
                                        </p:tav>
                                      </p:tavLst>
                                    </p:anim>
                                    <p:anim calcmode="lin" valueType="num">
                                      <p:cBhvr>
                                        <p:cTn id="89" dur="500" fill="hold"/>
                                        <p:tgtEl>
                                          <p:spTgt spid="60"/>
                                        </p:tgtEl>
                                        <p:attrNameLst>
                                          <p:attrName>ppt_h</p:attrName>
                                        </p:attrNameLst>
                                      </p:cBhvr>
                                      <p:tavLst>
                                        <p:tav tm="0">
                                          <p:val>
                                            <p:fltVal val="0"/>
                                          </p:val>
                                        </p:tav>
                                        <p:tav tm="100000">
                                          <p:val>
                                            <p:strVal val="#ppt_h"/>
                                          </p:val>
                                        </p:tav>
                                      </p:tavLst>
                                    </p:anim>
                                    <p:animEffect transition="in" filter="fade">
                                      <p:cBhvr>
                                        <p:cTn id="9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p:bldP spid="1038" grpId="0" animBg="1"/>
      <p:bldP spid="1039" grpId="0"/>
      <p:bldP spid="8" grpId="0" animBg="1"/>
      <p:bldP spid="23" grpId="0" animBg="1"/>
      <p:bldP spid="24" grpId="0" animBg="1"/>
      <p:bldP spid="25" grpId="0" animBg="1"/>
      <p:bldP spid="26" grpId="0" animBg="1"/>
      <p:bldP spid="27" grpId="0" animBg="1"/>
      <p:bldP spid="1034" grpId="0" animBg="1"/>
      <p:bldP spid="1034" grpId="1" animBg="1"/>
      <p:bldP spid="28" grpId="0" animBg="1"/>
      <p:bldP spid="22" grpId="0" animBg="1"/>
      <p:bldP spid="92" grpId="0" animBg="1"/>
      <p:bldP spid="9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rgbClr val="32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9" name="组合 8"/>
          <p:cNvGrpSpPr/>
          <p:nvPr/>
        </p:nvGrpSpPr>
        <p:grpSpPr>
          <a:xfrm>
            <a:off x="3183890" y="1708905"/>
            <a:ext cx="1441450" cy="869315"/>
            <a:chOff x="5053" y="1918"/>
            <a:chExt cx="2270" cy="1369"/>
          </a:xfrm>
        </p:grpSpPr>
        <p:sp>
          <p:nvSpPr>
            <p:cNvPr id="20" name="右箭头 19"/>
            <p:cNvSpPr/>
            <p:nvPr/>
          </p:nvSpPr>
          <p:spPr>
            <a:xfrm>
              <a:off x="5053" y="2678"/>
              <a:ext cx="2270" cy="609"/>
            </a:xfrm>
            <a:prstGeom prst="rightArrow">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11" name="右箭头 10"/>
          <p:cNvSpPr/>
          <p:nvPr/>
        </p:nvSpPr>
        <p:spPr>
          <a:xfrm rot="10800000">
            <a:off x="3202940" y="4537830"/>
            <a:ext cx="1352550" cy="38671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圆角矩形 12"/>
          <p:cNvSpPr/>
          <p:nvPr/>
        </p:nvSpPr>
        <p:spPr>
          <a:xfrm>
            <a:off x="4930775" y="1847970"/>
            <a:ext cx="1313815" cy="3169285"/>
          </a:xfrm>
          <a:prstGeom prst="roundRect">
            <a:avLst/>
          </a:prstGeom>
          <a:solidFill>
            <a:schemeClr val="accent5">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流程处理模块</a:t>
            </a:r>
            <a:endParaRPr lang="zh-CN" altLang="en-US" b="1" dirty="0"/>
          </a:p>
        </p:txBody>
      </p:sp>
      <p:sp>
        <p:nvSpPr>
          <p:cNvPr id="14" name="圆角矩形 13"/>
          <p:cNvSpPr/>
          <p:nvPr/>
        </p:nvSpPr>
        <p:spPr>
          <a:xfrm>
            <a:off x="1664970" y="3194805"/>
            <a:ext cx="1313815" cy="1960245"/>
          </a:xfrm>
          <a:prstGeom prst="roundRect">
            <a:avLst/>
          </a:prstGeom>
          <a:solidFill>
            <a:srgbClr val="1CBDE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感知系统</a:t>
            </a:r>
            <a:endParaRPr lang="zh-CN" altLang="en-US" dirty="0"/>
          </a:p>
        </p:txBody>
      </p:sp>
      <p:sp>
        <p:nvSpPr>
          <p:cNvPr id="15" name="圆角矩形 14"/>
          <p:cNvSpPr/>
          <p:nvPr/>
        </p:nvSpPr>
        <p:spPr>
          <a:xfrm>
            <a:off x="1664970" y="1945760"/>
            <a:ext cx="1313815" cy="1061085"/>
          </a:xfrm>
          <a:prstGeom prst="roundRect">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决策系统</a:t>
            </a:r>
          </a:p>
        </p:txBody>
      </p:sp>
      <p:sp>
        <p:nvSpPr>
          <p:cNvPr id="17" name="右箭头 16"/>
          <p:cNvSpPr/>
          <p:nvPr/>
        </p:nvSpPr>
        <p:spPr>
          <a:xfrm>
            <a:off x="6446520" y="2928105"/>
            <a:ext cx="1522730" cy="1009015"/>
          </a:xfrm>
          <a:prstGeom prst="rightArrow">
            <a:avLst/>
          </a:prstGeom>
          <a:solidFill>
            <a:srgbClr val="8FAADC"/>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圆角矩形 18"/>
          <p:cNvSpPr/>
          <p:nvPr/>
        </p:nvSpPr>
        <p:spPr>
          <a:xfrm>
            <a:off x="8171815" y="1847970"/>
            <a:ext cx="1313815" cy="3306445"/>
          </a:xfrm>
          <a:prstGeom prst="roundRect">
            <a:avLst/>
          </a:prstGeom>
          <a:solidFill>
            <a:schemeClr val="bg1">
              <a:lumMod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信息通报模块</a:t>
            </a:r>
            <a:endParaRPr lang="zh-CN" altLang="en-US" b="1" dirty="0"/>
          </a:p>
        </p:txBody>
      </p:sp>
      <p:sp>
        <p:nvSpPr>
          <p:cNvPr id="22" name="圆角矩形 21"/>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文本框 1"/>
          <p:cNvSpPr txBox="1"/>
          <p:nvPr/>
        </p:nvSpPr>
        <p:spPr>
          <a:xfrm>
            <a:off x="3370580" y="5131555"/>
            <a:ext cx="1588770" cy="369332"/>
          </a:xfrm>
          <a:prstGeom prst="rect">
            <a:avLst/>
          </a:prstGeom>
          <a:noFill/>
        </p:spPr>
        <p:txBody>
          <a:bodyPr wrap="square" rtlCol="0">
            <a:spAutoFit/>
          </a:bodyPr>
          <a:lstStyle/>
          <a:p>
            <a:r>
              <a:rPr lang="zh-CN" altLang="en-US" dirty="0" smtClean="0"/>
              <a:t>完成闭环</a:t>
            </a:r>
            <a:endParaRPr lang="zh-CN" altLang="en-US" dirty="0"/>
          </a:p>
        </p:txBody>
      </p:sp>
      <p:sp>
        <p:nvSpPr>
          <p:cNvPr id="24" name="文本框 23"/>
          <p:cNvSpPr txBox="1"/>
          <p:nvPr/>
        </p:nvSpPr>
        <p:spPr>
          <a:xfrm>
            <a:off x="6267767" y="5832852"/>
            <a:ext cx="2011680" cy="368300"/>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控制系统</a:t>
            </a:r>
            <a:r>
              <a:rPr lang="zh-CN" altLang="en-US" b="1" dirty="0">
                <a:solidFill>
                  <a:schemeClr val="accent1"/>
                </a:solidFill>
                <a:effectLst>
                  <a:outerShdw blurRad="38100" dist="25400" dir="5400000" algn="ctr" rotWithShape="0">
                    <a:srgbClr val="6E747A">
                      <a:alpha val="43000"/>
                    </a:srgbClr>
                  </a:outerShdw>
                </a:effectLst>
              </a:rPr>
              <a:t>核心模块</a:t>
            </a:r>
          </a:p>
        </p:txBody>
      </p:sp>
      <p:pic>
        <p:nvPicPr>
          <p:cNvPr id="3074" name="Picture 2" descr="“process icon”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842" y="2267329"/>
            <a:ext cx="924242" cy="92424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form icon”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5593" y="2112221"/>
            <a:ext cx="1081015" cy="108101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5" cstate="print"/>
          <a:srcRect/>
          <a:stretch>
            <a:fillRect/>
          </a:stretch>
        </p:blipFill>
        <p:spPr bwMode="auto">
          <a:xfrm>
            <a:off x="6446520" y="1847970"/>
            <a:ext cx="5372504" cy="3481684"/>
          </a:xfrm>
          <a:prstGeom prst="rect">
            <a:avLst/>
          </a:prstGeom>
          <a:noFill/>
          <a:ln w="9525">
            <a:noFill/>
            <a:miter lim="800000"/>
            <a:headEnd/>
            <a:tailEnd/>
          </a:ln>
        </p:spPr>
      </p:pic>
    </p:spTree>
    <p:extLst>
      <p:ext uri="{BB962C8B-B14F-4D97-AF65-F5344CB8AC3E}">
        <p14:creationId xmlns:p14="http://schemas.microsoft.com/office/powerpoint/2010/main" val="146841987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nodeType="with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barn(inVertical)">
                                      <p:cBhvr>
                                        <p:cTn id="18" dur="500"/>
                                        <p:tgtEl>
                                          <p:spTgt spid="3074"/>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randombar(horizontal)">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5"/>
                                        </p:tgtEl>
                                      </p:cBhvr>
                                    </p:animEffect>
                                    <p:set>
                                      <p:cBhvr>
                                        <p:cTn id="28" dur="1" fill="hold">
                                          <p:stCondLst>
                                            <p:cond delay="499"/>
                                          </p:stCondLst>
                                        </p:cTn>
                                        <p:tgtEl>
                                          <p:spTgt spid="2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3078"/>
                                        </p:tgtEl>
                                        <p:attrNameLst>
                                          <p:attrName>style.visibility</p:attrName>
                                        </p:attrNameLst>
                                      </p:cBhvr>
                                      <p:to>
                                        <p:strVal val="visible"/>
                                      </p:to>
                                    </p:set>
                                    <p:animEffect transition="in" filter="fade">
                                      <p:cBhvr>
                                        <p:cTn id="39" dur="500"/>
                                        <p:tgtEl>
                                          <p:spTgt spid="3078"/>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7" grpId="0" animBg="1"/>
      <p:bldP spid="19" grpId="0" animBg="1"/>
      <p:bldP spid="22" grpId="0" animBg="1"/>
      <p:bldP spid="2" grpId="0"/>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847850" y="3329752"/>
            <a:ext cx="1781175"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5862864" y="1190171"/>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6172425" y="4656137"/>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采集数据（</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6172427" y="3068184"/>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6172425" y="1415369"/>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故障处理（</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4362450" y="1132335"/>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914400" y="800100"/>
            <a:ext cx="1943100" cy="369332"/>
          </a:xfrm>
          <a:prstGeom prst="rect">
            <a:avLst/>
          </a:prstGeom>
          <a:noFill/>
        </p:spPr>
        <p:txBody>
          <a:bodyPr wrap="square" rtlCol="0">
            <a:spAutoFit/>
          </a:bodyPr>
          <a:lstStyle/>
          <a:p>
            <a:r>
              <a:rPr lang="zh-CN" altLang="en-US" dirty="0" smtClean="0"/>
              <a:t>以故障管理为例</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461665"/>
          </a:xfrm>
          <a:prstGeom prst="rect">
            <a:avLst/>
          </a:prstGeom>
          <a:noFill/>
        </p:spPr>
        <p:txBody>
          <a:bodyPr wrap="square" rtlCol="0">
            <a:spAutoFit/>
          </a:bodyPr>
          <a:lstStyle/>
          <a:p>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smtClean="0">
                <a:solidFill>
                  <a:srgbClr val="333F50"/>
                </a:solidFill>
              </a:rPr>
              <a:t>异常检测</a:t>
            </a:r>
            <a:endParaRPr lang="zh-CN" altLang="en-US" sz="2400"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13510" y="2186940"/>
            <a:ext cx="9488805" cy="3692525"/>
          </a:xfrm>
          <a:prstGeom prst="rect">
            <a:avLst/>
          </a:prstGeom>
          <a:noFill/>
        </p:spPr>
        <p:txBody>
          <a:bodyPr wrap="square" rtlCol="0">
            <a:spAutoFit/>
          </a:bodyPr>
          <a:lstStyle/>
          <a:p>
            <a:pPr indent="0" fontAlgn="auto">
              <a:lnSpc>
                <a:spcPct val="150000"/>
              </a:lnSpc>
            </a:pPr>
            <a:r>
              <a:rPr lang="zh-CN" altLang="en-US" sz="2400" dirty="0" smtClean="0"/>
              <a:t> 一、数据预处理</a:t>
            </a:r>
          </a:p>
          <a:p>
            <a:pPr indent="0" fontAlgn="auto">
              <a:lnSpc>
                <a:spcPct val="150000"/>
              </a:lnSpc>
            </a:pPr>
            <a:r>
              <a:rPr lang="en-US" altLang="zh-CN" dirty="0" smtClean="0">
                <a:sym typeface="+mn-ea"/>
              </a:rPr>
              <a:t>	</a:t>
            </a:r>
            <a:r>
              <a:rPr lang="zh-CN" altLang="en-US" dirty="0" smtClean="0">
                <a:sym typeface="+mn-ea"/>
              </a:rPr>
              <a:t>利用无监督分类算法对原始数据进行</a:t>
            </a:r>
            <a:r>
              <a:rPr lang="zh-CN" altLang="en-US" dirty="0" smtClean="0">
                <a:solidFill>
                  <a:srgbClr val="C00000"/>
                </a:solidFill>
                <a:sym typeface="+mn-ea"/>
              </a:rPr>
              <a:t>预筛选</a:t>
            </a:r>
            <a:r>
              <a:rPr lang="zh-CN" altLang="en-US" dirty="0" smtClean="0">
                <a:sym typeface="+mn-ea"/>
              </a:rPr>
              <a:t>，降低数据噪声，提高标记效率</a:t>
            </a:r>
            <a:endParaRPr lang="en-US" altLang="zh-CN" dirty="0" smtClean="0"/>
          </a:p>
          <a:p>
            <a:pPr indent="0" fontAlgn="auto">
              <a:lnSpc>
                <a:spcPct val="150000"/>
              </a:lnSpc>
            </a:pPr>
            <a:r>
              <a:rPr lang="zh-CN" altLang="en-US" sz="2400" dirty="0" smtClean="0">
                <a:sym typeface="+mn-ea"/>
              </a:rPr>
              <a:t>二、异常标记</a:t>
            </a:r>
          </a:p>
          <a:p>
            <a:pPr indent="0" fontAlgn="auto">
              <a:lnSpc>
                <a:spcPct val="150000"/>
              </a:lnSpc>
            </a:pPr>
            <a:r>
              <a:rPr lang="en-US" altLang="zh-CN" sz="2400" dirty="0" smtClean="0">
                <a:sym typeface="+mn-ea"/>
              </a:rPr>
              <a:t>	</a:t>
            </a:r>
            <a:r>
              <a:rPr lang="zh-CN" altLang="en-US" dirty="0" smtClean="0">
                <a:sym typeface="+mn-ea"/>
              </a:rPr>
              <a:t>对预筛选好的数据进行异常时序段的</a:t>
            </a:r>
            <a:r>
              <a:rPr lang="zh-CN" altLang="en-US" dirty="0" smtClean="0">
                <a:solidFill>
                  <a:srgbClr val="C00000"/>
                </a:solidFill>
                <a:sym typeface="+mn-ea"/>
              </a:rPr>
              <a:t>标记</a:t>
            </a:r>
          </a:p>
          <a:p>
            <a:pPr indent="0" fontAlgn="auto">
              <a:lnSpc>
                <a:spcPct val="150000"/>
              </a:lnSpc>
            </a:pPr>
            <a:r>
              <a:rPr lang="zh-CN" altLang="en-US" sz="2400" dirty="0" smtClean="0">
                <a:sym typeface="+mn-ea"/>
              </a:rPr>
              <a:t>三、模型建立</a:t>
            </a:r>
          </a:p>
          <a:p>
            <a:pPr indent="0" fontAlgn="auto">
              <a:lnSpc>
                <a:spcPct val="150000"/>
              </a:lnSpc>
            </a:pPr>
            <a:r>
              <a:rPr lang="en-US" altLang="zh-CN" sz="2400" dirty="0" smtClean="0">
                <a:sym typeface="+mn-ea"/>
              </a:rPr>
              <a:t>	</a:t>
            </a:r>
            <a:r>
              <a:rPr lang="zh-CN" altLang="en-US" sz="1800" dirty="0" smtClean="0"/>
              <a:t>将数据、标记、以及算法准确性期望输入到模型（</a:t>
            </a:r>
            <a:r>
              <a:rPr lang="zh-CN" altLang="en-US" dirty="0" smtClean="0">
                <a:sym typeface="+mn-ea"/>
              </a:rPr>
              <a:t>机器学习算法</a:t>
            </a:r>
            <a:r>
              <a:rPr lang="zh-CN" altLang="en-US" sz="1800" dirty="0" smtClean="0"/>
              <a:t>）中，对模型进行参数调整，直至模型达到最优</a:t>
            </a:r>
            <a:r>
              <a:rPr lang="en-US" altLang="zh-CN" sz="1800" dirty="0" smtClean="0"/>
              <a:t>.</a:t>
            </a:r>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
        <p:nvSpPr>
          <p:cNvPr id="10" name="文本框 9"/>
          <p:cNvSpPr txBox="1"/>
          <p:nvPr/>
        </p:nvSpPr>
        <p:spPr>
          <a:xfrm>
            <a:off x="929005" y="1401445"/>
            <a:ext cx="1706880" cy="645160"/>
          </a:xfrm>
          <a:prstGeom prst="rect">
            <a:avLst/>
          </a:prstGeom>
          <a:noFill/>
        </p:spPr>
        <p:txBody>
          <a:bodyPr wrap="none" rtlCol="0" anchor="t">
            <a:spAutoFit/>
          </a:bodyPr>
          <a:lstStyle/>
          <a:p>
            <a:pPr indent="0" fontAlgn="auto">
              <a:lnSpc>
                <a:spcPct val="150000"/>
              </a:lnSpc>
            </a:pPr>
            <a:r>
              <a:rPr lang="zh-CN" altLang="en-US" sz="2400" dirty="0" smtClean="0">
                <a:sym typeface="+mn-ea"/>
              </a:rPr>
              <a:t>解决方案：</a:t>
            </a:r>
            <a:endParaRPr lang="zh-CN" altLang="en-US" sz="2400"/>
          </a:p>
        </p:txBody>
      </p:sp>
    </p:spTree>
    <p:extLst>
      <p:ext uri="{BB962C8B-B14F-4D97-AF65-F5344CB8AC3E}">
        <p14:creationId xmlns:p14="http://schemas.microsoft.com/office/powerpoint/2010/main" val="3919834212"/>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24114" y="1554654"/>
            <a:ext cx="4610100" cy="1014730"/>
          </a:xfrm>
          <a:prstGeom prst="rect">
            <a:avLst/>
          </a:prstGeom>
          <a:noFill/>
        </p:spPr>
        <p:txBody>
          <a:bodyPr wrap="square" rtlCol="0">
            <a:spAutoFit/>
          </a:bodyPr>
          <a:lstStyle/>
          <a:p>
            <a:pPr indent="0" fontAlgn="auto">
              <a:lnSpc>
                <a:spcPct val="150000"/>
              </a:lnSpc>
            </a:pPr>
            <a:r>
              <a:rPr lang="zh-CN" altLang="en-US" sz="2000" dirty="0" smtClean="0"/>
              <a:t>对于几千条监控</a:t>
            </a:r>
            <a:r>
              <a:rPr lang="en-US" altLang="zh-CN" sz="2000" dirty="0" smtClean="0"/>
              <a:t>KPI</a:t>
            </a:r>
            <a:r>
              <a:rPr lang="zh-CN" altLang="en-US" sz="2000" dirty="0" smtClean="0"/>
              <a:t>，是否需要对每一条曲线进行反复测验确定算法呢</a:t>
            </a:r>
            <a:r>
              <a:rPr lang="zh-CN" altLang="en-US" sz="2000" dirty="0"/>
              <a:t>？</a:t>
            </a:r>
            <a:endParaRPr lang="en-US" altLang="zh-CN" sz="2000" dirty="0" smtClean="0"/>
          </a:p>
        </p:txBody>
      </p:sp>
      <p:sp>
        <p:nvSpPr>
          <p:cNvPr id="2" name="文本框 1"/>
          <p:cNvSpPr txBox="1"/>
          <p:nvPr/>
        </p:nvSpPr>
        <p:spPr>
          <a:xfrm>
            <a:off x="323759" y="2866918"/>
            <a:ext cx="5181600" cy="2861310"/>
          </a:xfrm>
          <a:prstGeom prst="rect">
            <a:avLst/>
          </a:prstGeom>
          <a:noFill/>
        </p:spPr>
        <p:txBody>
          <a:bodyPr wrap="square" rtlCol="0">
            <a:spAutoFit/>
          </a:bodyPr>
          <a:lstStyle/>
          <a:p>
            <a:pPr indent="457200">
              <a:lnSpc>
                <a:spcPct val="150000"/>
              </a:lnSpc>
            </a:pPr>
            <a:r>
              <a:rPr lang="zh-CN" altLang="en-US" sz="2000" dirty="0" smtClean="0"/>
              <a:t>答： 不需要！</a:t>
            </a:r>
            <a:endParaRPr lang="en-US" altLang="zh-CN" sz="2000" dirty="0" smtClean="0"/>
          </a:p>
          <a:p>
            <a:pPr indent="457200">
              <a:lnSpc>
                <a:spcPct val="150000"/>
              </a:lnSpc>
            </a:pPr>
            <a:r>
              <a:rPr lang="zh-CN" altLang="en-US" sz="2000" dirty="0" smtClean="0"/>
              <a:t>虽然监控</a:t>
            </a:r>
            <a:r>
              <a:rPr lang="en-US" altLang="zh-CN" sz="2000" dirty="0" smtClean="0"/>
              <a:t>KPI</a:t>
            </a:r>
            <a:r>
              <a:rPr lang="zh-CN" altLang="en-US" sz="2000" dirty="0" smtClean="0"/>
              <a:t>数量很多，但是种类却不多。</a:t>
            </a:r>
            <a:endParaRPr lang="en-US" altLang="zh-CN" sz="2000" dirty="0" smtClean="0"/>
          </a:p>
          <a:p>
            <a:pPr indent="457200">
              <a:lnSpc>
                <a:spcPct val="150000"/>
              </a:lnSpc>
            </a:pPr>
            <a:r>
              <a:rPr lang="zh-CN" altLang="en-US" sz="2000" dirty="0" smtClean="0"/>
              <a:t>使用 </a:t>
            </a:r>
            <a:r>
              <a:rPr lang="en-US" altLang="zh-CN" sz="2000" dirty="0" smtClean="0"/>
              <a:t>KPI </a:t>
            </a:r>
            <a:r>
              <a:rPr lang="zh-CN" altLang="en-US" sz="2000" dirty="0" smtClean="0"/>
              <a:t>聚合算法对其进行分类，然</a:t>
            </a:r>
            <a:r>
              <a:rPr lang="zh-CN" altLang="en-US" sz="2000" dirty="0"/>
              <a:t>后</a:t>
            </a:r>
            <a:r>
              <a:rPr lang="zh-CN" altLang="en-US" sz="2000" dirty="0" smtClean="0"/>
              <a:t>对每一类选择合适的算法，使用迁移学习的方法，将一个训练好的模型迁移到同类曲线的监控上，同时还可大大减少训练时间。</a:t>
            </a:r>
            <a:endParaRPr lang="zh-CN" altLang="en-US" sz="2000"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p>
        </p:txBody>
      </p:sp>
    </p:spTree>
    <p:extLst>
      <p:ext uri="{BB962C8B-B14F-4D97-AF65-F5344CB8AC3E}">
        <p14:creationId xmlns:p14="http://schemas.microsoft.com/office/powerpoint/2010/main" val="2528204006"/>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742292"/>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6024</TotalTime>
  <Words>1656</Words>
  <Application>Microsoft Office PowerPoint</Application>
  <PresentationFormat>宽屏</PresentationFormat>
  <Paragraphs>420</Paragraphs>
  <Slides>27</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等线</vt:lpstr>
      <vt:lpstr>宋体</vt:lpstr>
      <vt:lpstr>微软雅黑</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347</cp:revision>
  <dcterms:created xsi:type="dcterms:W3CDTF">2015-08-05T01:47:03Z</dcterms:created>
  <dcterms:modified xsi:type="dcterms:W3CDTF">2018-03-07T16:30:12Z</dcterms:modified>
</cp:coreProperties>
</file>