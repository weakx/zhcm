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96" r:id="rId2"/>
    <p:sldId id="1061" r:id="rId3"/>
    <p:sldId id="1062" r:id="rId4"/>
    <p:sldId id="1063" r:id="rId5"/>
    <p:sldId id="1064" r:id="rId6"/>
    <p:sldId id="1065" r:id="rId7"/>
    <p:sldId id="1045" r:id="rId8"/>
    <p:sldId id="1046" r:id="rId9"/>
    <p:sldId id="1066" r:id="rId10"/>
    <p:sldId id="1080" r:id="rId11"/>
    <p:sldId id="1059" r:id="rId12"/>
    <p:sldId id="1028" r:id="rId13"/>
    <p:sldId id="1011" r:id="rId14"/>
    <p:sldId id="1084" r:id="rId15"/>
    <p:sldId id="1094" r:id="rId16"/>
    <p:sldId id="1097" r:id="rId17"/>
    <p:sldId id="1095" r:id="rId18"/>
    <p:sldId id="1099" r:id="rId19"/>
    <p:sldId id="1100" r:id="rId20"/>
    <p:sldId id="1101" r:id="rId21"/>
    <p:sldId id="1079" r:id="rId22"/>
    <p:sldId id="1067" r:id="rId23"/>
    <p:sldId id="1086" r:id="rId24"/>
    <p:sldId id="1103" r:id="rId25"/>
    <p:sldId id="1104" r:id="rId26"/>
    <p:sldId id="1105" r:id="rId27"/>
    <p:sldId id="1106" r:id="rId28"/>
    <p:sldId id="1107" r:id="rId29"/>
    <p:sldId id="1102" r:id="rId30"/>
    <p:sldId id="1083" r:id="rId31"/>
    <p:sldId id="1118" r:id="rId32"/>
    <p:sldId id="1117" r:id="rId33"/>
    <p:sldId id="1119" r:id="rId34"/>
    <p:sldId id="1108" r:id="rId35"/>
    <p:sldId id="1019" r:id="rId36"/>
    <p:sldId id="1114" r:id="rId37"/>
    <p:sldId id="1115" r:id="rId38"/>
    <p:sldId id="1120" r:id="rId39"/>
    <p:sldId id="1121" r:id="rId40"/>
    <p:sldId id="1109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8">
          <p15:clr>
            <a:srgbClr val="A4A3A4"/>
          </p15:clr>
        </p15:guide>
        <p15:guide id="2" pos="392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1" clrIdx="0"/>
  <p:cmAuthor id="2" name="Lara Young" initials="LY" lastIdx="1" clrIdx="1"/>
  <p:cmAuthor id="3" name="邹立斌" initials="W用" lastIdx="3" clrIdx="2">
    <p:extLst>
      <p:ext uri="{19B8F6BF-5375-455C-9EA6-DF929625EA0E}">
        <p15:presenceInfo xmlns:p15="http://schemas.microsoft.com/office/powerpoint/2012/main" userId="邹立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BFBFBF"/>
    <a:srgbClr val="0000FF"/>
    <a:srgbClr val="FF6600"/>
    <a:srgbClr val="FFC000"/>
    <a:srgbClr val="91C6F7"/>
    <a:srgbClr val="FFFFFF"/>
    <a:srgbClr val="B0B0B0"/>
    <a:srgbClr val="A9D18E"/>
    <a:srgbClr val="9DC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6" autoAdjust="0"/>
    <p:restoredTop sz="87033" autoAdjust="0"/>
  </p:normalViewPr>
  <p:slideViewPr>
    <p:cSldViewPr snapToGrid="0">
      <p:cViewPr varScale="1">
        <p:scale>
          <a:sx n="67" d="100"/>
          <a:sy n="67" d="100"/>
        </p:scale>
        <p:origin x="210" y="60"/>
      </p:cViewPr>
      <p:guideLst>
        <p:guide orient="horz" pos="2058"/>
        <p:guide pos="39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硬件类故障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华为</c:v>
                </c:pt>
                <c:pt idx="1">
                  <c:v>阿尔卡特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93-40D3-8783-275DC662F8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路由协议类故障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华为</c:v>
                </c:pt>
                <c:pt idx="1">
                  <c:v>阿尔卡特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93-40D3-8783-275DC662F8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其他故障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华为</c:v>
                </c:pt>
                <c:pt idx="1">
                  <c:v>阿尔卡特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127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93-40D3-8783-275DC662F8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321162208"/>
        <c:axId val="321166128"/>
      </c:barChart>
      <c:catAx>
        <c:axId val="32116220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321166128"/>
        <c:crosses val="autoZero"/>
        <c:auto val="1"/>
        <c:lblAlgn val="ctr"/>
        <c:lblOffset val="100"/>
        <c:noMultiLvlLbl val="0"/>
      </c:catAx>
      <c:valAx>
        <c:axId val="321166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32116220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600"/>
      </a:pPr>
      <a:endParaRPr lang="zh-CN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94FECC-1913-4030-93F3-81401896AEC7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B29F8514-D44C-47D8-8BDB-564F6B88A14F}">
      <dgm:prSet phldrT="[文本]" custT="1"/>
      <dgm:spPr/>
      <dgm:t>
        <a:bodyPr/>
        <a:lstStyle/>
        <a:p>
          <a:r>
            <a:rPr lang="zh-CN" altLang="en-US" sz="4000" dirty="0" smtClean="0"/>
            <a:t>用户</a:t>
          </a:r>
          <a:endParaRPr lang="zh-CN" altLang="en-US" sz="4000" dirty="0"/>
        </a:p>
      </dgm:t>
    </dgm:pt>
    <dgm:pt modelId="{A4D51155-4861-4FD7-A7B5-BA582A5CEC15}" type="parTrans" cxnId="{C363D270-C66C-44FD-B0E1-2D213401134E}">
      <dgm:prSet/>
      <dgm:spPr/>
      <dgm:t>
        <a:bodyPr/>
        <a:lstStyle/>
        <a:p>
          <a:endParaRPr lang="zh-CN" altLang="en-US"/>
        </a:p>
      </dgm:t>
    </dgm:pt>
    <dgm:pt modelId="{4856FE60-0CCA-4E5C-9B74-2B28B655D1BC}" type="sibTrans" cxnId="{C363D270-C66C-44FD-B0E1-2D213401134E}">
      <dgm:prSet/>
      <dgm:spPr/>
      <dgm:t>
        <a:bodyPr/>
        <a:lstStyle/>
        <a:p>
          <a:endParaRPr lang="zh-CN" altLang="en-US"/>
        </a:p>
      </dgm:t>
    </dgm:pt>
    <dgm:pt modelId="{72F1D19E-160A-4AC3-9BEF-1F3363920EF4}">
      <dgm:prSet phldrT="[文本]" custT="1"/>
      <dgm:spPr/>
      <dgm:t>
        <a:bodyPr/>
        <a:lstStyle/>
        <a:p>
          <a:r>
            <a:rPr lang="zh-CN" altLang="en-US" sz="4000" dirty="0" smtClean="0"/>
            <a:t>业务</a:t>
          </a:r>
          <a:endParaRPr lang="zh-CN" altLang="en-US" sz="4000" dirty="0"/>
        </a:p>
      </dgm:t>
    </dgm:pt>
    <dgm:pt modelId="{C48AB541-D1BC-4D14-98E2-BA037ECF0A90}" type="parTrans" cxnId="{3B242206-C44A-4872-B061-D2903DC4FBC4}">
      <dgm:prSet/>
      <dgm:spPr/>
      <dgm:t>
        <a:bodyPr/>
        <a:lstStyle/>
        <a:p>
          <a:endParaRPr lang="zh-CN" altLang="en-US"/>
        </a:p>
      </dgm:t>
    </dgm:pt>
    <dgm:pt modelId="{C7F253F3-3EDD-4F36-A098-2E0C8BE4A612}" type="sibTrans" cxnId="{3B242206-C44A-4872-B061-D2903DC4FBC4}">
      <dgm:prSet/>
      <dgm:spPr/>
      <dgm:t>
        <a:bodyPr/>
        <a:lstStyle/>
        <a:p>
          <a:endParaRPr lang="zh-CN" altLang="en-US"/>
        </a:p>
      </dgm:t>
    </dgm:pt>
    <dgm:pt modelId="{0EB2D2D2-39C7-44DD-B5E2-B7851AE83F1B}">
      <dgm:prSet phldrT="[文本]" custT="1"/>
      <dgm:spPr/>
      <dgm:t>
        <a:bodyPr/>
        <a:lstStyle/>
        <a:p>
          <a:r>
            <a:rPr lang="zh-CN" altLang="en-US" sz="4000" dirty="0" smtClean="0"/>
            <a:t>网络</a:t>
          </a:r>
          <a:endParaRPr lang="zh-CN" altLang="en-US" sz="4000" dirty="0"/>
        </a:p>
      </dgm:t>
    </dgm:pt>
    <dgm:pt modelId="{2DCA0287-0475-4295-A0AE-2DF3117E0DE1}" type="parTrans" cxnId="{AE19BDC4-07FE-4D97-8B48-BCA3E191DD16}">
      <dgm:prSet/>
      <dgm:spPr/>
      <dgm:t>
        <a:bodyPr/>
        <a:lstStyle/>
        <a:p>
          <a:endParaRPr lang="zh-CN" altLang="en-US"/>
        </a:p>
      </dgm:t>
    </dgm:pt>
    <dgm:pt modelId="{E469FF4E-6BF3-47F8-8899-3127BAB7DA87}" type="sibTrans" cxnId="{AE19BDC4-07FE-4D97-8B48-BCA3E191DD16}">
      <dgm:prSet/>
      <dgm:spPr/>
      <dgm:t>
        <a:bodyPr/>
        <a:lstStyle/>
        <a:p>
          <a:endParaRPr lang="zh-CN" altLang="en-US"/>
        </a:p>
      </dgm:t>
    </dgm:pt>
    <dgm:pt modelId="{D15607E1-FF5C-4881-96EF-5D8D494E8974}">
      <dgm:prSet phldrT="[文本]"/>
      <dgm:spPr/>
      <dgm:t>
        <a:bodyPr/>
        <a:lstStyle/>
        <a:p>
          <a:r>
            <a:rPr lang="zh-CN" altLang="en-US" dirty="0" smtClean="0"/>
            <a:t>设备</a:t>
          </a:r>
          <a:endParaRPr lang="zh-CN" altLang="en-US" dirty="0"/>
        </a:p>
      </dgm:t>
    </dgm:pt>
    <dgm:pt modelId="{595CECE1-4FD2-44AB-A274-872D03450EE5}" type="parTrans" cxnId="{2F242FA3-8E74-47D1-B9E8-DE42CD6E7745}">
      <dgm:prSet/>
      <dgm:spPr/>
      <dgm:t>
        <a:bodyPr/>
        <a:lstStyle/>
        <a:p>
          <a:endParaRPr lang="zh-CN" altLang="en-US"/>
        </a:p>
      </dgm:t>
    </dgm:pt>
    <dgm:pt modelId="{60629774-E1A9-4B06-AD8E-B78921D3678A}" type="sibTrans" cxnId="{2F242FA3-8E74-47D1-B9E8-DE42CD6E7745}">
      <dgm:prSet/>
      <dgm:spPr/>
      <dgm:t>
        <a:bodyPr/>
        <a:lstStyle/>
        <a:p>
          <a:endParaRPr lang="zh-CN" altLang="en-US"/>
        </a:p>
      </dgm:t>
    </dgm:pt>
    <dgm:pt modelId="{E5F8A3A0-1C7D-484B-9D3A-02777E10CD4A}" type="pres">
      <dgm:prSet presAssocID="{7A94FECC-1913-4030-93F3-81401896AEC7}" presName="compositeShape" presStyleCnt="0">
        <dgm:presLayoutVars>
          <dgm:dir/>
          <dgm:resizeHandles/>
        </dgm:presLayoutVars>
      </dgm:prSet>
      <dgm:spPr/>
    </dgm:pt>
    <dgm:pt modelId="{E067FC08-350E-4F9B-8C7C-AD72F704F826}" type="pres">
      <dgm:prSet presAssocID="{7A94FECC-1913-4030-93F3-81401896AEC7}" presName="pyramid" presStyleLbl="node1" presStyleIdx="0" presStyleCnt="1"/>
      <dgm:spPr/>
    </dgm:pt>
    <dgm:pt modelId="{658FDADD-2B5F-425A-AF09-872E12D6E6A7}" type="pres">
      <dgm:prSet presAssocID="{7A94FECC-1913-4030-93F3-81401896AEC7}" presName="theList" presStyleCnt="0"/>
      <dgm:spPr/>
    </dgm:pt>
    <dgm:pt modelId="{AD81A360-9775-476B-BAEE-712AC9A33331}" type="pres">
      <dgm:prSet presAssocID="{B29F8514-D44C-47D8-8BDB-564F6B88A14F}" presName="aNode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AE07C60-8B2A-4346-B908-92BA626B3E5D}" type="pres">
      <dgm:prSet presAssocID="{B29F8514-D44C-47D8-8BDB-564F6B88A14F}" presName="aSpace" presStyleCnt="0"/>
      <dgm:spPr/>
    </dgm:pt>
    <dgm:pt modelId="{563C69BD-3631-421B-B964-85E457287092}" type="pres">
      <dgm:prSet presAssocID="{72F1D19E-160A-4AC3-9BEF-1F3363920EF4}" presName="aNode" presStyleLbl="fgAcc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A85979E-7B1A-4EBE-9183-924EFE6FE72B}" type="pres">
      <dgm:prSet presAssocID="{72F1D19E-160A-4AC3-9BEF-1F3363920EF4}" presName="aSpace" presStyleCnt="0"/>
      <dgm:spPr/>
    </dgm:pt>
    <dgm:pt modelId="{E2EE0C37-3997-4515-B67D-F7BC9B2A2D90}" type="pres">
      <dgm:prSet presAssocID="{0EB2D2D2-39C7-44DD-B5E2-B7851AE83F1B}" presName="aNode" presStyleLbl="fgAcc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104C8DA-FEFD-4D5C-A903-5305E58487DB}" type="pres">
      <dgm:prSet presAssocID="{0EB2D2D2-39C7-44DD-B5E2-B7851AE83F1B}" presName="aSpace" presStyleCnt="0"/>
      <dgm:spPr/>
    </dgm:pt>
    <dgm:pt modelId="{8A2299F7-DC64-4F1D-B598-2BE7D301DEFD}" type="pres">
      <dgm:prSet presAssocID="{D15607E1-FF5C-4881-96EF-5D8D494E8974}" presName="aNode" presStyleLbl="fgAcc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BA748E6-6C8C-417E-AC0B-A2A8CEFB3D44}" type="pres">
      <dgm:prSet presAssocID="{D15607E1-FF5C-4881-96EF-5D8D494E8974}" presName="aSpace" presStyleCnt="0"/>
      <dgm:spPr/>
    </dgm:pt>
  </dgm:ptLst>
  <dgm:cxnLst>
    <dgm:cxn modelId="{1005B757-5523-4FB4-8A53-3BC48633F97D}" type="presOf" srcId="{B29F8514-D44C-47D8-8BDB-564F6B88A14F}" destId="{AD81A360-9775-476B-BAEE-712AC9A33331}" srcOrd="0" destOrd="0" presId="urn:microsoft.com/office/officeart/2005/8/layout/pyramid2"/>
    <dgm:cxn modelId="{766BD65B-57F4-4C76-B52C-2F76DC92C655}" type="presOf" srcId="{72F1D19E-160A-4AC3-9BEF-1F3363920EF4}" destId="{563C69BD-3631-421B-B964-85E457287092}" srcOrd="0" destOrd="0" presId="urn:microsoft.com/office/officeart/2005/8/layout/pyramid2"/>
    <dgm:cxn modelId="{D42CBAE0-6C46-416F-BF55-C51F3BBB2B52}" type="presOf" srcId="{0EB2D2D2-39C7-44DD-B5E2-B7851AE83F1B}" destId="{E2EE0C37-3997-4515-B67D-F7BC9B2A2D90}" srcOrd="0" destOrd="0" presId="urn:microsoft.com/office/officeart/2005/8/layout/pyramid2"/>
    <dgm:cxn modelId="{2F242FA3-8E74-47D1-B9E8-DE42CD6E7745}" srcId="{7A94FECC-1913-4030-93F3-81401896AEC7}" destId="{D15607E1-FF5C-4881-96EF-5D8D494E8974}" srcOrd="3" destOrd="0" parTransId="{595CECE1-4FD2-44AB-A274-872D03450EE5}" sibTransId="{60629774-E1A9-4B06-AD8E-B78921D3678A}"/>
    <dgm:cxn modelId="{24FA3385-8983-4DDE-B5C4-D6A9465DC95E}" type="presOf" srcId="{D15607E1-FF5C-4881-96EF-5D8D494E8974}" destId="{8A2299F7-DC64-4F1D-B598-2BE7D301DEFD}" srcOrd="0" destOrd="0" presId="urn:microsoft.com/office/officeart/2005/8/layout/pyramid2"/>
    <dgm:cxn modelId="{AE19BDC4-07FE-4D97-8B48-BCA3E191DD16}" srcId="{7A94FECC-1913-4030-93F3-81401896AEC7}" destId="{0EB2D2D2-39C7-44DD-B5E2-B7851AE83F1B}" srcOrd="2" destOrd="0" parTransId="{2DCA0287-0475-4295-A0AE-2DF3117E0DE1}" sibTransId="{E469FF4E-6BF3-47F8-8899-3127BAB7DA87}"/>
    <dgm:cxn modelId="{C363D270-C66C-44FD-B0E1-2D213401134E}" srcId="{7A94FECC-1913-4030-93F3-81401896AEC7}" destId="{B29F8514-D44C-47D8-8BDB-564F6B88A14F}" srcOrd="0" destOrd="0" parTransId="{A4D51155-4861-4FD7-A7B5-BA582A5CEC15}" sibTransId="{4856FE60-0CCA-4E5C-9B74-2B28B655D1BC}"/>
    <dgm:cxn modelId="{4A5B7090-9A16-4318-8EC1-C655BD0B84F4}" type="presOf" srcId="{7A94FECC-1913-4030-93F3-81401896AEC7}" destId="{E5F8A3A0-1C7D-484B-9D3A-02777E10CD4A}" srcOrd="0" destOrd="0" presId="urn:microsoft.com/office/officeart/2005/8/layout/pyramid2"/>
    <dgm:cxn modelId="{3B242206-C44A-4872-B061-D2903DC4FBC4}" srcId="{7A94FECC-1913-4030-93F3-81401896AEC7}" destId="{72F1D19E-160A-4AC3-9BEF-1F3363920EF4}" srcOrd="1" destOrd="0" parTransId="{C48AB541-D1BC-4D14-98E2-BA037ECF0A90}" sibTransId="{C7F253F3-3EDD-4F36-A098-2E0C8BE4A612}"/>
    <dgm:cxn modelId="{B9A7D6B2-7899-4EAA-904D-668FCEB60F78}" type="presParOf" srcId="{E5F8A3A0-1C7D-484B-9D3A-02777E10CD4A}" destId="{E067FC08-350E-4F9B-8C7C-AD72F704F826}" srcOrd="0" destOrd="0" presId="urn:microsoft.com/office/officeart/2005/8/layout/pyramid2"/>
    <dgm:cxn modelId="{C810EB3F-61C4-48ED-9179-914C862FA404}" type="presParOf" srcId="{E5F8A3A0-1C7D-484B-9D3A-02777E10CD4A}" destId="{658FDADD-2B5F-425A-AF09-872E12D6E6A7}" srcOrd="1" destOrd="0" presId="urn:microsoft.com/office/officeart/2005/8/layout/pyramid2"/>
    <dgm:cxn modelId="{0DE5694C-9C72-4AFB-BA96-EB947793F31B}" type="presParOf" srcId="{658FDADD-2B5F-425A-AF09-872E12D6E6A7}" destId="{AD81A360-9775-476B-BAEE-712AC9A33331}" srcOrd="0" destOrd="0" presId="urn:microsoft.com/office/officeart/2005/8/layout/pyramid2"/>
    <dgm:cxn modelId="{75063A3F-1DD2-443B-BC3F-BE6C8A58203D}" type="presParOf" srcId="{658FDADD-2B5F-425A-AF09-872E12D6E6A7}" destId="{7AE07C60-8B2A-4346-B908-92BA626B3E5D}" srcOrd="1" destOrd="0" presId="urn:microsoft.com/office/officeart/2005/8/layout/pyramid2"/>
    <dgm:cxn modelId="{77489BB8-5BC5-4F98-BE2E-2B6CF52F728E}" type="presParOf" srcId="{658FDADD-2B5F-425A-AF09-872E12D6E6A7}" destId="{563C69BD-3631-421B-B964-85E457287092}" srcOrd="2" destOrd="0" presId="urn:microsoft.com/office/officeart/2005/8/layout/pyramid2"/>
    <dgm:cxn modelId="{CD401BEB-9370-4EEA-86C9-F020E50A33FC}" type="presParOf" srcId="{658FDADD-2B5F-425A-AF09-872E12D6E6A7}" destId="{AA85979E-7B1A-4EBE-9183-924EFE6FE72B}" srcOrd="3" destOrd="0" presId="urn:microsoft.com/office/officeart/2005/8/layout/pyramid2"/>
    <dgm:cxn modelId="{5CB04291-5A60-4FFC-882B-8BAEAE6C719B}" type="presParOf" srcId="{658FDADD-2B5F-425A-AF09-872E12D6E6A7}" destId="{E2EE0C37-3997-4515-B67D-F7BC9B2A2D90}" srcOrd="4" destOrd="0" presId="urn:microsoft.com/office/officeart/2005/8/layout/pyramid2"/>
    <dgm:cxn modelId="{C2AB7605-DA7A-4EE0-BB5E-A3F9D6204CC6}" type="presParOf" srcId="{658FDADD-2B5F-425A-AF09-872E12D6E6A7}" destId="{A104C8DA-FEFD-4D5C-A903-5305E58487DB}" srcOrd="5" destOrd="0" presId="urn:microsoft.com/office/officeart/2005/8/layout/pyramid2"/>
    <dgm:cxn modelId="{414CDB63-2816-4593-BBCC-12B0A6235BB2}" type="presParOf" srcId="{658FDADD-2B5F-425A-AF09-872E12D6E6A7}" destId="{8A2299F7-DC64-4F1D-B598-2BE7D301DEFD}" srcOrd="6" destOrd="0" presId="urn:microsoft.com/office/officeart/2005/8/layout/pyramid2"/>
    <dgm:cxn modelId="{6D9788A3-54C8-46E6-ADE3-F35651F1CAB6}" type="presParOf" srcId="{658FDADD-2B5F-425A-AF09-872E12D6E6A7}" destId="{BBA748E6-6C8C-417E-AC0B-A2A8CEFB3D44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6AAC82-EFBE-4C3A-802D-B2D8C4B98E0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F03944A-7C85-4BD6-A2B8-F32F5BAE6583}">
      <dgm:prSet/>
      <dgm:spPr/>
      <dgm:t>
        <a:bodyPr/>
        <a:lstStyle/>
        <a:p>
          <a:pPr rtl="0"/>
          <a:r>
            <a:rPr lang="zh-CN" dirty="0" smtClean="0"/>
            <a:t>收集城域网华为设备故障案例</a:t>
          </a:r>
          <a:r>
            <a:rPr lang="zh-CN" altLang="en-US" dirty="0" smtClean="0"/>
            <a:t>－</a:t>
          </a:r>
          <a:r>
            <a:rPr lang="en-US" dirty="0" smtClean="0"/>
            <a:t>153</a:t>
          </a:r>
          <a:r>
            <a:rPr lang="zh-CN" dirty="0" smtClean="0"/>
            <a:t>例</a:t>
          </a:r>
          <a:endParaRPr lang="en-US" dirty="0"/>
        </a:p>
      </dgm:t>
    </dgm:pt>
    <dgm:pt modelId="{42F1F0FD-6B71-4848-B7AB-ACEA21CED551}" type="parTrans" cxnId="{546E4158-60B9-445B-9309-355764415A65}">
      <dgm:prSet/>
      <dgm:spPr/>
      <dgm:t>
        <a:bodyPr/>
        <a:lstStyle/>
        <a:p>
          <a:endParaRPr lang="zh-CN" altLang="en-US"/>
        </a:p>
      </dgm:t>
    </dgm:pt>
    <dgm:pt modelId="{7E4472A9-3102-4562-B173-DD91B88AB253}" type="sibTrans" cxnId="{546E4158-60B9-445B-9309-355764415A65}">
      <dgm:prSet/>
      <dgm:spPr/>
      <dgm:t>
        <a:bodyPr/>
        <a:lstStyle/>
        <a:p>
          <a:endParaRPr lang="zh-CN" altLang="en-US"/>
        </a:p>
      </dgm:t>
    </dgm:pt>
    <dgm:pt modelId="{9A19286F-175F-4826-8A06-33510F1C3450}">
      <dgm:prSet/>
      <dgm:spPr/>
      <dgm:t>
        <a:bodyPr/>
        <a:lstStyle/>
        <a:p>
          <a:pPr rtl="0"/>
          <a:r>
            <a:rPr lang="zh-CN" dirty="0" smtClean="0"/>
            <a:t>收集阿尔卡特设备故障案例</a:t>
          </a:r>
          <a:r>
            <a:rPr lang="zh-CN" altLang="en-US" dirty="0" smtClean="0"/>
            <a:t>－</a:t>
          </a:r>
          <a:r>
            <a:rPr lang="en-US" dirty="0" smtClean="0"/>
            <a:t>35</a:t>
          </a:r>
          <a:r>
            <a:rPr lang="zh-CN" dirty="0" smtClean="0"/>
            <a:t>例</a:t>
          </a:r>
          <a:endParaRPr lang="en-US" dirty="0"/>
        </a:p>
      </dgm:t>
    </dgm:pt>
    <dgm:pt modelId="{117C3A53-FCE6-4D4B-87EB-D776F2E9AA01}" type="parTrans" cxnId="{2572A549-E9E4-45F1-8716-3469A4FAD2F3}">
      <dgm:prSet/>
      <dgm:spPr/>
      <dgm:t>
        <a:bodyPr/>
        <a:lstStyle/>
        <a:p>
          <a:endParaRPr lang="zh-CN" altLang="en-US"/>
        </a:p>
      </dgm:t>
    </dgm:pt>
    <dgm:pt modelId="{4B6E986F-50FD-4467-B01F-B571F0D80E8D}" type="sibTrans" cxnId="{2572A549-E9E4-45F1-8716-3469A4FAD2F3}">
      <dgm:prSet/>
      <dgm:spPr/>
      <dgm:t>
        <a:bodyPr/>
        <a:lstStyle/>
        <a:p>
          <a:endParaRPr lang="zh-CN" altLang="en-US"/>
        </a:p>
      </dgm:t>
    </dgm:pt>
    <dgm:pt modelId="{836383A5-368B-4448-80C7-A468D2741889}" type="pres">
      <dgm:prSet presAssocID="{016AAC82-EFBE-4C3A-802D-B2D8C4B98E0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BACDE081-2DE5-4599-9191-D80C46577F39}" type="pres">
      <dgm:prSet presAssocID="{9F03944A-7C85-4BD6-A2B8-F32F5BAE6583}" presName="parentText" presStyleLbl="node1" presStyleIdx="0" presStyleCnt="2" custLinFactY="-34288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C854C2C-6D2C-446C-B847-B84A7ECD58F6}" type="pres">
      <dgm:prSet presAssocID="{7E4472A9-3102-4562-B173-DD91B88AB253}" presName="spacer" presStyleCnt="0"/>
      <dgm:spPr/>
    </dgm:pt>
    <dgm:pt modelId="{F295821E-0616-43B5-B32A-DDA8467D052D}" type="pres">
      <dgm:prSet presAssocID="{9A19286F-175F-4826-8A06-33510F1C3450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46E4158-60B9-445B-9309-355764415A65}" srcId="{016AAC82-EFBE-4C3A-802D-B2D8C4B98E04}" destId="{9F03944A-7C85-4BD6-A2B8-F32F5BAE6583}" srcOrd="0" destOrd="0" parTransId="{42F1F0FD-6B71-4848-B7AB-ACEA21CED551}" sibTransId="{7E4472A9-3102-4562-B173-DD91B88AB253}"/>
    <dgm:cxn modelId="{580C176A-D1E5-42B4-BE5E-86BE2B858B1C}" type="presOf" srcId="{9F03944A-7C85-4BD6-A2B8-F32F5BAE6583}" destId="{BACDE081-2DE5-4599-9191-D80C46577F39}" srcOrd="0" destOrd="0" presId="urn:microsoft.com/office/officeart/2005/8/layout/vList2"/>
    <dgm:cxn modelId="{2572A549-E9E4-45F1-8716-3469A4FAD2F3}" srcId="{016AAC82-EFBE-4C3A-802D-B2D8C4B98E04}" destId="{9A19286F-175F-4826-8A06-33510F1C3450}" srcOrd="1" destOrd="0" parTransId="{117C3A53-FCE6-4D4B-87EB-D776F2E9AA01}" sibTransId="{4B6E986F-50FD-4467-B01F-B571F0D80E8D}"/>
    <dgm:cxn modelId="{957E101D-1745-4105-99B7-CBD513281C1F}" type="presOf" srcId="{016AAC82-EFBE-4C3A-802D-B2D8C4B98E04}" destId="{836383A5-368B-4448-80C7-A468D2741889}" srcOrd="0" destOrd="0" presId="urn:microsoft.com/office/officeart/2005/8/layout/vList2"/>
    <dgm:cxn modelId="{8C2C7DDF-C520-4BDA-B00A-0480C60DCEAF}" type="presOf" srcId="{9A19286F-175F-4826-8A06-33510F1C3450}" destId="{F295821E-0616-43B5-B32A-DDA8467D052D}" srcOrd="0" destOrd="0" presId="urn:microsoft.com/office/officeart/2005/8/layout/vList2"/>
    <dgm:cxn modelId="{212A93BF-C732-42D2-868D-1786C3D733D6}" type="presParOf" srcId="{836383A5-368B-4448-80C7-A468D2741889}" destId="{BACDE081-2DE5-4599-9191-D80C46577F39}" srcOrd="0" destOrd="0" presId="urn:microsoft.com/office/officeart/2005/8/layout/vList2"/>
    <dgm:cxn modelId="{BD67C28C-5083-40D4-A27C-F49A29A4F43E}" type="presParOf" srcId="{836383A5-368B-4448-80C7-A468D2741889}" destId="{0C854C2C-6D2C-446C-B847-B84A7ECD58F6}" srcOrd="1" destOrd="0" presId="urn:microsoft.com/office/officeart/2005/8/layout/vList2"/>
    <dgm:cxn modelId="{3021982C-7190-4470-9B3B-6628D6B6B00C}" type="presParOf" srcId="{836383A5-368B-4448-80C7-A468D2741889}" destId="{F295821E-0616-43B5-B32A-DDA8467D052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67FC08-350E-4F9B-8C7C-AD72F704F826}">
      <dsp:nvSpPr>
        <dsp:cNvPr id="0" name=""/>
        <dsp:cNvSpPr/>
      </dsp:nvSpPr>
      <dsp:spPr>
        <a:xfrm>
          <a:off x="948266" y="0"/>
          <a:ext cx="5418667" cy="5418667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1A360-9775-476B-BAEE-712AC9A33331}">
      <dsp:nvSpPr>
        <dsp:cNvPr id="0" name=""/>
        <dsp:cNvSpPr/>
      </dsp:nvSpPr>
      <dsp:spPr>
        <a:xfrm>
          <a:off x="3657599" y="542395"/>
          <a:ext cx="3522133" cy="96308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kern="1200" dirty="0" smtClean="0"/>
            <a:t>用户</a:t>
          </a:r>
          <a:endParaRPr lang="zh-CN" altLang="en-US" sz="4000" kern="1200" dirty="0"/>
        </a:p>
      </dsp:txBody>
      <dsp:txXfrm>
        <a:off x="3704613" y="589409"/>
        <a:ext cx="3428105" cy="869055"/>
      </dsp:txXfrm>
    </dsp:sp>
    <dsp:sp modelId="{563C69BD-3631-421B-B964-85E457287092}">
      <dsp:nvSpPr>
        <dsp:cNvPr id="0" name=""/>
        <dsp:cNvSpPr/>
      </dsp:nvSpPr>
      <dsp:spPr>
        <a:xfrm>
          <a:off x="3657599" y="1625864"/>
          <a:ext cx="3522133" cy="96308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kern="1200" dirty="0" smtClean="0"/>
            <a:t>业务</a:t>
          </a:r>
          <a:endParaRPr lang="zh-CN" altLang="en-US" sz="4000" kern="1200" dirty="0"/>
        </a:p>
      </dsp:txBody>
      <dsp:txXfrm>
        <a:off x="3704613" y="1672878"/>
        <a:ext cx="3428105" cy="869055"/>
      </dsp:txXfrm>
    </dsp:sp>
    <dsp:sp modelId="{E2EE0C37-3997-4515-B67D-F7BC9B2A2D90}">
      <dsp:nvSpPr>
        <dsp:cNvPr id="0" name=""/>
        <dsp:cNvSpPr/>
      </dsp:nvSpPr>
      <dsp:spPr>
        <a:xfrm>
          <a:off x="3657599" y="2709333"/>
          <a:ext cx="3522133" cy="96308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kern="1200" dirty="0" smtClean="0"/>
            <a:t>网络</a:t>
          </a:r>
          <a:endParaRPr lang="zh-CN" altLang="en-US" sz="4000" kern="1200" dirty="0"/>
        </a:p>
      </dsp:txBody>
      <dsp:txXfrm>
        <a:off x="3704613" y="2756347"/>
        <a:ext cx="3428105" cy="869055"/>
      </dsp:txXfrm>
    </dsp:sp>
    <dsp:sp modelId="{8A2299F7-DC64-4F1D-B598-2BE7D301DEFD}">
      <dsp:nvSpPr>
        <dsp:cNvPr id="0" name=""/>
        <dsp:cNvSpPr/>
      </dsp:nvSpPr>
      <dsp:spPr>
        <a:xfrm>
          <a:off x="3657599" y="3792802"/>
          <a:ext cx="3522133" cy="96308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800" kern="1200" dirty="0" smtClean="0"/>
            <a:t>设备</a:t>
          </a:r>
          <a:endParaRPr lang="zh-CN" altLang="en-US" sz="3800" kern="1200" dirty="0"/>
        </a:p>
      </dsp:txBody>
      <dsp:txXfrm>
        <a:off x="3704613" y="3839816"/>
        <a:ext cx="3428105" cy="869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DE081-2DE5-4599-9191-D80C46577F39}">
      <dsp:nvSpPr>
        <dsp:cNvPr id="0" name=""/>
        <dsp:cNvSpPr/>
      </dsp:nvSpPr>
      <dsp:spPr>
        <a:xfrm>
          <a:off x="0" y="104777"/>
          <a:ext cx="3714776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kern="1200" dirty="0" smtClean="0"/>
            <a:t>收集城域网华为设备故障案例</a:t>
          </a:r>
          <a:r>
            <a:rPr lang="zh-CN" altLang="en-US" sz="1600" kern="1200" dirty="0" smtClean="0"/>
            <a:t>－</a:t>
          </a:r>
          <a:r>
            <a:rPr lang="en-US" sz="1600" kern="1200" dirty="0" smtClean="0"/>
            <a:t>153</a:t>
          </a:r>
          <a:r>
            <a:rPr lang="zh-CN" sz="1600" kern="1200" dirty="0" smtClean="0"/>
            <a:t>例</a:t>
          </a:r>
          <a:endParaRPr lang="en-US" sz="1600" kern="1200" dirty="0"/>
        </a:p>
      </dsp:txBody>
      <dsp:txXfrm>
        <a:off x="19647" y="124424"/>
        <a:ext cx="3675482" cy="363186"/>
      </dsp:txXfrm>
    </dsp:sp>
    <dsp:sp modelId="{F295821E-0616-43B5-B32A-DDA8467D052D}">
      <dsp:nvSpPr>
        <dsp:cNvPr id="0" name=""/>
        <dsp:cNvSpPr/>
      </dsp:nvSpPr>
      <dsp:spPr>
        <a:xfrm>
          <a:off x="0" y="737420"/>
          <a:ext cx="3714776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kern="1200" dirty="0" smtClean="0"/>
            <a:t>收集阿尔卡特设备故障案例</a:t>
          </a:r>
          <a:r>
            <a:rPr lang="zh-CN" altLang="en-US" sz="1600" kern="1200" dirty="0" smtClean="0"/>
            <a:t>－</a:t>
          </a:r>
          <a:r>
            <a:rPr lang="en-US" sz="1600" kern="1200" dirty="0" smtClean="0"/>
            <a:t>35</a:t>
          </a:r>
          <a:r>
            <a:rPr lang="zh-CN" sz="1600" kern="1200" dirty="0" smtClean="0"/>
            <a:t>例</a:t>
          </a:r>
          <a:endParaRPr lang="en-US" sz="1600" kern="1200" dirty="0"/>
        </a:p>
      </dsp:txBody>
      <dsp:txXfrm>
        <a:off x="19647" y="757067"/>
        <a:ext cx="3675482" cy="3631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2017/12/19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9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66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要回答好这几个问题存在种种的困难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C731C-1CE3-4DE7-BD9E-0E52CF97ED6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462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网络整体情况怎样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网络是否可持续发展？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两个方面：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容量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结构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68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网络整体情况怎样？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如何保持网络的可持续发展？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/>
              <a:t>无法面向全局，预测问题，保持网络的可持续发展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64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有什么问题？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问题原因？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影响范围？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现在情况如何？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如何解决问题？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256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网络管理中涉及</a:t>
            </a:r>
            <a:r>
              <a:rPr lang="en-US" altLang="zh-CN" dirty="0" smtClean="0"/>
              <a:t>9</a:t>
            </a:r>
            <a:r>
              <a:rPr lang="zh-CN" altLang="en-US" dirty="0" smtClean="0"/>
              <a:t>大基础运维工作，以及这些工作产生的大数据资源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C731C-1CE3-4DE7-BD9E-0E52CF97ED6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52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网络大脑两大功能：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、对外呈现网络状态、能力；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2</a:t>
            </a:r>
            <a:r>
              <a:rPr lang="zh-CN" altLang="en-US" dirty="0" smtClean="0"/>
              <a:t>、统筹管理网络设备、业务、用户以及从事网络事业的人。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630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202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网络基础图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060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业务如人的衣食住行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395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用户分类如人的分群，用户分类与业务分类有强相关性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614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985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206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92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1"/>
            </p:custDataLst>
          </p:nvPr>
        </p:nvSpPr>
        <p:spPr bwMode="auto">
          <a:xfrm>
            <a:off x="0" y="194906"/>
            <a:ext cx="219859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 bwMode="auto">
          <a:xfrm>
            <a:off x="11661569" y="194905"/>
            <a:ext cx="530431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chart" Target="../charts/chart1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893" y="1717020"/>
            <a:ext cx="8770049" cy="214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基于大数据的智慧</a:t>
            </a:r>
            <a:endParaRPr lang="en-US" altLang="zh-CN" sz="5400" b="1" dirty="0" smtClean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网络运维平台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213847" y="4007060"/>
            <a:ext cx="5768788" cy="0"/>
          </a:xfrm>
          <a:prstGeom prst="line">
            <a:avLst/>
          </a:prstGeom>
          <a:ln w="63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矩形 139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背景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26069" y="1965838"/>
            <a:ext cx="4477408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网络整体情况怎样？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有什么问题？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问题原因？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影响范围？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现在情况如何？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如何解决问题？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网络如何发展？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26069" y="1565728"/>
            <a:ext cx="44774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网络管理工作必须要回答的七大问题： 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338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63916" y="5691353"/>
            <a:ext cx="5281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分专业管理，无人人掌控全局，无掌控全局的工具 </a:t>
            </a:r>
            <a:endParaRPr lang="en-US" altLang="zh-CN" dirty="0" smtClean="0"/>
          </a:p>
        </p:txBody>
      </p:sp>
      <p:sp>
        <p:nvSpPr>
          <p:cNvPr id="4" name="矩形 3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存在问题 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分专业管理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3944" y="812906"/>
            <a:ext cx="6094029" cy="4457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0919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存在问题 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 人工管理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142950" y="1481957"/>
            <a:ext cx="1749972" cy="6306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发生问题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985296" y="2727434"/>
            <a:ext cx="2065282" cy="867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发现问题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995809" y="4204139"/>
            <a:ext cx="2065282" cy="867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通知问题</a:t>
            </a:r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3074634" y="5686095"/>
            <a:ext cx="1749972" cy="6306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解决问题</a:t>
            </a:r>
            <a:endParaRPr lang="zh-CN" altLang="en-US" dirty="0"/>
          </a:p>
        </p:txBody>
      </p:sp>
      <p:cxnSp>
        <p:nvCxnSpPr>
          <p:cNvPr id="8" name="直接箭头连接符 7"/>
          <p:cNvCxnSpPr>
            <a:stCxn id="3" idx="4"/>
            <a:endCxn id="4" idx="0"/>
          </p:cNvCxnSpPr>
          <p:nvPr/>
        </p:nvCxnSpPr>
        <p:spPr>
          <a:xfrm>
            <a:off x="4017936" y="2112578"/>
            <a:ext cx="1" cy="6148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3996915" y="3605047"/>
            <a:ext cx="1" cy="6148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3975894" y="5065985"/>
            <a:ext cx="1" cy="6148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28883" y="1608888"/>
            <a:ext cx="4130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指标劣化、设备运行异常、投诉等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07862" y="2644156"/>
            <a:ext cx="4797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人工收集问题：</a:t>
            </a:r>
            <a:endParaRPr lang="en-US" altLang="zh-CN" b="1" dirty="0" smtClean="0"/>
          </a:p>
          <a:p>
            <a:r>
              <a:rPr lang="zh-CN" altLang="en-US" dirty="0" smtClean="0"/>
              <a:t>监控岗位人工发现问题并进行影响预判断；</a:t>
            </a:r>
            <a:endParaRPr lang="en-US" altLang="zh-CN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6034144" y="4152392"/>
            <a:ext cx="4130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人工沟通问题：</a:t>
            </a:r>
            <a:endParaRPr lang="en-US" altLang="zh-CN" b="1" dirty="0" smtClean="0"/>
          </a:p>
          <a:p>
            <a:r>
              <a:rPr lang="zh-CN" altLang="en-US" dirty="0" smtClean="0"/>
              <a:t>监控岗位人员通过工单、电话等方式通知相应专业人员；</a:t>
            </a:r>
            <a:endParaRPr lang="en-US" altLang="zh-CN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5996554" y="5581799"/>
            <a:ext cx="5092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人工定位问题：</a:t>
            </a:r>
            <a:endParaRPr lang="en-US" altLang="zh-CN" b="1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、信令分析，定位问题，制定解决方案；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、检查设备问题；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、跨专业协同定位问题；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953142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存在问题 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人工管理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14248" y="1954953"/>
            <a:ext cx="94225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人工管理存在以下缺点：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、经验私人所有；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、故障时需要多专业专家联合作战；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、沟通成本高、信息不对称；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、经验、资料等交接问题；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…..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314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存在问题 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传统管理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31"/>
          <p:cNvSpPr txBox="1"/>
          <p:nvPr/>
        </p:nvSpPr>
        <p:spPr>
          <a:xfrm>
            <a:off x="2301772" y="2782638"/>
            <a:ext cx="77566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未充分发挥新技术在网络管理方面应用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如：大数据和人工智能技术在规划、维护、优化、分析、用户感知等网络管理中应用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70377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394138" y="961697"/>
            <a:ext cx="4319752" cy="562828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dk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480" y="1101123"/>
            <a:ext cx="3675499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0" name="矩形 139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项目目标</a:t>
            </a:r>
            <a:endParaRPr lang="en-US" altLang="zh-CN" sz="3200" dirty="0" smtClean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5818649" y="2892400"/>
            <a:ext cx="2591647" cy="10906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 algn="ctr"/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94967" y="3239216"/>
            <a:ext cx="2024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大数据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人工智能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1" name="Picture 126" descr="网络云1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4900" y="3660550"/>
            <a:ext cx="3937706" cy="1907126"/>
          </a:xfrm>
          <a:prstGeom prst="rect">
            <a:avLst/>
          </a:prstGeom>
          <a:noFill/>
        </p:spPr>
      </p:pic>
      <p:sp>
        <p:nvSpPr>
          <p:cNvPr id="33" name="矩形 32"/>
          <p:cNvSpPr/>
          <p:nvPr/>
        </p:nvSpPr>
        <p:spPr>
          <a:xfrm>
            <a:off x="2222712" y="4993972"/>
            <a:ext cx="5849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 优化</a:t>
            </a:r>
            <a:endParaRPr lang="zh-CN" altLang="en-US" sz="1200" dirty="0"/>
          </a:p>
        </p:txBody>
      </p:sp>
      <p:sp>
        <p:nvSpPr>
          <p:cNvPr id="34" name="矩形 33"/>
          <p:cNvSpPr/>
          <p:nvPr/>
        </p:nvSpPr>
        <p:spPr>
          <a:xfrm>
            <a:off x="1056952" y="3875512"/>
            <a:ext cx="58493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 smtClean="0"/>
              <a:t>考核</a:t>
            </a:r>
            <a:endParaRPr lang="zh-CN" altLang="en-US" sz="1100" dirty="0"/>
          </a:p>
        </p:txBody>
      </p:sp>
      <p:sp>
        <p:nvSpPr>
          <p:cNvPr id="35" name="矩形 34"/>
          <p:cNvSpPr/>
          <p:nvPr/>
        </p:nvSpPr>
        <p:spPr>
          <a:xfrm>
            <a:off x="948465" y="4742881"/>
            <a:ext cx="5849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 规划</a:t>
            </a:r>
            <a:endParaRPr lang="zh-CN" altLang="en-US" sz="1200" dirty="0"/>
          </a:p>
        </p:txBody>
      </p:sp>
      <p:sp>
        <p:nvSpPr>
          <p:cNvPr id="37" name="矩形 36"/>
          <p:cNvSpPr/>
          <p:nvPr/>
        </p:nvSpPr>
        <p:spPr>
          <a:xfrm>
            <a:off x="1041726" y="4200980"/>
            <a:ext cx="5849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100" dirty="0" smtClean="0">
                <a:latin typeface="微软雅黑" pitchFamily="34" charset="-122"/>
                <a:ea typeface="微软雅黑" pitchFamily="34" charset="-122"/>
              </a:rPr>
              <a:t>投诉</a:t>
            </a:r>
            <a:endParaRPr lang="zh-CN" altLang="en-US" sz="1100" dirty="0"/>
          </a:p>
        </p:txBody>
      </p:sp>
      <p:sp>
        <p:nvSpPr>
          <p:cNvPr id="38" name="矩形 37"/>
          <p:cNvSpPr/>
          <p:nvPr/>
        </p:nvSpPr>
        <p:spPr>
          <a:xfrm>
            <a:off x="2188330" y="4495710"/>
            <a:ext cx="5849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 保障</a:t>
            </a:r>
            <a:endParaRPr lang="zh-CN" altLang="en-US" sz="1200" dirty="0"/>
          </a:p>
        </p:txBody>
      </p:sp>
      <p:sp>
        <p:nvSpPr>
          <p:cNvPr id="40" name="矩形 39"/>
          <p:cNvSpPr/>
          <p:nvPr/>
        </p:nvSpPr>
        <p:spPr>
          <a:xfrm>
            <a:off x="2156799" y="4093289"/>
            <a:ext cx="5849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 分析</a:t>
            </a:r>
            <a:endParaRPr lang="zh-CN" altLang="en-US" sz="1200" dirty="0"/>
          </a:p>
        </p:txBody>
      </p:sp>
      <p:sp>
        <p:nvSpPr>
          <p:cNvPr id="41" name="矩形 40"/>
          <p:cNvSpPr/>
          <p:nvPr/>
        </p:nvSpPr>
        <p:spPr>
          <a:xfrm>
            <a:off x="2187795" y="3689262"/>
            <a:ext cx="5849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/>
              <a:t>维护</a:t>
            </a:r>
            <a:endParaRPr lang="zh-CN" altLang="en-US" sz="1200" dirty="0"/>
          </a:p>
        </p:txBody>
      </p:sp>
      <p:sp>
        <p:nvSpPr>
          <p:cNvPr id="42" name="矩形 41"/>
          <p:cNvSpPr/>
          <p:nvPr/>
        </p:nvSpPr>
        <p:spPr>
          <a:xfrm>
            <a:off x="3491791" y="4743683"/>
            <a:ext cx="5849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 资管</a:t>
            </a:r>
            <a:endParaRPr lang="zh-CN" altLang="en-US" sz="1200" dirty="0"/>
          </a:p>
        </p:txBody>
      </p:sp>
      <p:sp>
        <p:nvSpPr>
          <p:cNvPr id="45" name="矩形 44"/>
          <p:cNvSpPr/>
          <p:nvPr/>
        </p:nvSpPr>
        <p:spPr>
          <a:xfrm>
            <a:off x="3302873" y="3821266"/>
            <a:ext cx="5849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 汇报</a:t>
            </a:r>
            <a:endParaRPr lang="zh-CN" altLang="en-US" sz="1200" dirty="0"/>
          </a:p>
        </p:txBody>
      </p:sp>
      <p:sp>
        <p:nvSpPr>
          <p:cNvPr id="48" name="矩形 47"/>
          <p:cNvSpPr/>
          <p:nvPr/>
        </p:nvSpPr>
        <p:spPr>
          <a:xfrm>
            <a:off x="3238832" y="4304296"/>
            <a:ext cx="5436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……..</a:t>
            </a:r>
            <a:endParaRPr lang="zh-CN" alt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1123547" y="5772209"/>
            <a:ext cx="2723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大基础运维工作经验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23698" y="2755740"/>
            <a:ext cx="2723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大数据资源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837793" y="1245476"/>
            <a:ext cx="15923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信令数据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32538" y="1539764"/>
            <a:ext cx="15923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设备数据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27281" y="1881351"/>
            <a:ext cx="15923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资料数据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22024" y="2175641"/>
            <a:ext cx="15923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地图数据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16765" y="2391101"/>
            <a:ext cx="15923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……….</a:t>
            </a:r>
            <a:endParaRPr lang="zh-CN" altLang="en-US" sz="16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右箭头 78"/>
          <p:cNvSpPr/>
          <p:nvPr/>
        </p:nvSpPr>
        <p:spPr>
          <a:xfrm rot="2136805">
            <a:off x="4887310" y="2049517"/>
            <a:ext cx="1466194" cy="4887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右箭头 79"/>
          <p:cNvSpPr/>
          <p:nvPr/>
        </p:nvSpPr>
        <p:spPr>
          <a:xfrm rot="19528693">
            <a:off x="4850524" y="4456385"/>
            <a:ext cx="1466194" cy="4887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右箭头 80"/>
          <p:cNvSpPr/>
          <p:nvPr/>
        </p:nvSpPr>
        <p:spPr>
          <a:xfrm>
            <a:off x="8786677" y="3221419"/>
            <a:ext cx="783021" cy="4887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</a:t>
            </a:r>
            <a:endParaRPr lang="zh-CN" altLang="en-US" dirty="0"/>
          </a:p>
        </p:txBody>
      </p:sp>
      <p:cxnSp>
        <p:nvCxnSpPr>
          <p:cNvPr id="51" name="直接连接符 50"/>
          <p:cNvCxnSpPr/>
          <p:nvPr/>
        </p:nvCxnSpPr>
        <p:spPr>
          <a:xfrm>
            <a:off x="10266145" y="4631996"/>
            <a:ext cx="876309" cy="1588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31"/>
          <p:cNvSpPr txBox="1"/>
          <p:nvPr/>
        </p:nvSpPr>
        <p:spPr>
          <a:xfrm>
            <a:off x="9680049" y="2791986"/>
            <a:ext cx="23648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打造珠海网络大脑</a:t>
            </a:r>
            <a:endParaRPr lang="en-US" altLang="zh-CN" sz="36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28346" y="2853559"/>
            <a:ext cx="536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/>
              <a:t>+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20893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"/>
          <p:cNvSpPr txBox="1">
            <a:spLocks/>
          </p:cNvSpPr>
          <p:nvPr/>
        </p:nvSpPr>
        <p:spPr>
          <a:xfrm>
            <a:off x="2973628" y="1203543"/>
            <a:ext cx="8336303" cy="67191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人体大脑  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VS  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网络大脑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什么是网络大脑？</a:t>
            </a:r>
            <a:endParaRPr lang="en-US" altLang="zh-CN" sz="3200" dirty="0" smtClean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4"/>
          <p:cNvSpPr txBox="1"/>
          <p:nvPr/>
        </p:nvSpPr>
        <p:spPr>
          <a:xfrm>
            <a:off x="2222938" y="2525730"/>
            <a:ext cx="1671144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>
            <a:defPPr>
              <a:defRPr lang="zh-CN"/>
            </a:defPPr>
            <a:lvl1pPr algn="ctr">
              <a:defRPr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l"/>
            <a:r>
              <a:rPr lang="zh-CN" altLang="en-US" dirty="0" smtClean="0"/>
              <a:t>机体</a:t>
            </a:r>
            <a:r>
              <a:rPr lang="zh-CN" altLang="zh-CN" dirty="0" smtClean="0"/>
              <a:t>神经系统</a:t>
            </a:r>
            <a:r>
              <a:rPr lang="en-US" altLang="zh-CN" dirty="0" smtClean="0"/>
              <a:t> </a:t>
            </a:r>
          </a:p>
        </p:txBody>
      </p:sp>
      <p:sp>
        <p:nvSpPr>
          <p:cNvPr id="20" name="TextBox 5"/>
          <p:cNvSpPr txBox="1"/>
          <p:nvPr/>
        </p:nvSpPr>
        <p:spPr>
          <a:xfrm>
            <a:off x="6117019" y="2476519"/>
            <a:ext cx="2490953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>
            <a:defPPr>
              <a:defRPr lang="zh-CN"/>
            </a:defPPr>
            <a:lvl1pPr algn="ctr">
              <a:defRPr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l"/>
            <a:r>
              <a:rPr lang="zh-CN" altLang="en-US" dirty="0" smtClean="0"/>
              <a:t>智慧网络的神经系统</a:t>
            </a:r>
            <a:endParaRPr lang="zh-CN" altLang="en-US" dirty="0"/>
          </a:p>
        </p:txBody>
      </p:sp>
      <p:cxnSp>
        <p:nvCxnSpPr>
          <p:cNvPr id="23" name="直接连接符 22"/>
          <p:cNvCxnSpPr/>
          <p:nvPr/>
        </p:nvCxnSpPr>
        <p:spPr>
          <a:xfrm>
            <a:off x="1292787" y="3001056"/>
            <a:ext cx="9576533" cy="5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400320" y="4514753"/>
            <a:ext cx="89644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43398" y="5343990"/>
            <a:ext cx="89644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5707114" y="2386201"/>
            <a:ext cx="63062" cy="4146344"/>
          </a:xfrm>
          <a:prstGeom prst="line">
            <a:avLst/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487213" y="3158736"/>
            <a:ext cx="41726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收集内外环境的各种信息，进行整合、判断，后</a:t>
            </a:r>
            <a:r>
              <a:rPr lang="zh-CN" altLang="zh-CN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协调体内各器官、各系统的活动，使之成为完整的一体，</a:t>
            </a:r>
            <a:r>
              <a:rPr lang="zh-CN" altLang="en-US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zh-CN" altLang="zh-CN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维持机体与内、外界环境的相对平衡</a:t>
            </a:r>
            <a:endParaRPr lang="zh-CN" altLang="en-US" dirty="0" smtClean="0"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44"/>
          <p:cNvSpPr txBox="1"/>
          <p:nvPr/>
        </p:nvSpPr>
        <p:spPr>
          <a:xfrm>
            <a:off x="5969874" y="3135920"/>
            <a:ext cx="4135821" cy="9037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>
            <a:defPPr>
              <a:defRPr lang="zh-CN"/>
            </a:defPPr>
            <a:lvl1pPr algn="ctr">
              <a:defRPr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l"/>
            <a:r>
              <a:rPr lang="zh-CN" altLang="en-US" dirty="0" smtClean="0"/>
              <a:t>收集各专业网络相关信息，进行统筹管控，整合和判断，实现一体化、智能化、可视化、标准化 、流程化的网络管理</a:t>
            </a:r>
            <a:endParaRPr lang="en-US" altLang="zh-CN" dirty="0" smtClean="0"/>
          </a:p>
        </p:txBody>
      </p:sp>
      <p:sp>
        <p:nvSpPr>
          <p:cNvPr id="30" name="矩形 29"/>
          <p:cNvSpPr/>
          <p:nvPr/>
        </p:nvSpPr>
        <p:spPr>
          <a:xfrm>
            <a:off x="2354331" y="4722769"/>
            <a:ext cx="20495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人的全景</a:t>
            </a:r>
          </a:p>
        </p:txBody>
      </p:sp>
      <p:sp>
        <p:nvSpPr>
          <p:cNvPr id="31" name="TextBox 49"/>
          <p:cNvSpPr txBox="1"/>
          <p:nvPr/>
        </p:nvSpPr>
        <p:spPr>
          <a:xfrm>
            <a:off x="7290245" y="4722769"/>
            <a:ext cx="1597571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>
            <a:defPPr>
              <a:defRPr lang="zh-CN"/>
            </a:defPPr>
            <a:lvl1pPr algn="ctr">
              <a:defRPr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l"/>
            <a:r>
              <a:rPr lang="zh-CN" altLang="en-US" dirty="0" smtClean="0"/>
              <a:t>网络全景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453453" y="5526896"/>
            <a:ext cx="44266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细</a:t>
            </a:r>
            <a:r>
              <a:rPr lang="zh-CN" altLang="zh-CN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胞</a:t>
            </a:r>
            <a:r>
              <a:rPr lang="en-US" altLang="zh-CN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 — </a:t>
            </a:r>
            <a:r>
              <a:rPr lang="zh-CN" altLang="zh-CN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组织</a:t>
            </a:r>
            <a:r>
              <a:rPr lang="en-US" altLang="zh-CN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 — </a:t>
            </a:r>
            <a:r>
              <a:rPr lang="zh-CN" altLang="zh-CN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器官</a:t>
            </a:r>
            <a:r>
              <a:rPr lang="en-US" altLang="zh-CN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 — </a:t>
            </a:r>
            <a:r>
              <a:rPr lang="zh-CN" altLang="zh-CN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系统</a:t>
            </a:r>
            <a:r>
              <a:rPr lang="en-US" altLang="zh-CN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 — </a:t>
            </a:r>
            <a:r>
              <a:rPr lang="zh-CN" altLang="zh-CN" dirty="0" smtClean="0"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生物体</a:t>
            </a:r>
            <a:endParaRPr lang="zh-CN" altLang="en-US" dirty="0">
              <a:gradFill flip="none" rotWithShape="1">
                <a:gsLst>
                  <a:gs pos="0">
                    <a:srgbClr val="00B050">
                      <a:shade val="30000"/>
                      <a:satMod val="115000"/>
                    </a:srgbClr>
                  </a:gs>
                  <a:gs pos="50000">
                    <a:srgbClr val="00B050">
                      <a:shade val="67500"/>
                      <a:satMod val="115000"/>
                    </a:srgbClr>
                  </a:gs>
                  <a:gs pos="100000">
                    <a:srgbClr val="00B05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Box 18"/>
          <p:cNvSpPr txBox="1"/>
          <p:nvPr/>
        </p:nvSpPr>
        <p:spPr>
          <a:xfrm>
            <a:off x="5953369" y="5547976"/>
            <a:ext cx="4135821" cy="626701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>
            <a:defPPr>
              <a:defRPr lang="zh-CN"/>
            </a:defPPr>
            <a:lvl1pPr algn="ctr">
              <a:defRPr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l"/>
            <a:r>
              <a:rPr lang="zh-CN" altLang="en-US" dirty="0" smtClean="0"/>
              <a:t>设备、网络、业务、用户以及围绕该四项内容开展工作的人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682731177"/>
              </p:ext>
            </p:extLst>
          </p:nvPr>
        </p:nvGraphicFramePr>
        <p:xfrm>
          <a:off x="2032000" y="107612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79550" y="273016"/>
            <a:ext cx="517032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网络四大关键字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右大括号 1"/>
          <p:cNvSpPr/>
          <p:nvPr/>
        </p:nvSpPr>
        <p:spPr>
          <a:xfrm>
            <a:off x="9624448" y="1751308"/>
            <a:ext cx="294468" cy="40140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368367" y="3296673"/>
            <a:ext cx="1534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围绕该四项内容开展工作的人</a:t>
            </a:r>
          </a:p>
        </p:txBody>
      </p:sp>
    </p:spTree>
    <p:extLst>
      <p:ext uri="{BB962C8B-B14F-4D97-AF65-F5344CB8AC3E}">
        <p14:creationId xmlns:p14="http://schemas.microsoft.com/office/powerpoint/2010/main" val="47212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 txBox="1">
            <a:spLocks/>
          </p:cNvSpPr>
          <p:nvPr/>
        </p:nvSpPr>
        <p:spPr>
          <a:xfrm>
            <a:off x="723163" y="230810"/>
            <a:ext cx="8336303" cy="6719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 设备</a:t>
            </a:r>
            <a:endParaRPr lang="zh-CN" altLang="en-US" dirty="0"/>
          </a:p>
        </p:txBody>
      </p:sp>
      <p:sp>
        <p:nvSpPr>
          <p:cNvPr id="4" name="Freeform 1"/>
          <p:cNvSpPr>
            <a:spLocks noChangeArrowheads="1"/>
          </p:cNvSpPr>
          <p:nvPr/>
        </p:nvSpPr>
        <p:spPr bwMode="auto">
          <a:xfrm rot="-1380000">
            <a:off x="2875895" y="2352198"/>
            <a:ext cx="6853238" cy="2803525"/>
          </a:xfrm>
          <a:custGeom>
            <a:avLst/>
            <a:gdLst>
              <a:gd name="T0" fmla="*/ 2147483647 w 4040"/>
              <a:gd name="T1" fmla="*/ 26459757 h 1888"/>
              <a:gd name="T2" fmla="*/ 2147483647 w 4040"/>
              <a:gd name="T3" fmla="*/ 163168723 h 1888"/>
              <a:gd name="T4" fmla="*/ 2147483647 w 4040"/>
              <a:gd name="T5" fmla="*/ 401306570 h 1888"/>
              <a:gd name="T6" fmla="*/ 1398508473 w 4040"/>
              <a:gd name="T7" fmla="*/ 727643923 h 1888"/>
              <a:gd name="T8" fmla="*/ 650335021 w 4040"/>
              <a:gd name="T9" fmla="*/ 1124540287 h 1888"/>
              <a:gd name="T10" fmla="*/ 166900107 w 4040"/>
              <a:gd name="T11" fmla="*/ 1583176738 h 1888"/>
              <a:gd name="T12" fmla="*/ 0 w 4040"/>
              <a:gd name="T13" fmla="*/ 2081503178 h 1888"/>
              <a:gd name="T14" fmla="*/ 166900107 w 4040"/>
              <a:gd name="T15" fmla="*/ 2147483647 h 1888"/>
              <a:gd name="T16" fmla="*/ 650335021 w 4040"/>
              <a:gd name="T17" fmla="*/ 2147483647 h 1888"/>
              <a:gd name="T18" fmla="*/ 1398508473 w 4040"/>
              <a:gd name="T19" fmla="*/ 2147483647 h 1888"/>
              <a:gd name="T20" fmla="*/ 2147483647 w 4040"/>
              <a:gd name="T21" fmla="*/ 2147483647 h 1888"/>
              <a:gd name="T22" fmla="*/ 2147483647 w 4040"/>
              <a:gd name="T23" fmla="*/ 2147483647 h 1888"/>
              <a:gd name="T24" fmla="*/ 2147483647 w 4040"/>
              <a:gd name="T25" fmla="*/ 2147483647 h 1888"/>
              <a:gd name="T26" fmla="*/ 2147483647 w 4040"/>
              <a:gd name="T27" fmla="*/ 2147483647 h 1888"/>
              <a:gd name="T28" fmla="*/ 2147483647 w 4040"/>
              <a:gd name="T29" fmla="*/ 2147483647 h 1888"/>
              <a:gd name="T30" fmla="*/ 2147483647 w 4040"/>
              <a:gd name="T31" fmla="*/ 2147483647 h 1888"/>
              <a:gd name="T32" fmla="*/ 2147483647 w 4040"/>
              <a:gd name="T33" fmla="*/ 2147483647 h 1888"/>
              <a:gd name="T34" fmla="*/ 2147483647 w 4040"/>
              <a:gd name="T35" fmla="*/ 2147483647 h 1888"/>
              <a:gd name="T36" fmla="*/ 2147483647 w 4040"/>
              <a:gd name="T37" fmla="*/ 2147483647 h 1888"/>
              <a:gd name="T38" fmla="*/ 2147483647 w 4040"/>
              <a:gd name="T39" fmla="*/ 2147483647 h 1888"/>
              <a:gd name="T40" fmla="*/ 2147483647 w 4040"/>
              <a:gd name="T41" fmla="*/ 1741935210 h 1888"/>
              <a:gd name="T42" fmla="*/ 2147483647 w 4040"/>
              <a:gd name="T43" fmla="*/ 1270069629 h 1888"/>
              <a:gd name="T44" fmla="*/ 2147483647 w 4040"/>
              <a:gd name="T45" fmla="*/ 851122425 h 1888"/>
              <a:gd name="T46" fmla="*/ 2147483647 w 4040"/>
              <a:gd name="T47" fmla="*/ 502735346 h 1888"/>
              <a:gd name="T48" fmla="*/ 2147483647 w 4040"/>
              <a:gd name="T49" fmla="*/ 233727595 h 1888"/>
              <a:gd name="T50" fmla="*/ 2147483647 w 4040"/>
              <a:gd name="T51" fmla="*/ 61739924 h 1888"/>
              <a:gd name="T52" fmla="*/ 2147483647 w 4040"/>
              <a:gd name="T53" fmla="*/ 0 h 1888"/>
              <a:gd name="T54" fmla="*/ 2147483647 w 4040"/>
              <a:gd name="T55" fmla="*/ 2147483647 h 1888"/>
              <a:gd name="T56" fmla="*/ 2147483647 w 4040"/>
              <a:gd name="T57" fmla="*/ 2147483647 h 1888"/>
              <a:gd name="T58" fmla="*/ 2147483647 w 4040"/>
              <a:gd name="T59" fmla="*/ 2147483647 h 1888"/>
              <a:gd name="T60" fmla="*/ 1317937145 w 4040"/>
              <a:gd name="T61" fmla="*/ 2147483647 h 1888"/>
              <a:gd name="T62" fmla="*/ 644581017 w 4040"/>
              <a:gd name="T63" fmla="*/ 2147483647 h 1888"/>
              <a:gd name="T64" fmla="*/ 253227189 w 4040"/>
              <a:gd name="T65" fmla="*/ 2147483647 h 1888"/>
              <a:gd name="T66" fmla="*/ 195676914 w 4040"/>
              <a:gd name="T67" fmla="*/ 1905103886 h 1888"/>
              <a:gd name="T68" fmla="*/ 477679267 w 4040"/>
              <a:gd name="T69" fmla="*/ 1464108256 h 1888"/>
              <a:gd name="T70" fmla="*/ 1064708366 w 4040"/>
              <a:gd name="T71" fmla="*/ 1071620797 h 1888"/>
              <a:gd name="T72" fmla="*/ 1904964760 w 4040"/>
              <a:gd name="T73" fmla="*/ 740873053 h 1888"/>
              <a:gd name="T74" fmla="*/ 2147483647 w 4040"/>
              <a:gd name="T75" fmla="*/ 489506215 h 1888"/>
              <a:gd name="T76" fmla="*/ 2147483647 w 4040"/>
              <a:gd name="T77" fmla="*/ 326337446 h 1888"/>
              <a:gd name="T78" fmla="*/ 2147483647 w 4040"/>
              <a:gd name="T79" fmla="*/ 264597545 h 1888"/>
              <a:gd name="T80" fmla="*/ 2147483647 w 4040"/>
              <a:gd name="T81" fmla="*/ 326337446 h 1888"/>
              <a:gd name="T82" fmla="*/ 2147483647 w 4040"/>
              <a:gd name="T83" fmla="*/ 489506215 h 1888"/>
              <a:gd name="T84" fmla="*/ 2147483647 w 4040"/>
              <a:gd name="T85" fmla="*/ 740873053 h 1888"/>
              <a:gd name="T86" fmla="*/ 2147483647 w 4040"/>
              <a:gd name="T87" fmla="*/ 1071620797 h 1888"/>
              <a:gd name="T88" fmla="*/ 2147483647 w 4040"/>
              <a:gd name="T89" fmla="*/ 1464108256 h 1888"/>
              <a:gd name="T90" fmla="*/ 2147483647 w 4040"/>
              <a:gd name="T91" fmla="*/ 1905103886 h 1888"/>
              <a:gd name="T92" fmla="*/ 2147483647 w 4040"/>
              <a:gd name="T93" fmla="*/ 2147483647 h 1888"/>
              <a:gd name="T94" fmla="*/ 2147483647 w 4040"/>
              <a:gd name="T95" fmla="*/ 2147483647 h 1888"/>
              <a:gd name="T96" fmla="*/ 2147483647 w 4040"/>
              <a:gd name="T97" fmla="*/ 2147483647 h 1888"/>
              <a:gd name="T98" fmla="*/ 2147483647 w 4040"/>
              <a:gd name="T99" fmla="*/ 2147483647 h 1888"/>
              <a:gd name="T100" fmla="*/ 2147483647 w 4040"/>
              <a:gd name="T101" fmla="*/ 2147483647 h 1888"/>
              <a:gd name="T102" fmla="*/ 2147483647 w 4040"/>
              <a:gd name="T103" fmla="*/ 2147483647 h 1888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4040"/>
              <a:gd name="T157" fmla="*/ 0 h 1888"/>
              <a:gd name="T158" fmla="*/ 4040 w 4040"/>
              <a:gd name="T159" fmla="*/ 1888 h 1888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4040" h="1888">
                <a:moveTo>
                  <a:pt x="2020" y="0"/>
                </a:moveTo>
                <a:lnTo>
                  <a:pt x="1854" y="4"/>
                </a:lnTo>
                <a:lnTo>
                  <a:pt x="1692" y="12"/>
                </a:lnTo>
                <a:lnTo>
                  <a:pt x="1534" y="28"/>
                </a:lnTo>
                <a:lnTo>
                  <a:pt x="1382" y="48"/>
                </a:lnTo>
                <a:lnTo>
                  <a:pt x="1234" y="74"/>
                </a:lnTo>
                <a:lnTo>
                  <a:pt x="1092" y="106"/>
                </a:lnTo>
                <a:lnTo>
                  <a:pt x="956" y="142"/>
                </a:lnTo>
                <a:lnTo>
                  <a:pt x="828" y="182"/>
                </a:lnTo>
                <a:lnTo>
                  <a:pt x="706" y="228"/>
                </a:lnTo>
                <a:lnTo>
                  <a:pt x="592" y="276"/>
                </a:lnTo>
                <a:lnTo>
                  <a:pt x="486" y="330"/>
                </a:lnTo>
                <a:lnTo>
                  <a:pt x="390" y="386"/>
                </a:lnTo>
                <a:lnTo>
                  <a:pt x="302" y="446"/>
                </a:lnTo>
                <a:lnTo>
                  <a:pt x="226" y="510"/>
                </a:lnTo>
                <a:lnTo>
                  <a:pt x="158" y="576"/>
                </a:lnTo>
                <a:lnTo>
                  <a:pt x="102" y="646"/>
                </a:lnTo>
                <a:lnTo>
                  <a:pt x="58" y="718"/>
                </a:lnTo>
                <a:lnTo>
                  <a:pt x="26" y="790"/>
                </a:lnTo>
                <a:lnTo>
                  <a:pt x="6" y="866"/>
                </a:lnTo>
                <a:lnTo>
                  <a:pt x="0" y="944"/>
                </a:lnTo>
                <a:lnTo>
                  <a:pt x="6" y="1022"/>
                </a:lnTo>
                <a:lnTo>
                  <a:pt x="26" y="1098"/>
                </a:lnTo>
                <a:lnTo>
                  <a:pt x="58" y="1170"/>
                </a:lnTo>
                <a:lnTo>
                  <a:pt x="102" y="1242"/>
                </a:lnTo>
                <a:lnTo>
                  <a:pt x="158" y="1312"/>
                </a:lnTo>
                <a:lnTo>
                  <a:pt x="226" y="1378"/>
                </a:lnTo>
                <a:lnTo>
                  <a:pt x="302" y="1442"/>
                </a:lnTo>
                <a:lnTo>
                  <a:pt x="390" y="1502"/>
                </a:lnTo>
                <a:lnTo>
                  <a:pt x="486" y="1558"/>
                </a:lnTo>
                <a:lnTo>
                  <a:pt x="592" y="1612"/>
                </a:lnTo>
                <a:lnTo>
                  <a:pt x="706" y="1660"/>
                </a:lnTo>
                <a:lnTo>
                  <a:pt x="828" y="1706"/>
                </a:lnTo>
                <a:lnTo>
                  <a:pt x="956" y="1746"/>
                </a:lnTo>
                <a:lnTo>
                  <a:pt x="1092" y="1782"/>
                </a:lnTo>
                <a:lnTo>
                  <a:pt x="1234" y="1814"/>
                </a:lnTo>
                <a:lnTo>
                  <a:pt x="1382" y="1840"/>
                </a:lnTo>
                <a:lnTo>
                  <a:pt x="1534" y="1860"/>
                </a:lnTo>
                <a:lnTo>
                  <a:pt x="1692" y="1876"/>
                </a:lnTo>
                <a:lnTo>
                  <a:pt x="1854" y="1884"/>
                </a:lnTo>
                <a:lnTo>
                  <a:pt x="2020" y="1888"/>
                </a:lnTo>
                <a:lnTo>
                  <a:pt x="2186" y="1884"/>
                </a:lnTo>
                <a:lnTo>
                  <a:pt x="2348" y="1876"/>
                </a:lnTo>
                <a:lnTo>
                  <a:pt x="2506" y="1860"/>
                </a:lnTo>
                <a:lnTo>
                  <a:pt x="2658" y="1840"/>
                </a:lnTo>
                <a:lnTo>
                  <a:pt x="2806" y="1814"/>
                </a:lnTo>
                <a:lnTo>
                  <a:pt x="2948" y="1782"/>
                </a:lnTo>
                <a:lnTo>
                  <a:pt x="3084" y="1746"/>
                </a:lnTo>
                <a:lnTo>
                  <a:pt x="3212" y="1706"/>
                </a:lnTo>
                <a:lnTo>
                  <a:pt x="3334" y="1660"/>
                </a:lnTo>
                <a:lnTo>
                  <a:pt x="3448" y="1612"/>
                </a:lnTo>
                <a:lnTo>
                  <a:pt x="3554" y="1558"/>
                </a:lnTo>
                <a:lnTo>
                  <a:pt x="3650" y="1502"/>
                </a:lnTo>
                <a:lnTo>
                  <a:pt x="3738" y="1442"/>
                </a:lnTo>
                <a:lnTo>
                  <a:pt x="3814" y="1378"/>
                </a:lnTo>
                <a:lnTo>
                  <a:pt x="3882" y="1312"/>
                </a:lnTo>
                <a:lnTo>
                  <a:pt x="3938" y="1242"/>
                </a:lnTo>
                <a:lnTo>
                  <a:pt x="3982" y="1170"/>
                </a:lnTo>
                <a:lnTo>
                  <a:pt x="4014" y="1098"/>
                </a:lnTo>
                <a:lnTo>
                  <a:pt x="4034" y="1022"/>
                </a:lnTo>
                <a:lnTo>
                  <a:pt x="4040" y="944"/>
                </a:lnTo>
                <a:lnTo>
                  <a:pt x="4034" y="866"/>
                </a:lnTo>
                <a:lnTo>
                  <a:pt x="4014" y="790"/>
                </a:lnTo>
                <a:lnTo>
                  <a:pt x="3982" y="718"/>
                </a:lnTo>
                <a:lnTo>
                  <a:pt x="3938" y="646"/>
                </a:lnTo>
                <a:lnTo>
                  <a:pt x="3882" y="576"/>
                </a:lnTo>
                <a:lnTo>
                  <a:pt x="3814" y="510"/>
                </a:lnTo>
                <a:lnTo>
                  <a:pt x="3738" y="446"/>
                </a:lnTo>
                <a:lnTo>
                  <a:pt x="3650" y="386"/>
                </a:lnTo>
                <a:lnTo>
                  <a:pt x="3554" y="330"/>
                </a:lnTo>
                <a:lnTo>
                  <a:pt x="3448" y="276"/>
                </a:lnTo>
                <a:lnTo>
                  <a:pt x="3334" y="228"/>
                </a:lnTo>
                <a:lnTo>
                  <a:pt x="3212" y="182"/>
                </a:lnTo>
                <a:lnTo>
                  <a:pt x="3084" y="142"/>
                </a:lnTo>
                <a:lnTo>
                  <a:pt x="2948" y="106"/>
                </a:lnTo>
                <a:lnTo>
                  <a:pt x="2806" y="74"/>
                </a:lnTo>
                <a:lnTo>
                  <a:pt x="2658" y="48"/>
                </a:lnTo>
                <a:lnTo>
                  <a:pt x="2506" y="28"/>
                </a:lnTo>
                <a:lnTo>
                  <a:pt x="2348" y="12"/>
                </a:lnTo>
                <a:lnTo>
                  <a:pt x="2186" y="4"/>
                </a:lnTo>
                <a:lnTo>
                  <a:pt x="2020" y="0"/>
                </a:lnTo>
                <a:close/>
                <a:moveTo>
                  <a:pt x="1922" y="1748"/>
                </a:moveTo>
                <a:lnTo>
                  <a:pt x="1762" y="1746"/>
                </a:lnTo>
                <a:lnTo>
                  <a:pt x="1606" y="1736"/>
                </a:lnTo>
                <a:lnTo>
                  <a:pt x="1454" y="1722"/>
                </a:lnTo>
                <a:lnTo>
                  <a:pt x="1306" y="1702"/>
                </a:lnTo>
                <a:lnTo>
                  <a:pt x="1164" y="1678"/>
                </a:lnTo>
                <a:lnTo>
                  <a:pt x="1028" y="1648"/>
                </a:lnTo>
                <a:lnTo>
                  <a:pt x="898" y="1614"/>
                </a:lnTo>
                <a:lnTo>
                  <a:pt x="776" y="1576"/>
                </a:lnTo>
                <a:lnTo>
                  <a:pt x="662" y="1532"/>
                </a:lnTo>
                <a:lnTo>
                  <a:pt x="554" y="1486"/>
                </a:lnTo>
                <a:lnTo>
                  <a:pt x="458" y="1436"/>
                </a:lnTo>
                <a:lnTo>
                  <a:pt x="370" y="1382"/>
                </a:lnTo>
                <a:lnTo>
                  <a:pt x="292" y="1326"/>
                </a:lnTo>
                <a:lnTo>
                  <a:pt x="224" y="1266"/>
                </a:lnTo>
                <a:lnTo>
                  <a:pt x="166" y="1204"/>
                </a:lnTo>
                <a:lnTo>
                  <a:pt x="122" y="1140"/>
                </a:lnTo>
                <a:lnTo>
                  <a:pt x="88" y="1074"/>
                </a:lnTo>
                <a:lnTo>
                  <a:pt x="68" y="1004"/>
                </a:lnTo>
                <a:lnTo>
                  <a:pt x="62" y="934"/>
                </a:lnTo>
                <a:lnTo>
                  <a:pt x="68" y="864"/>
                </a:lnTo>
                <a:lnTo>
                  <a:pt x="88" y="796"/>
                </a:lnTo>
                <a:lnTo>
                  <a:pt x="122" y="730"/>
                </a:lnTo>
                <a:lnTo>
                  <a:pt x="166" y="664"/>
                </a:lnTo>
                <a:lnTo>
                  <a:pt x="224" y="602"/>
                </a:lnTo>
                <a:lnTo>
                  <a:pt x="292" y="544"/>
                </a:lnTo>
                <a:lnTo>
                  <a:pt x="370" y="486"/>
                </a:lnTo>
                <a:lnTo>
                  <a:pt x="458" y="434"/>
                </a:lnTo>
                <a:lnTo>
                  <a:pt x="554" y="382"/>
                </a:lnTo>
                <a:lnTo>
                  <a:pt x="662" y="336"/>
                </a:lnTo>
                <a:lnTo>
                  <a:pt x="776" y="294"/>
                </a:lnTo>
                <a:lnTo>
                  <a:pt x="898" y="256"/>
                </a:lnTo>
                <a:lnTo>
                  <a:pt x="1028" y="222"/>
                </a:lnTo>
                <a:lnTo>
                  <a:pt x="1164" y="192"/>
                </a:lnTo>
                <a:lnTo>
                  <a:pt x="1306" y="166"/>
                </a:lnTo>
                <a:lnTo>
                  <a:pt x="1454" y="148"/>
                </a:lnTo>
                <a:lnTo>
                  <a:pt x="1606" y="132"/>
                </a:lnTo>
                <a:lnTo>
                  <a:pt x="1762" y="124"/>
                </a:lnTo>
                <a:lnTo>
                  <a:pt x="1922" y="120"/>
                </a:lnTo>
                <a:lnTo>
                  <a:pt x="2084" y="124"/>
                </a:lnTo>
                <a:lnTo>
                  <a:pt x="2240" y="132"/>
                </a:lnTo>
                <a:lnTo>
                  <a:pt x="2392" y="148"/>
                </a:lnTo>
                <a:lnTo>
                  <a:pt x="2540" y="166"/>
                </a:lnTo>
                <a:lnTo>
                  <a:pt x="2682" y="192"/>
                </a:lnTo>
                <a:lnTo>
                  <a:pt x="2818" y="222"/>
                </a:lnTo>
                <a:lnTo>
                  <a:pt x="2948" y="256"/>
                </a:lnTo>
                <a:lnTo>
                  <a:pt x="3070" y="294"/>
                </a:lnTo>
                <a:lnTo>
                  <a:pt x="3184" y="336"/>
                </a:lnTo>
                <a:lnTo>
                  <a:pt x="3292" y="382"/>
                </a:lnTo>
                <a:lnTo>
                  <a:pt x="3388" y="434"/>
                </a:lnTo>
                <a:lnTo>
                  <a:pt x="3476" y="486"/>
                </a:lnTo>
                <a:lnTo>
                  <a:pt x="3554" y="544"/>
                </a:lnTo>
                <a:lnTo>
                  <a:pt x="3622" y="602"/>
                </a:lnTo>
                <a:lnTo>
                  <a:pt x="3680" y="664"/>
                </a:lnTo>
                <a:lnTo>
                  <a:pt x="3724" y="730"/>
                </a:lnTo>
                <a:lnTo>
                  <a:pt x="3758" y="796"/>
                </a:lnTo>
                <a:lnTo>
                  <a:pt x="3778" y="864"/>
                </a:lnTo>
                <a:lnTo>
                  <a:pt x="3784" y="934"/>
                </a:lnTo>
                <a:lnTo>
                  <a:pt x="3778" y="1004"/>
                </a:lnTo>
                <a:lnTo>
                  <a:pt x="3758" y="1074"/>
                </a:lnTo>
                <a:lnTo>
                  <a:pt x="3724" y="1140"/>
                </a:lnTo>
                <a:lnTo>
                  <a:pt x="3680" y="1204"/>
                </a:lnTo>
                <a:lnTo>
                  <a:pt x="3622" y="1266"/>
                </a:lnTo>
                <a:lnTo>
                  <a:pt x="3554" y="1326"/>
                </a:lnTo>
                <a:lnTo>
                  <a:pt x="3476" y="1382"/>
                </a:lnTo>
                <a:lnTo>
                  <a:pt x="3388" y="1436"/>
                </a:lnTo>
                <a:lnTo>
                  <a:pt x="3292" y="1486"/>
                </a:lnTo>
                <a:lnTo>
                  <a:pt x="3184" y="1532"/>
                </a:lnTo>
                <a:lnTo>
                  <a:pt x="3070" y="1576"/>
                </a:lnTo>
                <a:lnTo>
                  <a:pt x="2948" y="1614"/>
                </a:lnTo>
                <a:lnTo>
                  <a:pt x="2818" y="1648"/>
                </a:lnTo>
                <a:lnTo>
                  <a:pt x="2682" y="1678"/>
                </a:lnTo>
                <a:lnTo>
                  <a:pt x="2540" y="1702"/>
                </a:lnTo>
                <a:lnTo>
                  <a:pt x="2392" y="1722"/>
                </a:lnTo>
                <a:lnTo>
                  <a:pt x="2240" y="1736"/>
                </a:lnTo>
                <a:lnTo>
                  <a:pt x="2084" y="1746"/>
                </a:lnTo>
                <a:lnTo>
                  <a:pt x="1922" y="1748"/>
                </a:lnTo>
                <a:close/>
              </a:path>
            </a:pathLst>
          </a:custGeom>
          <a:gradFill rotWithShape="0">
            <a:gsLst>
              <a:gs pos="0">
                <a:srgbClr val="83B7E7"/>
              </a:gs>
              <a:gs pos="100000">
                <a:srgbClr val="F2F7FB"/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defTabSz="449263">
              <a:buClr>
                <a:srgbClr val="FFFFFF"/>
              </a:buClr>
              <a:buSzPct val="100000"/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Oval 2"/>
          <p:cNvSpPr>
            <a:spLocks noChangeArrowheads="1"/>
          </p:cNvSpPr>
          <p:nvPr/>
        </p:nvSpPr>
        <p:spPr bwMode="auto">
          <a:xfrm rot="-1560000">
            <a:off x="5409389" y="2473748"/>
            <a:ext cx="1066800" cy="304800"/>
          </a:xfrm>
          <a:prstGeom prst="ellipse">
            <a:avLst/>
          </a:prstGeom>
          <a:solidFill>
            <a:srgbClr val="020A53">
              <a:alpha val="70195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defTabSz="449263">
              <a:buClr>
                <a:srgbClr val="FFFFFF"/>
              </a:buClr>
              <a:buSzPct val="100000"/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Oval 3"/>
          <p:cNvSpPr>
            <a:spLocks noChangeArrowheads="1"/>
          </p:cNvSpPr>
          <p:nvPr/>
        </p:nvSpPr>
        <p:spPr bwMode="auto">
          <a:xfrm rot="-1560000">
            <a:off x="8308016" y="4057924"/>
            <a:ext cx="1066800" cy="304800"/>
          </a:xfrm>
          <a:prstGeom prst="ellipse">
            <a:avLst/>
          </a:prstGeom>
          <a:solidFill>
            <a:srgbClr val="020A53">
              <a:alpha val="70195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defTabSz="449263">
              <a:buClr>
                <a:srgbClr val="FFFFFF"/>
              </a:buClr>
              <a:buSzPct val="100000"/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 rot="-1560000">
            <a:off x="4536420" y="5527198"/>
            <a:ext cx="1066800" cy="304800"/>
          </a:xfrm>
          <a:prstGeom prst="ellipse">
            <a:avLst/>
          </a:prstGeom>
          <a:solidFill>
            <a:srgbClr val="020A53">
              <a:alpha val="70195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defTabSz="449263">
              <a:buClr>
                <a:srgbClr val="FFFFFF"/>
              </a:buClr>
              <a:buSzPct val="100000"/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4882339" y="1635548"/>
            <a:ext cx="1284288" cy="1274763"/>
          </a:xfrm>
          <a:prstGeom prst="ellipse">
            <a:avLst/>
          </a:prstGeom>
          <a:gradFill rotWithShape="0">
            <a:gsLst>
              <a:gs pos="0">
                <a:srgbClr val="8A52C8"/>
              </a:gs>
              <a:gs pos="100000">
                <a:srgbClr val="2F1C44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defTabSz="449263">
              <a:buClr>
                <a:srgbClr val="FFFFFF"/>
              </a:buClr>
              <a:buSzPct val="100000"/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" name="Oval 10"/>
          <p:cNvSpPr>
            <a:spLocks noChangeArrowheads="1"/>
          </p:cNvSpPr>
          <p:nvPr/>
        </p:nvSpPr>
        <p:spPr bwMode="auto">
          <a:xfrm>
            <a:off x="3977620" y="4709636"/>
            <a:ext cx="1282700" cy="1274762"/>
          </a:xfrm>
          <a:prstGeom prst="ellipse">
            <a:avLst/>
          </a:prstGeom>
          <a:gradFill rotWithShape="0">
            <a:gsLst>
              <a:gs pos="0">
                <a:srgbClr val="2F7ADF"/>
              </a:gs>
              <a:gs pos="100000">
                <a:srgbClr val="102B4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defTabSz="449263">
              <a:buClr>
                <a:srgbClr val="FFFFFF"/>
              </a:buClr>
              <a:buSzPct val="100000"/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7857166" y="3219724"/>
            <a:ext cx="1212850" cy="1274763"/>
          </a:xfrm>
          <a:prstGeom prst="ellipse">
            <a:avLst/>
          </a:prstGeom>
          <a:gradFill rotWithShape="0">
            <a:gsLst>
              <a:gs pos="0">
                <a:srgbClr val="DD8739"/>
              </a:gs>
              <a:gs pos="100000">
                <a:srgbClr val="4B2E13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defTabSz="449263">
              <a:buClr>
                <a:srgbClr val="FFFFFF"/>
              </a:buClr>
              <a:buSzPct val="100000"/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4976846" y="2060848"/>
            <a:ext cx="1109897" cy="46384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defTabSz="449263" eaLnBrk="0" hangingPunct="0">
              <a:buClr>
                <a:srgbClr val="FFFFFF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400" b="1" dirty="0" smtClean="0">
                <a:solidFill>
                  <a:srgbClr val="FFFFFF"/>
                </a:solidFill>
                <a:latin typeface="Verdana" pitchFamily="34" charset="0"/>
              </a:rPr>
              <a:t>主设备</a:t>
            </a:r>
            <a:endParaRPr lang="en-GB" altLang="zh-CN" sz="2400" b="1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8073190" y="3613226"/>
            <a:ext cx="800517" cy="46384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defTabSz="449263" eaLnBrk="0" hangingPunct="0">
              <a:buClr>
                <a:srgbClr val="FFFFFF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400" b="1" dirty="0">
                <a:solidFill>
                  <a:srgbClr val="FFFFFF"/>
                </a:solidFill>
                <a:latin typeface="Verdana" pitchFamily="34" charset="0"/>
              </a:rPr>
              <a:t>动力</a:t>
            </a:r>
            <a:endParaRPr lang="en-GB" altLang="zh-CN" sz="2400" b="1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4184758" y="5125394"/>
            <a:ext cx="800517" cy="46384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defTabSz="449263" eaLnBrk="0" hangingPunct="0">
              <a:buClr>
                <a:srgbClr val="FFFFFF"/>
              </a:buClr>
              <a:buSzPct val="100000"/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400" b="1" dirty="0">
                <a:solidFill>
                  <a:srgbClr val="FFFFFF"/>
                </a:solidFill>
                <a:latin typeface="Verdana" pitchFamily="34" charset="0"/>
              </a:rPr>
              <a:t>传输</a:t>
            </a:r>
            <a:endParaRPr lang="en-GB" altLang="zh-CN" sz="2400" b="1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5228570" y="3474561"/>
            <a:ext cx="2590800" cy="520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defTabSz="449263" eaLnBrk="0" hangingPunct="0">
              <a:buClr>
                <a:srgbClr val="FFFFFF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CN" sz="2800" b="1">
                <a:solidFill>
                  <a:srgbClr val="FFFFFF"/>
                </a:solidFill>
              </a:rPr>
              <a:t>Cycle name</a:t>
            </a:r>
          </a:p>
        </p:txBody>
      </p:sp>
      <p:sp>
        <p:nvSpPr>
          <p:cNvPr id="15" name="TextBox 39"/>
          <p:cNvSpPr txBox="1"/>
          <p:nvPr/>
        </p:nvSpPr>
        <p:spPr>
          <a:xfrm>
            <a:off x="2477116" y="1414531"/>
            <a:ext cx="2842692" cy="44203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zh-CN" altLang="en-US" sz="2400" dirty="0" smtClean="0">
                <a:gradFill flip="none" rotWithShape="1">
                  <a:gsLst>
                    <a:gs pos="0">
                      <a:srgbClr val="7030A0">
                        <a:shade val="30000"/>
                        <a:satMod val="115000"/>
                      </a:srgbClr>
                    </a:gs>
                    <a:gs pos="50000">
                      <a:srgbClr val="7030A0">
                        <a:shade val="67500"/>
                        <a:satMod val="115000"/>
                      </a:srgbClr>
                    </a:gs>
                    <a:gs pos="100000">
                      <a:srgbClr val="7030A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网络的“五脏六腑”</a:t>
            </a:r>
            <a:endParaRPr lang="zh-CN" altLang="en-US" sz="2400" dirty="0">
              <a:gradFill flip="none" rotWithShape="1">
                <a:gsLst>
                  <a:gs pos="0">
                    <a:srgbClr val="7030A0">
                      <a:shade val="30000"/>
                      <a:satMod val="115000"/>
                    </a:srgbClr>
                  </a:gs>
                  <a:gs pos="50000">
                    <a:srgbClr val="7030A0">
                      <a:shade val="67500"/>
                      <a:satMod val="115000"/>
                    </a:srgbClr>
                  </a:gs>
                  <a:gs pos="100000">
                    <a:srgbClr val="7030A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40"/>
          <p:cNvSpPr txBox="1"/>
          <p:nvPr/>
        </p:nvSpPr>
        <p:spPr>
          <a:xfrm>
            <a:off x="8110817" y="2780928"/>
            <a:ext cx="2842693" cy="44203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zh-CN" altLang="en-US" sz="2400" dirty="0" smtClean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网络的“气血”供给</a:t>
            </a:r>
            <a:endParaRPr lang="zh-CN" altLang="en-US" sz="2400" dirty="0">
              <a:gradFill flip="none" rotWithShape="1">
                <a:gsLst>
                  <a:gs pos="0">
                    <a:schemeClr val="tx1">
                      <a:lumMod val="65000"/>
                      <a:lumOff val="35000"/>
                      <a:shade val="30000"/>
                      <a:satMod val="115000"/>
                    </a:schemeClr>
                  </a:gs>
                  <a:gs pos="50000">
                    <a:schemeClr val="tx1">
                      <a:lumMod val="65000"/>
                      <a:lumOff val="3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65000"/>
                      <a:lumOff val="3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41"/>
          <p:cNvSpPr txBox="1"/>
          <p:nvPr/>
        </p:nvSpPr>
        <p:spPr>
          <a:xfrm>
            <a:off x="5302505" y="5661173"/>
            <a:ext cx="2842693" cy="442035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zh-CN" altLang="en-US" sz="24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网络</a:t>
            </a:r>
            <a:r>
              <a:rPr lang="zh-CN" altLang="en-US" sz="24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的“十二经络”</a:t>
            </a:r>
          </a:p>
        </p:txBody>
      </p:sp>
    </p:spTree>
    <p:extLst>
      <p:ext uri="{BB962C8B-B14F-4D97-AF65-F5344CB8AC3E}">
        <p14:creationId xmlns:p14="http://schemas.microsoft.com/office/powerpoint/2010/main" val="357578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 txBox="1">
            <a:spLocks/>
          </p:cNvSpPr>
          <p:nvPr/>
        </p:nvSpPr>
        <p:spPr>
          <a:xfrm>
            <a:off x="734925" y="267766"/>
            <a:ext cx="8336303" cy="671910"/>
          </a:xfrm>
          <a:prstGeom prst="rect">
            <a:avLst/>
          </a:prstGeom>
        </p:spPr>
        <p:txBody>
          <a:bodyPr/>
          <a:lstStyle/>
          <a:p>
            <a: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50" y="723022"/>
            <a:ext cx="11777500" cy="63884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268483" y="1063338"/>
            <a:ext cx="141632" cy="349702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>
            <a:defPPr>
              <a:defRPr lang="zh-CN"/>
            </a:defPPr>
            <a:lvl1pPr algn="ctr">
              <a:defRPr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 </a:t>
            </a:r>
            <a:endParaRPr lang="en-US" altLang="zh-CN" dirty="0" smtClean="0"/>
          </a:p>
        </p:txBody>
      </p:sp>
      <p:sp>
        <p:nvSpPr>
          <p:cNvPr id="4" name="标题 2"/>
          <p:cNvSpPr txBox="1">
            <a:spLocks/>
          </p:cNvSpPr>
          <p:nvPr/>
        </p:nvSpPr>
        <p:spPr>
          <a:xfrm>
            <a:off x="734925" y="267766"/>
            <a:ext cx="8336303" cy="671910"/>
          </a:xfrm>
          <a:prstGeom prst="rect">
            <a:avLst/>
          </a:prstGeom>
        </p:spPr>
        <p:txBody>
          <a:bodyPr/>
          <a:lstStyle/>
          <a:p>
            <a: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业务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91" y="1733132"/>
            <a:ext cx="9666818" cy="3391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>
            <a:spLocks/>
          </p:cNvSpPr>
          <p:nvPr/>
        </p:nvSpPr>
        <p:spPr>
          <a:xfrm>
            <a:off x="734925" y="267766"/>
            <a:ext cx="8336303" cy="543603"/>
          </a:xfrm>
          <a:prstGeom prst="rect">
            <a:avLst/>
          </a:prstGeom>
        </p:spPr>
        <p:txBody>
          <a:bodyPr/>
          <a:lstStyle/>
          <a:p>
            <a: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00" y="1731600"/>
            <a:ext cx="9577899" cy="362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74197" y="2019967"/>
            <a:ext cx="55091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业务运营部门：</a:t>
            </a:r>
            <a:endParaRPr lang="en-US" altLang="zh-CN" dirty="0" smtClean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支撑部门：</a:t>
            </a:r>
            <a:endParaRPr lang="en-US" altLang="zh-CN" dirty="0" smtClean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网络管理部门：</a:t>
            </a:r>
            <a:endParaRPr lang="en-US" altLang="zh-CN" dirty="0" smtClean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    网络管理中心：监控室、核心室、性能室、分析室</a:t>
            </a:r>
            <a:endParaRPr lang="en-US" altLang="zh-CN" dirty="0" smtClean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7837" y="330653"/>
            <a:ext cx="1826141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职能部门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939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3771771" y="2627011"/>
            <a:ext cx="486078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如何打造珠海网络大脑？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2868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6728" y="1598527"/>
            <a:ext cx="9208231" cy="2519527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通过搭建基于大数据的智慧网络运维平台打造珠海网络大脑</a:t>
            </a:r>
            <a:endParaRPr lang="en-US" altLang="zh-CN" dirty="0" smtClean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平台面向人员</a:t>
            </a:r>
            <a:endParaRPr lang="en-US" altLang="zh-CN" dirty="0" smtClean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领导、监控岗位人员、专业岗位人员、其它岗位人员、外部人员；</a:t>
            </a:r>
            <a:endParaRPr lang="en-US" altLang="zh-CN" dirty="0" smtClean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平台目标</a:t>
            </a:r>
            <a:endParaRPr lang="en-US" altLang="zh-CN" dirty="0" smtClean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）展示珠海网络</a:t>
            </a:r>
            <a:endParaRPr lang="en-US" altLang="zh-CN" dirty="0" smtClean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）实现珠海网络智慧运维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0782" y="213111"/>
            <a:ext cx="59298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基于大数据的智慧网络运维平台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1707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2293214" y="3450023"/>
            <a:ext cx="9051545" cy="57625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706942" y="5531483"/>
            <a:ext cx="1266233" cy="5153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706944" y="2748144"/>
            <a:ext cx="1266233" cy="5757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706943" y="3450023"/>
            <a:ext cx="1266233" cy="12835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2212384" y="1206084"/>
            <a:ext cx="9132376" cy="10077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293214" y="2760550"/>
            <a:ext cx="9051545" cy="5633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80782" y="213111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平台架构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71036" y="1392794"/>
            <a:ext cx="4677733" cy="702682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293214" y="4152357"/>
            <a:ext cx="9051545" cy="5587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86952" y="4245277"/>
            <a:ext cx="108822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算法库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51471" y="4240291"/>
            <a:ext cx="108822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场景库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53441" y="4235030"/>
            <a:ext cx="108822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模型库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293213" y="4880900"/>
            <a:ext cx="9051545" cy="55879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2293213" y="5531482"/>
            <a:ext cx="9051545" cy="518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2671577" y="5650415"/>
            <a:ext cx="184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Telnet</a:t>
            </a:r>
            <a:endParaRPr lang="zh-CN" altLang="en-US" dirty="0" smtClean="0"/>
          </a:p>
        </p:txBody>
      </p:sp>
      <p:sp>
        <p:nvSpPr>
          <p:cNvPr id="42" name="TextBox 41"/>
          <p:cNvSpPr txBox="1"/>
          <p:nvPr/>
        </p:nvSpPr>
        <p:spPr>
          <a:xfrm>
            <a:off x="4563438" y="5645161"/>
            <a:ext cx="605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 smtClean="0"/>
              <a:t>WebServices</a:t>
            </a:r>
            <a:r>
              <a:rPr lang="en-US" altLang="zh-CN" b="1" dirty="0" smtClean="0"/>
              <a:t>/FTP/JDBC/ODBC/ESB/</a:t>
            </a:r>
            <a:r>
              <a:rPr lang="en-US" altLang="zh-CN" b="1" dirty="0" err="1" smtClean="0"/>
              <a:t>syslog</a:t>
            </a:r>
            <a:r>
              <a:rPr lang="en-US" altLang="zh-CN" b="1" dirty="0" smtClean="0"/>
              <a:t>/SNMP/</a:t>
            </a:r>
            <a:r>
              <a:rPr lang="en-US" altLang="zh-CN" b="1" dirty="0" err="1" smtClean="0"/>
              <a:t>Hadoop</a:t>
            </a:r>
            <a:r>
              <a:rPr lang="en-US" altLang="zh-CN" b="1" dirty="0" smtClean="0"/>
              <a:t>…</a:t>
            </a:r>
            <a:endParaRPr lang="zh-CN" altLang="en-US" dirty="0" smtClean="0"/>
          </a:p>
        </p:txBody>
      </p:sp>
      <p:sp>
        <p:nvSpPr>
          <p:cNvPr id="48" name="TextBox 47"/>
          <p:cNvSpPr txBox="1"/>
          <p:nvPr/>
        </p:nvSpPr>
        <p:spPr>
          <a:xfrm>
            <a:off x="6291692" y="4251069"/>
            <a:ext cx="108822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指令库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85849" y="5619354"/>
            <a:ext cx="87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接口层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506053" y="4286903"/>
            <a:ext cx="140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…..</a:t>
            </a:r>
            <a:endParaRPr lang="zh-CN" alt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3440617" y="1551780"/>
            <a:ext cx="266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实现网络智慧运维管理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455701" y="2847076"/>
            <a:ext cx="108822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网络概览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564906" y="2831577"/>
            <a:ext cx="98277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拓扑视图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594534" y="2826322"/>
            <a:ext cx="1056732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统计报表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08616" y="2836832"/>
            <a:ext cx="1030462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监测视图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788039" y="2826323"/>
            <a:ext cx="899083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智能定位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712950" y="2821066"/>
            <a:ext cx="899083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>
                <a:solidFill>
                  <a:schemeClr val="tx1"/>
                </a:solidFill>
                <a:effectLst/>
              </a:rPr>
              <a:t>消息告警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37858" y="2831576"/>
            <a:ext cx="899083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即席查询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86" name="上箭头 85"/>
          <p:cNvSpPr/>
          <p:nvPr/>
        </p:nvSpPr>
        <p:spPr>
          <a:xfrm>
            <a:off x="6886003" y="2295879"/>
            <a:ext cx="320091" cy="37240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TextBox 86"/>
          <p:cNvSpPr txBox="1"/>
          <p:nvPr/>
        </p:nvSpPr>
        <p:spPr>
          <a:xfrm>
            <a:off x="904384" y="2848986"/>
            <a:ext cx="100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应用层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86952" y="3536207"/>
            <a:ext cx="8475119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b="0" dirty="0" smtClean="0">
                <a:solidFill>
                  <a:schemeClr val="tx1"/>
                </a:solidFill>
                <a:effectLst/>
              </a:rPr>
              <a:t>设备配置  报表配置  指标配置  经验配置  场景配置  任务配置  指令配置  消息配置  </a:t>
            </a:r>
            <a:r>
              <a:rPr lang="en-US" altLang="zh-CN" b="0" dirty="0" smtClean="0">
                <a:solidFill>
                  <a:schemeClr val="tx1"/>
                </a:solidFill>
                <a:effectLst/>
              </a:rPr>
              <a:t>…</a:t>
            </a:r>
          </a:p>
        </p:txBody>
      </p:sp>
      <p:sp>
        <p:nvSpPr>
          <p:cNvPr id="43" name="TextBox 86"/>
          <p:cNvSpPr txBox="1"/>
          <p:nvPr/>
        </p:nvSpPr>
        <p:spPr>
          <a:xfrm>
            <a:off x="888342" y="3853936"/>
            <a:ext cx="92441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配置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TextBox 84"/>
          <p:cNvSpPr txBox="1"/>
          <p:nvPr/>
        </p:nvSpPr>
        <p:spPr>
          <a:xfrm>
            <a:off x="9565173" y="2828996"/>
            <a:ext cx="899083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系统管理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237581" y="1392793"/>
            <a:ext cx="3952196" cy="696831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TextBox 74"/>
          <p:cNvSpPr txBox="1"/>
          <p:nvPr/>
        </p:nvSpPr>
        <p:spPr>
          <a:xfrm>
            <a:off x="7853690" y="1586367"/>
            <a:ext cx="3063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展示珠海网络状态、能力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300867" y="6141569"/>
            <a:ext cx="9043891" cy="558791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TextBox 33"/>
          <p:cNvSpPr txBox="1"/>
          <p:nvPr/>
        </p:nvSpPr>
        <p:spPr>
          <a:xfrm>
            <a:off x="2623858" y="6217593"/>
            <a:ext cx="1529688" cy="416659"/>
          </a:xfrm>
          <a:prstGeom prst="roundRect">
            <a:avLst>
              <a:gd name="adj" fmla="val 2019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 smtClean="0"/>
              <a:t>外部系统数据</a:t>
            </a:r>
            <a:endParaRPr lang="zh-CN" altLang="en-US" dirty="0"/>
          </a:p>
        </p:txBody>
      </p:sp>
      <p:sp>
        <p:nvSpPr>
          <p:cNvPr id="58" name="TextBox 34"/>
          <p:cNvSpPr txBox="1"/>
          <p:nvPr/>
        </p:nvSpPr>
        <p:spPr>
          <a:xfrm>
            <a:off x="4239951" y="6233359"/>
            <a:ext cx="1485723" cy="416659"/>
          </a:xfrm>
          <a:prstGeom prst="roundRect">
            <a:avLst>
              <a:gd name="adj" fmla="val 2019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 smtClean="0"/>
              <a:t>网管系统数据</a:t>
            </a:r>
            <a:endParaRPr lang="zh-CN" altLang="en-US" dirty="0"/>
          </a:p>
        </p:txBody>
      </p:sp>
      <p:sp>
        <p:nvSpPr>
          <p:cNvPr id="59" name="TextBox 35"/>
          <p:cNvSpPr txBox="1"/>
          <p:nvPr/>
        </p:nvSpPr>
        <p:spPr>
          <a:xfrm>
            <a:off x="5848919" y="6228103"/>
            <a:ext cx="1946518" cy="416659"/>
          </a:xfrm>
          <a:prstGeom prst="roundRect">
            <a:avLst>
              <a:gd name="adj" fmla="val 2019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 smtClean="0"/>
              <a:t>网元实时交互数据</a:t>
            </a:r>
            <a:endParaRPr lang="zh-CN" altLang="en-US" dirty="0"/>
          </a:p>
        </p:txBody>
      </p:sp>
      <p:sp>
        <p:nvSpPr>
          <p:cNvPr id="61" name="TextBox 45"/>
          <p:cNvSpPr txBox="1"/>
          <p:nvPr/>
        </p:nvSpPr>
        <p:spPr>
          <a:xfrm>
            <a:off x="7934450" y="6217592"/>
            <a:ext cx="1130228" cy="416659"/>
          </a:xfrm>
          <a:prstGeom prst="roundRect">
            <a:avLst>
              <a:gd name="adj" fmla="val 2019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 smtClean="0"/>
              <a:t>其它数据</a:t>
            </a:r>
            <a:endParaRPr lang="zh-CN" altLang="en-US" dirty="0"/>
          </a:p>
        </p:txBody>
      </p:sp>
      <p:sp>
        <p:nvSpPr>
          <p:cNvPr id="66" name="矩形 65"/>
          <p:cNvSpPr/>
          <p:nvPr/>
        </p:nvSpPr>
        <p:spPr>
          <a:xfrm>
            <a:off x="697344" y="6141569"/>
            <a:ext cx="1266233" cy="5587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TextBox 52"/>
          <p:cNvSpPr txBox="1"/>
          <p:nvPr/>
        </p:nvSpPr>
        <p:spPr>
          <a:xfrm>
            <a:off x="821905" y="6236298"/>
            <a:ext cx="87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数据源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80782" y="4880900"/>
            <a:ext cx="1266233" cy="5587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TextBox 52"/>
          <p:cNvSpPr txBox="1"/>
          <p:nvPr/>
        </p:nvSpPr>
        <p:spPr>
          <a:xfrm>
            <a:off x="658816" y="4971640"/>
            <a:ext cx="1553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数据管理层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Box 27"/>
          <p:cNvSpPr txBox="1"/>
          <p:nvPr/>
        </p:nvSpPr>
        <p:spPr>
          <a:xfrm>
            <a:off x="2300867" y="4951965"/>
            <a:ext cx="8888909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b="0" dirty="0" smtClean="0">
                <a:solidFill>
                  <a:schemeClr val="tx1"/>
                </a:solidFill>
                <a:effectLst/>
              </a:rPr>
              <a:t>   网元拓扑关系数据   指令数据    告警数据    指标数据    话统数据   其它数据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3785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48000" y="1651591"/>
            <a:ext cx="6096000" cy="35548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故障管理：主动监测、快速定位、自动处理；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网络规划：自动预测、规划报告；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网络优化：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投诉处理：投诉问题智能定位、批量投诉处理；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性能分析：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资源管理：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汇报：无</a:t>
            </a:r>
            <a:r>
              <a:rPr lang="en-US" altLang="zh-CN" dirty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汇报、随时随地的汇报；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保障：自动保障信息收集、通报；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考核：实时指标监控、质差分析、质差报告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技术支撑</a:t>
            </a:r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：主动支撑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0782" y="213111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网络智慧运维管理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1750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703617" y="312081"/>
            <a:ext cx="356744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展示珠海网络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48000" y="1651591"/>
            <a:ext cx="6096000" cy="723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实时展示珠海网络情况，</a:t>
            </a:r>
            <a:endParaRPr lang="en-US" altLang="zh-CN" dirty="0" smtClean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endParaRPr lang="en-US" altLang="zh-CN" dirty="0" smtClean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2414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/>
          <p:cNvSpPr txBox="1"/>
          <p:nvPr/>
        </p:nvSpPr>
        <p:spPr>
          <a:xfrm>
            <a:off x="703617" y="312081"/>
            <a:ext cx="5371719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平台架构介绍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 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应用层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06944" y="2748144"/>
            <a:ext cx="1266233" cy="5757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293214" y="2760550"/>
            <a:ext cx="9051545" cy="5633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76"/>
          <p:cNvSpPr txBox="1"/>
          <p:nvPr/>
        </p:nvSpPr>
        <p:spPr>
          <a:xfrm>
            <a:off x="2455701" y="2847076"/>
            <a:ext cx="108822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网络概览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77"/>
          <p:cNvSpPr txBox="1"/>
          <p:nvPr/>
        </p:nvSpPr>
        <p:spPr>
          <a:xfrm>
            <a:off x="3564906" y="2831577"/>
            <a:ext cx="98277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拓扑视图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16" name="TextBox 78"/>
          <p:cNvSpPr txBox="1"/>
          <p:nvPr/>
        </p:nvSpPr>
        <p:spPr>
          <a:xfrm>
            <a:off x="4594534" y="2826322"/>
            <a:ext cx="1056732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统计报表</a:t>
            </a:r>
          </a:p>
        </p:txBody>
      </p:sp>
      <p:sp>
        <p:nvSpPr>
          <p:cNvPr id="17" name="TextBox 79"/>
          <p:cNvSpPr txBox="1"/>
          <p:nvPr/>
        </p:nvSpPr>
        <p:spPr>
          <a:xfrm>
            <a:off x="5708616" y="2836832"/>
            <a:ext cx="1030462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监测视图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18" name="TextBox 82"/>
          <p:cNvSpPr txBox="1"/>
          <p:nvPr/>
        </p:nvSpPr>
        <p:spPr>
          <a:xfrm>
            <a:off x="6788039" y="2826323"/>
            <a:ext cx="899083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智能定位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19" name="TextBox 83"/>
          <p:cNvSpPr txBox="1"/>
          <p:nvPr/>
        </p:nvSpPr>
        <p:spPr>
          <a:xfrm>
            <a:off x="7712950" y="2821066"/>
            <a:ext cx="899083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>
                <a:solidFill>
                  <a:schemeClr val="tx1"/>
                </a:solidFill>
                <a:effectLst/>
              </a:rPr>
              <a:t>消息告警</a:t>
            </a:r>
          </a:p>
        </p:txBody>
      </p:sp>
      <p:sp>
        <p:nvSpPr>
          <p:cNvPr id="20" name="TextBox 84"/>
          <p:cNvSpPr txBox="1"/>
          <p:nvPr/>
        </p:nvSpPr>
        <p:spPr>
          <a:xfrm>
            <a:off x="8637858" y="2831576"/>
            <a:ext cx="899083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即席查询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21" name="TextBox 86"/>
          <p:cNvSpPr txBox="1"/>
          <p:nvPr/>
        </p:nvSpPr>
        <p:spPr>
          <a:xfrm>
            <a:off x="904384" y="2848986"/>
            <a:ext cx="100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应用层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84"/>
          <p:cNvSpPr txBox="1"/>
          <p:nvPr/>
        </p:nvSpPr>
        <p:spPr>
          <a:xfrm>
            <a:off x="9565173" y="2828996"/>
            <a:ext cx="899083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系统管理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15455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703617" y="312081"/>
            <a:ext cx="356744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应用层 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网络概览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516" y="961789"/>
            <a:ext cx="8333026" cy="560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14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84" y="-13252"/>
            <a:ext cx="9161010" cy="692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6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703617" y="312081"/>
            <a:ext cx="755646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Demo1 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全网信息统计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3909"/>
            <a:ext cx="12192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74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703617" y="312081"/>
            <a:ext cx="894330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Demo2  -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全网登记用户统计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5" y="1318491"/>
            <a:ext cx="12025745" cy="501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9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703617" y="312081"/>
            <a:ext cx="749550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Demo3 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互联网用户统计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2352"/>
            <a:ext cx="12192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2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70" y="1081381"/>
            <a:ext cx="11247619" cy="46952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3617" y="312081"/>
            <a:ext cx="749550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Demo4 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全网流量监控 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286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703617" y="312081"/>
            <a:ext cx="915666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Demo5 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家宽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集客业务监控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2455"/>
            <a:ext cx="12192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2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7128" y="1240844"/>
            <a:ext cx="10818254" cy="442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28" y="1674254"/>
            <a:ext cx="3233633" cy="229243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74253" y="1319602"/>
            <a:ext cx="1725769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</a:rPr>
              <a:t>珠海体育中心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7128" y="1657476"/>
            <a:ext cx="837125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dirty="0" smtClean="0">
                <a:solidFill>
                  <a:schemeClr val="bg1"/>
                </a:solidFill>
              </a:rPr>
              <a:t>4G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40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en-US" altLang="zh-CN" sz="800" dirty="0" smtClean="0">
              <a:solidFill>
                <a:schemeClr val="bg1"/>
              </a:solidFill>
            </a:endParaRPr>
          </a:p>
          <a:p>
            <a:r>
              <a:rPr lang="en-US" altLang="zh-CN" sz="800" dirty="0" smtClean="0">
                <a:solidFill>
                  <a:schemeClr val="bg1"/>
                </a:solidFill>
              </a:rPr>
              <a:t>2G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3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en-US" altLang="zh-CN" sz="800" dirty="0" smtClean="0">
              <a:solidFill>
                <a:schemeClr val="bg1"/>
              </a:solidFill>
            </a:endParaRPr>
          </a:p>
          <a:p>
            <a:r>
              <a:rPr lang="en-US" altLang="zh-CN" sz="800" dirty="0" smtClean="0">
                <a:solidFill>
                  <a:schemeClr val="bg1"/>
                </a:solidFill>
              </a:rPr>
              <a:t>3G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4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703617" y="312081"/>
            <a:ext cx="915666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Demo6 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热点区域保障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056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4"/>
          <p:cNvSpPr txBox="1"/>
          <p:nvPr/>
        </p:nvSpPr>
        <p:spPr>
          <a:xfrm>
            <a:off x="703617" y="312081"/>
            <a:ext cx="534072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平台架构介绍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 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配置层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324210" y="2272150"/>
            <a:ext cx="9051545" cy="57625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37939" y="2272150"/>
            <a:ext cx="1266233" cy="12835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324210" y="2974484"/>
            <a:ext cx="9051545" cy="5587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TextBox 27"/>
          <p:cNvSpPr txBox="1"/>
          <p:nvPr/>
        </p:nvSpPr>
        <p:spPr>
          <a:xfrm>
            <a:off x="2517948" y="3067404"/>
            <a:ext cx="108822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算法库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25" name="TextBox 28"/>
          <p:cNvSpPr txBox="1"/>
          <p:nvPr/>
        </p:nvSpPr>
        <p:spPr>
          <a:xfrm>
            <a:off x="5082467" y="3062418"/>
            <a:ext cx="108822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场景库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26" name="TextBox 29"/>
          <p:cNvSpPr txBox="1"/>
          <p:nvPr/>
        </p:nvSpPr>
        <p:spPr>
          <a:xfrm>
            <a:off x="3784437" y="3057157"/>
            <a:ext cx="108822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模型库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27" name="TextBox 47"/>
          <p:cNvSpPr txBox="1"/>
          <p:nvPr/>
        </p:nvSpPr>
        <p:spPr>
          <a:xfrm>
            <a:off x="6322688" y="3073196"/>
            <a:ext cx="1088227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0" dirty="0" smtClean="0">
                <a:solidFill>
                  <a:schemeClr val="tx1"/>
                </a:solidFill>
                <a:effectLst/>
              </a:rPr>
              <a:t>指令库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28" name="TextBox 73"/>
          <p:cNvSpPr txBox="1"/>
          <p:nvPr/>
        </p:nvSpPr>
        <p:spPr>
          <a:xfrm>
            <a:off x="7537049" y="3109030"/>
            <a:ext cx="140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…..</a:t>
            </a:r>
            <a:endParaRPr lang="zh-CN" altLang="en-US" dirty="0"/>
          </a:p>
        </p:txBody>
      </p:sp>
      <p:sp>
        <p:nvSpPr>
          <p:cNvPr id="29" name="TextBox 50"/>
          <p:cNvSpPr txBox="1"/>
          <p:nvPr/>
        </p:nvSpPr>
        <p:spPr>
          <a:xfrm>
            <a:off x="2517948" y="2358334"/>
            <a:ext cx="8475119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b="0" dirty="0" smtClean="0">
                <a:solidFill>
                  <a:schemeClr val="tx1"/>
                </a:solidFill>
                <a:effectLst/>
              </a:rPr>
              <a:t>设备配置  报表配置  指标配置  经验配置  场景配置  任务配置  指令配置  消息配置  </a:t>
            </a:r>
            <a:r>
              <a:rPr lang="en-US" altLang="zh-CN" b="0" dirty="0" smtClean="0">
                <a:solidFill>
                  <a:schemeClr val="tx1"/>
                </a:solidFill>
                <a:effectLst/>
              </a:rPr>
              <a:t>…</a:t>
            </a:r>
          </a:p>
        </p:txBody>
      </p:sp>
      <p:sp>
        <p:nvSpPr>
          <p:cNvPr id="30" name="TextBox 86"/>
          <p:cNvSpPr txBox="1"/>
          <p:nvPr/>
        </p:nvSpPr>
        <p:spPr>
          <a:xfrm>
            <a:off x="919338" y="2676063"/>
            <a:ext cx="92441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配置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374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0782" y="213111"/>
            <a:ext cx="3068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配置层 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场景库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39371" y="1494360"/>
            <a:ext cx="4147289" cy="3693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无线网络场景的划分：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个行政区域：香洲、斗门、金湾；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个县镇：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68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个网格：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40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个派出所：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40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个办事处：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24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TAC\LAC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84033" y="1552167"/>
            <a:ext cx="390049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有线网络场景划分：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23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个传输汇聚区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220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OLT</a:t>
            </a:r>
          </a:p>
          <a:p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12352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0782" y="213111"/>
            <a:ext cx="16562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配置层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40848" y="1658594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算法库：考核指标算法、</a:t>
            </a:r>
            <a:r>
              <a:rPr lang="en-US" altLang="zh-CN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…..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模型库：故障模型、投诉处理模型</a:t>
            </a:r>
            <a:r>
              <a:rPr lang="en-US" altLang="zh-CN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 smtClean="0">
                <a:gradFill flip="none" rotWithShape="1">
                  <a:gsLst>
                    <a:gs pos="0">
                      <a:schemeClr val="accent6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6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6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指令库：日常维护涉及的指令</a:t>
            </a:r>
            <a:endParaRPr lang="en-US" altLang="zh-CN" dirty="0"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7968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4"/>
          <p:cNvSpPr txBox="1"/>
          <p:nvPr/>
        </p:nvSpPr>
        <p:spPr>
          <a:xfrm>
            <a:off x="748485" y="296582"/>
            <a:ext cx="6706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平台架构介绍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 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数据管理层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382882" y="3067598"/>
            <a:ext cx="9051545" cy="55879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70451" y="3067598"/>
            <a:ext cx="1266233" cy="5587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52"/>
          <p:cNvSpPr txBox="1"/>
          <p:nvPr/>
        </p:nvSpPr>
        <p:spPr>
          <a:xfrm>
            <a:off x="748485" y="3158338"/>
            <a:ext cx="1553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数据管理层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27"/>
          <p:cNvSpPr txBox="1"/>
          <p:nvPr/>
        </p:nvSpPr>
        <p:spPr>
          <a:xfrm>
            <a:off x="2390536" y="3138663"/>
            <a:ext cx="8888909" cy="41665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b="0" dirty="0" smtClean="0">
                <a:solidFill>
                  <a:schemeClr val="tx1"/>
                </a:solidFill>
                <a:effectLst/>
              </a:rPr>
              <a:t>   网元拓扑关系数据   指令数据    告警数据    指标数据    话统数据   其它数据</a:t>
            </a:r>
            <a:endParaRPr lang="zh-CN" altLang="en-US" b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242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8" y="1164999"/>
            <a:ext cx="5742023" cy="1748684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748485" y="296582"/>
            <a:ext cx="6706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数据管理层 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数据样例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8" y="3122017"/>
            <a:ext cx="4656858" cy="323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66" y="3806719"/>
            <a:ext cx="6923696" cy="23151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195" y="832113"/>
            <a:ext cx="4969452" cy="288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094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706942" y="2354327"/>
            <a:ext cx="1266233" cy="5153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293213" y="2354326"/>
            <a:ext cx="9051545" cy="518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40"/>
          <p:cNvSpPr txBox="1"/>
          <p:nvPr/>
        </p:nvSpPr>
        <p:spPr>
          <a:xfrm>
            <a:off x="2671577" y="2473259"/>
            <a:ext cx="1844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Telnet</a:t>
            </a:r>
            <a:endParaRPr lang="zh-CN" altLang="en-US" dirty="0" smtClean="0"/>
          </a:p>
        </p:txBody>
      </p:sp>
      <p:sp>
        <p:nvSpPr>
          <p:cNvPr id="16" name="TextBox 41"/>
          <p:cNvSpPr txBox="1"/>
          <p:nvPr/>
        </p:nvSpPr>
        <p:spPr>
          <a:xfrm>
            <a:off x="4563438" y="2468005"/>
            <a:ext cx="605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 smtClean="0"/>
              <a:t>WebServices</a:t>
            </a:r>
            <a:r>
              <a:rPr lang="en-US" altLang="zh-CN" b="1" dirty="0" smtClean="0"/>
              <a:t>/FTP/JDBC/ODBC/ESB/</a:t>
            </a:r>
            <a:r>
              <a:rPr lang="en-US" altLang="zh-CN" b="1" dirty="0" err="1" smtClean="0"/>
              <a:t>syslog</a:t>
            </a:r>
            <a:r>
              <a:rPr lang="en-US" altLang="zh-CN" b="1" dirty="0" smtClean="0"/>
              <a:t>/SNMP/</a:t>
            </a:r>
            <a:r>
              <a:rPr lang="en-US" altLang="zh-CN" b="1" dirty="0" err="1" smtClean="0"/>
              <a:t>Hadoop</a:t>
            </a:r>
            <a:r>
              <a:rPr lang="en-US" altLang="zh-CN" b="1" dirty="0" smtClean="0"/>
              <a:t>…</a:t>
            </a:r>
            <a:endParaRPr lang="zh-CN" altLang="en-US" dirty="0" smtClean="0"/>
          </a:p>
        </p:txBody>
      </p:sp>
      <p:sp>
        <p:nvSpPr>
          <p:cNvPr id="17" name="TextBox 52"/>
          <p:cNvSpPr txBox="1"/>
          <p:nvPr/>
        </p:nvSpPr>
        <p:spPr>
          <a:xfrm>
            <a:off x="885849" y="2442198"/>
            <a:ext cx="87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接口层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300867" y="2964413"/>
            <a:ext cx="9043891" cy="558791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33"/>
          <p:cNvSpPr txBox="1"/>
          <p:nvPr/>
        </p:nvSpPr>
        <p:spPr>
          <a:xfrm>
            <a:off x="2623858" y="3040437"/>
            <a:ext cx="1529688" cy="416659"/>
          </a:xfrm>
          <a:prstGeom prst="roundRect">
            <a:avLst>
              <a:gd name="adj" fmla="val 2019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 smtClean="0"/>
              <a:t>外部系统数据</a:t>
            </a:r>
            <a:endParaRPr lang="zh-CN" altLang="en-US" dirty="0"/>
          </a:p>
        </p:txBody>
      </p:sp>
      <p:sp>
        <p:nvSpPr>
          <p:cNvPr id="20" name="TextBox 34"/>
          <p:cNvSpPr txBox="1"/>
          <p:nvPr/>
        </p:nvSpPr>
        <p:spPr>
          <a:xfrm>
            <a:off x="4239951" y="3056203"/>
            <a:ext cx="1485723" cy="416659"/>
          </a:xfrm>
          <a:prstGeom prst="roundRect">
            <a:avLst>
              <a:gd name="adj" fmla="val 2019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 smtClean="0"/>
              <a:t>网管系统数据</a:t>
            </a:r>
            <a:endParaRPr lang="zh-CN" altLang="en-US" dirty="0"/>
          </a:p>
        </p:txBody>
      </p:sp>
      <p:sp>
        <p:nvSpPr>
          <p:cNvPr id="21" name="TextBox 35"/>
          <p:cNvSpPr txBox="1"/>
          <p:nvPr/>
        </p:nvSpPr>
        <p:spPr>
          <a:xfrm>
            <a:off x="5848919" y="3050947"/>
            <a:ext cx="1946518" cy="416659"/>
          </a:xfrm>
          <a:prstGeom prst="roundRect">
            <a:avLst>
              <a:gd name="adj" fmla="val 2019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 smtClean="0"/>
              <a:t>网元实时交互数据</a:t>
            </a:r>
            <a:endParaRPr lang="zh-CN" altLang="en-US" dirty="0"/>
          </a:p>
        </p:txBody>
      </p:sp>
      <p:sp>
        <p:nvSpPr>
          <p:cNvPr id="22" name="TextBox 45"/>
          <p:cNvSpPr txBox="1"/>
          <p:nvPr/>
        </p:nvSpPr>
        <p:spPr>
          <a:xfrm>
            <a:off x="7934450" y="3040436"/>
            <a:ext cx="1130228" cy="416659"/>
          </a:xfrm>
          <a:prstGeom prst="roundRect">
            <a:avLst>
              <a:gd name="adj" fmla="val 20197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>
            <a:defPPr>
              <a:defRPr lang="zh-CN"/>
            </a:defPPr>
            <a:lvl1pPr algn="ctr" defTabSz="457200">
              <a:defRPr sz="1600" b="1">
                <a:gradFill flip="none" rotWithShape="1">
                  <a:gsLst>
                    <a:gs pos="0">
                      <a:schemeClr val="bg1"/>
                    </a:gs>
                    <a:gs pos="99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203200" dist="38100" dir="5400000" algn="t" rotWithShape="0">
                    <a:prstClr val="black">
                      <a:alpha val="7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 smtClean="0"/>
              <a:t>其它数据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697344" y="2964413"/>
            <a:ext cx="1266233" cy="5587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52"/>
          <p:cNvSpPr txBox="1"/>
          <p:nvPr/>
        </p:nvSpPr>
        <p:spPr>
          <a:xfrm>
            <a:off x="821905" y="3059142"/>
            <a:ext cx="87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数据源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4"/>
          <p:cNvSpPr txBox="1"/>
          <p:nvPr/>
        </p:nvSpPr>
        <p:spPr>
          <a:xfrm>
            <a:off x="748485" y="296582"/>
            <a:ext cx="6706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平台架构介绍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 – 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接口层、数据源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80828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80782" y="213111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数据源梳理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19" y="1019736"/>
            <a:ext cx="11900597" cy="47146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3771771" y="2627011"/>
            <a:ext cx="486078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举例：城域网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126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3"/>
          <p:cNvSpPr>
            <a:spLocks noChangeShapeType="1"/>
          </p:cNvSpPr>
          <p:nvPr/>
        </p:nvSpPr>
        <p:spPr bwMode="auto">
          <a:xfrm flipH="1" flipV="1">
            <a:off x="2460625" y="1654159"/>
            <a:ext cx="2717512" cy="1"/>
          </a:xfrm>
          <a:prstGeom prst="line">
            <a:avLst/>
          </a:prstGeom>
          <a:noFill/>
          <a:ln w="12700" cap="flat">
            <a:solidFill>
              <a:schemeClr val="accent1">
                <a:lumMod val="75000"/>
              </a:schemeClr>
            </a:solidFill>
            <a:prstDash val="dash"/>
            <a:miter lim="800000"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56612" tIns="28306" rIns="56612" bIns="28306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组合 40"/>
          <p:cNvGrpSpPr/>
          <p:nvPr/>
        </p:nvGrpSpPr>
        <p:grpSpPr>
          <a:xfrm>
            <a:off x="4854186" y="996818"/>
            <a:ext cx="1194341" cy="1073203"/>
            <a:chOff x="3720691" y="2824413"/>
            <a:chExt cx="1341120" cy="1209172"/>
          </a:xfrm>
        </p:grpSpPr>
        <p:sp>
          <p:nvSpPr>
            <p:cNvPr id="4" name="Freeform 5"/>
            <p:cNvSpPr>
              <a:spLocks/>
            </p:cNvSpPr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Freeform 5"/>
            <p:cNvSpPr>
              <a:spLocks/>
            </p:cNvSpPr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sp>
        <p:nvSpPr>
          <p:cNvPr id="6" name="Freeform 27"/>
          <p:cNvSpPr>
            <a:spLocks/>
          </p:cNvSpPr>
          <p:nvPr/>
        </p:nvSpPr>
        <p:spPr bwMode="auto">
          <a:xfrm>
            <a:off x="4465273" y="1725377"/>
            <a:ext cx="1306774" cy="1110459"/>
          </a:xfrm>
          <a:custGeom>
            <a:avLst/>
            <a:gdLst>
              <a:gd name="T0" fmla="*/ 172 w 223"/>
              <a:gd name="T1" fmla="*/ 172 h 190"/>
              <a:gd name="T2" fmla="*/ 50 w 223"/>
              <a:gd name="T3" fmla="*/ 122 h 190"/>
              <a:gd name="T4" fmla="*/ 0 w 223"/>
              <a:gd name="T5" fmla="*/ 0 h 190"/>
              <a:gd name="T6" fmla="*/ 22 w 223"/>
              <a:gd name="T7" fmla="*/ 0 h 190"/>
              <a:gd name="T8" fmla="*/ 66 w 223"/>
              <a:gd name="T9" fmla="*/ 106 h 190"/>
              <a:gd name="T10" fmla="*/ 172 w 223"/>
              <a:gd name="T11" fmla="*/ 150 h 190"/>
              <a:gd name="T12" fmla="*/ 172 w 223"/>
              <a:gd name="T13" fmla="*/ 132 h 190"/>
              <a:gd name="T14" fmla="*/ 223 w 223"/>
              <a:gd name="T15" fmla="*/ 163 h 190"/>
              <a:gd name="T16" fmla="*/ 172 w 223"/>
              <a:gd name="T17" fmla="*/ 190 h 190"/>
              <a:gd name="T18" fmla="*/ 172 w 223"/>
              <a:gd name="T19" fmla="*/ 172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3" h="190">
                <a:moveTo>
                  <a:pt x="172" y="172"/>
                </a:moveTo>
                <a:cubicBezTo>
                  <a:pt x="124" y="172"/>
                  <a:pt x="81" y="153"/>
                  <a:pt x="50" y="122"/>
                </a:cubicBezTo>
                <a:cubicBezTo>
                  <a:pt x="19" y="91"/>
                  <a:pt x="0" y="48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41"/>
                  <a:pt x="39" y="79"/>
                  <a:pt x="66" y="106"/>
                </a:cubicBezTo>
                <a:cubicBezTo>
                  <a:pt x="93" y="133"/>
                  <a:pt x="131" y="150"/>
                  <a:pt x="172" y="150"/>
                </a:cubicBezTo>
                <a:cubicBezTo>
                  <a:pt x="172" y="132"/>
                  <a:pt x="172" y="132"/>
                  <a:pt x="172" y="132"/>
                </a:cubicBezTo>
                <a:cubicBezTo>
                  <a:pt x="223" y="163"/>
                  <a:pt x="223" y="163"/>
                  <a:pt x="223" y="163"/>
                </a:cubicBezTo>
                <a:cubicBezTo>
                  <a:pt x="172" y="190"/>
                  <a:pt x="172" y="190"/>
                  <a:pt x="172" y="190"/>
                </a:cubicBezTo>
                <a:lnTo>
                  <a:pt x="172" y="172"/>
                </a:lnTo>
                <a:close/>
              </a:path>
            </a:pathLst>
          </a:custGeom>
          <a:solidFill>
            <a:schemeClr val="accent1">
              <a:alpha val="50196"/>
            </a:schemeClr>
          </a:solidFill>
          <a:ln>
            <a:noFill/>
          </a:ln>
          <a:extLst/>
        </p:spPr>
        <p:txBody>
          <a:bodyPr vert="horz" wrap="square" lIns="56612" tIns="28306" rIns="56612" bIns="28306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Freeform 28"/>
          <p:cNvSpPr>
            <a:spLocks/>
          </p:cNvSpPr>
          <p:nvPr/>
        </p:nvSpPr>
        <p:spPr bwMode="auto">
          <a:xfrm>
            <a:off x="3525874" y="1725377"/>
            <a:ext cx="2274853" cy="2168589"/>
          </a:xfrm>
          <a:custGeom>
            <a:avLst/>
            <a:gdLst>
              <a:gd name="T0" fmla="*/ 285 w 336"/>
              <a:gd name="T1" fmla="*/ 285 h 303"/>
              <a:gd name="T2" fmla="*/ 84 w 336"/>
              <a:gd name="T3" fmla="*/ 202 h 303"/>
              <a:gd name="T4" fmla="*/ 0 w 336"/>
              <a:gd name="T5" fmla="*/ 0 h 303"/>
              <a:gd name="T6" fmla="*/ 23 w 336"/>
              <a:gd name="T7" fmla="*/ 0 h 303"/>
              <a:gd name="T8" fmla="*/ 100 w 336"/>
              <a:gd name="T9" fmla="*/ 186 h 303"/>
              <a:gd name="T10" fmla="*/ 285 w 336"/>
              <a:gd name="T11" fmla="*/ 262 h 303"/>
              <a:gd name="T12" fmla="*/ 285 w 336"/>
              <a:gd name="T13" fmla="*/ 245 h 303"/>
              <a:gd name="T14" fmla="*/ 336 w 336"/>
              <a:gd name="T15" fmla="*/ 275 h 303"/>
              <a:gd name="T16" fmla="*/ 285 w 336"/>
              <a:gd name="T17" fmla="*/ 303 h 303"/>
              <a:gd name="T18" fmla="*/ 285 w 336"/>
              <a:gd name="T19" fmla="*/ 285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6" h="303">
                <a:moveTo>
                  <a:pt x="285" y="285"/>
                </a:moveTo>
                <a:cubicBezTo>
                  <a:pt x="206" y="285"/>
                  <a:pt x="135" y="253"/>
                  <a:pt x="84" y="202"/>
                </a:cubicBezTo>
                <a:cubicBezTo>
                  <a:pt x="32" y="150"/>
                  <a:pt x="0" y="7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72"/>
                  <a:pt x="52" y="138"/>
                  <a:pt x="100" y="186"/>
                </a:cubicBezTo>
                <a:cubicBezTo>
                  <a:pt x="147" y="233"/>
                  <a:pt x="213" y="262"/>
                  <a:pt x="285" y="262"/>
                </a:cubicBezTo>
                <a:cubicBezTo>
                  <a:pt x="285" y="245"/>
                  <a:pt x="285" y="245"/>
                  <a:pt x="285" y="245"/>
                </a:cubicBezTo>
                <a:cubicBezTo>
                  <a:pt x="336" y="275"/>
                  <a:pt x="336" y="275"/>
                  <a:pt x="336" y="275"/>
                </a:cubicBezTo>
                <a:cubicBezTo>
                  <a:pt x="285" y="303"/>
                  <a:pt x="285" y="303"/>
                  <a:pt x="285" y="303"/>
                </a:cubicBezTo>
                <a:lnTo>
                  <a:pt x="285" y="285"/>
                </a:lnTo>
                <a:close/>
              </a:path>
            </a:pathLst>
          </a:custGeom>
          <a:solidFill>
            <a:schemeClr val="accent2">
              <a:alpha val="50196"/>
            </a:schemeClr>
          </a:solidFill>
          <a:ln>
            <a:noFill/>
          </a:ln>
          <a:extLst/>
        </p:spPr>
        <p:txBody>
          <a:bodyPr vert="horz" wrap="square" lIns="56612" tIns="28306" rIns="56612" bIns="28306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Freeform 29"/>
          <p:cNvSpPr>
            <a:spLocks/>
          </p:cNvSpPr>
          <p:nvPr/>
        </p:nvSpPr>
        <p:spPr bwMode="auto">
          <a:xfrm>
            <a:off x="2660611" y="1680309"/>
            <a:ext cx="3101784" cy="3149932"/>
          </a:xfrm>
          <a:custGeom>
            <a:avLst/>
            <a:gdLst>
              <a:gd name="T0" fmla="*/ 395 w 446"/>
              <a:gd name="T1" fmla="*/ 395 h 413"/>
              <a:gd name="T2" fmla="*/ 116 w 446"/>
              <a:gd name="T3" fmla="*/ 279 h 413"/>
              <a:gd name="T4" fmla="*/ 0 w 446"/>
              <a:gd name="T5" fmla="*/ 0 h 413"/>
              <a:gd name="T6" fmla="*/ 23 w 446"/>
              <a:gd name="T7" fmla="*/ 0 h 413"/>
              <a:gd name="T8" fmla="*/ 132 w 446"/>
              <a:gd name="T9" fmla="*/ 263 h 413"/>
              <a:gd name="T10" fmla="*/ 395 w 446"/>
              <a:gd name="T11" fmla="*/ 373 h 413"/>
              <a:gd name="T12" fmla="*/ 395 w 446"/>
              <a:gd name="T13" fmla="*/ 355 h 413"/>
              <a:gd name="T14" fmla="*/ 446 w 446"/>
              <a:gd name="T15" fmla="*/ 385 h 413"/>
              <a:gd name="T16" fmla="*/ 395 w 446"/>
              <a:gd name="T17" fmla="*/ 413 h 413"/>
              <a:gd name="T18" fmla="*/ 395 w 446"/>
              <a:gd name="T19" fmla="*/ 395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6" h="413">
                <a:moveTo>
                  <a:pt x="395" y="395"/>
                </a:moveTo>
                <a:cubicBezTo>
                  <a:pt x="286" y="395"/>
                  <a:pt x="187" y="351"/>
                  <a:pt x="116" y="279"/>
                </a:cubicBezTo>
                <a:cubicBezTo>
                  <a:pt x="44" y="208"/>
                  <a:pt x="0" y="109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103"/>
                  <a:pt x="64" y="196"/>
                  <a:pt x="132" y="263"/>
                </a:cubicBezTo>
                <a:cubicBezTo>
                  <a:pt x="199" y="331"/>
                  <a:pt x="292" y="372"/>
                  <a:pt x="395" y="373"/>
                </a:cubicBezTo>
                <a:cubicBezTo>
                  <a:pt x="395" y="355"/>
                  <a:pt x="395" y="355"/>
                  <a:pt x="395" y="355"/>
                </a:cubicBezTo>
                <a:cubicBezTo>
                  <a:pt x="446" y="385"/>
                  <a:pt x="446" y="385"/>
                  <a:pt x="446" y="385"/>
                </a:cubicBezTo>
                <a:cubicBezTo>
                  <a:pt x="395" y="413"/>
                  <a:pt x="395" y="413"/>
                  <a:pt x="395" y="413"/>
                </a:cubicBezTo>
                <a:lnTo>
                  <a:pt x="395" y="395"/>
                </a:lnTo>
                <a:close/>
              </a:path>
            </a:pathLst>
          </a:custGeom>
          <a:solidFill>
            <a:schemeClr val="accent3">
              <a:lumMod val="75000"/>
              <a:alpha val="50196"/>
            </a:schemeClr>
          </a:solidFill>
          <a:ln>
            <a:noFill/>
          </a:ln>
          <a:extLst/>
        </p:spPr>
        <p:txBody>
          <a:bodyPr vert="horz" wrap="square" lIns="56612" tIns="28306" rIns="56612" bIns="28306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9" name="组合 45"/>
          <p:cNvGrpSpPr/>
          <p:nvPr/>
        </p:nvGrpSpPr>
        <p:grpSpPr>
          <a:xfrm>
            <a:off x="4422249" y="1592161"/>
            <a:ext cx="193989" cy="175003"/>
            <a:chOff x="3720691" y="2824413"/>
            <a:chExt cx="1341120" cy="1209172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1" name="Freeform 5"/>
            <p:cNvSpPr>
              <a:spLocks/>
            </p:cNvSpPr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12" name="组合 48"/>
          <p:cNvGrpSpPr/>
          <p:nvPr/>
        </p:nvGrpSpPr>
        <p:grpSpPr>
          <a:xfrm>
            <a:off x="3489758" y="1569165"/>
            <a:ext cx="193989" cy="175003"/>
            <a:chOff x="3720691" y="2824413"/>
            <a:chExt cx="1341120" cy="1209172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4" name="Freeform 5"/>
            <p:cNvSpPr>
              <a:spLocks/>
            </p:cNvSpPr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15" name="组合 51"/>
          <p:cNvGrpSpPr/>
          <p:nvPr/>
        </p:nvGrpSpPr>
        <p:grpSpPr>
          <a:xfrm>
            <a:off x="2637557" y="1568506"/>
            <a:ext cx="193989" cy="175003"/>
            <a:chOff x="3720691" y="2824413"/>
            <a:chExt cx="1341120" cy="1209172"/>
          </a:xfrm>
        </p:grpSpPr>
        <p:sp>
          <p:nvSpPr>
            <p:cNvPr id="16" name="Freeform 5"/>
            <p:cNvSpPr>
              <a:spLocks/>
            </p:cNvSpPr>
            <p:nvPr/>
          </p:nvSpPr>
          <p:spPr bwMode="auto">
            <a:xfrm rot="1855731">
              <a:off x="3720691" y="2824413"/>
              <a:ext cx="1341120" cy="1209172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16200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190500" dist="1143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17" name="Freeform 5"/>
            <p:cNvSpPr>
              <a:spLocks/>
            </p:cNvSpPr>
            <p:nvPr/>
          </p:nvSpPr>
          <p:spPr bwMode="auto">
            <a:xfrm rot="1855731">
              <a:off x="3764581" y="2863367"/>
              <a:ext cx="1264630" cy="1140208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gradFill>
              <a:gsLst>
                <a:gs pos="0">
                  <a:srgbClr val="D3D3D3"/>
                </a:gs>
                <a:gs pos="100000">
                  <a:srgbClr val="F9F9F9"/>
                </a:gs>
              </a:gsLst>
              <a:lin ang="21594000" scaled="0"/>
            </a:gradFill>
            <a:ln w="12700" cap="flat">
              <a:noFill/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18" name="组合 63"/>
          <p:cNvGrpSpPr/>
          <p:nvPr/>
        </p:nvGrpSpPr>
        <p:grpSpPr>
          <a:xfrm>
            <a:off x="5789274" y="692360"/>
            <a:ext cx="332338" cy="354787"/>
            <a:chOff x="9482595" y="2565731"/>
            <a:chExt cx="278384" cy="184511"/>
          </a:xfrm>
        </p:grpSpPr>
        <p:sp>
          <p:nvSpPr>
            <p:cNvPr id="19" name="椭圆 18"/>
            <p:cNvSpPr/>
            <p:nvPr/>
          </p:nvSpPr>
          <p:spPr>
            <a:xfrm>
              <a:off x="9482595" y="2565731"/>
              <a:ext cx="71376" cy="713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9625979" y="2615242"/>
              <a:ext cx="135000" cy="135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TextBox 62"/>
          <p:cNvSpPr txBox="1"/>
          <p:nvPr/>
        </p:nvSpPr>
        <p:spPr>
          <a:xfrm>
            <a:off x="4900777" y="1156521"/>
            <a:ext cx="1140252" cy="672718"/>
          </a:xfrm>
          <a:prstGeom prst="rect">
            <a:avLst/>
          </a:prstGeom>
          <a:noFill/>
        </p:spPr>
        <p:txBody>
          <a:bodyPr wrap="none" lIns="56612" tIns="28306" rIns="56612" bIns="28306" rtlCol="0" anchor="ctr"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IP</a:t>
            </a:r>
            <a:r>
              <a:rPr lang="zh-CN" altLang="en-US" sz="2000" b="1" dirty="0">
                <a:solidFill>
                  <a:schemeClr val="accent2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城域网</a:t>
            </a:r>
            <a:endParaRPr lang="en-US" altLang="zh-CN" sz="2000" b="1" dirty="0">
              <a:solidFill>
                <a:schemeClr val="accent2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r>
              <a:rPr lang="zh-CN" altLang="en-US" sz="2000" b="1" dirty="0">
                <a:solidFill>
                  <a:schemeClr val="accent2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调研工作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6239412" y="2060196"/>
            <a:ext cx="2621919" cy="851850"/>
            <a:chOff x="3034288" y="1201546"/>
            <a:chExt cx="2621919" cy="851587"/>
          </a:xfrm>
        </p:grpSpPr>
        <p:sp>
          <p:nvSpPr>
            <p:cNvPr id="23" name="AutoShape 9"/>
            <p:cNvSpPr>
              <a:spLocks noChangeArrowheads="1"/>
            </p:cNvSpPr>
            <p:nvPr/>
          </p:nvSpPr>
          <p:spPr bwMode="auto">
            <a:xfrm>
              <a:off x="3034288" y="1378848"/>
              <a:ext cx="2621919" cy="674285"/>
            </a:xfrm>
            <a:prstGeom prst="roundRect">
              <a:avLst>
                <a:gd name="adj" fmla="val 563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6350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rgbClr val="E1B40C"/>
                </a:buClr>
                <a:defRPr/>
              </a:pPr>
              <a:r>
                <a:rPr lang="zh-CN" altLang="en-US" sz="14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 Light" pitchFamily="34" charset="-122"/>
                  <a:ea typeface="微软雅黑 Light" pitchFamily="34" charset="-122"/>
                </a:rPr>
                <a:t>基于运维应用场景收集整理需求</a:t>
              </a:r>
            </a:p>
          </p:txBody>
        </p:sp>
        <p:sp>
          <p:nvSpPr>
            <p:cNvPr id="24" name="AutoShape 19"/>
            <p:cNvSpPr>
              <a:spLocks noChangeArrowheads="1"/>
            </p:cNvSpPr>
            <p:nvPr/>
          </p:nvSpPr>
          <p:spPr bwMode="auto">
            <a:xfrm>
              <a:off x="3750212" y="1201546"/>
              <a:ext cx="1681682" cy="253865"/>
            </a:xfrm>
            <a:prstGeom prst="roundRect">
              <a:avLst>
                <a:gd name="adj" fmla="val 563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kern="0" dirty="0">
                  <a:solidFill>
                    <a:srgbClr val="FFFFFF"/>
                  </a:solidFill>
                  <a:latin typeface="微软雅黑 Light" pitchFamily="34" charset="-122"/>
                  <a:ea typeface="微软雅黑 Light" pitchFamily="34" charset="-122"/>
                </a:rPr>
                <a:t>需求整理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239412" y="3175307"/>
            <a:ext cx="2689079" cy="912312"/>
            <a:chOff x="3015484" y="1201546"/>
            <a:chExt cx="2689079" cy="912030"/>
          </a:xfrm>
        </p:grpSpPr>
        <p:pic>
          <p:nvPicPr>
            <p:cNvPr id="26" name="Picture 8" descr="阴影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5484" y="1972540"/>
              <a:ext cx="2689079" cy="141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AutoShape 9"/>
            <p:cNvSpPr>
              <a:spLocks noChangeArrowheads="1"/>
            </p:cNvSpPr>
            <p:nvPr/>
          </p:nvSpPr>
          <p:spPr bwMode="auto">
            <a:xfrm>
              <a:off x="3034288" y="1378848"/>
              <a:ext cx="2621919" cy="674285"/>
            </a:xfrm>
            <a:prstGeom prst="roundRect">
              <a:avLst>
                <a:gd name="adj" fmla="val 563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6350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  <a:buClr>
                  <a:srgbClr val="E1B40C"/>
                </a:buClr>
                <a:defRPr/>
              </a:pPr>
              <a:r>
                <a:rPr lang="zh-CN" altLang="en-US" sz="14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 Light" pitchFamily="34" charset="-122"/>
                  <a:ea typeface="微软雅黑 Light" pitchFamily="34" charset="-122"/>
                </a:rPr>
                <a:t>确认数据获取、采集、转化的</a:t>
              </a:r>
              <a:endParaRPr lang="en-US" altLang="zh-CN" sz="1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itchFamily="34" charset="-122"/>
                <a:ea typeface="微软雅黑 Light" pitchFamily="34" charset="-122"/>
              </a:endParaRPr>
            </a:p>
            <a:p>
              <a:pPr>
                <a:spcBef>
                  <a:spcPct val="20000"/>
                </a:spcBef>
                <a:buClr>
                  <a:srgbClr val="E1B40C"/>
                </a:buClr>
                <a:defRPr/>
              </a:pPr>
              <a:r>
                <a:rPr lang="zh-CN" altLang="en-US" sz="14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 Light" pitchFamily="34" charset="-122"/>
                  <a:ea typeface="微软雅黑 Light" pitchFamily="34" charset="-122"/>
                </a:rPr>
                <a:t>具体方式</a:t>
              </a:r>
            </a:p>
          </p:txBody>
        </p:sp>
        <p:sp>
          <p:nvSpPr>
            <p:cNvPr id="28" name="AutoShape 19"/>
            <p:cNvSpPr>
              <a:spLocks noChangeArrowheads="1"/>
            </p:cNvSpPr>
            <p:nvPr/>
          </p:nvSpPr>
          <p:spPr bwMode="auto">
            <a:xfrm>
              <a:off x="3750212" y="1201546"/>
              <a:ext cx="1681682" cy="253865"/>
            </a:xfrm>
            <a:prstGeom prst="roundRect">
              <a:avLst>
                <a:gd name="adj" fmla="val 5630"/>
              </a:avLst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kern="0" dirty="0">
                  <a:solidFill>
                    <a:srgbClr val="FFFFFF"/>
                  </a:solidFill>
                  <a:latin typeface="微软雅黑 Light" pitchFamily="34" charset="-122"/>
                  <a:ea typeface="微软雅黑 Light" pitchFamily="34" charset="-122"/>
                </a:rPr>
                <a:t>数据确认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248916" y="4286282"/>
            <a:ext cx="2689079" cy="912312"/>
            <a:chOff x="3015484" y="1201546"/>
            <a:chExt cx="2689079" cy="912030"/>
          </a:xfrm>
        </p:grpSpPr>
        <p:pic>
          <p:nvPicPr>
            <p:cNvPr id="30" name="Picture 8" descr="阴影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5484" y="1972540"/>
              <a:ext cx="2689079" cy="141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AutoShape 9"/>
            <p:cNvSpPr>
              <a:spLocks noChangeArrowheads="1"/>
            </p:cNvSpPr>
            <p:nvPr/>
          </p:nvSpPr>
          <p:spPr bwMode="auto">
            <a:xfrm>
              <a:off x="3034288" y="1378848"/>
              <a:ext cx="2621919" cy="674285"/>
            </a:xfrm>
            <a:prstGeom prst="roundRect">
              <a:avLst>
                <a:gd name="adj" fmla="val 563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 w="6350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rgbClr val="E1B40C"/>
                </a:buClr>
                <a:defRPr/>
              </a:pPr>
              <a:r>
                <a:rPr lang="zh-CN" altLang="en-US" sz="14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工作报告、相关案例的收集整理</a:t>
              </a:r>
            </a:p>
          </p:txBody>
        </p:sp>
        <p:sp>
          <p:nvSpPr>
            <p:cNvPr id="32" name="AutoShape 19"/>
            <p:cNvSpPr>
              <a:spLocks noChangeArrowheads="1"/>
            </p:cNvSpPr>
            <p:nvPr/>
          </p:nvSpPr>
          <p:spPr bwMode="auto">
            <a:xfrm>
              <a:off x="3750212" y="1201546"/>
              <a:ext cx="1681682" cy="253865"/>
            </a:xfrm>
            <a:prstGeom prst="roundRect">
              <a:avLst>
                <a:gd name="adj" fmla="val 563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kern="0" dirty="0">
                  <a:solidFill>
                    <a:srgbClr val="FFFFFF"/>
                  </a:solidFill>
                  <a:latin typeface="微软雅黑 Light" pitchFamily="34" charset="-122"/>
                  <a:ea typeface="微软雅黑 Light" pitchFamily="34" charset="-122"/>
                </a:rPr>
                <a:t>材料收集</a:t>
              </a:r>
            </a:p>
          </p:txBody>
        </p:sp>
      </p:grpSp>
      <p:sp>
        <p:nvSpPr>
          <p:cNvPr id="33" name="矩形 32"/>
          <p:cNvSpPr/>
          <p:nvPr/>
        </p:nvSpPr>
        <p:spPr>
          <a:xfrm>
            <a:off x="680782" y="213111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实施思路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953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3"/>
          <p:cNvSpPr txBox="1"/>
          <p:nvPr/>
        </p:nvSpPr>
        <p:spPr>
          <a:xfrm>
            <a:off x="1881158" y="928670"/>
            <a:ext cx="8215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 Light" pitchFamily="34" charset="-122"/>
                <a:ea typeface="微软雅黑 Light" pitchFamily="34" charset="-122"/>
              </a:rPr>
              <a:t>城域网需求</a:t>
            </a:r>
            <a:r>
              <a:rPr lang="zh-CN" altLang="en-US" dirty="0">
                <a:latin typeface="微软雅黑 Light" pitchFamily="34" charset="-122"/>
                <a:ea typeface="微软雅黑 Light" pitchFamily="34" charset="-122"/>
              </a:rPr>
              <a:t>主要包括故障管理、拓扑管理、报表管理和配置管理四部分。</a:t>
            </a:r>
            <a:endParaRPr lang="en-US" altLang="zh-CN" dirty="0">
              <a:latin typeface="微软雅黑 Light" pitchFamily="34" charset="-122"/>
              <a:ea typeface="微软雅黑 Light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2060575" y="1704219"/>
          <a:ext cx="2928958" cy="2928958"/>
        </p:xfrm>
        <a:graphic>
          <a:graphicData uri="http://schemas.openxmlformats.org/drawingml/2006/table">
            <a:tbl>
              <a:tblPr/>
              <a:tblGrid>
                <a:gridCol w="1464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09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故障管理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实时告警监控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等线"/>
                        </a:rPr>
                        <a:t>历史故障告警查询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8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等线"/>
                        </a:rPr>
                        <a:t>历史性能告警查询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19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拓扑管理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实时拓扑监控  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等线"/>
                        </a:rPr>
                        <a:t>          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流量、性能、故障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0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拓扑分区管理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3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链路自动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等线"/>
                        </a:rPr>
                        <a:t>关联           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家宽、专线、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IPTV)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096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配置管理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配置文件自动备份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0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NAT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地址数量管理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0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设备信息管理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0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设备区域管理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8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等线"/>
                        </a:rPr>
                        <a:t>……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28767" y="1409507"/>
            <a:ext cx="44958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56"/>
          <p:cNvSpPr txBox="1"/>
          <p:nvPr/>
        </p:nvSpPr>
        <p:spPr>
          <a:xfrm>
            <a:off x="1970869" y="4633178"/>
            <a:ext cx="3643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◆</a:t>
            </a:r>
            <a:r>
              <a:rPr lang="zh-CN" altLang="en-US" sz="1400" dirty="0"/>
              <a:t>故障、拓扑、报表、配置</a:t>
            </a:r>
            <a:r>
              <a:rPr lang="en-US" altLang="zh-CN" sz="1400" dirty="0"/>
              <a:t>4</a:t>
            </a:r>
            <a:r>
              <a:rPr lang="zh-CN" altLang="en-US" sz="1400" dirty="0"/>
              <a:t>大项</a:t>
            </a:r>
            <a:endParaRPr lang="en-US" altLang="zh-CN" sz="1400" dirty="0"/>
          </a:p>
          <a:p>
            <a:r>
              <a:rPr lang="zh-CN" altLang="en-US" dirty="0"/>
              <a:t>◆</a:t>
            </a:r>
            <a:r>
              <a:rPr lang="zh-CN" altLang="en-US" sz="1400" dirty="0"/>
              <a:t>告警、性能、资源、用户数等</a:t>
            </a:r>
            <a:r>
              <a:rPr lang="en-US" altLang="zh-CN" sz="1400" dirty="0"/>
              <a:t>30</a:t>
            </a:r>
            <a:r>
              <a:rPr lang="zh-CN" altLang="en-US" sz="1400" dirty="0"/>
              <a:t>小项</a:t>
            </a:r>
            <a:endParaRPr lang="en-US" altLang="zh-CN" sz="1400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80782" y="213111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需求整理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50455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264" y="1001781"/>
            <a:ext cx="7894612" cy="547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680782" y="213111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数据确认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18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1738282" y="1357298"/>
          <a:ext cx="3714776" cy="1428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63"/>
          <p:cNvSpPr txBox="1"/>
          <p:nvPr/>
        </p:nvSpPr>
        <p:spPr>
          <a:xfrm>
            <a:off x="1809720" y="5715016"/>
            <a:ext cx="885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 Light" pitchFamily="34" charset="-122"/>
                <a:ea typeface="微软雅黑 Light" pitchFamily="34" charset="-122"/>
              </a:rPr>
              <a:t>设备和业务案例经过梳理可以形成经验库，为日常维护和特殊保障提供支撑。</a:t>
            </a:r>
            <a:endParaRPr lang="en-US" altLang="zh-CN" dirty="0">
              <a:latin typeface="微软雅黑 Light" pitchFamily="34" charset="-122"/>
              <a:ea typeface="微软雅黑 Light" pitchFamily="34" charset="-122"/>
            </a:endParaRPr>
          </a:p>
        </p:txBody>
      </p:sp>
      <p:graphicFrame>
        <p:nvGraphicFramePr>
          <p:cNvPr id="4" name="图表 3"/>
          <p:cNvGraphicFramePr/>
          <p:nvPr>
            <p:extLst/>
          </p:nvPr>
        </p:nvGraphicFramePr>
        <p:xfrm>
          <a:off x="5310182" y="1000108"/>
          <a:ext cx="5000660" cy="2786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TextBox 65"/>
          <p:cNvSpPr txBox="1"/>
          <p:nvPr/>
        </p:nvSpPr>
        <p:spPr>
          <a:xfrm>
            <a:off x="1952596" y="4000504"/>
            <a:ext cx="542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 Light" pitchFamily="34" charset="-122"/>
                <a:ea typeface="微软雅黑 Light" pitchFamily="34" charset="-122"/>
              </a:rPr>
              <a:t>收集珠海</a:t>
            </a:r>
            <a:r>
              <a:rPr lang="en-US" altLang="zh-CN" dirty="0">
                <a:latin typeface="微软雅黑 Light" pitchFamily="34" charset="-122"/>
                <a:ea typeface="微软雅黑 Light" pitchFamily="34" charset="-122"/>
              </a:rPr>
              <a:t>IP</a:t>
            </a:r>
            <a:r>
              <a:rPr lang="zh-CN" altLang="en-US" dirty="0">
                <a:latin typeface="微软雅黑 Light" pitchFamily="34" charset="-122"/>
                <a:ea typeface="微软雅黑 Light" pitchFamily="34" charset="-122"/>
              </a:rPr>
              <a:t>城域网业务投诉相关优秀案例</a:t>
            </a:r>
            <a:endParaRPr lang="en-US" altLang="zh-CN" dirty="0">
              <a:latin typeface="微软雅黑 Light" pitchFamily="34" charset="-122"/>
              <a:ea typeface="微软雅黑 Light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2095473" y="4429132"/>
          <a:ext cx="6929487" cy="1098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2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43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设备功能缺陷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设备数据配置问题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设备隐患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网络攻击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435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680782" y="213111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案例整体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41359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18612</TotalTime>
  <Words>1341</Words>
  <Application>Microsoft Office PowerPoint</Application>
  <PresentationFormat>宽屏</PresentationFormat>
  <Paragraphs>300</Paragraphs>
  <Slides>40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0" baseType="lpstr">
      <vt:lpstr>等线</vt:lpstr>
      <vt:lpstr>方正兰亭黑简体</vt:lpstr>
      <vt:lpstr>宋体</vt:lpstr>
      <vt:lpstr>微软雅黑</vt:lpstr>
      <vt:lpstr>微软雅黑 Light</vt:lpstr>
      <vt:lpstr>Arial</vt:lpstr>
      <vt:lpstr>Calibri</vt:lpstr>
      <vt:lpstr>Calibri Light</vt:lpstr>
      <vt:lpstr>Verdana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</dc:title>
  <dc:creator>Qinghai LI</dc:creator>
  <cp:lastModifiedBy>cong x</cp:lastModifiedBy>
  <cp:revision>5315</cp:revision>
  <dcterms:created xsi:type="dcterms:W3CDTF">2015-05-05T08:02:00Z</dcterms:created>
  <dcterms:modified xsi:type="dcterms:W3CDTF">2017-12-19T07:21:10Z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