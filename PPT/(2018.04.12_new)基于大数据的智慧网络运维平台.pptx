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96" r:id="rId2"/>
    <p:sldId id="1169" r:id="rId3"/>
    <p:sldId id="1149" r:id="rId4"/>
    <p:sldId id="1170" r:id="rId5"/>
    <p:sldId id="1166" r:id="rId6"/>
    <p:sldId id="1167" r:id="rId7"/>
    <p:sldId id="1152" r:id="rId8"/>
    <p:sldId id="1171" r:id="rId9"/>
    <p:sldId id="1150" r:id="rId10"/>
    <p:sldId id="1176" r:id="rId11"/>
    <p:sldId id="1177" r:id="rId12"/>
    <p:sldId id="1178" r:id="rId13"/>
    <p:sldId id="1179" r:id="rId14"/>
    <p:sldId id="1180" r:id="rId15"/>
    <p:sldId id="1154" r:id="rId16"/>
    <p:sldId id="1181" r:id="rId17"/>
    <p:sldId id="1172" r:id="rId18"/>
    <p:sldId id="1155" r:id="rId19"/>
    <p:sldId id="1153" r:id="rId20"/>
    <p:sldId id="1156" r:id="rId21"/>
    <p:sldId id="1159" r:id="rId22"/>
    <p:sldId id="1173" r:id="rId23"/>
    <p:sldId id="1175" r:id="rId24"/>
    <p:sldId id="117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>
      <p:ext uri="{19B8F6BF-5375-455C-9EA6-DF929625EA0E}">
        <p15:presenceInfo xmlns:p15="http://schemas.microsoft.com/office/powerpoint/2012/main" userId="邹立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31F"/>
    <a:srgbClr val="7F5732"/>
    <a:srgbClr val="F6F6F6"/>
    <a:srgbClr val="BCDB7A"/>
    <a:srgbClr val="0085D0"/>
    <a:srgbClr val="A9D18E"/>
    <a:srgbClr val="EFF3F2"/>
    <a:srgbClr val="0AFCFA"/>
    <a:srgbClr val="D91617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83993" autoAdjust="0"/>
  </p:normalViewPr>
  <p:slideViewPr>
    <p:cSldViewPr snapToGrid="0">
      <p:cViewPr varScale="1">
        <p:scale>
          <a:sx n="96" d="100"/>
          <a:sy n="96" d="100"/>
        </p:scale>
        <p:origin x="1254" y="72"/>
      </p:cViewPr>
      <p:guideLst>
        <p:guide orient="horz" pos="2069"/>
        <p:guide pos="39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以上问题的存在，需要通过管理流程和工作流程上的改变来彻底解决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825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chemeClr val="bg1"/>
                </a:solidFill>
              </a:rPr>
              <a:t>1</a:t>
            </a:r>
            <a:r>
              <a:rPr lang="zh-CN" altLang="en-US" dirty="0" smtClean="0">
                <a:solidFill>
                  <a:schemeClr val="bg1"/>
                </a:solidFill>
              </a:rPr>
              <a:t>、网络运维方法创新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smtClean="0"/>
              <a:t>2</a:t>
            </a:r>
            <a:r>
              <a:rPr lang="zh-CN" altLang="en-US" smtClean="0"/>
              <a:t>、盘活网络数据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108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616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88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85D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6F6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893" y="1717020"/>
            <a:ext cx="8770049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基于大数据的智慧</a:t>
            </a:r>
            <a:endParaRPr lang="en-US" altLang="zh-CN" sz="5400" b="1" dirty="0" smtClean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网络运维平台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55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面临的痛点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0857" y="11612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18807" y="1269212"/>
            <a:ext cx="795338" cy="79533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TextBox 19"/>
          <p:cNvSpPr txBox="1">
            <a:spLocks noChangeArrowheads="1"/>
          </p:cNvSpPr>
          <p:nvPr/>
        </p:nvSpPr>
        <p:spPr bwMode="auto">
          <a:xfrm>
            <a:off x="799782" y="132795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154337" y="2206406"/>
            <a:ext cx="8570912" cy="0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2154335" y="1423257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忙而无成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26"/>
          <p:cNvSpPr txBox="1"/>
          <p:nvPr/>
        </p:nvSpPr>
        <p:spPr>
          <a:xfrm>
            <a:off x="3770136" y="1304608"/>
            <a:ext cx="7251999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基础维护做细坐实，需要投入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大量的时间和精力（约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时间每人天）且存在疏漏可能，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每周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BSC APG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备份（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人天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周），指标通报（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天），日测（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天），局数据核对（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等；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36762" y="2526512"/>
            <a:ext cx="1009650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43124" y="2634462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TextBox 31"/>
          <p:cNvSpPr txBox="1">
            <a:spLocks noChangeArrowheads="1"/>
          </p:cNvSpPr>
          <p:nvPr/>
        </p:nvSpPr>
        <p:spPr bwMode="auto">
          <a:xfrm>
            <a:off x="824099" y="269320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154337" y="3543081"/>
            <a:ext cx="8570912" cy="285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2154335" y="2662018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专而不全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34"/>
          <p:cNvSpPr txBox="1"/>
          <p:nvPr/>
        </p:nvSpPr>
        <p:spPr>
          <a:xfrm>
            <a:off x="3866454" y="4071299"/>
            <a:ext cx="5146675" cy="3450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无可视化手段，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信息传达和沟通效率低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74282" y="3880650"/>
            <a:ext cx="1011237" cy="10112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82232" y="3988600"/>
            <a:ext cx="796925" cy="795337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TextBox 38"/>
          <p:cNvSpPr txBox="1">
            <a:spLocks noChangeArrowheads="1"/>
          </p:cNvSpPr>
          <p:nvPr/>
        </p:nvSpPr>
        <p:spPr bwMode="auto">
          <a:xfrm>
            <a:off x="822696" y="3988600"/>
            <a:ext cx="4699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154337" y="4882931"/>
            <a:ext cx="8719674" cy="539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2154336" y="4005699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知而不显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71186" y="52633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79136" y="5369725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TextBox 45"/>
          <p:cNvSpPr txBox="1">
            <a:spLocks noChangeArrowheads="1"/>
          </p:cNvSpPr>
          <p:nvPr/>
        </p:nvSpPr>
        <p:spPr bwMode="auto">
          <a:xfrm>
            <a:off x="819600" y="5371313"/>
            <a:ext cx="4699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2154337" y="6295806"/>
            <a:ext cx="8719674" cy="11112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7"/>
          <p:cNvSpPr txBox="1">
            <a:spLocks noChangeArrowheads="1"/>
          </p:cNvSpPr>
          <p:nvPr/>
        </p:nvSpPr>
        <p:spPr bwMode="auto">
          <a:xfrm>
            <a:off x="2121000" y="539728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有心无力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TextBox 34"/>
          <p:cNvSpPr txBox="1"/>
          <p:nvPr/>
        </p:nvSpPr>
        <p:spPr>
          <a:xfrm>
            <a:off x="3788371" y="2510450"/>
            <a:ext cx="7044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专人专网维护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，专业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跨度大，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无法全程全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网，人员复用难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城域网（陈朝勇）、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CDN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（林庆忠）、交换网（聂敏泉），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IMS\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互联互通（徐晓颖）、承载网（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陈熙东）等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3817759" y="5507209"/>
            <a:ext cx="7074695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故障、投诉发生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后才进行分析和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处理，想做到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先于故障发现问题、先于投诉解决问题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82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5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90" y="2294355"/>
            <a:ext cx="6673147" cy="23396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愿景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虚尾箭头 8"/>
          <p:cNvSpPr/>
          <p:nvPr/>
        </p:nvSpPr>
        <p:spPr>
          <a:xfrm>
            <a:off x="2440983" y="2854014"/>
            <a:ext cx="5656881" cy="581695"/>
          </a:xfrm>
          <a:prstGeom prst="stripedRightArrow">
            <a:avLst/>
          </a:prstGeom>
          <a:solidFill>
            <a:srgbClr val="8EC31F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任务下发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虚尾箭头 9"/>
          <p:cNvSpPr/>
          <p:nvPr/>
        </p:nvSpPr>
        <p:spPr>
          <a:xfrm rot="10800000">
            <a:off x="2249107" y="3316636"/>
            <a:ext cx="5656881" cy="649806"/>
          </a:xfrm>
          <a:prstGeom prst="stripedRightArrow">
            <a:avLst/>
          </a:prstGeom>
          <a:solidFill>
            <a:srgbClr val="8EC31F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758339" y="3466705"/>
            <a:ext cx="302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决策建议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结果反馈、呈现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426424" y="1217978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13051" y="1217978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需求角色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直角上箭头 19"/>
          <p:cNvSpPr/>
          <p:nvPr/>
        </p:nvSpPr>
        <p:spPr>
          <a:xfrm>
            <a:off x="7722230" y="5023767"/>
            <a:ext cx="3145538" cy="1431056"/>
          </a:xfrm>
          <a:prstGeom prst="bentUpArrow">
            <a:avLst>
              <a:gd name="adj1" fmla="val 9227"/>
              <a:gd name="adj2" fmla="val 13629"/>
              <a:gd name="adj3" fmla="val 14018"/>
            </a:avLst>
          </a:prstGeom>
          <a:solidFill>
            <a:srgbClr val="8EC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7722230" y="5050643"/>
            <a:ext cx="2145896" cy="1178422"/>
            <a:chOff x="7722230" y="5050643"/>
            <a:chExt cx="2145896" cy="1178422"/>
          </a:xfrm>
          <a:solidFill>
            <a:srgbClr val="8EC31F"/>
          </a:solidFill>
        </p:grpSpPr>
        <p:sp>
          <p:nvSpPr>
            <p:cNvPr id="24" name="矩形 23"/>
            <p:cNvSpPr/>
            <p:nvPr/>
          </p:nvSpPr>
          <p:spPr>
            <a:xfrm>
              <a:off x="9701939" y="5050643"/>
              <a:ext cx="166187" cy="1105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箭头 24"/>
            <p:cNvSpPr/>
            <p:nvPr/>
          </p:nvSpPr>
          <p:spPr>
            <a:xfrm>
              <a:off x="7722230" y="5905033"/>
              <a:ext cx="2064836" cy="324032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506622" y="5646662"/>
            <a:ext cx="157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任务下发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717898" y="5646662"/>
            <a:ext cx="112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047832" y="5937420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93" y="2130861"/>
            <a:ext cx="1237595" cy="23715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57" y="1639725"/>
            <a:ext cx="3085714" cy="32000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078" y="5327577"/>
            <a:ext cx="1095416" cy="1483929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591" y="5486400"/>
            <a:ext cx="983732" cy="133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0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建设方案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46105"/>
            <a:ext cx="11986567" cy="527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1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120457" y="1237462"/>
            <a:ext cx="983294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1228407" y="1345412"/>
            <a:ext cx="773360" cy="774732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TextBox 19"/>
          <p:cNvSpPr txBox="1">
            <a:spLocks noChangeArrowheads="1"/>
          </p:cNvSpPr>
          <p:nvPr/>
        </p:nvSpPr>
        <p:spPr bwMode="auto">
          <a:xfrm>
            <a:off x="1409382" y="140415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25"/>
          <p:cNvSpPr txBox="1">
            <a:spLocks noChangeArrowheads="1"/>
          </p:cNvSpPr>
          <p:nvPr/>
        </p:nvSpPr>
        <p:spPr bwMode="auto">
          <a:xfrm>
            <a:off x="3041232" y="1499457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自动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26"/>
          <p:cNvSpPr txBox="1"/>
          <p:nvPr/>
        </p:nvSpPr>
        <p:spPr>
          <a:xfrm>
            <a:off x="4297848" y="1506035"/>
            <a:ext cx="7589351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数据获取全自动化、需求收集全自动化，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旨在将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重复、低效能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通过执行系统完成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46362" y="2602712"/>
            <a:ext cx="981750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52724" y="2710663"/>
            <a:ext cx="774903" cy="77627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TextBox 31"/>
          <p:cNvSpPr txBox="1">
            <a:spLocks noChangeArrowheads="1"/>
          </p:cNvSpPr>
          <p:nvPr/>
        </p:nvSpPr>
        <p:spPr bwMode="auto">
          <a:xfrm>
            <a:off x="1433699" y="276940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056472" y="2738218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可视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34"/>
          <p:cNvSpPr txBox="1"/>
          <p:nvPr/>
        </p:nvSpPr>
        <p:spPr>
          <a:xfrm>
            <a:off x="4379736" y="3946477"/>
            <a:ext cx="7074696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、初级智慧阶段：旨在采用简单机器学习，实现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性能、故障、投诉等预警、               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分析和修复 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，消除专业壁垒，实现人员复用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、高级智慧阶段：旨在利用深度学习，实现网络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自规划和优化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83882" y="3956850"/>
            <a:ext cx="983293" cy="9850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291832" y="4064800"/>
            <a:ext cx="774903" cy="774731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TextBox 38"/>
          <p:cNvSpPr txBox="1">
            <a:spLocks noChangeArrowheads="1"/>
          </p:cNvSpPr>
          <p:nvPr/>
        </p:nvSpPr>
        <p:spPr bwMode="auto">
          <a:xfrm>
            <a:off x="1432296" y="406480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TextBox 40"/>
          <p:cNvSpPr txBox="1">
            <a:spLocks noChangeArrowheads="1"/>
          </p:cNvSpPr>
          <p:nvPr/>
        </p:nvSpPr>
        <p:spPr bwMode="auto">
          <a:xfrm>
            <a:off x="3071713" y="4081899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智慧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80786" y="5339562"/>
            <a:ext cx="983294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88736" y="5445926"/>
            <a:ext cx="774903" cy="77627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TextBox 45"/>
          <p:cNvSpPr txBox="1">
            <a:spLocks noChangeArrowheads="1"/>
          </p:cNvSpPr>
          <p:nvPr/>
        </p:nvSpPr>
        <p:spPr bwMode="auto">
          <a:xfrm>
            <a:off x="1429200" y="5447513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TextBox 47"/>
          <p:cNvSpPr txBox="1">
            <a:spLocks noChangeArrowheads="1"/>
          </p:cNvSpPr>
          <p:nvPr/>
        </p:nvSpPr>
        <p:spPr bwMode="auto">
          <a:xfrm>
            <a:off x="3071713" y="553878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无人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34"/>
          <p:cNvSpPr txBox="1"/>
          <p:nvPr/>
        </p:nvSpPr>
        <p:spPr>
          <a:xfrm>
            <a:off x="4352439" y="2742104"/>
            <a:ext cx="6538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Arial"/>
              </a:rPr>
              <a:t>反馈结果可视化，旨在借助图形化手段、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Arial"/>
              </a:rPr>
              <a:t>清晰有效地传达与沟通信息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25" name="TextBox 34"/>
          <p:cNvSpPr txBox="1"/>
          <p:nvPr/>
        </p:nvSpPr>
        <p:spPr>
          <a:xfrm>
            <a:off x="4379736" y="5584594"/>
            <a:ext cx="7074695" cy="41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旨在实现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大脑替代人脑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看网管网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6618" y="240325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建设目标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396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8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计划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51" y="1002643"/>
            <a:ext cx="10935851" cy="54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0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可视化呈现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7720" y="3642360"/>
            <a:ext cx="86868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b="1" dirty="0" smtClean="0"/>
              <a:t>陈朝勇</a:t>
            </a:r>
            <a:endParaRPr lang="zh-CN" altLang="en-US" b="1" dirty="0"/>
          </a:p>
        </p:txBody>
      </p:sp>
      <p:sp>
        <p:nvSpPr>
          <p:cNvPr id="39" name="矩形 38"/>
          <p:cNvSpPr/>
          <p:nvPr/>
        </p:nvSpPr>
        <p:spPr>
          <a:xfrm>
            <a:off x="6263640" y="2148840"/>
            <a:ext cx="868680" cy="2484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/>
              <a:t>聂敏泉</a:t>
            </a:r>
          </a:p>
        </p:txBody>
      </p:sp>
      <p:sp>
        <p:nvSpPr>
          <p:cNvPr id="40" name="矩形 39"/>
          <p:cNvSpPr/>
          <p:nvPr/>
        </p:nvSpPr>
        <p:spPr>
          <a:xfrm>
            <a:off x="807720" y="2133600"/>
            <a:ext cx="86868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b="1" dirty="0" smtClean="0"/>
              <a:t>张燕</a:t>
            </a:r>
            <a:endParaRPr lang="zh-CN" altLang="en-US" b="1" dirty="0"/>
          </a:p>
        </p:txBody>
      </p:sp>
      <p:sp>
        <p:nvSpPr>
          <p:cNvPr id="42" name="矩形 41"/>
          <p:cNvSpPr/>
          <p:nvPr/>
        </p:nvSpPr>
        <p:spPr>
          <a:xfrm>
            <a:off x="6263640" y="4770120"/>
            <a:ext cx="868680" cy="1737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 smtClean="0"/>
              <a:t>陈熙东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737360" y="3642360"/>
            <a:ext cx="4328160" cy="14478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城域网</a:t>
            </a:r>
            <a:r>
              <a:rPr lang="zh-CN" altLang="en-US" sz="1600" dirty="0">
                <a:solidFill>
                  <a:schemeClr val="tx1"/>
                </a:solidFill>
              </a:rPr>
              <a:t>弱光链路；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异常性能信息，每天遗留重要告警；；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城域网</a:t>
            </a:r>
            <a:r>
              <a:rPr lang="zh-CN" altLang="en-US" sz="1600" dirty="0">
                <a:solidFill>
                  <a:schemeClr val="tx1"/>
                </a:solidFill>
              </a:rPr>
              <a:t>昨日链路超门限条数，超</a:t>
            </a:r>
            <a:r>
              <a:rPr lang="en-US" altLang="zh-CN" sz="1600" dirty="0">
                <a:solidFill>
                  <a:schemeClr val="tx1"/>
                </a:solidFill>
              </a:rPr>
              <a:t>70%</a:t>
            </a:r>
            <a:r>
              <a:rPr lang="zh-CN" altLang="en-US" sz="1600" dirty="0">
                <a:solidFill>
                  <a:schemeClr val="tx1"/>
                </a:solidFill>
              </a:rPr>
              <a:t>多少条，超</a:t>
            </a:r>
            <a:r>
              <a:rPr lang="en-US" altLang="zh-CN" sz="1600" dirty="0">
                <a:solidFill>
                  <a:schemeClr val="tx1"/>
                </a:solidFill>
              </a:rPr>
              <a:t>60%</a:t>
            </a:r>
            <a:r>
              <a:rPr lang="zh-CN" altLang="en-US" sz="1600" dirty="0">
                <a:solidFill>
                  <a:schemeClr val="tx1"/>
                </a:solidFill>
              </a:rPr>
              <a:t>多少条，超</a:t>
            </a:r>
            <a:r>
              <a:rPr lang="en-US" altLang="zh-CN" sz="1600" dirty="0">
                <a:solidFill>
                  <a:schemeClr val="tx1"/>
                </a:solidFill>
              </a:rPr>
              <a:t>50%</a:t>
            </a:r>
            <a:r>
              <a:rPr lang="zh-CN" altLang="en-US" sz="1600" dirty="0">
                <a:solidFill>
                  <a:schemeClr val="tx1"/>
                </a:solidFill>
              </a:rPr>
              <a:t>多少条。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193280" y="2148840"/>
            <a:ext cx="4328160" cy="24841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核心网网络结构图，接口名称：</a:t>
            </a:r>
            <a:r>
              <a:rPr lang="en-US" altLang="zh-CN" sz="1600" dirty="0" smtClean="0">
                <a:solidFill>
                  <a:schemeClr val="tx1"/>
                </a:solidFill>
              </a:rPr>
              <a:t>A</a:t>
            </a:r>
            <a:r>
              <a:rPr lang="zh-CN" altLang="en-US" sz="1600" dirty="0" smtClean="0">
                <a:solidFill>
                  <a:schemeClr val="tx1"/>
                </a:solidFill>
              </a:rPr>
              <a:t>口，设备节点所在机房。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设备责任人及基础信息显示，结合对应的负责维护人员，维护所对应的维护指令。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设备状态显示：结构图上显示网络的连通性。某个节点故障，出现红色，连接线红色。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737360" y="2133600"/>
            <a:ext cx="4328160" cy="144018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VOlte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天粒度的指标情况；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分钟粒度的</a:t>
            </a: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VOlte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接通、注册，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粒度监测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Volte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开户、注册、通话用户数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93280" y="4770120"/>
            <a:ext cx="4328160" cy="17373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4g</a:t>
            </a:r>
            <a:r>
              <a:rPr lang="zh-CN" altLang="en-US" sz="1600" dirty="0">
                <a:solidFill>
                  <a:schemeClr val="tx1"/>
                </a:solidFill>
              </a:rPr>
              <a:t>业务指标日情况 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十五分钟</a:t>
            </a:r>
            <a:r>
              <a:rPr lang="zh-CN" altLang="en-US" sz="1600" dirty="0">
                <a:solidFill>
                  <a:schemeClr val="tx1"/>
                </a:solidFill>
              </a:rPr>
              <a:t>粒度八家物联网客户在线用户数监控</a:t>
            </a:r>
            <a:r>
              <a:rPr lang="zh-CN" altLang="en-US" sz="1600" dirty="0" smtClean="0">
                <a:solidFill>
                  <a:schemeClr val="tx1"/>
                </a:solidFill>
              </a:rPr>
              <a:t>情况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err="1" smtClean="0">
                <a:solidFill>
                  <a:schemeClr val="tx1"/>
                </a:solidFill>
              </a:rPr>
              <a:t>ip</a:t>
            </a:r>
            <a:r>
              <a:rPr lang="zh-CN" altLang="en-US" sz="1600" dirty="0">
                <a:solidFill>
                  <a:schemeClr val="tx1"/>
                </a:solidFill>
              </a:rPr>
              <a:t>承载网在用端口在线率以及呈现链路利用率最高的</a:t>
            </a:r>
            <a:r>
              <a:rPr lang="zh-CN" altLang="en-US" sz="1600" dirty="0" smtClean="0">
                <a:solidFill>
                  <a:schemeClr val="tx1"/>
                </a:solidFill>
              </a:rPr>
              <a:t>端口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07720" y="5227320"/>
            <a:ext cx="868680" cy="1264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b="1" dirty="0" smtClean="0"/>
              <a:t>林庆忠</a:t>
            </a:r>
            <a:endParaRPr lang="zh-CN" altLang="en-US" b="1" dirty="0"/>
          </a:p>
        </p:txBody>
      </p:sp>
      <p:sp>
        <p:nvSpPr>
          <p:cNvPr id="68" name="矩形 67"/>
          <p:cNvSpPr/>
          <p:nvPr/>
        </p:nvSpPr>
        <p:spPr>
          <a:xfrm>
            <a:off x="1767840" y="5227320"/>
            <a:ext cx="4297680" cy="12573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业务相关信息实时呈现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网络拓扑实时呈现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设备信息实时呈现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23568" y="1196340"/>
            <a:ext cx="10162592" cy="637323"/>
            <a:chOff x="947368" y="5951220"/>
            <a:chExt cx="10162592" cy="637323"/>
          </a:xfrm>
        </p:grpSpPr>
        <p:sp>
          <p:nvSpPr>
            <p:cNvPr id="18" name="矩形 17"/>
            <p:cNvSpPr/>
            <p:nvPr/>
          </p:nvSpPr>
          <p:spPr>
            <a:xfrm>
              <a:off x="1272540" y="5958840"/>
              <a:ext cx="1821180" cy="628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/>
                <a:t>定制</a:t>
              </a:r>
              <a:r>
                <a:rPr lang="zh-CN" altLang="en-US" b="1" dirty="0" smtClean="0"/>
                <a:t>指标可视化</a:t>
              </a:r>
              <a:endParaRPr lang="zh-CN" altLang="en-US" b="1" dirty="0"/>
            </a:p>
          </p:txBody>
        </p:sp>
        <p:sp>
          <p:nvSpPr>
            <p:cNvPr id="19" name="椭圆 18"/>
            <p:cNvSpPr/>
            <p:nvPr/>
          </p:nvSpPr>
          <p:spPr>
            <a:xfrm>
              <a:off x="947368" y="605514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1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11880" y="5958840"/>
              <a:ext cx="2331720" cy="6297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 smtClean="0"/>
                <a:t>设备信息异常可视化</a:t>
              </a:r>
              <a:endParaRPr lang="zh-CN" altLang="en-US" b="1" dirty="0"/>
            </a:p>
          </p:txBody>
        </p:sp>
        <p:sp>
          <p:nvSpPr>
            <p:cNvPr id="21" name="椭圆 20"/>
            <p:cNvSpPr/>
            <p:nvPr/>
          </p:nvSpPr>
          <p:spPr>
            <a:xfrm>
              <a:off x="3324808" y="607038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2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553200" y="5958839"/>
              <a:ext cx="1920240" cy="6286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 smtClean="0"/>
                <a:t>网络拓扑可视化</a:t>
              </a:r>
              <a:endParaRPr lang="zh-CN" altLang="en-US" b="1" dirty="0"/>
            </a:p>
          </p:txBody>
        </p:sp>
        <p:sp>
          <p:nvSpPr>
            <p:cNvPr id="23" name="椭圆 22"/>
            <p:cNvSpPr/>
            <p:nvPr/>
          </p:nvSpPr>
          <p:spPr>
            <a:xfrm>
              <a:off x="6276882" y="605514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3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9166860" y="5951220"/>
              <a:ext cx="1943100" cy="636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 smtClean="0"/>
                <a:t>业务监控可视化</a:t>
              </a:r>
              <a:endParaRPr lang="zh-CN" altLang="en-US" b="1" dirty="0"/>
            </a:p>
          </p:txBody>
        </p:sp>
        <p:sp>
          <p:nvSpPr>
            <p:cNvPr id="25" name="椭圆 24"/>
            <p:cNvSpPr/>
            <p:nvPr/>
          </p:nvSpPr>
          <p:spPr>
            <a:xfrm>
              <a:off x="8898162" y="608562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Harlow Solid Italic" pitchFamily="82" charset="0"/>
                </a:rPr>
                <a:t>4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88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3764" y="1143000"/>
            <a:ext cx="854576" cy="11125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b="1" dirty="0"/>
              <a:t>张燕</a:t>
            </a:r>
          </a:p>
        </p:txBody>
      </p:sp>
      <p:sp>
        <p:nvSpPr>
          <p:cNvPr id="39" name="矩形 38"/>
          <p:cNvSpPr/>
          <p:nvPr/>
        </p:nvSpPr>
        <p:spPr>
          <a:xfrm>
            <a:off x="1103764" y="3646170"/>
            <a:ext cx="862196" cy="18097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陈熙东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416040" y="1127760"/>
            <a:ext cx="868680" cy="1257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b="1" dirty="0" smtClean="0"/>
              <a:t>徐晓颖</a:t>
            </a:r>
            <a:endParaRPr lang="zh-CN" altLang="en-US" b="1" dirty="0"/>
          </a:p>
        </p:txBody>
      </p:sp>
      <p:sp>
        <p:nvSpPr>
          <p:cNvPr id="42" name="矩形 41"/>
          <p:cNvSpPr/>
          <p:nvPr/>
        </p:nvSpPr>
        <p:spPr>
          <a:xfrm>
            <a:off x="6416040" y="3901440"/>
            <a:ext cx="868680" cy="15849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/>
              <a:t>聂敏泉</a:t>
            </a:r>
          </a:p>
        </p:txBody>
      </p:sp>
      <p:sp>
        <p:nvSpPr>
          <p:cNvPr id="5" name="矩形 4"/>
          <p:cNvSpPr/>
          <p:nvPr/>
        </p:nvSpPr>
        <p:spPr>
          <a:xfrm>
            <a:off x="2042160" y="1143000"/>
            <a:ext cx="38862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考核</a:t>
            </a:r>
            <a:r>
              <a:rPr lang="zh-CN" altLang="zh-CN" sz="1600" dirty="0">
                <a:solidFill>
                  <a:schemeClr val="tx1"/>
                </a:solidFill>
              </a:rPr>
              <a:t>指标自动获取（实时监控</a:t>
            </a:r>
            <a:r>
              <a:rPr lang="zh-CN" altLang="zh-CN" sz="1600" dirty="0" smtClean="0">
                <a:solidFill>
                  <a:schemeClr val="tx1"/>
                </a:solidFill>
              </a:rPr>
              <a:t>）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考核</a:t>
            </a:r>
            <a:r>
              <a:rPr lang="zh-CN" altLang="zh-CN" sz="1600" dirty="0">
                <a:solidFill>
                  <a:schemeClr val="tx1"/>
                </a:solidFill>
              </a:rPr>
              <a:t>指标</a:t>
            </a:r>
            <a:r>
              <a:rPr lang="en-US" altLang="zh-CN" sz="1600" dirty="0">
                <a:solidFill>
                  <a:schemeClr val="tx1"/>
                </a:solidFill>
              </a:rPr>
              <a:t>CAUSE</a:t>
            </a:r>
            <a:r>
              <a:rPr lang="zh-CN" altLang="zh-CN" sz="1600" dirty="0">
                <a:solidFill>
                  <a:schemeClr val="tx1"/>
                </a:solidFill>
              </a:rPr>
              <a:t>码粒度自动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分析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>
                <a:solidFill>
                  <a:schemeClr val="tx1"/>
                </a:solidFill>
              </a:rPr>
              <a:t>指标分析报告自动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撰写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57400" y="3688080"/>
            <a:ext cx="3870960" cy="176784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chemeClr val="tx1"/>
                </a:solidFill>
              </a:rPr>
              <a:t>CPU\</a:t>
            </a:r>
            <a:r>
              <a:rPr lang="zh-CN" altLang="zh-CN" sz="1600" dirty="0">
                <a:solidFill>
                  <a:schemeClr val="tx1"/>
                </a:solidFill>
              </a:rPr>
              <a:t>内存</a:t>
            </a:r>
            <a:r>
              <a:rPr lang="en-US" altLang="zh-CN" sz="1600" dirty="0">
                <a:solidFill>
                  <a:schemeClr val="tx1"/>
                </a:solidFill>
              </a:rPr>
              <a:t>\</a:t>
            </a:r>
            <a:r>
              <a:rPr lang="zh-CN" altLang="zh-CN" sz="1600" dirty="0">
                <a:solidFill>
                  <a:schemeClr val="tx1"/>
                </a:solidFill>
              </a:rPr>
              <a:t>上联带宽利用率峰值</a:t>
            </a:r>
            <a:r>
              <a:rPr lang="en-US" altLang="zh-CN" sz="1600" dirty="0">
                <a:solidFill>
                  <a:schemeClr val="tx1"/>
                </a:solidFill>
              </a:rPr>
              <a:t>CPU\</a:t>
            </a:r>
            <a:r>
              <a:rPr lang="zh-CN" altLang="zh-CN" sz="1600" dirty="0">
                <a:solidFill>
                  <a:schemeClr val="tx1"/>
                </a:solidFill>
              </a:rPr>
              <a:t>内存</a:t>
            </a:r>
            <a:r>
              <a:rPr lang="en-US" altLang="zh-CN" sz="1600" dirty="0">
                <a:solidFill>
                  <a:schemeClr val="tx1"/>
                </a:solidFill>
              </a:rPr>
              <a:t>\</a:t>
            </a:r>
            <a:r>
              <a:rPr lang="zh-CN" altLang="zh-CN" sz="1600" dirty="0">
                <a:solidFill>
                  <a:schemeClr val="tx1"/>
                </a:solidFill>
              </a:rPr>
              <a:t>上联带宽利用率峰值</a:t>
            </a:r>
            <a:r>
              <a:rPr lang="zh-CN" altLang="en-US" sz="1600" dirty="0">
                <a:solidFill>
                  <a:schemeClr val="tx1"/>
                </a:solidFill>
              </a:rPr>
              <a:t>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输出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自动</a:t>
            </a:r>
            <a:r>
              <a:rPr lang="zh-CN" altLang="zh-CN" sz="1600" dirty="0">
                <a:solidFill>
                  <a:schemeClr val="tx1"/>
                </a:solidFill>
              </a:rPr>
              <a:t>日</a:t>
            </a:r>
            <a:r>
              <a:rPr lang="zh-CN" altLang="zh-CN" sz="1600" dirty="0" smtClean="0">
                <a:solidFill>
                  <a:schemeClr val="tx1"/>
                </a:solidFill>
              </a:rPr>
              <a:t>测</a:t>
            </a:r>
            <a:r>
              <a:rPr lang="zh-CN" altLang="en-US" sz="1600" dirty="0" smtClean="0">
                <a:solidFill>
                  <a:schemeClr val="tx1"/>
                </a:solidFill>
              </a:rPr>
              <a:t>，</a:t>
            </a:r>
            <a:r>
              <a:rPr lang="zh-CN" altLang="zh-CN" sz="1600" dirty="0">
                <a:solidFill>
                  <a:schemeClr val="tx1"/>
                </a:solidFill>
              </a:rPr>
              <a:t>如：设备板卡</a:t>
            </a:r>
            <a:r>
              <a:rPr lang="zh-CN" altLang="zh-CN" sz="1600" dirty="0" smtClean="0">
                <a:solidFill>
                  <a:schemeClr val="tx1"/>
                </a:solidFill>
              </a:rPr>
              <a:t>检测</a:t>
            </a:r>
            <a:r>
              <a:rPr lang="zh-CN" altLang="en-US" sz="1600" dirty="0">
                <a:solidFill>
                  <a:schemeClr val="tx1"/>
                </a:solidFill>
              </a:rPr>
              <a:t>和</a:t>
            </a:r>
            <a:r>
              <a:rPr lang="zh-CN" altLang="zh-CN" sz="1600" dirty="0" smtClean="0">
                <a:solidFill>
                  <a:schemeClr val="tx1"/>
                </a:solidFill>
              </a:rPr>
              <a:t>端口</a:t>
            </a:r>
            <a:r>
              <a:rPr lang="zh-CN" altLang="zh-CN" sz="1600" dirty="0">
                <a:solidFill>
                  <a:schemeClr val="tx1"/>
                </a:solidFill>
              </a:rPr>
              <a:t>流量自动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核查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配置备份（每月）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376160" y="1127760"/>
            <a:ext cx="3962400" cy="12573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chemeClr val="tx1"/>
                </a:solidFill>
              </a:rPr>
              <a:t>SBC/UMG</a:t>
            </a:r>
            <a:r>
              <a:rPr lang="zh-CN" altLang="en-US" sz="1600" dirty="0">
                <a:solidFill>
                  <a:schemeClr val="tx1"/>
                </a:solidFill>
              </a:rPr>
              <a:t>日测、周测、月测、季</a:t>
            </a:r>
            <a:r>
              <a:rPr lang="zh-CN" altLang="en-US" sz="1600" dirty="0" smtClean="0">
                <a:solidFill>
                  <a:schemeClr val="tx1"/>
                </a:solidFill>
              </a:rPr>
              <a:t>测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每有</a:t>
            </a:r>
            <a:r>
              <a:rPr lang="zh-CN" altLang="zh-CN" sz="1600" dirty="0" smtClean="0">
                <a:solidFill>
                  <a:schemeClr val="tx1"/>
                </a:solidFill>
              </a:rPr>
              <a:t>每月</a:t>
            </a:r>
            <a:r>
              <a:rPr lang="zh-CN" altLang="zh-CN" sz="1600" dirty="0">
                <a:solidFill>
                  <a:schemeClr val="tx1"/>
                </a:solidFill>
              </a:rPr>
              <a:t>网络质量分析报告数据</a:t>
            </a:r>
            <a:r>
              <a:rPr lang="zh-CN" altLang="zh-CN" sz="1600" dirty="0" smtClean="0">
                <a:solidFill>
                  <a:schemeClr val="tx1"/>
                </a:solidFill>
              </a:rPr>
              <a:t>生成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IMS</a:t>
            </a:r>
            <a:r>
              <a:rPr lang="zh-CN" altLang="zh-CN" sz="1600" dirty="0">
                <a:solidFill>
                  <a:schemeClr val="tx1"/>
                </a:solidFill>
              </a:rPr>
              <a:t>配对</a:t>
            </a:r>
            <a:r>
              <a:rPr lang="en-US" altLang="zh-CN" sz="1600" dirty="0">
                <a:solidFill>
                  <a:schemeClr val="tx1"/>
                </a:solidFill>
              </a:rPr>
              <a:t>CE/FW</a:t>
            </a:r>
            <a:r>
              <a:rPr lang="zh-CN" altLang="zh-CN" sz="1600" dirty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每日</a:t>
            </a:r>
            <a:r>
              <a:rPr lang="zh-CN" altLang="zh-CN" sz="1600" dirty="0" smtClean="0">
                <a:solidFill>
                  <a:schemeClr val="tx1"/>
                </a:solidFill>
              </a:rPr>
              <a:t>检查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376160" y="3901440"/>
            <a:ext cx="3962400" cy="15849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自动</a:t>
            </a:r>
            <a:r>
              <a:rPr lang="zh-CN" altLang="en-US" sz="1600" dirty="0">
                <a:solidFill>
                  <a:schemeClr val="tx1"/>
                </a:solidFill>
              </a:rPr>
              <a:t>备份（</a:t>
            </a:r>
            <a:r>
              <a:rPr lang="en-US" altLang="zh-CN" sz="1600" dirty="0">
                <a:solidFill>
                  <a:schemeClr val="tx1"/>
                </a:solidFill>
              </a:rPr>
              <a:t>BSC</a:t>
            </a:r>
            <a:r>
              <a:rPr lang="zh-CN" altLang="en-US" sz="1600" dirty="0">
                <a:solidFill>
                  <a:schemeClr val="tx1"/>
                </a:solidFill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</a:rPr>
              <a:t>APG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ALOG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CLOG</a:t>
            </a:r>
            <a:r>
              <a:rPr lang="zh-CN" altLang="en-US" sz="1600" dirty="0">
                <a:solidFill>
                  <a:schemeClr val="tx1"/>
                </a:solidFill>
              </a:rPr>
              <a:t>等）；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日</a:t>
            </a:r>
            <a:r>
              <a:rPr lang="zh-CN" altLang="en-US" sz="1600" dirty="0">
                <a:solidFill>
                  <a:schemeClr val="tx1"/>
                </a:solidFill>
              </a:rPr>
              <a:t>测；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告警</a:t>
            </a:r>
            <a:r>
              <a:rPr lang="zh-CN" altLang="en-US" sz="1600" dirty="0">
                <a:solidFill>
                  <a:schemeClr val="tx1"/>
                </a:solidFill>
              </a:rPr>
              <a:t>处理；</a:t>
            </a:r>
          </a:p>
        </p:txBody>
      </p:sp>
      <p:sp>
        <p:nvSpPr>
          <p:cNvPr id="66" name="矩形 65"/>
          <p:cNvSpPr/>
          <p:nvPr/>
        </p:nvSpPr>
        <p:spPr>
          <a:xfrm>
            <a:off x="6416040" y="2529840"/>
            <a:ext cx="868680" cy="12649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b="1" dirty="0" smtClean="0"/>
              <a:t>林庆忠</a:t>
            </a:r>
            <a:endParaRPr lang="zh-CN" altLang="en-US" b="1" dirty="0"/>
          </a:p>
        </p:txBody>
      </p:sp>
      <p:sp>
        <p:nvSpPr>
          <p:cNvPr id="68" name="矩形 67"/>
          <p:cNvSpPr/>
          <p:nvPr/>
        </p:nvSpPr>
        <p:spPr>
          <a:xfrm>
            <a:off x="7376160" y="2529840"/>
            <a:ext cx="3962400" cy="12573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指标</a:t>
            </a:r>
            <a:r>
              <a:rPr lang="zh-CN" altLang="zh-CN" sz="1600" dirty="0">
                <a:solidFill>
                  <a:schemeClr val="tx1"/>
                </a:solidFill>
              </a:rPr>
              <a:t>报表每日自动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呈现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城域网</a:t>
            </a:r>
            <a:r>
              <a:rPr lang="zh-CN" altLang="zh-CN" sz="1600" dirty="0">
                <a:solidFill>
                  <a:schemeClr val="tx1"/>
                </a:solidFill>
              </a:rPr>
              <a:t>拓扑链路自动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关联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>
                <a:solidFill>
                  <a:schemeClr val="tx1"/>
                </a:solidFill>
              </a:rPr>
              <a:t>投诉自动定位和</a:t>
            </a:r>
            <a:r>
              <a:rPr lang="zh-CN" altLang="zh-CN" sz="1600" dirty="0" smtClean="0">
                <a:solidFill>
                  <a:schemeClr val="tx1"/>
                </a:solidFill>
              </a:rPr>
              <a:t>处理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19004" y="2438400"/>
            <a:ext cx="854576" cy="11125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b="1" dirty="0" smtClean="0"/>
              <a:t>陈朝勇</a:t>
            </a:r>
            <a:endParaRPr lang="zh-CN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2057400" y="2438400"/>
            <a:ext cx="387096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配置、操作日志自动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备份（每天）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系统配置</a:t>
            </a:r>
            <a:r>
              <a:rPr lang="zh-CN" altLang="en-US" sz="1600" dirty="0">
                <a:solidFill>
                  <a:schemeClr val="tx1"/>
                </a:solidFill>
              </a:rPr>
              <a:t>局数据自动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核对（每周）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端口</a:t>
            </a:r>
            <a:r>
              <a:rPr lang="zh-CN" altLang="en-US" sz="1600" dirty="0">
                <a:solidFill>
                  <a:schemeClr val="tx1"/>
                </a:solidFill>
              </a:rPr>
              <a:t>流量（链路利用率）自动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核查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24940" y="5958840"/>
            <a:ext cx="1821180" cy="6286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/>
              <a:t>性能指标自动化</a:t>
            </a:r>
            <a:endParaRPr lang="zh-CN" altLang="en-US" b="1" dirty="0"/>
          </a:p>
        </p:txBody>
      </p:sp>
      <p:sp>
        <p:nvSpPr>
          <p:cNvPr id="21" name="椭圆 20"/>
          <p:cNvSpPr/>
          <p:nvPr/>
        </p:nvSpPr>
        <p:spPr>
          <a:xfrm>
            <a:off x="1099768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64280" y="5958840"/>
            <a:ext cx="1981200" cy="62970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/>
              <a:t>例行测试自动化</a:t>
            </a:r>
            <a:endParaRPr lang="zh-CN" altLang="en-US" b="1" dirty="0"/>
          </a:p>
        </p:txBody>
      </p:sp>
      <p:sp>
        <p:nvSpPr>
          <p:cNvPr id="24" name="椭圆 23"/>
          <p:cNvSpPr/>
          <p:nvPr/>
        </p:nvSpPr>
        <p:spPr>
          <a:xfrm>
            <a:off x="3477208" y="607038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24600" y="5958839"/>
            <a:ext cx="1920240" cy="6286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/>
              <a:t>数据备份自动化</a:t>
            </a:r>
            <a:endParaRPr lang="zh-CN" altLang="en-US" b="1" dirty="0"/>
          </a:p>
        </p:txBody>
      </p:sp>
      <p:sp>
        <p:nvSpPr>
          <p:cNvPr id="26" name="椭圆 25"/>
          <p:cNvSpPr/>
          <p:nvPr/>
        </p:nvSpPr>
        <p:spPr>
          <a:xfrm>
            <a:off x="6048282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831580" y="5951220"/>
            <a:ext cx="1943100" cy="6362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 smtClean="0"/>
              <a:t>例行核查自动化</a:t>
            </a:r>
            <a:endParaRPr lang="zh-CN" altLang="en-US" b="1" dirty="0"/>
          </a:p>
        </p:txBody>
      </p:sp>
      <p:sp>
        <p:nvSpPr>
          <p:cNvPr id="29" name="椭圆 28"/>
          <p:cNvSpPr/>
          <p:nvPr/>
        </p:nvSpPr>
        <p:spPr>
          <a:xfrm>
            <a:off x="8562882" y="608562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Harlow Solid Italic" pitchFamily="82" charset="0"/>
              </a:rPr>
              <a:t>4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4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46960" y="1076682"/>
            <a:ext cx="5055408" cy="43335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632960" y="5791200"/>
            <a:ext cx="2769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网络数据化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39439" y="2590800"/>
            <a:ext cx="3722421" cy="2819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611881" y="3962400"/>
            <a:ext cx="2651760" cy="1447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自动化需求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涉及数据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如</a:t>
            </a:r>
            <a:r>
              <a:rPr lang="en-US" altLang="zh-CN" b="1" dirty="0" smtClean="0">
                <a:solidFill>
                  <a:schemeClr val="tx1"/>
                </a:solidFill>
              </a:rPr>
              <a:t>MIB</a:t>
            </a:r>
            <a:r>
              <a:rPr lang="zh-CN" altLang="en-US" b="1" dirty="0" smtClean="0">
                <a:solidFill>
                  <a:schemeClr val="tx1"/>
                </a:solidFill>
              </a:rPr>
              <a:t>信息、配置文件、系统日志、查询结果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3863763" y="3087767"/>
            <a:ext cx="2547614" cy="519351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/>
              <a:t>业务网全数据库</a:t>
            </a:r>
            <a:endParaRPr lang="en-US" altLang="zh-CN" b="1" dirty="0"/>
          </a:p>
        </p:txBody>
      </p:sp>
      <p:sp>
        <p:nvSpPr>
          <p:cNvPr id="8" name="椭圆 7"/>
          <p:cNvSpPr/>
          <p:nvPr/>
        </p:nvSpPr>
        <p:spPr>
          <a:xfrm>
            <a:off x="3333703" y="1660565"/>
            <a:ext cx="3528158" cy="519351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/>
              <a:t>支撑网及环境全数据库</a:t>
            </a:r>
            <a:endParaRPr lang="en-US" altLang="zh-CN" b="1" dirty="0"/>
          </a:p>
        </p:txBody>
      </p:sp>
      <p:grpSp>
        <p:nvGrpSpPr>
          <p:cNvPr id="42" name="组合 41"/>
          <p:cNvGrpSpPr/>
          <p:nvPr/>
        </p:nvGrpSpPr>
        <p:grpSpPr>
          <a:xfrm>
            <a:off x="8061960" y="1076682"/>
            <a:ext cx="3108960" cy="4333518"/>
            <a:chOff x="6705600" y="1076682"/>
            <a:chExt cx="3108960" cy="4333518"/>
          </a:xfrm>
        </p:grpSpPr>
        <p:sp>
          <p:nvSpPr>
            <p:cNvPr id="6" name="矩形 5"/>
            <p:cNvSpPr/>
            <p:nvPr/>
          </p:nvSpPr>
          <p:spPr>
            <a:xfrm>
              <a:off x="6705600" y="1076682"/>
              <a:ext cx="3108960" cy="43335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475250" y="1366242"/>
              <a:ext cx="1569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全专业知识</a:t>
              </a:r>
              <a:r>
                <a:rPr lang="zh-CN" altLang="en-US" dirty="0"/>
                <a:t>库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8444105" y="3631168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初级知识库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444105" y="2833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/>
                <a:t>中</a:t>
              </a:r>
              <a:r>
                <a:rPr lang="zh-CN" altLang="en-US" dirty="0" smtClean="0"/>
                <a:t>级知识库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8444105" y="2071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高级知识库</a:t>
              </a:r>
              <a:endParaRPr lang="zh-CN" altLang="en-US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444105" y="440436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8551873" y="456080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分级别</a:t>
              </a:r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7137828" y="37835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 smtClean="0"/>
                <a:t>城域网</a:t>
              </a: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7120458" y="283345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核心网</a:t>
              </a:r>
              <a:endParaRPr lang="zh-CN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18168" y="188857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无线网</a:t>
              </a:r>
              <a:endParaRPr lang="zh-CN" altLang="en-US" dirty="0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858000" y="441960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7088833" y="457604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分专业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118167" y="2345770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动力网</a:t>
              </a:r>
              <a:endParaRPr lang="zh-CN" alt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781800" y="1734087"/>
              <a:ext cx="506870" cy="584775"/>
              <a:chOff x="1289755" y="241012"/>
              <a:chExt cx="506870" cy="584775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781800" y="2221767"/>
              <a:ext cx="506870" cy="584775"/>
              <a:chOff x="1289755" y="241012"/>
              <a:chExt cx="506870" cy="584775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781800" y="2694207"/>
              <a:ext cx="506870" cy="584775"/>
              <a:chOff x="1289755" y="241012"/>
              <a:chExt cx="506870" cy="58477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6781800" y="3623847"/>
              <a:ext cx="506870" cy="584775"/>
              <a:chOff x="1289755" y="241012"/>
              <a:chExt cx="506870" cy="58477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7137828" y="33263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/>
                <a:t>承载</a:t>
              </a:r>
              <a:r>
                <a:rPr lang="zh-CN" altLang="en-US" dirty="0" smtClean="0"/>
                <a:t>网</a:t>
              </a:r>
              <a:endParaRPr lang="zh-CN" altLang="en-US" dirty="0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81800" y="3166647"/>
              <a:ext cx="506870" cy="584775"/>
              <a:chOff x="1289755" y="241012"/>
              <a:chExt cx="506870" cy="584775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8" name="椭圆 37"/>
            <p:cNvSpPr/>
            <p:nvPr/>
          </p:nvSpPr>
          <p:spPr>
            <a:xfrm>
              <a:off x="8304654" y="214556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椭圆 39"/>
            <p:cNvSpPr/>
            <p:nvPr/>
          </p:nvSpPr>
          <p:spPr>
            <a:xfrm>
              <a:off x="8304654" y="289232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椭圆 40"/>
            <p:cNvSpPr/>
            <p:nvPr/>
          </p:nvSpPr>
          <p:spPr>
            <a:xfrm>
              <a:off x="8304654" y="371528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86840" y="1888570"/>
            <a:ext cx="9601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endParaRPr lang="zh-CN" altLang="en-US" sz="4000" b="1" i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582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701040" y="579120"/>
            <a:ext cx="8595360" cy="5516880"/>
            <a:chOff x="701040" y="579120"/>
            <a:chExt cx="8595360" cy="5516880"/>
          </a:xfrm>
        </p:grpSpPr>
        <p:sp>
          <p:nvSpPr>
            <p:cNvPr id="69" name="矩形 68"/>
            <p:cNvSpPr/>
            <p:nvPr/>
          </p:nvSpPr>
          <p:spPr>
            <a:xfrm>
              <a:off x="701040" y="579120"/>
              <a:ext cx="8595360" cy="5516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TextBox 1"/>
            <p:cNvSpPr txBox="1"/>
            <p:nvPr/>
          </p:nvSpPr>
          <p:spPr>
            <a:xfrm flipH="1">
              <a:off x="782770" y="5547360"/>
              <a:ext cx="37592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自动化工作逻辑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007043" y="1714500"/>
              <a:ext cx="1582553" cy="1082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网元对象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执行周期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058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定制任务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42062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任务执行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箭头连接符 42"/>
            <p:cNvCxnSpPr>
              <a:stCxn id="38" idx="3"/>
              <a:endCxn id="41" idx="1"/>
            </p:cNvCxnSpPr>
            <p:nvPr/>
          </p:nvCxnSpPr>
          <p:spPr>
            <a:xfrm>
              <a:off x="2588393" y="1283970"/>
              <a:ext cx="161784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4206239" y="173736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数据采集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数据入库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检查判断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746760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结果呈现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6" name="直接箭头连接符 45"/>
            <p:cNvCxnSpPr>
              <a:stCxn id="41" idx="3"/>
              <a:endCxn id="45" idx="1"/>
            </p:cNvCxnSpPr>
            <p:nvPr/>
          </p:nvCxnSpPr>
          <p:spPr>
            <a:xfrm>
              <a:off x="5788793" y="1283970"/>
              <a:ext cx="167880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7467599" y="175260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检查记录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详细报告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 flipH="1">
              <a:off x="2734376" y="90103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条件触发</a:t>
              </a:r>
              <a:endParaRPr lang="zh-CN" altLang="en-US" b="1" dirty="0"/>
            </a:p>
          </p:txBody>
        </p:sp>
        <p:sp>
          <p:nvSpPr>
            <p:cNvPr id="49" name="TextBox 48"/>
            <p:cNvSpPr txBox="1"/>
            <p:nvPr/>
          </p:nvSpPr>
          <p:spPr>
            <a:xfrm flipH="1">
              <a:off x="6026216" y="93151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任务完成</a:t>
              </a:r>
              <a:endParaRPr lang="zh-CN" altLang="en-US" b="1" dirty="0"/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705996" y="3718560"/>
              <a:ext cx="4618603" cy="1139552"/>
              <a:chOff x="3169037" y="4527416"/>
              <a:chExt cx="4104456" cy="864096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31690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数据源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49692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临时库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40331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采集接口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58333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数据处理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6697429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数据入库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5" name="直接箭头连接符 54"/>
              <p:cNvCxnSpPr>
                <a:stCxn id="50" idx="6"/>
                <a:endCxn id="52" idx="2"/>
              </p:cNvCxnSpPr>
              <p:nvPr/>
            </p:nvCxnSpPr>
            <p:spPr>
              <a:xfrm>
                <a:off x="3745101" y="4959464"/>
                <a:ext cx="288032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52" idx="6"/>
                <a:endCxn id="51" idx="2"/>
              </p:cNvCxnSpPr>
              <p:nvPr/>
            </p:nvCxnSpPr>
            <p:spPr>
              <a:xfrm>
                <a:off x="4609197" y="4959464"/>
                <a:ext cx="36004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51" idx="6"/>
                <a:endCxn id="53" idx="2"/>
              </p:cNvCxnSpPr>
              <p:nvPr/>
            </p:nvCxnSpPr>
            <p:spPr>
              <a:xfrm>
                <a:off x="5545301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53" idx="6"/>
                <a:endCxn id="54" idx="2"/>
              </p:cNvCxnSpPr>
              <p:nvPr/>
            </p:nvCxnSpPr>
            <p:spPr>
              <a:xfrm>
                <a:off x="6409397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虚尾箭头 58"/>
            <p:cNvSpPr/>
            <p:nvPr/>
          </p:nvSpPr>
          <p:spPr>
            <a:xfrm rot="5400000">
              <a:off x="4813781" y="2956560"/>
              <a:ext cx="412335" cy="533400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5379933" y="5364480"/>
              <a:ext cx="1234227" cy="548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检查标准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2" name="直接箭头连接符 61"/>
            <p:cNvCxnSpPr>
              <a:stCxn id="60" idx="0"/>
              <a:endCxn id="54" idx="4"/>
            </p:cNvCxnSpPr>
            <p:nvPr/>
          </p:nvCxnSpPr>
          <p:spPr>
            <a:xfrm flipV="1">
              <a:off x="5997047" y="4858112"/>
              <a:ext cx="3440" cy="5063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851660" y="3550920"/>
              <a:ext cx="66065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>
              <a:off x="6375904" y="4288336"/>
              <a:ext cx="324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流程图: 决策 70"/>
            <p:cNvSpPr/>
            <p:nvPr/>
          </p:nvSpPr>
          <p:spPr>
            <a:xfrm>
              <a:off x="6730496" y="3870960"/>
              <a:ext cx="950464" cy="82296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核查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六边形 73"/>
            <p:cNvSpPr/>
            <p:nvPr/>
          </p:nvSpPr>
          <p:spPr>
            <a:xfrm>
              <a:off x="7999794" y="3870960"/>
              <a:ext cx="610805" cy="822960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结果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5" name="直接箭头连接符 74"/>
            <p:cNvCxnSpPr>
              <a:endCxn id="74" idx="3"/>
            </p:cNvCxnSpPr>
            <p:nvPr/>
          </p:nvCxnSpPr>
          <p:spPr>
            <a:xfrm>
              <a:off x="7482840" y="4282440"/>
              <a:ext cx="51695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83"/>
          <p:cNvGrpSpPr/>
          <p:nvPr/>
        </p:nvGrpSpPr>
        <p:grpSpPr>
          <a:xfrm>
            <a:off x="9372600" y="1253490"/>
            <a:ext cx="2819400" cy="5029150"/>
            <a:chOff x="9372600" y="1253490"/>
            <a:chExt cx="2819400" cy="5029150"/>
          </a:xfrm>
        </p:grpSpPr>
        <p:sp>
          <p:nvSpPr>
            <p:cNvPr id="83" name="圆角矩形标注 82"/>
            <p:cNvSpPr/>
            <p:nvPr/>
          </p:nvSpPr>
          <p:spPr>
            <a:xfrm>
              <a:off x="9372600" y="1253490"/>
              <a:ext cx="2819400" cy="2465070"/>
            </a:xfrm>
            <a:prstGeom prst="wedgeRoundRectCallou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主人：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你的局数据检查已完成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你的健康检查已完成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你要的日报已完成。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----------</a:t>
              </a:r>
            </a:p>
          </p:txBody>
        </p:sp>
        <p:pic>
          <p:nvPicPr>
            <p:cNvPr id="2050" name="Picture 2" descr="http://img.taopic.com/uploads/allimg/120712/201699-120G2224T175.jp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0956" y="3939952"/>
              <a:ext cx="2342688" cy="234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481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57494" y="5736639"/>
            <a:ext cx="3941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智慧化运维建设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7800" y="1337548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海量大数据采集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447800" y="4251960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高度完善自动化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2200418" y="2777728"/>
            <a:ext cx="536924" cy="80772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虚尾箭头 5"/>
          <p:cNvSpPr/>
          <p:nvPr/>
        </p:nvSpPr>
        <p:spPr>
          <a:xfrm>
            <a:off x="3916679" y="2166104"/>
            <a:ext cx="3409593" cy="2072640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发现合适的运维任务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496300" y="2676644"/>
            <a:ext cx="281178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智能算法离线训练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肘形连接符 9"/>
          <p:cNvCxnSpPr>
            <a:stCxn id="39" idx="2"/>
            <a:endCxn id="35" idx="3"/>
          </p:cNvCxnSpPr>
          <p:nvPr/>
        </p:nvCxnSpPr>
        <p:spPr>
          <a:xfrm rot="5400000">
            <a:off x="6308467" y="1062097"/>
            <a:ext cx="927616" cy="625983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3"/>
            <a:endCxn id="39" idx="1"/>
          </p:cNvCxnSpPr>
          <p:nvPr/>
        </p:nvCxnSpPr>
        <p:spPr>
          <a:xfrm>
            <a:off x="7326272" y="3202424"/>
            <a:ext cx="11700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4" idx="3"/>
            <a:endCxn id="39" idx="0"/>
          </p:cNvCxnSpPr>
          <p:nvPr/>
        </p:nvCxnSpPr>
        <p:spPr>
          <a:xfrm>
            <a:off x="3642360" y="1741408"/>
            <a:ext cx="6259830" cy="93523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779520" y="1935480"/>
            <a:ext cx="0" cy="2499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72275" y="1371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数据提取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772275" y="47853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372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平台架构</a:t>
            </a:r>
          </a:p>
        </p:txBody>
      </p:sp>
      <p:sp>
        <p:nvSpPr>
          <p:cNvPr id="3" name="矩形 2"/>
          <p:cNvSpPr/>
          <p:nvPr/>
        </p:nvSpPr>
        <p:spPr>
          <a:xfrm>
            <a:off x="980583" y="5043340"/>
            <a:ext cx="1415846" cy="560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85503" y="4394411"/>
            <a:ext cx="1415846" cy="53094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数据采集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85503" y="2673816"/>
            <a:ext cx="1415846" cy="164685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数据分析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00248" y="1788862"/>
            <a:ext cx="1415846" cy="78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应用中心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630067" y="2678376"/>
            <a:ext cx="1415846" cy="1651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控制系统</a:t>
            </a:r>
            <a:endParaRPr lang="en-US" altLang="zh-CN" dirty="0" smtClean="0"/>
          </a:p>
          <a:p>
            <a:pPr algn="ctr"/>
            <a:r>
              <a:rPr lang="zh-CN" altLang="en-US" sz="1600" dirty="0"/>
              <a:t>决策结果执行</a:t>
            </a:r>
          </a:p>
          <a:p>
            <a:pPr algn="ctr"/>
            <a:r>
              <a:rPr lang="zh-CN" altLang="en-US" sz="1600" dirty="0"/>
              <a:t>事件</a:t>
            </a:r>
            <a:r>
              <a:rPr lang="zh-CN" altLang="en-US" sz="1600" dirty="0" smtClean="0"/>
              <a:t>日志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2425926" y="1788555"/>
            <a:ext cx="7639664" cy="78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网络全景图、运维场景应用、故障跟踪处理、信息查询、多维分析等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425925" y="5038109"/>
            <a:ext cx="8967020" cy="560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网络设备数据、监控设备数据、其他系统数据、台账数据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425925" y="4389187"/>
            <a:ext cx="7639665" cy="54567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数据采集、数据处理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425925" y="2688207"/>
            <a:ext cx="6061587" cy="4768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配置管理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168816" y="1798388"/>
            <a:ext cx="1238861" cy="312174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管理中心 </a:t>
            </a:r>
            <a:endParaRPr lang="en-US" altLang="zh-CN" dirty="0" smtClean="0"/>
          </a:p>
          <a:p>
            <a:pPr algn="ctr"/>
            <a:endParaRPr lang="en-US" altLang="zh-CN" dirty="0" smtClean="0"/>
          </a:p>
          <a:p>
            <a:pPr algn="ctr"/>
            <a:r>
              <a:rPr lang="zh-CN" altLang="en-US" dirty="0" smtClean="0"/>
              <a:t>用户管理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安全管理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日志管理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425925" y="3224067"/>
            <a:ext cx="6076336" cy="5309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智库管理：算法库、模型库、特征库、机器学习机制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425925" y="3804166"/>
            <a:ext cx="6056670" cy="5112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大数据处理引擎、人工智能引擎、可视化呈现处理引擎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861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8"/>
          <p:cNvSpPr/>
          <p:nvPr/>
        </p:nvSpPr>
        <p:spPr bwMode="auto">
          <a:xfrm>
            <a:off x="1951718" y="2256223"/>
            <a:ext cx="5775747" cy="22452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5" name="圆角矩形 110"/>
          <p:cNvSpPr>
            <a:spLocks noChangeArrowheads="1"/>
          </p:cNvSpPr>
          <p:nvPr/>
        </p:nvSpPr>
        <p:spPr bwMode="auto">
          <a:xfrm>
            <a:off x="2123542" y="3547143"/>
            <a:ext cx="4502596" cy="702776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6" name="Rectangle 18"/>
          <p:cNvSpPr/>
          <p:nvPr/>
        </p:nvSpPr>
        <p:spPr bwMode="auto">
          <a:xfrm>
            <a:off x="1945617" y="4636316"/>
            <a:ext cx="5775747" cy="1115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7" name="Rectangle 18"/>
          <p:cNvSpPr/>
          <p:nvPr/>
        </p:nvSpPr>
        <p:spPr bwMode="auto">
          <a:xfrm>
            <a:off x="1949885" y="5816951"/>
            <a:ext cx="5775747" cy="880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8" name="Rectangle 28"/>
          <p:cNvSpPr/>
          <p:nvPr/>
        </p:nvSpPr>
        <p:spPr>
          <a:xfrm>
            <a:off x="2130287" y="5940755"/>
            <a:ext cx="1001366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日志文件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9" name="TextBox 29"/>
          <p:cNvSpPr txBox="1">
            <a:spLocks noChangeArrowheads="1"/>
          </p:cNvSpPr>
          <p:nvPr/>
        </p:nvSpPr>
        <p:spPr bwMode="auto">
          <a:xfrm>
            <a:off x="919416" y="6173055"/>
            <a:ext cx="9500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采集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层</a:t>
            </a:r>
          </a:p>
        </p:txBody>
      </p:sp>
      <p:sp>
        <p:nvSpPr>
          <p:cNvPr id="120" name="TextBox 25"/>
          <p:cNvSpPr txBox="1">
            <a:spLocks noChangeArrowheads="1"/>
          </p:cNvSpPr>
          <p:nvPr/>
        </p:nvSpPr>
        <p:spPr bwMode="auto">
          <a:xfrm>
            <a:off x="919416" y="5340429"/>
            <a:ext cx="11373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处理层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1" name="TextBox 25"/>
          <p:cNvSpPr txBox="1">
            <a:spLocks noChangeArrowheads="1"/>
          </p:cNvSpPr>
          <p:nvPr/>
        </p:nvSpPr>
        <p:spPr bwMode="auto">
          <a:xfrm>
            <a:off x="893588" y="3684245"/>
            <a:ext cx="1264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业务</a:t>
            </a: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层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2" name="TextBox 25"/>
          <p:cNvSpPr txBox="1">
            <a:spLocks noChangeArrowheads="1"/>
          </p:cNvSpPr>
          <p:nvPr/>
        </p:nvSpPr>
        <p:spPr bwMode="auto">
          <a:xfrm>
            <a:off x="883921" y="1466649"/>
            <a:ext cx="11373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应用层</a:t>
            </a:r>
          </a:p>
        </p:txBody>
      </p:sp>
      <p:sp>
        <p:nvSpPr>
          <p:cNvPr id="123" name="Can 70"/>
          <p:cNvSpPr/>
          <p:nvPr/>
        </p:nvSpPr>
        <p:spPr bwMode="auto">
          <a:xfrm rot="5400000">
            <a:off x="4265657" y="146985"/>
            <a:ext cx="256466" cy="4608511"/>
          </a:xfrm>
          <a:prstGeom prst="can">
            <a:avLst/>
          </a:prstGeom>
          <a:solidFill>
            <a:srgbClr val="92D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anchor="ctr" anchorCtr="1"/>
          <a:lstStyle/>
          <a:p>
            <a:pPr>
              <a:defRPr/>
            </a:pPr>
            <a:r>
              <a:rPr lang="zh-CN" altLang="en-US" sz="1400" dirty="0" smtClean="0">
                <a:cs typeface="+mn-ea"/>
                <a:sym typeface="+mn-lt"/>
              </a:rPr>
              <a:t>服务接口（</a:t>
            </a:r>
            <a:r>
              <a:rPr lang="en-US" altLang="zh-CN" sz="1400" dirty="0" err="1" smtClean="0">
                <a:cs typeface="+mn-ea"/>
                <a:sym typeface="+mn-lt"/>
              </a:rPr>
              <a:t>WebService</a:t>
            </a:r>
            <a:r>
              <a:rPr lang="zh-CN" altLang="en-US" sz="1400" dirty="0" smtClean="0">
                <a:cs typeface="+mn-ea"/>
                <a:sym typeface="+mn-lt"/>
              </a:rPr>
              <a:t>）</a:t>
            </a:r>
            <a:endParaRPr lang="en-US" sz="1400" dirty="0">
              <a:cs typeface="+mn-ea"/>
              <a:sym typeface="+mn-lt"/>
            </a:endParaRPr>
          </a:p>
        </p:txBody>
      </p:sp>
      <p:sp>
        <p:nvSpPr>
          <p:cNvPr id="124" name="TextBox 13"/>
          <p:cNvSpPr txBox="1"/>
          <p:nvPr/>
        </p:nvSpPr>
        <p:spPr bwMode="auto">
          <a:xfrm>
            <a:off x="2123541" y="5348905"/>
            <a:ext cx="6998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SFTP</a:t>
            </a:r>
          </a:p>
        </p:txBody>
      </p:sp>
      <p:sp>
        <p:nvSpPr>
          <p:cNvPr id="125" name="Rectangle 28"/>
          <p:cNvSpPr/>
          <p:nvPr/>
        </p:nvSpPr>
        <p:spPr>
          <a:xfrm>
            <a:off x="3203659" y="5940755"/>
            <a:ext cx="921247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备份文件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6" name="Rectangle 28"/>
          <p:cNvSpPr/>
          <p:nvPr/>
        </p:nvSpPr>
        <p:spPr>
          <a:xfrm>
            <a:off x="4249873" y="5940755"/>
            <a:ext cx="1083349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MIB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信息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7" name="Rectangle 28"/>
          <p:cNvSpPr/>
          <p:nvPr/>
        </p:nvSpPr>
        <p:spPr>
          <a:xfrm>
            <a:off x="5423815" y="5940754"/>
            <a:ext cx="1150743" cy="3162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打印文本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8" name="Rectangle 28"/>
          <p:cNvSpPr/>
          <p:nvPr/>
        </p:nvSpPr>
        <p:spPr>
          <a:xfrm>
            <a:off x="6695501" y="6016335"/>
            <a:ext cx="792088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cs typeface="+mn-ea"/>
                <a:sym typeface="+mn-lt"/>
              </a:rPr>
              <a:t>……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9" name="虚尾箭头 128"/>
          <p:cNvSpPr/>
          <p:nvPr/>
        </p:nvSpPr>
        <p:spPr>
          <a:xfrm>
            <a:off x="7814777" y="6016335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0" name="文本框 143"/>
          <p:cNvSpPr txBox="1"/>
          <p:nvPr/>
        </p:nvSpPr>
        <p:spPr>
          <a:xfrm>
            <a:off x="8200137" y="6008238"/>
            <a:ext cx="2815608" cy="630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接入华为、爱立信、阿尔卡特等多厂家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的网元数据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1" name="虚尾箭头 130"/>
          <p:cNvSpPr/>
          <p:nvPr/>
        </p:nvSpPr>
        <p:spPr>
          <a:xfrm>
            <a:off x="7814777" y="506176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2" name="文本框 143"/>
          <p:cNvSpPr txBox="1"/>
          <p:nvPr/>
        </p:nvSpPr>
        <p:spPr>
          <a:xfrm>
            <a:off x="8183809" y="4746120"/>
            <a:ext cx="2969440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60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、提供</a:t>
            </a:r>
            <a:r>
              <a:rPr lang="en-US" altLang="zh-CN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SFTP\FTP\TELNET\SNMP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等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实时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非实时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数据采集接口。底层通过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高效的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C/C++/JAVA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实现数据清洗、转换、加载</a:t>
            </a:r>
            <a:endParaRPr lang="zh-CN" altLang="en-US" sz="14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3" name="虚尾箭头 132"/>
          <p:cNvSpPr/>
          <p:nvPr/>
        </p:nvSpPr>
        <p:spPr>
          <a:xfrm>
            <a:off x="7823769" y="2985722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4" name="文本框 143"/>
          <p:cNvSpPr txBox="1"/>
          <p:nvPr/>
        </p:nvSpPr>
        <p:spPr>
          <a:xfrm>
            <a:off x="8176405" y="2495270"/>
            <a:ext cx="2839340" cy="1708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、数据存储采用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Greenplum+Mysql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方式，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GreenPlum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用于存储业务指标数据，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MySql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用于存储任务策略、权限、日志等数据。并通过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JAVA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实现智能运维功能。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5" name="文本框 143"/>
          <p:cNvSpPr txBox="1"/>
          <p:nvPr/>
        </p:nvSpPr>
        <p:spPr>
          <a:xfrm>
            <a:off x="8185636" y="1040927"/>
            <a:ext cx="2830109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、应用层采用业界流行的</a:t>
            </a:r>
            <a:r>
              <a:rPr lang="zh-CN" altLang="en-US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开源框架</a:t>
            </a:r>
            <a:r>
              <a:rPr lang="en-US" altLang="zh-CN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SSH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搭建平台，前端采用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SSH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开源架构及</a:t>
            </a:r>
            <a:r>
              <a:rPr lang="zh-CN" altLang="en-US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开源的报表控件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实现业务系统的人机交互。</a:t>
            </a:r>
          </a:p>
        </p:txBody>
      </p:sp>
      <p:sp>
        <p:nvSpPr>
          <p:cNvPr id="136" name="虚尾箭头 135"/>
          <p:cNvSpPr/>
          <p:nvPr/>
        </p:nvSpPr>
        <p:spPr>
          <a:xfrm>
            <a:off x="7837021" y="136016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7" name="Rectangle 18"/>
          <p:cNvSpPr/>
          <p:nvPr/>
        </p:nvSpPr>
        <p:spPr bwMode="auto">
          <a:xfrm>
            <a:off x="1958317" y="766810"/>
            <a:ext cx="5763045" cy="13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pic>
        <p:nvPicPr>
          <p:cNvPr id="138" name="Picture 70" descr="상승_4"/>
          <p:cNvPicPr>
            <a:picLocks noChangeAspect="1" noChangeArrowheads="1"/>
          </p:cNvPicPr>
          <p:nvPr/>
        </p:nvPicPr>
        <p:blipFill>
          <a:blip r:embed="rId3" cstate="print">
            <a:lum bright="-6000" contrast="36000"/>
          </a:blip>
          <a:srcRect l="3534"/>
          <a:stretch>
            <a:fillRect/>
          </a:stretch>
        </p:blipFill>
        <p:spPr bwMode="auto">
          <a:xfrm rot="10800000">
            <a:off x="3159279" y="4321791"/>
            <a:ext cx="3071834" cy="57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9" name="矩形 138"/>
          <p:cNvSpPr/>
          <p:nvPr/>
        </p:nvSpPr>
        <p:spPr>
          <a:xfrm>
            <a:off x="3601801" y="4203430"/>
            <a:ext cx="221457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rPr>
              <a:t>ETL</a:t>
            </a:r>
          </a:p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rPr>
              <a:t>（清洗、转换、加载）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0" name="TextBox 31"/>
          <p:cNvSpPr txBox="1"/>
          <p:nvPr/>
        </p:nvSpPr>
        <p:spPr bwMode="auto">
          <a:xfrm>
            <a:off x="2881721" y="5356397"/>
            <a:ext cx="556158" cy="2880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FTP</a:t>
            </a:r>
          </a:p>
        </p:txBody>
      </p:sp>
      <p:sp>
        <p:nvSpPr>
          <p:cNvPr id="141" name="TextBox 32"/>
          <p:cNvSpPr txBox="1"/>
          <p:nvPr/>
        </p:nvSpPr>
        <p:spPr bwMode="auto">
          <a:xfrm>
            <a:off x="3495885" y="5356397"/>
            <a:ext cx="1258044" cy="2880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TELNET</a:t>
            </a:r>
          </a:p>
        </p:txBody>
      </p:sp>
      <p:sp>
        <p:nvSpPr>
          <p:cNvPr id="142" name="TextBox 33"/>
          <p:cNvSpPr txBox="1"/>
          <p:nvPr/>
        </p:nvSpPr>
        <p:spPr bwMode="auto">
          <a:xfrm>
            <a:off x="4801120" y="5356396"/>
            <a:ext cx="12235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SNMP</a:t>
            </a:r>
          </a:p>
        </p:txBody>
      </p:sp>
      <p:sp>
        <p:nvSpPr>
          <p:cNvPr id="143" name="TextBox 34"/>
          <p:cNvSpPr txBox="1"/>
          <p:nvPr/>
        </p:nvSpPr>
        <p:spPr bwMode="auto">
          <a:xfrm>
            <a:off x="6062774" y="5356396"/>
            <a:ext cx="514200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……</a:t>
            </a:r>
          </a:p>
        </p:txBody>
      </p:sp>
      <p:sp>
        <p:nvSpPr>
          <p:cNvPr id="144" name="TextBox 35"/>
          <p:cNvSpPr txBox="1"/>
          <p:nvPr/>
        </p:nvSpPr>
        <p:spPr bwMode="auto">
          <a:xfrm>
            <a:off x="2130287" y="4924347"/>
            <a:ext cx="4446687" cy="2986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C/C++</a:t>
            </a:r>
          </a:p>
        </p:txBody>
      </p:sp>
      <p:sp>
        <p:nvSpPr>
          <p:cNvPr id="145" name="TextBox 25"/>
          <p:cNvSpPr txBox="1">
            <a:spLocks noChangeArrowheads="1"/>
          </p:cNvSpPr>
          <p:nvPr/>
        </p:nvSpPr>
        <p:spPr bwMode="auto">
          <a:xfrm>
            <a:off x="6698145" y="5356396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采集接口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6" name="TextBox 25"/>
          <p:cNvSpPr txBox="1">
            <a:spLocks noChangeArrowheads="1"/>
          </p:cNvSpPr>
          <p:nvPr/>
        </p:nvSpPr>
        <p:spPr bwMode="auto">
          <a:xfrm>
            <a:off x="6698145" y="4924348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数据处理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7" name="TextBox 146"/>
          <p:cNvSpPr txBox="1"/>
          <p:nvPr/>
        </p:nvSpPr>
        <p:spPr bwMode="auto">
          <a:xfrm>
            <a:off x="2233649" y="3872114"/>
            <a:ext cx="1891258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>
                <a:latin typeface="+mn-lt"/>
                <a:ea typeface="+mn-ea"/>
                <a:cs typeface="+mn-ea"/>
                <a:sym typeface="+mn-lt"/>
              </a:rPr>
              <a:t>GreenPlum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8" name="TextBox 25"/>
          <p:cNvSpPr txBox="1">
            <a:spLocks noChangeArrowheads="1"/>
          </p:cNvSpPr>
          <p:nvPr/>
        </p:nvSpPr>
        <p:spPr bwMode="auto">
          <a:xfrm>
            <a:off x="3713666" y="3403127"/>
            <a:ext cx="12562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数据存储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9" name="TextBox 25"/>
          <p:cNvSpPr txBox="1">
            <a:spLocks noChangeArrowheads="1"/>
          </p:cNvSpPr>
          <p:nvPr/>
        </p:nvSpPr>
        <p:spPr bwMode="auto">
          <a:xfrm>
            <a:off x="2541587" y="3547143"/>
            <a:ext cx="12762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业务数据存储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0" name="TextBox 25"/>
          <p:cNvSpPr txBox="1">
            <a:spLocks noChangeArrowheads="1"/>
          </p:cNvSpPr>
          <p:nvPr/>
        </p:nvSpPr>
        <p:spPr bwMode="auto">
          <a:xfrm>
            <a:off x="6698145" y="3239947"/>
            <a:ext cx="1023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数据存储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智能运维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1" name="TextBox 25"/>
          <p:cNvSpPr txBox="1">
            <a:spLocks noChangeArrowheads="1"/>
          </p:cNvSpPr>
          <p:nvPr/>
        </p:nvSpPr>
        <p:spPr bwMode="auto">
          <a:xfrm>
            <a:off x="6698145" y="2323007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接口</a:t>
            </a:r>
          </a:p>
        </p:txBody>
      </p:sp>
      <p:sp>
        <p:nvSpPr>
          <p:cNvPr id="152" name="TextBox 49"/>
          <p:cNvSpPr txBox="1"/>
          <p:nvPr/>
        </p:nvSpPr>
        <p:spPr bwMode="auto">
          <a:xfrm>
            <a:off x="2105161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Spring</a:t>
            </a:r>
          </a:p>
        </p:txBody>
      </p:sp>
      <p:sp>
        <p:nvSpPr>
          <p:cNvPr id="153" name="TextBox 50"/>
          <p:cNvSpPr txBox="1"/>
          <p:nvPr/>
        </p:nvSpPr>
        <p:spPr bwMode="auto">
          <a:xfrm>
            <a:off x="3689338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Struts</a:t>
            </a:r>
          </a:p>
        </p:txBody>
      </p:sp>
      <p:sp>
        <p:nvSpPr>
          <p:cNvPr id="154" name="TextBox 51"/>
          <p:cNvSpPr txBox="1"/>
          <p:nvPr/>
        </p:nvSpPr>
        <p:spPr bwMode="auto">
          <a:xfrm>
            <a:off x="5276353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Hibernate</a:t>
            </a:r>
          </a:p>
        </p:txBody>
      </p:sp>
      <p:sp>
        <p:nvSpPr>
          <p:cNvPr id="155" name="TextBox 25"/>
          <p:cNvSpPr txBox="1">
            <a:spLocks noChangeArrowheads="1"/>
          </p:cNvSpPr>
          <p:nvPr/>
        </p:nvSpPr>
        <p:spPr bwMode="auto">
          <a:xfrm>
            <a:off x="6698144" y="1432168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WEB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框架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6" name="TextBox 53"/>
          <p:cNvSpPr txBox="1"/>
          <p:nvPr/>
        </p:nvSpPr>
        <p:spPr bwMode="auto">
          <a:xfrm>
            <a:off x="2105163" y="1288152"/>
            <a:ext cx="2144710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 smtClean="0">
                <a:latin typeface="+mn-lt"/>
                <a:ea typeface="+mn-ea"/>
                <a:cs typeface="+mn-ea"/>
                <a:sym typeface="+mn-lt"/>
              </a:rPr>
              <a:t>Echart</a:t>
            </a: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报表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7" name="TextBox 55"/>
          <p:cNvSpPr txBox="1"/>
          <p:nvPr/>
        </p:nvSpPr>
        <p:spPr bwMode="auto">
          <a:xfrm>
            <a:off x="4374839" y="1288153"/>
            <a:ext cx="2395314" cy="288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1200" dirty="0" err="1" smtClean="0">
                <a:latin typeface="+mn-lt"/>
                <a:ea typeface="+mn-ea"/>
                <a:cs typeface="+mn-ea"/>
                <a:sym typeface="+mn-lt"/>
              </a:rPr>
              <a:t>Jax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8" name="TextBox 25"/>
          <p:cNvSpPr txBox="1">
            <a:spLocks noChangeArrowheads="1"/>
          </p:cNvSpPr>
          <p:nvPr/>
        </p:nvSpPr>
        <p:spPr bwMode="auto">
          <a:xfrm>
            <a:off x="6698145" y="856104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呈现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9" name="TextBox 57"/>
          <p:cNvSpPr txBox="1"/>
          <p:nvPr/>
        </p:nvSpPr>
        <p:spPr bwMode="auto">
          <a:xfrm>
            <a:off x="4437657" y="3872113"/>
            <a:ext cx="1989750" cy="270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>
                <a:latin typeface="+mn-lt"/>
                <a:ea typeface="+mn-ea"/>
                <a:cs typeface="+mn-ea"/>
                <a:sym typeface="+mn-lt"/>
              </a:rPr>
              <a:t>MySql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0" name="TextBox 25"/>
          <p:cNvSpPr txBox="1">
            <a:spLocks noChangeArrowheads="1"/>
          </p:cNvSpPr>
          <p:nvPr/>
        </p:nvSpPr>
        <p:spPr bwMode="auto">
          <a:xfrm>
            <a:off x="4681921" y="3547143"/>
            <a:ext cx="14939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策略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权限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日志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1" name="圆角矩形 110"/>
          <p:cNvSpPr>
            <a:spLocks noChangeArrowheads="1"/>
          </p:cNvSpPr>
          <p:nvPr/>
        </p:nvSpPr>
        <p:spPr bwMode="auto">
          <a:xfrm>
            <a:off x="2123541" y="2628343"/>
            <a:ext cx="4502596" cy="774784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2" name="TextBox 25"/>
          <p:cNvSpPr txBox="1">
            <a:spLocks noChangeArrowheads="1"/>
          </p:cNvSpPr>
          <p:nvPr/>
        </p:nvSpPr>
        <p:spPr bwMode="auto">
          <a:xfrm>
            <a:off x="3529793" y="2496136"/>
            <a:ext cx="19763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智能</a:t>
            </a:r>
            <a:r>
              <a:rPr lang="zh-CN" altLang="en-US" sz="1400" b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运维（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JAVA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3" name="TextBox 65"/>
          <p:cNvSpPr txBox="1"/>
          <p:nvPr/>
        </p:nvSpPr>
        <p:spPr bwMode="auto">
          <a:xfrm>
            <a:off x="2214599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数据备份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4" name="TextBox 66"/>
          <p:cNvSpPr txBox="1"/>
          <p:nvPr/>
        </p:nvSpPr>
        <p:spPr bwMode="auto">
          <a:xfrm>
            <a:off x="3260812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例行检查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Box 67"/>
          <p:cNvSpPr txBox="1"/>
          <p:nvPr/>
        </p:nvSpPr>
        <p:spPr bwMode="auto">
          <a:xfrm>
            <a:off x="4336014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智能分析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6" name="TextBox 68"/>
          <p:cNvSpPr txBox="1"/>
          <p:nvPr/>
        </p:nvSpPr>
        <p:spPr bwMode="auto">
          <a:xfrm>
            <a:off x="5421052" y="3054662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智能预警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7" name="Rectangle 28"/>
          <p:cNvSpPr/>
          <p:nvPr/>
        </p:nvSpPr>
        <p:spPr>
          <a:xfrm>
            <a:off x="2122087" y="6308759"/>
            <a:ext cx="1373798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华为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68" name="Rectangle 28"/>
          <p:cNvSpPr/>
          <p:nvPr/>
        </p:nvSpPr>
        <p:spPr>
          <a:xfrm>
            <a:off x="3644880" y="6313783"/>
            <a:ext cx="1325073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爱立信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69" name="Rectangle 28"/>
          <p:cNvSpPr/>
          <p:nvPr/>
        </p:nvSpPr>
        <p:spPr>
          <a:xfrm>
            <a:off x="5137119" y="6311317"/>
            <a:ext cx="1433414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阿尔卡特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70" name="TextBox 72"/>
          <p:cNvSpPr txBox="1"/>
          <p:nvPr/>
        </p:nvSpPr>
        <p:spPr bwMode="auto">
          <a:xfrm>
            <a:off x="2222074" y="2755055"/>
            <a:ext cx="4188039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智能运维体检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1" name="TextBox 73"/>
          <p:cNvSpPr txBox="1"/>
          <p:nvPr/>
        </p:nvSpPr>
        <p:spPr bwMode="auto">
          <a:xfrm>
            <a:off x="2112783" y="856105"/>
            <a:ext cx="1066495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全景呈现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2" name="TextBox 74"/>
          <p:cNvSpPr txBox="1"/>
          <p:nvPr/>
        </p:nvSpPr>
        <p:spPr bwMode="auto">
          <a:xfrm>
            <a:off x="3333698" y="856104"/>
            <a:ext cx="1060191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日常维护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3" name="TextBox 75"/>
          <p:cNvSpPr txBox="1"/>
          <p:nvPr/>
        </p:nvSpPr>
        <p:spPr bwMode="auto">
          <a:xfrm>
            <a:off x="4500622" y="85610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应急保障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" name="TextBox 76"/>
          <p:cNvSpPr txBox="1"/>
          <p:nvPr/>
        </p:nvSpPr>
        <p:spPr bwMode="auto">
          <a:xfrm>
            <a:off x="5698486" y="85610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网络规划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5" name="文本框 68"/>
          <p:cNvSpPr txBox="1"/>
          <p:nvPr/>
        </p:nvSpPr>
        <p:spPr>
          <a:xfrm>
            <a:off x="3561790" y="155948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8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2800" b="1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241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</a:p>
        </p:txBody>
      </p:sp>
    </p:spTree>
    <p:extLst>
      <p:ext uri="{BB962C8B-B14F-4D97-AF65-F5344CB8AC3E}">
        <p14:creationId xmlns:p14="http://schemas.microsoft.com/office/powerpoint/2010/main" val="315306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0" y="616342"/>
            <a:ext cx="11777500" cy="63884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49250" y="213111"/>
            <a:ext cx="5984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网络设备可视化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2618" y="5846618"/>
            <a:ext cx="504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一览掌握全网网络拓扑关系、设备状态等信息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4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95" y="1144109"/>
            <a:ext cx="10102851" cy="467099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49250" y="213111"/>
            <a:ext cx="5984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业务质量可视化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30106" y="6161323"/>
            <a:ext cx="451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一览掌握全业务业务分布和质量状态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8899" y="1101246"/>
            <a:ext cx="9589174" cy="4515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4293" y="2108392"/>
            <a:ext cx="4033641" cy="2638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箭头连接符 3"/>
          <p:cNvCxnSpPr/>
          <p:nvPr/>
        </p:nvCxnSpPr>
        <p:spPr>
          <a:xfrm>
            <a:off x="4346936" y="3573195"/>
            <a:ext cx="213808" cy="3328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3223" y="2049086"/>
            <a:ext cx="2256245" cy="2356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22"/>
          <p:cNvSpPr txBox="1"/>
          <p:nvPr/>
        </p:nvSpPr>
        <p:spPr>
          <a:xfrm>
            <a:off x="4066622" y="5754484"/>
            <a:ext cx="3830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一览掌握核心机房资源信息、设备状态</a:t>
            </a:r>
            <a:endParaRPr lang="en-US" altLang="zh-CN" sz="16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9250" y="213111"/>
            <a:ext cx="51635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资管可视化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</p:spTree>
    <p:extLst>
      <p:ext uri="{BB962C8B-B14F-4D97-AF65-F5344CB8AC3E}">
        <p14:creationId xmlns:p14="http://schemas.microsoft.com/office/powerpoint/2010/main" val="250453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10536" y="1387365"/>
            <a:ext cx="8897251" cy="3889116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1362075" y="1015889"/>
            <a:ext cx="3924300" cy="4365911"/>
          </a:xfrm>
          <a:prstGeom prst="roundRect">
            <a:avLst/>
          </a:prstGeom>
          <a:noFill/>
          <a:ln w="28575" cap="flat" cmpd="sng" algn="ctr">
            <a:solidFill>
              <a:srgbClr val="00AC4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86374" y="1015891"/>
            <a:ext cx="1876425" cy="4365910"/>
          </a:xfrm>
          <a:prstGeom prst="roundRect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162799" y="1015889"/>
            <a:ext cx="3638551" cy="4365911"/>
          </a:xfrm>
          <a:prstGeom prst="roundRect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97425" y="1064555"/>
            <a:ext cx="1837415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自动获取数据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08295" y="1048513"/>
            <a:ext cx="1571626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关键信息提取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033882" y="1097379"/>
            <a:ext cx="2283597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自动撰写报告和通报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49250" y="213111"/>
            <a:ext cx="51635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日报撰写机器人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27589" y="5753274"/>
            <a:ext cx="5504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1-2</a:t>
            </a:r>
            <a:r>
              <a:rPr lang="zh-CN" altLang="en-US" b="1" dirty="0" smtClean="0">
                <a:solidFill>
                  <a:srgbClr val="FF0000"/>
                </a:solidFill>
              </a:rPr>
              <a:t>小时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人天缩短至</a:t>
            </a:r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分钟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8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故障提前预防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3567" y="1266034"/>
            <a:ext cx="92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地址锁死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3567" y="1918848"/>
            <a:ext cx="5367131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BNG\BARS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设备中用户登记的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地址锁死导致无法使用家宽或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IPTV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1058520" y="2955974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3091070" y="2955974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4959627" y="2955974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6828184" y="2955974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8696741" y="2955974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058520" y="3578086"/>
            <a:ext cx="9387508" cy="1633635"/>
          </a:xfrm>
          <a:prstGeom prst="round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1058520" y="5304163"/>
            <a:ext cx="9387508" cy="1454446"/>
          </a:xfrm>
          <a:prstGeom prst="roundRect">
            <a:avLst/>
          </a:prstGeom>
          <a:solidFill>
            <a:srgbClr val="8EC31F">
              <a:alpha val="39000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8193" y="3886200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8193" y="5512237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8771" y="3506319"/>
            <a:ext cx="1133060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245126" y="3963438"/>
            <a:ext cx="144117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13683" y="3963438"/>
            <a:ext cx="144117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选择模型进行训练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839" y="5446207"/>
            <a:ext cx="5211036" cy="3908277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6982240" y="3963438"/>
            <a:ext cx="144117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选择模型进行训练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34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93567" y="1918848"/>
            <a:ext cx="5367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描述：热备出现故障导致主备链路均处于启用状态，用户业务出现异常。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46" y="2811863"/>
            <a:ext cx="3842833" cy="352981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082" y="1851520"/>
            <a:ext cx="3953925" cy="344662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故障定位辅助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3567" y="1266034"/>
            <a:ext cx="92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725" y="1136823"/>
            <a:ext cx="5861427" cy="48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9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定位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93567" y="1266034"/>
            <a:ext cx="92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3992" y="2743200"/>
            <a:ext cx="112407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拓扑关联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6855" y="2673626"/>
            <a:ext cx="427382" cy="10156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46855" y="4035861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1058520" y="1981938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3091070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44517" y="2927866"/>
            <a:ext cx="1242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提取模型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4959627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38983" y="3454799"/>
            <a:ext cx="1272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选取问题诊断模型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燕尾形 18"/>
          <p:cNvSpPr/>
          <p:nvPr/>
        </p:nvSpPr>
        <p:spPr>
          <a:xfrm>
            <a:off x="6828184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8696741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08737" y="3454798"/>
            <a:ext cx="11881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将分析结果控制下发通知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56683" y="3362467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50384" y="3387176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04" y="2024611"/>
            <a:ext cx="7399292" cy="355612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8876999" y="3430087"/>
            <a:ext cx="118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诊断建议通知下发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18646" y="3362465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137652" y="3962627"/>
            <a:ext cx="1311677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6331226" y="4712015"/>
            <a:ext cx="1237134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75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1" grpId="0" animBg="1"/>
      <p:bldP spid="6" grpId="0" animBg="1"/>
      <p:bldP spid="7" grpId="0" animBg="1"/>
      <p:bldP spid="8" grpId="0"/>
      <p:bldP spid="17" grpId="0" animBg="1"/>
      <p:bldP spid="13" grpId="0"/>
      <p:bldP spid="19" grpId="0" animBg="1"/>
      <p:bldP spid="20" grpId="0" animBg="1"/>
      <p:bldP spid="21" grpId="0"/>
      <p:bldP spid="22" grpId="0" animBg="1"/>
      <p:bldP spid="23" grpId="0" animBg="1"/>
      <p:bldP spid="26" grpId="0"/>
      <p:bldP spid="27" grpId="0" animBg="1"/>
      <p:bldP spid="28" grpId="0" animBg="1"/>
      <p:bldP spid="28" grpId="1" animBg="1"/>
      <p:bldP spid="29" grpId="0" animBg="1"/>
      <p:bldP spid="29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25259</TotalTime>
  <Words>1471</Words>
  <Application>Microsoft Office PowerPoint</Application>
  <PresentationFormat>宽屏</PresentationFormat>
  <Paragraphs>315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Lato Light</vt:lpstr>
      <vt:lpstr>华文行楷</vt:lpstr>
      <vt:lpstr>宋体</vt:lpstr>
      <vt:lpstr>微软雅黑</vt:lpstr>
      <vt:lpstr>Arial</vt:lpstr>
      <vt:lpstr>Calibri</vt:lpstr>
      <vt:lpstr>Harlow Solid Italic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cong x</cp:lastModifiedBy>
  <cp:revision>5587</cp:revision>
  <dcterms:created xsi:type="dcterms:W3CDTF">2015-05-05T08:02:00Z</dcterms:created>
  <dcterms:modified xsi:type="dcterms:W3CDTF">2018-04-12T10:09:25Z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