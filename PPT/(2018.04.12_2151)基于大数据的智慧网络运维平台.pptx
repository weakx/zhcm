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96" r:id="rId2"/>
    <p:sldId id="1169" r:id="rId3"/>
    <p:sldId id="1149" r:id="rId4"/>
    <p:sldId id="1170" r:id="rId5"/>
    <p:sldId id="1166" r:id="rId6"/>
    <p:sldId id="1167" r:id="rId7"/>
    <p:sldId id="1152" r:id="rId8"/>
    <p:sldId id="1171" r:id="rId9"/>
    <p:sldId id="1150" r:id="rId10"/>
    <p:sldId id="1180" r:id="rId11"/>
    <p:sldId id="1181" r:id="rId12"/>
    <p:sldId id="1179" r:id="rId13"/>
    <p:sldId id="1177" r:id="rId14"/>
    <p:sldId id="1178" r:id="rId15"/>
    <p:sldId id="1176" r:id="rId16"/>
    <p:sldId id="1154" r:id="rId17"/>
    <p:sldId id="1174" r:id="rId18"/>
    <p:sldId id="1172" r:id="rId19"/>
    <p:sldId id="1155" r:id="rId20"/>
    <p:sldId id="1153" r:id="rId21"/>
    <p:sldId id="1156" r:id="rId22"/>
    <p:sldId id="1159" r:id="rId23"/>
    <p:sldId id="1182" r:id="rId24"/>
    <p:sldId id="1183" r:id="rId25"/>
    <p:sldId id="1184" r:id="rId26"/>
    <p:sldId id="1185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8">
          <p15:clr>
            <a:srgbClr val="A4A3A4"/>
          </p15:clr>
        </p15:guide>
        <p15:guide id="2" pos="392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d" initials="h" lastIdx="1" clrIdx="0"/>
  <p:cmAuthor id="2" name="Lara Young" initials="LY" lastIdx="1" clrIdx="1"/>
  <p:cmAuthor id="3" name="邹立斌" initials="W用" lastIdx="3" clrIdx="2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C31F"/>
    <a:srgbClr val="CDE2A2"/>
    <a:srgbClr val="7F5732"/>
    <a:srgbClr val="F6F6F6"/>
    <a:srgbClr val="BCDB7A"/>
    <a:srgbClr val="0085D0"/>
    <a:srgbClr val="A9D18E"/>
    <a:srgbClr val="EFF3F2"/>
    <a:srgbClr val="0AFCFA"/>
    <a:srgbClr val="D916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2" autoAdjust="0"/>
    <p:restoredTop sz="92348" autoAdjust="0"/>
  </p:normalViewPr>
  <p:slideViewPr>
    <p:cSldViewPr snapToGrid="0">
      <p:cViewPr varScale="1">
        <p:scale>
          <a:sx n="106" d="100"/>
          <a:sy n="106" d="100"/>
        </p:scale>
        <p:origin x="324" y="96"/>
      </p:cViewPr>
      <p:guideLst>
        <p:guide orient="horz" pos="2058"/>
        <p:guide pos="39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pPr/>
              <a:t>2018/4/13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092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662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以上问题的存在，需要通过管理流程和工作流程上的改变来彻底解决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825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>
                <a:solidFill>
                  <a:schemeClr val="bg1"/>
                </a:solidFill>
              </a:rPr>
              <a:t>1</a:t>
            </a:r>
            <a:r>
              <a:rPr lang="zh-CN" altLang="en-US" dirty="0" smtClean="0">
                <a:solidFill>
                  <a:schemeClr val="bg1"/>
                </a:solidFill>
              </a:rPr>
              <a:t>、网络运维方法创新</a:t>
            </a:r>
            <a:endParaRPr lang="en-US" altLang="zh-CN" dirty="0" smtClean="0">
              <a:solidFill>
                <a:schemeClr val="bg1"/>
              </a:solidFill>
            </a:endParaRPr>
          </a:p>
          <a:p>
            <a:r>
              <a:rPr lang="en-US" altLang="zh-CN" dirty="0" smtClean="0"/>
              <a:t>2</a:t>
            </a:r>
            <a:r>
              <a:rPr lang="zh-CN" altLang="en-US" smtClean="0"/>
              <a:t>、盘活网络数据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1089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5616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788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85D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>
            <p:custDataLst>
              <p:tags r:id="rId1"/>
            </p:custDataLst>
          </p:nvPr>
        </p:nvSpPr>
        <p:spPr bwMode="auto">
          <a:xfrm>
            <a:off x="0" y="194906"/>
            <a:ext cx="219859" cy="622901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 userDrawn="1">
            <p:custDataLst>
              <p:tags r:id="rId2"/>
            </p:custDataLst>
          </p:nvPr>
        </p:nvSpPr>
        <p:spPr bwMode="auto">
          <a:xfrm>
            <a:off x="11661569" y="194905"/>
            <a:ext cx="530431" cy="622901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smGrid">
          <a:fgClr>
            <a:srgbClr val="F6F6F6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893" y="1717020"/>
            <a:ext cx="8770049" cy="2147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5400" b="1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基于大数据的智慧</a:t>
            </a:r>
            <a:endParaRPr lang="en-US" altLang="zh-CN" sz="5400" b="1" dirty="0" smtClean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5400" b="1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网络运维平台</a:t>
            </a:r>
            <a:endParaRPr lang="zh-CN" altLang="en-US" sz="5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3213847" y="4007060"/>
            <a:ext cx="5768788" cy="0"/>
          </a:xfrm>
          <a:prstGeom prst="line">
            <a:avLst/>
          </a:prstGeom>
          <a:ln w="63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</a:p>
        </p:txBody>
      </p:sp>
      <p:sp>
        <p:nvSpPr>
          <p:cNvPr id="3" name="Rectangle 35"/>
          <p:cNvSpPr>
            <a:spLocks noChangeArrowheads="1"/>
          </p:cNvSpPr>
          <p:nvPr/>
        </p:nvSpPr>
        <p:spPr bwMode="auto">
          <a:xfrm>
            <a:off x="3979314" y="1360679"/>
            <a:ext cx="3739324" cy="816994"/>
          </a:xfrm>
          <a:prstGeom prst="rect">
            <a:avLst/>
          </a:prstGeom>
          <a:solidFill>
            <a:srgbClr val="CC000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>
            <a:noAutofit/>
          </a:bodyPr>
          <a:lstStyle/>
          <a:p>
            <a:pPr defTabSz="800735" fontAlgn="base"/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一、建设背景</a:t>
            </a:r>
          </a:p>
        </p:txBody>
      </p:sp>
      <p:sp>
        <p:nvSpPr>
          <p:cNvPr id="4" name="Rectangle 35"/>
          <p:cNvSpPr>
            <a:spLocks noChangeArrowheads="1"/>
          </p:cNvSpPr>
          <p:nvPr/>
        </p:nvSpPr>
        <p:spPr bwMode="auto">
          <a:xfrm>
            <a:off x="3979314" y="2507159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二、建设目标</a:t>
            </a:r>
          </a:p>
        </p:txBody>
      </p:sp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3979314" y="3686658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三、计划与举措</a:t>
            </a:r>
            <a:endParaRPr lang="zh-CN" altLang="en-US" sz="2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Rectangle 35"/>
          <p:cNvSpPr>
            <a:spLocks noChangeArrowheads="1"/>
          </p:cNvSpPr>
          <p:nvPr/>
        </p:nvSpPr>
        <p:spPr bwMode="auto">
          <a:xfrm>
            <a:off x="3979314" y="4811878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四、应用场景</a:t>
            </a:r>
            <a:endParaRPr lang="zh-CN" altLang="en-US" sz="2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550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网络管理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工作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面临的痛点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10857" y="1161262"/>
            <a:ext cx="1011238" cy="1011238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618807" y="1269212"/>
            <a:ext cx="795338" cy="795338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TextBox 19"/>
          <p:cNvSpPr txBox="1">
            <a:spLocks noChangeArrowheads="1"/>
          </p:cNvSpPr>
          <p:nvPr/>
        </p:nvSpPr>
        <p:spPr bwMode="auto">
          <a:xfrm>
            <a:off x="799782" y="1327950"/>
            <a:ext cx="4699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 dirty="0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</a:t>
            </a:r>
            <a:endParaRPr lang="zh-CN" altLang="en-US" sz="4400" b="1" dirty="0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2154337" y="2206406"/>
            <a:ext cx="8570912" cy="0"/>
          </a:xfrm>
          <a:prstGeom prst="straightConnector1">
            <a:avLst/>
          </a:prstGeom>
          <a:ln w="28575">
            <a:solidFill>
              <a:srgbClr val="0098A8"/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2154335" y="1423257"/>
            <a:ext cx="14157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忙而无成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26"/>
          <p:cNvSpPr txBox="1"/>
          <p:nvPr/>
        </p:nvSpPr>
        <p:spPr>
          <a:xfrm>
            <a:off x="3770136" y="1304608"/>
            <a:ext cx="7251999" cy="932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基础维护做细坐实，需要投入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大量的时间和精力（约</a:t>
            </a:r>
            <a:r>
              <a:rPr lang="en-US" altLang="zh-CN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1/4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时间每人天）且存在疏漏可能，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每周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BSC APG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备份（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人天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周），指标通报（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1-2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小时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天），日测（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1-2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小时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天），局数据核对（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4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小时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周）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等；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536762" y="2526512"/>
            <a:ext cx="1009650" cy="1011238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643124" y="2634462"/>
            <a:ext cx="796925" cy="796925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8" name="TextBox 31"/>
          <p:cNvSpPr txBox="1">
            <a:spLocks noChangeArrowheads="1"/>
          </p:cNvSpPr>
          <p:nvPr/>
        </p:nvSpPr>
        <p:spPr bwMode="auto">
          <a:xfrm>
            <a:off x="824099" y="2693200"/>
            <a:ext cx="4699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 dirty="0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2</a:t>
            </a:r>
            <a:endParaRPr lang="zh-CN" altLang="en-US" sz="4400" b="1" dirty="0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2154337" y="3543081"/>
            <a:ext cx="8570912" cy="28575"/>
          </a:xfrm>
          <a:prstGeom prst="straightConnector1">
            <a:avLst/>
          </a:prstGeom>
          <a:ln w="28575">
            <a:solidFill>
              <a:srgbClr val="0098A8"/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33"/>
          <p:cNvSpPr txBox="1">
            <a:spLocks noChangeArrowheads="1"/>
          </p:cNvSpPr>
          <p:nvPr/>
        </p:nvSpPr>
        <p:spPr bwMode="auto">
          <a:xfrm>
            <a:off x="2154335" y="2662018"/>
            <a:ext cx="14157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专而不全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TextBox 34"/>
          <p:cNvSpPr txBox="1"/>
          <p:nvPr/>
        </p:nvSpPr>
        <p:spPr>
          <a:xfrm>
            <a:off x="3866454" y="4071299"/>
            <a:ext cx="5146675" cy="34509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无可视化手段，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信息传达和沟通效率低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574282" y="3880650"/>
            <a:ext cx="1011237" cy="1011237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682232" y="3988600"/>
            <a:ext cx="796925" cy="795337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4" name="TextBox 38"/>
          <p:cNvSpPr txBox="1">
            <a:spLocks noChangeArrowheads="1"/>
          </p:cNvSpPr>
          <p:nvPr/>
        </p:nvSpPr>
        <p:spPr bwMode="auto">
          <a:xfrm>
            <a:off x="822696" y="3988600"/>
            <a:ext cx="4699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3</a:t>
            </a:r>
            <a:endParaRPr lang="zh-CN" altLang="en-US" sz="4400" b="1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cxnSp>
        <p:nvCxnSpPr>
          <p:cNvPr id="25" name="直接箭头连接符 24"/>
          <p:cNvCxnSpPr/>
          <p:nvPr/>
        </p:nvCxnSpPr>
        <p:spPr>
          <a:xfrm>
            <a:off x="2154337" y="4882931"/>
            <a:ext cx="8719674" cy="53975"/>
          </a:xfrm>
          <a:prstGeom prst="straightConnector1">
            <a:avLst/>
          </a:prstGeom>
          <a:ln w="28575">
            <a:solidFill>
              <a:srgbClr val="0098A8"/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40"/>
          <p:cNvSpPr txBox="1">
            <a:spLocks noChangeArrowheads="1"/>
          </p:cNvSpPr>
          <p:nvPr/>
        </p:nvSpPr>
        <p:spPr bwMode="auto">
          <a:xfrm>
            <a:off x="2154336" y="4005699"/>
            <a:ext cx="14157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知而不显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571186" y="5263362"/>
            <a:ext cx="1011238" cy="1011238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679136" y="5369725"/>
            <a:ext cx="796925" cy="796925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0" name="TextBox 45"/>
          <p:cNvSpPr txBox="1">
            <a:spLocks noChangeArrowheads="1"/>
          </p:cNvSpPr>
          <p:nvPr/>
        </p:nvSpPr>
        <p:spPr bwMode="auto">
          <a:xfrm>
            <a:off x="819600" y="5371313"/>
            <a:ext cx="4699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4</a:t>
            </a:r>
            <a:endParaRPr lang="zh-CN" altLang="en-US" sz="4400" b="1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 flipV="1">
            <a:off x="2154337" y="6295806"/>
            <a:ext cx="8719674" cy="11112"/>
          </a:xfrm>
          <a:prstGeom prst="straightConnector1">
            <a:avLst/>
          </a:prstGeom>
          <a:ln w="28575">
            <a:solidFill>
              <a:srgbClr val="0098A8"/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47"/>
          <p:cNvSpPr txBox="1">
            <a:spLocks noChangeArrowheads="1"/>
          </p:cNvSpPr>
          <p:nvPr/>
        </p:nvSpPr>
        <p:spPr bwMode="auto">
          <a:xfrm>
            <a:off x="2121000" y="5397281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有心无力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42" name="TextBox 34"/>
          <p:cNvSpPr txBox="1"/>
          <p:nvPr/>
        </p:nvSpPr>
        <p:spPr>
          <a:xfrm>
            <a:off x="3788371" y="2510450"/>
            <a:ext cx="70448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专人专网维护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，专业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跨度大，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无法全程全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网，人员复用难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，如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城域网（陈朝勇）、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CDN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（林庆忠）、交换网（聂敏泉），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IMS\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互联互通（徐晓颖）、承载网（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陈熙东）等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cs typeface="Lato Light" charset="0"/>
              <a:sym typeface="Arial"/>
            </a:endParaRPr>
          </a:p>
        </p:txBody>
      </p:sp>
      <p:sp>
        <p:nvSpPr>
          <p:cNvPr id="33" name="TextBox 34"/>
          <p:cNvSpPr txBox="1"/>
          <p:nvPr/>
        </p:nvSpPr>
        <p:spPr>
          <a:xfrm>
            <a:off x="3817759" y="5507209"/>
            <a:ext cx="7074695" cy="345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故障、投诉发生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后才进行分析和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处理，想做到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先于故障发现问题、先于投诉解决问题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8820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</a:p>
        </p:txBody>
      </p:sp>
      <p:sp>
        <p:nvSpPr>
          <p:cNvPr id="3" name="Rectangle 35"/>
          <p:cNvSpPr>
            <a:spLocks noChangeArrowheads="1"/>
          </p:cNvSpPr>
          <p:nvPr/>
        </p:nvSpPr>
        <p:spPr bwMode="auto">
          <a:xfrm>
            <a:off x="3979314" y="1360679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一、建设背景</a:t>
            </a:r>
          </a:p>
        </p:txBody>
      </p:sp>
      <p:sp>
        <p:nvSpPr>
          <p:cNvPr id="4" name="Rectangle 35"/>
          <p:cNvSpPr>
            <a:spLocks noChangeArrowheads="1"/>
          </p:cNvSpPr>
          <p:nvPr/>
        </p:nvSpPr>
        <p:spPr bwMode="auto">
          <a:xfrm>
            <a:off x="3979314" y="2507159"/>
            <a:ext cx="3739324" cy="816994"/>
          </a:xfrm>
          <a:prstGeom prst="rect">
            <a:avLst/>
          </a:prstGeom>
          <a:solidFill>
            <a:srgbClr val="CC000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>
            <a:noAutofit/>
          </a:bodyPr>
          <a:lstStyle/>
          <a:p>
            <a:pPr defTabSz="800735" fontAlgn="base"/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二、建设目标</a:t>
            </a:r>
          </a:p>
        </p:txBody>
      </p:sp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3979314" y="3686658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三、计划与举措</a:t>
            </a:r>
            <a:endParaRPr lang="zh-CN" altLang="en-US" sz="2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Rectangle 35"/>
          <p:cNvSpPr>
            <a:spLocks noChangeArrowheads="1"/>
          </p:cNvSpPr>
          <p:nvPr/>
        </p:nvSpPr>
        <p:spPr bwMode="auto">
          <a:xfrm>
            <a:off x="3979314" y="4811878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四、应用场景</a:t>
            </a:r>
            <a:endParaRPr lang="zh-CN" altLang="en-US" sz="2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954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790" y="2294355"/>
            <a:ext cx="6673147" cy="233964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网络管理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工作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愿景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虚尾箭头 8"/>
          <p:cNvSpPr/>
          <p:nvPr/>
        </p:nvSpPr>
        <p:spPr>
          <a:xfrm>
            <a:off x="2440983" y="2854014"/>
            <a:ext cx="5656881" cy="581695"/>
          </a:xfrm>
          <a:prstGeom prst="stripedRightArrow">
            <a:avLst/>
          </a:prstGeom>
          <a:solidFill>
            <a:srgbClr val="8EC31F"/>
          </a:solidFill>
          <a:ln>
            <a:solidFill>
              <a:srgbClr val="FAFA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任务下发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虚尾箭头 9"/>
          <p:cNvSpPr/>
          <p:nvPr/>
        </p:nvSpPr>
        <p:spPr>
          <a:xfrm rot="10800000">
            <a:off x="2249107" y="3316636"/>
            <a:ext cx="5656881" cy="649806"/>
          </a:xfrm>
          <a:prstGeom prst="stripedRightArrow">
            <a:avLst/>
          </a:prstGeom>
          <a:solidFill>
            <a:srgbClr val="8EC31F"/>
          </a:solidFill>
          <a:ln>
            <a:solidFill>
              <a:srgbClr val="FAFA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758339" y="3466705"/>
            <a:ext cx="3022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决策建议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结果反馈、呈现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9426424" y="1217978"/>
            <a:ext cx="1441343" cy="382795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大脑系统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513051" y="1217978"/>
            <a:ext cx="1441343" cy="382795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需求角色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直角上箭头 19"/>
          <p:cNvSpPr/>
          <p:nvPr/>
        </p:nvSpPr>
        <p:spPr>
          <a:xfrm>
            <a:off x="7722230" y="5023767"/>
            <a:ext cx="3145538" cy="1431056"/>
          </a:xfrm>
          <a:prstGeom prst="bentUpArrow">
            <a:avLst>
              <a:gd name="adj1" fmla="val 9227"/>
              <a:gd name="adj2" fmla="val 13629"/>
              <a:gd name="adj3" fmla="val 14018"/>
            </a:avLst>
          </a:prstGeom>
          <a:solidFill>
            <a:srgbClr val="8EC3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7722230" y="5050643"/>
            <a:ext cx="2145896" cy="1178422"/>
            <a:chOff x="7722230" y="5050643"/>
            <a:chExt cx="2145896" cy="1178422"/>
          </a:xfrm>
          <a:solidFill>
            <a:srgbClr val="8EC31F"/>
          </a:solidFill>
        </p:grpSpPr>
        <p:sp>
          <p:nvSpPr>
            <p:cNvPr id="24" name="矩形 23"/>
            <p:cNvSpPr/>
            <p:nvPr/>
          </p:nvSpPr>
          <p:spPr>
            <a:xfrm>
              <a:off x="9701939" y="5050643"/>
              <a:ext cx="166187" cy="11050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左箭头 24"/>
            <p:cNvSpPr/>
            <p:nvPr/>
          </p:nvSpPr>
          <p:spPr>
            <a:xfrm>
              <a:off x="7722230" y="5905033"/>
              <a:ext cx="2064836" cy="324032"/>
            </a:xfrm>
            <a:prstGeom prst="lef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8506622" y="5646662"/>
            <a:ext cx="1576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任务下发</a:t>
            </a:r>
            <a:endParaRPr lang="zh-CN" altLang="en-US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0717898" y="5646662"/>
            <a:ext cx="1121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结果反馈</a:t>
            </a:r>
            <a:endParaRPr lang="zh-CN" altLang="en-US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4047832" y="5937420"/>
            <a:ext cx="1441343" cy="382795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执行系统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993" y="2130861"/>
            <a:ext cx="1237595" cy="23715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57" y="1639725"/>
            <a:ext cx="3085714" cy="320000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078" y="5327577"/>
            <a:ext cx="1095416" cy="1483929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591" y="5486400"/>
            <a:ext cx="983732" cy="133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701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大脑系统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- 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建设方案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946105"/>
            <a:ext cx="11986567" cy="527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410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1120457" y="1237462"/>
            <a:ext cx="983294" cy="985038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3" name="椭圆 2"/>
          <p:cNvSpPr/>
          <p:nvPr/>
        </p:nvSpPr>
        <p:spPr>
          <a:xfrm>
            <a:off x="1228407" y="1345412"/>
            <a:ext cx="773360" cy="774732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TextBox 19"/>
          <p:cNvSpPr txBox="1">
            <a:spLocks noChangeArrowheads="1"/>
          </p:cNvSpPr>
          <p:nvPr/>
        </p:nvSpPr>
        <p:spPr bwMode="auto">
          <a:xfrm>
            <a:off x="1409382" y="1404150"/>
            <a:ext cx="45691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 dirty="0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</a:t>
            </a:r>
            <a:endParaRPr lang="zh-CN" altLang="en-US" sz="4400" b="1" dirty="0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TextBox 25"/>
          <p:cNvSpPr txBox="1">
            <a:spLocks noChangeArrowheads="1"/>
          </p:cNvSpPr>
          <p:nvPr/>
        </p:nvSpPr>
        <p:spPr bwMode="auto">
          <a:xfrm>
            <a:off x="3041232" y="1499457"/>
            <a:ext cx="8002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自动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26"/>
          <p:cNvSpPr txBox="1"/>
          <p:nvPr/>
        </p:nvSpPr>
        <p:spPr>
          <a:xfrm>
            <a:off x="4297848" y="1506035"/>
            <a:ext cx="7589351" cy="73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数据获取全自动化、需求收集全自动化，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旨在将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重复、低效能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的工作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通过执行系统完成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146362" y="2602712"/>
            <a:ext cx="981750" cy="985038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9" name="椭圆 8"/>
          <p:cNvSpPr/>
          <p:nvPr/>
        </p:nvSpPr>
        <p:spPr>
          <a:xfrm>
            <a:off x="1252724" y="2710663"/>
            <a:ext cx="774903" cy="776278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TextBox 31"/>
          <p:cNvSpPr txBox="1">
            <a:spLocks noChangeArrowheads="1"/>
          </p:cNvSpPr>
          <p:nvPr/>
        </p:nvSpPr>
        <p:spPr bwMode="auto">
          <a:xfrm>
            <a:off x="1433699" y="2769400"/>
            <a:ext cx="45691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 dirty="0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2</a:t>
            </a:r>
            <a:endParaRPr lang="zh-CN" altLang="en-US" sz="4400" b="1" dirty="0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TextBox 33"/>
          <p:cNvSpPr txBox="1">
            <a:spLocks noChangeArrowheads="1"/>
          </p:cNvSpPr>
          <p:nvPr/>
        </p:nvSpPr>
        <p:spPr bwMode="auto">
          <a:xfrm>
            <a:off x="3056472" y="2738218"/>
            <a:ext cx="8002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可视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34"/>
          <p:cNvSpPr txBox="1"/>
          <p:nvPr/>
        </p:nvSpPr>
        <p:spPr>
          <a:xfrm>
            <a:off x="4379736" y="3946477"/>
            <a:ext cx="7074696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、初级智慧阶段：旨在采用简单机器学习，实现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性能、故障、投诉等预警、               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分析和修复 </a:t>
            </a:r>
            <a:r>
              <a:rPr lang="zh-CN" altLang="en-US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，消除专业壁垒，实现人员复用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、高级智慧阶段：旨在利用深度学习，实现网络</a:t>
            </a:r>
            <a:r>
              <a:rPr lang="zh-CN" altLang="en-US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自规划和优化</a:t>
            </a:r>
            <a:endParaRPr lang="en-US" altLang="zh-CN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1183882" y="3956850"/>
            <a:ext cx="983293" cy="985037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1291832" y="4064800"/>
            <a:ext cx="774903" cy="774731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TextBox 38"/>
          <p:cNvSpPr txBox="1">
            <a:spLocks noChangeArrowheads="1"/>
          </p:cNvSpPr>
          <p:nvPr/>
        </p:nvSpPr>
        <p:spPr bwMode="auto">
          <a:xfrm>
            <a:off x="1432296" y="4064800"/>
            <a:ext cx="45691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3</a:t>
            </a:r>
            <a:endParaRPr lang="zh-CN" altLang="en-US" sz="4400" b="1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TextBox 40"/>
          <p:cNvSpPr txBox="1">
            <a:spLocks noChangeArrowheads="1"/>
          </p:cNvSpPr>
          <p:nvPr/>
        </p:nvSpPr>
        <p:spPr bwMode="auto">
          <a:xfrm>
            <a:off x="3071713" y="4081899"/>
            <a:ext cx="8002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智慧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1180786" y="5339562"/>
            <a:ext cx="983294" cy="985038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288736" y="5445926"/>
            <a:ext cx="774903" cy="776278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1" name="TextBox 45"/>
          <p:cNvSpPr txBox="1">
            <a:spLocks noChangeArrowheads="1"/>
          </p:cNvSpPr>
          <p:nvPr/>
        </p:nvSpPr>
        <p:spPr bwMode="auto">
          <a:xfrm>
            <a:off x="1429200" y="5447513"/>
            <a:ext cx="45691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4</a:t>
            </a:r>
            <a:endParaRPr lang="zh-CN" altLang="en-US" sz="4400" b="1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3" name="TextBox 47"/>
          <p:cNvSpPr txBox="1">
            <a:spLocks noChangeArrowheads="1"/>
          </p:cNvSpPr>
          <p:nvPr/>
        </p:nvSpPr>
        <p:spPr bwMode="auto">
          <a:xfrm>
            <a:off x="3071713" y="5538781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无人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TextBox 34"/>
          <p:cNvSpPr txBox="1"/>
          <p:nvPr/>
        </p:nvSpPr>
        <p:spPr>
          <a:xfrm>
            <a:off x="4352439" y="2742104"/>
            <a:ext cx="65384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Arial"/>
              </a:rPr>
              <a:t>反馈结果可视化，旨在借助图形化手段、</a:t>
            </a:r>
            <a:r>
              <a:rPr lang="zh-CN" altLang="en-US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Arial"/>
              </a:rPr>
              <a:t>清晰有效地传达与沟通信息</a:t>
            </a:r>
            <a:endParaRPr lang="en-US" altLang="zh-CN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Light" charset="0"/>
              <a:sym typeface="Arial"/>
            </a:endParaRPr>
          </a:p>
        </p:txBody>
      </p:sp>
      <p:sp>
        <p:nvSpPr>
          <p:cNvPr id="25" name="TextBox 34"/>
          <p:cNvSpPr txBox="1"/>
          <p:nvPr/>
        </p:nvSpPr>
        <p:spPr>
          <a:xfrm>
            <a:off x="4379736" y="5584594"/>
            <a:ext cx="7074695" cy="41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旨在实现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大脑替代人脑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看网管网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56618" y="240325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大脑系统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- 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建设目标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3960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</a:p>
        </p:txBody>
      </p:sp>
      <p:sp>
        <p:nvSpPr>
          <p:cNvPr id="3" name="Rectangle 35"/>
          <p:cNvSpPr>
            <a:spLocks noChangeArrowheads="1"/>
          </p:cNvSpPr>
          <p:nvPr/>
        </p:nvSpPr>
        <p:spPr bwMode="auto">
          <a:xfrm>
            <a:off x="3979314" y="1360679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一、建设背景</a:t>
            </a:r>
          </a:p>
        </p:txBody>
      </p:sp>
      <p:sp>
        <p:nvSpPr>
          <p:cNvPr id="4" name="Rectangle 35"/>
          <p:cNvSpPr>
            <a:spLocks noChangeArrowheads="1"/>
          </p:cNvSpPr>
          <p:nvPr/>
        </p:nvSpPr>
        <p:spPr bwMode="auto">
          <a:xfrm>
            <a:off x="3979314" y="2507159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二、建设目标</a:t>
            </a:r>
          </a:p>
        </p:txBody>
      </p:sp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3979314" y="3686658"/>
            <a:ext cx="3739324" cy="816994"/>
          </a:xfrm>
          <a:prstGeom prst="rect">
            <a:avLst/>
          </a:prstGeom>
          <a:solidFill>
            <a:srgbClr val="CC000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>
            <a:noAutofit/>
          </a:bodyPr>
          <a:lstStyle/>
          <a:p>
            <a:pPr defTabSz="800735" fontAlgn="base"/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三、计划与举措</a:t>
            </a:r>
          </a:p>
        </p:txBody>
      </p:sp>
      <p:sp>
        <p:nvSpPr>
          <p:cNvPr id="6" name="Rectangle 35"/>
          <p:cNvSpPr>
            <a:spLocks noChangeArrowheads="1"/>
          </p:cNvSpPr>
          <p:nvPr/>
        </p:nvSpPr>
        <p:spPr bwMode="auto">
          <a:xfrm>
            <a:off x="3979314" y="4811878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四、应用场景</a:t>
            </a:r>
            <a:endParaRPr lang="zh-CN" altLang="en-US" sz="2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865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71751" y="228824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大脑系统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-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建设</a:t>
            </a:r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计划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74" y="1052338"/>
            <a:ext cx="10935851" cy="540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707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53440" y="30480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n-ea"/>
                <a:cs typeface="+mn-ea"/>
              </a:rPr>
              <a:t>可视化呈现</a:t>
            </a:r>
            <a:r>
              <a:rPr lang="zh-CN" altLang="en-US" sz="2800" b="1" dirty="0" smtClean="0">
                <a:latin typeface="+mn-ea"/>
                <a:cs typeface="+mn-ea"/>
              </a:rPr>
              <a:t>的需求</a:t>
            </a:r>
            <a:endParaRPr lang="zh-CN" altLang="en-US" sz="2800" b="1" dirty="0">
              <a:latin typeface="+mn-ea"/>
              <a:cs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884230" y="4168196"/>
            <a:ext cx="4135570" cy="175325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  <a:latin typeface="+mn-ea"/>
                <a:cs typeface="+mn-ea"/>
              </a:rPr>
              <a:t>城域网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弱光链路；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  <a:latin typeface="+mn-ea"/>
                <a:cs typeface="+mn-ea"/>
              </a:rPr>
              <a:t>设备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异常性能信息，每天遗留重要</a:t>
            </a:r>
            <a:r>
              <a:rPr lang="zh-CN" altLang="en-US" sz="1600" dirty="0" smtClean="0">
                <a:solidFill>
                  <a:schemeClr val="tx1"/>
                </a:solidFill>
                <a:latin typeface="+mn-ea"/>
                <a:cs typeface="+mn-ea"/>
              </a:rPr>
              <a:t>告警</a:t>
            </a:r>
            <a:endParaRPr lang="zh-CN" altLang="en-US" sz="1600" dirty="0">
              <a:solidFill>
                <a:schemeClr val="tx1"/>
              </a:solidFill>
              <a:latin typeface="+mn-ea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  <a:latin typeface="+mn-ea"/>
                <a:cs typeface="+mn-ea"/>
              </a:rPr>
              <a:t>城域网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昨日链路超门限条数，超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cs typeface="+mn-ea"/>
              </a:rPr>
              <a:t>70%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多少条，超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cs typeface="+mn-ea"/>
              </a:rPr>
              <a:t>60%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多少条，超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cs typeface="+mn-ea"/>
              </a:rPr>
              <a:t>50%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多少条。</a:t>
            </a:r>
            <a:endParaRPr lang="en-US" altLang="zh-CN" sz="1600" dirty="0" smtClean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7431850" y="2547902"/>
            <a:ext cx="3885496" cy="148377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 smtClean="0">
                <a:solidFill>
                  <a:schemeClr val="tx1"/>
                </a:solidFill>
                <a:latin typeface="+mn-ea"/>
                <a:cs typeface="+mn-ea"/>
              </a:rPr>
              <a:t>Volte</a:t>
            </a:r>
            <a:r>
              <a:rPr lang="zh-CN" altLang="en-US" sz="1600" dirty="0" smtClean="0">
                <a:solidFill>
                  <a:schemeClr val="tx1"/>
                </a:solidFill>
                <a:latin typeface="+mn-ea"/>
                <a:cs typeface="+mn-ea"/>
              </a:rPr>
              <a:t>每天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粒度的指标情况；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 smtClean="0">
                <a:solidFill>
                  <a:schemeClr val="tx1"/>
                </a:solidFill>
                <a:latin typeface="+mn-ea"/>
                <a:cs typeface="+mn-ea"/>
              </a:rPr>
              <a:t>30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分钟粒度的</a:t>
            </a:r>
            <a:r>
              <a:rPr lang="en-US" altLang="zh-CN" sz="1600" dirty="0" err="1">
                <a:solidFill>
                  <a:schemeClr val="tx1"/>
                </a:solidFill>
                <a:latin typeface="+mn-ea"/>
                <a:cs typeface="+mn-ea"/>
              </a:rPr>
              <a:t>VOlte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接通、注册，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cs typeface="+mn-ea"/>
              </a:rPr>
              <a:t>CAUSE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粒度监测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 smtClean="0">
                <a:solidFill>
                  <a:schemeClr val="tx1"/>
                </a:solidFill>
                <a:latin typeface="+mn-ea"/>
                <a:cs typeface="+mn-ea"/>
              </a:rPr>
              <a:t>Volte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开户、注册、通话用户数</a:t>
            </a:r>
            <a:endParaRPr lang="en-US" altLang="zh-CN" sz="1600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7431850" y="4168196"/>
            <a:ext cx="3885496" cy="180109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  <a:latin typeface="+mn-ea"/>
                <a:cs typeface="+mn-ea"/>
              </a:rPr>
              <a:t>家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宽、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cs typeface="+mn-ea"/>
              </a:rPr>
              <a:t>IPTV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昨日在线峰值用户数，环比增长情况。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  <a:latin typeface="+mn-ea"/>
                <a:cs typeface="+mn-ea"/>
              </a:rPr>
              <a:t>互联网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出口昨日峰值，环比增长情况。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  <a:latin typeface="+mn-ea"/>
                <a:cs typeface="+mn-ea"/>
              </a:rPr>
              <a:t>家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宽指标昨日情况，是否有不达标指标，不达标指标多少项。</a:t>
            </a:r>
            <a:endParaRPr lang="en-US" altLang="zh-CN" sz="1600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999924" y="1300945"/>
            <a:ext cx="2343224" cy="6286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b="1" dirty="0" smtClean="0">
                <a:latin typeface="+mn-ea"/>
                <a:cs typeface="+mn-ea"/>
              </a:rPr>
              <a:t>关注工作信息的呈现</a:t>
            </a:r>
            <a:endParaRPr lang="zh-CN" altLang="en-US" b="1" dirty="0">
              <a:latin typeface="+mn-ea"/>
              <a:cs typeface="+mn-ea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1674753" y="1397248"/>
            <a:ext cx="400236" cy="43604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  <a:latin typeface="Harlow Solid Italic" pitchFamily="82" charset="0"/>
                <a:cs typeface="+mn-ea"/>
              </a:rPr>
              <a:t>1</a:t>
            </a:r>
            <a:endParaRPr lang="zh-CN" altLang="en-US" sz="2400" dirty="0">
              <a:solidFill>
                <a:schemeClr val="tx1"/>
              </a:solidFill>
              <a:latin typeface="Harlow Solid Italic" pitchFamily="82" charset="0"/>
              <a:cs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045870" y="1300945"/>
            <a:ext cx="2331720" cy="629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b="1" dirty="0">
                <a:latin typeface="+mn-ea"/>
                <a:cs typeface="+mn-ea"/>
              </a:rPr>
              <a:t>今天工作</a:t>
            </a:r>
            <a:r>
              <a:rPr lang="zh-CN" altLang="en-US" b="1" dirty="0" smtClean="0">
                <a:latin typeface="+mn-ea"/>
                <a:cs typeface="+mn-ea"/>
              </a:rPr>
              <a:t>重点的呈现</a:t>
            </a:r>
            <a:endParaRPr lang="zh-CN" altLang="en-US" b="1" dirty="0">
              <a:latin typeface="+mn-ea"/>
              <a:cs typeface="+mn-ea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4758798" y="1412488"/>
            <a:ext cx="400236" cy="43604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  <a:latin typeface="Harlow Solid Italic" pitchFamily="82" charset="0"/>
                <a:cs typeface="+mn-ea"/>
              </a:rPr>
              <a:t>2</a:t>
            </a:r>
            <a:endParaRPr lang="zh-CN" altLang="en-US" sz="2400" dirty="0">
              <a:solidFill>
                <a:schemeClr val="tx1"/>
              </a:solidFill>
              <a:latin typeface="Harlow Solid Italic" pitchFamily="82" charset="0"/>
              <a:cs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111883" y="1300944"/>
            <a:ext cx="2611537" cy="6286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2000" b="1" dirty="0" smtClean="0">
                <a:latin typeface="+mn-ea"/>
                <a:cs typeface="+mn-ea"/>
              </a:rPr>
              <a:t>遗留工作跟踪的呈现</a:t>
            </a:r>
            <a:endParaRPr lang="zh-CN" altLang="en-US" sz="2000" b="1" dirty="0">
              <a:latin typeface="+mn-ea"/>
              <a:cs typeface="+mn-ea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7835567" y="1397248"/>
            <a:ext cx="400236" cy="43604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  <a:latin typeface="Harlow Solid Italic" pitchFamily="82" charset="0"/>
                <a:cs typeface="+mn-ea"/>
              </a:rPr>
              <a:t>3</a:t>
            </a:r>
            <a:endParaRPr lang="zh-CN" altLang="en-US" sz="2400" dirty="0">
              <a:solidFill>
                <a:schemeClr val="tx1"/>
              </a:solidFill>
              <a:latin typeface="Harlow Solid Italic" pitchFamily="82" charset="0"/>
              <a:cs typeface="+mn-ea"/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H="1">
            <a:off x="6192735" y="3408230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25396" y="290489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+mn-ea"/>
                <a:cs typeface="+mn-ea"/>
              </a:rPr>
              <a:t>张燕</a:t>
            </a:r>
            <a:endParaRPr lang="zh-CN" altLang="en-US" sz="2000" b="1" dirty="0">
              <a:latin typeface="+mn-ea"/>
              <a:cs typeface="+mn-ea"/>
            </a:endParaRPr>
          </a:p>
        </p:txBody>
      </p:sp>
      <p:cxnSp>
        <p:nvCxnSpPr>
          <p:cNvPr id="31" name="直接连接符 30"/>
          <p:cNvCxnSpPr/>
          <p:nvPr/>
        </p:nvCxnSpPr>
        <p:spPr>
          <a:xfrm flipH="1">
            <a:off x="655647" y="5347925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63613" y="484459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+mn-ea"/>
                <a:cs typeface="+mn-ea"/>
              </a:rPr>
              <a:t>陈朝勇</a:t>
            </a:r>
            <a:endParaRPr lang="zh-CN" altLang="en-US" sz="2000" b="1" dirty="0">
              <a:latin typeface="+mn-ea"/>
              <a:cs typeface="+mn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 flipH="1">
            <a:off x="6195815" y="5345837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276071" y="4842506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+mn-ea"/>
                <a:cs typeface="+mn-ea"/>
              </a:rPr>
              <a:t>林庆忠</a:t>
            </a:r>
            <a:endParaRPr lang="zh-CN" altLang="en-US" sz="2000" b="1" dirty="0">
              <a:latin typeface="+mn-ea"/>
              <a:cs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886128" y="2547902"/>
            <a:ext cx="4133671" cy="14478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  <a:latin typeface="+mn-ea"/>
                <a:cs typeface="+mn-ea"/>
              </a:rPr>
              <a:t>各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专业的性能指标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  <a:latin typeface="+mn-ea"/>
                <a:cs typeface="+mn-ea"/>
              </a:rPr>
              <a:t>前一天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工程完成情况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  <a:latin typeface="+mn-ea"/>
                <a:cs typeface="+mn-ea"/>
              </a:rPr>
              <a:t>网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元运行情况：告警、负荷、用户数</a:t>
            </a:r>
            <a:endParaRPr lang="en-US" altLang="zh-CN" sz="1600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cxnSp>
        <p:nvCxnSpPr>
          <p:cNvPr id="35" name="直接连接符 34"/>
          <p:cNvCxnSpPr/>
          <p:nvPr/>
        </p:nvCxnSpPr>
        <p:spPr>
          <a:xfrm flipH="1">
            <a:off x="650094" y="3422176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85770" y="291884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+mn-ea"/>
                <a:cs typeface="+mn-ea"/>
              </a:rPr>
              <a:t>赵业祯</a:t>
            </a:r>
            <a:endParaRPr lang="zh-CN" altLang="en-US" sz="2000" b="1" dirty="0">
              <a:latin typeface="+mn-ea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00178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53440" y="30480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可视化呈现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的需求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3048025" y="1012730"/>
            <a:ext cx="7107382" cy="177203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核心网网络结构图，接口名称：</a:t>
            </a:r>
            <a:r>
              <a:rPr lang="en-US" altLang="zh-CN" sz="1600" dirty="0" smtClean="0">
                <a:solidFill>
                  <a:schemeClr val="tx1"/>
                </a:solidFill>
              </a:rPr>
              <a:t>A</a:t>
            </a:r>
            <a:r>
              <a:rPr lang="zh-CN" altLang="en-US" sz="1600" dirty="0" smtClean="0">
                <a:solidFill>
                  <a:schemeClr val="tx1"/>
                </a:solidFill>
              </a:rPr>
              <a:t>口，设备节点所在机房。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设备责任人及基础信息显示，结合对应的负责维护人员，维护所对应的维护指令。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设备状态显示：结构图上显示网络的连通性。某个节点故障，出现红色，连接线红色。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3048025" y="2964872"/>
            <a:ext cx="7107382" cy="1565527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 smtClean="0">
                <a:solidFill>
                  <a:schemeClr val="tx1"/>
                </a:solidFill>
              </a:rPr>
              <a:t>4g</a:t>
            </a:r>
            <a:r>
              <a:rPr lang="zh-CN" altLang="en-US" sz="1600" dirty="0">
                <a:solidFill>
                  <a:schemeClr val="tx1"/>
                </a:solidFill>
              </a:rPr>
              <a:t>业务指标日情况 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十五分钟</a:t>
            </a:r>
            <a:r>
              <a:rPr lang="zh-CN" altLang="en-US" sz="1600" dirty="0">
                <a:solidFill>
                  <a:schemeClr val="tx1"/>
                </a:solidFill>
              </a:rPr>
              <a:t>粒度八家物联网客户在线用户数监控</a:t>
            </a:r>
            <a:r>
              <a:rPr lang="zh-CN" altLang="en-US" sz="1600" dirty="0" smtClean="0">
                <a:solidFill>
                  <a:schemeClr val="tx1"/>
                </a:solidFill>
              </a:rPr>
              <a:t>情况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 err="1" smtClean="0">
                <a:solidFill>
                  <a:schemeClr val="tx1"/>
                </a:solidFill>
              </a:rPr>
              <a:t>ip</a:t>
            </a:r>
            <a:r>
              <a:rPr lang="zh-CN" altLang="en-US" sz="1600" dirty="0">
                <a:solidFill>
                  <a:schemeClr val="tx1"/>
                </a:solidFill>
              </a:rPr>
              <a:t>承载网在用端口在线率以及呈现链路利用率最高的</a:t>
            </a:r>
            <a:r>
              <a:rPr lang="zh-CN" altLang="en-US" sz="1600" dirty="0" smtClean="0">
                <a:solidFill>
                  <a:schemeClr val="tx1"/>
                </a:solidFill>
              </a:rPr>
              <a:t>端口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048024" y="4649605"/>
            <a:ext cx="7107383" cy="173736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 smtClean="0">
                <a:solidFill>
                  <a:schemeClr val="tx1"/>
                </a:solidFill>
              </a:rPr>
              <a:t>IMS</a:t>
            </a:r>
            <a:r>
              <a:rPr lang="zh-CN" altLang="en-US" sz="1600" dirty="0">
                <a:solidFill>
                  <a:schemeClr val="tx1"/>
                </a:solidFill>
              </a:rPr>
              <a:t>、关口局设备网管连接状态、活动告警（严重、重要等级）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本地</a:t>
            </a:r>
            <a:r>
              <a:rPr lang="zh-CN" altLang="en-US" sz="1600" dirty="0">
                <a:solidFill>
                  <a:schemeClr val="tx1"/>
                </a:solidFill>
              </a:rPr>
              <a:t>、长途、互联互通电路数量、各中继群利用率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 smtClean="0">
                <a:solidFill>
                  <a:schemeClr val="tx1"/>
                </a:solidFill>
              </a:rPr>
              <a:t>IMS</a:t>
            </a:r>
            <a:r>
              <a:rPr lang="zh-CN" altLang="en-US" sz="1600" dirty="0">
                <a:solidFill>
                  <a:schemeClr val="tx1"/>
                </a:solidFill>
              </a:rPr>
              <a:t>语音专线质量预警：</a:t>
            </a:r>
            <a:r>
              <a:rPr lang="en-US" altLang="zh-CN" sz="1600" dirty="0">
                <a:solidFill>
                  <a:schemeClr val="tx1"/>
                </a:solidFill>
              </a:rPr>
              <a:t>E1</a:t>
            </a:r>
            <a:r>
              <a:rPr lang="zh-CN" altLang="en-US" sz="1600" dirty="0">
                <a:solidFill>
                  <a:schemeClr val="tx1"/>
                </a:solidFill>
              </a:rPr>
              <a:t>接入链路利用率（按劣化程度排序）、</a:t>
            </a:r>
            <a:r>
              <a:rPr lang="en-US" altLang="zh-CN" sz="1600" dirty="0">
                <a:solidFill>
                  <a:schemeClr val="tx1"/>
                </a:solidFill>
              </a:rPr>
              <a:t>IP</a:t>
            </a:r>
            <a:r>
              <a:rPr lang="zh-CN" altLang="en-US" sz="1600" dirty="0">
                <a:solidFill>
                  <a:schemeClr val="tx1"/>
                </a:solidFill>
              </a:rPr>
              <a:t>接入用户数变化趋势（按接入网元）</a:t>
            </a:r>
          </a:p>
        </p:txBody>
      </p:sp>
      <p:cxnSp>
        <p:nvCxnSpPr>
          <p:cNvPr id="28" name="直接连接符 27"/>
          <p:cNvCxnSpPr/>
          <p:nvPr/>
        </p:nvCxnSpPr>
        <p:spPr>
          <a:xfrm flipH="1">
            <a:off x="1841624" y="2022821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971683" y="1387903"/>
            <a:ext cx="954108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聂敏泉</a:t>
            </a:r>
          </a:p>
        </p:txBody>
      </p:sp>
      <p:sp>
        <p:nvSpPr>
          <p:cNvPr id="7" name="矩形 6"/>
          <p:cNvSpPr/>
          <p:nvPr/>
        </p:nvSpPr>
        <p:spPr>
          <a:xfrm flipH="1">
            <a:off x="1883189" y="3230505"/>
            <a:ext cx="1084167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陈熙东</a:t>
            </a:r>
          </a:p>
        </p:txBody>
      </p:sp>
      <p:cxnSp>
        <p:nvCxnSpPr>
          <p:cNvPr id="30" name="直接连接符 29"/>
          <p:cNvCxnSpPr/>
          <p:nvPr/>
        </p:nvCxnSpPr>
        <p:spPr>
          <a:xfrm flipH="1">
            <a:off x="1841624" y="3821519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 flipH="1">
            <a:off x="1897044" y="5116490"/>
            <a:ext cx="1113127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徐晓颖</a:t>
            </a:r>
          </a:p>
        </p:txBody>
      </p:sp>
      <p:cxnSp>
        <p:nvCxnSpPr>
          <p:cNvPr id="31" name="直接连接符 30"/>
          <p:cNvCxnSpPr/>
          <p:nvPr/>
        </p:nvCxnSpPr>
        <p:spPr>
          <a:xfrm flipH="1">
            <a:off x="1822610" y="5707451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1760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53440" y="30480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自动化的需求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42160" y="1143000"/>
            <a:ext cx="3886200" cy="111252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dirty="0" smtClean="0">
                <a:solidFill>
                  <a:schemeClr val="tx1"/>
                </a:solidFill>
              </a:rPr>
              <a:t>考核</a:t>
            </a:r>
            <a:r>
              <a:rPr lang="zh-CN" altLang="zh-CN" sz="1600" dirty="0">
                <a:solidFill>
                  <a:schemeClr val="tx1"/>
                </a:solidFill>
              </a:rPr>
              <a:t>指标自动获取（实时监控</a:t>
            </a:r>
            <a:r>
              <a:rPr lang="zh-CN" altLang="zh-CN" sz="1600" dirty="0" smtClean="0">
                <a:solidFill>
                  <a:schemeClr val="tx1"/>
                </a:solidFill>
              </a:rPr>
              <a:t>）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dirty="0" smtClean="0">
                <a:solidFill>
                  <a:schemeClr val="tx1"/>
                </a:solidFill>
              </a:rPr>
              <a:t>考核</a:t>
            </a:r>
            <a:r>
              <a:rPr lang="zh-CN" altLang="zh-CN" sz="1600" dirty="0">
                <a:solidFill>
                  <a:schemeClr val="tx1"/>
                </a:solidFill>
              </a:rPr>
              <a:t>指标</a:t>
            </a:r>
            <a:r>
              <a:rPr lang="en-US" altLang="zh-CN" sz="1600" dirty="0">
                <a:solidFill>
                  <a:schemeClr val="tx1"/>
                </a:solidFill>
              </a:rPr>
              <a:t>CAUSE</a:t>
            </a:r>
            <a:r>
              <a:rPr lang="zh-CN" altLang="zh-CN" sz="1600" dirty="0">
                <a:solidFill>
                  <a:schemeClr val="tx1"/>
                </a:solidFill>
              </a:rPr>
              <a:t>码粒度自动</a:t>
            </a:r>
            <a:r>
              <a:rPr lang="zh-CN" altLang="zh-CN" sz="1600" dirty="0" smtClean="0">
                <a:solidFill>
                  <a:schemeClr val="tx1"/>
                </a:solidFill>
              </a:rPr>
              <a:t>分析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dirty="0">
                <a:solidFill>
                  <a:schemeClr val="tx1"/>
                </a:solidFill>
              </a:rPr>
              <a:t>指标分析报告自动</a:t>
            </a:r>
            <a:r>
              <a:rPr lang="zh-CN" altLang="zh-CN" sz="1600" dirty="0" smtClean="0">
                <a:solidFill>
                  <a:schemeClr val="tx1"/>
                </a:solidFill>
              </a:rPr>
              <a:t>撰写</a:t>
            </a:r>
            <a:endParaRPr lang="en-US" altLang="zh-CN" sz="1600" dirty="0" smtClean="0">
              <a:solidFill>
                <a:schemeClr val="tx1"/>
              </a:solidFill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057400" y="3688080"/>
            <a:ext cx="3870960" cy="176784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solidFill>
                  <a:schemeClr val="tx1"/>
                </a:solidFill>
              </a:rPr>
              <a:t>CPU\</a:t>
            </a:r>
            <a:r>
              <a:rPr lang="zh-CN" altLang="zh-CN" sz="1600" dirty="0">
                <a:solidFill>
                  <a:schemeClr val="tx1"/>
                </a:solidFill>
              </a:rPr>
              <a:t>内存</a:t>
            </a:r>
            <a:r>
              <a:rPr lang="en-US" altLang="zh-CN" sz="1600" dirty="0">
                <a:solidFill>
                  <a:schemeClr val="tx1"/>
                </a:solidFill>
              </a:rPr>
              <a:t>\</a:t>
            </a:r>
            <a:r>
              <a:rPr lang="zh-CN" altLang="zh-CN" sz="1600" dirty="0">
                <a:solidFill>
                  <a:schemeClr val="tx1"/>
                </a:solidFill>
              </a:rPr>
              <a:t>上联带宽利用率峰值</a:t>
            </a:r>
            <a:r>
              <a:rPr lang="en-US" altLang="zh-CN" sz="1600" dirty="0">
                <a:solidFill>
                  <a:schemeClr val="tx1"/>
                </a:solidFill>
              </a:rPr>
              <a:t>CPU\</a:t>
            </a:r>
            <a:r>
              <a:rPr lang="zh-CN" altLang="zh-CN" sz="1600" dirty="0">
                <a:solidFill>
                  <a:schemeClr val="tx1"/>
                </a:solidFill>
              </a:rPr>
              <a:t>内存</a:t>
            </a:r>
            <a:r>
              <a:rPr lang="en-US" altLang="zh-CN" sz="1600" dirty="0">
                <a:solidFill>
                  <a:schemeClr val="tx1"/>
                </a:solidFill>
              </a:rPr>
              <a:t>\</a:t>
            </a:r>
            <a:r>
              <a:rPr lang="zh-CN" altLang="zh-CN" sz="1600" dirty="0">
                <a:solidFill>
                  <a:schemeClr val="tx1"/>
                </a:solidFill>
              </a:rPr>
              <a:t>上联带宽利用率峰值</a:t>
            </a:r>
            <a:r>
              <a:rPr lang="zh-CN" altLang="en-US" sz="1600" dirty="0">
                <a:solidFill>
                  <a:schemeClr val="tx1"/>
                </a:solidFill>
              </a:rPr>
              <a:t>自动</a:t>
            </a:r>
            <a:r>
              <a:rPr lang="zh-CN" altLang="en-US" sz="1600" dirty="0" smtClean="0">
                <a:solidFill>
                  <a:schemeClr val="tx1"/>
                </a:solidFill>
              </a:rPr>
              <a:t>输出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dirty="0" smtClean="0">
                <a:solidFill>
                  <a:schemeClr val="tx1"/>
                </a:solidFill>
              </a:rPr>
              <a:t>自动</a:t>
            </a:r>
            <a:r>
              <a:rPr lang="zh-CN" altLang="zh-CN" sz="1600" dirty="0">
                <a:solidFill>
                  <a:schemeClr val="tx1"/>
                </a:solidFill>
              </a:rPr>
              <a:t>日</a:t>
            </a:r>
            <a:r>
              <a:rPr lang="zh-CN" altLang="zh-CN" sz="1600" dirty="0" smtClean="0">
                <a:solidFill>
                  <a:schemeClr val="tx1"/>
                </a:solidFill>
              </a:rPr>
              <a:t>测</a:t>
            </a:r>
            <a:r>
              <a:rPr lang="zh-CN" altLang="en-US" sz="1600" dirty="0" smtClean="0">
                <a:solidFill>
                  <a:schemeClr val="tx1"/>
                </a:solidFill>
              </a:rPr>
              <a:t>，</a:t>
            </a:r>
            <a:r>
              <a:rPr lang="zh-CN" altLang="zh-CN" sz="1600" dirty="0">
                <a:solidFill>
                  <a:schemeClr val="tx1"/>
                </a:solidFill>
              </a:rPr>
              <a:t>如：设备板卡</a:t>
            </a:r>
            <a:r>
              <a:rPr lang="zh-CN" altLang="zh-CN" sz="1600" dirty="0" smtClean="0">
                <a:solidFill>
                  <a:schemeClr val="tx1"/>
                </a:solidFill>
              </a:rPr>
              <a:t>检测</a:t>
            </a:r>
            <a:r>
              <a:rPr lang="zh-CN" altLang="en-US" sz="1600" dirty="0">
                <a:solidFill>
                  <a:schemeClr val="tx1"/>
                </a:solidFill>
              </a:rPr>
              <a:t>和</a:t>
            </a:r>
            <a:r>
              <a:rPr lang="zh-CN" altLang="zh-CN" sz="1600" dirty="0" smtClean="0">
                <a:solidFill>
                  <a:schemeClr val="tx1"/>
                </a:solidFill>
              </a:rPr>
              <a:t>端口</a:t>
            </a:r>
            <a:r>
              <a:rPr lang="zh-CN" altLang="zh-CN" sz="1600" dirty="0">
                <a:solidFill>
                  <a:schemeClr val="tx1"/>
                </a:solidFill>
              </a:rPr>
              <a:t>流量自动</a:t>
            </a:r>
            <a:r>
              <a:rPr lang="zh-CN" altLang="zh-CN" sz="1600" dirty="0" smtClean="0">
                <a:solidFill>
                  <a:schemeClr val="tx1"/>
                </a:solidFill>
              </a:rPr>
              <a:t>核查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设备</a:t>
            </a:r>
            <a:r>
              <a:rPr lang="zh-CN" altLang="en-US" sz="1600" dirty="0">
                <a:solidFill>
                  <a:schemeClr val="tx1"/>
                </a:solidFill>
              </a:rPr>
              <a:t>配置备份（每月）</a:t>
            </a:r>
            <a:endParaRPr lang="en-US" altLang="zh-CN" sz="1600" dirty="0" smtClean="0">
              <a:solidFill>
                <a:schemeClr val="tx1"/>
              </a:solidFill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7376160" y="1127760"/>
            <a:ext cx="3962400" cy="112776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solidFill>
                  <a:schemeClr val="tx1"/>
                </a:solidFill>
              </a:rPr>
              <a:t>SBC/UMG</a:t>
            </a:r>
            <a:r>
              <a:rPr lang="zh-CN" altLang="en-US" sz="1600" dirty="0">
                <a:solidFill>
                  <a:schemeClr val="tx1"/>
                </a:solidFill>
              </a:rPr>
              <a:t>日测、周测、月测、季</a:t>
            </a:r>
            <a:r>
              <a:rPr lang="zh-CN" altLang="en-US" sz="1600" dirty="0" smtClean="0">
                <a:solidFill>
                  <a:schemeClr val="tx1"/>
                </a:solidFill>
              </a:rPr>
              <a:t>测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每有</a:t>
            </a:r>
            <a:r>
              <a:rPr lang="zh-CN" altLang="zh-CN" sz="1600" dirty="0" smtClean="0">
                <a:solidFill>
                  <a:schemeClr val="tx1"/>
                </a:solidFill>
              </a:rPr>
              <a:t>每月</a:t>
            </a:r>
            <a:r>
              <a:rPr lang="zh-CN" altLang="zh-CN" sz="1600" dirty="0">
                <a:solidFill>
                  <a:schemeClr val="tx1"/>
                </a:solidFill>
              </a:rPr>
              <a:t>网络质量分析报告数据</a:t>
            </a:r>
            <a:r>
              <a:rPr lang="zh-CN" altLang="zh-CN" sz="1600" dirty="0" smtClean="0">
                <a:solidFill>
                  <a:schemeClr val="tx1"/>
                </a:solidFill>
              </a:rPr>
              <a:t>生成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 smtClean="0">
                <a:solidFill>
                  <a:schemeClr val="tx1"/>
                </a:solidFill>
              </a:rPr>
              <a:t>IMS</a:t>
            </a:r>
            <a:r>
              <a:rPr lang="zh-CN" altLang="zh-CN" sz="1600" dirty="0">
                <a:solidFill>
                  <a:schemeClr val="tx1"/>
                </a:solidFill>
              </a:rPr>
              <a:t>配对</a:t>
            </a:r>
            <a:r>
              <a:rPr lang="en-US" altLang="zh-CN" sz="1600" dirty="0">
                <a:solidFill>
                  <a:schemeClr val="tx1"/>
                </a:solidFill>
              </a:rPr>
              <a:t>CE/FW</a:t>
            </a:r>
            <a:r>
              <a:rPr lang="zh-CN" altLang="zh-CN" sz="1600" dirty="0">
                <a:solidFill>
                  <a:schemeClr val="tx1"/>
                </a:solidFill>
              </a:rPr>
              <a:t>设备</a:t>
            </a:r>
            <a:r>
              <a:rPr lang="zh-CN" altLang="en-US" sz="1600" dirty="0">
                <a:solidFill>
                  <a:schemeClr val="tx1"/>
                </a:solidFill>
              </a:rPr>
              <a:t>每日</a:t>
            </a:r>
            <a:r>
              <a:rPr lang="zh-CN" altLang="zh-CN" sz="1600" dirty="0" smtClean="0">
                <a:solidFill>
                  <a:schemeClr val="tx1"/>
                </a:solidFill>
              </a:rPr>
              <a:t>检查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7376160" y="3688080"/>
            <a:ext cx="3962400" cy="179832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自动</a:t>
            </a:r>
            <a:r>
              <a:rPr lang="zh-CN" altLang="en-US" sz="1600" dirty="0">
                <a:solidFill>
                  <a:schemeClr val="tx1"/>
                </a:solidFill>
              </a:rPr>
              <a:t>备份（</a:t>
            </a:r>
            <a:r>
              <a:rPr lang="en-US" altLang="zh-CN" sz="1600" dirty="0">
                <a:solidFill>
                  <a:schemeClr val="tx1"/>
                </a:solidFill>
              </a:rPr>
              <a:t>BSC</a:t>
            </a:r>
            <a:r>
              <a:rPr lang="zh-CN" altLang="en-US" sz="1600" dirty="0">
                <a:solidFill>
                  <a:schemeClr val="tx1"/>
                </a:solidFill>
              </a:rPr>
              <a:t>的</a:t>
            </a:r>
            <a:r>
              <a:rPr lang="en-US" altLang="zh-CN" sz="1600" dirty="0">
                <a:solidFill>
                  <a:schemeClr val="tx1"/>
                </a:solidFill>
              </a:rPr>
              <a:t>APG</a:t>
            </a:r>
            <a:r>
              <a:rPr lang="zh-CN" altLang="en-US" sz="1600" dirty="0">
                <a:solidFill>
                  <a:schemeClr val="tx1"/>
                </a:solidFill>
              </a:rPr>
              <a:t>，</a:t>
            </a:r>
            <a:r>
              <a:rPr lang="en-US" altLang="zh-CN" sz="1600" dirty="0">
                <a:solidFill>
                  <a:schemeClr val="tx1"/>
                </a:solidFill>
              </a:rPr>
              <a:t>ALOG</a:t>
            </a:r>
            <a:r>
              <a:rPr lang="zh-CN" altLang="en-US" sz="1600" dirty="0">
                <a:solidFill>
                  <a:schemeClr val="tx1"/>
                </a:solidFill>
              </a:rPr>
              <a:t>，</a:t>
            </a:r>
            <a:r>
              <a:rPr lang="en-US" altLang="zh-CN" sz="1600" dirty="0">
                <a:solidFill>
                  <a:schemeClr val="tx1"/>
                </a:solidFill>
              </a:rPr>
              <a:t>CLOG</a:t>
            </a:r>
            <a:r>
              <a:rPr lang="zh-CN" altLang="en-US" sz="1600" dirty="0">
                <a:solidFill>
                  <a:schemeClr val="tx1"/>
                </a:solidFill>
              </a:rPr>
              <a:t>等）；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日</a:t>
            </a:r>
            <a:r>
              <a:rPr lang="zh-CN" altLang="en-US" sz="1600" dirty="0">
                <a:solidFill>
                  <a:schemeClr val="tx1"/>
                </a:solidFill>
              </a:rPr>
              <a:t>测；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告警</a:t>
            </a:r>
            <a:r>
              <a:rPr lang="zh-CN" altLang="en-US" sz="1600" dirty="0">
                <a:solidFill>
                  <a:schemeClr val="tx1"/>
                </a:solidFill>
              </a:rPr>
              <a:t>处理；</a:t>
            </a:r>
          </a:p>
        </p:txBody>
      </p:sp>
      <p:sp>
        <p:nvSpPr>
          <p:cNvPr id="68" name="矩形 67"/>
          <p:cNvSpPr/>
          <p:nvPr/>
        </p:nvSpPr>
        <p:spPr>
          <a:xfrm>
            <a:off x="7376160" y="2438400"/>
            <a:ext cx="3962400" cy="111252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dirty="0" smtClean="0">
                <a:solidFill>
                  <a:schemeClr val="tx1"/>
                </a:solidFill>
              </a:rPr>
              <a:t>指标</a:t>
            </a:r>
            <a:r>
              <a:rPr lang="zh-CN" altLang="zh-CN" sz="1600" dirty="0">
                <a:solidFill>
                  <a:schemeClr val="tx1"/>
                </a:solidFill>
              </a:rPr>
              <a:t>报表每日自动</a:t>
            </a:r>
            <a:r>
              <a:rPr lang="zh-CN" altLang="en-US" sz="1600" dirty="0" smtClean="0">
                <a:solidFill>
                  <a:schemeClr val="tx1"/>
                </a:solidFill>
              </a:rPr>
              <a:t>呈现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dirty="0" smtClean="0">
                <a:solidFill>
                  <a:schemeClr val="tx1"/>
                </a:solidFill>
              </a:rPr>
              <a:t>城域网</a:t>
            </a:r>
            <a:r>
              <a:rPr lang="zh-CN" altLang="zh-CN" sz="1600" dirty="0">
                <a:solidFill>
                  <a:schemeClr val="tx1"/>
                </a:solidFill>
              </a:rPr>
              <a:t>拓扑链路自动</a:t>
            </a:r>
            <a:r>
              <a:rPr lang="zh-CN" altLang="zh-CN" sz="1600" dirty="0" smtClean="0">
                <a:solidFill>
                  <a:schemeClr val="tx1"/>
                </a:solidFill>
              </a:rPr>
              <a:t>关联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dirty="0">
                <a:solidFill>
                  <a:schemeClr val="tx1"/>
                </a:solidFill>
              </a:rPr>
              <a:t>投诉自动定位和</a:t>
            </a:r>
            <a:r>
              <a:rPr lang="zh-CN" altLang="zh-CN" sz="1600" dirty="0" smtClean="0">
                <a:solidFill>
                  <a:schemeClr val="tx1"/>
                </a:solidFill>
              </a:rPr>
              <a:t>处理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057400" y="2438400"/>
            <a:ext cx="3870960" cy="111252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设备</a:t>
            </a:r>
            <a:r>
              <a:rPr lang="zh-CN" altLang="en-US" sz="1600" dirty="0">
                <a:solidFill>
                  <a:schemeClr val="tx1"/>
                </a:solidFill>
              </a:rPr>
              <a:t>配置、操作日志自动</a:t>
            </a:r>
            <a:r>
              <a:rPr lang="zh-CN" altLang="en-US" sz="1600" dirty="0" smtClean="0">
                <a:solidFill>
                  <a:schemeClr val="tx1"/>
                </a:solidFill>
              </a:rPr>
              <a:t>备份（每天）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系统配置</a:t>
            </a:r>
            <a:r>
              <a:rPr lang="zh-CN" altLang="en-US" sz="1600" dirty="0">
                <a:solidFill>
                  <a:schemeClr val="tx1"/>
                </a:solidFill>
              </a:rPr>
              <a:t>局数据自动</a:t>
            </a:r>
            <a:r>
              <a:rPr lang="zh-CN" altLang="en-US" sz="1600" dirty="0" smtClean="0">
                <a:solidFill>
                  <a:schemeClr val="tx1"/>
                </a:solidFill>
              </a:rPr>
              <a:t>核对（每周）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chemeClr val="tx1"/>
                </a:solidFill>
              </a:rPr>
              <a:t>端口</a:t>
            </a:r>
            <a:r>
              <a:rPr lang="zh-CN" altLang="en-US" sz="1600" dirty="0">
                <a:solidFill>
                  <a:schemeClr val="tx1"/>
                </a:solidFill>
              </a:rPr>
              <a:t>流量（链路利用率）自动</a:t>
            </a:r>
            <a:r>
              <a:rPr lang="zh-CN" altLang="en-US" sz="1600" dirty="0" smtClean="0">
                <a:solidFill>
                  <a:schemeClr val="tx1"/>
                </a:solidFill>
              </a:rPr>
              <a:t>核查</a:t>
            </a:r>
            <a:endParaRPr lang="en-US" altLang="zh-CN" sz="1600" dirty="0" smtClean="0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508070" y="5958840"/>
            <a:ext cx="1821180" cy="62865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性能指标自动化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182898" y="6055143"/>
            <a:ext cx="400236" cy="43604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  <a:latin typeface="Harlow Solid Italic" pitchFamily="82" charset="0"/>
              </a:rPr>
              <a:t>1</a:t>
            </a:r>
            <a:endParaRPr lang="zh-CN" altLang="en-US" sz="2400" dirty="0">
              <a:solidFill>
                <a:schemeClr val="tx1"/>
              </a:solidFill>
              <a:latin typeface="Harlow Solid Italic" pitchFamily="82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847410" y="5958840"/>
            <a:ext cx="1981200" cy="62970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例行测试自动化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560338" y="6070383"/>
            <a:ext cx="400236" cy="43604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  <a:latin typeface="Harlow Solid Italic" pitchFamily="82" charset="0"/>
              </a:rPr>
              <a:t>2</a:t>
            </a:r>
            <a:endParaRPr lang="zh-CN" altLang="en-US" sz="2400" dirty="0">
              <a:solidFill>
                <a:schemeClr val="tx1"/>
              </a:solidFill>
              <a:latin typeface="Harlow Solid Italic" pitchFamily="82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407730" y="5958839"/>
            <a:ext cx="1920240" cy="62865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数据备份自动化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6131412" y="6055143"/>
            <a:ext cx="400236" cy="43604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  <a:latin typeface="Harlow Solid Italic" pitchFamily="82" charset="0"/>
              </a:rPr>
              <a:t>3</a:t>
            </a:r>
            <a:endParaRPr lang="zh-CN" altLang="en-US" sz="2400" dirty="0">
              <a:solidFill>
                <a:schemeClr val="tx1"/>
              </a:solidFill>
              <a:latin typeface="Harlow Solid Italic" pitchFamily="82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914710" y="5951220"/>
            <a:ext cx="1943100" cy="63627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50000"/>
              </a:lnSpc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例行核查自动化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8646012" y="6085623"/>
            <a:ext cx="400236" cy="43604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Harlow Solid Italic" pitchFamily="82" charset="0"/>
              </a:rPr>
              <a:t>4</a:t>
            </a:r>
            <a:endParaRPr lang="zh-CN" altLang="en-US" sz="2400" dirty="0">
              <a:solidFill>
                <a:schemeClr val="tx1"/>
              </a:solidFill>
              <a:latin typeface="Harlow Solid Italic" pitchFamily="82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 flipH="1">
            <a:off x="817667" y="1859640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50328" y="135630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张燕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H="1">
            <a:off x="852076" y="3162300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60042" y="2658969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陈朝勇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 flipH="1">
            <a:off x="895005" y="4102906"/>
            <a:ext cx="1084167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陈熙东</a:t>
            </a:r>
          </a:p>
        </p:txBody>
      </p:sp>
      <p:cxnSp>
        <p:nvCxnSpPr>
          <p:cNvPr id="33" name="直接连接符 32"/>
          <p:cNvCxnSpPr/>
          <p:nvPr/>
        </p:nvCxnSpPr>
        <p:spPr>
          <a:xfrm flipH="1">
            <a:off x="853440" y="4693920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 flipH="1">
            <a:off x="6192980" y="1323475"/>
            <a:ext cx="1113127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徐晓颖</a:t>
            </a:r>
          </a:p>
        </p:txBody>
      </p:sp>
      <p:cxnSp>
        <p:nvCxnSpPr>
          <p:cNvPr id="35" name="直接连接符 34"/>
          <p:cNvCxnSpPr/>
          <p:nvPr/>
        </p:nvCxnSpPr>
        <p:spPr>
          <a:xfrm flipH="1">
            <a:off x="6173966" y="1914436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H="1">
            <a:off x="6163084" y="3235791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298760" y="273246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林庆忠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8" name="直接连接符 37"/>
          <p:cNvCxnSpPr/>
          <p:nvPr/>
        </p:nvCxnSpPr>
        <p:spPr>
          <a:xfrm flipH="1">
            <a:off x="6162813" y="4693920"/>
            <a:ext cx="1205324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6292872" y="4059002"/>
            <a:ext cx="954108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聂敏泉</a:t>
            </a:r>
          </a:p>
        </p:txBody>
      </p:sp>
    </p:spTree>
    <p:extLst>
      <p:ext uri="{BB962C8B-B14F-4D97-AF65-F5344CB8AC3E}">
        <p14:creationId xmlns:p14="http://schemas.microsoft.com/office/powerpoint/2010/main" val="2783677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346960" y="1076682"/>
            <a:ext cx="5055408" cy="433351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4632960" y="5791200"/>
            <a:ext cx="2769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网络数据化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042454" y="2590800"/>
            <a:ext cx="3722421" cy="2819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501041" y="3962400"/>
            <a:ext cx="2761210" cy="1447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自动化需求</a:t>
            </a:r>
            <a:endParaRPr lang="en-US" altLang="zh-CN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涉及数据</a:t>
            </a:r>
            <a:endParaRPr lang="en-US" altLang="zh-CN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 dirty="0" smtClean="0">
                <a:solidFill>
                  <a:schemeClr val="tx1"/>
                </a:solidFill>
                <a:latin typeface="+mn-ea"/>
              </a:rPr>
              <a:t>如</a:t>
            </a:r>
            <a:r>
              <a:rPr lang="en-US" altLang="zh-CN" sz="1600" dirty="0" smtClean="0">
                <a:solidFill>
                  <a:schemeClr val="tx1"/>
                </a:solidFill>
                <a:latin typeface="+mn-ea"/>
              </a:rPr>
              <a:t>MIB</a:t>
            </a:r>
            <a:r>
              <a:rPr lang="zh-CN" altLang="en-US" sz="1600" dirty="0" smtClean="0">
                <a:solidFill>
                  <a:schemeClr val="tx1"/>
                </a:solidFill>
                <a:latin typeface="+mn-ea"/>
              </a:rPr>
              <a:t>信息、配置文件、系统日志、指令查询结果等</a:t>
            </a:r>
            <a:endParaRPr lang="zh-CN" altLang="en-US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3298990" y="2990782"/>
            <a:ext cx="3289221" cy="649188"/>
          </a:xfrm>
          <a:prstGeom prst="ellipse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业务网全数据库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2610014" y="1619000"/>
            <a:ext cx="4587597" cy="649188"/>
          </a:xfrm>
          <a:prstGeom prst="ellipse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支撑网及环境全数据库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7466195" y="1076682"/>
            <a:ext cx="3108960" cy="4333518"/>
            <a:chOff x="6705600" y="1076682"/>
            <a:chExt cx="3108960" cy="4333518"/>
          </a:xfrm>
        </p:grpSpPr>
        <p:sp>
          <p:nvSpPr>
            <p:cNvPr id="6" name="矩形 5"/>
            <p:cNvSpPr/>
            <p:nvPr/>
          </p:nvSpPr>
          <p:spPr>
            <a:xfrm>
              <a:off x="6705600" y="1076682"/>
              <a:ext cx="3108960" cy="433351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7398305" y="1296967"/>
              <a:ext cx="172355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全专业知识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库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8444105" y="3631168"/>
              <a:ext cx="133882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初级知识库</a:t>
              </a:r>
              <a:endParaRPr lang="zh-CN" alt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8444105" y="2833450"/>
              <a:ext cx="133882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/>
                <a:t>中</a:t>
              </a:r>
              <a:r>
                <a:rPr lang="zh-CN" altLang="en-US" dirty="0" smtClean="0"/>
                <a:t>级知识库</a:t>
              </a:r>
              <a:endParaRPr lang="zh-CN" alt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8444105" y="2071450"/>
              <a:ext cx="133882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高级知识库</a:t>
              </a:r>
              <a:endParaRPr lang="zh-CN" altLang="en-US" dirty="0"/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8444105" y="4404360"/>
              <a:ext cx="130949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/>
            <p:cNvSpPr/>
            <p:nvPr/>
          </p:nvSpPr>
          <p:spPr>
            <a:xfrm>
              <a:off x="8551873" y="4560808"/>
              <a:ext cx="8771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分级别</a:t>
              </a:r>
              <a:endParaRPr lang="zh-CN" altLang="en-US" dirty="0"/>
            </a:p>
          </p:txBody>
        </p:sp>
        <p:sp>
          <p:nvSpPr>
            <p:cNvPr id="16" name="矩形 15"/>
            <p:cNvSpPr/>
            <p:nvPr/>
          </p:nvSpPr>
          <p:spPr>
            <a:xfrm>
              <a:off x="7137828" y="3783568"/>
              <a:ext cx="1053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 smtClean="0"/>
                <a:t>IP</a:t>
              </a:r>
              <a:r>
                <a:rPr lang="zh-CN" altLang="en-US" dirty="0" smtClean="0"/>
                <a:t>城域网</a:t>
              </a:r>
              <a:endParaRPr lang="zh-CN" altLang="en-US" dirty="0"/>
            </a:p>
          </p:txBody>
        </p:sp>
        <p:sp>
          <p:nvSpPr>
            <p:cNvPr id="17" name="矩形 16"/>
            <p:cNvSpPr/>
            <p:nvPr/>
          </p:nvSpPr>
          <p:spPr>
            <a:xfrm>
              <a:off x="7120458" y="2833450"/>
              <a:ext cx="87716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核心网</a:t>
              </a:r>
              <a:endParaRPr lang="zh-CN" altLang="en-US" dirty="0"/>
            </a:p>
          </p:txBody>
        </p:sp>
        <p:sp>
          <p:nvSpPr>
            <p:cNvPr id="18" name="矩形 17"/>
            <p:cNvSpPr/>
            <p:nvPr/>
          </p:nvSpPr>
          <p:spPr>
            <a:xfrm>
              <a:off x="7118168" y="1888570"/>
              <a:ext cx="87716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无线网</a:t>
              </a:r>
              <a:endParaRPr lang="zh-CN" altLang="en-US" dirty="0"/>
            </a:p>
          </p:txBody>
        </p:sp>
        <p:cxnSp>
          <p:nvCxnSpPr>
            <p:cNvPr id="19" name="直接连接符 18"/>
            <p:cNvCxnSpPr/>
            <p:nvPr/>
          </p:nvCxnSpPr>
          <p:spPr>
            <a:xfrm>
              <a:off x="6858000" y="4419600"/>
              <a:ext cx="130949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/>
            <p:cNvSpPr/>
            <p:nvPr/>
          </p:nvSpPr>
          <p:spPr>
            <a:xfrm>
              <a:off x="7088833" y="4576048"/>
              <a:ext cx="8771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分专业</a:t>
              </a:r>
              <a:endParaRPr lang="zh-CN" altLang="en-US" dirty="0"/>
            </a:p>
          </p:txBody>
        </p:sp>
        <p:sp>
          <p:nvSpPr>
            <p:cNvPr id="21" name="矩形 20"/>
            <p:cNvSpPr/>
            <p:nvPr/>
          </p:nvSpPr>
          <p:spPr>
            <a:xfrm>
              <a:off x="7118167" y="2345770"/>
              <a:ext cx="8771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 smtClean="0"/>
                <a:t>动力网</a:t>
              </a:r>
              <a:endParaRPr lang="zh-CN" altLang="en-US" dirty="0"/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6781800" y="1734087"/>
              <a:ext cx="506870" cy="584775"/>
              <a:chOff x="1289755" y="241012"/>
              <a:chExt cx="506870" cy="584775"/>
            </a:xfrm>
          </p:grpSpPr>
          <p:sp>
            <p:nvSpPr>
              <p:cNvPr id="22" name="矩形 21"/>
              <p:cNvSpPr/>
              <p:nvPr/>
            </p:nvSpPr>
            <p:spPr>
              <a:xfrm>
                <a:off x="1356360" y="411480"/>
                <a:ext cx="259080" cy="27432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1289755" y="241012"/>
                <a:ext cx="5068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dirty="0" smtClean="0">
                    <a:sym typeface="Wingdings"/>
                  </a:rPr>
                  <a:t></a:t>
                </a:r>
                <a:endParaRPr lang="zh-CN" altLang="en-US" sz="3200" dirty="0"/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6781800" y="2221767"/>
              <a:ext cx="506870" cy="584775"/>
              <a:chOff x="1289755" y="241012"/>
              <a:chExt cx="506870" cy="584775"/>
            </a:xfrm>
          </p:grpSpPr>
          <p:sp>
            <p:nvSpPr>
              <p:cNvPr id="26" name="矩形 25"/>
              <p:cNvSpPr/>
              <p:nvPr/>
            </p:nvSpPr>
            <p:spPr>
              <a:xfrm>
                <a:off x="1356360" y="411480"/>
                <a:ext cx="259080" cy="27432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1289755" y="241012"/>
                <a:ext cx="5068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dirty="0" smtClean="0">
                    <a:sym typeface="Wingdings"/>
                  </a:rPr>
                  <a:t></a:t>
                </a:r>
                <a:endParaRPr lang="zh-CN" altLang="en-US" sz="3200" dirty="0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6781800" y="2694207"/>
              <a:ext cx="506870" cy="584775"/>
              <a:chOff x="1289755" y="241012"/>
              <a:chExt cx="506870" cy="584775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1356360" y="411480"/>
                <a:ext cx="259080" cy="27432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1289755" y="241012"/>
                <a:ext cx="5068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dirty="0" smtClean="0">
                    <a:sym typeface="Wingdings"/>
                  </a:rPr>
                  <a:t></a:t>
                </a:r>
                <a:endParaRPr lang="zh-CN" altLang="en-US" sz="3200" dirty="0"/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6781800" y="3623847"/>
              <a:ext cx="506870" cy="584775"/>
              <a:chOff x="1289755" y="241012"/>
              <a:chExt cx="506870" cy="584775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1356360" y="411480"/>
                <a:ext cx="259080" cy="27432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1289755" y="241012"/>
                <a:ext cx="5068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dirty="0" smtClean="0">
                    <a:sym typeface="Wingdings"/>
                  </a:rPr>
                  <a:t></a:t>
                </a:r>
                <a:endParaRPr lang="zh-CN" altLang="en-US" sz="3200" dirty="0"/>
              </a:p>
            </p:txBody>
          </p:sp>
        </p:grpSp>
        <p:sp>
          <p:nvSpPr>
            <p:cNvPr id="34" name="矩形 33"/>
            <p:cNvSpPr/>
            <p:nvPr/>
          </p:nvSpPr>
          <p:spPr>
            <a:xfrm>
              <a:off x="7137828" y="3326368"/>
              <a:ext cx="1053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 smtClean="0"/>
                <a:t>IP</a:t>
              </a:r>
              <a:r>
                <a:rPr lang="zh-CN" altLang="en-US" dirty="0"/>
                <a:t>承载</a:t>
              </a:r>
              <a:r>
                <a:rPr lang="zh-CN" altLang="en-US" dirty="0" smtClean="0"/>
                <a:t>网</a:t>
              </a:r>
              <a:endParaRPr lang="zh-CN" altLang="en-US" dirty="0"/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6781800" y="3166647"/>
              <a:ext cx="506870" cy="584775"/>
              <a:chOff x="1289755" y="241012"/>
              <a:chExt cx="506870" cy="584775"/>
            </a:xfrm>
          </p:grpSpPr>
          <p:sp>
            <p:nvSpPr>
              <p:cNvPr id="36" name="矩形 35"/>
              <p:cNvSpPr/>
              <p:nvPr/>
            </p:nvSpPr>
            <p:spPr>
              <a:xfrm>
                <a:off x="1356360" y="411480"/>
                <a:ext cx="259080" cy="27432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1289755" y="241012"/>
                <a:ext cx="5068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dirty="0" smtClean="0">
                    <a:sym typeface="Wingdings"/>
                  </a:rPr>
                  <a:t></a:t>
                </a:r>
                <a:endParaRPr lang="zh-CN" altLang="en-US" sz="3200" dirty="0"/>
              </a:p>
            </p:txBody>
          </p:sp>
        </p:grpSp>
        <p:sp>
          <p:nvSpPr>
            <p:cNvPr id="38" name="椭圆 37"/>
            <p:cNvSpPr/>
            <p:nvPr/>
          </p:nvSpPr>
          <p:spPr>
            <a:xfrm>
              <a:off x="8304654" y="2145566"/>
              <a:ext cx="200411" cy="18674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椭圆 39"/>
            <p:cNvSpPr/>
            <p:nvPr/>
          </p:nvSpPr>
          <p:spPr>
            <a:xfrm>
              <a:off x="8304654" y="2892326"/>
              <a:ext cx="200411" cy="18674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椭圆 40"/>
            <p:cNvSpPr/>
            <p:nvPr/>
          </p:nvSpPr>
          <p:spPr>
            <a:xfrm>
              <a:off x="8304654" y="3715286"/>
              <a:ext cx="200411" cy="18674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45275" y="1888570"/>
            <a:ext cx="96012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zh-CN" altLang="en-US" sz="4800" b="1" i="1" dirty="0" smtClean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zh-CN" altLang="en-US" sz="4800" b="1" i="1" dirty="0" smtClean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</a:t>
            </a:r>
            <a:endParaRPr lang="zh-CN" altLang="en-US" sz="4000" b="1" i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2724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组合 80"/>
          <p:cNvGrpSpPr/>
          <p:nvPr/>
        </p:nvGrpSpPr>
        <p:grpSpPr>
          <a:xfrm>
            <a:off x="701040" y="579120"/>
            <a:ext cx="8595360" cy="5516880"/>
            <a:chOff x="701040" y="579120"/>
            <a:chExt cx="8595360" cy="5516880"/>
          </a:xfrm>
        </p:grpSpPr>
        <p:sp>
          <p:nvSpPr>
            <p:cNvPr id="69" name="矩形 68"/>
            <p:cNvSpPr/>
            <p:nvPr/>
          </p:nvSpPr>
          <p:spPr>
            <a:xfrm>
              <a:off x="701040" y="579120"/>
              <a:ext cx="8595360" cy="55168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TextBox 1"/>
            <p:cNvSpPr txBox="1"/>
            <p:nvPr/>
          </p:nvSpPr>
          <p:spPr>
            <a:xfrm flipH="1">
              <a:off x="782770" y="5547360"/>
              <a:ext cx="37592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CN" altLang="en-US" sz="28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自动化工作逻辑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1007043" y="1714500"/>
              <a:ext cx="1582553" cy="1082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网元对象</a:t>
              </a:r>
              <a:endParaRPr lang="en-US" altLang="zh-CN" dirty="0" smtClean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执行周期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1005840" y="918210"/>
              <a:ext cx="1582553" cy="7315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定制任务</a:t>
              </a:r>
              <a:endPara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4206240" y="918210"/>
              <a:ext cx="1582553" cy="7315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任务执行</a:t>
              </a:r>
              <a:endPara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3" name="直接箭头连接符 42"/>
            <p:cNvCxnSpPr>
              <a:stCxn id="38" idx="3"/>
              <a:endCxn id="41" idx="1"/>
            </p:cNvCxnSpPr>
            <p:nvPr/>
          </p:nvCxnSpPr>
          <p:spPr>
            <a:xfrm>
              <a:off x="2588393" y="1283970"/>
              <a:ext cx="161784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矩形 43"/>
            <p:cNvSpPr/>
            <p:nvPr/>
          </p:nvSpPr>
          <p:spPr>
            <a:xfrm>
              <a:off x="4206239" y="1737360"/>
              <a:ext cx="1582553" cy="1059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数据采集</a:t>
              </a:r>
              <a:endParaRPr lang="en-US" altLang="zh-CN" dirty="0" smtClean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数据入库</a:t>
              </a:r>
              <a:endParaRPr lang="en-US" altLang="zh-CN" dirty="0" smtClean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检查判断</a:t>
              </a:r>
              <a:endParaRPr lang="en-US" altLang="zh-CN" dirty="0" smtClean="0">
                <a:solidFill>
                  <a:schemeClr val="tx1"/>
                </a:solidFill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7467600" y="918210"/>
              <a:ext cx="1582553" cy="7315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结果呈现</a:t>
              </a:r>
              <a:endPara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6" name="直接箭头连接符 45"/>
            <p:cNvCxnSpPr>
              <a:stCxn id="41" idx="3"/>
              <a:endCxn id="45" idx="1"/>
            </p:cNvCxnSpPr>
            <p:nvPr/>
          </p:nvCxnSpPr>
          <p:spPr>
            <a:xfrm>
              <a:off x="5788793" y="1283970"/>
              <a:ext cx="167880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矩形 46"/>
            <p:cNvSpPr/>
            <p:nvPr/>
          </p:nvSpPr>
          <p:spPr>
            <a:xfrm>
              <a:off x="7467599" y="1752600"/>
              <a:ext cx="1582553" cy="10591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检查记录</a:t>
              </a:r>
              <a:endParaRPr lang="en-US" altLang="zh-CN" dirty="0" smtClean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 smtClean="0">
                  <a:solidFill>
                    <a:schemeClr val="tx1"/>
                  </a:solidFill>
                </a:rPr>
                <a:t>详细报告</a:t>
              </a:r>
              <a:endParaRPr lang="en-US" altLang="zh-CN" dirty="0" smtClean="0">
                <a:solidFill>
                  <a:schemeClr val="tx1"/>
                </a:solidFill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 flipH="1">
              <a:off x="2734376" y="901035"/>
              <a:ext cx="11975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/>
                <a:t>条件触发</a:t>
              </a:r>
              <a:endParaRPr lang="zh-CN" altLang="en-US" b="1" dirty="0"/>
            </a:p>
          </p:txBody>
        </p:sp>
        <p:sp>
          <p:nvSpPr>
            <p:cNvPr id="49" name="TextBox 48"/>
            <p:cNvSpPr txBox="1"/>
            <p:nvPr/>
          </p:nvSpPr>
          <p:spPr>
            <a:xfrm flipH="1">
              <a:off x="6026216" y="931515"/>
              <a:ext cx="11975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/>
                <a:t>任务完成</a:t>
              </a:r>
              <a:endParaRPr lang="zh-CN" altLang="en-US" b="1" dirty="0"/>
            </a:p>
          </p:txBody>
        </p:sp>
        <p:grpSp>
          <p:nvGrpSpPr>
            <p:cNvPr id="67" name="组合 66"/>
            <p:cNvGrpSpPr/>
            <p:nvPr/>
          </p:nvGrpSpPr>
          <p:grpSpPr>
            <a:xfrm>
              <a:off x="1705996" y="3718560"/>
              <a:ext cx="4618603" cy="1139552"/>
              <a:chOff x="3169037" y="4527416"/>
              <a:chExt cx="4104456" cy="864096"/>
            </a:xfrm>
          </p:grpSpPr>
          <p:sp>
            <p:nvSpPr>
              <p:cNvPr id="50" name="椭圆 49"/>
              <p:cNvSpPr/>
              <p:nvPr/>
            </p:nvSpPr>
            <p:spPr>
              <a:xfrm>
                <a:off x="3169037" y="4527416"/>
                <a:ext cx="576064" cy="86409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数据源</a:t>
                </a:r>
                <a:endPara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椭圆 50"/>
              <p:cNvSpPr/>
              <p:nvPr/>
            </p:nvSpPr>
            <p:spPr>
              <a:xfrm>
                <a:off x="4969237" y="4527416"/>
                <a:ext cx="576064" cy="86409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临时库</a:t>
                </a:r>
                <a:endPara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椭圆 51"/>
              <p:cNvSpPr/>
              <p:nvPr/>
            </p:nvSpPr>
            <p:spPr>
              <a:xfrm>
                <a:off x="4033133" y="4527416"/>
                <a:ext cx="576064" cy="86409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采集接口</a:t>
                </a:r>
                <a:endPara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椭圆 52"/>
              <p:cNvSpPr/>
              <p:nvPr/>
            </p:nvSpPr>
            <p:spPr>
              <a:xfrm>
                <a:off x="5833333" y="4527416"/>
                <a:ext cx="576064" cy="86409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数据处理</a:t>
                </a:r>
                <a:endPara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椭圆 53"/>
              <p:cNvSpPr/>
              <p:nvPr/>
            </p:nvSpPr>
            <p:spPr>
              <a:xfrm>
                <a:off x="6697429" y="4527416"/>
                <a:ext cx="576064" cy="86409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数据入库</a:t>
                </a:r>
                <a:endPara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55" name="直接箭头连接符 54"/>
              <p:cNvCxnSpPr>
                <a:stCxn id="50" idx="6"/>
                <a:endCxn id="52" idx="2"/>
              </p:cNvCxnSpPr>
              <p:nvPr/>
            </p:nvCxnSpPr>
            <p:spPr>
              <a:xfrm>
                <a:off x="3745101" y="4959464"/>
                <a:ext cx="288032" cy="0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箭头连接符 55"/>
              <p:cNvCxnSpPr>
                <a:stCxn id="52" idx="6"/>
                <a:endCxn id="51" idx="2"/>
              </p:cNvCxnSpPr>
              <p:nvPr/>
            </p:nvCxnSpPr>
            <p:spPr>
              <a:xfrm>
                <a:off x="4609197" y="4959464"/>
                <a:ext cx="36004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箭头连接符 56"/>
              <p:cNvCxnSpPr>
                <a:stCxn id="51" idx="6"/>
                <a:endCxn id="53" idx="2"/>
              </p:cNvCxnSpPr>
              <p:nvPr/>
            </p:nvCxnSpPr>
            <p:spPr>
              <a:xfrm>
                <a:off x="5545301" y="4959464"/>
                <a:ext cx="288032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箭头连接符 57"/>
              <p:cNvCxnSpPr>
                <a:stCxn id="53" idx="6"/>
                <a:endCxn id="54" idx="2"/>
              </p:cNvCxnSpPr>
              <p:nvPr/>
            </p:nvCxnSpPr>
            <p:spPr>
              <a:xfrm>
                <a:off x="6409397" y="4959464"/>
                <a:ext cx="288032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虚尾箭头 58"/>
            <p:cNvSpPr/>
            <p:nvPr/>
          </p:nvSpPr>
          <p:spPr>
            <a:xfrm rot="5400000">
              <a:off x="4813781" y="2956560"/>
              <a:ext cx="412335" cy="533400"/>
            </a:xfrm>
            <a:prstGeom prst="strip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5379933" y="5364480"/>
              <a:ext cx="1234227" cy="5486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检查标准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2" name="直接箭头连接符 61"/>
            <p:cNvCxnSpPr>
              <a:stCxn id="60" idx="0"/>
              <a:endCxn id="54" idx="4"/>
            </p:cNvCxnSpPr>
            <p:nvPr/>
          </p:nvCxnSpPr>
          <p:spPr>
            <a:xfrm flipV="1">
              <a:off x="5997047" y="4858112"/>
              <a:ext cx="3440" cy="50636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1851660" y="3550920"/>
              <a:ext cx="66065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箭头连接符 69"/>
            <p:cNvCxnSpPr/>
            <p:nvPr/>
          </p:nvCxnSpPr>
          <p:spPr>
            <a:xfrm>
              <a:off x="6375904" y="4288336"/>
              <a:ext cx="32411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流程图: 决策 70"/>
            <p:cNvSpPr/>
            <p:nvPr/>
          </p:nvSpPr>
          <p:spPr>
            <a:xfrm>
              <a:off x="6730496" y="3870960"/>
              <a:ext cx="950464" cy="82296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tx1"/>
                  </a:solidFill>
                </a:rPr>
                <a:t>核查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4" name="六边形 73"/>
            <p:cNvSpPr/>
            <p:nvPr/>
          </p:nvSpPr>
          <p:spPr>
            <a:xfrm>
              <a:off x="7999794" y="3870960"/>
              <a:ext cx="610805" cy="822960"/>
            </a:xfrm>
            <a:prstGeom prst="hex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tx1"/>
                  </a:solidFill>
                </a:rPr>
                <a:t>结果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5" name="直接箭头连接符 74"/>
            <p:cNvCxnSpPr>
              <a:endCxn id="74" idx="3"/>
            </p:cNvCxnSpPr>
            <p:nvPr/>
          </p:nvCxnSpPr>
          <p:spPr>
            <a:xfrm>
              <a:off x="7482840" y="4282440"/>
              <a:ext cx="51695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组合 83"/>
          <p:cNvGrpSpPr/>
          <p:nvPr/>
        </p:nvGrpSpPr>
        <p:grpSpPr>
          <a:xfrm>
            <a:off x="9372600" y="1253490"/>
            <a:ext cx="2819400" cy="5029150"/>
            <a:chOff x="9372600" y="1253490"/>
            <a:chExt cx="2819400" cy="5029150"/>
          </a:xfrm>
        </p:grpSpPr>
        <p:sp>
          <p:nvSpPr>
            <p:cNvPr id="83" name="圆角矩形标注 82"/>
            <p:cNvSpPr/>
            <p:nvPr/>
          </p:nvSpPr>
          <p:spPr>
            <a:xfrm>
              <a:off x="9372600" y="1253490"/>
              <a:ext cx="2819400" cy="2465070"/>
            </a:xfrm>
            <a:prstGeom prst="wedgeRoundRectCallou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dirty="0" smtClean="0">
                  <a:solidFill>
                    <a:schemeClr val="accent5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主人：</a:t>
              </a:r>
              <a:endParaRPr lang="en-US" altLang="zh-CN" dirty="0" smtClean="0">
                <a:solidFill>
                  <a:schemeClr val="accent5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dirty="0" smtClean="0">
                  <a:solidFill>
                    <a:schemeClr val="accent5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你的局数据检查已完成</a:t>
              </a:r>
              <a:endParaRPr lang="en-US" altLang="zh-CN" dirty="0" smtClean="0">
                <a:solidFill>
                  <a:schemeClr val="accent5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dirty="0" smtClean="0">
                  <a:solidFill>
                    <a:schemeClr val="accent5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你的健康检查已完成</a:t>
              </a:r>
              <a:endParaRPr lang="en-US" altLang="zh-CN" dirty="0" smtClean="0">
                <a:solidFill>
                  <a:schemeClr val="accent5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dirty="0" smtClean="0">
                  <a:solidFill>
                    <a:schemeClr val="accent5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你要的日报已完成。</a:t>
              </a:r>
              <a:endParaRPr lang="en-US" altLang="zh-CN" dirty="0" smtClean="0">
                <a:solidFill>
                  <a:schemeClr val="accent5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dirty="0" smtClean="0">
                  <a:solidFill>
                    <a:schemeClr val="accent5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----------</a:t>
              </a:r>
            </a:p>
          </p:txBody>
        </p:sp>
        <p:pic>
          <p:nvPicPr>
            <p:cNvPr id="2050" name="Picture 2" descr="http://img.taopic.com/uploads/allimg/120712/201699-120G2224T175.jpg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0956" y="3939952"/>
              <a:ext cx="2342688" cy="23426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49434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57494" y="5736639"/>
            <a:ext cx="39416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智慧化运维建设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47800" y="1337548"/>
            <a:ext cx="2194560" cy="807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海量大数据采集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447800" y="4251960"/>
            <a:ext cx="2194560" cy="807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高度完善自动化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加号 4"/>
          <p:cNvSpPr/>
          <p:nvPr/>
        </p:nvSpPr>
        <p:spPr>
          <a:xfrm>
            <a:off x="2200418" y="2777728"/>
            <a:ext cx="536924" cy="80772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虚尾箭头 5"/>
          <p:cNvSpPr/>
          <p:nvPr/>
        </p:nvSpPr>
        <p:spPr>
          <a:xfrm>
            <a:off x="3916679" y="2166104"/>
            <a:ext cx="3409593" cy="2072640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发现合适的运维任务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496300" y="2676644"/>
            <a:ext cx="2811780" cy="10515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智能算法离线训练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肘形连接符 9"/>
          <p:cNvCxnSpPr>
            <a:stCxn id="39" idx="2"/>
            <a:endCxn id="35" idx="3"/>
          </p:cNvCxnSpPr>
          <p:nvPr/>
        </p:nvCxnSpPr>
        <p:spPr>
          <a:xfrm rot="5400000">
            <a:off x="6308467" y="1062097"/>
            <a:ext cx="927616" cy="625983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6" idx="3"/>
            <a:endCxn id="39" idx="1"/>
          </p:cNvCxnSpPr>
          <p:nvPr/>
        </p:nvCxnSpPr>
        <p:spPr>
          <a:xfrm>
            <a:off x="7326272" y="3202424"/>
            <a:ext cx="117002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肘形连接符 20"/>
          <p:cNvCxnSpPr>
            <a:stCxn id="4" idx="3"/>
            <a:endCxn id="39" idx="0"/>
          </p:cNvCxnSpPr>
          <p:nvPr/>
        </p:nvCxnSpPr>
        <p:spPr>
          <a:xfrm>
            <a:off x="3642360" y="1741408"/>
            <a:ext cx="6259830" cy="93523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3779520" y="1935480"/>
            <a:ext cx="0" cy="24993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72275" y="13716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数据提取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772275" y="478536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上线应用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0624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71751" y="228824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大脑系统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平台架构</a:t>
            </a:r>
          </a:p>
        </p:txBody>
      </p:sp>
      <p:sp>
        <p:nvSpPr>
          <p:cNvPr id="3" name="矩形 2"/>
          <p:cNvSpPr/>
          <p:nvPr/>
        </p:nvSpPr>
        <p:spPr>
          <a:xfrm>
            <a:off x="980583" y="5043340"/>
            <a:ext cx="1415846" cy="5604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数据源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985503" y="4394411"/>
            <a:ext cx="1415846" cy="530942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数据采集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85503" y="2673816"/>
            <a:ext cx="1415846" cy="164685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数据分析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000248" y="1788862"/>
            <a:ext cx="1415846" cy="781665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应用中心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8630067" y="2678376"/>
            <a:ext cx="1415846" cy="16518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控制系统</a:t>
            </a:r>
            <a:endParaRPr lang="en-US" altLang="zh-CN" dirty="0" smtClean="0"/>
          </a:p>
          <a:p>
            <a:pPr algn="ctr"/>
            <a:r>
              <a:rPr lang="zh-CN" altLang="en-US" sz="1600" dirty="0"/>
              <a:t>决策结果执行</a:t>
            </a:r>
          </a:p>
          <a:p>
            <a:pPr algn="ctr"/>
            <a:r>
              <a:rPr lang="zh-CN" altLang="en-US" sz="1600" dirty="0"/>
              <a:t>事件</a:t>
            </a:r>
            <a:r>
              <a:rPr lang="zh-CN" altLang="en-US" sz="1600" dirty="0" smtClean="0"/>
              <a:t>日志</a:t>
            </a:r>
            <a:endParaRPr lang="zh-CN" altLang="en-US" sz="1600" dirty="0"/>
          </a:p>
        </p:txBody>
      </p:sp>
      <p:sp>
        <p:nvSpPr>
          <p:cNvPr id="8" name="矩形 7"/>
          <p:cNvSpPr/>
          <p:nvPr/>
        </p:nvSpPr>
        <p:spPr>
          <a:xfrm>
            <a:off x="2425926" y="1788555"/>
            <a:ext cx="7639664" cy="781665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网络全景图、运维场景应用、故障跟踪处理、信息查询、多维分析等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2425925" y="5038109"/>
            <a:ext cx="8967020" cy="5604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网络设备数据、监控设备数据、其他系统数据、台账数据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2425925" y="4389187"/>
            <a:ext cx="7639665" cy="54567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数据采集、数据处理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2425925" y="2688207"/>
            <a:ext cx="6061587" cy="47686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配置管理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0168816" y="1798388"/>
            <a:ext cx="1238861" cy="312174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管理中心 </a:t>
            </a:r>
            <a:endParaRPr lang="en-US" altLang="zh-CN" dirty="0" smtClean="0"/>
          </a:p>
          <a:p>
            <a:pPr algn="ctr"/>
            <a:endParaRPr lang="en-US" altLang="zh-CN" dirty="0" smtClean="0"/>
          </a:p>
          <a:p>
            <a:pPr algn="ctr"/>
            <a:r>
              <a:rPr lang="zh-CN" altLang="en-US" dirty="0" smtClean="0"/>
              <a:t>用户管理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安全管理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日志管理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2425925" y="3224067"/>
            <a:ext cx="6076336" cy="5309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智库管理：算法库、模型库、特征库、机器学习机制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2425925" y="3804166"/>
            <a:ext cx="6056670" cy="51127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大数据处理引擎、人工智能引擎、可视化呈现处理引擎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8618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8"/>
          <p:cNvSpPr/>
          <p:nvPr/>
        </p:nvSpPr>
        <p:spPr bwMode="auto">
          <a:xfrm>
            <a:off x="1951718" y="2256223"/>
            <a:ext cx="5775747" cy="22452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>
            <a:solidFill>
              <a:schemeClr val="accent1">
                <a:shade val="95000"/>
                <a:satMod val="105000"/>
              </a:schemeClr>
            </a:solidFill>
          </a:ln>
          <a:effectLst/>
          <a:extLst/>
        </p:spPr>
        <p:txBody>
          <a:bodyPr anchor="ctr" anchorCtr="1"/>
          <a:lstStyle/>
          <a:p>
            <a:pPr>
              <a:defRPr/>
            </a:pPr>
            <a:endParaRPr lang="en-US" sz="1400" dirty="0">
              <a:solidFill>
                <a:srgbClr val="333399"/>
              </a:solidFill>
              <a:cs typeface="+mn-ea"/>
              <a:sym typeface="+mn-lt"/>
            </a:endParaRPr>
          </a:p>
        </p:txBody>
      </p:sp>
      <p:sp>
        <p:nvSpPr>
          <p:cNvPr id="115" name="圆角矩形 110"/>
          <p:cNvSpPr>
            <a:spLocks noChangeArrowheads="1"/>
          </p:cNvSpPr>
          <p:nvPr/>
        </p:nvSpPr>
        <p:spPr bwMode="auto">
          <a:xfrm>
            <a:off x="2123542" y="3547143"/>
            <a:ext cx="4502596" cy="702776"/>
          </a:xfrm>
          <a:prstGeom prst="roundRect">
            <a:avLst>
              <a:gd name="adj" fmla="val 9305"/>
            </a:avLst>
          </a:prstGeom>
          <a:solidFill>
            <a:srgbClr val="FFFF00">
              <a:alpha val="50195"/>
            </a:srgbClr>
          </a:solidFill>
          <a:ln w="28575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lIns="91424" tIns="45712" rIns="91424" bIns="45712"/>
          <a:lstStyle>
            <a:lvl1pPr marL="801688" indent="-269875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"/>
              </a:spcBef>
              <a:buClr>
                <a:srgbClr val="FF0000"/>
              </a:buClr>
              <a:buFont typeface="Wingdings" pitchFamily="2" charset="2"/>
              <a:buAutoNum type="circleNumDbPlain"/>
            </a:pPr>
            <a:endParaRPr lang="zh-CN" altLang="en-US" sz="180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6" name="Rectangle 18"/>
          <p:cNvSpPr/>
          <p:nvPr/>
        </p:nvSpPr>
        <p:spPr bwMode="auto">
          <a:xfrm>
            <a:off x="1945617" y="4636316"/>
            <a:ext cx="5775747" cy="11159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>
            <a:solidFill>
              <a:schemeClr val="accent1">
                <a:shade val="95000"/>
                <a:satMod val="105000"/>
              </a:schemeClr>
            </a:solidFill>
          </a:ln>
          <a:effectLst/>
          <a:extLst/>
        </p:spPr>
        <p:txBody>
          <a:bodyPr anchor="ctr" anchorCtr="1"/>
          <a:lstStyle/>
          <a:p>
            <a:pPr>
              <a:defRPr/>
            </a:pPr>
            <a:endParaRPr lang="en-US" sz="1400" dirty="0">
              <a:solidFill>
                <a:srgbClr val="333399"/>
              </a:solidFill>
              <a:cs typeface="+mn-ea"/>
              <a:sym typeface="+mn-lt"/>
            </a:endParaRPr>
          </a:p>
        </p:txBody>
      </p:sp>
      <p:sp>
        <p:nvSpPr>
          <p:cNvPr id="117" name="Rectangle 18"/>
          <p:cNvSpPr/>
          <p:nvPr/>
        </p:nvSpPr>
        <p:spPr bwMode="auto">
          <a:xfrm>
            <a:off x="1949885" y="5816951"/>
            <a:ext cx="5775747" cy="880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>
            <a:solidFill>
              <a:schemeClr val="accent1">
                <a:shade val="95000"/>
                <a:satMod val="105000"/>
              </a:schemeClr>
            </a:solidFill>
          </a:ln>
          <a:effectLst/>
          <a:extLst/>
        </p:spPr>
        <p:txBody>
          <a:bodyPr anchor="ctr" anchorCtr="1"/>
          <a:lstStyle/>
          <a:p>
            <a:pPr>
              <a:defRPr/>
            </a:pPr>
            <a:endParaRPr lang="en-US" sz="1400" dirty="0">
              <a:solidFill>
                <a:srgbClr val="333399"/>
              </a:solidFill>
              <a:cs typeface="+mn-ea"/>
              <a:sym typeface="+mn-lt"/>
            </a:endParaRPr>
          </a:p>
        </p:txBody>
      </p:sp>
      <p:sp>
        <p:nvSpPr>
          <p:cNvPr id="118" name="Rectangle 28"/>
          <p:cNvSpPr/>
          <p:nvPr/>
        </p:nvSpPr>
        <p:spPr>
          <a:xfrm>
            <a:off x="2130287" y="5940755"/>
            <a:ext cx="1001366" cy="3162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solidFill>
                  <a:schemeClr val="tx1"/>
                </a:solidFill>
                <a:cs typeface="+mn-ea"/>
                <a:sym typeface="+mn-lt"/>
              </a:rPr>
              <a:t>日志文件</a:t>
            </a:r>
            <a:endParaRPr 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19" name="TextBox 29"/>
          <p:cNvSpPr txBox="1">
            <a:spLocks noChangeArrowheads="1"/>
          </p:cNvSpPr>
          <p:nvPr/>
        </p:nvSpPr>
        <p:spPr bwMode="auto">
          <a:xfrm>
            <a:off x="919416" y="6173055"/>
            <a:ext cx="9500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 smtClean="0">
                <a:solidFill>
                  <a:schemeClr val="tx1"/>
                </a:solidFill>
                <a:cs typeface="+mn-ea"/>
                <a:sym typeface="+mn-lt"/>
              </a:rPr>
              <a:t>采集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层</a:t>
            </a:r>
          </a:p>
        </p:txBody>
      </p:sp>
      <p:sp>
        <p:nvSpPr>
          <p:cNvPr id="120" name="TextBox 25"/>
          <p:cNvSpPr txBox="1">
            <a:spLocks noChangeArrowheads="1"/>
          </p:cNvSpPr>
          <p:nvPr/>
        </p:nvSpPr>
        <p:spPr bwMode="auto">
          <a:xfrm>
            <a:off x="919416" y="5340429"/>
            <a:ext cx="11373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 smtClean="0">
                <a:solidFill>
                  <a:schemeClr val="tx1"/>
                </a:solidFill>
                <a:cs typeface="+mn-ea"/>
                <a:sym typeface="+mn-lt"/>
              </a:rPr>
              <a:t>处理层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21" name="TextBox 25"/>
          <p:cNvSpPr txBox="1">
            <a:spLocks noChangeArrowheads="1"/>
          </p:cNvSpPr>
          <p:nvPr/>
        </p:nvSpPr>
        <p:spPr bwMode="auto">
          <a:xfrm>
            <a:off x="893588" y="3684245"/>
            <a:ext cx="12648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业务</a:t>
            </a:r>
            <a:r>
              <a:rPr lang="zh-CN" altLang="en-US" sz="2000" dirty="0" smtClean="0">
                <a:solidFill>
                  <a:schemeClr val="tx1"/>
                </a:solidFill>
                <a:cs typeface="+mn-ea"/>
                <a:sym typeface="+mn-lt"/>
              </a:rPr>
              <a:t>层</a:t>
            </a:r>
            <a:endParaRPr lang="zh-CN" altLang="en-US" sz="20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22" name="TextBox 25"/>
          <p:cNvSpPr txBox="1">
            <a:spLocks noChangeArrowheads="1"/>
          </p:cNvSpPr>
          <p:nvPr/>
        </p:nvSpPr>
        <p:spPr bwMode="auto">
          <a:xfrm>
            <a:off x="883921" y="1466649"/>
            <a:ext cx="11373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应用层</a:t>
            </a:r>
          </a:p>
        </p:txBody>
      </p:sp>
      <p:sp>
        <p:nvSpPr>
          <p:cNvPr id="123" name="Can 70"/>
          <p:cNvSpPr/>
          <p:nvPr/>
        </p:nvSpPr>
        <p:spPr bwMode="auto">
          <a:xfrm rot="5400000">
            <a:off x="4265657" y="146985"/>
            <a:ext cx="256466" cy="4608511"/>
          </a:xfrm>
          <a:prstGeom prst="can">
            <a:avLst/>
          </a:prstGeom>
          <a:solidFill>
            <a:srgbClr val="92D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vert270" anchor="ctr" anchorCtr="1"/>
          <a:lstStyle/>
          <a:p>
            <a:pPr>
              <a:defRPr/>
            </a:pPr>
            <a:r>
              <a:rPr lang="zh-CN" altLang="en-US" sz="1400" dirty="0" smtClean="0">
                <a:cs typeface="+mn-ea"/>
                <a:sym typeface="+mn-lt"/>
              </a:rPr>
              <a:t>服务接口（</a:t>
            </a:r>
            <a:r>
              <a:rPr lang="en-US" altLang="zh-CN" sz="1400" dirty="0" err="1" smtClean="0">
                <a:cs typeface="+mn-ea"/>
                <a:sym typeface="+mn-lt"/>
              </a:rPr>
              <a:t>WebService</a:t>
            </a:r>
            <a:r>
              <a:rPr lang="zh-CN" altLang="en-US" sz="1400" dirty="0" smtClean="0">
                <a:cs typeface="+mn-ea"/>
                <a:sym typeface="+mn-lt"/>
              </a:rPr>
              <a:t>）</a:t>
            </a:r>
            <a:endParaRPr lang="en-US" sz="1400" dirty="0">
              <a:cs typeface="+mn-ea"/>
              <a:sym typeface="+mn-lt"/>
            </a:endParaRPr>
          </a:p>
        </p:txBody>
      </p:sp>
      <p:sp>
        <p:nvSpPr>
          <p:cNvPr id="124" name="TextBox 13"/>
          <p:cNvSpPr txBox="1"/>
          <p:nvPr/>
        </p:nvSpPr>
        <p:spPr bwMode="auto">
          <a:xfrm>
            <a:off x="2123541" y="5348905"/>
            <a:ext cx="699853" cy="2955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SFTP</a:t>
            </a:r>
          </a:p>
        </p:txBody>
      </p:sp>
      <p:sp>
        <p:nvSpPr>
          <p:cNvPr id="125" name="Rectangle 28"/>
          <p:cNvSpPr/>
          <p:nvPr/>
        </p:nvSpPr>
        <p:spPr>
          <a:xfrm>
            <a:off x="3203659" y="5940755"/>
            <a:ext cx="921247" cy="3162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solidFill>
                  <a:schemeClr val="tx1"/>
                </a:solidFill>
                <a:cs typeface="+mn-ea"/>
                <a:sym typeface="+mn-lt"/>
              </a:rPr>
              <a:t>备份文件</a:t>
            </a:r>
            <a:endParaRPr 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26" name="Rectangle 28"/>
          <p:cNvSpPr/>
          <p:nvPr/>
        </p:nvSpPr>
        <p:spPr>
          <a:xfrm>
            <a:off x="4249873" y="5940755"/>
            <a:ext cx="1083349" cy="3162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MIB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信息</a:t>
            </a:r>
            <a:endParaRPr lang="en-US" altLang="zh-CN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27" name="Rectangle 28"/>
          <p:cNvSpPr/>
          <p:nvPr/>
        </p:nvSpPr>
        <p:spPr>
          <a:xfrm>
            <a:off x="5423815" y="5940754"/>
            <a:ext cx="1150743" cy="3162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solidFill>
                  <a:schemeClr val="tx1"/>
                </a:solidFill>
                <a:cs typeface="+mn-ea"/>
                <a:sym typeface="+mn-lt"/>
              </a:rPr>
              <a:t>打印文本</a:t>
            </a:r>
            <a:endParaRPr 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28" name="Rectangle 28"/>
          <p:cNvSpPr/>
          <p:nvPr/>
        </p:nvSpPr>
        <p:spPr>
          <a:xfrm>
            <a:off x="6695501" y="6016335"/>
            <a:ext cx="792088" cy="419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 smtClean="0">
                <a:solidFill>
                  <a:schemeClr val="tx1"/>
                </a:solidFill>
                <a:cs typeface="+mn-ea"/>
                <a:sym typeface="+mn-lt"/>
              </a:rPr>
              <a:t>……</a:t>
            </a:r>
            <a:endParaRPr 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29" name="虚尾箭头 128"/>
          <p:cNvSpPr/>
          <p:nvPr/>
        </p:nvSpPr>
        <p:spPr>
          <a:xfrm>
            <a:off x="7814777" y="6016335"/>
            <a:ext cx="360040" cy="534678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30" name="文本框 143"/>
          <p:cNvSpPr txBox="1"/>
          <p:nvPr/>
        </p:nvSpPr>
        <p:spPr>
          <a:xfrm>
            <a:off x="8200137" y="6008238"/>
            <a:ext cx="2815608" cy="6309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400">
                <a:solidFill>
                  <a:prstClr val="black">
                    <a:lumMod val="50000"/>
                    <a:lumOff val="50000"/>
                  </a:prst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4</a:t>
            </a:r>
            <a:r>
              <a:rPr lang="zh-CN" altLang="en-US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接入华为、爱立信、阿尔卡特等多厂家</a:t>
            </a:r>
            <a:r>
              <a:rPr lang="zh-CN" altLang="en-US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的网元数据</a:t>
            </a:r>
            <a:endParaRPr lang="zh-CN" altLang="en-US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1" name="虚尾箭头 130"/>
          <p:cNvSpPr/>
          <p:nvPr/>
        </p:nvSpPr>
        <p:spPr>
          <a:xfrm>
            <a:off x="7814777" y="5061760"/>
            <a:ext cx="360040" cy="534678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32" name="文本框 143"/>
          <p:cNvSpPr txBox="1"/>
          <p:nvPr/>
        </p:nvSpPr>
        <p:spPr>
          <a:xfrm>
            <a:off x="8183809" y="4746120"/>
            <a:ext cx="2969440" cy="11695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60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4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3</a:t>
            </a:r>
            <a:r>
              <a:rPr lang="zh-CN" altLang="en-US" sz="140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、提供</a:t>
            </a:r>
            <a:r>
              <a:rPr lang="en-US" altLang="zh-CN" sz="140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SFTP\FTP\TELNET\SNMP</a:t>
            </a:r>
            <a:r>
              <a:rPr lang="zh-CN" altLang="en-US" sz="140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等</a:t>
            </a: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实时</a:t>
            </a:r>
            <a:r>
              <a:rPr lang="en-US" altLang="zh-CN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/</a:t>
            </a: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非实时</a:t>
            </a:r>
            <a:r>
              <a:rPr lang="zh-CN" altLang="en-US" sz="140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数据采集接口。底层通过</a:t>
            </a: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高效的</a:t>
            </a:r>
            <a:r>
              <a:rPr lang="en-US" altLang="zh-CN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C/C++/JAVA</a:t>
            </a:r>
            <a:r>
              <a:rPr lang="zh-CN" altLang="en-US" sz="140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实现数据清洗、转换、加载</a:t>
            </a:r>
            <a:endParaRPr lang="zh-CN" altLang="en-US" sz="14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3" name="虚尾箭头 132"/>
          <p:cNvSpPr/>
          <p:nvPr/>
        </p:nvSpPr>
        <p:spPr>
          <a:xfrm>
            <a:off x="7823769" y="2985722"/>
            <a:ext cx="360040" cy="534678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34" name="文本框 143"/>
          <p:cNvSpPr txBox="1"/>
          <p:nvPr/>
        </p:nvSpPr>
        <p:spPr>
          <a:xfrm>
            <a:off x="8176405" y="2495270"/>
            <a:ext cx="2839340" cy="1708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400">
                <a:solidFill>
                  <a:prstClr val="black">
                    <a:lumMod val="50000"/>
                    <a:lumOff val="50000"/>
                  </a:prst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lang="zh-CN" altLang="en-US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、数据存储采用</a:t>
            </a:r>
            <a:r>
              <a:rPr lang="en-US" altLang="zh-CN" dirty="0" err="1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Greenplum+Mysql</a:t>
            </a:r>
            <a:r>
              <a:rPr lang="zh-CN" altLang="en-US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方式，</a:t>
            </a:r>
            <a:r>
              <a:rPr lang="en-US" altLang="zh-CN" dirty="0" err="1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GreenPlum</a:t>
            </a:r>
            <a:r>
              <a:rPr lang="zh-CN" altLang="en-US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用于存储业务指标数据，</a:t>
            </a:r>
            <a:r>
              <a:rPr lang="en-US" altLang="zh-CN" dirty="0" err="1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MySql</a:t>
            </a:r>
            <a:r>
              <a:rPr lang="zh-CN" altLang="en-US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用于存储任务策略、权限、日志等数据。并通过</a:t>
            </a:r>
            <a:r>
              <a:rPr lang="en-US" altLang="zh-CN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JAVA</a:t>
            </a:r>
            <a:r>
              <a:rPr lang="zh-CN" altLang="en-US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实现智能运维功能。</a:t>
            </a:r>
            <a:endParaRPr lang="zh-CN" altLang="en-US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5" name="文本框 143"/>
          <p:cNvSpPr txBox="1"/>
          <p:nvPr/>
        </p:nvSpPr>
        <p:spPr>
          <a:xfrm>
            <a:off x="8185636" y="1040927"/>
            <a:ext cx="2830109" cy="11695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400">
                <a:solidFill>
                  <a:prstClr val="black">
                    <a:lumMod val="50000"/>
                    <a:lumOff val="50000"/>
                  </a:prst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、应用层采用业界流行的</a:t>
            </a:r>
            <a:r>
              <a:rPr lang="zh-CN" altLang="en-US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开源框架</a:t>
            </a:r>
            <a:r>
              <a:rPr lang="en-US" altLang="zh-CN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SSH</a:t>
            </a:r>
            <a:r>
              <a:rPr lang="zh-CN" altLang="en-US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搭建平台，前端采用</a:t>
            </a:r>
            <a:r>
              <a:rPr lang="en-US" altLang="zh-CN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SSH</a:t>
            </a:r>
            <a:r>
              <a:rPr lang="zh-CN" altLang="en-US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开源架构及</a:t>
            </a:r>
            <a:r>
              <a:rPr lang="zh-CN" altLang="en-US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开源的报表控件</a:t>
            </a: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实现业务系统的人机交互。</a:t>
            </a:r>
          </a:p>
        </p:txBody>
      </p:sp>
      <p:sp>
        <p:nvSpPr>
          <p:cNvPr id="136" name="虚尾箭头 135"/>
          <p:cNvSpPr/>
          <p:nvPr/>
        </p:nvSpPr>
        <p:spPr>
          <a:xfrm>
            <a:off x="7837021" y="1360160"/>
            <a:ext cx="360040" cy="534678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37" name="Rectangle 18"/>
          <p:cNvSpPr/>
          <p:nvPr/>
        </p:nvSpPr>
        <p:spPr bwMode="auto">
          <a:xfrm>
            <a:off x="1958317" y="766810"/>
            <a:ext cx="5763045" cy="13929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>
            <a:solidFill>
              <a:schemeClr val="accent1">
                <a:shade val="95000"/>
                <a:satMod val="105000"/>
              </a:schemeClr>
            </a:solidFill>
          </a:ln>
          <a:effectLst/>
          <a:extLst/>
        </p:spPr>
        <p:txBody>
          <a:bodyPr anchor="ctr" anchorCtr="1"/>
          <a:lstStyle/>
          <a:p>
            <a:pPr>
              <a:defRPr/>
            </a:pPr>
            <a:endParaRPr lang="en-US" sz="1400" dirty="0">
              <a:solidFill>
                <a:srgbClr val="333399"/>
              </a:solidFill>
              <a:cs typeface="+mn-ea"/>
              <a:sym typeface="+mn-lt"/>
            </a:endParaRPr>
          </a:p>
        </p:txBody>
      </p:sp>
      <p:pic>
        <p:nvPicPr>
          <p:cNvPr id="138" name="Picture 70" descr="상승_4"/>
          <p:cNvPicPr>
            <a:picLocks noChangeAspect="1" noChangeArrowheads="1"/>
          </p:cNvPicPr>
          <p:nvPr/>
        </p:nvPicPr>
        <p:blipFill>
          <a:blip r:embed="rId3" cstate="print">
            <a:lum bright="-6000" contrast="36000"/>
          </a:blip>
          <a:srcRect l="3534"/>
          <a:stretch>
            <a:fillRect/>
          </a:stretch>
        </p:blipFill>
        <p:spPr bwMode="auto">
          <a:xfrm rot="10800000">
            <a:off x="3159279" y="4321791"/>
            <a:ext cx="3071834" cy="571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9" name="矩形 138"/>
          <p:cNvSpPr/>
          <p:nvPr/>
        </p:nvSpPr>
        <p:spPr>
          <a:xfrm>
            <a:off x="3601801" y="4203430"/>
            <a:ext cx="2214578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01370">
              <a:lnSpc>
                <a:spcPct val="110000"/>
              </a:lnSpc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None/>
            </a:pPr>
            <a:r>
              <a:rPr lang="en-US" altLang="zh-CN" sz="1600" b="1" dirty="0" smtClean="0">
                <a:solidFill>
                  <a:schemeClr val="tx2">
                    <a:lumMod val="75000"/>
                  </a:schemeClr>
                </a:solidFill>
                <a:cs typeface="+mn-ea"/>
                <a:sym typeface="+mn-lt"/>
              </a:rPr>
              <a:t>ETL</a:t>
            </a:r>
          </a:p>
          <a:p>
            <a:pPr algn="ctr" defTabSz="801370">
              <a:lnSpc>
                <a:spcPct val="110000"/>
              </a:lnSpc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None/>
            </a:pPr>
            <a:r>
              <a:rPr lang="zh-CN" altLang="en-US" sz="1600" b="1" dirty="0" smtClean="0">
                <a:solidFill>
                  <a:schemeClr val="tx2">
                    <a:lumMod val="75000"/>
                  </a:schemeClr>
                </a:solidFill>
                <a:cs typeface="+mn-ea"/>
                <a:sym typeface="+mn-lt"/>
              </a:rPr>
              <a:t>（清洗、转换、加载）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0" name="TextBox 31"/>
          <p:cNvSpPr txBox="1"/>
          <p:nvPr/>
        </p:nvSpPr>
        <p:spPr bwMode="auto">
          <a:xfrm>
            <a:off x="2881721" y="5356397"/>
            <a:ext cx="556158" cy="2880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FTP</a:t>
            </a:r>
          </a:p>
        </p:txBody>
      </p:sp>
      <p:sp>
        <p:nvSpPr>
          <p:cNvPr id="141" name="TextBox 32"/>
          <p:cNvSpPr txBox="1"/>
          <p:nvPr/>
        </p:nvSpPr>
        <p:spPr bwMode="auto">
          <a:xfrm>
            <a:off x="3495885" y="5356397"/>
            <a:ext cx="1258044" cy="2880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TELNET</a:t>
            </a:r>
          </a:p>
        </p:txBody>
      </p:sp>
      <p:sp>
        <p:nvSpPr>
          <p:cNvPr id="142" name="TextBox 33"/>
          <p:cNvSpPr txBox="1"/>
          <p:nvPr/>
        </p:nvSpPr>
        <p:spPr bwMode="auto">
          <a:xfrm>
            <a:off x="4801120" y="5356396"/>
            <a:ext cx="1223553" cy="2955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SNMP</a:t>
            </a:r>
          </a:p>
        </p:txBody>
      </p:sp>
      <p:sp>
        <p:nvSpPr>
          <p:cNvPr id="143" name="TextBox 34"/>
          <p:cNvSpPr txBox="1"/>
          <p:nvPr/>
        </p:nvSpPr>
        <p:spPr bwMode="auto">
          <a:xfrm>
            <a:off x="6062774" y="5356396"/>
            <a:ext cx="514200" cy="2955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……</a:t>
            </a:r>
          </a:p>
        </p:txBody>
      </p:sp>
      <p:sp>
        <p:nvSpPr>
          <p:cNvPr id="144" name="TextBox 35"/>
          <p:cNvSpPr txBox="1"/>
          <p:nvPr/>
        </p:nvSpPr>
        <p:spPr bwMode="auto">
          <a:xfrm>
            <a:off x="2130287" y="4924347"/>
            <a:ext cx="4446687" cy="29864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C/C++</a:t>
            </a:r>
          </a:p>
        </p:txBody>
      </p:sp>
      <p:sp>
        <p:nvSpPr>
          <p:cNvPr id="145" name="TextBox 25"/>
          <p:cNvSpPr txBox="1">
            <a:spLocks noChangeArrowheads="1"/>
          </p:cNvSpPr>
          <p:nvPr/>
        </p:nvSpPr>
        <p:spPr bwMode="auto">
          <a:xfrm>
            <a:off x="6698145" y="5356396"/>
            <a:ext cx="90646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采集接口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6" name="TextBox 25"/>
          <p:cNvSpPr txBox="1">
            <a:spLocks noChangeArrowheads="1"/>
          </p:cNvSpPr>
          <p:nvPr/>
        </p:nvSpPr>
        <p:spPr bwMode="auto">
          <a:xfrm>
            <a:off x="6698145" y="4924348"/>
            <a:ext cx="90646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数据处理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7" name="TextBox 146"/>
          <p:cNvSpPr txBox="1"/>
          <p:nvPr/>
        </p:nvSpPr>
        <p:spPr bwMode="auto">
          <a:xfrm>
            <a:off x="2233649" y="3872114"/>
            <a:ext cx="1891258" cy="270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err="1" smtClean="0">
                <a:latin typeface="+mn-lt"/>
                <a:ea typeface="+mn-ea"/>
                <a:cs typeface="+mn-ea"/>
                <a:sym typeface="+mn-lt"/>
              </a:rPr>
              <a:t>GreenPlum</a:t>
            </a:r>
            <a:endParaRPr lang="en-US" altLang="zh-CN" sz="14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8" name="TextBox 25"/>
          <p:cNvSpPr txBox="1">
            <a:spLocks noChangeArrowheads="1"/>
          </p:cNvSpPr>
          <p:nvPr/>
        </p:nvSpPr>
        <p:spPr bwMode="auto">
          <a:xfrm>
            <a:off x="3713666" y="3403127"/>
            <a:ext cx="125628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数据存储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9" name="TextBox 25"/>
          <p:cNvSpPr txBox="1">
            <a:spLocks noChangeArrowheads="1"/>
          </p:cNvSpPr>
          <p:nvPr/>
        </p:nvSpPr>
        <p:spPr bwMode="auto">
          <a:xfrm>
            <a:off x="2541587" y="3547143"/>
            <a:ext cx="12762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业务数据存储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0" name="TextBox 25"/>
          <p:cNvSpPr txBox="1">
            <a:spLocks noChangeArrowheads="1"/>
          </p:cNvSpPr>
          <p:nvPr/>
        </p:nvSpPr>
        <p:spPr bwMode="auto">
          <a:xfrm>
            <a:off x="6698145" y="3239947"/>
            <a:ext cx="10232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数据存储</a:t>
            </a:r>
            <a:r>
              <a:rPr lang="en-US" altLang="zh-CN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/</a:t>
            </a: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智能运维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1" name="TextBox 25"/>
          <p:cNvSpPr txBox="1">
            <a:spLocks noChangeArrowheads="1"/>
          </p:cNvSpPr>
          <p:nvPr/>
        </p:nvSpPr>
        <p:spPr bwMode="auto">
          <a:xfrm>
            <a:off x="6698145" y="2323007"/>
            <a:ext cx="90646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数据</a:t>
            </a:r>
            <a:r>
              <a:rPr lang="zh-CN" altLang="en-US" sz="1400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接口</a:t>
            </a:r>
          </a:p>
        </p:txBody>
      </p:sp>
      <p:sp>
        <p:nvSpPr>
          <p:cNvPr id="152" name="TextBox 49"/>
          <p:cNvSpPr txBox="1"/>
          <p:nvPr/>
        </p:nvSpPr>
        <p:spPr bwMode="auto">
          <a:xfrm>
            <a:off x="2105161" y="1720200"/>
            <a:ext cx="1496639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Spring</a:t>
            </a:r>
          </a:p>
        </p:txBody>
      </p:sp>
      <p:sp>
        <p:nvSpPr>
          <p:cNvPr id="153" name="TextBox 50"/>
          <p:cNvSpPr txBox="1"/>
          <p:nvPr/>
        </p:nvSpPr>
        <p:spPr bwMode="auto">
          <a:xfrm>
            <a:off x="3689338" y="1720200"/>
            <a:ext cx="1496639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Struts</a:t>
            </a:r>
          </a:p>
        </p:txBody>
      </p:sp>
      <p:sp>
        <p:nvSpPr>
          <p:cNvPr id="154" name="TextBox 51"/>
          <p:cNvSpPr txBox="1"/>
          <p:nvPr/>
        </p:nvSpPr>
        <p:spPr bwMode="auto">
          <a:xfrm>
            <a:off x="5276353" y="1720200"/>
            <a:ext cx="1496639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>
                <a:latin typeface="+mn-lt"/>
                <a:ea typeface="+mn-ea"/>
                <a:cs typeface="+mn-ea"/>
                <a:sym typeface="+mn-lt"/>
              </a:rPr>
              <a:t>Hibernate</a:t>
            </a:r>
          </a:p>
        </p:txBody>
      </p:sp>
      <p:sp>
        <p:nvSpPr>
          <p:cNvPr id="155" name="TextBox 25"/>
          <p:cNvSpPr txBox="1">
            <a:spLocks noChangeArrowheads="1"/>
          </p:cNvSpPr>
          <p:nvPr/>
        </p:nvSpPr>
        <p:spPr bwMode="auto">
          <a:xfrm>
            <a:off x="6698144" y="1432168"/>
            <a:ext cx="102321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WEB</a:t>
            </a: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框架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6" name="TextBox 53"/>
          <p:cNvSpPr txBox="1"/>
          <p:nvPr/>
        </p:nvSpPr>
        <p:spPr bwMode="auto">
          <a:xfrm>
            <a:off x="2105163" y="1288152"/>
            <a:ext cx="2144710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200" dirty="0" err="1" smtClean="0">
                <a:latin typeface="+mn-lt"/>
                <a:ea typeface="+mn-ea"/>
                <a:cs typeface="+mn-ea"/>
                <a:sym typeface="+mn-lt"/>
              </a:rPr>
              <a:t>Echart</a:t>
            </a:r>
            <a:r>
              <a:rPr lang="zh-CN" altLang="en-US" sz="1200" dirty="0" smtClean="0">
                <a:latin typeface="+mn-lt"/>
                <a:ea typeface="+mn-ea"/>
                <a:cs typeface="+mn-ea"/>
                <a:sym typeface="+mn-lt"/>
              </a:rPr>
              <a:t>报表</a:t>
            </a:r>
            <a:endParaRPr lang="en-US" altLang="zh-CN" sz="12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7" name="TextBox 55"/>
          <p:cNvSpPr txBox="1"/>
          <p:nvPr/>
        </p:nvSpPr>
        <p:spPr bwMode="auto">
          <a:xfrm>
            <a:off x="4374839" y="1288153"/>
            <a:ext cx="2395314" cy="2880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200" dirty="0" err="1"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lang="en-US" altLang="zh-CN" sz="1200" dirty="0" err="1" smtClean="0">
                <a:latin typeface="+mn-lt"/>
                <a:ea typeface="+mn-ea"/>
                <a:cs typeface="+mn-ea"/>
                <a:sym typeface="+mn-lt"/>
              </a:rPr>
              <a:t>Jax</a:t>
            </a:r>
            <a:endParaRPr lang="en-US" altLang="zh-CN" sz="12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8" name="TextBox 25"/>
          <p:cNvSpPr txBox="1">
            <a:spLocks noChangeArrowheads="1"/>
          </p:cNvSpPr>
          <p:nvPr/>
        </p:nvSpPr>
        <p:spPr bwMode="auto">
          <a:xfrm>
            <a:off x="6698145" y="856104"/>
            <a:ext cx="102321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业务</a:t>
            </a: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呈现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9" name="TextBox 57"/>
          <p:cNvSpPr txBox="1"/>
          <p:nvPr/>
        </p:nvSpPr>
        <p:spPr bwMode="auto">
          <a:xfrm>
            <a:off x="4437657" y="3872113"/>
            <a:ext cx="1989750" cy="2708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err="1" smtClean="0">
                <a:latin typeface="+mn-lt"/>
                <a:ea typeface="+mn-ea"/>
                <a:cs typeface="+mn-ea"/>
                <a:sym typeface="+mn-lt"/>
              </a:rPr>
              <a:t>MySql</a:t>
            </a:r>
            <a:endParaRPr lang="en-US" altLang="zh-CN" sz="14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0" name="TextBox 25"/>
          <p:cNvSpPr txBox="1">
            <a:spLocks noChangeArrowheads="1"/>
          </p:cNvSpPr>
          <p:nvPr/>
        </p:nvSpPr>
        <p:spPr bwMode="auto">
          <a:xfrm>
            <a:off x="4681921" y="3547143"/>
            <a:ext cx="149399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策略</a:t>
            </a:r>
            <a:r>
              <a:rPr lang="en-US" altLang="zh-CN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/</a:t>
            </a: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权限</a:t>
            </a:r>
            <a:r>
              <a:rPr lang="en-US" altLang="zh-CN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/</a:t>
            </a: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日志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1" name="圆角矩形 110"/>
          <p:cNvSpPr>
            <a:spLocks noChangeArrowheads="1"/>
          </p:cNvSpPr>
          <p:nvPr/>
        </p:nvSpPr>
        <p:spPr bwMode="auto">
          <a:xfrm>
            <a:off x="2123541" y="2628343"/>
            <a:ext cx="4502596" cy="774784"/>
          </a:xfrm>
          <a:prstGeom prst="roundRect">
            <a:avLst>
              <a:gd name="adj" fmla="val 9305"/>
            </a:avLst>
          </a:prstGeom>
          <a:solidFill>
            <a:srgbClr val="FFFF00">
              <a:alpha val="50195"/>
            </a:srgbClr>
          </a:solidFill>
          <a:ln w="28575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lIns="91424" tIns="45712" rIns="91424" bIns="45712"/>
          <a:lstStyle>
            <a:lvl1pPr marL="801688" indent="-269875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"/>
              </a:spcBef>
              <a:buClr>
                <a:srgbClr val="FF0000"/>
              </a:buClr>
              <a:buFont typeface="Wingdings" pitchFamily="2" charset="2"/>
              <a:buAutoNum type="circleNumDbPlain"/>
            </a:pPr>
            <a:endParaRPr lang="zh-CN" altLang="en-US" sz="180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2" name="TextBox 25"/>
          <p:cNvSpPr txBox="1">
            <a:spLocks noChangeArrowheads="1"/>
          </p:cNvSpPr>
          <p:nvPr/>
        </p:nvSpPr>
        <p:spPr bwMode="auto">
          <a:xfrm>
            <a:off x="3529793" y="2496136"/>
            <a:ext cx="19763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智能</a:t>
            </a:r>
            <a:r>
              <a:rPr lang="zh-CN" altLang="en-US" sz="1400" b="1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运维（</a:t>
            </a:r>
            <a:r>
              <a:rPr lang="en-US" altLang="zh-CN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JAVA</a:t>
            </a:r>
            <a:r>
              <a:rPr lang="zh-CN" altLang="en-US" sz="1400" b="1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）</a:t>
            </a:r>
            <a:endParaRPr lang="zh-CN" altLang="en-US" sz="14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3" name="TextBox 65"/>
          <p:cNvSpPr txBox="1"/>
          <p:nvPr/>
        </p:nvSpPr>
        <p:spPr bwMode="auto">
          <a:xfrm>
            <a:off x="2214599" y="3060281"/>
            <a:ext cx="989061" cy="270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400" dirty="0" smtClean="0">
                <a:latin typeface="+mn-lt"/>
                <a:ea typeface="+mn-ea"/>
                <a:cs typeface="+mn-ea"/>
                <a:sym typeface="+mn-lt"/>
              </a:rPr>
              <a:t>数据备份</a:t>
            </a:r>
            <a:endParaRPr lang="en-US" altLang="zh-CN" sz="14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4" name="TextBox 66"/>
          <p:cNvSpPr txBox="1"/>
          <p:nvPr/>
        </p:nvSpPr>
        <p:spPr bwMode="auto">
          <a:xfrm>
            <a:off x="3260812" y="3060281"/>
            <a:ext cx="989061" cy="270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400" dirty="0" smtClean="0">
                <a:latin typeface="+mn-lt"/>
                <a:ea typeface="+mn-ea"/>
                <a:cs typeface="+mn-ea"/>
                <a:sym typeface="+mn-lt"/>
              </a:rPr>
              <a:t>例行检查</a:t>
            </a:r>
            <a:endParaRPr lang="en-US" altLang="zh-CN" sz="14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5" name="TextBox 67"/>
          <p:cNvSpPr txBox="1"/>
          <p:nvPr/>
        </p:nvSpPr>
        <p:spPr bwMode="auto">
          <a:xfrm>
            <a:off x="4336014" y="3060281"/>
            <a:ext cx="989061" cy="270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400" dirty="0" smtClean="0">
                <a:latin typeface="+mn-lt"/>
                <a:ea typeface="+mn-ea"/>
                <a:cs typeface="+mn-ea"/>
                <a:sym typeface="+mn-lt"/>
              </a:rPr>
              <a:t>智能分析</a:t>
            </a:r>
            <a:endParaRPr lang="en-US" altLang="zh-CN" sz="14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6" name="TextBox 68"/>
          <p:cNvSpPr txBox="1"/>
          <p:nvPr/>
        </p:nvSpPr>
        <p:spPr bwMode="auto">
          <a:xfrm>
            <a:off x="5421052" y="3054662"/>
            <a:ext cx="989061" cy="270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400" dirty="0" smtClean="0">
                <a:latin typeface="+mn-lt"/>
                <a:ea typeface="+mn-ea"/>
                <a:cs typeface="+mn-ea"/>
                <a:sym typeface="+mn-lt"/>
              </a:rPr>
              <a:t>智能预警</a:t>
            </a:r>
            <a:endParaRPr lang="en-US" altLang="zh-CN" sz="14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7" name="Rectangle 28"/>
          <p:cNvSpPr/>
          <p:nvPr/>
        </p:nvSpPr>
        <p:spPr>
          <a:xfrm>
            <a:off x="2122087" y="6308759"/>
            <a:ext cx="1373798" cy="3162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solidFill>
                  <a:schemeClr val="tx1"/>
                </a:solidFill>
                <a:cs typeface="+mn-ea"/>
                <a:sym typeface="+mn-lt"/>
              </a:rPr>
              <a:t>华为</a:t>
            </a:r>
            <a:endParaRPr 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68" name="Rectangle 28"/>
          <p:cNvSpPr/>
          <p:nvPr/>
        </p:nvSpPr>
        <p:spPr>
          <a:xfrm>
            <a:off x="3644880" y="6313783"/>
            <a:ext cx="1325073" cy="3162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solidFill>
                  <a:schemeClr val="tx1"/>
                </a:solidFill>
                <a:cs typeface="+mn-ea"/>
                <a:sym typeface="+mn-lt"/>
              </a:rPr>
              <a:t>爱立信</a:t>
            </a:r>
            <a:endParaRPr 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69" name="Rectangle 28"/>
          <p:cNvSpPr/>
          <p:nvPr/>
        </p:nvSpPr>
        <p:spPr>
          <a:xfrm>
            <a:off x="5137119" y="6311317"/>
            <a:ext cx="1433414" cy="3162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solidFill>
                  <a:schemeClr val="tx1"/>
                </a:solidFill>
                <a:cs typeface="+mn-ea"/>
                <a:sym typeface="+mn-lt"/>
              </a:rPr>
              <a:t>阿尔卡特</a:t>
            </a:r>
            <a:endParaRPr 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70" name="TextBox 72"/>
          <p:cNvSpPr txBox="1"/>
          <p:nvPr/>
        </p:nvSpPr>
        <p:spPr bwMode="auto">
          <a:xfrm>
            <a:off x="2222074" y="2755055"/>
            <a:ext cx="4188039" cy="270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400" dirty="0" smtClean="0">
                <a:latin typeface="+mn-lt"/>
                <a:ea typeface="+mn-ea"/>
                <a:cs typeface="+mn-ea"/>
                <a:sym typeface="+mn-lt"/>
              </a:rPr>
              <a:t>智能运维体检</a:t>
            </a:r>
            <a:endParaRPr lang="en-US" altLang="zh-CN" sz="14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1" name="TextBox 73"/>
          <p:cNvSpPr txBox="1"/>
          <p:nvPr/>
        </p:nvSpPr>
        <p:spPr bwMode="auto">
          <a:xfrm>
            <a:off x="2112783" y="856105"/>
            <a:ext cx="1066495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200" dirty="0" smtClean="0">
                <a:latin typeface="+mn-lt"/>
                <a:ea typeface="+mn-ea"/>
                <a:cs typeface="+mn-ea"/>
                <a:sym typeface="+mn-lt"/>
              </a:rPr>
              <a:t>全景呈现</a:t>
            </a:r>
            <a:endParaRPr lang="en-US" altLang="zh-CN" sz="12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2" name="TextBox 74"/>
          <p:cNvSpPr txBox="1"/>
          <p:nvPr/>
        </p:nvSpPr>
        <p:spPr bwMode="auto">
          <a:xfrm>
            <a:off x="3333698" y="856104"/>
            <a:ext cx="1060191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200" dirty="0" smtClean="0">
                <a:latin typeface="+mn-lt"/>
                <a:ea typeface="+mn-ea"/>
                <a:cs typeface="+mn-ea"/>
                <a:sym typeface="+mn-lt"/>
              </a:rPr>
              <a:t>日常维护</a:t>
            </a:r>
            <a:endParaRPr lang="en-US" altLang="zh-CN" sz="12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3" name="TextBox 75"/>
          <p:cNvSpPr txBox="1"/>
          <p:nvPr/>
        </p:nvSpPr>
        <p:spPr bwMode="auto">
          <a:xfrm>
            <a:off x="4500622" y="856104"/>
            <a:ext cx="1071667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200" dirty="0" smtClean="0">
                <a:latin typeface="+mn-lt"/>
                <a:ea typeface="+mn-ea"/>
                <a:cs typeface="+mn-ea"/>
                <a:sym typeface="+mn-lt"/>
              </a:rPr>
              <a:t>应急保障</a:t>
            </a:r>
            <a:endParaRPr lang="en-US" altLang="zh-CN" sz="12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4" name="TextBox 76"/>
          <p:cNvSpPr txBox="1"/>
          <p:nvPr/>
        </p:nvSpPr>
        <p:spPr bwMode="auto">
          <a:xfrm>
            <a:off x="5698486" y="856104"/>
            <a:ext cx="1071667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200" dirty="0" smtClean="0">
                <a:latin typeface="+mn-lt"/>
                <a:ea typeface="+mn-ea"/>
                <a:cs typeface="+mn-ea"/>
                <a:sym typeface="+mn-lt"/>
              </a:rPr>
              <a:t>网络规划</a:t>
            </a:r>
            <a:endParaRPr lang="en-US" altLang="zh-CN" sz="1200" dirty="0" smtClean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5" name="文本框 68"/>
          <p:cNvSpPr txBox="1"/>
          <p:nvPr/>
        </p:nvSpPr>
        <p:spPr>
          <a:xfrm>
            <a:off x="3561790" y="155948"/>
            <a:ext cx="3314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 smtClean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2800" b="1" dirty="0" smtClean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endParaRPr lang="zh-CN" altLang="en-US" sz="2800" b="1" dirty="0"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8980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</a:p>
        </p:txBody>
      </p:sp>
      <p:sp>
        <p:nvSpPr>
          <p:cNvPr id="3" name="Rectangle 35"/>
          <p:cNvSpPr>
            <a:spLocks noChangeArrowheads="1"/>
          </p:cNvSpPr>
          <p:nvPr/>
        </p:nvSpPr>
        <p:spPr bwMode="auto">
          <a:xfrm>
            <a:off x="3979314" y="1360679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一、建设背景</a:t>
            </a:r>
          </a:p>
        </p:txBody>
      </p:sp>
      <p:sp>
        <p:nvSpPr>
          <p:cNvPr id="4" name="Rectangle 35"/>
          <p:cNvSpPr>
            <a:spLocks noChangeArrowheads="1"/>
          </p:cNvSpPr>
          <p:nvPr/>
        </p:nvSpPr>
        <p:spPr bwMode="auto">
          <a:xfrm>
            <a:off x="3979314" y="2507159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二、建设目标</a:t>
            </a:r>
          </a:p>
        </p:txBody>
      </p:sp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3979314" y="3686658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三、计划与举措</a:t>
            </a:r>
          </a:p>
        </p:txBody>
      </p:sp>
      <p:sp>
        <p:nvSpPr>
          <p:cNvPr id="6" name="Rectangle 35"/>
          <p:cNvSpPr>
            <a:spLocks noChangeArrowheads="1"/>
          </p:cNvSpPr>
          <p:nvPr/>
        </p:nvSpPr>
        <p:spPr bwMode="auto">
          <a:xfrm>
            <a:off x="3979314" y="4811878"/>
            <a:ext cx="3739324" cy="816994"/>
          </a:xfrm>
          <a:prstGeom prst="rect">
            <a:avLst/>
          </a:prstGeom>
          <a:solidFill>
            <a:srgbClr val="CC000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>
            <a:noAutofit/>
          </a:bodyPr>
          <a:lstStyle/>
          <a:p>
            <a:pPr defTabSz="800735" fontAlgn="base"/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四、应用场景</a:t>
            </a:r>
          </a:p>
        </p:txBody>
      </p:sp>
    </p:spTree>
    <p:extLst>
      <p:ext uri="{BB962C8B-B14F-4D97-AF65-F5344CB8AC3E}">
        <p14:creationId xmlns:p14="http://schemas.microsoft.com/office/powerpoint/2010/main" val="3153064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50" y="616342"/>
            <a:ext cx="11777500" cy="638847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649250" y="213111"/>
            <a:ext cx="59843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网络设备可视化</a:t>
            </a:r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场景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12618" y="5846618"/>
            <a:ext cx="5043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一览掌握全网网络拓扑关系、设备状态等信息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447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395" y="1144109"/>
            <a:ext cx="10102851" cy="467099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49250" y="213111"/>
            <a:ext cx="59843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业务质量可视化</a:t>
            </a:r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场景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230106" y="6161323"/>
            <a:ext cx="4512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一览掌握全业务业务分布和质量状态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45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28899" y="1101246"/>
            <a:ext cx="9589174" cy="4515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04293" y="2108392"/>
            <a:ext cx="4033641" cy="26389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直接箭头连接符 3"/>
          <p:cNvCxnSpPr/>
          <p:nvPr/>
        </p:nvCxnSpPr>
        <p:spPr>
          <a:xfrm>
            <a:off x="4346936" y="3573195"/>
            <a:ext cx="213808" cy="3328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523223" y="2049086"/>
            <a:ext cx="2256245" cy="2356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22"/>
          <p:cNvSpPr txBox="1"/>
          <p:nvPr/>
        </p:nvSpPr>
        <p:spPr>
          <a:xfrm>
            <a:off x="4066622" y="5754484"/>
            <a:ext cx="3830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一览掌握核心机房资源信息、设备状态</a:t>
            </a:r>
            <a:endParaRPr lang="en-US" altLang="zh-CN" sz="1600" b="1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9250" y="213111"/>
            <a:ext cx="51635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资管可视化</a:t>
            </a:r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场景</a:t>
            </a:r>
          </a:p>
        </p:txBody>
      </p:sp>
    </p:spTree>
    <p:extLst>
      <p:ext uri="{BB962C8B-B14F-4D97-AF65-F5344CB8AC3E}">
        <p14:creationId xmlns:p14="http://schemas.microsoft.com/office/powerpoint/2010/main" val="2504530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10536" y="1387365"/>
            <a:ext cx="8897251" cy="3889116"/>
          </a:xfrm>
          <a:prstGeom prst="rect">
            <a:avLst/>
          </a:prstGeom>
        </p:spPr>
      </p:pic>
      <p:sp>
        <p:nvSpPr>
          <p:cNvPr id="3" name="圆角矩形 2"/>
          <p:cNvSpPr/>
          <p:nvPr/>
        </p:nvSpPr>
        <p:spPr>
          <a:xfrm>
            <a:off x="1362075" y="1015889"/>
            <a:ext cx="3924300" cy="4365911"/>
          </a:xfrm>
          <a:prstGeom prst="roundRect">
            <a:avLst/>
          </a:prstGeom>
          <a:noFill/>
          <a:ln w="28575" cap="flat" cmpd="sng" algn="ctr">
            <a:solidFill>
              <a:srgbClr val="00AC4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5286374" y="1015891"/>
            <a:ext cx="1876425" cy="4365910"/>
          </a:xfrm>
          <a:prstGeom prst="roundRect">
            <a:avLst/>
          </a:prstGeom>
          <a:noFill/>
          <a:ln w="28575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7162799" y="1015889"/>
            <a:ext cx="3638551" cy="4365911"/>
          </a:xfrm>
          <a:prstGeom prst="roundRect">
            <a:avLst/>
          </a:prstGeom>
          <a:noFill/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97425" y="1064555"/>
            <a:ext cx="1837415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 smtClean="0"/>
              <a:t>自动获取数据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408295" y="1048513"/>
            <a:ext cx="1571626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 smtClean="0"/>
              <a:t>关键信息提取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8033882" y="1097379"/>
            <a:ext cx="2283597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 smtClean="0"/>
              <a:t>自动撰写报告和通报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649250" y="213111"/>
            <a:ext cx="51635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日报撰写机器人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227589" y="5753274"/>
            <a:ext cx="5504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1-2</a:t>
            </a:r>
            <a:r>
              <a:rPr lang="zh-CN" altLang="en-US" b="1" dirty="0" smtClean="0">
                <a:solidFill>
                  <a:srgbClr val="FF0000"/>
                </a:solidFill>
              </a:rPr>
              <a:t>小时</a:t>
            </a:r>
            <a:r>
              <a:rPr lang="en-US" altLang="zh-CN" b="1" dirty="0" smtClean="0">
                <a:solidFill>
                  <a:srgbClr val="FF0000"/>
                </a:solidFill>
              </a:rPr>
              <a:t>/</a:t>
            </a:r>
            <a:r>
              <a:rPr lang="zh-CN" altLang="en-US" b="1" dirty="0" smtClean="0">
                <a:solidFill>
                  <a:srgbClr val="FF0000"/>
                </a:solidFill>
              </a:rPr>
              <a:t>人天缩短至</a:t>
            </a:r>
            <a:r>
              <a:rPr lang="en-US" altLang="zh-CN" b="1" dirty="0" smtClean="0">
                <a:solidFill>
                  <a:srgbClr val="FF0000"/>
                </a:solidFill>
              </a:rPr>
              <a:t>5</a:t>
            </a:r>
            <a:r>
              <a:rPr lang="zh-CN" altLang="en-US" b="1" dirty="0" smtClean="0">
                <a:solidFill>
                  <a:srgbClr val="FF0000"/>
                </a:solidFill>
              </a:rPr>
              <a:t>分钟</a:t>
            </a:r>
            <a:r>
              <a:rPr lang="en-US" altLang="zh-CN" b="1" dirty="0" smtClean="0">
                <a:solidFill>
                  <a:srgbClr val="FF0000"/>
                </a:solidFill>
              </a:rPr>
              <a:t>/</a:t>
            </a:r>
            <a:r>
              <a:rPr lang="zh-CN" altLang="en-US" b="1" dirty="0" smtClean="0">
                <a:solidFill>
                  <a:srgbClr val="FF0000"/>
                </a:solidFill>
              </a:rPr>
              <a:t>天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488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49250" y="213111"/>
            <a:ext cx="43428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局数据核查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9250" y="1191491"/>
            <a:ext cx="10850023" cy="51400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29943" y="2282555"/>
            <a:ext cx="1582553" cy="1082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tx1"/>
                </a:solidFill>
              </a:rPr>
              <a:t>城域网所有</a:t>
            </a:r>
            <a:r>
              <a:rPr lang="en-US" altLang="zh-CN" dirty="0" smtClean="0">
                <a:solidFill>
                  <a:schemeClr val="tx1"/>
                </a:solidFill>
              </a:rPr>
              <a:t>SW</a:t>
            </a:r>
            <a:r>
              <a:rPr lang="zh-CN" altLang="en-US" dirty="0" smtClean="0">
                <a:solidFill>
                  <a:schemeClr val="tx1"/>
                </a:solidFill>
              </a:rPr>
              <a:t>网元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tx1"/>
                </a:solidFill>
              </a:rPr>
              <a:t>每周一凌晨</a:t>
            </a:r>
            <a:r>
              <a:rPr lang="en-US" altLang="zh-CN" dirty="0" smtClean="0">
                <a:solidFill>
                  <a:schemeClr val="tx1"/>
                </a:solidFill>
              </a:rPr>
              <a:t>02:00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28740" y="1486265"/>
            <a:ext cx="1582553" cy="731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创建任务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665895" y="1486265"/>
            <a:ext cx="1790806" cy="731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局数据检查功能块自动执行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箭头连接符 16"/>
          <p:cNvCxnSpPr>
            <a:stCxn id="15" idx="3"/>
            <a:endCxn id="16" idx="1"/>
          </p:cNvCxnSpPr>
          <p:nvPr/>
        </p:nvCxnSpPr>
        <p:spPr>
          <a:xfrm>
            <a:off x="2311293" y="1852025"/>
            <a:ext cx="135460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9615125" y="3689210"/>
            <a:ext cx="1582553" cy="731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结果呈现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箭头连接符 19"/>
          <p:cNvCxnSpPr>
            <a:stCxn id="31" idx="0"/>
            <a:endCxn id="19" idx="1"/>
          </p:cNvCxnSpPr>
          <p:nvPr/>
        </p:nvCxnSpPr>
        <p:spPr>
          <a:xfrm>
            <a:off x="8448632" y="4053850"/>
            <a:ext cx="1166493" cy="11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9615124" y="4537455"/>
            <a:ext cx="1582553" cy="10591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tx1"/>
                </a:solidFill>
              </a:rPr>
              <a:t>检查记录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tx1"/>
                </a:solidFill>
              </a:rPr>
              <a:t>详细报告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 flipH="1">
            <a:off x="2387999" y="1469090"/>
            <a:ext cx="14125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每周一</a:t>
            </a:r>
            <a:r>
              <a:rPr lang="en-US" altLang="zh-CN" sz="1600" dirty="0" smtClean="0"/>
              <a:t>02:00</a:t>
            </a:r>
            <a:endParaRPr lang="zh-CN" altLang="en-US" sz="1600" dirty="0"/>
          </a:p>
        </p:txBody>
      </p:sp>
      <p:sp>
        <p:nvSpPr>
          <p:cNvPr id="23" name="TextBox 22"/>
          <p:cNvSpPr txBox="1"/>
          <p:nvPr/>
        </p:nvSpPr>
        <p:spPr>
          <a:xfrm flipH="1">
            <a:off x="8520542" y="3665371"/>
            <a:ext cx="10253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任务完成</a:t>
            </a:r>
            <a:endParaRPr lang="zh-CN" altLang="en-US" sz="1600" dirty="0"/>
          </a:p>
        </p:txBody>
      </p:sp>
      <p:sp>
        <p:nvSpPr>
          <p:cNvPr id="33" name="椭圆 32"/>
          <p:cNvSpPr/>
          <p:nvPr/>
        </p:nvSpPr>
        <p:spPr>
          <a:xfrm>
            <a:off x="1080656" y="4771540"/>
            <a:ext cx="1440871" cy="113955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网元</a:t>
            </a:r>
            <a:endParaRPr lang="en-US" altLang="zh-CN" sz="16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（配置文件）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4576854" y="4771540"/>
            <a:ext cx="648225" cy="113955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临时库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3523488" y="4771540"/>
            <a:ext cx="648225" cy="113955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采集接口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5549192" y="4771540"/>
            <a:ext cx="648225" cy="113955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数据处理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6521529" y="4771540"/>
            <a:ext cx="648225" cy="113955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局数据库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8" name="直接箭头连接符 37"/>
          <p:cNvCxnSpPr>
            <a:stCxn id="33" idx="6"/>
            <a:endCxn id="35" idx="2"/>
          </p:cNvCxnSpPr>
          <p:nvPr/>
        </p:nvCxnSpPr>
        <p:spPr>
          <a:xfrm>
            <a:off x="2521527" y="5341316"/>
            <a:ext cx="1001961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35" idx="6"/>
            <a:endCxn id="34" idx="2"/>
          </p:cNvCxnSpPr>
          <p:nvPr/>
        </p:nvCxnSpPr>
        <p:spPr>
          <a:xfrm>
            <a:off x="4171713" y="5341316"/>
            <a:ext cx="40514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34" idx="6"/>
            <a:endCxn id="36" idx="2"/>
          </p:cNvCxnSpPr>
          <p:nvPr/>
        </p:nvCxnSpPr>
        <p:spPr>
          <a:xfrm>
            <a:off x="5225079" y="5341316"/>
            <a:ext cx="32411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36" idx="6"/>
            <a:endCxn id="37" idx="2"/>
          </p:cNvCxnSpPr>
          <p:nvPr/>
        </p:nvCxnSpPr>
        <p:spPr>
          <a:xfrm>
            <a:off x="6197417" y="5341316"/>
            <a:ext cx="32411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6222061" y="2772995"/>
            <a:ext cx="1234227" cy="548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局数据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检查标准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7" name="直接箭头连接符 26"/>
          <p:cNvCxnSpPr>
            <a:stCxn id="30" idx="2"/>
            <a:endCxn id="37" idx="0"/>
          </p:cNvCxnSpPr>
          <p:nvPr/>
        </p:nvCxnSpPr>
        <p:spPr>
          <a:xfrm>
            <a:off x="6845641" y="4465330"/>
            <a:ext cx="1" cy="30621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流程图: 决策 29"/>
          <p:cNvSpPr/>
          <p:nvPr/>
        </p:nvSpPr>
        <p:spPr>
          <a:xfrm>
            <a:off x="6370409" y="3642370"/>
            <a:ext cx="950464" cy="82296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核查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1" name="六边形 30"/>
          <p:cNvSpPr/>
          <p:nvPr/>
        </p:nvSpPr>
        <p:spPr>
          <a:xfrm>
            <a:off x="7837827" y="3642370"/>
            <a:ext cx="610805" cy="822960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结果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2" name="直接箭头连接符 31"/>
          <p:cNvCxnSpPr/>
          <p:nvPr/>
        </p:nvCxnSpPr>
        <p:spPr>
          <a:xfrm>
            <a:off x="7320873" y="4053850"/>
            <a:ext cx="51695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16" idx="2"/>
            <a:endCxn id="35" idx="0"/>
          </p:cNvCxnSpPr>
          <p:nvPr/>
        </p:nvCxnSpPr>
        <p:spPr>
          <a:xfrm flipH="1">
            <a:off x="3847601" y="2217785"/>
            <a:ext cx="713697" cy="25537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981603" y="3131284"/>
            <a:ext cx="1210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局数据采集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任务调度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 flipH="1">
            <a:off x="2657485" y="4937800"/>
            <a:ext cx="8200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/>
              <a:t>Telnet</a:t>
            </a:r>
            <a:endParaRPr lang="zh-CN" altLang="en-US" sz="1600" dirty="0"/>
          </a:p>
        </p:txBody>
      </p:sp>
      <p:cxnSp>
        <p:nvCxnSpPr>
          <p:cNvPr id="66" name="直接箭头连接符 65"/>
          <p:cNvCxnSpPr>
            <a:stCxn id="26" idx="2"/>
            <a:endCxn id="30" idx="0"/>
          </p:cNvCxnSpPr>
          <p:nvPr/>
        </p:nvCxnSpPr>
        <p:spPr>
          <a:xfrm>
            <a:off x="6839175" y="3321635"/>
            <a:ext cx="6466" cy="320735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1212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49250" y="213111"/>
            <a:ext cx="47532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故障提前预防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93567" y="1213385"/>
            <a:ext cx="9263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案例：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地址锁死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93567" y="1918848"/>
            <a:ext cx="5367131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描述：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BNG\BARS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设备中用户登记的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地址锁死导致无法使用家宽或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IPTV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业务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五边形 7"/>
          <p:cNvSpPr/>
          <p:nvPr/>
        </p:nvSpPr>
        <p:spPr>
          <a:xfrm>
            <a:off x="1058520" y="2955974"/>
            <a:ext cx="1913280" cy="3876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感知区间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燕尾形 9"/>
          <p:cNvSpPr/>
          <p:nvPr/>
        </p:nvSpPr>
        <p:spPr>
          <a:xfrm>
            <a:off x="3091070" y="2955974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燕尾形 12"/>
          <p:cNvSpPr/>
          <p:nvPr/>
        </p:nvSpPr>
        <p:spPr>
          <a:xfrm>
            <a:off x="4959627" y="2955974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燕尾形 14"/>
          <p:cNvSpPr/>
          <p:nvPr/>
        </p:nvSpPr>
        <p:spPr>
          <a:xfrm>
            <a:off x="6828184" y="2955974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燕尾形 15"/>
          <p:cNvSpPr/>
          <p:nvPr/>
        </p:nvSpPr>
        <p:spPr>
          <a:xfrm>
            <a:off x="8696741" y="2955974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1058520" y="3578086"/>
            <a:ext cx="9387508" cy="1633635"/>
          </a:xfrm>
          <a:prstGeom prst="roundRect">
            <a:avLst/>
          </a:prstGeom>
          <a:solidFill>
            <a:schemeClr val="accent3">
              <a:alpha val="39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圆角矩形 22"/>
          <p:cNvSpPr/>
          <p:nvPr/>
        </p:nvSpPr>
        <p:spPr>
          <a:xfrm>
            <a:off x="1058520" y="5304163"/>
            <a:ext cx="9387508" cy="1454446"/>
          </a:xfrm>
          <a:prstGeom prst="roundRect">
            <a:avLst/>
          </a:prstGeom>
          <a:solidFill>
            <a:srgbClr val="8EC31F">
              <a:alpha val="39000"/>
            </a:srgb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38193" y="3886200"/>
            <a:ext cx="755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离线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38193" y="5512237"/>
            <a:ext cx="755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endParaRPr lang="zh-CN" altLang="en-US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68771" y="3506319"/>
            <a:ext cx="1133060" cy="17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投诉工单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信令系统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链路数据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121260" y="3721859"/>
            <a:ext cx="1441174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选择模型进行训练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参数更新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982240" y="3963438"/>
            <a:ext cx="1441174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113683" y="4664208"/>
            <a:ext cx="1332384" cy="3545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rgbClr val="FF0000"/>
                </a:solidFill>
              </a:rPr>
              <a:t>根据重要程度确定更新频率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2573303" y="3877901"/>
            <a:ext cx="346295" cy="4254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右箭头 21"/>
          <p:cNvSpPr/>
          <p:nvPr/>
        </p:nvSpPr>
        <p:spPr>
          <a:xfrm>
            <a:off x="4700175" y="3847914"/>
            <a:ext cx="346295" cy="4254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3058644" y="3639120"/>
            <a:ext cx="1614321" cy="6160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右箭头 31"/>
          <p:cNvSpPr/>
          <p:nvPr/>
        </p:nvSpPr>
        <p:spPr>
          <a:xfrm rot="10800000">
            <a:off x="4694220" y="4572869"/>
            <a:ext cx="346295" cy="425462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3318635" y="3548421"/>
            <a:ext cx="1441174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数据清洗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结构化存储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3091070" y="4431776"/>
            <a:ext cx="1595230" cy="616098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3185490" y="4389537"/>
            <a:ext cx="1441174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已更新模型的存储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169183" y="5327138"/>
            <a:ext cx="113306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信令系统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链路数据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2625504" y="5696903"/>
            <a:ext cx="346295" cy="416383"/>
          </a:xfrm>
          <a:prstGeom prst="rightArrow">
            <a:avLst/>
          </a:prstGeom>
          <a:solidFill>
            <a:srgbClr val="8EC3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3292458" y="5535593"/>
            <a:ext cx="1441174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数据清洗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结构化存储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右箭头 36"/>
          <p:cNvSpPr/>
          <p:nvPr/>
        </p:nvSpPr>
        <p:spPr>
          <a:xfrm>
            <a:off x="4733632" y="5696903"/>
            <a:ext cx="346295" cy="416383"/>
          </a:xfrm>
          <a:prstGeom prst="rightArrow">
            <a:avLst/>
          </a:prstGeom>
          <a:solidFill>
            <a:srgbClr val="8EC3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右箭头 37"/>
          <p:cNvSpPr/>
          <p:nvPr/>
        </p:nvSpPr>
        <p:spPr>
          <a:xfrm>
            <a:off x="6708914" y="5691007"/>
            <a:ext cx="346295" cy="416383"/>
          </a:xfrm>
          <a:prstGeom prst="rightArrow">
            <a:avLst/>
          </a:prstGeom>
          <a:solidFill>
            <a:srgbClr val="8EC3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右箭头 38"/>
          <p:cNvSpPr/>
          <p:nvPr/>
        </p:nvSpPr>
        <p:spPr>
          <a:xfrm>
            <a:off x="8577471" y="5673377"/>
            <a:ext cx="346295" cy="416383"/>
          </a:xfrm>
          <a:prstGeom prst="rightArrow">
            <a:avLst/>
          </a:prstGeom>
          <a:solidFill>
            <a:srgbClr val="8EC31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5084996" y="5573755"/>
            <a:ext cx="14411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利用模型判断是否即将发生锁死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055209" y="5593367"/>
            <a:ext cx="14411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控制任务调度执行预定义操作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8964310" y="5593367"/>
            <a:ext cx="1441174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执行预防措施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（强制下线）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6332" y="3301981"/>
            <a:ext cx="5314286" cy="13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30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3" grpId="0" animBg="1"/>
      <p:bldP spid="15" grpId="0" animBg="1"/>
      <p:bldP spid="16" grpId="0" animBg="1"/>
      <p:bldP spid="2" grpId="0" animBg="1"/>
      <p:bldP spid="23" grpId="0" animBg="1"/>
      <p:bldP spid="3" grpId="0"/>
      <p:bldP spid="24" grpId="0"/>
      <p:bldP spid="4" grpId="0"/>
      <p:bldP spid="26" grpId="0"/>
      <p:bldP spid="6" grpId="0" animBg="1"/>
      <p:bldP spid="7" grpId="0" animBg="1"/>
      <p:bldP spid="22" grpId="0" animBg="1"/>
      <p:bldP spid="11" grpId="0" animBg="1"/>
      <p:bldP spid="32" grpId="0" animBg="1"/>
      <p:bldP spid="25" grpId="0"/>
      <p:bldP spid="34" grpId="0" animBg="1"/>
      <p:bldP spid="33" grpId="0"/>
      <p:bldP spid="35" grpId="0"/>
      <p:bldP spid="14" grpId="0" animBg="1"/>
      <p:bldP spid="36" grpId="0"/>
      <p:bldP spid="37" grpId="0" animBg="1"/>
      <p:bldP spid="38" grpId="0" animBg="1"/>
      <p:bldP spid="39" grpId="0" animBg="1"/>
      <p:bldP spid="40" grpId="0"/>
      <p:bldP spid="41" grpId="0"/>
      <p:bldP spid="4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893567" y="1918848"/>
            <a:ext cx="53671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描述：热备出现故障导致主备链路均处于启用状态，用户业务出现异常。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346" y="2811863"/>
            <a:ext cx="3842833" cy="3529812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8082" y="1851520"/>
            <a:ext cx="3953925" cy="3446629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49250" y="213111"/>
            <a:ext cx="47532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故障定位辅助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93567" y="1266034"/>
            <a:ext cx="9263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案例：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双主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故障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8725" y="1136823"/>
            <a:ext cx="5861427" cy="487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765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649250" y="213111"/>
            <a:ext cx="47532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故障辅助</a:t>
            </a:r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定位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93567" y="1266034"/>
            <a:ext cx="9263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案例：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双主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故障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3992" y="2743200"/>
            <a:ext cx="1124078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投诉工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单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拓扑关联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工程工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单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信令系统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链路数据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46855" y="2673626"/>
            <a:ext cx="427382" cy="10156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实时采集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146855" y="4035861"/>
            <a:ext cx="427382" cy="83099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实时采集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五边形 5"/>
          <p:cNvSpPr/>
          <p:nvPr/>
        </p:nvSpPr>
        <p:spPr>
          <a:xfrm>
            <a:off x="1058520" y="1981938"/>
            <a:ext cx="1913280" cy="3876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感知区间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燕尾形 6"/>
          <p:cNvSpPr/>
          <p:nvPr/>
        </p:nvSpPr>
        <p:spPr>
          <a:xfrm>
            <a:off x="3091070" y="1981938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344517" y="2927866"/>
            <a:ext cx="12423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数据清洗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结构化存储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提取模型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燕尾形 16"/>
          <p:cNvSpPr/>
          <p:nvPr/>
        </p:nvSpPr>
        <p:spPr>
          <a:xfrm>
            <a:off x="4959627" y="1981938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138983" y="3454799"/>
            <a:ext cx="1272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选取问题诊断模型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燕尾形 18"/>
          <p:cNvSpPr/>
          <p:nvPr/>
        </p:nvSpPr>
        <p:spPr>
          <a:xfrm>
            <a:off x="6828184" y="1981938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燕尾形 19"/>
          <p:cNvSpPr/>
          <p:nvPr/>
        </p:nvSpPr>
        <p:spPr>
          <a:xfrm>
            <a:off x="8696741" y="1981938"/>
            <a:ext cx="1749287" cy="38762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执行区间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108737" y="3454798"/>
            <a:ext cx="11881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将分析结果控制下发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通知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接收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对象，发送方式等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256683" y="3362467"/>
            <a:ext cx="427382" cy="83099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50384" y="3387176"/>
            <a:ext cx="427382" cy="83099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通知控制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504" y="1790142"/>
            <a:ext cx="7399292" cy="3556125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8876999" y="3430087"/>
            <a:ext cx="1188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诊断建议通知下发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0018646" y="3362465"/>
            <a:ext cx="427382" cy="83099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通知控制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137652" y="3728158"/>
            <a:ext cx="1311677" cy="298457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圆角矩形 28"/>
          <p:cNvSpPr/>
          <p:nvPr/>
        </p:nvSpPr>
        <p:spPr>
          <a:xfrm>
            <a:off x="6331226" y="4477546"/>
            <a:ext cx="1237134" cy="298457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6915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11" grpId="0" animBg="1"/>
      <p:bldP spid="6" grpId="0" animBg="1"/>
      <p:bldP spid="7" grpId="0" animBg="1"/>
      <p:bldP spid="8" grpId="0"/>
      <p:bldP spid="17" grpId="0" animBg="1"/>
      <p:bldP spid="13" grpId="0"/>
      <p:bldP spid="19" grpId="0" animBg="1"/>
      <p:bldP spid="20" grpId="0" animBg="1"/>
      <p:bldP spid="21" grpId="0"/>
      <p:bldP spid="22" grpId="0" animBg="1"/>
      <p:bldP spid="23" grpId="0" animBg="1"/>
      <p:bldP spid="26" grpId="0"/>
      <p:bldP spid="27" grpId="0" animBg="1"/>
      <p:bldP spid="28" grpId="0" animBg="1"/>
      <p:bldP spid="28" grpId="1" animBg="1"/>
      <p:bldP spid="29" grpId="0" animBg="1"/>
      <p:bldP spid="29" grpId="1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y1vaxvfi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25763</TotalTime>
  <Words>1698</Words>
  <Application>Microsoft Office PowerPoint</Application>
  <PresentationFormat>宽屏</PresentationFormat>
  <Paragraphs>355</Paragraphs>
  <Slides>26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6" baseType="lpstr">
      <vt:lpstr>Lato Light</vt:lpstr>
      <vt:lpstr>华文行楷</vt:lpstr>
      <vt:lpstr>宋体</vt:lpstr>
      <vt:lpstr>Microsoft YaHei</vt:lpstr>
      <vt:lpstr>Microsoft YaHei</vt:lpstr>
      <vt:lpstr>Arial</vt:lpstr>
      <vt:lpstr>Calibri</vt:lpstr>
      <vt:lpstr>Harlow Solid Italic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数据中心</dc:title>
  <dc:creator>Qinghai LI</dc:creator>
  <cp:lastModifiedBy>cong x</cp:lastModifiedBy>
  <cp:revision>5633</cp:revision>
  <dcterms:created xsi:type="dcterms:W3CDTF">2015-05-05T08:02:00Z</dcterms:created>
  <dcterms:modified xsi:type="dcterms:W3CDTF">2018-04-13T01:23:42Z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2052-10.1.0.6393</vt:lpwstr>
  </property>
</Properties>
</file>