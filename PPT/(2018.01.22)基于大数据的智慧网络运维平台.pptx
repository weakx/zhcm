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0" r:id="rId2"/>
    <p:sldId id="257" r:id="rId3"/>
    <p:sldId id="319" r:id="rId4"/>
    <p:sldId id="271" r:id="rId5"/>
    <p:sldId id="388" r:id="rId6"/>
    <p:sldId id="400" r:id="rId7"/>
    <p:sldId id="348" r:id="rId8"/>
    <p:sldId id="349" r:id="rId9"/>
    <p:sldId id="326" r:id="rId10"/>
    <p:sldId id="401" r:id="rId11"/>
    <p:sldId id="399" r:id="rId12"/>
    <p:sldId id="350" r:id="rId13"/>
    <p:sldId id="351" r:id="rId14"/>
    <p:sldId id="321" r:id="rId15"/>
    <p:sldId id="352" r:id="rId16"/>
    <p:sldId id="385" r:id="rId17"/>
    <p:sldId id="386" r:id="rId18"/>
    <p:sldId id="373" r:id="rId19"/>
    <p:sldId id="403" r:id="rId20"/>
    <p:sldId id="374" r:id="rId21"/>
    <p:sldId id="392" r:id="rId22"/>
    <p:sldId id="404" r:id="rId23"/>
    <p:sldId id="395" r:id="rId24"/>
    <p:sldId id="356" r:id="rId25"/>
    <p:sldId id="357" r:id="rId26"/>
    <p:sldId id="358" r:id="rId27"/>
    <p:sldId id="359" r:id="rId28"/>
    <p:sldId id="360" r:id="rId29"/>
    <p:sldId id="355" r:id="rId30"/>
    <p:sldId id="277"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F4F"/>
    <a:srgbClr val="D71DCA"/>
    <a:srgbClr val="FFC000"/>
    <a:srgbClr val="D9D9D9"/>
    <a:srgbClr val="12C869"/>
    <a:srgbClr val="F2F2F2"/>
    <a:srgbClr val="A27B00"/>
    <a:srgbClr val="E73A1C"/>
    <a:srgbClr val="007A37"/>
    <a:srgbClr val="00DE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8084" autoAdjust="0"/>
  </p:normalViewPr>
  <p:slideViewPr>
    <p:cSldViewPr snapToGrid="0">
      <p:cViewPr varScale="1">
        <p:scale>
          <a:sx n="101" d="100"/>
          <a:sy n="101" d="100"/>
        </p:scale>
        <p:origin x="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3767944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406838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3034290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7</a:t>
            </a:fld>
            <a:endParaRPr lang="zh-CN" altLang="en-US"/>
          </a:p>
        </p:txBody>
      </p:sp>
    </p:spTree>
    <p:extLst>
      <p:ext uri="{BB962C8B-B14F-4D97-AF65-F5344CB8AC3E}">
        <p14:creationId xmlns:p14="http://schemas.microsoft.com/office/powerpoint/2010/main" val="388018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411683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2973529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534183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？？工程信息采集</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899256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1192697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solidFill>
                  <a:srgbClr val="FF0000"/>
                </a:solidFill>
              </a:rPr>
              <a:t>数据采集：</a:t>
            </a:r>
            <a:endParaRPr lang="en-US" altLang="zh-CN" b="1" dirty="0" smtClean="0">
              <a:solidFill>
                <a:srgbClr val="FF0000"/>
              </a:solidFill>
            </a:endParaRPr>
          </a:p>
          <a:p>
            <a:pPr indent="457200" algn="l">
              <a:lnSpc>
                <a:spcPct val="150000"/>
              </a:lnSpc>
            </a:pPr>
            <a:r>
              <a:rPr lang="en-US" altLang="zh-CN" b="1" dirty="0" smtClean="0"/>
              <a:t>	</a:t>
            </a:r>
            <a:r>
              <a:rPr lang="zh-CN" altLang="en-US" b="1" dirty="0" smtClean="0"/>
              <a:t>模块简介</a:t>
            </a:r>
          </a:p>
          <a:p>
            <a:pPr indent="457200" algn="l">
              <a:lnSpc>
                <a:spcPct val="150000"/>
              </a:lnSpc>
            </a:pPr>
            <a:r>
              <a:rPr lang="zh-CN" altLang="en-US"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	</a:t>
            </a:r>
            <a:r>
              <a:rPr lang="zh-CN" altLang="en-US" dirty="0" smtClean="0">
                <a:effectLst/>
                <a:latin typeface="微软雅黑" panose="020B0503020204020204" pitchFamily="34" charset="-122"/>
                <a:ea typeface="微软雅黑" panose="020B0503020204020204" pitchFamily="34" charset="-122"/>
                <a:sym typeface="+mn-ea"/>
              </a:rPr>
              <a:t>网络运维</a:t>
            </a:r>
            <a:r>
              <a:rPr lang="zh-CN" altLang="zh-CN" dirty="0" smtClean="0">
                <a:effectLst/>
                <a:latin typeface="微软雅黑" panose="020B0503020204020204" pitchFamily="34" charset="-122"/>
                <a:ea typeface="微软雅黑" panose="020B0503020204020204" pitchFamily="34" charset="-122"/>
                <a:sym typeface="+mn-ea"/>
              </a:rPr>
              <a:t>日常工作中数据获取</a:t>
            </a:r>
            <a:r>
              <a:rPr lang="zh-CN" altLang="en-US" dirty="0" smtClean="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smtClean="0">
                <a:effectLst/>
                <a:latin typeface="微软雅黑" panose="020B0503020204020204" pitchFamily="34" charset="-122"/>
                <a:ea typeface="微软雅黑" panose="020B0503020204020204" pitchFamily="34" charset="-122"/>
                <a:sym typeface="+mn-ea"/>
              </a:rPr>
              <a:t>    </a:t>
            </a:r>
            <a:r>
              <a:rPr lang="en-US" altLang="zh-CN" dirty="0" smtClean="0">
                <a:effectLst/>
                <a:latin typeface="微软雅黑" panose="020B0503020204020204" pitchFamily="34" charset="-122"/>
                <a:ea typeface="微软雅黑" panose="020B0503020204020204" pitchFamily="34" charset="-122"/>
                <a:sym typeface="+mn-ea"/>
              </a:rPr>
              <a:t>	</a:t>
            </a:r>
            <a:r>
              <a:rPr lang="zh-CN" altLang="en-US" dirty="0" smtClean="0">
                <a:effectLst/>
                <a:latin typeface="微软雅黑" panose="020B0503020204020204" pitchFamily="34" charset="-122"/>
                <a:ea typeface="微软雅黑" panose="020B0503020204020204" pitchFamily="34" charset="-122"/>
                <a:sym typeface="+mn-ea"/>
              </a:rPr>
              <a:t>采集系统可由用户自定义目标源，实现多个源同时自动实时上传下载文件，解决数据异源端口，手工下载不统一等繁杂问题。</a:t>
            </a:r>
            <a:endParaRPr lang="en-US" altLang="zh-CN" dirty="0" smtClean="0">
              <a:effectLst/>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t>	</a:t>
            </a:r>
            <a:r>
              <a:rPr lang="zh-CN" altLang="en-US" b="1" dirty="0" smtClean="0"/>
              <a:t>模块功能</a:t>
            </a:r>
          </a:p>
          <a:p>
            <a:pPr indent="457200" algn="l">
              <a:lnSpc>
                <a:spcPct val="150000"/>
              </a:lnSpc>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	</a:t>
            </a:r>
            <a:r>
              <a:rPr lang="zh-CN" altLang="en-US" dirty="0" smtClean="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smtClean="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自主实时采集上传</a:t>
            </a:r>
            <a:endParaRPr lang="en-US" altLang="zh-CN"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zh-CN" altLang="en-US" b="1" dirty="0" smtClean="0">
                <a:latin typeface="微软雅黑" panose="020B0503020204020204" pitchFamily="34" charset="-122"/>
                <a:ea typeface="微软雅黑" panose="020B0503020204020204" pitchFamily="34" charset="-122"/>
                <a:sym typeface="+mn-ea"/>
              </a:rPr>
              <a:t>数据处理</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模块简介：</a:t>
            </a:r>
            <a:endParaRPr lang="en-US" altLang="zh-CN" b="1" dirty="0" smtClean="0">
              <a:latin typeface="微软雅黑" panose="020B0503020204020204" pitchFamily="34" charset="-122"/>
              <a:ea typeface="微软雅黑" panose="020B0503020204020204" pitchFamily="34" charset="-122"/>
              <a:sym typeface="+mn-ea"/>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通过采集系统采集到的相关数据保留着网管侧的源格式，不具备良好的数据交互接口。需要通过解码模块变成结构化的可读数据，再上传至数据仓库。</a:t>
            </a:r>
            <a:r>
              <a:rPr lang="zh-CN" altLang="zh-CN" dirty="0" smtClean="0">
                <a:effectLst/>
                <a:latin typeface="+mn-ea"/>
                <a:sym typeface="+mn-ea"/>
              </a:rPr>
              <a:t>用于支撑上层决策等应用。</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b="1" dirty="0" smtClean="0">
                <a:latin typeface="微软雅黑" panose="020B0503020204020204" pitchFamily="34" charset="-122"/>
                <a:ea typeface="微软雅黑" panose="020B0503020204020204" pitchFamily="34" charset="-122"/>
                <a:sym typeface="+mn-ea"/>
              </a:rPr>
              <a:t>模块功能：</a:t>
            </a:r>
            <a:endParaRPr lang="en-US" altLang="zh-CN" b="1" dirty="0" smtClean="0">
              <a:latin typeface="微软雅黑" panose="020B0503020204020204" pitchFamily="34" charset="-122"/>
              <a:ea typeface="微软雅黑" panose="020B0503020204020204" pitchFamily="34" charset="-122"/>
              <a:sym typeface="+mn-ea"/>
            </a:endParaRPr>
          </a:p>
          <a:p>
            <a:pPr indent="457200" algn="l">
              <a:lnSpc>
                <a:spcPct val="150000"/>
              </a:lnSpc>
            </a:pPr>
            <a:r>
              <a:rPr lang="en-US" altLang="zh-CN" b="1" dirty="0" smtClean="0">
                <a:latin typeface="微软雅黑" panose="020B0503020204020204" pitchFamily="34" charset="-122"/>
                <a:ea typeface="微软雅黑" panose="020B0503020204020204" pitchFamily="34" charset="-122"/>
                <a:sym typeface="+mn-ea"/>
              </a:rPr>
              <a:t>	</a:t>
            </a:r>
            <a:r>
              <a:rPr lang="zh-CN" altLang="en-US" dirty="0" smtClean="0">
                <a:effectLst/>
                <a:latin typeface="+mn-ea"/>
                <a:sym typeface="+mn-ea"/>
              </a:rPr>
              <a:t>文件归类</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汇总解析</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数据入库</a:t>
            </a:r>
            <a:endParaRPr lang="en-US" altLang="zh-CN" dirty="0" smtClean="0">
              <a:effectLst/>
              <a:latin typeface="+mn-ea"/>
              <a:sym typeface="+mn-ea"/>
            </a:endParaRPr>
          </a:p>
          <a:p>
            <a:pPr indent="457200" algn="l">
              <a:lnSpc>
                <a:spcPct val="150000"/>
              </a:lnSpc>
            </a:pPr>
            <a:r>
              <a:rPr lang="en-US" altLang="zh-CN" b="1" dirty="0" smtClean="0">
                <a:effectLst/>
                <a:latin typeface="+mn-ea"/>
                <a:ea typeface="微软雅黑" panose="020B0503020204020204" pitchFamily="34" charset="-122"/>
                <a:sym typeface="+mn-ea"/>
              </a:rPr>
              <a:t>	</a:t>
            </a:r>
            <a:r>
              <a:rPr lang="zh-CN" altLang="en-US" b="0" dirty="0" smtClean="0">
                <a:effectLst/>
                <a:latin typeface="+mn-ea"/>
                <a:ea typeface="微软雅黑" panose="020B0503020204020204" pitchFamily="34" charset="-122"/>
                <a:sym typeface="+mn-ea"/>
              </a:rPr>
              <a:t>存储人工经验库</a:t>
            </a:r>
            <a:endParaRPr lang="zh-CN" altLang="en-US" b="0" dirty="0" smtClean="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indent="457200" algn="l">
              <a:lnSpc>
                <a:spcPct val="150000"/>
              </a:lnSpc>
            </a:pPr>
            <a:r>
              <a:rPr lang="zh-CN" altLang="en-US" b="1" dirty="0" smtClean="0">
                <a:latin typeface="+mn-ea"/>
              </a:rPr>
              <a:t>自主学习模块</a:t>
            </a:r>
            <a:endParaRPr lang="en-US" altLang="zh-CN" b="1" dirty="0" smtClean="0">
              <a:latin typeface="+mn-ea"/>
            </a:endParaRPr>
          </a:p>
          <a:p>
            <a:pPr indent="457200" algn="l">
              <a:lnSpc>
                <a:spcPct val="150000"/>
              </a:lnSpc>
            </a:pPr>
            <a:r>
              <a:rPr lang="en-US" altLang="zh-CN" b="1" dirty="0" smtClean="0">
                <a:latin typeface="+mn-ea"/>
              </a:rPr>
              <a:t>	</a:t>
            </a:r>
            <a:r>
              <a:rPr lang="zh-CN" altLang="en-US" b="1" dirty="0" smtClean="0">
                <a:latin typeface="+mn-ea"/>
              </a:rPr>
              <a:t>模块简介</a:t>
            </a:r>
          </a:p>
          <a:p>
            <a:pPr indent="457200" algn="l">
              <a:lnSpc>
                <a:spcPct val="150000"/>
              </a:lnSpc>
            </a:pPr>
            <a:r>
              <a:rPr lang="zh-CN" altLang="en-US" dirty="0" smtClean="0">
                <a:latin typeface="+mn-ea"/>
              </a:rPr>
              <a:t>    </a:t>
            </a:r>
            <a:r>
              <a:rPr lang="en-US" altLang="zh-CN" dirty="0" smtClean="0">
                <a:latin typeface="+mn-ea"/>
              </a:rPr>
              <a:t>	</a:t>
            </a:r>
            <a:r>
              <a:rPr lang="zh-CN" altLang="zh-CN" dirty="0" smtClean="0">
                <a:effectLst/>
                <a:latin typeface="+mn-ea"/>
                <a:sym typeface="+mn-ea"/>
              </a:rPr>
              <a:t>该模块是网络大脑执行决策的控制核心，以现有经验库为依据，</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en-US" altLang="zh-CN" dirty="0" smtClean="0">
              <a:latin typeface="+mn-ea"/>
              <a:sym typeface="+mn-ea"/>
            </a:endParaRPr>
          </a:p>
          <a:p>
            <a:pPr indent="457200" algn="l">
              <a:lnSpc>
                <a:spcPct val="150000"/>
              </a:lnSpc>
            </a:pPr>
            <a:r>
              <a:rPr lang="en-US" altLang="zh-CN" dirty="0" smtClean="0">
                <a:latin typeface="+mn-ea"/>
                <a:sym typeface="+mn-ea"/>
              </a:rPr>
              <a:t>	</a:t>
            </a:r>
            <a:r>
              <a:rPr lang="zh-CN" altLang="en-US" b="1" dirty="0" smtClean="0">
                <a:latin typeface="+mn-ea"/>
              </a:rPr>
              <a:t>模块功能</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数据挖掘</a:t>
            </a:r>
          </a:p>
          <a:p>
            <a:pPr indent="457200" algn="l">
              <a:lnSpc>
                <a:spcPct val="150000"/>
              </a:lnSpc>
            </a:pPr>
            <a:r>
              <a:rPr lang="zh-CN" altLang="en-US" dirty="0" smtClean="0">
                <a:latin typeface="+mn-ea"/>
              </a:rPr>
              <a:t>   </a:t>
            </a:r>
            <a:r>
              <a:rPr lang="en-US" altLang="zh-CN" dirty="0" smtClean="0">
                <a:latin typeface="+mn-ea"/>
              </a:rPr>
              <a:t>	</a:t>
            </a:r>
            <a:r>
              <a:rPr lang="zh-CN" altLang="en-US" dirty="0" smtClean="0">
                <a:latin typeface="+mn-ea"/>
              </a:rPr>
              <a:t> </a:t>
            </a:r>
            <a:r>
              <a:rPr lang="zh-CN" altLang="en-US" dirty="0" smtClean="0">
                <a:effectLst/>
                <a:latin typeface="+mn-ea"/>
                <a:sym typeface="+mn-ea"/>
              </a:rPr>
              <a:t>规则制定</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风险评估</a:t>
            </a:r>
          </a:p>
          <a:p>
            <a:pPr indent="457200" algn="l">
              <a:lnSpc>
                <a:spcPct val="150000"/>
              </a:lnSpc>
            </a:pPr>
            <a:r>
              <a:rPr lang="zh-CN" altLang="en-US" dirty="0" smtClean="0">
                <a:effectLst/>
                <a:latin typeface="+mn-ea"/>
                <a:sym typeface="+mn-ea"/>
              </a:rPr>
              <a:t>    </a:t>
            </a:r>
            <a:r>
              <a:rPr lang="en-US" altLang="zh-CN" dirty="0" smtClean="0">
                <a:effectLst/>
                <a:latin typeface="+mn-ea"/>
                <a:sym typeface="+mn-ea"/>
              </a:rPr>
              <a:t>	</a:t>
            </a:r>
            <a:r>
              <a:rPr lang="zh-CN" altLang="en-US" dirty="0" smtClean="0">
                <a:effectLst/>
                <a:latin typeface="+mn-ea"/>
                <a:sym typeface="+mn-ea"/>
              </a:rPr>
              <a:t>行为选择。</a:t>
            </a:r>
            <a:endParaRPr lang="en-US" altLang="zh-CN" dirty="0" smtClean="0">
              <a:effectLst/>
              <a:latin typeface="+mn-ea"/>
              <a:sym typeface="+mn-ea"/>
            </a:endParaRPr>
          </a:p>
          <a:p>
            <a:pPr indent="457200" algn="l">
              <a:lnSpc>
                <a:spcPct val="150000"/>
              </a:lnSpc>
            </a:pPr>
            <a:r>
              <a:rPr lang="zh-CN" altLang="en-US" b="1" dirty="0" smtClean="0">
                <a:effectLst/>
                <a:latin typeface="+mn-ea"/>
                <a:sym typeface="+mn-ea"/>
              </a:rPr>
              <a:t>业务管理模块</a:t>
            </a:r>
            <a:endParaRPr lang="zh-CN" altLang="en-US" b="1" dirty="0" smtClean="0">
              <a:latin typeface="+mn-ea"/>
            </a:endParaRPr>
          </a:p>
          <a:p>
            <a:pPr indent="457200" algn="l">
              <a:lnSpc>
                <a:spcPct val="150000"/>
              </a:lnSpc>
            </a:pPr>
            <a:r>
              <a:rPr lang="zh-CN" altLang="en-US" b="1" dirty="0" smtClean="0">
                <a:latin typeface="+mn-ea"/>
              </a:rPr>
              <a:t>模块简介</a:t>
            </a:r>
          </a:p>
          <a:p>
            <a:pPr indent="457200" fontAlgn="auto">
              <a:lnSpc>
                <a:spcPct val="150000"/>
              </a:lnSpc>
              <a:spcBef>
                <a:spcPts val="0"/>
              </a:spcBef>
              <a:spcAft>
                <a:spcPts val="0"/>
              </a:spcAft>
              <a:defRPr/>
            </a:pPr>
            <a:r>
              <a:rPr lang="zh-CN" altLang="en-US" dirty="0" smtClean="0">
                <a:latin typeface="+mn-ea"/>
              </a:rPr>
              <a:t>    </a:t>
            </a:r>
            <a:r>
              <a:rPr lang="zh-CN" altLang="en-US" dirty="0" smtClean="0">
                <a:latin typeface="+mn-ea"/>
                <a:sym typeface="+mn-ea"/>
              </a:rPr>
              <a:t>网维中心各部门数据的格式、类型等不同，数据无法有效的被整合、归类。数据存储、管理、利用与分析工作效率低下。</a:t>
            </a:r>
            <a:endParaRPr lang="en-US" altLang="zh-CN" dirty="0" smtClean="0">
              <a:latin typeface="+mn-ea"/>
              <a:sym typeface="+mn-ea"/>
            </a:endParaRPr>
          </a:p>
          <a:p>
            <a:pPr indent="457200" algn="l">
              <a:lnSpc>
                <a:spcPct val="150000"/>
              </a:lnSpc>
            </a:pPr>
            <a:r>
              <a:rPr lang="zh-CN" altLang="en-US" b="1" dirty="0" smtClean="0">
                <a:latin typeface="+mn-ea"/>
              </a:rPr>
              <a:t>模块功能</a:t>
            </a:r>
          </a:p>
          <a:p>
            <a:pPr indent="457200" algn="l">
              <a:lnSpc>
                <a:spcPct val="150000"/>
              </a:lnSpc>
            </a:pPr>
            <a:r>
              <a:rPr lang="zh-CN" altLang="en-US" dirty="0" smtClean="0">
                <a:latin typeface="+mn-ea"/>
              </a:rPr>
              <a:t>    </a:t>
            </a:r>
            <a:r>
              <a:rPr lang="zh-CN" altLang="en-US" dirty="0" smtClean="0">
                <a:effectLst/>
                <a:latin typeface="+mn-ea"/>
                <a:sym typeface="+mn-ea"/>
              </a:rPr>
              <a:t>指标归类整合</a:t>
            </a:r>
          </a:p>
          <a:p>
            <a:pPr indent="457200" algn="l">
              <a:lnSpc>
                <a:spcPct val="150000"/>
              </a:lnSpc>
            </a:pPr>
            <a:r>
              <a:rPr lang="zh-CN" altLang="en-US" dirty="0" smtClean="0">
                <a:effectLst/>
                <a:latin typeface="+mn-ea"/>
                <a:sym typeface="+mn-ea"/>
              </a:rPr>
              <a:t>    实时自主监控</a:t>
            </a:r>
          </a:p>
          <a:p>
            <a:pPr indent="457200" algn="l">
              <a:lnSpc>
                <a:spcPct val="150000"/>
              </a:lnSpc>
            </a:pPr>
            <a:r>
              <a:rPr lang="zh-CN" altLang="en-US" dirty="0" smtClean="0">
                <a:effectLst/>
                <a:latin typeface="+mn-ea"/>
                <a:sym typeface="+mn-ea"/>
              </a:rPr>
              <a:t>    报表自动生成。</a:t>
            </a:r>
            <a:endParaRPr lang="zh-CN" altLang="en-US" dirty="0" smtClean="0">
              <a:latin typeface="+mn-ea"/>
            </a:endParaRPr>
          </a:p>
          <a:p>
            <a:pPr indent="457200" fontAlgn="auto">
              <a:lnSpc>
                <a:spcPct val="150000"/>
              </a:lnSpc>
              <a:spcBef>
                <a:spcPts val="0"/>
              </a:spcBef>
              <a:spcAft>
                <a:spcPts val="0"/>
              </a:spcAft>
              <a:defRPr/>
            </a:pPr>
            <a:endParaRPr lang="zh-CN" altLang="en-US" dirty="0" smtClean="0">
              <a:latin typeface="+mn-ea"/>
              <a:sym typeface="+mn-ea"/>
            </a:endParaRPr>
          </a:p>
          <a:p>
            <a:pPr indent="457200" fontAlgn="auto">
              <a:lnSpc>
                <a:spcPct val="150000"/>
              </a:lnSpc>
              <a:spcBef>
                <a:spcPts val="0"/>
              </a:spcBef>
              <a:spcAft>
                <a:spcPts val="0"/>
              </a:spcAft>
              <a:defRPr/>
            </a:pPr>
            <a:r>
              <a:rPr lang="zh-CN" altLang="en-US" dirty="0" smtClean="0">
                <a:latin typeface="+mn-ea"/>
                <a:sym typeface="+mn-ea"/>
              </a:rPr>
              <a:t>    业务查询模块为各部门提供开放的数据接口，对业务流量及用户体验情况进行实时主动的监控管理，提高工作效率。</a:t>
            </a:r>
            <a:endParaRPr lang="zh-CN" altLang="zh-CN" dirty="0" smtClean="0">
              <a:latin typeface="+mn-ea"/>
            </a:endParaRPr>
          </a:p>
          <a:p>
            <a:pPr indent="457200" algn="l">
              <a:lnSpc>
                <a:spcPct val="150000"/>
              </a:lnSpc>
            </a:pPr>
            <a:endParaRPr lang="zh-CN" altLang="zh-CN" dirty="0" smtClean="0">
              <a:latin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4227754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109451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2550158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10150148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1300194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173315" y="2247982"/>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1173315" y="3806279"/>
            <a:ext cx="5675160" cy="2031325"/>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
        <p:nvSpPr>
          <p:cNvPr id="11" name="文本框 10"/>
          <p:cNvSpPr txBox="1"/>
          <p:nvPr/>
        </p:nvSpPr>
        <p:spPr>
          <a:xfrm>
            <a:off x="6848475" y="2247981"/>
            <a:ext cx="4676775" cy="738664"/>
          </a:xfrm>
          <a:prstGeom prst="rect">
            <a:avLst/>
          </a:prstGeom>
          <a:noFill/>
        </p:spPr>
        <p:txBody>
          <a:bodyPr wrap="square" rtlCol="0">
            <a:spAutoFit/>
          </a:bodyPr>
          <a:lstStyle/>
          <a:p>
            <a:pPr indent="457200">
              <a:lnSpc>
                <a:spcPct val="150000"/>
              </a:lnSpc>
            </a:pPr>
            <a:r>
              <a:rPr lang="zh-CN" altLang="en-US" sz="1400" b="1" dirty="0"/>
              <a:t>人员</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城域网</a:t>
            </a:r>
            <a:r>
              <a:rPr lang="en-US" altLang="zh-CN" sz="1400" dirty="0" smtClean="0"/>
              <a:t>8</a:t>
            </a:r>
            <a:r>
              <a:rPr lang="zh-CN" altLang="en-US" sz="1400" dirty="0" smtClean="0"/>
              <a:t>人代维小组中一人</a:t>
            </a:r>
            <a:endParaRPr lang="zh-CN" altLang="en-US" sz="1400" dirty="0"/>
          </a:p>
        </p:txBody>
      </p:sp>
      <p:sp>
        <p:nvSpPr>
          <p:cNvPr id="13" name="文本框 12"/>
          <p:cNvSpPr txBox="1"/>
          <p:nvPr/>
        </p:nvSpPr>
        <p:spPr>
          <a:xfrm>
            <a:off x="6848475" y="3806279"/>
            <a:ext cx="4676775" cy="1061829"/>
          </a:xfrm>
          <a:prstGeom prst="rect">
            <a:avLst/>
          </a:prstGeom>
          <a:noFill/>
        </p:spPr>
        <p:txBody>
          <a:bodyPr wrap="square" rtlCol="0">
            <a:spAutoFit/>
          </a:bodyPr>
          <a:lstStyle/>
          <a:p>
            <a:pPr indent="457200">
              <a:lnSpc>
                <a:spcPct val="150000"/>
              </a:lnSpc>
            </a:pPr>
            <a:r>
              <a:rPr lang="zh-CN" altLang="en-US" sz="1400" b="1" dirty="0" smtClean="0"/>
              <a:t>耗时</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日报：半小时</a:t>
            </a:r>
            <a:endParaRPr lang="en-US" altLang="zh-CN" sz="1400" dirty="0" smtClean="0"/>
          </a:p>
          <a:p>
            <a:pPr marL="285750" indent="457200">
              <a:lnSpc>
                <a:spcPct val="150000"/>
              </a:lnSpc>
              <a:buFont typeface="Arial" panose="020B0604020202020204" pitchFamily="34" charset="0"/>
              <a:buChar char="•"/>
            </a:pPr>
            <a:r>
              <a:rPr lang="zh-CN" altLang="en-US" sz="1400" dirty="0" smtClean="0"/>
              <a:t>月报：一整天</a:t>
            </a:r>
            <a:endParaRPr lang="zh-CN" altLang="en-US" sz="14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p14="http://schemas.microsoft.com/office/powerpoint/2010/main" val="30951730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P spid="7"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3"/>
          <a:stretch>
            <a:fillRect/>
          </a:stretch>
        </p:blipFill>
        <p:spPr>
          <a:xfrm>
            <a:off x="2809875" y="1466750"/>
            <a:ext cx="9382125" cy="495203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0082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数据来源</a:t>
            </a:r>
            <a:r>
              <a:rPr lang="zh-CN" altLang="en-US" sz="1400" dirty="0" smtClean="0">
                <a:solidFill>
                  <a:srgbClr val="FF0000"/>
                </a:solidFill>
              </a:rPr>
              <a:t>较分散</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a:t>原始数据</a:t>
            </a:r>
            <a:r>
              <a:rPr lang="zh-CN" altLang="en-US" sz="1400" dirty="0">
                <a:solidFill>
                  <a:srgbClr val="FF0000"/>
                </a:solidFill>
              </a:rPr>
              <a:t>无</a:t>
            </a:r>
            <a:r>
              <a:rPr lang="zh-CN" altLang="en-US" sz="1400" dirty="0" smtClean="0">
                <a:solidFill>
                  <a:srgbClr val="FF0000"/>
                </a:solidFill>
              </a:rPr>
              <a:t>备份</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获取方式</a:t>
            </a:r>
            <a:r>
              <a:rPr lang="zh-CN" altLang="en-US" sz="1400" dirty="0" smtClean="0">
                <a:solidFill>
                  <a:srgbClr val="FF0000"/>
                </a:solidFill>
              </a:rPr>
              <a:t>未统一</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沟通成本</a:t>
            </a:r>
            <a:r>
              <a:rPr lang="zh-CN" altLang="en-US" sz="1400" dirty="0" smtClean="0">
                <a:solidFill>
                  <a:srgbClr val="FF0000"/>
                </a:solidFill>
              </a:rPr>
              <a:t>代价高</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人力劳动</a:t>
            </a:r>
            <a:r>
              <a:rPr lang="zh-CN" altLang="en-US" sz="1400" dirty="0" smtClean="0">
                <a:solidFill>
                  <a:srgbClr val="FF0000"/>
                </a:solidFill>
              </a:rPr>
              <a:t>较重复</a:t>
            </a:r>
            <a:endParaRPr lang="en-US" altLang="zh-CN" sz="1400" dirty="0" smtClean="0">
              <a:solidFill>
                <a:srgbClr val="FF0000"/>
              </a:solidFill>
            </a:endParaRPr>
          </a:p>
          <a:p>
            <a:pPr>
              <a:lnSpc>
                <a:spcPct val="150000"/>
              </a:lnSpc>
            </a:pPr>
            <a:endParaRPr lang="en-US" altLang="zh-CN" sz="1400" dirty="0" smtClean="0"/>
          </a:p>
        </p:txBody>
      </p:sp>
      <p:sp>
        <p:nvSpPr>
          <p:cNvPr id="9" name="矩形 8"/>
          <p:cNvSpPr/>
          <p:nvPr/>
        </p:nvSpPr>
        <p:spPr>
          <a:xfrm>
            <a:off x="7762285" y="1237862"/>
            <a:ext cx="2088065" cy="5333025"/>
          </a:xfrm>
          <a:prstGeom prst="rect">
            <a:avLst/>
          </a:prstGeom>
          <a:noFill/>
          <a:ln w="38100" cap="flat" cmpd="sng" algn="ctr">
            <a:solidFill>
              <a:srgbClr val="007A3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 name="矩形 11"/>
          <p:cNvSpPr/>
          <p:nvPr/>
        </p:nvSpPr>
        <p:spPr>
          <a:xfrm>
            <a:off x="3848100" y="1237861"/>
            <a:ext cx="1819275" cy="5334389"/>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solidFill>
                <a:srgbClr val="FF0000"/>
              </a:solidFill>
            </a:endParaRPr>
          </a:p>
        </p:txBody>
      </p:sp>
      <p:sp>
        <p:nvSpPr>
          <p:cNvPr id="13" name="矩形 12"/>
          <p:cNvSpPr/>
          <p:nvPr/>
        </p:nvSpPr>
        <p:spPr>
          <a:xfrm>
            <a:off x="5805192" y="1237862"/>
            <a:ext cx="1819275" cy="5333026"/>
          </a:xfrm>
          <a:prstGeom prst="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 name="文本框 9"/>
          <p:cNvSpPr txBox="1"/>
          <p:nvPr/>
        </p:nvSpPr>
        <p:spPr>
          <a:xfrm>
            <a:off x="4295774" y="6201555"/>
            <a:ext cx="923925" cy="369332"/>
          </a:xfrm>
          <a:prstGeom prst="rect">
            <a:avLst/>
          </a:prstGeom>
          <a:noFill/>
        </p:spPr>
        <p:txBody>
          <a:bodyPr wrap="square" rtlCol="0">
            <a:spAutoFit/>
          </a:bodyPr>
          <a:lstStyle/>
          <a:p>
            <a:r>
              <a:rPr lang="zh-CN" altLang="en-US" dirty="0" smtClean="0"/>
              <a:t>数据源</a:t>
            </a:r>
            <a:endParaRPr lang="zh-CN" altLang="en-US" dirty="0"/>
          </a:p>
        </p:txBody>
      </p:sp>
      <p:sp>
        <p:nvSpPr>
          <p:cNvPr id="11" name="文本框 10"/>
          <p:cNvSpPr txBox="1"/>
          <p:nvPr/>
        </p:nvSpPr>
        <p:spPr>
          <a:xfrm>
            <a:off x="6253556" y="6201555"/>
            <a:ext cx="1174997" cy="369332"/>
          </a:xfrm>
          <a:prstGeom prst="rect">
            <a:avLst/>
          </a:prstGeom>
          <a:noFill/>
        </p:spPr>
        <p:txBody>
          <a:bodyPr wrap="square" rtlCol="0">
            <a:spAutoFit/>
          </a:bodyPr>
          <a:lstStyle/>
          <a:p>
            <a:r>
              <a:rPr lang="zh-CN" altLang="en-US" dirty="0" smtClean="0"/>
              <a:t>数据内容</a:t>
            </a:r>
            <a:endParaRPr lang="zh-CN" altLang="en-US" dirty="0"/>
          </a:p>
        </p:txBody>
      </p:sp>
      <p:sp>
        <p:nvSpPr>
          <p:cNvPr id="14" name="文本框 13"/>
          <p:cNvSpPr txBox="1"/>
          <p:nvPr/>
        </p:nvSpPr>
        <p:spPr>
          <a:xfrm>
            <a:off x="8238306" y="6201555"/>
            <a:ext cx="1113971" cy="369332"/>
          </a:xfrm>
          <a:prstGeom prst="rect">
            <a:avLst/>
          </a:prstGeom>
          <a:noFill/>
        </p:spPr>
        <p:txBody>
          <a:bodyPr wrap="square" rtlCol="0">
            <a:spAutoFit/>
          </a:bodyPr>
          <a:lstStyle/>
          <a:p>
            <a:r>
              <a:rPr lang="zh-CN" altLang="en-US" dirty="0" smtClean="0"/>
              <a:t>获取频率</a:t>
            </a:r>
            <a:endParaRPr lang="zh-CN" altLang="en-US" dirty="0"/>
          </a:p>
        </p:txBody>
      </p:sp>
      <p:sp>
        <p:nvSpPr>
          <p:cNvPr id="15" name="文本框 14"/>
          <p:cNvSpPr txBox="1"/>
          <p:nvPr/>
        </p:nvSpPr>
        <p:spPr>
          <a:xfrm>
            <a:off x="2930664" y="1390223"/>
            <a:ext cx="755511" cy="646331"/>
          </a:xfrm>
          <a:prstGeom prst="rect">
            <a:avLst/>
          </a:prstGeom>
          <a:noFill/>
        </p:spPr>
        <p:txBody>
          <a:bodyPr wrap="square" rtlCol="0">
            <a:spAutoFit/>
          </a:bodyPr>
          <a:lstStyle/>
          <a:p>
            <a:r>
              <a:rPr lang="zh-CN" altLang="en-US" dirty="0" smtClean="0"/>
              <a:t>主动沟通</a:t>
            </a:r>
            <a:endParaRPr lang="zh-CN" altLang="en-US" dirty="0"/>
          </a:p>
        </p:txBody>
      </p:sp>
      <p:sp>
        <p:nvSpPr>
          <p:cNvPr id="18" name="文本框 17"/>
          <p:cNvSpPr txBox="1"/>
          <p:nvPr/>
        </p:nvSpPr>
        <p:spPr>
          <a:xfrm>
            <a:off x="3190431" y="2850160"/>
            <a:ext cx="755511" cy="646331"/>
          </a:xfrm>
          <a:prstGeom prst="rect">
            <a:avLst/>
          </a:prstGeom>
          <a:noFill/>
        </p:spPr>
        <p:txBody>
          <a:bodyPr wrap="square" rtlCol="0">
            <a:spAutoFit/>
          </a:bodyPr>
          <a:lstStyle/>
          <a:p>
            <a:r>
              <a:rPr lang="zh-CN" altLang="en-US" dirty="0" smtClean="0"/>
              <a:t>主动登录</a:t>
            </a:r>
            <a:endParaRPr lang="zh-CN" altLang="en-US" dirty="0"/>
          </a:p>
        </p:txBody>
      </p:sp>
      <p:sp>
        <p:nvSpPr>
          <p:cNvPr id="20" name="文本框 19"/>
          <p:cNvSpPr txBox="1"/>
          <p:nvPr/>
        </p:nvSpPr>
        <p:spPr>
          <a:xfrm>
            <a:off x="3190431" y="5344894"/>
            <a:ext cx="755511" cy="646331"/>
          </a:xfrm>
          <a:prstGeom prst="rect">
            <a:avLst/>
          </a:prstGeom>
          <a:noFill/>
        </p:spPr>
        <p:txBody>
          <a:bodyPr wrap="square" rtlCol="0">
            <a:spAutoFit/>
          </a:bodyPr>
          <a:lstStyle/>
          <a:p>
            <a:r>
              <a:rPr lang="zh-CN" altLang="en-US" dirty="0" smtClean="0"/>
              <a:t>被动获取</a:t>
            </a:r>
            <a:endParaRPr lang="zh-CN" altLang="en-US" dirty="0"/>
          </a:p>
        </p:txBody>
      </p:sp>
      <p:sp>
        <p:nvSpPr>
          <p:cNvPr id="21" name="矩形 20"/>
          <p:cNvSpPr/>
          <p:nvPr/>
        </p:nvSpPr>
        <p:spPr>
          <a:xfrm>
            <a:off x="9904905" y="1227910"/>
            <a:ext cx="2088065" cy="5333025"/>
          </a:xfrm>
          <a:prstGeom prst="rect">
            <a:avLst/>
          </a:prstGeom>
          <a:noFill/>
          <a:ln w="38100"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22" name="文本框 21"/>
          <p:cNvSpPr txBox="1"/>
          <p:nvPr/>
        </p:nvSpPr>
        <p:spPr>
          <a:xfrm>
            <a:off x="10464189" y="6201555"/>
            <a:ext cx="1113971" cy="369332"/>
          </a:xfrm>
          <a:prstGeom prst="rect">
            <a:avLst/>
          </a:prstGeom>
          <a:noFill/>
        </p:spPr>
        <p:txBody>
          <a:bodyPr wrap="square" rtlCol="0">
            <a:spAutoFit/>
          </a:bodyPr>
          <a:lstStyle/>
          <a:p>
            <a:r>
              <a:rPr lang="zh-CN" altLang="en-US" dirty="0" smtClean="0"/>
              <a:t>获取表格</a:t>
            </a:r>
            <a:endParaRPr lang="zh-CN" altLang="en-US" dirty="0"/>
          </a:p>
        </p:txBody>
      </p:sp>
      <p:sp>
        <p:nvSpPr>
          <p:cNvPr id="8" name="圆角矩形 7"/>
          <p:cNvSpPr/>
          <p:nvPr/>
        </p:nvSpPr>
        <p:spPr>
          <a:xfrm>
            <a:off x="7598160" y="1390223"/>
            <a:ext cx="1476965" cy="1562527"/>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23578170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p:cTn id="38" dur="500" fill="hold"/>
                                        <p:tgtEl>
                                          <p:spTgt spid="11"/>
                                        </p:tgtEl>
                                        <p:attrNameLst>
                                          <p:attrName>ppt_w</p:attrName>
                                        </p:attrNameLst>
                                      </p:cBhvr>
                                      <p:tavLst>
                                        <p:tav tm="0">
                                          <p:val>
                                            <p:fltVal val="0"/>
                                          </p:val>
                                        </p:tav>
                                        <p:tav tm="100000">
                                          <p:val>
                                            <p:strVal val="#ppt_w"/>
                                          </p:val>
                                        </p:tav>
                                      </p:tavLst>
                                    </p:anim>
                                    <p:anim calcmode="lin" valueType="num">
                                      <p:cBhvr>
                                        <p:cTn id="39" dur="500" fill="hold"/>
                                        <p:tgtEl>
                                          <p:spTgt spid="11"/>
                                        </p:tgtEl>
                                        <p:attrNameLst>
                                          <p:attrName>ppt_h</p:attrName>
                                        </p:attrNameLst>
                                      </p:cBhvr>
                                      <p:tavLst>
                                        <p:tav tm="0">
                                          <p:val>
                                            <p:fltVal val="0"/>
                                          </p:val>
                                        </p:tav>
                                        <p:tav tm="100000">
                                          <p:val>
                                            <p:strVal val="#ppt_h"/>
                                          </p:val>
                                        </p:tav>
                                      </p:tavLst>
                                    </p:anim>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1" nodeType="clickEffect">
                                  <p:stCondLst>
                                    <p:cond delay="0"/>
                                  </p:stCondLst>
                                  <p:childTnLst>
                                    <p:anim calcmode="lin" valueType="num">
                                      <p:cBhvr additive="base">
                                        <p:cTn id="44" dur="500"/>
                                        <p:tgtEl>
                                          <p:spTgt spid="12"/>
                                        </p:tgtEl>
                                        <p:attrNameLst>
                                          <p:attrName>ppt_x</p:attrName>
                                        </p:attrNameLst>
                                      </p:cBhvr>
                                      <p:tavLst>
                                        <p:tav tm="0">
                                          <p:val>
                                            <p:strVal val="ppt_x"/>
                                          </p:val>
                                        </p:tav>
                                        <p:tav tm="100000">
                                          <p:val>
                                            <p:strVal val="ppt_x"/>
                                          </p:val>
                                        </p:tav>
                                      </p:tavLst>
                                    </p:anim>
                                    <p:anim calcmode="lin" valueType="num">
                                      <p:cBhvr additive="base">
                                        <p:cTn id="45" dur="500"/>
                                        <p:tgtEl>
                                          <p:spTgt spid="12"/>
                                        </p:tgtEl>
                                        <p:attrNameLst>
                                          <p:attrName>ppt_y</p:attrName>
                                        </p:attrNameLst>
                                      </p:cBhvr>
                                      <p:tavLst>
                                        <p:tav tm="0">
                                          <p:val>
                                            <p:strVal val="ppt_y"/>
                                          </p:val>
                                        </p:tav>
                                        <p:tav tm="100000">
                                          <p:val>
                                            <p:strVal val="1+ppt_h/2"/>
                                          </p:val>
                                        </p:tav>
                                      </p:tavLst>
                                    </p:anim>
                                    <p:set>
                                      <p:cBhvr>
                                        <p:cTn id="46" dur="1" fill="hold">
                                          <p:stCondLst>
                                            <p:cond delay="499"/>
                                          </p:stCondLst>
                                        </p:cTn>
                                        <p:tgtEl>
                                          <p:spTgt spid="12"/>
                                        </p:tgtEl>
                                        <p:attrNameLst>
                                          <p:attrName>style.visibility</p:attrName>
                                        </p:attrNameLst>
                                      </p:cBhvr>
                                      <p:to>
                                        <p:strVal val="hidden"/>
                                      </p:to>
                                    </p:set>
                                  </p:childTnLst>
                                </p:cTn>
                              </p:par>
                              <p:par>
                                <p:cTn id="47" presetID="2" presetClass="exit" presetSubtype="4" fill="hold" grpId="1" nodeType="withEffect">
                                  <p:stCondLst>
                                    <p:cond delay="0"/>
                                  </p:stCondLst>
                                  <p:childTnLst>
                                    <p:anim calcmode="lin" valueType="num">
                                      <p:cBhvr additive="base">
                                        <p:cTn id="48" dur="500"/>
                                        <p:tgtEl>
                                          <p:spTgt spid="10"/>
                                        </p:tgtEl>
                                        <p:attrNameLst>
                                          <p:attrName>ppt_x</p:attrName>
                                        </p:attrNameLst>
                                      </p:cBhvr>
                                      <p:tavLst>
                                        <p:tav tm="0">
                                          <p:val>
                                            <p:strVal val="ppt_x"/>
                                          </p:val>
                                        </p:tav>
                                        <p:tav tm="100000">
                                          <p:val>
                                            <p:strVal val="ppt_x"/>
                                          </p:val>
                                        </p:tav>
                                      </p:tavLst>
                                    </p:anim>
                                    <p:anim calcmode="lin" valueType="num">
                                      <p:cBhvr additive="base">
                                        <p:cTn id="49" dur="500"/>
                                        <p:tgtEl>
                                          <p:spTgt spid="10"/>
                                        </p:tgtEl>
                                        <p:attrNameLst>
                                          <p:attrName>ppt_y</p:attrName>
                                        </p:attrNameLst>
                                      </p:cBhvr>
                                      <p:tavLst>
                                        <p:tav tm="0">
                                          <p:val>
                                            <p:strVal val="ppt_y"/>
                                          </p:val>
                                        </p:tav>
                                        <p:tav tm="100000">
                                          <p:val>
                                            <p:strVal val="1+ppt_h/2"/>
                                          </p:val>
                                        </p:tav>
                                      </p:tavLst>
                                    </p:anim>
                                    <p:set>
                                      <p:cBhvr>
                                        <p:cTn id="50" dur="1" fill="hold">
                                          <p:stCondLst>
                                            <p:cond delay="499"/>
                                          </p:stCondLst>
                                        </p:cTn>
                                        <p:tgtEl>
                                          <p:spTgt spid="10"/>
                                        </p:tgtEl>
                                        <p:attrNameLst>
                                          <p:attrName>style.visibility</p:attrName>
                                        </p:attrNameLst>
                                      </p:cBhvr>
                                      <p:to>
                                        <p:strVal val="hidden"/>
                                      </p:to>
                                    </p:set>
                                  </p:childTnLst>
                                </p:cTn>
                              </p:par>
                              <p:par>
                                <p:cTn id="51" presetID="2" presetClass="exit" presetSubtype="4" fill="hold" grpId="1" nodeType="withEffect">
                                  <p:stCondLst>
                                    <p:cond delay="0"/>
                                  </p:stCondLst>
                                  <p:childTnLst>
                                    <p:anim calcmode="lin" valueType="num">
                                      <p:cBhvr additive="base">
                                        <p:cTn id="52" dur="500"/>
                                        <p:tgtEl>
                                          <p:spTgt spid="13"/>
                                        </p:tgtEl>
                                        <p:attrNameLst>
                                          <p:attrName>ppt_x</p:attrName>
                                        </p:attrNameLst>
                                      </p:cBhvr>
                                      <p:tavLst>
                                        <p:tav tm="0">
                                          <p:val>
                                            <p:strVal val="ppt_x"/>
                                          </p:val>
                                        </p:tav>
                                        <p:tav tm="100000">
                                          <p:val>
                                            <p:strVal val="ppt_x"/>
                                          </p:val>
                                        </p:tav>
                                      </p:tavLst>
                                    </p:anim>
                                    <p:anim calcmode="lin" valueType="num">
                                      <p:cBhvr additive="base">
                                        <p:cTn id="53" dur="500"/>
                                        <p:tgtEl>
                                          <p:spTgt spid="13"/>
                                        </p:tgtEl>
                                        <p:attrNameLst>
                                          <p:attrName>ppt_y</p:attrName>
                                        </p:attrNameLst>
                                      </p:cBhvr>
                                      <p:tavLst>
                                        <p:tav tm="0">
                                          <p:val>
                                            <p:strVal val="ppt_y"/>
                                          </p:val>
                                        </p:tav>
                                        <p:tav tm="100000">
                                          <p:val>
                                            <p:strVal val="1+ppt_h/2"/>
                                          </p:val>
                                        </p:tav>
                                      </p:tavLst>
                                    </p:anim>
                                    <p:set>
                                      <p:cBhvr>
                                        <p:cTn id="54" dur="1" fill="hold">
                                          <p:stCondLst>
                                            <p:cond delay="499"/>
                                          </p:stCondLst>
                                        </p:cTn>
                                        <p:tgtEl>
                                          <p:spTgt spid="13"/>
                                        </p:tgtEl>
                                        <p:attrNameLst>
                                          <p:attrName>style.visibility</p:attrName>
                                        </p:attrNameLst>
                                      </p:cBhvr>
                                      <p:to>
                                        <p:strVal val="hidden"/>
                                      </p:to>
                                    </p:set>
                                  </p:childTnLst>
                                </p:cTn>
                              </p:par>
                              <p:par>
                                <p:cTn id="55" presetID="2" presetClass="exit" presetSubtype="4" fill="hold" grpId="1" nodeType="withEffect">
                                  <p:stCondLst>
                                    <p:cond delay="0"/>
                                  </p:stCondLst>
                                  <p:childTnLst>
                                    <p:anim calcmode="lin" valueType="num">
                                      <p:cBhvr additive="base">
                                        <p:cTn id="56" dur="500"/>
                                        <p:tgtEl>
                                          <p:spTgt spid="11"/>
                                        </p:tgtEl>
                                        <p:attrNameLst>
                                          <p:attrName>ppt_x</p:attrName>
                                        </p:attrNameLst>
                                      </p:cBhvr>
                                      <p:tavLst>
                                        <p:tav tm="0">
                                          <p:val>
                                            <p:strVal val="ppt_x"/>
                                          </p:val>
                                        </p:tav>
                                        <p:tav tm="100000">
                                          <p:val>
                                            <p:strVal val="ppt_x"/>
                                          </p:val>
                                        </p:tav>
                                      </p:tavLst>
                                    </p:anim>
                                    <p:anim calcmode="lin" valueType="num">
                                      <p:cBhvr additive="base">
                                        <p:cTn id="57" dur="500"/>
                                        <p:tgtEl>
                                          <p:spTgt spid="11"/>
                                        </p:tgtEl>
                                        <p:attrNameLst>
                                          <p:attrName>ppt_y</p:attrName>
                                        </p:attrNameLst>
                                      </p:cBhvr>
                                      <p:tavLst>
                                        <p:tav tm="0">
                                          <p:val>
                                            <p:strVal val="ppt_y"/>
                                          </p:val>
                                        </p:tav>
                                        <p:tav tm="100000">
                                          <p:val>
                                            <p:strVal val="1+ppt_h/2"/>
                                          </p:val>
                                        </p:tav>
                                      </p:tavLst>
                                    </p:anim>
                                    <p:set>
                                      <p:cBhvr>
                                        <p:cTn id="58" dur="1" fill="hold">
                                          <p:stCondLst>
                                            <p:cond delay="499"/>
                                          </p:stCondLst>
                                        </p:cTn>
                                        <p:tgtEl>
                                          <p:spTgt spid="1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63" dur="500"/>
                                        <p:tgtEl>
                                          <p:spTgt spid="2">
                                            <p:txEl>
                                              <p:pRg st="5" end="5"/>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500" fill="hold"/>
                                        <p:tgtEl>
                                          <p:spTgt spid="15"/>
                                        </p:tgtEl>
                                        <p:attrNameLst>
                                          <p:attrName>ppt_x</p:attrName>
                                        </p:attrNameLst>
                                      </p:cBhvr>
                                      <p:tavLst>
                                        <p:tav tm="0">
                                          <p:val>
                                            <p:strVal val="#ppt_x"/>
                                          </p:val>
                                        </p:tav>
                                        <p:tav tm="100000">
                                          <p:val>
                                            <p:strVal val="#ppt_x"/>
                                          </p:val>
                                        </p:tav>
                                      </p:tavLst>
                                    </p:anim>
                                    <p:anim calcmode="lin" valueType="num">
                                      <p:cBhvr additive="base">
                                        <p:cTn id="69" dur="500" fill="hold"/>
                                        <p:tgtEl>
                                          <p:spTgt spid="15"/>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500" fill="hold"/>
                                        <p:tgtEl>
                                          <p:spTgt spid="18"/>
                                        </p:tgtEl>
                                        <p:attrNameLst>
                                          <p:attrName>ppt_x</p:attrName>
                                        </p:attrNameLst>
                                      </p:cBhvr>
                                      <p:tavLst>
                                        <p:tav tm="0">
                                          <p:val>
                                            <p:strVal val="#ppt_x"/>
                                          </p:val>
                                        </p:tav>
                                        <p:tav tm="100000">
                                          <p:val>
                                            <p:strVal val="#ppt_x"/>
                                          </p:val>
                                        </p:tav>
                                      </p:tavLst>
                                    </p:anim>
                                    <p:anim calcmode="lin" valueType="num">
                                      <p:cBhvr additive="base">
                                        <p:cTn id="73" dur="500" fill="hold"/>
                                        <p:tgtEl>
                                          <p:spTgt spid="18"/>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82" dur="500"/>
                                        <p:tgtEl>
                                          <p:spTgt spid="2">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fltVal val="0"/>
                                          </p:val>
                                        </p:tav>
                                        <p:tav tm="100000">
                                          <p:val>
                                            <p:strVal val="#ppt_w"/>
                                          </p:val>
                                        </p:tav>
                                      </p:tavLst>
                                    </p:anim>
                                    <p:anim calcmode="lin" valueType="num">
                                      <p:cBhvr>
                                        <p:cTn id="88" dur="500" fill="hold"/>
                                        <p:tgtEl>
                                          <p:spTgt spid="8"/>
                                        </p:tgtEl>
                                        <p:attrNameLst>
                                          <p:attrName>ppt_h</p:attrName>
                                        </p:attrNameLst>
                                      </p:cBhvr>
                                      <p:tavLst>
                                        <p:tav tm="0">
                                          <p:val>
                                            <p:fltVal val="0"/>
                                          </p:val>
                                        </p:tav>
                                        <p:tav tm="100000">
                                          <p:val>
                                            <p:strVal val="#ppt_h"/>
                                          </p:val>
                                        </p:tav>
                                      </p:tavLst>
                                    </p:anim>
                                    <p:animEffect transition="in" filter="fade">
                                      <p:cBhvr>
                                        <p:cTn id="89" dur="500"/>
                                        <p:tgtEl>
                                          <p:spTgt spid="8"/>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xit" presetSubtype="4" fill="hold" grpId="1" nodeType="clickEffect">
                                  <p:stCondLst>
                                    <p:cond delay="0"/>
                                  </p:stCondLst>
                                  <p:childTnLst>
                                    <p:anim calcmode="lin" valueType="num">
                                      <p:cBhvr additive="base">
                                        <p:cTn id="93" dur="500"/>
                                        <p:tgtEl>
                                          <p:spTgt spid="8"/>
                                        </p:tgtEl>
                                        <p:attrNameLst>
                                          <p:attrName>ppt_x</p:attrName>
                                        </p:attrNameLst>
                                      </p:cBhvr>
                                      <p:tavLst>
                                        <p:tav tm="0">
                                          <p:val>
                                            <p:strVal val="ppt_x"/>
                                          </p:val>
                                        </p:tav>
                                        <p:tav tm="100000">
                                          <p:val>
                                            <p:strVal val="ppt_x"/>
                                          </p:val>
                                        </p:tav>
                                      </p:tavLst>
                                    </p:anim>
                                    <p:anim calcmode="lin" valueType="num">
                                      <p:cBhvr additive="base">
                                        <p:cTn id="94" dur="500"/>
                                        <p:tgtEl>
                                          <p:spTgt spid="8"/>
                                        </p:tgtEl>
                                        <p:attrNameLst>
                                          <p:attrName>ppt_y</p:attrName>
                                        </p:attrNameLst>
                                      </p:cBhvr>
                                      <p:tavLst>
                                        <p:tav tm="0">
                                          <p:val>
                                            <p:strVal val="ppt_y"/>
                                          </p:val>
                                        </p:tav>
                                        <p:tav tm="100000">
                                          <p:val>
                                            <p:strVal val="1+ppt_h/2"/>
                                          </p:val>
                                        </p:tav>
                                      </p:tavLst>
                                    </p:anim>
                                    <p:set>
                                      <p:cBhvr>
                                        <p:cTn id="95" dur="1" fill="hold">
                                          <p:stCondLst>
                                            <p:cond delay="499"/>
                                          </p:stCondLst>
                                        </p:cTn>
                                        <p:tgtEl>
                                          <p:spTgt spid="8"/>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nodeType="clickEffect">
                                  <p:stCondLst>
                                    <p:cond delay="0"/>
                                  </p:stCondLst>
                                  <p:childTnLst>
                                    <p:set>
                                      <p:cBhvr>
                                        <p:cTn id="9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0" dur="500"/>
                                        <p:tgtEl>
                                          <p:spTgt spid="2">
                                            <p:txEl>
                                              <p:pRg st="7" end="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9"/>
                                        </p:tgtEl>
                                        <p:attrNameLst>
                                          <p:attrName>style.visibility</p:attrName>
                                        </p:attrNameLst>
                                      </p:cBhvr>
                                      <p:to>
                                        <p:strVal val="visible"/>
                                      </p:to>
                                    </p:set>
                                    <p:anim calcmode="lin" valueType="num">
                                      <p:cBhvr>
                                        <p:cTn id="105" dur="500" fill="hold"/>
                                        <p:tgtEl>
                                          <p:spTgt spid="9"/>
                                        </p:tgtEl>
                                        <p:attrNameLst>
                                          <p:attrName>ppt_w</p:attrName>
                                        </p:attrNameLst>
                                      </p:cBhvr>
                                      <p:tavLst>
                                        <p:tav tm="0">
                                          <p:val>
                                            <p:fltVal val="0"/>
                                          </p:val>
                                        </p:tav>
                                        <p:tav tm="100000">
                                          <p:val>
                                            <p:strVal val="#ppt_w"/>
                                          </p:val>
                                        </p:tav>
                                      </p:tavLst>
                                    </p:anim>
                                    <p:anim calcmode="lin" valueType="num">
                                      <p:cBhvr>
                                        <p:cTn id="106" dur="500" fill="hold"/>
                                        <p:tgtEl>
                                          <p:spTgt spid="9"/>
                                        </p:tgtEl>
                                        <p:attrNameLst>
                                          <p:attrName>ppt_h</p:attrName>
                                        </p:attrNameLst>
                                      </p:cBhvr>
                                      <p:tavLst>
                                        <p:tav tm="0">
                                          <p:val>
                                            <p:fltVal val="0"/>
                                          </p:val>
                                        </p:tav>
                                        <p:tav tm="100000">
                                          <p:val>
                                            <p:strVal val="#ppt_h"/>
                                          </p:val>
                                        </p:tav>
                                      </p:tavLst>
                                    </p:anim>
                                    <p:animEffect transition="in" filter="fade">
                                      <p:cBhvr>
                                        <p:cTn id="107" dur="500"/>
                                        <p:tgtEl>
                                          <p:spTgt spid="9"/>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1"/>
                                        </p:tgtEl>
                                        <p:attrNameLst>
                                          <p:attrName>style.visibility</p:attrName>
                                        </p:attrNameLst>
                                      </p:cBhvr>
                                      <p:to>
                                        <p:strVal val="visible"/>
                                      </p:to>
                                    </p:set>
                                    <p:anim calcmode="lin" valueType="num">
                                      <p:cBhvr>
                                        <p:cTn id="110" dur="500" fill="hold"/>
                                        <p:tgtEl>
                                          <p:spTgt spid="21"/>
                                        </p:tgtEl>
                                        <p:attrNameLst>
                                          <p:attrName>ppt_w</p:attrName>
                                        </p:attrNameLst>
                                      </p:cBhvr>
                                      <p:tavLst>
                                        <p:tav tm="0">
                                          <p:val>
                                            <p:fltVal val="0"/>
                                          </p:val>
                                        </p:tav>
                                        <p:tav tm="100000">
                                          <p:val>
                                            <p:strVal val="#ppt_w"/>
                                          </p:val>
                                        </p:tav>
                                      </p:tavLst>
                                    </p:anim>
                                    <p:anim calcmode="lin" valueType="num">
                                      <p:cBhvr>
                                        <p:cTn id="111" dur="500" fill="hold"/>
                                        <p:tgtEl>
                                          <p:spTgt spid="21"/>
                                        </p:tgtEl>
                                        <p:attrNameLst>
                                          <p:attrName>ppt_h</p:attrName>
                                        </p:attrNameLst>
                                      </p:cBhvr>
                                      <p:tavLst>
                                        <p:tav tm="0">
                                          <p:val>
                                            <p:fltVal val="0"/>
                                          </p:val>
                                        </p:tav>
                                        <p:tav tm="100000">
                                          <p:val>
                                            <p:strVal val="#ppt_h"/>
                                          </p:val>
                                        </p:tav>
                                      </p:tavLst>
                                    </p:anim>
                                    <p:animEffect transition="in" filter="fade">
                                      <p:cBhvr>
                                        <p:cTn id="112" dur="500"/>
                                        <p:tgtEl>
                                          <p:spTgt spid="21"/>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500" fill="hold"/>
                                        <p:tgtEl>
                                          <p:spTgt spid="14"/>
                                        </p:tgtEl>
                                        <p:attrNameLst>
                                          <p:attrName>ppt_w</p:attrName>
                                        </p:attrNameLst>
                                      </p:cBhvr>
                                      <p:tavLst>
                                        <p:tav tm="0">
                                          <p:val>
                                            <p:fltVal val="0"/>
                                          </p:val>
                                        </p:tav>
                                        <p:tav tm="100000">
                                          <p:val>
                                            <p:strVal val="#ppt_w"/>
                                          </p:val>
                                        </p:tav>
                                      </p:tavLst>
                                    </p:anim>
                                    <p:anim calcmode="lin" valueType="num">
                                      <p:cBhvr>
                                        <p:cTn id="116" dur="500" fill="hold"/>
                                        <p:tgtEl>
                                          <p:spTgt spid="14"/>
                                        </p:tgtEl>
                                        <p:attrNameLst>
                                          <p:attrName>ppt_h</p:attrName>
                                        </p:attrNameLst>
                                      </p:cBhvr>
                                      <p:tavLst>
                                        <p:tav tm="0">
                                          <p:val>
                                            <p:fltVal val="0"/>
                                          </p:val>
                                        </p:tav>
                                        <p:tav tm="100000">
                                          <p:val>
                                            <p:strVal val="#ppt_h"/>
                                          </p:val>
                                        </p:tav>
                                      </p:tavLst>
                                    </p:anim>
                                    <p:animEffect transition="in" filter="fade">
                                      <p:cBhvr>
                                        <p:cTn id="117" dur="500"/>
                                        <p:tgtEl>
                                          <p:spTgt spid="14"/>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500" fill="hold"/>
                                        <p:tgtEl>
                                          <p:spTgt spid="22"/>
                                        </p:tgtEl>
                                        <p:attrNameLst>
                                          <p:attrName>ppt_w</p:attrName>
                                        </p:attrNameLst>
                                      </p:cBhvr>
                                      <p:tavLst>
                                        <p:tav tm="0">
                                          <p:val>
                                            <p:fltVal val="0"/>
                                          </p:val>
                                        </p:tav>
                                        <p:tav tm="100000">
                                          <p:val>
                                            <p:strVal val="#ppt_w"/>
                                          </p:val>
                                        </p:tav>
                                      </p:tavLst>
                                    </p:anim>
                                    <p:anim calcmode="lin" valueType="num">
                                      <p:cBhvr>
                                        <p:cTn id="121" dur="500" fill="hold"/>
                                        <p:tgtEl>
                                          <p:spTgt spid="22"/>
                                        </p:tgtEl>
                                        <p:attrNameLst>
                                          <p:attrName>ppt_h</p:attrName>
                                        </p:attrNameLst>
                                      </p:cBhvr>
                                      <p:tavLst>
                                        <p:tav tm="0">
                                          <p:val>
                                            <p:fltVal val="0"/>
                                          </p:val>
                                        </p:tav>
                                        <p:tav tm="100000">
                                          <p:val>
                                            <p:strVal val="#ppt_h"/>
                                          </p:val>
                                        </p:tav>
                                      </p:tavLst>
                                    </p:anim>
                                    <p:animEffect transition="in" filter="fade">
                                      <p:cBhvr>
                                        <p:cTn id="1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2" grpId="1" animBg="1"/>
      <p:bldP spid="13" grpId="0" animBg="1"/>
      <p:bldP spid="13" grpId="1" animBg="1"/>
      <p:bldP spid="10" grpId="0"/>
      <p:bldP spid="10" grpId="1"/>
      <p:bldP spid="11" grpId="0"/>
      <p:bldP spid="11" grpId="1"/>
      <p:bldP spid="14" grpId="0"/>
      <p:bldP spid="15" grpId="0"/>
      <p:bldP spid="18" grpId="0"/>
      <p:bldP spid="20" grpId="0"/>
      <p:bldP spid="21" grpId="0" animBg="1"/>
      <p:bldP spid="22" grpId="0"/>
      <p:bldP spid="8" grpId="0" animBg="1"/>
      <p:bldP spid="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smtClean="0"/>
              <a:t>数据分析（主要依赖</a:t>
            </a:r>
            <a:r>
              <a:rPr lang="en-US" altLang="zh-CN" sz="1400" dirty="0" smtClean="0"/>
              <a:t>Excel</a:t>
            </a:r>
            <a:r>
              <a:rPr lang="zh-CN" altLang="en-US" sz="1400" dirty="0" smtClean="0"/>
              <a:t>表格工具）：</a:t>
            </a:r>
            <a:endParaRPr lang="en-US" altLang="zh-CN" sz="1400" dirty="0" smtClean="0"/>
          </a:p>
          <a:p>
            <a:pPr marL="742950" lvl="1" indent="-285750">
              <a:lnSpc>
                <a:spcPct val="150000"/>
              </a:lnSpc>
              <a:buFont typeface="Arial" panose="020B0604020202020204" pitchFamily="34" charset="0"/>
              <a:buChar char="•"/>
            </a:pPr>
            <a:r>
              <a:rPr lang="zh-CN" altLang="en-US" sz="1400" dirty="0"/>
              <a:t>原始</a:t>
            </a:r>
            <a:r>
              <a:rPr lang="zh-CN" altLang="en-US" sz="1400" dirty="0" smtClean="0"/>
              <a:t>表格</a:t>
            </a:r>
            <a:r>
              <a:rPr lang="zh-CN" altLang="en-US" sz="1400" dirty="0" smtClean="0">
                <a:solidFill>
                  <a:srgbClr val="FF0000"/>
                </a:solidFill>
              </a:rPr>
              <a:t>手动拆分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数据子表</a:t>
            </a:r>
            <a:r>
              <a:rPr lang="zh-CN" altLang="en-US" sz="1400" dirty="0">
                <a:solidFill>
                  <a:srgbClr val="FF0000"/>
                </a:solidFill>
              </a:rPr>
              <a:t>手动合并</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处理过程</a:t>
            </a:r>
            <a:r>
              <a:rPr lang="zh-CN" altLang="en-US" sz="1400" dirty="0">
                <a:solidFill>
                  <a:srgbClr val="FF0000"/>
                </a:solidFill>
              </a:rPr>
              <a:t>经验指导</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数据分析</a:t>
            </a:r>
            <a:r>
              <a:rPr lang="zh-CN" altLang="en-US" sz="1400" dirty="0">
                <a:solidFill>
                  <a:srgbClr val="FF0000"/>
                </a:solidFill>
              </a:rPr>
              <a:t>缺乏深度</a:t>
            </a:r>
            <a:endParaRPr lang="en-US" altLang="zh-CN" sz="1400" dirty="0">
              <a:solidFill>
                <a:srgbClr val="FF0000"/>
              </a:solidFill>
            </a:endParaRPr>
          </a:p>
        </p:txBody>
      </p:sp>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pic>
        <p:nvPicPr>
          <p:cNvPr id="9" name="图片 8"/>
          <p:cNvPicPr>
            <a:picLocks noChangeAspect="1"/>
          </p:cNvPicPr>
          <p:nvPr/>
        </p:nvPicPr>
        <p:blipFill>
          <a:blip r:embed="rId3"/>
          <a:stretch>
            <a:fillRect/>
          </a:stretch>
        </p:blipFill>
        <p:spPr>
          <a:xfrm>
            <a:off x="5194424" y="447983"/>
            <a:ext cx="6997576" cy="5044088"/>
          </a:xfrm>
          <a:prstGeom prst="rect">
            <a:avLst/>
          </a:prstGeom>
        </p:spPr>
      </p:pic>
      <p:sp>
        <p:nvSpPr>
          <p:cNvPr id="8" name="矩形 7"/>
          <p:cNvSpPr/>
          <p:nvPr/>
        </p:nvSpPr>
        <p:spPr>
          <a:xfrm>
            <a:off x="5194424" y="3781425"/>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矩形 10"/>
          <p:cNvSpPr/>
          <p:nvPr/>
        </p:nvSpPr>
        <p:spPr>
          <a:xfrm>
            <a:off x="5194424" y="2328450"/>
            <a:ext cx="6997576" cy="1614315"/>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extLst>
      <p:ext uri="{BB962C8B-B14F-4D97-AF65-F5344CB8AC3E}">
        <p14:creationId xmlns:p14="http://schemas.microsoft.com/office/powerpoint/2010/main" val="40209008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xit" presetSubtype="32" fill="hold" grpId="0" nodeType="clickEffect">
                                  <p:stCondLst>
                                    <p:cond delay="0"/>
                                  </p:stCondLst>
                                  <p:childTnLst>
                                    <p:anim calcmode="lin" valueType="num">
                                      <p:cBhvr>
                                        <p:cTn id="11" dur="500"/>
                                        <p:tgtEl>
                                          <p:spTgt spid="11"/>
                                        </p:tgtEl>
                                        <p:attrNameLst>
                                          <p:attrName>ppt_w</p:attrName>
                                        </p:attrNameLst>
                                      </p:cBhvr>
                                      <p:tavLst>
                                        <p:tav tm="0">
                                          <p:val>
                                            <p:strVal val="ppt_w"/>
                                          </p:val>
                                        </p:tav>
                                        <p:tav tm="100000">
                                          <p:val>
                                            <p:fltVal val="0"/>
                                          </p:val>
                                        </p:tav>
                                      </p:tavLst>
                                    </p:anim>
                                    <p:anim calcmode="lin" valueType="num">
                                      <p:cBhvr>
                                        <p:cTn id="12" dur="500"/>
                                        <p:tgtEl>
                                          <p:spTgt spid="11"/>
                                        </p:tgtEl>
                                        <p:attrNameLst>
                                          <p:attrName>ppt_h</p:attrName>
                                        </p:attrNameLst>
                                      </p:cBhvr>
                                      <p:tavLst>
                                        <p:tav tm="0">
                                          <p:val>
                                            <p:strVal val="ppt_h"/>
                                          </p:val>
                                        </p:tav>
                                        <p:tav tm="100000">
                                          <p:val>
                                            <p:fltVal val="0"/>
                                          </p:val>
                                        </p:tav>
                                      </p:tavLst>
                                    </p:anim>
                                    <p:animEffect transition="out" filter="fade">
                                      <p:cBhvr>
                                        <p:cTn id="13" dur="500"/>
                                        <p:tgtEl>
                                          <p:spTgt spid="11"/>
                                        </p:tgtEl>
                                      </p:cBhvr>
                                    </p:animEffect>
                                    <p:set>
                                      <p:cBhvr>
                                        <p:cTn id="14" dur="1" fill="hold">
                                          <p:stCondLst>
                                            <p:cond delay="499"/>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xit" presetSubtype="32" fill="hold" grpId="0" nodeType="clickEffect">
                                  <p:stCondLst>
                                    <p:cond delay="0"/>
                                  </p:stCondLst>
                                  <p:childTnLst>
                                    <p:anim calcmode="lin" valueType="num">
                                      <p:cBhvr>
                                        <p:cTn id="23" dur="500"/>
                                        <p:tgtEl>
                                          <p:spTgt spid="8"/>
                                        </p:tgtEl>
                                        <p:attrNameLst>
                                          <p:attrName>ppt_w</p:attrName>
                                        </p:attrNameLst>
                                      </p:cBhvr>
                                      <p:tavLst>
                                        <p:tav tm="0">
                                          <p:val>
                                            <p:strVal val="ppt_w"/>
                                          </p:val>
                                        </p:tav>
                                        <p:tav tm="100000">
                                          <p:val>
                                            <p:fltVal val="0"/>
                                          </p:val>
                                        </p:tav>
                                      </p:tavLst>
                                    </p:anim>
                                    <p:anim calcmode="lin" valueType="num">
                                      <p:cBhvr>
                                        <p:cTn id="24" dur="500"/>
                                        <p:tgtEl>
                                          <p:spTgt spid="8"/>
                                        </p:tgtEl>
                                        <p:attrNameLst>
                                          <p:attrName>ppt_h</p:attrName>
                                        </p:attrNameLst>
                                      </p:cBhvr>
                                      <p:tavLst>
                                        <p:tav tm="0">
                                          <p:val>
                                            <p:strVal val="ppt_h"/>
                                          </p:val>
                                        </p:tav>
                                        <p:tav tm="100000">
                                          <p:val>
                                            <p:fltVal val="0"/>
                                          </p:val>
                                        </p:tav>
                                      </p:tavLst>
                                    </p:anim>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1" dur="500"/>
                                        <p:tgtEl>
                                          <p:spTgt spid="2">
                                            <p:txEl>
                                              <p:pRg st="5" end="5"/>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randombar(horizontal)">
                                      <p:cBhvr>
                                        <p:cTn id="34" dur="500"/>
                                        <p:tgtEl>
                                          <p:spTgt spid="2">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呈现数据</a:t>
            </a:r>
            <a:r>
              <a:rPr lang="zh-CN" altLang="en-US" sz="1400" dirty="0" smtClean="0">
                <a:solidFill>
                  <a:srgbClr val="FF0000"/>
                </a:solidFill>
              </a:rPr>
              <a:t>手动整理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通报途径</a:t>
            </a:r>
            <a:r>
              <a:rPr lang="zh-CN" altLang="en-US" sz="1400" dirty="0" smtClean="0">
                <a:solidFill>
                  <a:srgbClr val="FF0000"/>
                </a:solidFill>
              </a:rPr>
              <a:t>不够有效</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呈现</a:t>
            </a:r>
            <a:r>
              <a:rPr lang="zh-CN" altLang="en-US" sz="1400" dirty="0"/>
              <a:t>形式</a:t>
            </a:r>
            <a:r>
              <a:rPr lang="zh-CN" altLang="en-US" sz="1400" dirty="0">
                <a:solidFill>
                  <a:srgbClr val="FF0000"/>
                </a:solidFill>
              </a:rPr>
              <a:t>单一固化</a:t>
            </a:r>
            <a:endParaRPr lang="en-US" altLang="zh-CN" sz="1400" dirty="0">
              <a:solidFill>
                <a:srgbClr val="FF0000"/>
              </a:solidFill>
            </a:endParaRPr>
          </a:p>
          <a:p>
            <a:pPr marL="742950" lvl="1" indent="-285750">
              <a:lnSpc>
                <a:spcPct val="150000"/>
              </a:lnSpc>
              <a:buFont typeface="Arial" panose="020B0604020202020204" pitchFamily="34" charset="0"/>
              <a:buChar char="•"/>
            </a:pPr>
            <a:endParaRPr lang="zh-CN" altLang="en-US" sz="1400" dirty="0">
              <a:solidFill>
                <a:srgbClr val="FF0000"/>
              </a:solidFill>
            </a:endParaRPr>
          </a:p>
        </p:txBody>
      </p:sp>
      <p:pic>
        <p:nvPicPr>
          <p:cNvPr id="7" name="图片 6"/>
          <p:cNvPicPr>
            <a:picLocks noChangeAspect="1"/>
          </p:cNvPicPr>
          <p:nvPr/>
        </p:nvPicPr>
        <p:blipFill>
          <a:blip r:embed="rId2"/>
          <a:stretch>
            <a:fillRect/>
          </a:stretch>
        </p:blipFill>
        <p:spPr>
          <a:xfrm>
            <a:off x="5765071" y="155727"/>
            <a:ext cx="5169629" cy="6702274"/>
          </a:xfrm>
          <a:prstGeom prst="rect">
            <a:avLst/>
          </a:prstGeom>
        </p:spPr>
      </p:pic>
      <p:sp>
        <p:nvSpPr>
          <p:cNvPr id="8" name="左大括号 7"/>
          <p:cNvSpPr/>
          <p:nvPr/>
        </p:nvSpPr>
        <p:spPr>
          <a:xfrm>
            <a:off x="5553075" y="199830"/>
            <a:ext cx="211996" cy="6372421"/>
          </a:xfrm>
          <a:prstGeom prst="leftBrace">
            <a:avLst/>
          </a:prstGeom>
          <a:ln w="19050"/>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a:p>
        </p:txBody>
      </p:sp>
      <p:sp>
        <p:nvSpPr>
          <p:cNvPr id="11" name="文本框 10"/>
          <p:cNvSpPr txBox="1"/>
          <p:nvPr/>
        </p:nvSpPr>
        <p:spPr>
          <a:xfrm>
            <a:off x="4955446" y="2505075"/>
            <a:ext cx="561975" cy="1815882"/>
          </a:xfrm>
          <a:prstGeom prst="rect">
            <a:avLst/>
          </a:prstGeom>
          <a:noFill/>
        </p:spPr>
        <p:txBody>
          <a:bodyPr wrap="square" rtlCol="0">
            <a:spAutoFit/>
          </a:bodyPr>
          <a:lstStyle/>
          <a:p>
            <a:r>
              <a:rPr lang="zh-CN" altLang="en-US" sz="1600" dirty="0" smtClean="0"/>
              <a:t>近</a:t>
            </a:r>
            <a:r>
              <a:rPr lang="en-US" altLang="zh-CN" sz="1600" dirty="0" smtClean="0"/>
              <a:t>20</a:t>
            </a:r>
            <a:r>
              <a:rPr lang="zh-CN" altLang="en-US" sz="1600" dirty="0" smtClean="0"/>
              <a:t>项数据表格</a:t>
            </a:r>
            <a:endParaRPr lang="zh-CN" altLang="en-US" sz="1600" dirty="0"/>
          </a:p>
        </p:txBody>
      </p:sp>
      <p:sp>
        <p:nvSpPr>
          <p:cNvPr id="15" name="矩形 14"/>
          <p:cNvSpPr/>
          <p:nvPr/>
        </p:nvSpPr>
        <p:spPr>
          <a:xfrm>
            <a:off x="9713093" y="1320634"/>
            <a:ext cx="1605053" cy="461676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7577263" y="916044"/>
            <a:ext cx="2135830" cy="4939993"/>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12" name="图片 11"/>
          <p:cNvPicPr>
            <a:picLocks noChangeAspect="1"/>
          </p:cNvPicPr>
          <p:nvPr/>
        </p:nvPicPr>
        <p:blipFill>
          <a:blip r:embed="rId3"/>
          <a:stretch>
            <a:fillRect/>
          </a:stretch>
        </p:blipFill>
        <p:spPr>
          <a:xfrm>
            <a:off x="6864982" y="964663"/>
            <a:ext cx="5143048" cy="4635510"/>
          </a:xfrm>
          <a:prstGeom prst="rect">
            <a:avLst/>
          </a:prstGeom>
        </p:spPr>
      </p:pic>
      <p:sp>
        <p:nvSpPr>
          <p:cNvPr id="14" name="文本框 13"/>
          <p:cNvSpPr txBox="1"/>
          <p:nvPr/>
        </p:nvSpPr>
        <p:spPr>
          <a:xfrm>
            <a:off x="8469411" y="2992514"/>
            <a:ext cx="1879275" cy="371475"/>
          </a:xfrm>
          <a:prstGeom prst="rect">
            <a:avLst/>
          </a:prstGeom>
          <a:solidFill>
            <a:schemeClr val="tx1"/>
          </a:solidFill>
        </p:spPr>
        <p:txBody>
          <a:bodyPr wrap="square" rtlCol="0">
            <a:spAutoFit/>
          </a:bodyPr>
          <a:lstStyle/>
          <a:p>
            <a:r>
              <a:rPr lang="zh-CN" altLang="en-US" dirty="0" smtClean="0">
                <a:solidFill>
                  <a:schemeClr val="bg1"/>
                </a:solidFill>
              </a:rPr>
              <a:t>单纯的数据罗列</a:t>
            </a:r>
            <a:endParaRPr lang="zh-CN" altLang="en-US" dirty="0">
              <a:solidFill>
                <a:schemeClr val="bg1"/>
              </a:solidFill>
            </a:endParaRPr>
          </a:p>
        </p:txBody>
      </p:sp>
      <p:pic>
        <p:nvPicPr>
          <p:cNvPr id="10" name="图片 9"/>
          <p:cNvPicPr>
            <a:picLocks noChangeAspect="1"/>
          </p:cNvPicPr>
          <p:nvPr/>
        </p:nvPicPr>
        <p:blipFill>
          <a:blip r:embed="rId4"/>
          <a:stretch>
            <a:fillRect/>
          </a:stretch>
        </p:blipFill>
        <p:spPr>
          <a:xfrm>
            <a:off x="6836620" y="2930394"/>
            <a:ext cx="5476190" cy="2857143"/>
          </a:xfrm>
          <a:prstGeom prst="rect">
            <a:avLst/>
          </a:prstGeom>
        </p:spPr>
      </p:pic>
      <p:sp>
        <p:nvSpPr>
          <p:cNvPr id="18" name="文本框 17"/>
          <p:cNvSpPr txBox="1"/>
          <p:nvPr/>
        </p:nvSpPr>
        <p:spPr>
          <a:xfrm>
            <a:off x="8636344" y="4296343"/>
            <a:ext cx="1879275" cy="371475"/>
          </a:xfrm>
          <a:prstGeom prst="rect">
            <a:avLst/>
          </a:prstGeom>
          <a:solidFill>
            <a:schemeClr val="tx1"/>
          </a:solidFill>
        </p:spPr>
        <p:txBody>
          <a:bodyPr wrap="square" rtlCol="0">
            <a:spAutoFit/>
          </a:bodyPr>
          <a:lstStyle/>
          <a:p>
            <a:r>
              <a:rPr lang="zh-CN" altLang="en-US" dirty="0" smtClean="0">
                <a:solidFill>
                  <a:schemeClr val="bg1"/>
                </a:solidFill>
              </a:rPr>
              <a:t>简单的数据同比</a:t>
            </a:r>
            <a:endParaRPr lang="zh-CN" altLang="en-US" dirty="0">
              <a:solidFill>
                <a:schemeClr val="bg1"/>
              </a:solidFill>
            </a:endParaRPr>
          </a:p>
        </p:txBody>
      </p:sp>
    </p:spTree>
    <p:extLst>
      <p:ext uri="{BB962C8B-B14F-4D97-AF65-F5344CB8AC3E}">
        <p14:creationId xmlns:p14="http://schemas.microsoft.com/office/powerpoint/2010/main" val="12309053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16"/>
                                        </p:tgtEl>
                                      </p:cBhvr>
                                    </p:animEffect>
                                    <p:set>
                                      <p:cBhvr>
                                        <p:cTn id="18" dur="1" fill="hold">
                                          <p:stCondLst>
                                            <p:cond delay="499"/>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15"/>
                                        </p:tgtEl>
                                      </p:cBhvr>
                                    </p:animEffect>
                                    <p:set>
                                      <p:cBhvr>
                                        <p:cTn id="28" dur="1" fill="hold">
                                          <p:stCondLst>
                                            <p:cond delay="499"/>
                                          </p:stCondLst>
                                        </p:cTn>
                                        <p:tgtEl>
                                          <p:spTgt spid="1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33" dur="500"/>
                                        <p:tgtEl>
                                          <p:spTgt spid="2">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fltVal val="0"/>
                                          </p:val>
                                        </p:tav>
                                        <p:tav tm="100000">
                                          <p:val>
                                            <p:strVal val="#ppt_w"/>
                                          </p:val>
                                        </p:tav>
                                      </p:tavLst>
                                    </p:anim>
                                    <p:anim calcmode="lin" valueType="num">
                                      <p:cBhvr>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1000" fill="hold"/>
                                        <p:tgtEl>
                                          <p:spTgt spid="14"/>
                                        </p:tgtEl>
                                        <p:attrNameLst>
                                          <p:attrName>ppt_w</p:attrName>
                                        </p:attrNameLst>
                                      </p:cBhvr>
                                      <p:tavLst>
                                        <p:tav tm="0">
                                          <p:val>
                                            <p:fltVal val="0"/>
                                          </p:val>
                                        </p:tav>
                                        <p:tav tm="100000">
                                          <p:val>
                                            <p:strVal val="#ppt_w"/>
                                          </p:val>
                                        </p:tav>
                                      </p:tavLst>
                                    </p:anim>
                                    <p:anim calcmode="lin" valueType="num">
                                      <p:cBhvr>
                                        <p:cTn id="46" dur="1000" fill="hold"/>
                                        <p:tgtEl>
                                          <p:spTgt spid="14"/>
                                        </p:tgtEl>
                                        <p:attrNameLst>
                                          <p:attrName>ppt_h</p:attrName>
                                        </p:attrNameLst>
                                      </p:cBhvr>
                                      <p:tavLst>
                                        <p:tav tm="0">
                                          <p:val>
                                            <p:fltVal val="0"/>
                                          </p:val>
                                        </p:tav>
                                        <p:tav tm="100000">
                                          <p:val>
                                            <p:strVal val="#ppt_h"/>
                                          </p:val>
                                        </p:tav>
                                      </p:tavLst>
                                    </p:anim>
                                    <p:anim calcmode="lin" valueType="num">
                                      <p:cBhvr>
                                        <p:cTn id="47" dur="1000" fill="hold"/>
                                        <p:tgtEl>
                                          <p:spTgt spid="14"/>
                                        </p:tgtEl>
                                        <p:attrNameLst>
                                          <p:attrName>style.rotation</p:attrName>
                                        </p:attrNameLst>
                                      </p:cBhvr>
                                      <p:tavLst>
                                        <p:tav tm="0">
                                          <p:val>
                                            <p:fltVal val="90"/>
                                          </p:val>
                                        </p:tav>
                                        <p:tav tm="100000">
                                          <p:val>
                                            <p:fltVal val="0"/>
                                          </p:val>
                                        </p:tav>
                                      </p:tavLst>
                                    </p:anim>
                                    <p:animEffect transition="in" filter="fade">
                                      <p:cBhvr>
                                        <p:cTn id="48" dur="10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nodeType="clickEffect">
                                  <p:stCondLst>
                                    <p:cond delay="0"/>
                                  </p:stCondLst>
                                  <p:childTnLst>
                                    <p:animEffect transition="out" filter="wipe(down)">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par>
                                <p:cTn id="54" presetID="22" presetClass="exit" presetSubtype="4" fill="hold" grpId="1" nodeType="withEffect">
                                  <p:stCondLst>
                                    <p:cond delay="0"/>
                                  </p:stCondLst>
                                  <p:childTnLst>
                                    <p:animEffect transition="out" filter="wipe(down)">
                                      <p:cBhvr>
                                        <p:cTn id="55" dur="500"/>
                                        <p:tgtEl>
                                          <p:spTgt spid="14"/>
                                        </p:tgtEl>
                                      </p:cBhvr>
                                    </p:animEffect>
                                    <p:set>
                                      <p:cBhvr>
                                        <p:cTn id="56" dur="1" fill="hold">
                                          <p:stCondLst>
                                            <p:cond delay="499"/>
                                          </p:stCondLst>
                                        </p:cTn>
                                        <p:tgtEl>
                                          <p:spTgt spid="1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1000" fill="hold"/>
                                        <p:tgtEl>
                                          <p:spTgt spid="18"/>
                                        </p:tgtEl>
                                        <p:attrNameLst>
                                          <p:attrName>ppt_w</p:attrName>
                                        </p:attrNameLst>
                                      </p:cBhvr>
                                      <p:tavLst>
                                        <p:tav tm="0">
                                          <p:val>
                                            <p:fltVal val="0"/>
                                          </p:val>
                                        </p:tav>
                                        <p:tav tm="100000">
                                          <p:val>
                                            <p:strVal val="#ppt_w"/>
                                          </p:val>
                                        </p:tav>
                                      </p:tavLst>
                                    </p:anim>
                                    <p:anim calcmode="lin" valueType="num">
                                      <p:cBhvr>
                                        <p:cTn id="68" dur="1000" fill="hold"/>
                                        <p:tgtEl>
                                          <p:spTgt spid="18"/>
                                        </p:tgtEl>
                                        <p:attrNameLst>
                                          <p:attrName>ppt_h</p:attrName>
                                        </p:attrNameLst>
                                      </p:cBhvr>
                                      <p:tavLst>
                                        <p:tav tm="0">
                                          <p:val>
                                            <p:fltVal val="0"/>
                                          </p:val>
                                        </p:tav>
                                        <p:tav tm="100000">
                                          <p:val>
                                            <p:strVal val="#ppt_h"/>
                                          </p:val>
                                        </p:tav>
                                      </p:tavLst>
                                    </p:anim>
                                    <p:anim calcmode="lin" valueType="num">
                                      <p:cBhvr>
                                        <p:cTn id="69" dur="1000" fill="hold"/>
                                        <p:tgtEl>
                                          <p:spTgt spid="18"/>
                                        </p:tgtEl>
                                        <p:attrNameLst>
                                          <p:attrName>style.rotation</p:attrName>
                                        </p:attrNameLst>
                                      </p:cBhvr>
                                      <p:tavLst>
                                        <p:tav tm="0">
                                          <p:val>
                                            <p:fltVal val="90"/>
                                          </p:val>
                                        </p:tav>
                                        <p:tav tm="100000">
                                          <p:val>
                                            <p:fltVal val="0"/>
                                          </p:val>
                                        </p:tav>
                                      </p:tavLst>
                                    </p:anim>
                                    <p:animEffect transition="in" filter="fade">
                                      <p:cBhvr>
                                        <p:cTn id="70" dur="10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xit" presetSubtype="0" fill="hold" grpId="1" nodeType="clickEffect">
                                  <p:stCondLst>
                                    <p:cond delay="0"/>
                                  </p:stCondLst>
                                  <p:childTnLst>
                                    <p:animEffect transition="out" filter="fade">
                                      <p:cBhvr>
                                        <p:cTn id="74" dur="1000"/>
                                        <p:tgtEl>
                                          <p:spTgt spid="18"/>
                                        </p:tgtEl>
                                      </p:cBhvr>
                                    </p:animEffect>
                                    <p:anim calcmode="lin" valueType="num">
                                      <p:cBhvr>
                                        <p:cTn id="75" dur="1000"/>
                                        <p:tgtEl>
                                          <p:spTgt spid="18"/>
                                        </p:tgtEl>
                                        <p:attrNameLst>
                                          <p:attrName>ppt_x</p:attrName>
                                        </p:attrNameLst>
                                      </p:cBhvr>
                                      <p:tavLst>
                                        <p:tav tm="0">
                                          <p:val>
                                            <p:strVal val="ppt_x"/>
                                          </p:val>
                                        </p:tav>
                                        <p:tav tm="100000">
                                          <p:val>
                                            <p:strVal val="ppt_x"/>
                                          </p:val>
                                        </p:tav>
                                      </p:tavLst>
                                    </p:anim>
                                    <p:anim calcmode="lin" valueType="num">
                                      <p:cBhvr>
                                        <p:cTn id="76" dur="1000"/>
                                        <p:tgtEl>
                                          <p:spTgt spid="18"/>
                                        </p:tgtEl>
                                        <p:attrNameLst>
                                          <p:attrName>ppt_y</p:attrName>
                                        </p:attrNameLst>
                                      </p:cBhvr>
                                      <p:tavLst>
                                        <p:tav tm="0">
                                          <p:val>
                                            <p:strVal val="ppt_y"/>
                                          </p:val>
                                        </p:tav>
                                        <p:tav tm="100000">
                                          <p:val>
                                            <p:strVal val="ppt_y+.1"/>
                                          </p:val>
                                        </p:tav>
                                      </p:tavLst>
                                    </p:anim>
                                    <p:set>
                                      <p:cBhvr>
                                        <p:cTn id="77" dur="1" fill="hold">
                                          <p:stCondLst>
                                            <p:cond delay="999"/>
                                          </p:stCondLst>
                                        </p:cTn>
                                        <p:tgtEl>
                                          <p:spTgt spid="18"/>
                                        </p:tgtEl>
                                        <p:attrNameLst>
                                          <p:attrName>style.visibility</p:attrName>
                                        </p:attrNameLst>
                                      </p:cBhvr>
                                      <p:to>
                                        <p:strVal val="hidden"/>
                                      </p:to>
                                    </p:set>
                                  </p:childTnLst>
                                </p:cTn>
                              </p:par>
                              <p:par>
                                <p:cTn id="78" presetID="42" presetClass="exit" presetSubtype="0" fill="hold" nodeType="withEffect">
                                  <p:stCondLst>
                                    <p:cond delay="0"/>
                                  </p:stCondLst>
                                  <p:childTnLst>
                                    <p:animEffect transition="out" filter="fade">
                                      <p:cBhvr>
                                        <p:cTn id="79" dur="1000"/>
                                        <p:tgtEl>
                                          <p:spTgt spid="10"/>
                                        </p:tgtEl>
                                      </p:cBhvr>
                                    </p:animEffect>
                                    <p:anim calcmode="lin" valueType="num">
                                      <p:cBhvr>
                                        <p:cTn id="80" dur="1000"/>
                                        <p:tgtEl>
                                          <p:spTgt spid="10"/>
                                        </p:tgtEl>
                                        <p:attrNameLst>
                                          <p:attrName>ppt_x</p:attrName>
                                        </p:attrNameLst>
                                      </p:cBhvr>
                                      <p:tavLst>
                                        <p:tav tm="0">
                                          <p:val>
                                            <p:strVal val="ppt_x"/>
                                          </p:val>
                                        </p:tav>
                                        <p:tav tm="100000">
                                          <p:val>
                                            <p:strVal val="ppt_x"/>
                                          </p:val>
                                        </p:tav>
                                      </p:tavLst>
                                    </p:anim>
                                    <p:anim calcmode="lin" valueType="num">
                                      <p:cBhvr>
                                        <p:cTn id="81" dur="1000"/>
                                        <p:tgtEl>
                                          <p:spTgt spid="10"/>
                                        </p:tgtEl>
                                        <p:attrNameLst>
                                          <p:attrName>ppt_y</p:attrName>
                                        </p:attrNameLst>
                                      </p:cBhvr>
                                      <p:tavLst>
                                        <p:tav tm="0">
                                          <p:val>
                                            <p:strVal val="ppt_y"/>
                                          </p:val>
                                        </p:tav>
                                        <p:tav tm="100000">
                                          <p:val>
                                            <p:strVal val="ppt_y+.1"/>
                                          </p:val>
                                        </p:tav>
                                      </p:tavLst>
                                    </p:anim>
                                    <p:set>
                                      <p:cBhvr>
                                        <p:cTn id="82"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4" grpId="0" animBg="1"/>
      <p:bldP spid="14" grpId="1" animBg="1"/>
      <p:bldP spid="18" grpId="0" animBg="1"/>
      <p:bldP spid="1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运维的现阶段情况（总结）</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315882" y="2036245"/>
            <a:ext cx="1725561" cy="140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dirty="0" smtClean="0"/>
              <a:t>维护报表制作</a:t>
            </a:r>
            <a:endParaRPr lang="zh-CN" altLang="en-US" dirty="0"/>
          </a:p>
        </p:txBody>
      </p:sp>
      <p:sp>
        <p:nvSpPr>
          <p:cNvPr id="12" name="矩形 11"/>
          <p:cNvSpPr/>
          <p:nvPr/>
        </p:nvSpPr>
        <p:spPr>
          <a:xfrm>
            <a:off x="1417392" y="1662145"/>
            <a:ext cx="2998839" cy="2308324"/>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1   </a:t>
            </a:r>
            <a:r>
              <a:rPr lang="zh-CN" altLang="en-US" sz="1600" dirty="0" smtClean="0"/>
              <a:t>数据获取：</a:t>
            </a:r>
            <a:endParaRPr lang="en-US" altLang="zh-CN" sz="1600" dirty="0" smtClean="0"/>
          </a:p>
          <a:p>
            <a:pPr marL="742950" lvl="1" indent="-285750">
              <a:lnSpc>
                <a:spcPct val="150000"/>
              </a:lnSpc>
              <a:buFont typeface="Arial" panose="020B0604020202020204" pitchFamily="34" charset="0"/>
              <a:buChar char="•"/>
            </a:pPr>
            <a:r>
              <a:rPr lang="zh-CN" altLang="en-US" sz="1600" dirty="0"/>
              <a:t>数据来源</a:t>
            </a:r>
            <a:r>
              <a:rPr lang="zh-CN" altLang="en-US" sz="1600" dirty="0">
                <a:solidFill>
                  <a:srgbClr val="FF0000"/>
                </a:solidFill>
              </a:rPr>
              <a:t>较分散</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原始数据</a:t>
            </a:r>
            <a:r>
              <a:rPr lang="zh-CN" altLang="en-US" sz="1600" dirty="0">
                <a:solidFill>
                  <a:srgbClr val="FF0000"/>
                </a:solidFill>
              </a:rPr>
              <a:t>无备份</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获取方式</a:t>
            </a:r>
            <a:r>
              <a:rPr lang="zh-CN" altLang="en-US" sz="1600" dirty="0">
                <a:solidFill>
                  <a:srgbClr val="FF0000"/>
                </a:solidFill>
              </a:rPr>
              <a:t>未统一</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沟通成本</a:t>
            </a:r>
            <a:r>
              <a:rPr lang="zh-CN" altLang="en-US" sz="1600" dirty="0">
                <a:solidFill>
                  <a:srgbClr val="FF0000"/>
                </a:solidFill>
              </a:rPr>
              <a:t>代价高</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人力劳动</a:t>
            </a:r>
            <a:r>
              <a:rPr lang="zh-CN" altLang="en-US" sz="1600" dirty="0">
                <a:solidFill>
                  <a:srgbClr val="FF0000"/>
                </a:solidFill>
              </a:rPr>
              <a:t>较重复</a:t>
            </a:r>
            <a:endParaRPr lang="en-US" altLang="zh-CN" sz="1600" dirty="0">
              <a:solidFill>
                <a:srgbClr val="FF0000"/>
              </a:solidFill>
            </a:endParaRPr>
          </a:p>
        </p:txBody>
      </p:sp>
      <p:cxnSp>
        <p:nvCxnSpPr>
          <p:cNvPr id="13" name="直接连接符 12"/>
          <p:cNvCxnSpPr/>
          <p:nvPr/>
        </p:nvCxnSpPr>
        <p:spPr>
          <a:xfrm>
            <a:off x="1392812" y="399778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a:endCxn id="11" idx="2"/>
          </p:cNvCxnSpPr>
          <p:nvPr/>
        </p:nvCxnSpPr>
        <p:spPr>
          <a:xfrm flipV="1">
            <a:off x="3934451" y="2736793"/>
            <a:ext cx="1381431" cy="12659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9" idx="0"/>
            <a:endCxn id="11" idx="4"/>
          </p:cNvCxnSpPr>
          <p:nvPr/>
        </p:nvCxnSpPr>
        <p:spPr>
          <a:xfrm flipH="1" flipV="1">
            <a:off x="6178663" y="3437341"/>
            <a:ext cx="6413" cy="80374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671871" y="6288697"/>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8157420" y="1897445"/>
            <a:ext cx="2674339" cy="193899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altLang="zh-CN" sz="1600" dirty="0" smtClean="0"/>
              <a:t>2  </a:t>
            </a:r>
            <a:r>
              <a:rPr lang="zh-CN" altLang="en-US" sz="1600" dirty="0" smtClean="0"/>
              <a:t>数据分析：</a:t>
            </a:r>
            <a:endParaRPr lang="en-US" altLang="zh-CN" sz="1600" dirty="0" smtClean="0"/>
          </a:p>
          <a:p>
            <a:pPr marL="742950" lvl="1" indent="-285750">
              <a:lnSpc>
                <a:spcPct val="150000"/>
              </a:lnSpc>
              <a:buFont typeface="Arial" panose="020B0604020202020204" pitchFamily="34" charset="0"/>
              <a:buChar char="•"/>
            </a:pPr>
            <a:r>
              <a:rPr lang="zh-CN" altLang="en-US" sz="1600" dirty="0"/>
              <a:t>原始表格</a:t>
            </a:r>
            <a:r>
              <a:rPr lang="zh-CN" altLang="en-US" sz="1600" dirty="0">
                <a:solidFill>
                  <a:srgbClr val="FF0000"/>
                </a:solidFill>
              </a:rPr>
              <a:t>手动拆分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数据子表</a:t>
            </a:r>
            <a:r>
              <a:rPr lang="zh-CN" altLang="en-US" sz="1600" dirty="0">
                <a:solidFill>
                  <a:srgbClr val="FF0000"/>
                </a:solidFill>
              </a:rPr>
              <a:t>手动合并</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处理过程</a:t>
            </a:r>
            <a:r>
              <a:rPr lang="zh-CN" altLang="en-US" sz="1600" dirty="0">
                <a:solidFill>
                  <a:srgbClr val="FF0000"/>
                </a:solidFill>
              </a:rPr>
              <a:t>经验指导</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数据分析</a:t>
            </a:r>
            <a:r>
              <a:rPr lang="zh-CN" altLang="en-US" sz="1600" dirty="0">
                <a:solidFill>
                  <a:srgbClr val="FF0000"/>
                </a:solidFill>
              </a:rPr>
              <a:t>缺乏深度</a:t>
            </a:r>
            <a:endParaRPr lang="en-US" altLang="zh-CN" sz="1600" dirty="0">
              <a:solidFill>
                <a:srgbClr val="FF0000"/>
              </a:solidFill>
            </a:endParaRPr>
          </a:p>
        </p:txBody>
      </p:sp>
      <p:cxnSp>
        <p:nvCxnSpPr>
          <p:cNvPr id="18" name="直接连接符 17"/>
          <p:cNvCxnSpPr/>
          <p:nvPr/>
        </p:nvCxnSpPr>
        <p:spPr>
          <a:xfrm>
            <a:off x="8580008" y="40027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文本框 1"/>
          <p:cNvSpPr txBox="1"/>
          <p:nvPr/>
        </p:nvSpPr>
        <p:spPr>
          <a:xfrm>
            <a:off x="4664953" y="4241085"/>
            <a:ext cx="3040245" cy="19389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1600" dirty="0"/>
          </a:p>
          <a:p>
            <a:pPr marL="285750" indent="-285750">
              <a:lnSpc>
                <a:spcPct val="150000"/>
              </a:lnSpc>
              <a:buFont typeface="Arial" panose="020B0604020202020204" pitchFamily="34" charset="0"/>
              <a:buChar char="•"/>
            </a:pPr>
            <a:r>
              <a:rPr lang="zh-CN" altLang="en-US" sz="1600" dirty="0"/>
              <a:t>数据呈现</a:t>
            </a:r>
            <a:r>
              <a:rPr lang="zh-CN" altLang="en-US" sz="1600" dirty="0" smtClean="0"/>
              <a:t>：</a:t>
            </a:r>
            <a:endParaRPr lang="en-US" altLang="zh-CN" sz="1600" dirty="0"/>
          </a:p>
          <a:p>
            <a:pPr marL="742950" lvl="1" indent="-285750">
              <a:lnSpc>
                <a:spcPct val="150000"/>
              </a:lnSpc>
              <a:buFont typeface="Arial" panose="020B0604020202020204" pitchFamily="34" charset="0"/>
              <a:buChar char="•"/>
            </a:pPr>
            <a:r>
              <a:rPr lang="zh-CN" altLang="en-US" sz="1600" dirty="0"/>
              <a:t>呈现数据</a:t>
            </a:r>
            <a:r>
              <a:rPr lang="zh-CN" altLang="en-US" sz="1600" dirty="0">
                <a:solidFill>
                  <a:srgbClr val="FF0000"/>
                </a:solidFill>
              </a:rPr>
              <a:t>手动整理</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通报途径</a:t>
            </a:r>
            <a:r>
              <a:rPr lang="zh-CN" altLang="en-US" sz="1600" dirty="0">
                <a:solidFill>
                  <a:srgbClr val="FF0000"/>
                </a:solidFill>
              </a:rPr>
              <a:t>不够有效</a:t>
            </a:r>
            <a:endParaRPr lang="en-US" altLang="zh-CN" sz="1600" dirty="0">
              <a:solidFill>
                <a:srgbClr val="FF0000"/>
              </a:solidFill>
            </a:endParaRPr>
          </a:p>
          <a:p>
            <a:pPr marL="742950" lvl="1" indent="-285750">
              <a:lnSpc>
                <a:spcPct val="150000"/>
              </a:lnSpc>
              <a:buFont typeface="Arial" panose="020B0604020202020204" pitchFamily="34" charset="0"/>
              <a:buChar char="•"/>
            </a:pPr>
            <a:r>
              <a:rPr lang="zh-CN" altLang="en-US" sz="1600" dirty="0"/>
              <a:t>呈现形式</a:t>
            </a:r>
            <a:r>
              <a:rPr lang="zh-CN" altLang="en-US" sz="1600" dirty="0">
                <a:solidFill>
                  <a:srgbClr val="FF0000"/>
                </a:solidFill>
              </a:rPr>
              <a:t>单一固化</a:t>
            </a:r>
            <a:endParaRPr lang="en-US" altLang="zh-CN" sz="1600" dirty="0">
              <a:solidFill>
                <a:srgbClr val="FF0000"/>
              </a:solidFill>
            </a:endParaRPr>
          </a:p>
        </p:txBody>
      </p:sp>
      <p:cxnSp>
        <p:nvCxnSpPr>
          <p:cNvPr id="20" name="直接连接符 19"/>
          <p:cNvCxnSpPr/>
          <p:nvPr/>
        </p:nvCxnSpPr>
        <p:spPr>
          <a:xfrm rot="10800000">
            <a:off x="7041443" y="2739244"/>
            <a:ext cx="1533833" cy="1260999"/>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运维管理的对象</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维护报表制作只是所有</a:t>
            </a:r>
            <a:r>
              <a:rPr lang="en-US" altLang="zh-CN" sz="1600" dirty="0" smtClean="0">
                <a:latin typeface="+mn-ea"/>
              </a:rPr>
              <a:t>13</a:t>
            </a:r>
            <a:r>
              <a:rPr lang="zh-CN" altLang="en-US" sz="1600" dirty="0" smtClean="0">
                <a:latin typeface="+mn-ea"/>
              </a:rPr>
              <a:t>类网络中城域网工作中的一小部分</a:t>
            </a:r>
            <a:endParaRPr lang="zh-CN" altLang="en-US" sz="1600" dirty="0">
              <a:latin typeface="+mn-ea"/>
            </a:endParaRPr>
          </a:p>
        </p:txBody>
      </p:sp>
      <p:sp>
        <p:nvSpPr>
          <p:cNvPr id="11" name="等腰三角形 10"/>
          <p:cNvSpPr/>
          <p:nvPr/>
        </p:nvSpPr>
        <p:spPr>
          <a:xfrm>
            <a:off x="2442331" y="2033390"/>
            <a:ext cx="3906308" cy="3337983"/>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12" name="组合 11"/>
          <p:cNvGrpSpPr/>
          <p:nvPr/>
        </p:nvGrpSpPr>
        <p:grpSpPr>
          <a:xfrm>
            <a:off x="4395485" y="2160862"/>
            <a:ext cx="2300590" cy="600477"/>
            <a:chOff x="3657599" y="542395"/>
            <a:chExt cx="3522133" cy="963083"/>
          </a:xfrm>
        </p:grpSpPr>
        <p:sp>
          <p:nvSpPr>
            <p:cNvPr id="22" name="圆角矩形 21"/>
            <p:cNvSpPr/>
            <p:nvPr/>
          </p:nvSpPr>
          <p:spPr>
            <a:xfrm>
              <a:off x="3657599" y="542395"/>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圆角矩形 5"/>
            <p:cNvSpPr txBox="1"/>
            <p:nvPr/>
          </p:nvSpPr>
          <p:spPr>
            <a:xfrm>
              <a:off x="3704613" y="589409"/>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用户</a:t>
              </a:r>
              <a:endParaRPr lang="zh-CN" altLang="en-US" sz="2400" kern="1200" dirty="0"/>
            </a:p>
          </p:txBody>
        </p:sp>
      </p:grpSp>
      <p:grpSp>
        <p:nvGrpSpPr>
          <p:cNvPr id="13" name="组合 12"/>
          <p:cNvGrpSpPr/>
          <p:nvPr/>
        </p:nvGrpSpPr>
        <p:grpSpPr>
          <a:xfrm>
            <a:off x="4395484" y="2946591"/>
            <a:ext cx="2300590" cy="689690"/>
            <a:chOff x="3657599" y="1625864"/>
            <a:chExt cx="3522133" cy="963083"/>
          </a:xfrm>
        </p:grpSpPr>
        <p:sp>
          <p:nvSpPr>
            <p:cNvPr id="20" name="圆角矩形 19"/>
            <p:cNvSpPr/>
            <p:nvPr/>
          </p:nvSpPr>
          <p:spPr>
            <a:xfrm>
              <a:off x="3657599" y="1625864"/>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圆角矩形 7"/>
            <p:cNvSpPr txBox="1"/>
            <p:nvPr/>
          </p:nvSpPr>
          <p:spPr>
            <a:xfrm>
              <a:off x="3704613" y="1672878"/>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业务</a:t>
              </a:r>
              <a:endParaRPr lang="zh-CN" altLang="en-US" sz="2400" kern="1200" dirty="0"/>
            </a:p>
          </p:txBody>
        </p:sp>
      </p:grpSp>
      <p:grpSp>
        <p:nvGrpSpPr>
          <p:cNvPr id="14" name="组合 13"/>
          <p:cNvGrpSpPr/>
          <p:nvPr/>
        </p:nvGrpSpPr>
        <p:grpSpPr>
          <a:xfrm>
            <a:off x="4395483" y="3818074"/>
            <a:ext cx="2300591" cy="661679"/>
            <a:chOff x="3657599" y="2709333"/>
            <a:chExt cx="3522133" cy="963083"/>
          </a:xfrm>
        </p:grpSpPr>
        <p:sp>
          <p:nvSpPr>
            <p:cNvPr id="18" name="圆角矩形 17"/>
            <p:cNvSpPr/>
            <p:nvPr/>
          </p:nvSpPr>
          <p:spPr>
            <a:xfrm>
              <a:off x="3657599" y="2709333"/>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9" name="圆角矩形 9"/>
            <p:cNvSpPr txBox="1"/>
            <p:nvPr/>
          </p:nvSpPr>
          <p:spPr>
            <a:xfrm>
              <a:off x="3704613" y="2756347"/>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zh-CN" altLang="en-US" sz="2400" kern="1200" dirty="0" smtClean="0"/>
                <a:t>网络</a:t>
              </a:r>
              <a:endParaRPr lang="zh-CN" altLang="en-US" sz="2400" kern="1200" dirty="0"/>
            </a:p>
          </p:txBody>
        </p:sp>
      </p:grpSp>
      <p:grpSp>
        <p:nvGrpSpPr>
          <p:cNvPr id="15" name="组合 14"/>
          <p:cNvGrpSpPr/>
          <p:nvPr/>
        </p:nvGrpSpPr>
        <p:grpSpPr>
          <a:xfrm>
            <a:off x="4395483" y="4656407"/>
            <a:ext cx="2300591" cy="714966"/>
            <a:chOff x="3657599" y="3792802"/>
            <a:chExt cx="3522133" cy="963083"/>
          </a:xfrm>
        </p:grpSpPr>
        <p:sp>
          <p:nvSpPr>
            <p:cNvPr id="16" name="圆角矩形 15"/>
            <p:cNvSpPr/>
            <p:nvPr/>
          </p:nvSpPr>
          <p:spPr>
            <a:xfrm>
              <a:off x="3657599" y="3792802"/>
              <a:ext cx="3522133" cy="963083"/>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圆角矩形 11"/>
            <p:cNvSpPr txBox="1"/>
            <p:nvPr/>
          </p:nvSpPr>
          <p:spPr>
            <a:xfrm>
              <a:off x="3704613" y="3839816"/>
              <a:ext cx="3428105" cy="86905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44780" tIns="144780" rIns="144780" bIns="144780" numCol="1" spcCol="1270" anchor="ctr" anchorCtr="0">
              <a:noAutofit/>
            </a:bodyPr>
            <a:lstStyle/>
            <a:p>
              <a:pPr lvl="0" algn="ctr" defTabSz="1689100">
                <a:lnSpc>
                  <a:spcPct val="90000"/>
                </a:lnSpc>
                <a:spcBef>
                  <a:spcPct val="0"/>
                </a:spcBef>
                <a:spcAft>
                  <a:spcPct val="35000"/>
                </a:spcAft>
              </a:pPr>
              <a:r>
                <a:rPr lang="zh-CN" altLang="en-US" sz="2400" kern="1200" dirty="0" smtClean="0"/>
                <a:t>设备</a:t>
              </a:r>
              <a:endParaRPr lang="zh-CN" altLang="en-US" sz="2400" kern="1200" dirty="0"/>
            </a:p>
          </p:txBody>
        </p:sp>
      </p:grpSp>
      <p:cxnSp>
        <p:nvCxnSpPr>
          <p:cNvPr id="24" name="直接连接符 23"/>
          <p:cNvCxnSpPr/>
          <p:nvPr/>
        </p:nvCxnSpPr>
        <p:spPr>
          <a:xfrm>
            <a:off x="6696074" y="2516800"/>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962775" y="2033391"/>
            <a:ext cx="1552575" cy="369332"/>
          </a:xfrm>
          <a:prstGeom prst="rect">
            <a:avLst/>
          </a:prstGeom>
          <a:noFill/>
        </p:spPr>
        <p:txBody>
          <a:bodyPr wrap="square" rtlCol="0">
            <a:spAutoFit/>
          </a:bodyPr>
          <a:lstStyle/>
          <a:p>
            <a:r>
              <a:rPr lang="zh-CN" altLang="en-US" dirty="0" smtClean="0"/>
              <a:t>十二类用户</a:t>
            </a:r>
            <a:endParaRPr lang="zh-CN" altLang="en-US" dirty="0"/>
          </a:p>
        </p:txBody>
      </p:sp>
      <p:cxnSp>
        <p:nvCxnSpPr>
          <p:cNvPr id="25" name="直接连接符 24"/>
          <p:cNvCxnSpPr/>
          <p:nvPr/>
        </p:nvCxnSpPr>
        <p:spPr>
          <a:xfrm>
            <a:off x="6696074" y="3417128"/>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962775" y="2933719"/>
            <a:ext cx="1552575" cy="369332"/>
          </a:xfrm>
          <a:prstGeom prst="rect">
            <a:avLst/>
          </a:prstGeom>
          <a:noFill/>
        </p:spPr>
        <p:txBody>
          <a:bodyPr wrap="square" rtlCol="0">
            <a:spAutoFit/>
          </a:bodyPr>
          <a:lstStyle/>
          <a:p>
            <a:r>
              <a:rPr lang="zh-CN" altLang="en-US" dirty="0" smtClean="0"/>
              <a:t>十二类业务</a:t>
            </a:r>
            <a:endParaRPr lang="zh-CN" altLang="en-US" dirty="0"/>
          </a:p>
        </p:txBody>
      </p:sp>
      <p:cxnSp>
        <p:nvCxnSpPr>
          <p:cNvPr id="27" name="直接连接符 26"/>
          <p:cNvCxnSpPr/>
          <p:nvPr/>
        </p:nvCxnSpPr>
        <p:spPr>
          <a:xfrm>
            <a:off x="6696074" y="4276935"/>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962775" y="3793526"/>
            <a:ext cx="1552575" cy="369332"/>
          </a:xfrm>
          <a:prstGeom prst="rect">
            <a:avLst/>
          </a:prstGeom>
          <a:noFill/>
        </p:spPr>
        <p:txBody>
          <a:bodyPr wrap="square" rtlCol="0">
            <a:spAutoFit/>
          </a:bodyPr>
          <a:lstStyle/>
          <a:p>
            <a:r>
              <a:rPr lang="zh-CN" altLang="en-US" dirty="0" smtClean="0"/>
              <a:t>十三类网络</a:t>
            </a:r>
            <a:endParaRPr lang="zh-CN" altLang="en-US" dirty="0"/>
          </a:p>
        </p:txBody>
      </p:sp>
      <p:cxnSp>
        <p:nvCxnSpPr>
          <p:cNvPr id="29" name="直接连接符 28"/>
          <p:cNvCxnSpPr/>
          <p:nvPr/>
        </p:nvCxnSpPr>
        <p:spPr>
          <a:xfrm>
            <a:off x="6696074" y="5136742"/>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6962775" y="4653333"/>
            <a:ext cx="1552575" cy="369332"/>
          </a:xfrm>
          <a:prstGeom prst="rect">
            <a:avLst/>
          </a:prstGeom>
          <a:noFill/>
        </p:spPr>
        <p:txBody>
          <a:bodyPr wrap="square" rtlCol="0">
            <a:spAutoFit/>
          </a:bodyPr>
          <a:lstStyle/>
          <a:p>
            <a:r>
              <a:rPr lang="zh-CN" altLang="en-US" dirty="0"/>
              <a:t>四大</a:t>
            </a:r>
            <a:r>
              <a:rPr lang="zh-CN" altLang="en-US" dirty="0" smtClean="0"/>
              <a:t>类设备</a:t>
            </a:r>
            <a:endParaRPr lang="zh-CN" altLang="en-US" dirty="0"/>
          </a:p>
        </p:txBody>
      </p:sp>
      <p:sp>
        <p:nvSpPr>
          <p:cNvPr id="32" name="圆角矩形 31"/>
          <p:cNvSpPr/>
          <p:nvPr/>
        </p:nvSpPr>
        <p:spPr>
          <a:xfrm>
            <a:off x="6726783" y="3783386"/>
            <a:ext cx="1788567" cy="419949"/>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34" name="矩形 33"/>
          <p:cNvSpPr/>
          <p:nvPr/>
        </p:nvSpPr>
        <p:spPr>
          <a:xfrm>
            <a:off x="2136916" y="1762445"/>
            <a:ext cx="9118315" cy="374767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pic>
        <p:nvPicPr>
          <p:cNvPr id="33" name="图片 32"/>
          <p:cNvPicPr>
            <a:picLocks noChangeAspect="1"/>
          </p:cNvPicPr>
          <p:nvPr/>
        </p:nvPicPr>
        <p:blipFill>
          <a:blip r:embed="rId3"/>
          <a:stretch>
            <a:fillRect/>
          </a:stretch>
        </p:blipFill>
        <p:spPr>
          <a:xfrm>
            <a:off x="-15375" y="1331283"/>
            <a:ext cx="12207375" cy="4103110"/>
          </a:xfrm>
          <a:prstGeom prst="rect">
            <a:avLst/>
          </a:prstGeom>
        </p:spPr>
      </p:pic>
      <p:sp>
        <p:nvSpPr>
          <p:cNvPr id="35" name="矩形 34"/>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Tree>
    <p:extLst>
      <p:ext uri="{BB962C8B-B14F-4D97-AF65-F5344CB8AC3E}">
        <p14:creationId xmlns:p14="http://schemas.microsoft.com/office/powerpoint/2010/main" val="23875154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par>
                                <p:cTn id="14" presetID="22" presetClass="entr" presetSubtype="4"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par>
                                <p:cTn id="20" presetID="22" presetClass="entr" presetSubtype="4"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down)">
                                      <p:cBhvr>
                                        <p:cTn id="22" dur="500"/>
                                        <p:tgtEl>
                                          <p:spTgt spid="2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down)">
                                      <p:cBhvr>
                                        <p:cTn id="25" dur="500"/>
                                        <p:tgtEl>
                                          <p:spTgt spid="30"/>
                                        </p:tgtEl>
                                      </p:cBhvr>
                                    </p:animEffect>
                                  </p:childTnLst>
                                </p:cTn>
                              </p:par>
                              <p:par>
                                <p:cTn id="26" presetID="22" presetClass="entr" presetSubtype="4"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down)">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1000" fill="hold"/>
                                        <p:tgtEl>
                                          <p:spTgt spid="32"/>
                                        </p:tgtEl>
                                        <p:attrNameLst>
                                          <p:attrName>ppt_w</p:attrName>
                                        </p:attrNameLst>
                                      </p:cBhvr>
                                      <p:tavLst>
                                        <p:tav tm="0">
                                          <p:val>
                                            <p:fltVal val="0"/>
                                          </p:val>
                                        </p:tav>
                                        <p:tav tm="100000">
                                          <p:val>
                                            <p:strVal val="#ppt_w"/>
                                          </p:val>
                                        </p:tav>
                                      </p:tavLst>
                                    </p:anim>
                                    <p:anim calcmode="lin" valueType="num">
                                      <p:cBhvr>
                                        <p:cTn id="34" dur="1000" fill="hold"/>
                                        <p:tgtEl>
                                          <p:spTgt spid="32"/>
                                        </p:tgtEl>
                                        <p:attrNameLst>
                                          <p:attrName>ppt_h</p:attrName>
                                        </p:attrNameLst>
                                      </p:cBhvr>
                                      <p:tavLst>
                                        <p:tav tm="0">
                                          <p:val>
                                            <p:fltVal val="0"/>
                                          </p:val>
                                        </p:tav>
                                        <p:tav tm="100000">
                                          <p:val>
                                            <p:strVal val="#ppt_h"/>
                                          </p:val>
                                        </p:tav>
                                      </p:tavLst>
                                    </p:anim>
                                    <p:anim calcmode="lin" valueType="num">
                                      <p:cBhvr>
                                        <p:cTn id="35" dur="1000" fill="hold"/>
                                        <p:tgtEl>
                                          <p:spTgt spid="32"/>
                                        </p:tgtEl>
                                        <p:attrNameLst>
                                          <p:attrName>style.rotation</p:attrName>
                                        </p:attrNameLst>
                                      </p:cBhvr>
                                      <p:tavLst>
                                        <p:tav tm="0">
                                          <p:val>
                                            <p:fltVal val="90"/>
                                          </p:val>
                                        </p:tav>
                                        <p:tav tm="100000">
                                          <p:val>
                                            <p:fltVal val="0"/>
                                          </p:val>
                                        </p:tav>
                                      </p:tavLst>
                                    </p:anim>
                                    <p:animEffect transition="in" filter="fade">
                                      <p:cBhvr>
                                        <p:cTn id="36" dur="10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 calcmode="lin" valueType="num">
                                      <p:cBhvr>
                                        <p:cTn id="41" dur="500" fill="hold"/>
                                        <p:tgtEl>
                                          <p:spTgt spid="34"/>
                                        </p:tgtEl>
                                        <p:attrNameLst>
                                          <p:attrName>ppt_w</p:attrName>
                                        </p:attrNameLst>
                                      </p:cBhvr>
                                      <p:tavLst>
                                        <p:tav tm="0">
                                          <p:val>
                                            <p:fltVal val="0"/>
                                          </p:val>
                                        </p:tav>
                                        <p:tav tm="100000">
                                          <p:val>
                                            <p:strVal val="#ppt_w"/>
                                          </p:val>
                                        </p:tav>
                                      </p:tavLst>
                                    </p:anim>
                                    <p:anim calcmode="lin" valueType="num">
                                      <p:cBhvr>
                                        <p:cTn id="42" dur="500" fill="hold"/>
                                        <p:tgtEl>
                                          <p:spTgt spid="34"/>
                                        </p:tgtEl>
                                        <p:attrNameLst>
                                          <p:attrName>ppt_h</p:attrName>
                                        </p:attrNameLst>
                                      </p:cBhvr>
                                      <p:tavLst>
                                        <p:tav tm="0">
                                          <p:val>
                                            <p:fltVal val="0"/>
                                          </p:val>
                                        </p:tav>
                                        <p:tav tm="100000">
                                          <p:val>
                                            <p:strVal val="#ppt_h"/>
                                          </p:val>
                                        </p:tav>
                                      </p:tavLst>
                                    </p:anim>
                                    <p:animEffect transition="in" filter="fade">
                                      <p:cBhvr>
                                        <p:cTn id="43" dur="500"/>
                                        <p:tgtEl>
                                          <p:spTgt spid="34"/>
                                        </p:tgtEl>
                                      </p:cBhvr>
                                    </p:animEffect>
                                  </p:childTnLst>
                                </p:cTn>
                              </p:par>
                              <p:par>
                                <p:cTn id="44" presetID="53" presetClass="entr" presetSubtype="16"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p:cTn id="53" dur="1000" fill="hold"/>
                                        <p:tgtEl>
                                          <p:spTgt spid="35"/>
                                        </p:tgtEl>
                                        <p:attrNameLst>
                                          <p:attrName>ppt_w</p:attrName>
                                        </p:attrNameLst>
                                      </p:cBhvr>
                                      <p:tavLst>
                                        <p:tav tm="0">
                                          <p:val>
                                            <p:fltVal val="0"/>
                                          </p:val>
                                        </p:tav>
                                        <p:tav tm="100000">
                                          <p:val>
                                            <p:strVal val="#ppt_w"/>
                                          </p:val>
                                        </p:tav>
                                      </p:tavLst>
                                    </p:anim>
                                    <p:anim calcmode="lin" valueType="num">
                                      <p:cBhvr>
                                        <p:cTn id="54" dur="1000" fill="hold"/>
                                        <p:tgtEl>
                                          <p:spTgt spid="35"/>
                                        </p:tgtEl>
                                        <p:attrNameLst>
                                          <p:attrName>ppt_h</p:attrName>
                                        </p:attrNameLst>
                                      </p:cBhvr>
                                      <p:tavLst>
                                        <p:tav tm="0">
                                          <p:val>
                                            <p:fltVal val="0"/>
                                          </p:val>
                                        </p:tav>
                                        <p:tav tm="100000">
                                          <p:val>
                                            <p:strVal val="#ppt_h"/>
                                          </p:val>
                                        </p:tav>
                                      </p:tavLst>
                                    </p:anim>
                                    <p:anim calcmode="lin" valueType="num">
                                      <p:cBhvr>
                                        <p:cTn id="55" dur="1000" fill="hold"/>
                                        <p:tgtEl>
                                          <p:spTgt spid="35"/>
                                        </p:tgtEl>
                                        <p:attrNameLst>
                                          <p:attrName>style.rotation</p:attrName>
                                        </p:attrNameLst>
                                      </p:cBhvr>
                                      <p:tavLst>
                                        <p:tav tm="0">
                                          <p:val>
                                            <p:fltVal val="90"/>
                                          </p:val>
                                        </p:tav>
                                        <p:tav tm="100000">
                                          <p:val>
                                            <p:fltVal val="0"/>
                                          </p:val>
                                        </p:tav>
                                      </p:tavLst>
                                    </p:anim>
                                    <p:animEffect transition="in" filter="fade">
                                      <p:cBhvr>
                                        <p:cTn id="56" dur="10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26" grpId="0"/>
      <p:bldP spid="28" grpId="0"/>
      <p:bldP spid="30" grpId="0"/>
      <p:bldP spid="32" grpId="0" animBg="1"/>
      <p:bldP spid="34"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3"/>
          <a:stretch>
            <a:fillRect/>
          </a:stretch>
        </p:blipFill>
        <p:spPr>
          <a:xfrm>
            <a:off x="2301303" y="99460"/>
            <a:ext cx="7926927" cy="6472791"/>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网络大脑</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stretch>
            <a:fillRect/>
          </a:stretch>
        </p:blipFill>
        <p:spPr>
          <a:xfrm>
            <a:off x="6264767" y="2237188"/>
            <a:ext cx="1638300" cy="1634067"/>
          </a:xfrm>
          <a:prstGeom prst="rect">
            <a:avLst/>
          </a:prstGeom>
        </p:spPr>
      </p:pic>
      <p:sp>
        <p:nvSpPr>
          <p:cNvPr id="13" name="矩形 12"/>
          <p:cNvSpPr/>
          <p:nvPr/>
        </p:nvSpPr>
        <p:spPr>
          <a:xfrm>
            <a:off x="3662143" y="4736268"/>
            <a:ext cx="6956938" cy="1818681"/>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4" name="矩形 13"/>
          <p:cNvSpPr/>
          <p:nvPr/>
        </p:nvSpPr>
        <p:spPr>
          <a:xfrm>
            <a:off x="4448602" y="13016"/>
            <a:ext cx="5384019" cy="1904167"/>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5" name="矩形 14"/>
          <p:cNvSpPr/>
          <p:nvPr/>
        </p:nvSpPr>
        <p:spPr>
          <a:xfrm>
            <a:off x="1097318" y="2202934"/>
            <a:ext cx="4717848" cy="1998982"/>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6" name="矩形 15"/>
          <p:cNvSpPr/>
          <p:nvPr/>
        </p:nvSpPr>
        <p:spPr>
          <a:xfrm>
            <a:off x="8151308" y="1889802"/>
            <a:ext cx="2450924" cy="1834356"/>
          </a:xfrm>
          <a:prstGeom prst="rect">
            <a:avLst/>
          </a:pr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1" name="文本框 10"/>
          <p:cNvSpPr txBox="1"/>
          <p:nvPr/>
        </p:nvSpPr>
        <p:spPr>
          <a:xfrm>
            <a:off x="2864359" y="195425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感知</a:t>
            </a:r>
            <a:endParaRPr lang="zh-CN" altLang="en-US" dirty="0"/>
          </a:p>
        </p:txBody>
      </p:sp>
      <p:sp>
        <p:nvSpPr>
          <p:cNvPr id="18" name="文本框 17"/>
          <p:cNvSpPr txBox="1"/>
          <p:nvPr/>
        </p:nvSpPr>
        <p:spPr>
          <a:xfrm>
            <a:off x="6676807"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决策</a:t>
            </a:r>
            <a:endParaRPr lang="zh-CN" altLang="en-US" dirty="0"/>
          </a:p>
        </p:txBody>
      </p:sp>
      <p:sp>
        <p:nvSpPr>
          <p:cNvPr id="19" name="文本框 18"/>
          <p:cNvSpPr txBox="1"/>
          <p:nvPr/>
        </p:nvSpPr>
        <p:spPr>
          <a:xfrm>
            <a:off x="9775956" y="1951438"/>
            <a:ext cx="647700" cy="369332"/>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smtClean="0"/>
              <a:t>控制</a:t>
            </a:r>
            <a:endParaRPr lang="zh-CN" altLang="en-US" dirty="0"/>
          </a:p>
        </p:txBody>
      </p:sp>
      <p:sp>
        <p:nvSpPr>
          <p:cNvPr id="20" name="文本框 19"/>
          <p:cNvSpPr txBox="1"/>
          <p:nvPr/>
        </p:nvSpPr>
        <p:spPr>
          <a:xfrm>
            <a:off x="7734299" y="4614628"/>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面向</a:t>
            </a:r>
            <a:endParaRPr lang="zh-CN" altLang="en-US" dirty="0"/>
          </a:p>
        </p:txBody>
      </p:sp>
      <p:sp>
        <p:nvSpPr>
          <p:cNvPr id="23" name="文本框 22"/>
          <p:cNvSpPr txBox="1"/>
          <p:nvPr/>
        </p:nvSpPr>
        <p:spPr>
          <a:xfrm>
            <a:off x="7667159" y="1518843"/>
            <a:ext cx="647700" cy="369332"/>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zh-CN" altLang="en-US" dirty="0" smtClean="0"/>
              <a:t>呈现</a:t>
            </a:r>
            <a:endParaRPr lang="zh-CN" altLang="en-US" dirty="0"/>
          </a:p>
        </p:txBody>
      </p:sp>
    </p:spTree>
    <p:extLst>
      <p:ext uri="{BB962C8B-B14F-4D97-AF65-F5344CB8AC3E}">
        <p14:creationId xmlns:p14="http://schemas.microsoft.com/office/powerpoint/2010/main" val="2400247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15"/>
                                        </p:tgtEl>
                                        <p:attrNameLst>
                                          <p:attrName>ppt_w</p:attrName>
                                        </p:attrNameLst>
                                      </p:cBhvr>
                                      <p:tavLst>
                                        <p:tav tm="0">
                                          <p:val>
                                            <p:strVal val="ppt_w"/>
                                          </p:val>
                                        </p:tav>
                                        <p:tav tm="100000">
                                          <p:val>
                                            <p:fltVal val="0"/>
                                          </p:val>
                                        </p:tav>
                                      </p:tavLst>
                                    </p:anim>
                                    <p:anim calcmode="lin" valueType="num">
                                      <p:cBhvr>
                                        <p:cTn id="7" dur="500"/>
                                        <p:tgtEl>
                                          <p:spTgt spid="15"/>
                                        </p:tgtEl>
                                        <p:attrNameLst>
                                          <p:attrName>ppt_h</p:attrName>
                                        </p:attrNameLst>
                                      </p:cBhvr>
                                      <p:tavLst>
                                        <p:tav tm="0">
                                          <p:val>
                                            <p:strVal val="ppt_h"/>
                                          </p:val>
                                        </p:tav>
                                        <p:tav tm="100000">
                                          <p:val>
                                            <p:fltVal val="0"/>
                                          </p:val>
                                        </p:tav>
                                      </p:tavLst>
                                    </p:anim>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32" fill="hold" grpId="0" nodeType="clickEffect">
                                  <p:stCondLst>
                                    <p:cond delay="0"/>
                                  </p:stCondLst>
                                  <p:childTnLst>
                                    <p:anim calcmode="lin" valueType="num">
                                      <p:cBhvr>
                                        <p:cTn id="30" dur="500"/>
                                        <p:tgtEl>
                                          <p:spTgt spid="16"/>
                                        </p:tgtEl>
                                        <p:attrNameLst>
                                          <p:attrName>ppt_w</p:attrName>
                                        </p:attrNameLst>
                                      </p:cBhvr>
                                      <p:tavLst>
                                        <p:tav tm="0">
                                          <p:val>
                                            <p:strVal val="ppt_w"/>
                                          </p:val>
                                        </p:tav>
                                        <p:tav tm="100000">
                                          <p:val>
                                            <p:fltVal val="0"/>
                                          </p:val>
                                        </p:tav>
                                      </p:tavLst>
                                    </p:anim>
                                    <p:anim calcmode="lin" valueType="num">
                                      <p:cBhvr>
                                        <p:cTn id="31" dur="500"/>
                                        <p:tgtEl>
                                          <p:spTgt spid="16"/>
                                        </p:tgtEl>
                                        <p:attrNameLst>
                                          <p:attrName>ppt_h</p:attrName>
                                        </p:attrNameLst>
                                      </p:cBhvr>
                                      <p:tavLst>
                                        <p:tav tm="0">
                                          <p:val>
                                            <p:strVal val="ppt_h"/>
                                          </p:val>
                                        </p:tav>
                                        <p:tav tm="100000">
                                          <p:val>
                                            <p:fltVal val="0"/>
                                          </p:val>
                                        </p:tav>
                                      </p:tavLst>
                                    </p:anim>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xit" presetSubtype="32" fill="hold" grpId="0" nodeType="clickEffect">
                                  <p:stCondLst>
                                    <p:cond delay="0"/>
                                  </p:stCondLst>
                                  <p:childTnLst>
                                    <p:anim calcmode="lin" valueType="num">
                                      <p:cBhvr>
                                        <p:cTn id="42" dur="500"/>
                                        <p:tgtEl>
                                          <p:spTgt spid="13"/>
                                        </p:tgtEl>
                                        <p:attrNameLst>
                                          <p:attrName>ppt_w</p:attrName>
                                        </p:attrNameLst>
                                      </p:cBhvr>
                                      <p:tavLst>
                                        <p:tav tm="0">
                                          <p:val>
                                            <p:strVal val="ppt_w"/>
                                          </p:val>
                                        </p:tav>
                                        <p:tav tm="100000">
                                          <p:val>
                                            <p:fltVal val="0"/>
                                          </p:val>
                                        </p:tav>
                                      </p:tavLst>
                                    </p:anim>
                                    <p:anim calcmode="lin" valueType="num">
                                      <p:cBhvr>
                                        <p:cTn id="43" dur="500"/>
                                        <p:tgtEl>
                                          <p:spTgt spid="13"/>
                                        </p:tgtEl>
                                        <p:attrNameLst>
                                          <p:attrName>ppt_h</p:attrName>
                                        </p:attrNameLst>
                                      </p:cBhvr>
                                      <p:tavLst>
                                        <p:tav tm="0">
                                          <p:val>
                                            <p:strVal val="ppt_h"/>
                                          </p:val>
                                        </p:tav>
                                        <p:tav tm="100000">
                                          <p:val>
                                            <p:fltVal val="0"/>
                                          </p:val>
                                        </p:tav>
                                      </p:tavLst>
                                    </p:anim>
                                    <p:animEffect transition="out" filter="fade">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down)">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xit" presetSubtype="32" fill="hold" grpId="0" nodeType="clickEffect">
                                  <p:stCondLst>
                                    <p:cond delay="0"/>
                                  </p:stCondLst>
                                  <p:childTnLst>
                                    <p:anim calcmode="lin" valueType="num">
                                      <p:cBhvr>
                                        <p:cTn id="54" dur="500"/>
                                        <p:tgtEl>
                                          <p:spTgt spid="14"/>
                                        </p:tgtEl>
                                        <p:attrNameLst>
                                          <p:attrName>ppt_w</p:attrName>
                                        </p:attrNameLst>
                                      </p:cBhvr>
                                      <p:tavLst>
                                        <p:tav tm="0">
                                          <p:val>
                                            <p:strVal val="ppt_w"/>
                                          </p:val>
                                        </p:tav>
                                        <p:tav tm="100000">
                                          <p:val>
                                            <p:fltVal val="0"/>
                                          </p:val>
                                        </p:tav>
                                      </p:tavLst>
                                    </p:anim>
                                    <p:anim calcmode="lin" valueType="num">
                                      <p:cBhvr>
                                        <p:cTn id="55" dur="500"/>
                                        <p:tgtEl>
                                          <p:spTgt spid="14"/>
                                        </p:tgtEl>
                                        <p:attrNameLst>
                                          <p:attrName>ppt_h</p:attrName>
                                        </p:attrNameLst>
                                      </p:cBhvr>
                                      <p:tavLst>
                                        <p:tav tm="0">
                                          <p:val>
                                            <p:strVal val="ppt_h"/>
                                          </p:val>
                                        </p:tav>
                                        <p:tav tm="100000">
                                          <p:val>
                                            <p:fltVal val="0"/>
                                          </p:val>
                                        </p:tav>
                                      </p:tavLst>
                                    </p:anim>
                                    <p:animEffect transition="out" filter="fade">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1" grpId="0" animBg="1"/>
      <p:bldP spid="18" grpId="0" animBg="1"/>
      <p:bldP spid="19" grpId="0" animBg="1"/>
      <p:bldP spid="20"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4113" y="896821"/>
            <a:ext cx="8058150" cy="463588"/>
          </a:xfrm>
          <a:prstGeom prst="rect">
            <a:avLst/>
          </a:prstGeom>
          <a:noFill/>
        </p:spPr>
        <p:txBody>
          <a:bodyPr wrap="square" rtlCol="0">
            <a:spAutoFit/>
          </a:bodyPr>
          <a:lstStyle/>
          <a:p>
            <a:pPr indent="457200">
              <a:lnSpc>
                <a:spcPct val="150000"/>
              </a:lnSpc>
            </a:pPr>
            <a:r>
              <a:rPr lang="zh-CN" altLang="en-US" dirty="0" smtClean="0"/>
              <a:t>驾驶舱简介</a:t>
            </a:r>
            <a:endParaRPr lang="zh-CN" altLang="en-US" dirty="0"/>
          </a:p>
        </p:txBody>
      </p:sp>
      <p:sp>
        <p:nvSpPr>
          <p:cNvPr id="3" name="文本框 2"/>
          <p:cNvSpPr txBox="1"/>
          <p:nvPr/>
        </p:nvSpPr>
        <p:spPr>
          <a:xfrm>
            <a:off x="624113" y="1562100"/>
            <a:ext cx="473201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全局总览，整体把控</a:t>
            </a:r>
            <a:endParaRPr lang="en-US" altLang="zh-CN" dirty="0" smtClean="0"/>
          </a:p>
          <a:p>
            <a:pPr marL="285750" indent="285750">
              <a:lnSpc>
                <a:spcPct val="150000"/>
              </a:lnSpc>
              <a:buFont typeface="Arial" panose="020B0604020202020204" pitchFamily="34" charset="0"/>
              <a:buChar char="•"/>
            </a:pPr>
            <a:endParaRPr lang="zh-CN" altLang="en-US" dirty="0"/>
          </a:p>
        </p:txBody>
      </p:sp>
      <p:pic>
        <p:nvPicPr>
          <p:cNvPr id="7" name="图片 6"/>
          <p:cNvPicPr>
            <a:picLocks noChangeAspect="1"/>
          </p:cNvPicPr>
          <p:nvPr/>
        </p:nvPicPr>
        <p:blipFill>
          <a:blip r:embed="rId2"/>
          <a:stretch>
            <a:fillRect/>
          </a:stretch>
        </p:blipFill>
        <p:spPr>
          <a:xfrm>
            <a:off x="1570875" y="2023765"/>
            <a:ext cx="9459076" cy="4373346"/>
          </a:xfrm>
          <a:prstGeom prst="rect">
            <a:avLst/>
          </a:prstGeom>
        </p:spPr>
      </p:pic>
    </p:spTree>
    <p:extLst>
      <p:ext uri="{BB962C8B-B14F-4D97-AF65-F5344CB8AC3E}">
        <p14:creationId xmlns:p14="http://schemas.microsoft.com/office/powerpoint/2010/main" val="4224749760"/>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64643" y="1516011"/>
            <a:ext cx="490764" cy="1143000"/>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7955" y="1494294"/>
            <a:ext cx="490764" cy="1190625"/>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2" name="文本框 31"/>
          <p:cNvSpPr txBox="1"/>
          <p:nvPr/>
        </p:nvSpPr>
        <p:spPr>
          <a:xfrm>
            <a:off x="7862311" y="3630237"/>
            <a:ext cx="4082039" cy="203132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sp>
        <p:nvSpPr>
          <p:cNvPr id="9" name="下箭头 8"/>
          <p:cNvSpPr/>
          <p:nvPr/>
        </p:nvSpPr>
        <p:spPr>
          <a:xfrm rot="10800000">
            <a:off x="9326889" y="2758525"/>
            <a:ext cx="576441" cy="681246"/>
          </a:xfrm>
          <a:prstGeom prst="down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740190" y="3035382"/>
            <a:ext cx="729031" cy="369332"/>
          </a:xfrm>
          <a:prstGeom prst="rect">
            <a:avLst/>
          </a:prstGeom>
          <a:noFill/>
        </p:spPr>
        <p:txBody>
          <a:bodyPr wrap="square" rtlCol="0">
            <a:spAutoFit/>
          </a:bodyPr>
          <a:lstStyle/>
          <a:p>
            <a:r>
              <a:rPr lang="zh-CN" altLang="en-US" dirty="0" smtClean="0"/>
              <a:t>需要</a:t>
            </a:r>
            <a:endParaRPr lang="zh-CN" altLang="en-US" dirty="0"/>
          </a:p>
        </p:txBody>
      </p:sp>
      <p:sp>
        <p:nvSpPr>
          <p:cNvPr id="12" name="文本框 11"/>
          <p:cNvSpPr txBox="1"/>
          <p:nvPr/>
        </p:nvSpPr>
        <p:spPr>
          <a:xfrm>
            <a:off x="805867" y="3076086"/>
            <a:ext cx="2850935" cy="21533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solidFill>
                  <a:srgbClr val="A27B00"/>
                </a:solidFill>
              </a:rPr>
              <a:t>手动运维工作</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准确率及效率低下</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重复性</a:t>
            </a:r>
            <a:r>
              <a:rPr lang="zh-CN" altLang="en-US" dirty="0" smtClean="0">
                <a:solidFill>
                  <a:srgbClr val="A27B00"/>
                </a:solidFill>
              </a:rPr>
              <a:t>劳动</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个人经验驱动</a:t>
            </a:r>
            <a:endParaRPr lang="en-US" altLang="zh-CN" dirty="0" smtClean="0">
              <a:solidFill>
                <a:srgbClr val="A27B00"/>
              </a:solidFill>
            </a:endParaRPr>
          </a:p>
          <a:p>
            <a:pPr marL="285750" indent="285750">
              <a:lnSpc>
                <a:spcPct val="150000"/>
              </a:lnSpc>
              <a:buFont typeface="Arial" panose="020B0604020202020204" pitchFamily="34" charset="0"/>
              <a:buChar char="•"/>
            </a:pPr>
            <a:r>
              <a:rPr lang="zh-CN" altLang="en-US" dirty="0" smtClean="0">
                <a:solidFill>
                  <a:srgbClr val="A27B00"/>
                </a:solidFill>
              </a:rPr>
              <a:t>人力资源耗费</a:t>
            </a:r>
            <a:endParaRPr lang="en-US" altLang="zh-CN" dirty="0" smtClean="0">
              <a:solidFill>
                <a:srgbClr val="A27B00"/>
              </a:solidFill>
            </a:endParaRPr>
          </a:p>
        </p:txBody>
      </p:sp>
      <p:sp>
        <p:nvSpPr>
          <p:cNvPr id="24" name="文本框 23"/>
          <p:cNvSpPr txBox="1"/>
          <p:nvPr/>
        </p:nvSpPr>
        <p:spPr>
          <a:xfrm>
            <a:off x="770681" y="843119"/>
            <a:ext cx="3944865" cy="369332"/>
          </a:xfrm>
          <a:prstGeom prst="rect">
            <a:avLst/>
          </a:prstGeom>
          <a:noFill/>
        </p:spPr>
        <p:txBody>
          <a:bodyPr wrap="square" rtlCol="0">
            <a:spAutoFit/>
          </a:bodyPr>
          <a:lstStyle/>
          <a:p>
            <a:r>
              <a:rPr lang="zh-CN" altLang="en-US" dirty="0">
                <a:solidFill>
                  <a:srgbClr val="333F50"/>
                </a:solidFill>
              </a:rPr>
              <a:t>运</a:t>
            </a:r>
            <a:r>
              <a:rPr lang="zh-CN" altLang="en-US" dirty="0" smtClean="0">
                <a:solidFill>
                  <a:srgbClr val="333F50"/>
                </a:solidFill>
              </a:rPr>
              <a:t>维发展方向</a:t>
            </a:r>
            <a:endParaRPr lang="zh-CN" altLang="en-US" dirty="0">
              <a:solidFill>
                <a:srgbClr val="333F50"/>
              </a:solidFill>
            </a:endParaRPr>
          </a:p>
        </p:txBody>
      </p:sp>
      <p:sp>
        <p:nvSpPr>
          <p:cNvPr id="11" name="矩形 10"/>
          <p:cNvSpPr/>
          <p:nvPr/>
        </p:nvSpPr>
        <p:spPr>
          <a:xfrm>
            <a:off x="3418323" y="1537206"/>
            <a:ext cx="1107996" cy="369332"/>
          </a:xfrm>
          <a:prstGeom prst="rect">
            <a:avLst/>
          </a:prstGeom>
        </p:spPr>
        <p:txBody>
          <a:bodyPr wrap="none">
            <a:spAutoFit/>
          </a:bodyPr>
          <a:lstStyle/>
          <a:p>
            <a:r>
              <a:rPr lang="zh-CN" altLang="en-US" dirty="0">
                <a:solidFill>
                  <a:srgbClr val="333F50"/>
                </a:solidFill>
              </a:rPr>
              <a:t>系统辅助</a:t>
            </a:r>
            <a:endParaRPr lang="zh-CN" altLang="en-US" dirty="0">
              <a:solidFill>
                <a:srgbClr val="333F50"/>
              </a:solidFill>
            </a:endParaRPr>
          </a:p>
        </p:txBody>
      </p:sp>
      <p:sp>
        <p:nvSpPr>
          <p:cNvPr id="25" name="矩形 24"/>
          <p:cNvSpPr/>
          <p:nvPr/>
        </p:nvSpPr>
        <p:spPr>
          <a:xfrm>
            <a:off x="7050417" y="1537206"/>
            <a:ext cx="1107996" cy="369332"/>
          </a:xfrm>
          <a:prstGeom prst="rect">
            <a:avLst/>
          </a:prstGeom>
        </p:spPr>
        <p:txBody>
          <a:bodyPr wrap="none">
            <a:spAutoFit/>
          </a:bodyPr>
          <a:lstStyle/>
          <a:p>
            <a:r>
              <a:rPr lang="zh-CN" altLang="en-US" dirty="0" smtClean="0">
                <a:solidFill>
                  <a:srgbClr val="333F50"/>
                </a:solidFill>
              </a:rPr>
              <a:t>智能学习</a:t>
            </a:r>
            <a:endParaRPr lang="zh-CN" altLang="en-US" dirty="0">
              <a:solidFill>
                <a:srgbClr val="333F50"/>
              </a:solidFill>
            </a:endParaRPr>
          </a:p>
        </p:txBody>
      </p:sp>
      <p:sp>
        <p:nvSpPr>
          <p:cNvPr id="26" name="文本框 25"/>
          <p:cNvSpPr txBox="1"/>
          <p:nvPr/>
        </p:nvSpPr>
        <p:spPr>
          <a:xfrm>
            <a:off x="4408018" y="3075226"/>
            <a:ext cx="285093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提高工作效率、质量</a:t>
            </a:r>
            <a:endParaRPr lang="en-US" altLang="zh-CN" dirty="0" smtClean="0"/>
          </a:p>
          <a:p>
            <a:pPr marL="285750" indent="285750">
              <a:lnSpc>
                <a:spcPct val="150000"/>
              </a:lnSpc>
              <a:buFont typeface="Arial" panose="020B0604020202020204" pitchFamily="34" charset="0"/>
              <a:buChar char="•"/>
            </a:pPr>
            <a:r>
              <a:rPr lang="zh-CN" altLang="en-US" dirty="0" smtClean="0"/>
              <a:t>重复工作流程自动化</a:t>
            </a:r>
            <a:endParaRPr lang="en-US" altLang="zh-CN" dirty="0" smtClean="0"/>
          </a:p>
          <a:p>
            <a:pPr marL="285750" indent="285750">
              <a:lnSpc>
                <a:spcPct val="150000"/>
              </a:lnSpc>
              <a:buFont typeface="Arial" panose="020B0604020202020204" pitchFamily="34" charset="0"/>
              <a:buChar char="•"/>
            </a:pPr>
            <a:r>
              <a:rPr lang="zh-CN" altLang="en-US" dirty="0" smtClean="0"/>
              <a:t>解决人员及流程问题</a:t>
            </a:r>
            <a:endParaRPr lang="en-US" altLang="zh-CN" dirty="0" smtClean="0"/>
          </a:p>
          <a:p>
            <a:pPr marL="285750" indent="285750">
              <a:lnSpc>
                <a:spcPct val="150000"/>
              </a:lnSpc>
              <a:buFont typeface="Arial" panose="020B0604020202020204" pitchFamily="34" charset="0"/>
              <a:buChar char="•"/>
            </a:pPr>
            <a:r>
              <a:rPr lang="zh-CN" altLang="en-US" dirty="0">
                <a:solidFill>
                  <a:srgbClr val="A27B00"/>
                </a:solidFill>
              </a:rPr>
              <a:t>无法自动适应新问题</a:t>
            </a:r>
            <a:endParaRPr lang="en-US" altLang="zh-CN" dirty="0">
              <a:solidFill>
                <a:srgbClr val="A27B00"/>
              </a:solidFill>
            </a:endParaRPr>
          </a:p>
          <a:p>
            <a:pPr marL="285750" indent="285750">
              <a:lnSpc>
                <a:spcPct val="150000"/>
              </a:lnSpc>
              <a:buFont typeface="Arial" panose="020B0604020202020204" pitchFamily="34" charset="0"/>
              <a:buChar char="•"/>
            </a:pPr>
            <a:r>
              <a:rPr lang="zh-CN" altLang="en-US" dirty="0">
                <a:solidFill>
                  <a:srgbClr val="A27B00"/>
                </a:solidFill>
              </a:rPr>
              <a:t>无法挖掘数据关联性</a:t>
            </a:r>
            <a:endParaRPr lang="en-US" altLang="zh-CN" dirty="0">
              <a:solidFill>
                <a:srgbClr val="A27B00"/>
              </a:solidFill>
            </a:endParaRPr>
          </a:p>
        </p:txBody>
      </p:sp>
      <p:sp>
        <p:nvSpPr>
          <p:cNvPr id="22" name="矩形 21"/>
          <p:cNvSpPr/>
          <p:nvPr/>
        </p:nvSpPr>
        <p:spPr>
          <a:xfrm>
            <a:off x="0" y="2689171"/>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a:solidFill>
                  <a:srgbClr val="FF0000"/>
                </a:solidFill>
              </a:rPr>
              <a:t>在自动化运维的基础上，</a:t>
            </a:r>
            <a:r>
              <a:rPr lang="zh-CN" altLang="zh-CN" sz="2400" b="1" dirty="0">
                <a:solidFill>
                  <a:srgbClr val="FF0000"/>
                </a:solidFill>
              </a:rPr>
              <a:t>通过人工智能的方式，进一步提升运维效率，包括运维决策、</a:t>
            </a:r>
            <a:r>
              <a:rPr lang="zh-CN" altLang="zh-CN" sz="2400" b="1" dirty="0" smtClean="0">
                <a:solidFill>
                  <a:srgbClr val="FF0000"/>
                </a:solidFill>
              </a:rPr>
              <a:t>故障</a:t>
            </a:r>
            <a:r>
              <a:rPr lang="zh-CN" altLang="en-US" sz="2400" b="1" dirty="0" smtClean="0">
                <a:solidFill>
                  <a:srgbClr val="FF0000"/>
                </a:solidFill>
              </a:rPr>
              <a:t>处理</a:t>
            </a:r>
            <a:r>
              <a:rPr lang="zh-CN" altLang="zh-CN" sz="2400" b="1" dirty="0" smtClean="0">
                <a:solidFill>
                  <a:srgbClr val="FF0000"/>
                </a:solidFill>
              </a:rPr>
              <a:t>和</a:t>
            </a:r>
            <a:r>
              <a:rPr lang="zh-CN" altLang="en-US" sz="2400" b="1" dirty="0" smtClean="0">
                <a:solidFill>
                  <a:srgbClr val="FF0000"/>
                </a:solidFill>
              </a:rPr>
              <a:t>数据</a:t>
            </a:r>
            <a:r>
              <a:rPr lang="zh-CN" altLang="zh-CN" sz="2400" b="1" dirty="0" smtClean="0">
                <a:solidFill>
                  <a:srgbClr val="FF0000"/>
                </a:solidFill>
              </a:rPr>
              <a:t>分析</a:t>
            </a:r>
            <a:r>
              <a:rPr lang="zh-CN" altLang="zh-CN" sz="2400" b="1" dirty="0">
                <a:solidFill>
                  <a:srgbClr val="FF0000"/>
                </a:solidFill>
              </a:rPr>
              <a:t>等</a:t>
            </a:r>
            <a:endParaRPr lang="zh-CN" altLang="en-US" sz="2400" b="1" dirty="0">
              <a:solidFill>
                <a:srgbClr val="FF000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randombar(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anim calcmode="lin" valueType="num">
                                      <p:cBhvr>
                                        <p:cTn id="38" dur="1000" fill="hold"/>
                                        <p:tgtEl>
                                          <p:spTgt spid="9"/>
                                        </p:tgtEl>
                                        <p:attrNameLst>
                                          <p:attrName>ppt_x</p:attrName>
                                        </p:attrNameLst>
                                      </p:cBhvr>
                                      <p:tavLst>
                                        <p:tav tm="0">
                                          <p:val>
                                            <p:strVal val="#ppt_x"/>
                                          </p:val>
                                        </p:tav>
                                        <p:tav tm="100000">
                                          <p:val>
                                            <p:strVal val="#ppt_x"/>
                                          </p:val>
                                        </p:tav>
                                      </p:tavLst>
                                    </p:anim>
                                    <p:anim calcmode="lin" valueType="num">
                                      <p:cBhvr>
                                        <p:cTn id="39" dur="1000" fill="hold"/>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1000"/>
                                        <p:tgtEl>
                                          <p:spTgt spid="25"/>
                                        </p:tgtEl>
                                      </p:cBhvr>
                                    </p:animEffect>
                                    <p:anim calcmode="lin" valueType="num">
                                      <p:cBhvr>
                                        <p:cTn id="58" dur="1000" fill="hold"/>
                                        <p:tgtEl>
                                          <p:spTgt spid="25"/>
                                        </p:tgtEl>
                                        <p:attrNameLst>
                                          <p:attrName>ppt_x</p:attrName>
                                        </p:attrNameLst>
                                      </p:cBhvr>
                                      <p:tavLst>
                                        <p:tav tm="0">
                                          <p:val>
                                            <p:strVal val="#ppt_x"/>
                                          </p:val>
                                        </p:tav>
                                        <p:tav tm="100000">
                                          <p:val>
                                            <p:strVal val="#ppt_x"/>
                                          </p:val>
                                        </p:tav>
                                      </p:tavLst>
                                    </p:anim>
                                    <p:anim calcmode="lin" valueType="num">
                                      <p:cBhvr>
                                        <p:cTn id="5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ppt_x"/>
                                          </p:val>
                                        </p:tav>
                                        <p:tav tm="100000">
                                          <p:val>
                                            <p:strVal val="#ppt_x"/>
                                          </p:val>
                                        </p:tav>
                                      </p:tavLst>
                                    </p:anim>
                                    <p:anim calcmode="lin" valueType="num">
                                      <p:cBhvr additive="base">
                                        <p:cTn id="6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P spid="32" grpId="0"/>
      <p:bldP spid="9" grpId="0" animBg="1"/>
      <p:bldP spid="19" grpId="0"/>
      <p:bldP spid="12" grpId="0"/>
      <p:bldP spid="11" grpId="0"/>
      <p:bldP spid="25" grpId="0"/>
      <p:bldP spid="26" grpId="0"/>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19389" y="1570146"/>
            <a:ext cx="936213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解决自动化运维中规则需要人为制定的缺点</a:t>
            </a:r>
            <a:endParaRPr lang="en-US" altLang="zh-CN" dirty="0" smtClean="0"/>
          </a:p>
          <a:p>
            <a:pPr marL="285750" indent="-285750">
              <a:lnSpc>
                <a:spcPct val="150000"/>
              </a:lnSpc>
              <a:buFont typeface="Arial" panose="020B0604020202020204" pitchFamily="34" charset="0"/>
              <a:buChar char="•"/>
            </a:pPr>
            <a:r>
              <a:rPr lang="zh-CN" altLang="en-US" dirty="0" smtClean="0"/>
              <a:t>通过机器学习等方式自动</a:t>
            </a:r>
            <a:r>
              <a:rPr lang="zh-CN" altLang="en-US" dirty="0"/>
              <a:t>地从海量运维数据中不断地学习，不断地提炼并总结</a:t>
            </a:r>
            <a:r>
              <a:rPr lang="zh-CN" altLang="en-US" dirty="0" smtClean="0"/>
              <a:t>规则</a:t>
            </a:r>
            <a:endParaRPr lang="en-US" altLang="zh-CN" dirty="0" smtClean="0"/>
          </a:p>
          <a:p>
            <a:pPr marL="285750" indent="-285750">
              <a:lnSpc>
                <a:spcPct val="150000"/>
              </a:lnSpc>
              <a:buFont typeface="Arial" panose="020B0604020202020204" pitchFamily="34" charset="0"/>
              <a:buChar char="•"/>
            </a:pPr>
            <a:r>
              <a:rPr lang="zh-CN" altLang="en-US" dirty="0" smtClean="0"/>
              <a:t>能够更好更快的适应新的业务挑战</a:t>
            </a:r>
            <a:endParaRPr lang="zh-CN" altLang="en-US" dirty="0"/>
          </a:p>
        </p:txBody>
      </p:sp>
      <p:sp>
        <p:nvSpPr>
          <p:cNvPr id="25" name="矩形 24"/>
          <p:cNvSpPr/>
          <p:nvPr/>
        </p:nvSpPr>
        <p:spPr>
          <a:xfrm>
            <a:off x="919388" y="3782826"/>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6" name="文本框 25"/>
          <p:cNvSpPr txBox="1"/>
          <p:nvPr/>
        </p:nvSpPr>
        <p:spPr>
          <a:xfrm>
            <a:off x="944002" y="3843843"/>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27" name="矩形 26"/>
          <p:cNvSpPr/>
          <p:nvPr/>
        </p:nvSpPr>
        <p:spPr>
          <a:xfrm>
            <a:off x="6908364" y="3782725"/>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8" name="圆角矩形 27"/>
          <p:cNvSpPr/>
          <p:nvPr/>
        </p:nvSpPr>
        <p:spPr>
          <a:xfrm>
            <a:off x="7181849" y="40114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29" name="圆角矩形 28"/>
          <p:cNvSpPr/>
          <p:nvPr/>
        </p:nvSpPr>
        <p:spPr>
          <a:xfrm>
            <a:off x="7181849" y="439173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30" name="圆角矩形 29"/>
          <p:cNvSpPr/>
          <p:nvPr/>
        </p:nvSpPr>
        <p:spPr>
          <a:xfrm>
            <a:off x="7181849" y="48371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32" name="圆角矩形 31"/>
          <p:cNvSpPr/>
          <p:nvPr/>
        </p:nvSpPr>
        <p:spPr>
          <a:xfrm>
            <a:off x="7181849" y="52320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33" name="圆角矩形 32"/>
          <p:cNvSpPr/>
          <p:nvPr/>
        </p:nvSpPr>
        <p:spPr>
          <a:xfrm>
            <a:off x="7181849" y="5618543"/>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34" name="右箭头 33"/>
          <p:cNvSpPr/>
          <p:nvPr/>
        </p:nvSpPr>
        <p:spPr>
          <a:xfrm>
            <a:off x="4864253" y="4529845"/>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19388" y="3155332"/>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6" name="文本框 35"/>
          <p:cNvSpPr txBox="1"/>
          <p:nvPr/>
        </p:nvSpPr>
        <p:spPr>
          <a:xfrm>
            <a:off x="919388" y="1092750"/>
            <a:ext cx="3944865" cy="369332"/>
          </a:xfrm>
          <a:prstGeom prst="rect">
            <a:avLst/>
          </a:prstGeom>
          <a:noFill/>
        </p:spPr>
        <p:txBody>
          <a:bodyPr wrap="square" rtlCol="0">
            <a:spAutoFit/>
          </a:bodyPr>
          <a:lstStyle/>
          <a:p>
            <a:r>
              <a:rPr lang="zh-CN" altLang="en-US" dirty="0" smtClean="0">
                <a:solidFill>
                  <a:srgbClr val="333F50"/>
                </a:solidFill>
              </a:rPr>
              <a:t>目标</a:t>
            </a:r>
            <a:endParaRPr lang="zh-CN" altLang="en-US" dirty="0">
              <a:solidFill>
                <a:srgbClr val="333F50"/>
              </a:solidFill>
            </a:endParaRP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down)">
                                      <p:cBhvr>
                                        <p:cTn id="10" dur="500"/>
                                        <p:tgtEl>
                                          <p:spTgt spid="3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animBg="1"/>
      <p:bldP spid="29" grpId="0" animBg="1"/>
      <p:bldP spid="30" grpId="0" animBg="1"/>
      <p:bldP spid="32" grpId="0" animBg="1"/>
      <p:bldP spid="33" grpId="0" animBg="1"/>
      <p:bldP spid="34" grpId="0" animBg="1"/>
      <p:bldP spid="35"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数据统一获取</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结构化存储和调用</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一键调用导出</a:t>
            </a:r>
            <a:endParaRPr lang="en-US" altLang="zh-CN" sz="1400" dirty="0" smtClean="0"/>
          </a:p>
        </p:txBody>
      </p:sp>
      <p:sp>
        <p:nvSpPr>
          <p:cNvPr id="26" name="KSO_Shape"/>
          <p:cNvSpPr/>
          <p:nvPr/>
        </p:nvSpPr>
        <p:spPr bwMode="auto">
          <a:xfrm>
            <a:off x="8307003" y="1885623"/>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28" name="KSO_Shape"/>
          <p:cNvSpPr/>
          <p:nvPr/>
        </p:nvSpPr>
        <p:spPr>
          <a:xfrm>
            <a:off x="6016879" y="2525592"/>
            <a:ext cx="1021276" cy="825399"/>
          </a:xfrm>
          <a:custGeom>
            <a:avLst/>
            <a:gdLst>
              <a:gd name="connsiteX0" fmla="*/ 876522 w 1879600"/>
              <a:gd name="connsiteY0" fmla="*/ 1026915 h 1901723"/>
              <a:gd name="connsiteX1" fmla="*/ 1879600 w 1879600"/>
              <a:gd name="connsiteY1" fmla="*/ 1035310 h 1901723"/>
              <a:gd name="connsiteX2" fmla="*/ 1879600 w 1879600"/>
              <a:gd name="connsiteY2" fmla="*/ 1901723 h 1901723"/>
              <a:gd name="connsiteX3" fmla="*/ 876522 w 1879600"/>
              <a:gd name="connsiteY3" fmla="*/ 1775813 h 1901723"/>
              <a:gd name="connsiteX4" fmla="*/ 0 w 1879600"/>
              <a:gd name="connsiteY4" fmla="*/ 1014080 h 1901723"/>
              <a:gd name="connsiteX5" fmla="*/ 717549 w 1879600"/>
              <a:gd name="connsiteY5" fmla="*/ 1026818 h 1901723"/>
              <a:gd name="connsiteX6" fmla="*/ 717549 w 1879600"/>
              <a:gd name="connsiteY6" fmla="*/ 1753167 h 1901723"/>
              <a:gd name="connsiteX7" fmla="*/ 0 w 1879600"/>
              <a:gd name="connsiteY7" fmla="*/ 1642117 h 1901723"/>
              <a:gd name="connsiteX8" fmla="*/ 717549 w 1879600"/>
              <a:gd name="connsiteY8" fmla="*/ 159389 h 1901723"/>
              <a:gd name="connsiteX9" fmla="*/ 717549 w 1879600"/>
              <a:gd name="connsiteY9" fmla="*/ 883871 h 1901723"/>
              <a:gd name="connsiteX10" fmla="*/ 0 w 1879600"/>
              <a:gd name="connsiteY10" fmla="*/ 908194 h 1901723"/>
              <a:gd name="connsiteX11" fmla="*/ 0 w 1879600"/>
              <a:gd name="connsiteY11" fmla="*/ 256684 h 1901723"/>
              <a:gd name="connsiteX12" fmla="*/ 1879600 w 1879600"/>
              <a:gd name="connsiteY12" fmla="*/ 0 h 1901723"/>
              <a:gd name="connsiteX13" fmla="*/ 1879600 w 1879600"/>
              <a:gd name="connsiteY13" fmla="*/ 872112 h 1901723"/>
              <a:gd name="connsiteX14" fmla="*/ 879497 w 1879600"/>
              <a:gd name="connsiteY14" fmla="*/ 880660 h 1901723"/>
              <a:gd name="connsiteX15" fmla="*/ 876522 w 1879600"/>
              <a:gd name="connsiteY15" fmla="*/ 626314 h 1901723"/>
              <a:gd name="connsiteX16" fmla="*/ 876522 w 1879600"/>
              <a:gd name="connsiteY16" fmla="*/ 144511 h 19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79600" h="1901723">
                <a:moveTo>
                  <a:pt x="876522" y="1026915"/>
                </a:moveTo>
                <a:lnTo>
                  <a:pt x="1879600" y="1035310"/>
                </a:lnTo>
                <a:lnTo>
                  <a:pt x="1879600" y="1901723"/>
                </a:lnTo>
                <a:lnTo>
                  <a:pt x="876522" y="1775813"/>
                </a:lnTo>
                <a:close/>
                <a:moveTo>
                  <a:pt x="0" y="1014080"/>
                </a:moveTo>
                <a:lnTo>
                  <a:pt x="717549" y="1026818"/>
                </a:lnTo>
                <a:lnTo>
                  <a:pt x="717549" y="1753167"/>
                </a:lnTo>
                <a:lnTo>
                  <a:pt x="0" y="1642117"/>
                </a:lnTo>
                <a:close/>
                <a:moveTo>
                  <a:pt x="717549" y="159389"/>
                </a:moveTo>
                <a:lnTo>
                  <a:pt x="717549" y="883871"/>
                </a:lnTo>
                <a:lnTo>
                  <a:pt x="0" y="908194"/>
                </a:lnTo>
                <a:lnTo>
                  <a:pt x="0" y="256684"/>
                </a:lnTo>
                <a:close/>
                <a:moveTo>
                  <a:pt x="1879600" y="0"/>
                </a:moveTo>
                <a:lnTo>
                  <a:pt x="1879600" y="872112"/>
                </a:lnTo>
                <a:lnTo>
                  <a:pt x="879497" y="880660"/>
                </a:lnTo>
                <a:lnTo>
                  <a:pt x="876522" y="626314"/>
                </a:lnTo>
                <a:lnTo>
                  <a:pt x="876522" y="144511"/>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9" name="KSO_Shape"/>
          <p:cNvSpPr/>
          <p:nvPr/>
        </p:nvSpPr>
        <p:spPr bwMode="auto">
          <a:xfrm>
            <a:off x="3934308" y="191406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cxnSp>
        <p:nvCxnSpPr>
          <p:cNvPr id="30" name="直接连接符 29"/>
          <p:cNvCxnSpPr/>
          <p:nvPr/>
        </p:nvCxnSpPr>
        <p:spPr>
          <a:xfrm>
            <a:off x="5570855" y="1580856"/>
            <a:ext cx="36195" cy="3771900"/>
          </a:xfrm>
          <a:prstGeom prst="line">
            <a:avLst/>
          </a:prstGeom>
          <a:ln w="19050" cmpd="sng"/>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917180" y="1436711"/>
            <a:ext cx="43180" cy="3641725"/>
          </a:xfrm>
          <a:prstGeom prst="line">
            <a:avLst/>
          </a:prstGeom>
          <a:ln w="19050" cmpd="sng">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095462" y="287122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1</a:t>
            </a:r>
          </a:p>
        </p:txBody>
      </p:sp>
      <p:sp>
        <p:nvSpPr>
          <p:cNvPr id="34" name="文本框 33"/>
          <p:cNvSpPr txBox="1"/>
          <p:nvPr/>
        </p:nvSpPr>
        <p:spPr>
          <a:xfrm>
            <a:off x="6083017" y="2279550"/>
            <a:ext cx="95410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数据采集系统</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8477183" y="3810308"/>
            <a:ext cx="1432846" cy="1203635"/>
          </a:xfrm>
          <a:custGeom>
            <a:avLst/>
            <a:gdLst>
              <a:gd name="T0" fmla="*/ 2147483646 w 6057"/>
              <a:gd name="T1" fmla="*/ 2147483646 h 5454"/>
              <a:gd name="T2" fmla="*/ 0 w 6057"/>
              <a:gd name="T3" fmla="*/ 2147483646 h 5454"/>
              <a:gd name="T4" fmla="*/ 0 w 6057"/>
              <a:gd name="T5" fmla="*/ 2147483646 h 5454"/>
              <a:gd name="T6" fmla="*/ 2147483646 w 6057"/>
              <a:gd name="T7" fmla="*/ 2147483646 h 5454"/>
              <a:gd name="T8" fmla="*/ 2147483646 w 6057"/>
              <a:gd name="T9" fmla="*/ 2147483646 h 5454"/>
              <a:gd name="T10" fmla="*/ 2147483646 w 6057"/>
              <a:gd name="T11" fmla="*/ 2147483646 h 5454"/>
              <a:gd name="T12" fmla="*/ 2147483646 w 6057"/>
              <a:gd name="T13" fmla="*/ 2147483646 h 5454"/>
              <a:gd name="T14" fmla="*/ 2147483646 w 6057"/>
              <a:gd name="T15" fmla="*/ 2147483646 h 5454"/>
              <a:gd name="T16" fmla="*/ 2147483646 w 6057"/>
              <a:gd name="T17" fmla="*/ 2147483646 h 5454"/>
              <a:gd name="T18" fmla="*/ 2147483646 w 6057"/>
              <a:gd name="T19" fmla="*/ 2147483646 h 5454"/>
              <a:gd name="T20" fmla="*/ 2147483646 w 6057"/>
              <a:gd name="T21" fmla="*/ 2147483646 h 5454"/>
              <a:gd name="T22" fmla="*/ 2147483646 w 6057"/>
              <a:gd name="T23" fmla="*/ 2147483646 h 5454"/>
              <a:gd name="T24" fmla="*/ 2147483646 w 6057"/>
              <a:gd name="T25" fmla="*/ 2147483646 h 5454"/>
              <a:gd name="T26" fmla="*/ 2147483646 w 6057"/>
              <a:gd name="T27" fmla="*/ 2147483646 h 5454"/>
              <a:gd name="T28" fmla="*/ 2147483646 w 6057"/>
              <a:gd name="T29" fmla="*/ 2147483646 h 5454"/>
              <a:gd name="T30" fmla="*/ 2147483646 w 6057"/>
              <a:gd name="T31" fmla="*/ 2147483646 h 5454"/>
              <a:gd name="T32" fmla="*/ 2147483646 w 6057"/>
              <a:gd name="T33" fmla="*/ 2147483646 h 5454"/>
              <a:gd name="T34" fmla="*/ 2147483646 w 6057"/>
              <a:gd name="T35" fmla="*/ 2147483646 h 5454"/>
              <a:gd name="T36" fmla="*/ 2147483646 w 6057"/>
              <a:gd name="T37" fmla="*/ 2147483646 h 5454"/>
              <a:gd name="T38" fmla="*/ 2147483646 w 6057"/>
              <a:gd name="T39" fmla="*/ 2147483646 h 5454"/>
              <a:gd name="T40" fmla="*/ 2147483646 w 6057"/>
              <a:gd name="T41" fmla="*/ 2147483646 h 5454"/>
              <a:gd name="T42" fmla="*/ 2147483646 w 6057"/>
              <a:gd name="T43" fmla="*/ 2147483646 h 5454"/>
              <a:gd name="T44" fmla="*/ 2147483646 w 6057"/>
              <a:gd name="T45" fmla="*/ 2147483646 h 5454"/>
              <a:gd name="T46" fmla="*/ 2147483646 w 6057"/>
              <a:gd name="T47" fmla="*/ 2147483646 h 5454"/>
              <a:gd name="T48" fmla="*/ 2147483646 w 6057"/>
              <a:gd name="T49" fmla="*/ 2147483646 h 5454"/>
              <a:gd name="T50" fmla="*/ 2147483646 w 6057"/>
              <a:gd name="T51" fmla="*/ 2147483646 h 5454"/>
              <a:gd name="T52" fmla="*/ 2147483646 w 6057"/>
              <a:gd name="T53" fmla="*/ 2147483646 h 5454"/>
              <a:gd name="T54" fmla="*/ 2147483646 w 6057"/>
              <a:gd name="T55" fmla="*/ 2147483646 h 5454"/>
              <a:gd name="T56" fmla="*/ 2147483646 w 6057"/>
              <a:gd name="T57" fmla="*/ 2147483646 h 5454"/>
              <a:gd name="T58" fmla="*/ 2147483646 w 6057"/>
              <a:gd name="T59" fmla="*/ 2147483646 h 5454"/>
              <a:gd name="T60" fmla="*/ 2147483646 w 6057"/>
              <a:gd name="T61" fmla="*/ 2147483646 h 5454"/>
              <a:gd name="T62" fmla="*/ 2147483646 w 6057"/>
              <a:gd name="T63" fmla="*/ 2147483646 h 5454"/>
              <a:gd name="T64" fmla="*/ 2147483646 w 6057"/>
              <a:gd name="T65" fmla="*/ 2147483646 h 5454"/>
              <a:gd name="T66" fmla="*/ 2147483646 w 6057"/>
              <a:gd name="T67" fmla="*/ 2147483646 h 5454"/>
              <a:gd name="T68" fmla="*/ 2147483646 w 6057"/>
              <a:gd name="T69" fmla="*/ 2147483646 h 5454"/>
              <a:gd name="T70" fmla="*/ 2147483646 w 6057"/>
              <a:gd name="T71" fmla="*/ 2147483646 h 5454"/>
              <a:gd name="T72" fmla="*/ 2147483646 w 6057"/>
              <a:gd name="T73" fmla="*/ 2147483646 h 5454"/>
              <a:gd name="T74" fmla="*/ 2147483646 w 6057"/>
              <a:gd name="T75" fmla="*/ 2147483646 h 5454"/>
              <a:gd name="T76" fmla="*/ 2147483646 w 6057"/>
              <a:gd name="T77" fmla="*/ 0 h 5454"/>
              <a:gd name="T78" fmla="*/ 2147483646 w 6057"/>
              <a:gd name="T79" fmla="*/ 2147483646 h 545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7" h="5454">
                <a:moveTo>
                  <a:pt x="0" y="959"/>
                </a:moveTo>
                <a:lnTo>
                  <a:pt x="1930" y="1981"/>
                </a:lnTo>
                <a:lnTo>
                  <a:pt x="1930" y="5454"/>
                </a:lnTo>
                <a:lnTo>
                  <a:pt x="0" y="4432"/>
                </a:lnTo>
                <a:lnTo>
                  <a:pt x="0" y="959"/>
                </a:lnTo>
                <a:close/>
                <a:moveTo>
                  <a:pt x="3263" y="849"/>
                </a:moveTo>
                <a:lnTo>
                  <a:pt x="3260" y="1196"/>
                </a:lnTo>
                <a:lnTo>
                  <a:pt x="3082" y="1115"/>
                </a:lnTo>
                <a:lnTo>
                  <a:pt x="3082" y="871"/>
                </a:lnTo>
                <a:lnTo>
                  <a:pt x="2883" y="783"/>
                </a:lnTo>
                <a:lnTo>
                  <a:pt x="2883" y="1024"/>
                </a:lnTo>
                <a:lnTo>
                  <a:pt x="1772" y="520"/>
                </a:lnTo>
                <a:lnTo>
                  <a:pt x="269" y="883"/>
                </a:lnTo>
                <a:lnTo>
                  <a:pt x="2160" y="1837"/>
                </a:lnTo>
                <a:lnTo>
                  <a:pt x="2149" y="5385"/>
                </a:lnTo>
                <a:lnTo>
                  <a:pt x="3705" y="4796"/>
                </a:lnTo>
                <a:lnTo>
                  <a:pt x="3705" y="4070"/>
                </a:lnTo>
                <a:lnTo>
                  <a:pt x="4114" y="3933"/>
                </a:lnTo>
                <a:lnTo>
                  <a:pt x="4114" y="4296"/>
                </a:lnTo>
                <a:lnTo>
                  <a:pt x="4599" y="4524"/>
                </a:lnTo>
                <a:lnTo>
                  <a:pt x="5626" y="4144"/>
                </a:lnTo>
                <a:lnTo>
                  <a:pt x="5627" y="4077"/>
                </a:lnTo>
                <a:lnTo>
                  <a:pt x="5122" y="3921"/>
                </a:lnTo>
                <a:lnTo>
                  <a:pt x="5122" y="3593"/>
                </a:lnTo>
                <a:lnTo>
                  <a:pt x="6057" y="3278"/>
                </a:lnTo>
                <a:lnTo>
                  <a:pt x="6057" y="95"/>
                </a:lnTo>
                <a:lnTo>
                  <a:pt x="3263" y="849"/>
                </a:lnTo>
                <a:close/>
                <a:moveTo>
                  <a:pt x="3705" y="3759"/>
                </a:moveTo>
                <a:lnTo>
                  <a:pt x="3705" y="2603"/>
                </a:lnTo>
                <a:lnTo>
                  <a:pt x="2433" y="2997"/>
                </a:lnTo>
                <a:lnTo>
                  <a:pt x="2433" y="2598"/>
                </a:lnTo>
                <a:lnTo>
                  <a:pt x="3705" y="2204"/>
                </a:lnTo>
                <a:lnTo>
                  <a:pt x="3705" y="1972"/>
                </a:lnTo>
                <a:lnTo>
                  <a:pt x="2433" y="2365"/>
                </a:lnTo>
                <a:lnTo>
                  <a:pt x="2433" y="1966"/>
                </a:lnTo>
                <a:lnTo>
                  <a:pt x="3705" y="1574"/>
                </a:lnTo>
                <a:lnTo>
                  <a:pt x="3705" y="1397"/>
                </a:lnTo>
                <a:lnTo>
                  <a:pt x="3614" y="1356"/>
                </a:lnTo>
                <a:lnTo>
                  <a:pt x="3617" y="1043"/>
                </a:lnTo>
                <a:lnTo>
                  <a:pt x="5797" y="461"/>
                </a:lnTo>
                <a:lnTo>
                  <a:pt x="5797" y="3054"/>
                </a:lnTo>
                <a:lnTo>
                  <a:pt x="3705" y="3759"/>
                </a:lnTo>
                <a:close/>
                <a:moveTo>
                  <a:pt x="215" y="1434"/>
                </a:moveTo>
                <a:lnTo>
                  <a:pt x="215" y="1579"/>
                </a:lnTo>
                <a:lnTo>
                  <a:pt x="862" y="1925"/>
                </a:lnTo>
                <a:lnTo>
                  <a:pt x="862" y="1780"/>
                </a:lnTo>
                <a:lnTo>
                  <a:pt x="215" y="1434"/>
                </a:lnTo>
                <a:close/>
                <a:moveTo>
                  <a:pt x="215" y="1909"/>
                </a:moveTo>
                <a:lnTo>
                  <a:pt x="215" y="2053"/>
                </a:lnTo>
                <a:lnTo>
                  <a:pt x="862" y="2399"/>
                </a:lnTo>
                <a:lnTo>
                  <a:pt x="862" y="2255"/>
                </a:lnTo>
                <a:lnTo>
                  <a:pt x="215" y="1909"/>
                </a:lnTo>
                <a:close/>
                <a:moveTo>
                  <a:pt x="215" y="1670"/>
                </a:moveTo>
                <a:lnTo>
                  <a:pt x="215" y="1814"/>
                </a:lnTo>
                <a:lnTo>
                  <a:pt x="862" y="2160"/>
                </a:lnTo>
                <a:lnTo>
                  <a:pt x="862" y="2016"/>
                </a:lnTo>
                <a:lnTo>
                  <a:pt x="215" y="1670"/>
                </a:lnTo>
                <a:close/>
                <a:moveTo>
                  <a:pt x="2458" y="3255"/>
                </a:moveTo>
                <a:lnTo>
                  <a:pt x="2820" y="3153"/>
                </a:lnTo>
                <a:lnTo>
                  <a:pt x="2820" y="3376"/>
                </a:lnTo>
                <a:lnTo>
                  <a:pt x="2458" y="3478"/>
                </a:lnTo>
                <a:lnTo>
                  <a:pt x="2458" y="3255"/>
                </a:lnTo>
                <a:close/>
                <a:moveTo>
                  <a:pt x="2458" y="3645"/>
                </a:moveTo>
                <a:lnTo>
                  <a:pt x="2820" y="3543"/>
                </a:lnTo>
                <a:lnTo>
                  <a:pt x="2820" y="3764"/>
                </a:lnTo>
                <a:lnTo>
                  <a:pt x="2458" y="3867"/>
                </a:lnTo>
                <a:lnTo>
                  <a:pt x="2458" y="3645"/>
                </a:lnTo>
                <a:close/>
                <a:moveTo>
                  <a:pt x="3097" y="793"/>
                </a:moveTo>
                <a:lnTo>
                  <a:pt x="2938" y="714"/>
                </a:lnTo>
                <a:lnTo>
                  <a:pt x="5774" y="0"/>
                </a:lnTo>
                <a:lnTo>
                  <a:pt x="5915" y="61"/>
                </a:lnTo>
                <a:lnTo>
                  <a:pt x="3097" y="793"/>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6" name="文本框 35"/>
          <p:cNvSpPr txBox="1"/>
          <p:nvPr/>
        </p:nvSpPr>
        <p:spPr>
          <a:xfrm>
            <a:off x="8476987" y="3474619"/>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应用服务器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
        <p:nvSpPr>
          <p:cNvPr id="37" name="KSO_Shape"/>
          <p:cNvSpPr/>
          <p:nvPr/>
        </p:nvSpPr>
        <p:spPr bwMode="auto">
          <a:xfrm>
            <a:off x="3919703" y="312564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38" name="文本框 37"/>
          <p:cNvSpPr txBox="1"/>
          <p:nvPr/>
        </p:nvSpPr>
        <p:spPr>
          <a:xfrm>
            <a:off x="4109432" y="4019301"/>
            <a:ext cx="89598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2</a:t>
            </a:r>
          </a:p>
        </p:txBody>
      </p:sp>
      <p:sp>
        <p:nvSpPr>
          <p:cNvPr id="39" name="文本框 38"/>
          <p:cNvSpPr txBox="1"/>
          <p:nvPr/>
        </p:nvSpPr>
        <p:spPr>
          <a:xfrm>
            <a:off x="4313555" y="4352631"/>
            <a:ext cx="459740" cy="427355"/>
          </a:xfrm>
          <a:prstGeom prst="rect">
            <a:avLst/>
          </a:prstGeom>
          <a:noFill/>
        </p:spPr>
        <p:txBody>
          <a:bodyPr vert="eaVert" wrap="square" rtlCol="0">
            <a:spAutoFit/>
          </a:bodyPr>
          <a:lstStyle/>
          <a:p>
            <a:r>
              <a:rPr lang="en-US" altLang="zh-CN"/>
              <a:t>...</a:t>
            </a:r>
          </a:p>
        </p:txBody>
      </p:sp>
      <p:sp>
        <p:nvSpPr>
          <p:cNvPr id="40" name="KSO_Shape"/>
          <p:cNvSpPr/>
          <p:nvPr/>
        </p:nvSpPr>
        <p:spPr bwMode="auto">
          <a:xfrm>
            <a:off x="3919703" y="4592495"/>
            <a:ext cx="1246870" cy="846020"/>
          </a:xfrm>
          <a:custGeom>
            <a:avLst/>
            <a:gdLst>
              <a:gd name="T0" fmla="*/ 1091648 w 2509838"/>
              <a:gd name="T1" fmla="*/ 1608111 h 1787526"/>
              <a:gd name="T2" fmla="*/ 1364673 w 2509838"/>
              <a:gd name="T3" fmla="*/ 1644625 h 1787526"/>
              <a:gd name="T4" fmla="*/ 1419551 w 2509838"/>
              <a:gd name="T5" fmla="*/ 1603152 h 1787526"/>
              <a:gd name="T6" fmla="*/ 2438407 w 2509838"/>
              <a:gd name="T7" fmla="*/ 1567539 h 1787526"/>
              <a:gd name="T8" fmla="*/ 2487842 w 2509838"/>
              <a:gd name="T9" fmla="*/ 1592108 h 1787526"/>
              <a:gd name="T10" fmla="*/ 2509611 w 2509838"/>
              <a:gd name="T11" fmla="*/ 1640568 h 1787526"/>
              <a:gd name="T12" fmla="*/ 2495552 w 2509838"/>
              <a:gd name="T13" fmla="*/ 1753040 h 1787526"/>
              <a:gd name="T14" fmla="*/ 2450426 w 2509838"/>
              <a:gd name="T15" fmla="*/ 1783920 h 1787526"/>
              <a:gd name="T16" fmla="*/ 55558 w 2509838"/>
              <a:gd name="T17" fmla="*/ 1782793 h 1787526"/>
              <a:gd name="T18" fmla="*/ 12472 w 2509838"/>
              <a:gd name="T19" fmla="*/ 1750110 h 1787526"/>
              <a:gd name="T20" fmla="*/ 680 w 2509838"/>
              <a:gd name="T21" fmla="*/ 1636736 h 1787526"/>
              <a:gd name="T22" fmla="*/ 24717 w 2509838"/>
              <a:gd name="T23" fmla="*/ 1589628 h 1787526"/>
              <a:gd name="T24" fmla="*/ 75740 w 2509838"/>
              <a:gd name="T25" fmla="*/ 1567089 h 1787526"/>
              <a:gd name="T26" fmla="*/ 933501 w 2509838"/>
              <a:gd name="T27" fmla="*/ 749091 h 1787526"/>
              <a:gd name="T28" fmla="*/ 932155 w 2509838"/>
              <a:gd name="T29" fmla="*/ 1160902 h 1787526"/>
              <a:gd name="T30" fmla="*/ 829865 w 2509838"/>
              <a:gd name="T31" fmla="*/ 1167944 h 1787526"/>
              <a:gd name="T32" fmla="*/ 814387 w 2509838"/>
              <a:gd name="T33" fmla="*/ 760448 h 1787526"/>
              <a:gd name="T34" fmla="*/ 837043 w 2509838"/>
              <a:gd name="T35" fmla="*/ 738188 h 1787526"/>
              <a:gd name="T36" fmla="*/ 1416304 w 2509838"/>
              <a:gd name="T37" fmla="*/ 686474 h 1787526"/>
              <a:gd name="T38" fmla="*/ 1412034 w 2509838"/>
              <a:gd name="T39" fmla="*/ 1161601 h 1787526"/>
              <a:gd name="T40" fmla="*/ 1308659 w 2509838"/>
              <a:gd name="T41" fmla="*/ 1166588 h 1787526"/>
              <a:gd name="T42" fmla="*/ 1296074 w 2509838"/>
              <a:gd name="T43" fmla="*/ 694181 h 1787526"/>
              <a:gd name="T44" fmla="*/ 988416 w 2509838"/>
              <a:gd name="T45" fmla="*/ 671513 h 1787526"/>
              <a:gd name="T46" fmla="*/ 1088565 w 2509838"/>
              <a:gd name="T47" fmla="*/ 688968 h 1787526"/>
              <a:gd name="T48" fmla="*/ 1081281 w 2509838"/>
              <a:gd name="T49" fmla="*/ 1163414 h 1787526"/>
              <a:gd name="T50" fmla="*/ 976581 w 2509838"/>
              <a:gd name="T51" fmla="*/ 1165228 h 1787526"/>
              <a:gd name="T52" fmla="*/ 966338 w 2509838"/>
              <a:gd name="T53" fmla="*/ 691461 h 1787526"/>
              <a:gd name="T54" fmla="*/ 1546133 w 2509838"/>
              <a:gd name="T55" fmla="*/ 590550 h 1787526"/>
              <a:gd name="T56" fmla="*/ 1571170 w 2509838"/>
              <a:gd name="T57" fmla="*/ 617105 h 1787526"/>
              <a:gd name="T58" fmla="*/ 1558196 w 2509838"/>
              <a:gd name="T59" fmla="*/ 1165903 h 1787526"/>
              <a:gd name="T60" fmla="*/ 1453496 w 2509838"/>
              <a:gd name="T61" fmla="*/ 1160229 h 1787526"/>
              <a:gd name="T62" fmla="*/ 1449399 w 2509838"/>
              <a:gd name="T63" fmla="*/ 608026 h 1787526"/>
              <a:gd name="T64" fmla="*/ 1229322 w 2509838"/>
              <a:gd name="T65" fmla="*/ 590777 h 1787526"/>
              <a:gd name="T66" fmla="*/ 1252538 w 2509838"/>
              <a:gd name="T67" fmla="*/ 620282 h 1787526"/>
              <a:gd name="T68" fmla="*/ 1236833 w 2509838"/>
              <a:gd name="T69" fmla="*/ 1167492 h 1787526"/>
              <a:gd name="T70" fmla="*/ 1132815 w 2509838"/>
              <a:gd name="T71" fmla="*/ 1157959 h 1787526"/>
              <a:gd name="T72" fmla="*/ 1131450 w 2509838"/>
              <a:gd name="T73" fmla="*/ 605303 h 1787526"/>
              <a:gd name="T74" fmla="*/ 1713065 w 2509838"/>
              <a:gd name="T75" fmla="*/ 508680 h 1787526"/>
              <a:gd name="T76" fmla="*/ 1733550 w 2509838"/>
              <a:gd name="T77" fmla="*/ 545860 h 1787526"/>
              <a:gd name="T78" fmla="*/ 1715797 w 2509838"/>
              <a:gd name="T79" fmla="*/ 1168174 h 1787526"/>
              <a:gd name="T80" fmla="*/ 1612689 w 2509838"/>
              <a:gd name="T81" fmla="*/ 1153438 h 1787526"/>
              <a:gd name="T82" fmla="*/ 1614055 w 2509838"/>
              <a:gd name="T83" fmla="*/ 521829 h 1787526"/>
              <a:gd name="T84" fmla="*/ 1733550 w 2509838"/>
              <a:gd name="T85" fmla="*/ 464215 h 1787526"/>
              <a:gd name="T86" fmla="*/ 1501548 w 2509838"/>
              <a:gd name="T87" fmla="*/ 379141 h 1787526"/>
              <a:gd name="T88" fmla="*/ 188232 w 2509838"/>
              <a:gd name="T89" fmla="*/ 103187 h 1787526"/>
              <a:gd name="T90" fmla="*/ 158976 w 2509838"/>
              <a:gd name="T91" fmla="*/ 139700 h 1787526"/>
              <a:gd name="T92" fmla="*/ 160110 w 2509838"/>
              <a:gd name="T93" fmla="*/ 1353684 h 1787526"/>
              <a:gd name="T94" fmla="*/ 191407 w 2509838"/>
              <a:gd name="T95" fmla="*/ 1389063 h 1787526"/>
              <a:gd name="T96" fmla="*/ 2288041 w 2509838"/>
              <a:gd name="T97" fmla="*/ 1398588 h 1787526"/>
              <a:gd name="T98" fmla="*/ 2332945 w 2509838"/>
              <a:gd name="T99" fmla="*/ 1378857 h 1787526"/>
              <a:gd name="T100" fmla="*/ 2354036 w 2509838"/>
              <a:gd name="T101" fmla="*/ 1337129 h 1787526"/>
              <a:gd name="T102" fmla="*/ 2343830 w 2509838"/>
              <a:gd name="T103" fmla="*/ 124505 h 1787526"/>
              <a:gd name="T104" fmla="*/ 2305957 w 2509838"/>
              <a:gd name="T105" fmla="*/ 95704 h 1787526"/>
              <a:gd name="T106" fmla="*/ 2436813 w 2509838"/>
              <a:gd name="T107" fmla="*/ 680 h 1787526"/>
              <a:gd name="T108" fmla="*/ 2486479 w 2509838"/>
              <a:gd name="T109" fmla="*/ 25400 h 1787526"/>
              <a:gd name="T110" fmla="*/ 2508250 w 2509838"/>
              <a:gd name="T111" fmla="*/ 74159 h 1787526"/>
              <a:gd name="T112" fmla="*/ 2493963 w 2509838"/>
              <a:gd name="T113" fmla="*/ 1455965 h 1787526"/>
              <a:gd name="T114" fmla="*/ 2449286 w 2509838"/>
              <a:gd name="T115" fmla="*/ 1487034 h 1787526"/>
              <a:gd name="T116" fmla="*/ 57150 w 2509838"/>
              <a:gd name="T117" fmla="*/ 1485674 h 1787526"/>
              <a:gd name="T118" fmla="*/ 13833 w 2509838"/>
              <a:gd name="T119" fmla="*/ 1452790 h 1787526"/>
              <a:gd name="T120" fmla="*/ 2041 w 2509838"/>
              <a:gd name="T121" fmla="*/ 70304 h 1787526"/>
              <a:gd name="T122" fmla="*/ 26307 w 2509838"/>
              <a:gd name="T123" fmla="*/ 22905 h 1787526"/>
              <a:gd name="T124" fmla="*/ 77333 w 2509838"/>
              <a:gd name="T125" fmla="*/ 227 h 1787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09838" h="1787526">
                <a:moveTo>
                  <a:pt x="80048" y="1566863"/>
                </a:moveTo>
                <a:lnTo>
                  <a:pt x="84357" y="1566863"/>
                </a:lnTo>
                <a:lnTo>
                  <a:pt x="1096637" y="1566863"/>
                </a:lnTo>
                <a:lnTo>
                  <a:pt x="1094823" y="1569568"/>
                </a:lnTo>
                <a:lnTo>
                  <a:pt x="1093235" y="1572498"/>
                </a:lnTo>
                <a:lnTo>
                  <a:pt x="1092102" y="1575879"/>
                </a:lnTo>
                <a:lnTo>
                  <a:pt x="1090968" y="1579035"/>
                </a:lnTo>
                <a:lnTo>
                  <a:pt x="1090287" y="1582415"/>
                </a:lnTo>
                <a:lnTo>
                  <a:pt x="1089607" y="1585571"/>
                </a:lnTo>
                <a:lnTo>
                  <a:pt x="1089380" y="1589177"/>
                </a:lnTo>
                <a:lnTo>
                  <a:pt x="1089154" y="1592558"/>
                </a:lnTo>
                <a:lnTo>
                  <a:pt x="1089380" y="1597968"/>
                </a:lnTo>
                <a:lnTo>
                  <a:pt x="1090287" y="1603152"/>
                </a:lnTo>
                <a:lnTo>
                  <a:pt x="1091648" y="1608111"/>
                </a:lnTo>
                <a:lnTo>
                  <a:pt x="1093689" y="1612844"/>
                </a:lnTo>
                <a:lnTo>
                  <a:pt x="1095957" y="1617352"/>
                </a:lnTo>
                <a:lnTo>
                  <a:pt x="1098678" y="1621634"/>
                </a:lnTo>
                <a:lnTo>
                  <a:pt x="1101853" y="1625692"/>
                </a:lnTo>
                <a:lnTo>
                  <a:pt x="1105481" y="1629523"/>
                </a:lnTo>
                <a:lnTo>
                  <a:pt x="1109563" y="1632679"/>
                </a:lnTo>
                <a:lnTo>
                  <a:pt x="1113871" y="1635834"/>
                </a:lnTo>
                <a:lnTo>
                  <a:pt x="1118633" y="1638314"/>
                </a:lnTo>
                <a:lnTo>
                  <a:pt x="1123395" y="1640568"/>
                </a:lnTo>
                <a:lnTo>
                  <a:pt x="1128611" y="1642371"/>
                </a:lnTo>
                <a:lnTo>
                  <a:pt x="1134053" y="1643498"/>
                </a:lnTo>
                <a:lnTo>
                  <a:pt x="1139496" y="1644174"/>
                </a:lnTo>
                <a:lnTo>
                  <a:pt x="1145391" y="1644625"/>
                </a:lnTo>
                <a:lnTo>
                  <a:pt x="1364673" y="1644625"/>
                </a:lnTo>
                <a:lnTo>
                  <a:pt x="1370343" y="1644174"/>
                </a:lnTo>
                <a:lnTo>
                  <a:pt x="1376012" y="1643498"/>
                </a:lnTo>
                <a:lnTo>
                  <a:pt x="1381227" y="1642371"/>
                </a:lnTo>
                <a:lnTo>
                  <a:pt x="1386443" y="1640568"/>
                </a:lnTo>
                <a:lnTo>
                  <a:pt x="1391432" y="1638314"/>
                </a:lnTo>
                <a:lnTo>
                  <a:pt x="1396194" y="1635834"/>
                </a:lnTo>
                <a:lnTo>
                  <a:pt x="1400502" y="1632679"/>
                </a:lnTo>
                <a:lnTo>
                  <a:pt x="1404357" y="1629523"/>
                </a:lnTo>
                <a:lnTo>
                  <a:pt x="1407986" y="1625692"/>
                </a:lnTo>
                <a:lnTo>
                  <a:pt x="1411160" y="1621634"/>
                </a:lnTo>
                <a:lnTo>
                  <a:pt x="1414108" y="1617352"/>
                </a:lnTo>
                <a:lnTo>
                  <a:pt x="1416376" y="1612844"/>
                </a:lnTo>
                <a:lnTo>
                  <a:pt x="1418417" y="1608111"/>
                </a:lnTo>
                <a:lnTo>
                  <a:pt x="1419551" y="1603152"/>
                </a:lnTo>
                <a:lnTo>
                  <a:pt x="1420684" y="1597968"/>
                </a:lnTo>
                <a:lnTo>
                  <a:pt x="1420911" y="1592558"/>
                </a:lnTo>
                <a:lnTo>
                  <a:pt x="1420684" y="1589177"/>
                </a:lnTo>
                <a:lnTo>
                  <a:pt x="1420231" y="1585571"/>
                </a:lnTo>
                <a:lnTo>
                  <a:pt x="1419551" y="1582415"/>
                </a:lnTo>
                <a:lnTo>
                  <a:pt x="1418870" y="1579035"/>
                </a:lnTo>
                <a:lnTo>
                  <a:pt x="1417737" y="1575879"/>
                </a:lnTo>
                <a:lnTo>
                  <a:pt x="1416603" y="1572498"/>
                </a:lnTo>
                <a:lnTo>
                  <a:pt x="1415015" y="1569568"/>
                </a:lnTo>
                <a:lnTo>
                  <a:pt x="1413201" y="1566863"/>
                </a:lnTo>
                <a:lnTo>
                  <a:pt x="2425481" y="1566863"/>
                </a:lnTo>
                <a:lnTo>
                  <a:pt x="2429790" y="1566863"/>
                </a:lnTo>
                <a:lnTo>
                  <a:pt x="2434099" y="1567089"/>
                </a:lnTo>
                <a:lnTo>
                  <a:pt x="2438407" y="1567539"/>
                </a:lnTo>
                <a:lnTo>
                  <a:pt x="2442489" y="1568216"/>
                </a:lnTo>
                <a:lnTo>
                  <a:pt x="2446571" y="1569117"/>
                </a:lnTo>
                <a:lnTo>
                  <a:pt x="2450426" y="1570244"/>
                </a:lnTo>
                <a:lnTo>
                  <a:pt x="2454507" y="1571596"/>
                </a:lnTo>
                <a:lnTo>
                  <a:pt x="2458362" y="1572723"/>
                </a:lnTo>
                <a:lnTo>
                  <a:pt x="2462217" y="1574301"/>
                </a:lnTo>
                <a:lnTo>
                  <a:pt x="2465619" y="1576104"/>
                </a:lnTo>
                <a:lnTo>
                  <a:pt x="2469247" y="1578133"/>
                </a:lnTo>
                <a:lnTo>
                  <a:pt x="2472422" y="1580162"/>
                </a:lnTo>
                <a:lnTo>
                  <a:pt x="2476050" y="1581965"/>
                </a:lnTo>
                <a:lnTo>
                  <a:pt x="2478998" y="1584669"/>
                </a:lnTo>
                <a:lnTo>
                  <a:pt x="2482173" y="1586923"/>
                </a:lnTo>
                <a:lnTo>
                  <a:pt x="2485121" y="1589628"/>
                </a:lnTo>
                <a:lnTo>
                  <a:pt x="2487842" y="1592108"/>
                </a:lnTo>
                <a:lnTo>
                  <a:pt x="2490336" y="1595038"/>
                </a:lnTo>
                <a:lnTo>
                  <a:pt x="2492831" y="1597968"/>
                </a:lnTo>
                <a:lnTo>
                  <a:pt x="2495552" y="1601123"/>
                </a:lnTo>
                <a:lnTo>
                  <a:pt x="2497366" y="1604054"/>
                </a:lnTo>
                <a:lnTo>
                  <a:pt x="2499407" y="1607434"/>
                </a:lnTo>
                <a:lnTo>
                  <a:pt x="2501448" y="1610815"/>
                </a:lnTo>
                <a:lnTo>
                  <a:pt x="2503035" y="1614196"/>
                </a:lnTo>
                <a:lnTo>
                  <a:pt x="2504623" y="1618028"/>
                </a:lnTo>
                <a:lnTo>
                  <a:pt x="2505983" y="1621409"/>
                </a:lnTo>
                <a:lnTo>
                  <a:pt x="2507117" y="1625241"/>
                </a:lnTo>
                <a:lnTo>
                  <a:pt x="2508024" y="1629073"/>
                </a:lnTo>
                <a:lnTo>
                  <a:pt x="2508704" y="1632679"/>
                </a:lnTo>
                <a:lnTo>
                  <a:pt x="2509385" y="1636736"/>
                </a:lnTo>
                <a:lnTo>
                  <a:pt x="2509611" y="1640568"/>
                </a:lnTo>
                <a:lnTo>
                  <a:pt x="2509838" y="1644625"/>
                </a:lnTo>
                <a:lnTo>
                  <a:pt x="2509838" y="1709764"/>
                </a:lnTo>
                <a:lnTo>
                  <a:pt x="2509611" y="1713822"/>
                </a:lnTo>
                <a:lnTo>
                  <a:pt x="2509385" y="1717428"/>
                </a:lnTo>
                <a:lnTo>
                  <a:pt x="2508704" y="1721485"/>
                </a:lnTo>
                <a:lnTo>
                  <a:pt x="2508024" y="1725317"/>
                </a:lnTo>
                <a:lnTo>
                  <a:pt x="2507117" y="1729148"/>
                </a:lnTo>
                <a:lnTo>
                  <a:pt x="2505983" y="1732755"/>
                </a:lnTo>
                <a:lnTo>
                  <a:pt x="2504623" y="1736361"/>
                </a:lnTo>
                <a:lnTo>
                  <a:pt x="2503035" y="1740193"/>
                </a:lnTo>
                <a:lnTo>
                  <a:pt x="2501448" y="1743348"/>
                </a:lnTo>
                <a:lnTo>
                  <a:pt x="2499407" y="1746955"/>
                </a:lnTo>
                <a:lnTo>
                  <a:pt x="2497366" y="1750110"/>
                </a:lnTo>
                <a:lnTo>
                  <a:pt x="2495552" y="1753040"/>
                </a:lnTo>
                <a:lnTo>
                  <a:pt x="2492831" y="1756421"/>
                </a:lnTo>
                <a:lnTo>
                  <a:pt x="2490336" y="1759126"/>
                </a:lnTo>
                <a:lnTo>
                  <a:pt x="2487842" y="1762282"/>
                </a:lnTo>
                <a:lnTo>
                  <a:pt x="2485121" y="1764761"/>
                </a:lnTo>
                <a:lnTo>
                  <a:pt x="2482173" y="1767466"/>
                </a:lnTo>
                <a:lnTo>
                  <a:pt x="2478998" y="1769720"/>
                </a:lnTo>
                <a:lnTo>
                  <a:pt x="2476050" y="1772199"/>
                </a:lnTo>
                <a:lnTo>
                  <a:pt x="2472422" y="1774228"/>
                </a:lnTo>
                <a:lnTo>
                  <a:pt x="2469247" y="1776256"/>
                </a:lnTo>
                <a:lnTo>
                  <a:pt x="2465619" y="1778285"/>
                </a:lnTo>
                <a:lnTo>
                  <a:pt x="2462217" y="1780088"/>
                </a:lnTo>
                <a:lnTo>
                  <a:pt x="2458362" y="1781440"/>
                </a:lnTo>
                <a:lnTo>
                  <a:pt x="2454507" y="1782793"/>
                </a:lnTo>
                <a:lnTo>
                  <a:pt x="2450426" y="1783920"/>
                </a:lnTo>
                <a:lnTo>
                  <a:pt x="2446571" y="1785272"/>
                </a:lnTo>
                <a:lnTo>
                  <a:pt x="2442489" y="1785948"/>
                </a:lnTo>
                <a:lnTo>
                  <a:pt x="2438407" y="1786850"/>
                </a:lnTo>
                <a:lnTo>
                  <a:pt x="2434099" y="1787301"/>
                </a:lnTo>
                <a:lnTo>
                  <a:pt x="2429790" y="1787526"/>
                </a:lnTo>
                <a:lnTo>
                  <a:pt x="2425481" y="1787526"/>
                </a:lnTo>
                <a:lnTo>
                  <a:pt x="84357" y="1787526"/>
                </a:lnTo>
                <a:lnTo>
                  <a:pt x="80048" y="1787526"/>
                </a:lnTo>
                <a:lnTo>
                  <a:pt x="75740" y="1787301"/>
                </a:lnTo>
                <a:lnTo>
                  <a:pt x="71431" y="1786850"/>
                </a:lnTo>
                <a:lnTo>
                  <a:pt x="67349" y="1785948"/>
                </a:lnTo>
                <a:lnTo>
                  <a:pt x="63494" y="1785272"/>
                </a:lnTo>
                <a:lnTo>
                  <a:pt x="59413" y="1783920"/>
                </a:lnTo>
                <a:lnTo>
                  <a:pt x="55558" y="1782793"/>
                </a:lnTo>
                <a:lnTo>
                  <a:pt x="51476" y="1781440"/>
                </a:lnTo>
                <a:lnTo>
                  <a:pt x="48074" y="1780088"/>
                </a:lnTo>
                <a:lnTo>
                  <a:pt x="44219" y="1778285"/>
                </a:lnTo>
                <a:lnTo>
                  <a:pt x="40591" y="1776256"/>
                </a:lnTo>
                <a:lnTo>
                  <a:pt x="37416" y="1774228"/>
                </a:lnTo>
                <a:lnTo>
                  <a:pt x="33788" y="1772199"/>
                </a:lnTo>
                <a:lnTo>
                  <a:pt x="30840" y="1769720"/>
                </a:lnTo>
                <a:lnTo>
                  <a:pt x="27892" y="1767466"/>
                </a:lnTo>
                <a:lnTo>
                  <a:pt x="24717" y="1764761"/>
                </a:lnTo>
                <a:lnTo>
                  <a:pt x="21996" y="1762282"/>
                </a:lnTo>
                <a:lnTo>
                  <a:pt x="19502" y="1759126"/>
                </a:lnTo>
                <a:lnTo>
                  <a:pt x="17007" y="1756421"/>
                </a:lnTo>
                <a:lnTo>
                  <a:pt x="14513" y="1753040"/>
                </a:lnTo>
                <a:lnTo>
                  <a:pt x="12472" y="1750110"/>
                </a:lnTo>
                <a:lnTo>
                  <a:pt x="10431" y="1746955"/>
                </a:lnTo>
                <a:lnTo>
                  <a:pt x="8390" y="1743348"/>
                </a:lnTo>
                <a:lnTo>
                  <a:pt x="6803" y="1740193"/>
                </a:lnTo>
                <a:lnTo>
                  <a:pt x="5442" y="1736361"/>
                </a:lnTo>
                <a:lnTo>
                  <a:pt x="3855" y="1732755"/>
                </a:lnTo>
                <a:lnTo>
                  <a:pt x="2948" y="1729148"/>
                </a:lnTo>
                <a:lnTo>
                  <a:pt x="1814" y="1725317"/>
                </a:lnTo>
                <a:lnTo>
                  <a:pt x="1134" y="1721485"/>
                </a:lnTo>
                <a:lnTo>
                  <a:pt x="680" y="1717428"/>
                </a:lnTo>
                <a:lnTo>
                  <a:pt x="227" y="1713822"/>
                </a:lnTo>
                <a:lnTo>
                  <a:pt x="0" y="1709764"/>
                </a:lnTo>
                <a:lnTo>
                  <a:pt x="0" y="1644625"/>
                </a:lnTo>
                <a:lnTo>
                  <a:pt x="227" y="1640568"/>
                </a:lnTo>
                <a:lnTo>
                  <a:pt x="680" y="1636736"/>
                </a:lnTo>
                <a:lnTo>
                  <a:pt x="1134" y="1632679"/>
                </a:lnTo>
                <a:lnTo>
                  <a:pt x="1814" y="1629073"/>
                </a:lnTo>
                <a:lnTo>
                  <a:pt x="2948" y="1625241"/>
                </a:lnTo>
                <a:lnTo>
                  <a:pt x="3855" y="1621409"/>
                </a:lnTo>
                <a:lnTo>
                  <a:pt x="5442" y="1618028"/>
                </a:lnTo>
                <a:lnTo>
                  <a:pt x="6803" y="1614196"/>
                </a:lnTo>
                <a:lnTo>
                  <a:pt x="8390" y="1610815"/>
                </a:lnTo>
                <a:lnTo>
                  <a:pt x="10431" y="1607434"/>
                </a:lnTo>
                <a:lnTo>
                  <a:pt x="12472" y="1604054"/>
                </a:lnTo>
                <a:lnTo>
                  <a:pt x="14513" y="1601123"/>
                </a:lnTo>
                <a:lnTo>
                  <a:pt x="17007" y="1597968"/>
                </a:lnTo>
                <a:lnTo>
                  <a:pt x="19502" y="1595038"/>
                </a:lnTo>
                <a:lnTo>
                  <a:pt x="21996" y="1592108"/>
                </a:lnTo>
                <a:lnTo>
                  <a:pt x="24717" y="1589628"/>
                </a:lnTo>
                <a:lnTo>
                  <a:pt x="27892" y="1586923"/>
                </a:lnTo>
                <a:lnTo>
                  <a:pt x="30840" y="1584669"/>
                </a:lnTo>
                <a:lnTo>
                  <a:pt x="33788" y="1581965"/>
                </a:lnTo>
                <a:lnTo>
                  <a:pt x="37416" y="1580162"/>
                </a:lnTo>
                <a:lnTo>
                  <a:pt x="40591" y="1578133"/>
                </a:lnTo>
                <a:lnTo>
                  <a:pt x="44219" y="1576104"/>
                </a:lnTo>
                <a:lnTo>
                  <a:pt x="48074" y="1574301"/>
                </a:lnTo>
                <a:lnTo>
                  <a:pt x="51476" y="1572723"/>
                </a:lnTo>
                <a:lnTo>
                  <a:pt x="55558" y="1571596"/>
                </a:lnTo>
                <a:lnTo>
                  <a:pt x="59413" y="1570244"/>
                </a:lnTo>
                <a:lnTo>
                  <a:pt x="63494" y="1569117"/>
                </a:lnTo>
                <a:lnTo>
                  <a:pt x="67349" y="1568216"/>
                </a:lnTo>
                <a:lnTo>
                  <a:pt x="71431" y="1567539"/>
                </a:lnTo>
                <a:lnTo>
                  <a:pt x="75740" y="1567089"/>
                </a:lnTo>
                <a:lnTo>
                  <a:pt x="80048" y="1566863"/>
                </a:lnTo>
                <a:close/>
                <a:moveTo>
                  <a:pt x="837043" y="738188"/>
                </a:moveTo>
                <a:lnTo>
                  <a:pt x="839735" y="738188"/>
                </a:lnTo>
                <a:lnTo>
                  <a:pt x="912639" y="738188"/>
                </a:lnTo>
                <a:lnTo>
                  <a:pt x="915107" y="738188"/>
                </a:lnTo>
                <a:lnTo>
                  <a:pt x="917575" y="738870"/>
                </a:lnTo>
                <a:lnTo>
                  <a:pt x="920042" y="739324"/>
                </a:lnTo>
                <a:lnTo>
                  <a:pt x="922285" y="740232"/>
                </a:lnTo>
                <a:lnTo>
                  <a:pt x="924529" y="741368"/>
                </a:lnTo>
                <a:lnTo>
                  <a:pt x="926772" y="742504"/>
                </a:lnTo>
                <a:lnTo>
                  <a:pt x="928791" y="743867"/>
                </a:lnTo>
                <a:lnTo>
                  <a:pt x="930585" y="745684"/>
                </a:lnTo>
                <a:lnTo>
                  <a:pt x="932155" y="747047"/>
                </a:lnTo>
                <a:lnTo>
                  <a:pt x="933501" y="749091"/>
                </a:lnTo>
                <a:lnTo>
                  <a:pt x="934847" y="751135"/>
                </a:lnTo>
                <a:lnTo>
                  <a:pt x="936193" y="753407"/>
                </a:lnTo>
                <a:lnTo>
                  <a:pt x="936866" y="755678"/>
                </a:lnTo>
                <a:lnTo>
                  <a:pt x="937315" y="757950"/>
                </a:lnTo>
                <a:lnTo>
                  <a:pt x="937763" y="760448"/>
                </a:lnTo>
                <a:lnTo>
                  <a:pt x="938212" y="762947"/>
                </a:lnTo>
                <a:lnTo>
                  <a:pt x="938212" y="1145229"/>
                </a:lnTo>
                <a:lnTo>
                  <a:pt x="937763" y="1147728"/>
                </a:lnTo>
                <a:lnTo>
                  <a:pt x="937315" y="1150227"/>
                </a:lnTo>
                <a:lnTo>
                  <a:pt x="936866" y="1152498"/>
                </a:lnTo>
                <a:lnTo>
                  <a:pt x="936193" y="1154770"/>
                </a:lnTo>
                <a:lnTo>
                  <a:pt x="934847" y="1157041"/>
                </a:lnTo>
                <a:lnTo>
                  <a:pt x="933501" y="1159085"/>
                </a:lnTo>
                <a:lnTo>
                  <a:pt x="932155" y="1160902"/>
                </a:lnTo>
                <a:lnTo>
                  <a:pt x="930585" y="1162720"/>
                </a:lnTo>
                <a:lnTo>
                  <a:pt x="928791" y="1164537"/>
                </a:lnTo>
                <a:lnTo>
                  <a:pt x="926772" y="1165672"/>
                </a:lnTo>
                <a:lnTo>
                  <a:pt x="924529" y="1167035"/>
                </a:lnTo>
                <a:lnTo>
                  <a:pt x="922285" y="1167944"/>
                </a:lnTo>
                <a:lnTo>
                  <a:pt x="920042" y="1168852"/>
                </a:lnTo>
                <a:lnTo>
                  <a:pt x="917575" y="1169534"/>
                </a:lnTo>
                <a:lnTo>
                  <a:pt x="915107" y="1169761"/>
                </a:lnTo>
                <a:lnTo>
                  <a:pt x="912639" y="1169988"/>
                </a:lnTo>
                <a:lnTo>
                  <a:pt x="839735" y="1169988"/>
                </a:lnTo>
                <a:lnTo>
                  <a:pt x="837043" y="1169761"/>
                </a:lnTo>
                <a:lnTo>
                  <a:pt x="834576" y="1169534"/>
                </a:lnTo>
                <a:lnTo>
                  <a:pt x="832108" y="1168852"/>
                </a:lnTo>
                <a:lnTo>
                  <a:pt x="829865" y="1167944"/>
                </a:lnTo>
                <a:lnTo>
                  <a:pt x="827622" y="1167035"/>
                </a:lnTo>
                <a:lnTo>
                  <a:pt x="825603" y="1165672"/>
                </a:lnTo>
                <a:lnTo>
                  <a:pt x="823584" y="1164537"/>
                </a:lnTo>
                <a:lnTo>
                  <a:pt x="821790" y="1162720"/>
                </a:lnTo>
                <a:lnTo>
                  <a:pt x="819995" y="1160902"/>
                </a:lnTo>
                <a:lnTo>
                  <a:pt x="818649" y="1159085"/>
                </a:lnTo>
                <a:lnTo>
                  <a:pt x="817303" y="1157041"/>
                </a:lnTo>
                <a:lnTo>
                  <a:pt x="816406" y="1154770"/>
                </a:lnTo>
                <a:lnTo>
                  <a:pt x="815284" y="1152498"/>
                </a:lnTo>
                <a:lnTo>
                  <a:pt x="814836" y="1150227"/>
                </a:lnTo>
                <a:lnTo>
                  <a:pt x="814387" y="1147728"/>
                </a:lnTo>
                <a:lnTo>
                  <a:pt x="814387" y="1145229"/>
                </a:lnTo>
                <a:lnTo>
                  <a:pt x="814387" y="762947"/>
                </a:lnTo>
                <a:lnTo>
                  <a:pt x="814387" y="760448"/>
                </a:lnTo>
                <a:lnTo>
                  <a:pt x="814836" y="757950"/>
                </a:lnTo>
                <a:lnTo>
                  <a:pt x="815284" y="755678"/>
                </a:lnTo>
                <a:lnTo>
                  <a:pt x="816406" y="753407"/>
                </a:lnTo>
                <a:lnTo>
                  <a:pt x="817303" y="751135"/>
                </a:lnTo>
                <a:lnTo>
                  <a:pt x="818649" y="749091"/>
                </a:lnTo>
                <a:lnTo>
                  <a:pt x="819995" y="747047"/>
                </a:lnTo>
                <a:lnTo>
                  <a:pt x="821790" y="745684"/>
                </a:lnTo>
                <a:lnTo>
                  <a:pt x="823584" y="743867"/>
                </a:lnTo>
                <a:lnTo>
                  <a:pt x="825603" y="742504"/>
                </a:lnTo>
                <a:lnTo>
                  <a:pt x="827622" y="741368"/>
                </a:lnTo>
                <a:lnTo>
                  <a:pt x="829865" y="740232"/>
                </a:lnTo>
                <a:lnTo>
                  <a:pt x="832108" y="739324"/>
                </a:lnTo>
                <a:lnTo>
                  <a:pt x="834576" y="738870"/>
                </a:lnTo>
                <a:lnTo>
                  <a:pt x="837043" y="738188"/>
                </a:lnTo>
                <a:close/>
                <a:moveTo>
                  <a:pt x="1318322" y="671513"/>
                </a:moveTo>
                <a:lnTo>
                  <a:pt x="1320794" y="671513"/>
                </a:lnTo>
                <a:lnTo>
                  <a:pt x="1394056" y="671513"/>
                </a:lnTo>
                <a:lnTo>
                  <a:pt x="1396528" y="671513"/>
                </a:lnTo>
                <a:lnTo>
                  <a:pt x="1399000" y="671966"/>
                </a:lnTo>
                <a:lnTo>
                  <a:pt x="1401472" y="672873"/>
                </a:lnTo>
                <a:lnTo>
                  <a:pt x="1403719" y="673553"/>
                </a:lnTo>
                <a:lnTo>
                  <a:pt x="1405966" y="674913"/>
                </a:lnTo>
                <a:lnTo>
                  <a:pt x="1408213" y="676273"/>
                </a:lnTo>
                <a:lnTo>
                  <a:pt x="1410011" y="677860"/>
                </a:lnTo>
                <a:lnTo>
                  <a:pt x="1412034" y="679900"/>
                </a:lnTo>
                <a:lnTo>
                  <a:pt x="1413607" y="681941"/>
                </a:lnTo>
                <a:lnTo>
                  <a:pt x="1414955" y="683981"/>
                </a:lnTo>
                <a:lnTo>
                  <a:pt x="1416304" y="686474"/>
                </a:lnTo>
                <a:lnTo>
                  <a:pt x="1417203" y="688968"/>
                </a:lnTo>
                <a:lnTo>
                  <a:pt x="1418326" y="691461"/>
                </a:lnTo>
                <a:lnTo>
                  <a:pt x="1418776" y="694181"/>
                </a:lnTo>
                <a:lnTo>
                  <a:pt x="1419225" y="696902"/>
                </a:lnTo>
                <a:lnTo>
                  <a:pt x="1419225" y="699848"/>
                </a:lnTo>
                <a:lnTo>
                  <a:pt x="1419225" y="1141426"/>
                </a:lnTo>
                <a:lnTo>
                  <a:pt x="1419225" y="1144373"/>
                </a:lnTo>
                <a:lnTo>
                  <a:pt x="1418776" y="1147320"/>
                </a:lnTo>
                <a:lnTo>
                  <a:pt x="1418326" y="1149813"/>
                </a:lnTo>
                <a:lnTo>
                  <a:pt x="1417203" y="1152534"/>
                </a:lnTo>
                <a:lnTo>
                  <a:pt x="1416304" y="1155254"/>
                </a:lnTo>
                <a:lnTo>
                  <a:pt x="1414955" y="1157521"/>
                </a:lnTo>
                <a:lnTo>
                  <a:pt x="1413607" y="1159787"/>
                </a:lnTo>
                <a:lnTo>
                  <a:pt x="1412034" y="1161601"/>
                </a:lnTo>
                <a:lnTo>
                  <a:pt x="1410011" y="1163414"/>
                </a:lnTo>
                <a:lnTo>
                  <a:pt x="1408213" y="1165228"/>
                </a:lnTo>
                <a:lnTo>
                  <a:pt x="1405966" y="1166588"/>
                </a:lnTo>
                <a:lnTo>
                  <a:pt x="1403719" y="1167721"/>
                </a:lnTo>
                <a:lnTo>
                  <a:pt x="1401472" y="1168855"/>
                </a:lnTo>
                <a:lnTo>
                  <a:pt x="1399000" y="1169535"/>
                </a:lnTo>
                <a:lnTo>
                  <a:pt x="1396528" y="1169761"/>
                </a:lnTo>
                <a:lnTo>
                  <a:pt x="1394056" y="1169988"/>
                </a:lnTo>
                <a:lnTo>
                  <a:pt x="1320794" y="1169988"/>
                </a:lnTo>
                <a:lnTo>
                  <a:pt x="1318322" y="1169761"/>
                </a:lnTo>
                <a:lnTo>
                  <a:pt x="1315850" y="1169535"/>
                </a:lnTo>
                <a:lnTo>
                  <a:pt x="1313154" y="1168855"/>
                </a:lnTo>
                <a:lnTo>
                  <a:pt x="1310906" y="1167721"/>
                </a:lnTo>
                <a:lnTo>
                  <a:pt x="1308659" y="1166588"/>
                </a:lnTo>
                <a:lnTo>
                  <a:pt x="1306861" y="1165228"/>
                </a:lnTo>
                <a:lnTo>
                  <a:pt x="1304839" y="1163414"/>
                </a:lnTo>
                <a:lnTo>
                  <a:pt x="1303041" y="1161601"/>
                </a:lnTo>
                <a:lnTo>
                  <a:pt x="1301243" y="1159787"/>
                </a:lnTo>
                <a:lnTo>
                  <a:pt x="1299670" y="1157521"/>
                </a:lnTo>
                <a:lnTo>
                  <a:pt x="1298546" y="1155254"/>
                </a:lnTo>
                <a:lnTo>
                  <a:pt x="1297423" y="1152534"/>
                </a:lnTo>
                <a:lnTo>
                  <a:pt x="1296524" y="1149813"/>
                </a:lnTo>
                <a:lnTo>
                  <a:pt x="1296074" y="1147320"/>
                </a:lnTo>
                <a:lnTo>
                  <a:pt x="1295400" y="1144373"/>
                </a:lnTo>
                <a:lnTo>
                  <a:pt x="1295400" y="1141426"/>
                </a:lnTo>
                <a:lnTo>
                  <a:pt x="1295400" y="699848"/>
                </a:lnTo>
                <a:lnTo>
                  <a:pt x="1295400" y="696902"/>
                </a:lnTo>
                <a:lnTo>
                  <a:pt x="1296074" y="694181"/>
                </a:lnTo>
                <a:lnTo>
                  <a:pt x="1296524" y="691461"/>
                </a:lnTo>
                <a:lnTo>
                  <a:pt x="1297423" y="688968"/>
                </a:lnTo>
                <a:lnTo>
                  <a:pt x="1298546" y="686474"/>
                </a:lnTo>
                <a:lnTo>
                  <a:pt x="1299670" y="683981"/>
                </a:lnTo>
                <a:lnTo>
                  <a:pt x="1301243" y="681941"/>
                </a:lnTo>
                <a:lnTo>
                  <a:pt x="1303041" y="679900"/>
                </a:lnTo>
                <a:lnTo>
                  <a:pt x="1304839" y="677860"/>
                </a:lnTo>
                <a:lnTo>
                  <a:pt x="1306861" y="676273"/>
                </a:lnTo>
                <a:lnTo>
                  <a:pt x="1308659" y="674913"/>
                </a:lnTo>
                <a:lnTo>
                  <a:pt x="1310906" y="673553"/>
                </a:lnTo>
                <a:lnTo>
                  <a:pt x="1313154" y="672873"/>
                </a:lnTo>
                <a:lnTo>
                  <a:pt x="1315850" y="671966"/>
                </a:lnTo>
                <a:lnTo>
                  <a:pt x="1318322" y="671513"/>
                </a:lnTo>
                <a:close/>
                <a:moveTo>
                  <a:pt x="988416" y="671513"/>
                </a:moveTo>
                <a:lnTo>
                  <a:pt x="990920" y="671513"/>
                </a:lnTo>
                <a:lnTo>
                  <a:pt x="1065121" y="671513"/>
                </a:lnTo>
                <a:lnTo>
                  <a:pt x="1067624" y="671513"/>
                </a:lnTo>
                <a:lnTo>
                  <a:pt x="1070128" y="671966"/>
                </a:lnTo>
                <a:lnTo>
                  <a:pt x="1072632" y="672873"/>
                </a:lnTo>
                <a:lnTo>
                  <a:pt x="1074908" y="673553"/>
                </a:lnTo>
                <a:lnTo>
                  <a:pt x="1077184" y="674913"/>
                </a:lnTo>
                <a:lnTo>
                  <a:pt x="1079460" y="676273"/>
                </a:lnTo>
                <a:lnTo>
                  <a:pt x="1081281" y="677860"/>
                </a:lnTo>
                <a:lnTo>
                  <a:pt x="1083330" y="679900"/>
                </a:lnTo>
                <a:lnTo>
                  <a:pt x="1084923" y="681941"/>
                </a:lnTo>
                <a:lnTo>
                  <a:pt x="1086288" y="683981"/>
                </a:lnTo>
                <a:lnTo>
                  <a:pt x="1087654" y="686474"/>
                </a:lnTo>
                <a:lnTo>
                  <a:pt x="1088565" y="688968"/>
                </a:lnTo>
                <a:lnTo>
                  <a:pt x="1089703" y="691461"/>
                </a:lnTo>
                <a:lnTo>
                  <a:pt x="1090158" y="694181"/>
                </a:lnTo>
                <a:lnTo>
                  <a:pt x="1090613" y="696902"/>
                </a:lnTo>
                <a:lnTo>
                  <a:pt x="1090613" y="699848"/>
                </a:lnTo>
                <a:lnTo>
                  <a:pt x="1090613" y="1141426"/>
                </a:lnTo>
                <a:lnTo>
                  <a:pt x="1090613" y="1144373"/>
                </a:lnTo>
                <a:lnTo>
                  <a:pt x="1090158" y="1147320"/>
                </a:lnTo>
                <a:lnTo>
                  <a:pt x="1089703" y="1149813"/>
                </a:lnTo>
                <a:lnTo>
                  <a:pt x="1088565" y="1152534"/>
                </a:lnTo>
                <a:lnTo>
                  <a:pt x="1087654" y="1155254"/>
                </a:lnTo>
                <a:lnTo>
                  <a:pt x="1086288" y="1157521"/>
                </a:lnTo>
                <a:lnTo>
                  <a:pt x="1084923" y="1159787"/>
                </a:lnTo>
                <a:lnTo>
                  <a:pt x="1083330" y="1161601"/>
                </a:lnTo>
                <a:lnTo>
                  <a:pt x="1081281" y="1163414"/>
                </a:lnTo>
                <a:lnTo>
                  <a:pt x="1079460" y="1165228"/>
                </a:lnTo>
                <a:lnTo>
                  <a:pt x="1077184" y="1166588"/>
                </a:lnTo>
                <a:lnTo>
                  <a:pt x="1074908" y="1167721"/>
                </a:lnTo>
                <a:lnTo>
                  <a:pt x="1072632" y="1168855"/>
                </a:lnTo>
                <a:lnTo>
                  <a:pt x="1070128" y="1169535"/>
                </a:lnTo>
                <a:lnTo>
                  <a:pt x="1067624" y="1169761"/>
                </a:lnTo>
                <a:lnTo>
                  <a:pt x="1065121" y="1169988"/>
                </a:lnTo>
                <a:lnTo>
                  <a:pt x="990920" y="1169988"/>
                </a:lnTo>
                <a:lnTo>
                  <a:pt x="988416" y="1169761"/>
                </a:lnTo>
                <a:lnTo>
                  <a:pt x="985685" y="1169535"/>
                </a:lnTo>
                <a:lnTo>
                  <a:pt x="983181" y="1168855"/>
                </a:lnTo>
                <a:lnTo>
                  <a:pt x="980905" y="1167721"/>
                </a:lnTo>
                <a:lnTo>
                  <a:pt x="978629" y="1166588"/>
                </a:lnTo>
                <a:lnTo>
                  <a:pt x="976581" y="1165228"/>
                </a:lnTo>
                <a:lnTo>
                  <a:pt x="974532" y="1163414"/>
                </a:lnTo>
                <a:lnTo>
                  <a:pt x="972939" y="1161601"/>
                </a:lnTo>
                <a:lnTo>
                  <a:pt x="971118" y="1159787"/>
                </a:lnTo>
                <a:lnTo>
                  <a:pt x="969525" y="1157521"/>
                </a:lnTo>
                <a:lnTo>
                  <a:pt x="968387" y="1155254"/>
                </a:lnTo>
                <a:lnTo>
                  <a:pt x="967249" y="1152534"/>
                </a:lnTo>
                <a:lnTo>
                  <a:pt x="966338" y="1149813"/>
                </a:lnTo>
                <a:lnTo>
                  <a:pt x="965883" y="1147320"/>
                </a:lnTo>
                <a:lnTo>
                  <a:pt x="965200" y="1144373"/>
                </a:lnTo>
                <a:lnTo>
                  <a:pt x="965200" y="1141426"/>
                </a:lnTo>
                <a:lnTo>
                  <a:pt x="965200" y="699848"/>
                </a:lnTo>
                <a:lnTo>
                  <a:pt x="965200" y="696902"/>
                </a:lnTo>
                <a:lnTo>
                  <a:pt x="965883" y="694181"/>
                </a:lnTo>
                <a:lnTo>
                  <a:pt x="966338" y="691461"/>
                </a:lnTo>
                <a:lnTo>
                  <a:pt x="967249" y="688968"/>
                </a:lnTo>
                <a:lnTo>
                  <a:pt x="968387" y="686474"/>
                </a:lnTo>
                <a:lnTo>
                  <a:pt x="969525" y="683981"/>
                </a:lnTo>
                <a:lnTo>
                  <a:pt x="971118" y="681941"/>
                </a:lnTo>
                <a:lnTo>
                  <a:pt x="972939" y="679900"/>
                </a:lnTo>
                <a:lnTo>
                  <a:pt x="974532" y="677860"/>
                </a:lnTo>
                <a:lnTo>
                  <a:pt x="976581" y="676273"/>
                </a:lnTo>
                <a:lnTo>
                  <a:pt x="978629" y="674913"/>
                </a:lnTo>
                <a:lnTo>
                  <a:pt x="980905" y="673553"/>
                </a:lnTo>
                <a:lnTo>
                  <a:pt x="983181" y="672873"/>
                </a:lnTo>
                <a:lnTo>
                  <a:pt x="985685" y="671966"/>
                </a:lnTo>
                <a:lnTo>
                  <a:pt x="988416" y="671513"/>
                </a:lnTo>
                <a:close/>
                <a:moveTo>
                  <a:pt x="1471932" y="590550"/>
                </a:moveTo>
                <a:lnTo>
                  <a:pt x="1546133" y="590550"/>
                </a:lnTo>
                <a:lnTo>
                  <a:pt x="1548636" y="590777"/>
                </a:lnTo>
                <a:lnTo>
                  <a:pt x="1551140" y="591231"/>
                </a:lnTo>
                <a:lnTo>
                  <a:pt x="1553644" y="592139"/>
                </a:lnTo>
                <a:lnTo>
                  <a:pt x="1555920" y="593274"/>
                </a:lnTo>
                <a:lnTo>
                  <a:pt x="1558196" y="594635"/>
                </a:lnTo>
                <a:lnTo>
                  <a:pt x="1560472" y="596451"/>
                </a:lnTo>
                <a:lnTo>
                  <a:pt x="1562293" y="598267"/>
                </a:lnTo>
                <a:lnTo>
                  <a:pt x="1564342" y="600537"/>
                </a:lnTo>
                <a:lnTo>
                  <a:pt x="1565707" y="602806"/>
                </a:lnTo>
                <a:lnTo>
                  <a:pt x="1567300" y="605303"/>
                </a:lnTo>
                <a:lnTo>
                  <a:pt x="1568666" y="608026"/>
                </a:lnTo>
                <a:lnTo>
                  <a:pt x="1569577" y="610750"/>
                </a:lnTo>
                <a:lnTo>
                  <a:pt x="1570487" y="613927"/>
                </a:lnTo>
                <a:lnTo>
                  <a:pt x="1571170" y="617105"/>
                </a:lnTo>
                <a:lnTo>
                  <a:pt x="1571625" y="620282"/>
                </a:lnTo>
                <a:lnTo>
                  <a:pt x="1571625" y="623687"/>
                </a:lnTo>
                <a:lnTo>
                  <a:pt x="1571625" y="1136851"/>
                </a:lnTo>
                <a:lnTo>
                  <a:pt x="1571625" y="1140256"/>
                </a:lnTo>
                <a:lnTo>
                  <a:pt x="1571170" y="1143433"/>
                </a:lnTo>
                <a:lnTo>
                  <a:pt x="1570487" y="1146838"/>
                </a:lnTo>
                <a:lnTo>
                  <a:pt x="1569577" y="1149788"/>
                </a:lnTo>
                <a:lnTo>
                  <a:pt x="1568666" y="1152512"/>
                </a:lnTo>
                <a:lnTo>
                  <a:pt x="1567300" y="1155462"/>
                </a:lnTo>
                <a:lnTo>
                  <a:pt x="1565707" y="1157959"/>
                </a:lnTo>
                <a:lnTo>
                  <a:pt x="1564342" y="1160229"/>
                </a:lnTo>
                <a:lnTo>
                  <a:pt x="1562293" y="1162498"/>
                </a:lnTo>
                <a:lnTo>
                  <a:pt x="1560472" y="1164314"/>
                </a:lnTo>
                <a:lnTo>
                  <a:pt x="1558196" y="1165903"/>
                </a:lnTo>
                <a:lnTo>
                  <a:pt x="1555920" y="1167492"/>
                </a:lnTo>
                <a:lnTo>
                  <a:pt x="1553644" y="1168399"/>
                </a:lnTo>
                <a:lnTo>
                  <a:pt x="1551140" y="1169307"/>
                </a:lnTo>
                <a:lnTo>
                  <a:pt x="1548636" y="1169761"/>
                </a:lnTo>
                <a:lnTo>
                  <a:pt x="1546133" y="1169988"/>
                </a:lnTo>
                <a:lnTo>
                  <a:pt x="1471932" y="1169988"/>
                </a:lnTo>
                <a:lnTo>
                  <a:pt x="1469201" y="1169761"/>
                </a:lnTo>
                <a:lnTo>
                  <a:pt x="1466697" y="1169307"/>
                </a:lnTo>
                <a:lnTo>
                  <a:pt x="1464193" y="1168399"/>
                </a:lnTo>
                <a:lnTo>
                  <a:pt x="1461917" y="1167492"/>
                </a:lnTo>
                <a:lnTo>
                  <a:pt x="1459641" y="1165903"/>
                </a:lnTo>
                <a:lnTo>
                  <a:pt x="1457593" y="1164314"/>
                </a:lnTo>
                <a:lnTo>
                  <a:pt x="1455544" y="1162498"/>
                </a:lnTo>
                <a:lnTo>
                  <a:pt x="1453496" y="1160229"/>
                </a:lnTo>
                <a:lnTo>
                  <a:pt x="1452130" y="1157959"/>
                </a:lnTo>
                <a:lnTo>
                  <a:pt x="1450537" y="1155462"/>
                </a:lnTo>
                <a:lnTo>
                  <a:pt x="1449399" y="1152512"/>
                </a:lnTo>
                <a:lnTo>
                  <a:pt x="1448261" y="1149788"/>
                </a:lnTo>
                <a:lnTo>
                  <a:pt x="1447350" y="1146838"/>
                </a:lnTo>
                <a:lnTo>
                  <a:pt x="1446667" y="1143433"/>
                </a:lnTo>
                <a:lnTo>
                  <a:pt x="1446212" y="1140256"/>
                </a:lnTo>
                <a:lnTo>
                  <a:pt x="1446212" y="1136851"/>
                </a:lnTo>
                <a:lnTo>
                  <a:pt x="1446212" y="623687"/>
                </a:lnTo>
                <a:lnTo>
                  <a:pt x="1446212" y="620282"/>
                </a:lnTo>
                <a:lnTo>
                  <a:pt x="1446667" y="617105"/>
                </a:lnTo>
                <a:lnTo>
                  <a:pt x="1447350" y="613927"/>
                </a:lnTo>
                <a:lnTo>
                  <a:pt x="1448261" y="610750"/>
                </a:lnTo>
                <a:lnTo>
                  <a:pt x="1449399" y="608026"/>
                </a:lnTo>
                <a:lnTo>
                  <a:pt x="1450537" y="605303"/>
                </a:lnTo>
                <a:lnTo>
                  <a:pt x="1452130" y="602806"/>
                </a:lnTo>
                <a:lnTo>
                  <a:pt x="1453496" y="600537"/>
                </a:lnTo>
                <a:lnTo>
                  <a:pt x="1455544" y="598267"/>
                </a:lnTo>
                <a:lnTo>
                  <a:pt x="1457593" y="596451"/>
                </a:lnTo>
                <a:lnTo>
                  <a:pt x="1459641" y="594635"/>
                </a:lnTo>
                <a:lnTo>
                  <a:pt x="1461917" y="593274"/>
                </a:lnTo>
                <a:lnTo>
                  <a:pt x="1464193" y="592139"/>
                </a:lnTo>
                <a:lnTo>
                  <a:pt x="1466697" y="591231"/>
                </a:lnTo>
                <a:lnTo>
                  <a:pt x="1469201" y="590777"/>
                </a:lnTo>
                <a:lnTo>
                  <a:pt x="1471932" y="590550"/>
                </a:lnTo>
                <a:close/>
                <a:moveTo>
                  <a:pt x="1152617" y="590550"/>
                </a:moveTo>
                <a:lnTo>
                  <a:pt x="1226818" y="590550"/>
                </a:lnTo>
                <a:lnTo>
                  <a:pt x="1229322" y="590777"/>
                </a:lnTo>
                <a:lnTo>
                  <a:pt x="1232053" y="591231"/>
                </a:lnTo>
                <a:lnTo>
                  <a:pt x="1234557" y="592139"/>
                </a:lnTo>
                <a:lnTo>
                  <a:pt x="1236833" y="593274"/>
                </a:lnTo>
                <a:lnTo>
                  <a:pt x="1239109" y="594635"/>
                </a:lnTo>
                <a:lnTo>
                  <a:pt x="1241158" y="596451"/>
                </a:lnTo>
                <a:lnTo>
                  <a:pt x="1242978" y="598267"/>
                </a:lnTo>
                <a:lnTo>
                  <a:pt x="1244799" y="600537"/>
                </a:lnTo>
                <a:lnTo>
                  <a:pt x="1246620" y="602806"/>
                </a:lnTo>
                <a:lnTo>
                  <a:pt x="1248213" y="605303"/>
                </a:lnTo>
                <a:lnTo>
                  <a:pt x="1249352" y="608026"/>
                </a:lnTo>
                <a:lnTo>
                  <a:pt x="1250490" y="610750"/>
                </a:lnTo>
                <a:lnTo>
                  <a:pt x="1251400" y="613927"/>
                </a:lnTo>
                <a:lnTo>
                  <a:pt x="1251855" y="617105"/>
                </a:lnTo>
                <a:lnTo>
                  <a:pt x="1252538" y="620282"/>
                </a:lnTo>
                <a:lnTo>
                  <a:pt x="1252538" y="623687"/>
                </a:lnTo>
                <a:lnTo>
                  <a:pt x="1252538" y="1136851"/>
                </a:lnTo>
                <a:lnTo>
                  <a:pt x="1252538" y="1140256"/>
                </a:lnTo>
                <a:lnTo>
                  <a:pt x="1251855" y="1143433"/>
                </a:lnTo>
                <a:lnTo>
                  <a:pt x="1251400" y="1146838"/>
                </a:lnTo>
                <a:lnTo>
                  <a:pt x="1250490" y="1149788"/>
                </a:lnTo>
                <a:lnTo>
                  <a:pt x="1249352" y="1152512"/>
                </a:lnTo>
                <a:lnTo>
                  <a:pt x="1248213" y="1155462"/>
                </a:lnTo>
                <a:lnTo>
                  <a:pt x="1246620" y="1157959"/>
                </a:lnTo>
                <a:lnTo>
                  <a:pt x="1244799" y="1160229"/>
                </a:lnTo>
                <a:lnTo>
                  <a:pt x="1242978" y="1162498"/>
                </a:lnTo>
                <a:lnTo>
                  <a:pt x="1241158" y="1164314"/>
                </a:lnTo>
                <a:lnTo>
                  <a:pt x="1239109" y="1165903"/>
                </a:lnTo>
                <a:lnTo>
                  <a:pt x="1236833" y="1167492"/>
                </a:lnTo>
                <a:lnTo>
                  <a:pt x="1234557" y="1168399"/>
                </a:lnTo>
                <a:lnTo>
                  <a:pt x="1232053" y="1169307"/>
                </a:lnTo>
                <a:lnTo>
                  <a:pt x="1229322" y="1169761"/>
                </a:lnTo>
                <a:lnTo>
                  <a:pt x="1226818" y="1169988"/>
                </a:lnTo>
                <a:lnTo>
                  <a:pt x="1152617" y="1169988"/>
                </a:lnTo>
                <a:lnTo>
                  <a:pt x="1150114" y="1169761"/>
                </a:lnTo>
                <a:lnTo>
                  <a:pt x="1147610" y="1169307"/>
                </a:lnTo>
                <a:lnTo>
                  <a:pt x="1145106" y="1168399"/>
                </a:lnTo>
                <a:lnTo>
                  <a:pt x="1142830" y="1167492"/>
                </a:lnTo>
                <a:lnTo>
                  <a:pt x="1140554" y="1165903"/>
                </a:lnTo>
                <a:lnTo>
                  <a:pt x="1138278" y="1164314"/>
                </a:lnTo>
                <a:lnTo>
                  <a:pt x="1136457" y="1162498"/>
                </a:lnTo>
                <a:lnTo>
                  <a:pt x="1134409" y="1160229"/>
                </a:lnTo>
                <a:lnTo>
                  <a:pt x="1132815" y="1157959"/>
                </a:lnTo>
                <a:lnTo>
                  <a:pt x="1131450" y="1155462"/>
                </a:lnTo>
                <a:lnTo>
                  <a:pt x="1130084" y="1152512"/>
                </a:lnTo>
                <a:lnTo>
                  <a:pt x="1129174" y="1149788"/>
                </a:lnTo>
                <a:lnTo>
                  <a:pt x="1128036" y="1146838"/>
                </a:lnTo>
                <a:lnTo>
                  <a:pt x="1127580" y="1143433"/>
                </a:lnTo>
                <a:lnTo>
                  <a:pt x="1127125" y="1140256"/>
                </a:lnTo>
                <a:lnTo>
                  <a:pt x="1127125" y="1136851"/>
                </a:lnTo>
                <a:lnTo>
                  <a:pt x="1127125" y="623687"/>
                </a:lnTo>
                <a:lnTo>
                  <a:pt x="1127125" y="620282"/>
                </a:lnTo>
                <a:lnTo>
                  <a:pt x="1127580" y="617105"/>
                </a:lnTo>
                <a:lnTo>
                  <a:pt x="1128036" y="613927"/>
                </a:lnTo>
                <a:lnTo>
                  <a:pt x="1129174" y="610750"/>
                </a:lnTo>
                <a:lnTo>
                  <a:pt x="1130084" y="608026"/>
                </a:lnTo>
                <a:lnTo>
                  <a:pt x="1131450" y="605303"/>
                </a:lnTo>
                <a:lnTo>
                  <a:pt x="1132815" y="602806"/>
                </a:lnTo>
                <a:lnTo>
                  <a:pt x="1134409" y="600537"/>
                </a:lnTo>
                <a:lnTo>
                  <a:pt x="1136457" y="598267"/>
                </a:lnTo>
                <a:lnTo>
                  <a:pt x="1138278" y="596451"/>
                </a:lnTo>
                <a:lnTo>
                  <a:pt x="1140554" y="594635"/>
                </a:lnTo>
                <a:lnTo>
                  <a:pt x="1142830" y="593274"/>
                </a:lnTo>
                <a:lnTo>
                  <a:pt x="1145106" y="592139"/>
                </a:lnTo>
                <a:lnTo>
                  <a:pt x="1147610" y="591231"/>
                </a:lnTo>
                <a:lnTo>
                  <a:pt x="1150114" y="590777"/>
                </a:lnTo>
                <a:lnTo>
                  <a:pt x="1152617" y="590550"/>
                </a:lnTo>
                <a:close/>
                <a:moveTo>
                  <a:pt x="1633857" y="508000"/>
                </a:moveTo>
                <a:lnTo>
                  <a:pt x="1707830" y="508000"/>
                </a:lnTo>
                <a:lnTo>
                  <a:pt x="1710561" y="508227"/>
                </a:lnTo>
                <a:lnTo>
                  <a:pt x="1713065" y="508680"/>
                </a:lnTo>
                <a:lnTo>
                  <a:pt x="1715797" y="509814"/>
                </a:lnTo>
                <a:lnTo>
                  <a:pt x="1718073" y="510947"/>
                </a:lnTo>
                <a:lnTo>
                  <a:pt x="1720349" y="512534"/>
                </a:lnTo>
                <a:lnTo>
                  <a:pt x="1722170" y="514575"/>
                </a:lnTo>
                <a:lnTo>
                  <a:pt x="1724218" y="516842"/>
                </a:lnTo>
                <a:lnTo>
                  <a:pt x="1726039" y="519109"/>
                </a:lnTo>
                <a:lnTo>
                  <a:pt x="1727860" y="521829"/>
                </a:lnTo>
                <a:lnTo>
                  <a:pt x="1729453" y="524550"/>
                </a:lnTo>
                <a:lnTo>
                  <a:pt x="1730591" y="527950"/>
                </a:lnTo>
                <a:lnTo>
                  <a:pt x="1731729" y="531124"/>
                </a:lnTo>
                <a:lnTo>
                  <a:pt x="1732640" y="534752"/>
                </a:lnTo>
                <a:lnTo>
                  <a:pt x="1733095" y="538152"/>
                </a:lnTo>
                <a:lnTo>
                  <a:pt x="1733550" y="542006"/>
                </a:lnTo>
                <a:lnTo>
                  <a:pt x="1733550" y="545860"/>
                </a:lnTo>
                <a:lnTo>
                  <a:pt x="1733550" y="1132128"/>
                </a:lnTo>
                <a:lnTo>
                  <a:pt x="1733550" y="1135982"/>
                </a:lnTo>
                <a:lnTo>
                  <a:pt x="1733095" y="1139836"/>
                </a:lnTo>
                <a:lnTo>
                  <a:pt x="1732640" y="1143463"/>
                </a:lnTo>
                <a:lnTo>
                  <a:pt x="1731729" y="1146864"/>
                </a:lnTo>
                <a:lnTo>
                  <a:pt x="1730591" y="1150038"/>
                </a:lnTo>
                <a:lnTo>
                  <a:pt x="1729453" y="1153438"/>
                </a:lnTo>
                <a:lnTo>
                  <a:pt x="1727860" y="1156159"/>
                </a:lnTo>
                <a:lnTo>
                  <a:pt x="1726039" y="1158879"/>
                </a:lnTo>
                <a:lnTo>
                  <a:pt x="1724218" y="1161373"/>
                </a:lnTo>
                <a:lnTo>
                  <a:pt x="1722170" y="1163414"/>
                </a:lnTo>
                <a:lnTo>
                  <a:pt x="1720349" y="1165454"/>
                </a:lnTo>
                <a:lnTo>
                  <a:pt x="1718073" y="1167041"/>
                </a:lnTo>
                <a:lnTo>
                  <a:pt x="1715797" y="1168174"/>
                </a:lnTo>
                <a:lnTo>
                  <a:pt x="1713065" y="1169308"/>
                </a:lnTo>
                <a:lnTo>
                  <a:pt x="1710561" y="1169761"/>
                </a:lnTo>
                <a:lnTo>
                  <a:pt x="1707830" y="1169988"/>
                </a:lnTo>
                <a:lnTo>
                  <a:pt x="1633857" y="1169988"/>
                </a:lnTo>
                <a:lnTo>
                  <a:pt x="1631353" y="1169761"/>
                </a:lnTo>
                <a:lnTo>
                  <a:pt x="1628850" y="1169308"/>
                </a:lnTo>
                <a:lnTo>
                  <a:pt x="1626346" y="1168174"/>
                </a:lnTo>
                <a:lnTo>
                  <a:pt x="1624070" y="1167041"/>
                </a:lnTo>
                <a:lnTo>
                  <a:pt x="1621794" y="1165454"/>
                </a:lnTo>
                <a:lnTo>
                  <a:pt x="1619518" y="1163414"/>
                </a:lnTo>
                <a:lnTo>
                  <a:pt x="1617469" y="1161373"/>
                </a:lnTo>
                <a:lnTo>
                  <a:pt x="1615648" y="1158879"/>
                </a:lnTo>
                <a:lnTo>
                  <a:pt x="1614055" y="1156159"/>
                </a:lnTo>
                <a:lnTo>
                  <a:pt x="1612689" y="1153438"/>
                </a:lnTo>
                <a:lnTo>
                  <a:pt x="1611324" y="1150038"/>
                </a:lnTo>
                <a:lnTo>
                  <a:pt x="1610186" y="1146864"/>
                </a:lnTo>
                <a:lnTo>
                  <a:pt x="1609275" y="1143463"/>
                </a:lnTo>
                <a:lnTo>
                  <a:pt x="1608820" y="1139836"/>
                </a:lnTo>
                <a:lnTo>
                  <a:pt x="1608365" y="1135982"/>
                </a:lnTo>
                <a:lnTo>
                  <a:pt x="1608137" y="1132128"/>
                </a:lnTo>
                <a:lnTo>
                  <a:pt x="1608137" y="545860"/>
                </a:lnTo>
                <a:lnTo>
                  <a:pt x="1608365" y="542006"/>
                </a:lnTo>
                <a:lnTo>
                  <a:pt x="1608820" y="538152"/>
                </a:lnTo>
                <a:lnTo>
                  <a:pt x="1609275" y="534752"/>
                </a:lnTo>
                <a:lnTo>
                  <a:pt x="1610186" y="531124"/>
                </a:lnTo>
                <a:lnTo>
                  <a:pt x="1611324" y="527950"/>
                </a:lnTo>
                <a:lnTo>
                  <a:pt x="1612689" y="524550"/>
                </a:lnTo>
                <a:lnTo>
                  <a:pt x="1614055" y="521829"/>
                </a:lnTo>
                <a:lnTo>
                  <a:pt x="1615648" y="519109"/>
                </a:lnTo>
                <a:lnTo>
                  <a:pt x="1617469" y="516842"/>
                </a:lnTo>
                <a:lnTo>
                  <a:pt x="1619518" y="514575"/>
                </a:lnTo>
                <a:lnTo>
                  <a:pt x="1621794" y="512534"/>
                </a:lnTo>
                <a:lnTo>
                  <a:pt x="1624070" y="510947"/>
                </a:lnTo>
                <a:lnTo>
                  <a:pt x="1626346" y="509814"/>
                </a:lnTo>
                <a:lnTo>
                  <a:pt x="1628850" y="508680"/>
                </a:lnTo>
                <a:lnTo>
                  <a:pt x="1631353" y="508227"/>
                </a:lnTo>
                <a:lnTo>
                  <a:pt x="1633857" y="508000"/>
                </a:lnTo>
                <a:close/>
                <a:moveTo>
                  <a:pt x="1501548" y="319088"/>
                </a:moveTo>
                <a:lnTo>
                  <a:pt x="1733323" y="319088"/>
                </a:lnTo>
                <a:lnTo>
                  <a:pt x="1733323" y="319316"/>
                </a:lnTo>
                <a:lnTo>
                  <a:pt x="1733550" y="319316"/>
                </a:lnTo>
                <a:lnTo>
                  <a:pt x="1733550" y="464215"/>
                </a:lnTo>
                <a:lnTo>
                  <a:pt x="1637620" y="464215"/>
                </a:lnTo>
                <a:lnTo>
                  <a:pt x="1637620" y="418038"/>
                </a:lnTo>
                <a:lnTo>
                  <a:pt x="1318759" y="617303"/>
                </a:lnTo>
                <a:lnTo>
                  <a:pt x="1250723" y="574766"/>
                </a:lnTo>
                <a:lnTo>
                  <a:pt x="1253444" y="573174"/>
                </a:lnTo>
                <a:lnTo>
                  <a:pt x="1146628" y="506525"/>
                </a:lnTo>
                <a:lnTo>
                  <a:pt x="844096" y="695326"/>
                </a:lnTo>
                <a:lnTo>
                  <a:pt x="776287" y="653016"/>
                </a:lnTo>
                <a:lnTo>
                  <a:pt x="1147082" y="421450"/>
                </a:lnTo>
                <a:lnTo>
                  <a:pt x="1215118" y="463533"/>
                </a:lnTo>
                <a:lnTo>
                  <a:pt x="1214437" y="464215"/>
                </a:lnTo>
                <a:lnTo>
                  <a:pt x="1321253" y="530637"/>
                </a:lnTo>
                <a:lnTo>
                  <a:pt x="1564368" y="379141"/>
                </a:lnTo>
                <a:lnTo>
                  <a:pt x="1501548" y="379141"/>
                </a:lnTo>
                <a:lnTo>
                  <a:pt x="1501548" y="319088"/>
                </a:lnTo>
                <a:close/>
                <a:moveTo>
                  <a:pt x="229507" y="91395"/>
                </a:moveTo>
                <a:lnTo>
                  <a:pt x="225651" y="91621"/>
                </a:lnTo>
                <a:lnTo>
                  <a:pt x="221796" y="91848"/>
                </a:lnTo>
                <a:lnTo>
                  <a:pt x="218394" y="92075"/>
                </a:lnTo>
                <a:lnTo>
                  <a:pt x="214539" y="92755"/>
                </a:lnTo>
                <a:lnTo>
                  <a:pt x="210910" y="93662"/>
                </a:lnTo>
                <a:lnTo>
                  <a:pt x="207509" y="94570"/>
                </a:lnTo>
                <a:lnTo>
                  <a:pt x="204107" y="95704"/>
                </a:lnTo>
                <a:lnTo>
                  <a:pt x="200705" y="96837"/>
                </a:lnTo>
                <a:lnTo>
                  <a:pt x="197303" y="98198"/>
                </a:lnTo>
                <a:lnTo>
                  <a:pt x="194355" y="99559"/>
                </a:lnTo>
                <a:lnTo>
                  <a:pt x="191407" y="101373"/>
                </a:lnTo>
                <a:lnTo>
                  <a:pt x="188232" y="103187"/>
                </a:lnTo>
                <a:lnTo>
                  <a:pt x="185284" y="105002"/>
                </a:lnTo>
                <a:lnTo>
                  <a:pt x="182562" y="107270"/>
                </a:lnTo>
                <a:lnTo>
                  <a:pt x="179614" y="109311"/>
                </a:lnTo>
                <a:lnTo>
                  <a:pt x="177119" y="111579"/>
                </a:lnTo>
                <a:lnTo>
                  <a:pt x="174851" y="114073"/>
                </a:lnTo>
                <a:lnTo>
                  <a:pt x="172357" y="116568"/>
                </a:lnTo>
                <a:lnTo>
                  <a:pt x="170316" y="119062"/>
                </a:lnTo>
                <a:lnTo>
                  <a:pt x="168275" y="121784"/>
                </a:lnTo>
                <a:lnTo>
                  <a:pt x="166460" y="124505"/>
                </a:lnTo>
                <a:lnTo>
                  <a:pt x="164646" y="127454"/>
                </a:lnTo>
                <a:lnTo>
                  <a:pt x="162832" y="130402"/>
                </a:lnTo>
                <a:lnTo>
                  <a:pt x="161471" y="133350"/>
                </a:lnTo>
                <a:lnTo>
                  <a:pt x="160110" y="136525"/>
                </a:lnTo>
                <a:lnTo>
                  <a:pt x="158976" y="139700"/>
                </a:lnTo>
                <a:lnTo>
                  <a:pt x="158069" y="143102"/>
                </a:lnTo>
                <a:lnTo>
                  <a:pt x="156935" y="146277"/>
                </a:lnTo>
                <a:lnTo>
                  <a:pt x="156482" y="149679"/>
                </a:lnTo>
                <a:lnTo>
                  <a:pt x="156028" y="153080"/>
                </a:lnTo>
                <a:lnTo>
                  <a:pt x="155801" y="156709"/>
                </a:lnTo>
                <a:lnTo>
                  <a:pt x="155801" y="160111"/>
                </a:lnTo>
                <a:lnTo>
                  <a:pt x="155801" y="1330098"/>
                </a:lnTo>
                <a:lnTo>
                  <a:pt x="155801" y="1333500"/>
                </a:lnTo>
                <a:lnTo>
                  <a:pt x="156028" y="1337129"/>
                </a:lnTo>
                <a:lnTo>
                  <a:pt x="156482" y="1340531"/>
                </a:lnTo>
                <a:lnTo>
                  <a:pt x="156935" y="1343932"/>
                </a:lnTo>
                <a:lnTo>
                  <a:pt x="158069" y="1347561"/>
                </a:lnTo>
                <a:lnTo>
                  <a:pt x="158976" y="1350509"/>
                </a:lnTo>
                <a:lnTo>
                  <a:pt x="160110" y="1353684"/>
                </a:lnTo>
                <a:lnTo>
                  <a:pt x="161471" y="1357086"/>
                </a:lnTo>
                <a:lnTo>
                  <a:pt x="162832" y="1360034"/>
                </a:lnTo>
                <a:lnTo>
                  <a:pt x="164646" y="1362756"/>
                </a:lnTo>
                <a:lnTo>
                  <a:pt x="166460" y="1365931"/>
                </a:lnTo>
                <a:lnTo>
                  <a:pt x="168275" y="1368652"/>
                </a:lnTo>
                <a:lnTo>
                  <a:pt x="170316" y="1371373"/>
                </a:lnTo>
                <a:lnTo>
                  <a:pt x="172357" y="1373868"/>
                </a:lnTo>
                <a:lnTo>
                  <a:pt x="174851" y="1376590"/>
                </a:lnTo>
                <a:lnTo>
                  <a:pt x="177119" y="1378857"/>
                </a:lnTo>
                <a:lnTo>
                  <a:pt x="179614" y="1381125"/>
                </a:lnTo>
                <a:lnTo>
                  <a:pt x="182562" y="1383393"/>
                </a:lnTo>
                <a:lnTo>
                  <a:pt x="185284" y="1385207"/>
                </a:lnTo>
                <a:lnTo>
                  <a:pt x="188232" y="1387248"/>
                </a:lnTo>
                <a:lnTo>
                  <a:pt x="191407" y="1389063"/>
                </a:lnTo>
                <a:lnTo>
                  <a:pt x="194355" y="1390650"/>
                </a:lnTo>
                <a:lnTo>
                  <a:pt x="197303" y="1392238"/>
                </a:lnTo>
                <a:lnTo>
                  <a:pt x="200705" y="1393598"/>
                </a:lnTo>
                <a:lnTo>
                  <a:pt x="204107" y="1394959"/>
                </a:lnTo>
                <a:lnTo>
                  <a:pt x="207509" y="1395866"/>
                </a:lnTo>
                <a:lnTo>
                  <a:pt x="210910" y="1397000"/>
                </a:lnTo>
                <a:lnTo>
                  <a:pt x="214539" y="1397681"/>
                </a:lnTo>
                <a:lnTo>
                  <a:pt x="218394" y="1398134"/>
                </a:lnTo>
                <a:lnTo>
                  <a:pt x="221796" y="1398588"/>
                </a:lnTo>
                <a:lnTo>
                  <a:pt x="225651" y="1399041"/>
                </a:lnTo>
                <a:lnTo>
                  <a:pt x="229507" y="1399041"/>
                </a:lnTo>
                <a:lnTo>
                  <a:pt x="2280330" y="1399041"/>
                </a:lnTo>
                <a:lnTo>
                  <a:pt x="2284186" y="1399041"/>
                </a:lnTo>
                <a:lnTo>
                  <a:pt x="2288041" y="1398588"/>
                </a:lnTo>
                <a:lnTo>
                  <a:pt x="2291670" y="1398134"/>
                </a:lnTo>
                <a:lnTo>
                  <a:pt x="2295298" y="1397681"/>
                </a:lnTo>
                <a:lnTo>
                  <a:pt x="2299154" y="1397000"/>
                </a:lnTo>
                <a:lnTo>
                  <a:pt x="2302555" y="1395866"/>
                </a:lnTo>
                <a:lnTo>
                  <a:pt x="2305957" y="1394959"/>
                </a:lnTo>
                <a:lnTo>
                  <a:pt x="2309359" y="1393598"/>
                </a:lnTo>
                <a:lnTo>
                  <a:pt x="2312534" y="1392238"/>
                </a:lnTo>
                <a:lnTo>
                  <a:pt x="2315709" y="1390650"/>
                </a:lnTo>
                <a:lnTo>
                  <a:pt x="2318884" y="1389063"/>
                </a:lnTo>
                <a:lnTo>
                  <a:pt x="2321832" y="1387248"/>
                </a:lnTo>
                <a:lnTo>
                  <a:pt x="2324780" y="1385207"/>
                </a:lnTo>
                <a:lnTo>
                  <a:pt x="2327502" y="1383393"/>
                </a:lnTo>
                <a:lnTo>
                  <a:pt x="2330223" y="1381125"/>
                </a:lnTo>
                <a:lnTo>
                  <a:pt x="2332945" y="1378857"/>
                </a:lnTo>
                <a:lnTo>
                  <a:pt x="2335213" y="1376590"/>
                </a:lnTo>
                <a:lnTo>
                  <a:pt x="2337707" y="1373868"/>
                </a:lnTo>
                <a:lnTo>
                  <a:pt x="2339748" y="1371373"/>
                </a:lnTo>
                <a:lnTo>
                  <a:pt x="2341789" y="1368652"/>
                </a:lnTo>
                <a:lnTo>
                  <a:pt x="2343830" y="1365931"/>
                </a:lnTo>
                <a:lnTo>
                  <a:pt x="2345418" y="1362756"/>
                </a:lnTo>
                <a:lnTo>
                  <a:pt x="2347232" y="1360034"/>
                </a:lnTo>
                <a:lnTo>
                  <a:pt x="2348593" y="1357086"/>
                </a:lnTo>
                <a:lnTo>
                  <a:pt x="2350180" y="1353684"/>
                </a:lnTo>
                <a:lnTo>
                  <a:pt x="2351088" y="1350509"/>
                </a:lnTo>
                <a:lnTo>
                  <a:pt x="2351995" y="1347561"/>
                </a:lnTo>
                <a:lnTo>
                  <a:pt x="2352902" y="1343932"/>
                </a:lnTo>
                <a:lnTo>
                  <a:pt x="2353582" y="1340531"/>
                </a:lnTo>
                <a:lnTo>
                  <a:pt x="2354036" y="1337129"/>
                </a:lnTo>
                <a:lnTo>
                  <a:pt x="2354263" y="1333500"/>
                </a:lnTo>
                <a:lnTo>
                  <a:pt x="2354263" y="1330098"/>
                </a:lnTo>
                <a:lnTo>
                  <a:pt x="2354263" y="160111"/>
                </a:lnTo>
                <a:lnTo>
                  <a:pt x="2354263" y="156709"/>
                </a:lnTo>
                <a:lnTo>
                  <a:pt x="2354036" y="153080"/>
                </a:lnTo>
                <a:lnTo>
                  <a:pt x="2353582" y="149679"/>
                </a:lnTo>
                <a:lnTo>
                  <a:pt x="2352902" y="146277"/>
                </a:lnTo>
                <a:lnTo>
                  <a:pt x="2351995" y="143102"/>
                </a:lnTo>
                <a:lnTo>
                  <a:pt x="2351088" y="139700"/>
                </a:lnTo>
                <a:lnTo>
                  <a:pt x="2350180" y="136525"/>
                </a:lnTo>
                <a:lnTo>
                  <a:pt x="2348593" y="133350"/>
                </a:lnTo>
                <a:lnTo>
                  <a:pt x="2347232" y="130402"/>
                </a:lnTo>
                <a:lnTo>
                  <a:pt x="2345418" y="127454"/>
                </a:lnTo>
                <a:lnTo>
                  <a:pt x="2343830" y="124505"/>
                </a:lnTo>
                <a:lnTo>
                  <a:pt x="2341789" y="121784"/>
                </a:lnTo>
                <a:lnTo>
                  <a:pt x="2339748" y="119062"/>
                </a:lnTo>
                <a:lnTo>
                  <a:pt x="2337707" y="116568"/>
                </a:lnTo>
                <a:lnTo>
                  <a:pt x="2335213" y="114073"/>
                </a:lnTo>
                <a:lnTo>
                  <a:pt x="2332945" y="111579"/>
                </a:lnTo>
                <a:lnTo>
                  <a:pt x="2330223" y="109311"/>
                </a:lnTo>
                <a:lnTo>
                  <a:pt x="2327502" y="107270"/>
                </a:lnTo>
                <a:lnTo>
                  <a:pt x="2324780" y="105002"/>
                </a:lnTo>
                <a:lnTo>
                  <a:pt x="2321832" y="103187"/>
                </a:lnTo>
                <a:lnTo>
                  <a:pt x="2318884" y="101373"/>
                </a:lnTo>
                <a:lnTo>
                  <a:pt x="2315709" y="99559"/>
                </a:lnTo>
                <a:lnTo>
                  <a:pt x="2312534" y="98198"/>
                </a:lnTo>
                <a:lnTo>
                  <a:pt x="2309359" y="96837"/>
                </a:lnTo>
                <a:lnTo>
                  <a:pt x="2305957" y="95704"/>
                </a:lnTo>
                <a:lnTo>
                  <a:pt x="2302555" y="94570"/>
                </a:lnTo>
                <a:lnTo>
                  <a:pt x="2299154" y="93662"/>
                </a:lnTo>
                <a:lnTo>
                  <a:pt x="2295298" y="92755"/>
                </a:lnTo>
                <a:lnTo>
                  <a:pt x="2291670" y="92075"/>
                </a:lnTo>
                <a:lnTo>
                  <a:pt x="2288041" y="91848"/>
                </a:lnTo>
                <a:lnTo>
                  <a:pt x="2284186" y="91621"/>
                </a:lnTo>
                <a:lnTo>
                  <a:pt x="2280330" y="91395"/>
                </a:lnTo>
                <a:lnTo>
                  <a:pt x="229507" y="91395"/>
                </a:lnTo>
                <a:close/>
                <a:moveTo>
                  <a:pt x="81642" y="0"/>
                </a:moveTo>
                <a:lnTo>
                  <a:pt x="86178" y="0"/>
                </a:lnTo>
                <a:lnTo>
                  <a:pt x="2424113" y="0"/>
                </a:lnTo>
                <a:lnTo>
                  <a:pt x="2428648" y="0"/>
                </a:lnTo>
                <a:lnTo>
                  <a:pt x="2432730" y="227"/>
                </a:lnTo>
                <a:lnTo>
                  <a:pt x="2436813" y="680"/>
                </a:lnTo>
                <a:lnTo>
                  <a:pt x="2441122" y="1361"/>
                </a:lnTo>
                <a:lnTo>
                  <a:pt x="2445204" y="2268"/>
                </a:lnTo>
                <a:lnTo>
                  <a:pt x="2449286" y="3402"/>
                </a:lnTo>
                <a:lnTo>
                  <a:pt x="2452914" y="4536"/>
                </a:lnTo>
                <a:lnTo>
                  <a:pt x="2456770" y="5896"/>
                </a:lnTo>
                <a:lnTo>
                  <a:pt x="2460625" y="7484"/>
                </a:lnTo>
                <a:lnTo>
                  <a:pt x="2464480" y="9298"/>
                </a:lnTo>
                <a:lnTo>
                  <a:pt x="2467882" y="11339"/>
                </a:lnTo>
                <a:lnTo>
                  <a:pt x="2471284" y="13380"/>
                </a:lnTo>
                <a:lnTo>
                  <a:pt x="2474459" y="15421"/>
                </a:lnTo>
                <a:lnTo>
                  <a:pt x="2477861" y="17916"/>
                </a:lnTo>
                <a:lnTo>
                  <a:pt x="2480809" y="20184"/>
                </a:lnTo>
                <a:lnTo>
                  <a:pt x="2483757" y="22905"/>
                </a:lnTo>
                <a:lnTo>
                  <a:pt x="2486479" y="25400"/>
                </a:lnTo>
                <a:lnTo>
                  <a:pt x="2489200" y="28348"/>
                </a:lnTo>
                <a:lnTo>
                  <a:pt x="2491695" y="31296"/>
                </a:lnTo>
                <a:lnTo>
                  <a:pt x="2493963" y="34471"/>
                </a:lnTo>
                <a:lnTo>
                  <a:pt x="2496230" y="37646"/>
                </a:lnTo>
                <a:lnTo>
                  <a:pt x="2498272" y="40821"/>
                </a:lnTo>
                <a:lnTo>
                  <a:pt x="2499859" y="44450"/>
                </a:lnTo>
                <a:lnTo>
                  <a:pt x="2501673" y="47625"/>
                </a:lnTo>
                <a:lnTo>
                  <a:pt x="2503261" y="51480"/>
                </a:lnTo>
                <a:lnTo>
                  <a:pt x="2504395" y="54882"/>
                </a:lnTo>
                <a:lnTo>
                  <a:pt x="2505755" y="58737"/>
                </a:lnTo>
                <a:lnTo>
                  <a:pt x="2506663" y="62593"/>
                </a:lnTo>
                <a:lnTo>
                  <a:pt x="2507343" y="66221"/>
                </a:lnTo>
                <a:lnTo>
                  <a:pt x="2508023" y="70304"/>
                </a:lnTo>
                <a:lnTo>
                  <a:pt x="2508250" y="74159"/>
                </a:lnTo>
                <a:lnTo>
                  <a:pt x="2508250" y="78241"/>
                </a:lnTo>
                <a:lnTo>
                  <a:pt x="2508250" y="1411968"/>
                </a:lnTo>
                <a:lnTo>
                  <a:pt x="2508250" y="1416050"/>
                </a:lnTo>
                <a:lnTo>
                  <a:pt x="2508023" y="1420132"/>
                </a:lnTo>
                <a:lnTo>
                  <a:pt x="2507343" y="1423988"/>
                </a:lnTo>
                <a:lnTo>
                  <a:pt x="2506663" y="1427616"/>
                </a:lnTo>
                <a:lnTo>
                  <a:pt x="2505755" y="1431472"/>
                </a:lnTo>
                <a:lnTo>
                  <a:pt x="2504395" y="1435327"/>
                </a:lnTo>
                <a:lnTo>
                  <a:pt x="2503261" y="1439182"/>
                </a:lnTo>
                <a:lnTo>
                  <a:pt x="2501673" y="1442584"/>
                </a:lnTo>
                <a:lnTo>
                  <a:pt x="2499859" y="1446213"/>
                </a:lnTo>
                <a:lnTo>
                  <a:pt x="2498272" y="1449388"/>
                </a:lnTo>
                <a:lnTo>
                  <a:pt x="2496230" y="1452790"/>
                </a:lnTo>
                <a:lnTo>
                  <a:pt x="2493963" y="1455965"/>
                </a:lnTo>
                <a:lnTo>
                  <a:pt x="2491695" y="1458913"/>
                </a:lnTo>
                <a:lnTo>
                  <a:pt x="2489200" y="1462088"/>
                </a:lnTo>
                <a:lnTo>
                  <a:pt x="2486479" y="1464809"/>
                </a:lnTo>
                <a:lnTo>
                  <a:pt x="2483757" y="1467531"/>
                </a:lnTo>
                <a:lnTo>
                  <a:pt x="2480809" y="1470025"/>
                </a:lnTo>
                <a:lnTo>
                  <a:pt x="2477861" y="1472747"/>
                </a:lnTo>
                <a:lnTo>
                  <a:pt x="2474459" y="1475015"/>
                </a:lnTo>
                <a:lnTo>
                  <a:pt x="2471284" y="1477282"/>
                </a:lnTo>
                <a:lnTo>
                  <a:pt x="2467882" y="1479097"/>
                </a:lnTo>
                <a:lnTo>
                  <a:pt x="2464480" y="1480911"/>
                </a:lnTo>
                <a:lnTo>
                  <a:pt x="2460625" y="1482725"/>
                </a:lnTo>
                <a:lnTo>
                  <a:pt x="2456770" y="1484313"/>
                </a:lnTo>
                <a:lnTo>
                  <a:pt x="2452914" y="1485674"/>
                </a:lnTo>
                <a:lnTo>
                  <a:pt x="2449286" y="1487034"/>
                </a:lnTo>
                <a:lnTo>
                  <a:pt x="2445204" y="1487941"/>
                </a:lnTo>
                <a:lnTo>
                  <a:pt x="2441122" y="1488849"/>
                </a:lnTo>
                <a:lnTo>
                  <a:pt x="2436813" y="1489529"/>
                </a:lnTo>
                <a:lnTo>
                  <a:pt x="2432730" y="1489982"/>
                </a:lnTo>
                <a:lnTo>
                  <a:pt x="2428648" y="1490209"/>
                </a:lnTo>
                <a:lnTo>
                  <a:pt x="2424113" y="1490663"/>
                </a:lnTo>
                <a:lnTo>
                  <a:pt x="86178" y="1490663"/>
                </a:lnTo>
                <a:lnTo>
                  <a:pt x="81642" y="1490209"/>
                </a:lnTo>
                <a:lnTo>
                  <a:pt x="77333" y="1489982"/>
                </a:lnTo>
                <a:lnTo>
                  <a:pt x="73251" y="1489529"/>
                </a:lnTo>
                <a:lnTo>
                  <a:pt x="68942" y="1488849"/>
                </a:lnTo>
                <a:lnTo>
                  <a:pt x="64860" y="1487941"/>
                </a:lnTo>
                <a:lnTo>
                  <a:pt x="60778" y="1487034"/>
                </a:lnTo>
                <a:lnTo>
                  <a:pt x="57150" y="1485674"/>
                </a:lnTo>
                <a:lnTo>
                  <a:pt x="53294" y="1484313"/>
                </a:lnTo>
                <a:lnTo>
                  <a:pt x="49439" y="1482725"/>
                </a:lnTo>
                <a:lnTo>
                  <a:pt x="45810" y="1480911"/>
                </a:lnTo>
                <a:lnTo>
                  <a:pt x="42182" y="1479097"/>
                </a:lnTo>
                <a:lnTo>
                  <a:pt x="39007" y="1477282"/>
                </a:lnTo>
                <a:lnTo>
                  <a:pt x="35605" y="1475015"/>
                </a:lnTo>
                <a:lnTo>
                  <a:pt x="32430" y="1472747"/>
                </a:lnTo>
                <a:lnTo>
                  <a:pt x="29255" y="1470025"/>
                </a:lnTo>
                <a:lnTo>
                  <a:pt x="26307" y="1467531"/>
                </a:lnTo>
                <a:lnTo>
                  <a:pt x="23585" y="1464809"/>
                </a:lnTo>
                <a:lnTo>
                  <a:pt x="21091" y="1462088"/>
                </a:lnTo>
                <a:lnTo>
                  <a:pt x="18596" y="1458913"/>
                </a:lnTo>
                <a:lnTo>
                  <a:pt x="16101" y="1455965"/>
                </a:lnTo>
                <a:lnTo>
                  <a:pt x="13833" y="1452790"/>
                </a:lnTo>
                <a:lnTo>
                  <a:pt x="12019" y="1449388"/>
                </a:lnTo>
                <a:lnTo>
                  <a:pt x="9978" y="1446213"/>
                </a:lnTo>
                <a:lnTo>
                  <a:pt x="8391" y="1442584"/>
                </a:lnTo>
                <a:lnTo>
                  <a:pt x="6803" y="1439182"/>
                </a:lnTo>
                <a:lnTo>
                  <a:pt x="5442" y="1435327"/>
                </a:lnTo>
                <a:lnTo>
                  <a:pt x="4308" y="1431472"/>
                </a:lnTo>
                <a:lnTo>
                  <a:pt x="3401" y="1427616"/>
                </a:lnTo>
                <a:lnTo>
                  <a:pt x="2494" y="1423988"/>
                </a:lnTo>
                <a:lnTo>
                  <a:pt x="2041" y="1420132"/>
                </a:lnTo>
                <a:lnTo>
                  <a:pt x="1814" y="1416050"/>
                </a:lnTo>
                <a:lnTo>
                  <a:pt x="1587" y="1411968"/>
                </a:lnTo>
                <a:lnTo>
                  <a:pt x="1587" y="78241"/>
                </a:lnTo>
                <a:lnTo>
                  <a:pt x="1814" y="74159"/>
                </a:lnTo>
                <a:lnTo>
                  <a:pt x="2041" y="70304"/>
                </a:lnTo>
                <a:lnTo>
                  <a:pt x="2494" y="66221"/>
                </a:lnTo>
                <a:lnTo>
                  <a:pt x="3401" y="62593"/>
                </a:lnTo>
                <a:lnTo>
                  <a:pt x="4308" y="58737"/>
                </a:lnTo>
                <a:lnTo>
                  <a:pt x="5442" y="54882"/>
                </a:lnTo>
                <a:lnTo>
                  <a:pt x="6803" y="51480"/>
                </a:lnTo>
                <a:lnTo>
                  <a:pt x="8391" y="47625"/>
                </a:lnTo>
                <a:lnTo>
                  <a:pt x="9978" y="44450"/>
                </a:lnTo>
                <a:lnTo>
                  <a:pt x="12019" y="40821"/>
                </a:lnTo>
                <a:lnTo>
                  <a:pt x="13833" y="37646"/>
                </a:lnTo>
                <a:lnTo>
                  <a:pt x="16101" y="34471"/>
                </a:lnTo>
                <a:lnTo>
                  <a:pt x="18596" y="31296"/>
                </a:lnTo>
                <a:lnTo>
                  <a:pt x="21091" y="28348"/>
                </a:lnTo>
                <a:lnTo>
                  <a:pt x="23585" y="25400"/>
                </a:lnTo>
                <a:lnTo>
                  <a:pt x="26307" y="22905"/>
                </a:lnTo>
                <a:lnTo>
                  <a:pt x="29255" y="20184"/>
                </a:lnTo>
                <a:lnTo>
                  <a:pt x="32430" y="17916"/>
                </a:lnTo>
                <a:lnTo>
                  <a:pt x="35605" y="15421"/>
                </a:lnTo>
                <a:lnTo>
                  <a:pt x="39007" y="13380"/>
                </a:lnTo>
                <a:lnTo>
                  <a:pt x="42182" y="11339"/>
                </a:lnTo>
                <a:lnTo>
                  <a:pt x="45810" y="9298"/>
                </a:lnTo>
                <a:lnTo>
                  <a:pt x="49439" y="7484"/>
                </a:lnTo>
                <a:lnTo>
                  <a:pt x="53294" y="5896"/>
                </a:lnTo>
                <a:lnTo>
                  <a:pt x="57150" y="4536"/>
                </a:lnTo>
                <a:lnTo>
                  <a:pt x="60778" y="3402"/>
                </a:lnTo>
                <a:lnTo>
                  <a:pt x="64860" y="2268"/>
                </a:lnTo>
                <a:lnTo>
                  <a:pt x="68942" y="1361"/>
                </a:lnTo>
                <a:lnTo>
                  <a:pt x="73251" y="680"/>
                </a:lnTo>
                <a:lnTo>
                  <a:pt x="77333" y="227"/>
                </a:lnTo>
                <a:lnTo>
                  <a:pt x="816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sp>
        <p:nvSpPr>
          <p:cNvPr id="41" name="文本框 40"/>
          <p:cNvSpPr txBox="1"/>
          <p:nvPr/>
        </p:nvSpPr>
        <p:spPr>
          <a:xfrm>
            <a:off x="4111972" y="5475980"/>
            <a:ext cx="893445" cy="254635"/>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网管服务器</a:t>
            </a:r>
            <a:r>
              <a:rPr lang="en-US" altLang="zh-CN" sz="1000" b="1" dirty="0" smtClean="0">
                <a:solidFill>
                  <a:srgbClr val="0070C0"/>
                </a:solidFill>
                <a:latin typeface="微软雅黑" panose="020B0503020204020204" pitchFamily="34" charset="-122"/>
                <a:ea typeface="微软雅黑" panose="020B0503020204020204" pitchFamily="34" charset="-122"/>
              </a:rPr>
              <a:t>k</a:t>
            </a:r>
          </a:p>
        </p:txBody>
      </p:sp>
      <p:sp>
        <p:nvSpPr>
          <p:cNvPr id="42" name="左右箭头 41"/>
          <p:cNvSpPr/>
          <p:nvPr/>
        </p:nvSpPr>
        <p:spPr>
          <a:xfrm>
            <a:off x="5313680" y="3293451"/>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折角形 42"/>
          <p:cNvSpPr/>
          <p:nvPr/>
        </p:nvSpPr>
        <p:spPr>
          <a:xfrm>
            <a:off x="6035675" y="381034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折角形 43"/>
          <p:cNvSpPr/>
          <p:nvPr/>
        </p:nvSpPr>
        <p:spPr>
          <a:xfrm>
            <a:off x="6035675" y="3728426"/>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左右箭头 44"/>
          <p:cNvSpPr/>
          <p:nvPr/>
        </p:nvSpPr>
        <p:spPr>
          <a:xfrm>
            <a:off x="7663815" y="3351236"/>
            <a:ext cx="550545" cy="180975"/>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折角形 45"/>
          <p:cNvSpPr/>
          <p:nvPr/>
        </p:nvSpPr>
        <p:spPr>
          <a:xfrm>
            <a:off x="6704965" y="3867491"/>
            <a:ext cx="550545" cy="40640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折角形 46"/>
          <p:cNvSpPr/>
          <p:nvPr/>
        </p:nvSpPr>
        <p:spPr>
          <a:xfrm>
            <a:off x="6704965" y="3729061"/>
            <a:ext cx="535940" cy="396240"/>
          </a:xfrm>
          <a:prstGeom prst="foldedCorner">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130642" y="3425725"/>
            <a:ext cx="1082348"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工程</a:t>
            </a:r>
            <a:r>
              <a:rPr lang="zh-CN" altLang="en-US" sz="1000" b="1" dirty="0" smtClean="0">
                <a:solidFill>
                  <a:srgbClr val="0070C0"/>
                </a:solidFill>
                <a:latin typeface="微软雅黑" panose="020B0503020204020204" pitchFamily="34" charset="-122"/>
                <a:ea typeface="微软雅黑" panose="020B0503020204020204" pitchFamily="34" charset="-122"/>
              </a:rPr>
              <a:t>和投诉信息</a:t>
            </a:r>
            <a:endParaRPr lang="zh-CN" altLang="en-US" sz="1000" b="1" dirty="0">
              <a:solidFill>
                <a:srgbClr val="0070C0"/>
              </a:solidFill>
              <a:latin typeface="微软雅黑" panose="020B0503020204020204" pitchFamily="34" charset="-122"/>
              <a:ea typeface="微软雅黑" panose="020B0503020204020204" pitchFamily="34" charset="-122"/>
            </a:endParaRPr>
          </a:p>
        </p:txBody>
      </p:sp>
      <p:grpSp>
        <p:nvGrpSpPr>
          <p:cNvPr id="49" name="组合 48"/>
          <p:cNvGrpSpPr/>
          <p:nvPr/>
        </p:nvGrpSpPr>
        <p:grpSpPr>
          <a:xfrm>
            <a:off x="6330315" y="4871426"/>
            <a:ext cx="575945" cy="344170"/>
            <a:chOff x="3186113" y="530112"/>
            <a:chExt cx="2625725" cy="2338387"/>
          </a:xfrm>
        </p:grpSpPr>
        <p:sp>
          <p:nvSpPr>
            <p:cNvPr id="50" name="Rectangle 9"/>
            <p:cNvSpPr>
              <a:spLocks noChangeArrowheads="1"/>
            </p:cNvSpPr>
            <p:nvPr/>
          </p:nvSpPr>
          <p:spPr bwMode="auto">
            <a:xfrm>
              <a:off x="3338513" y="693625"/>
              <a:ext cx="2320925" cy="1635125"/>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Freeform 11"/>
            <p:cNvSpPr>
              <a:spLocks noEditPoints="1"/>
            </p:cNvSpPr>
            <p:nvPr/>
          </p:nvSpPr>
          <p:spPr bwMode="auto">
            <a:xfrm>
              <a:off x="3186113" y="530112"/>
              <a:ext cx="2625725" cy="1895475"/>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2"/>
            <p:cNvSpPr/>
            <p:nvPr/>
          </p:nvSpPr>
          <p:spPr bwMode="auto">
            <a:xfrm>
              <a:off x="3867150" y="2546237"/>
              <a:ext cx="1257300" cy="322262"/>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3"/>
            <p:cNvSpPr/>
            <p:nvPr/>
          </p:nvSpPr>
          <p:spPr bwMode="auto">
            <a:xfrm>
              <a:off x="4340225" y="2546237"/>
              <a:ext cx="784225" cy="322262"/>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4" name="文本框 53"/>
          <p:cNvSpPr txBox="1"/>
          <p:nvPr/>
        </p:nvSpPr>
        <p:spPr>
          <a:xfrm>
            <a:off x="6208112" y="4585870"/>
            <a:ext cx="944880" cy="254635"/>
          </a:xfrm>
          <a:prstGeom prst="rect">
            <a:avLst/>
          </a:prstGeom>
          <a:noFill/>
        </p:spPr>
        <p:txBody>
          <a:bodyPr wrap="none" rtlCol="0">
            <a:spAutoFit/>
          </a:bodyPr>
          <a:lstStyle/>
          <a:p>
            <a:r>
              <a:rPr lang="zh-CN" altLang="en-US" sz="1000" b="1" dirty="0">
                <a:solidFill>
                  <a:srgbClr val="0070C0"/>
                </a:solidFill>
                <a:latin typeface="微软雅黑" panose="020B0503020204020204" pitchFamily="34" charset="-122"/>
                <a:ea typeface="微软雅黑" panose="020B0503020204020204" pitchFamily="34" charset="-122"/>
              </a:rPr>
              <a:t>其他项目数据</a:t>
            </a:r>
          </a:p>
        </p:txBody>
      </p:sp>
      <p:sp>
        <p:nvSpPr>
          <p:cNvPr id="55" name="圆角矩形标注 54"/>
          <p:cNvSpPr/>
          <p:nvPr/>
        </p:nvSpPr>
        <p:spPr>
          <a:xfrm>
            <a:off x="9803765" y="785201"/>
            <a:ext cx="2189480" cy="1296670"/>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dirty="0">
              <a:solidFill>
                <a:schemeClr val="tx1"/>
              </a:solidFill>
            </a:endParaRPr>
          </a:p>
          <a:p>
            <a:pPr algn="l"/>
            <a:endParaRPr lang="en-US" altLang="zh-CN" sz="1400" dirty="0">
              <a:solidFill>
                <a:schemeClr val="tx1"/>
              </a:solidFill>
            </a:endParaRPr>
          </a:p>
          <a:p>
            <a:pPr algn="l"/>
            <a:endParaRPr lang="en-US" altLang="zh-CN" sz="1400" dirty="0">
              <a:solidFill>
                <a:schemeClr val="tx1"/>
              </a:solidFill>
            </a:endParaRPr>
          </a:p>
          <a:p>
            <a:pPr algn="l"/>
            <a:r>
              <a:rPr lang="zh-CN" altLang="zh-CN" sz="1600" dirty="0" smtClean="0">
                <a:solidFill>
                  <a:schemeClr val="tx1"/>
                </a:solidFill>
              </a:rPr>
              <a:t>功能</a:t>
            </a:r>
            <a:r>
              <a:rPr lang="en-US" altLang="zh-CN" sz="1600" dirty="0">
                <a:solidFill>
                  <a:schemeClr val="tx1"/>
                </a:solidFill>
              </a:rPr>
              <a:t>:</a:t>
            </a:r>
          </a:p>
          <a:p>
            <a:pPr algn="l"/>
            <a:r>
              <a:rPr lang="en-US" altLang="zh-CN" sz="1600" dirty="0">
                <a:solidFill>
                  <a:schemeClr val="tx1"/>
                </a:solidFill>
              </a:rPr>
              <a:t>1.ftp</a:t>
            </a:r>
            <a:r>
              <a:rPr lang="zh-CN" altLang="en-US" sz="1600" dirty="0">
                <a:solidFill>
                  <a:schemeClr val="tx1"/>
                </a:solidFill>
              </a:rPr>
              <a:t>服务器</a:t>
            </a:r>
          </a:p>
          <a:p>
            <a:pPr algn="l"/>
            <a:r>
              <a:rPr lang="en-US" altLang="zh-CN" sz="1600" dirty="0">
                <a:solidFill>
                  <a:schemeClr val="tx1"/>
                </a:solidFill>
              </a:rPr>
              <a:t>2.</a:t>
            </a:r>
            <a:r>
              <a:rPr lang="zh-CN" altLang="en-US" sz="1600" dirty="0">
                <a:solidFill>
                  <a:schemeClr val="tx1"/>
                </a:solidFill>
              </a:rPr>
              <a:t>解析存储业务数据</a:t>
            </a:r>
          </a:p>
          <a:p>
            <a:pPr algn="l"/>
            <a:r>
              <a:rPr lang="en-US" altLang="zh-CN" sz="1600" dirty="0">
                <a:solidFill>
                  <a:schemeClr val="tx1"/>
                </a:solidFill>
              </a:rPr>
              <a:t>3.</a:t>
            </a:r>
            <a:r>
              <a:rPr lang="zh-CN" altLang="en-US" sz="1600" dirty="0">
                <a:solidFill>
                  <a:schemeClr val="tx1"/>
                </a:solidFill>
              </a:rPr>
              <a:t>支撑客户端</a:t>
            </a:r>
            <a:endParaRPr lang="en-US" altLang="zh-CN" sz="1600" dirty="0">
              <a:solidFill>
                <a:schemeClr val="tx1"/>
              </a:solidFill>
            </a:endParaRPr>
          </a:p>
          <a:p>
            <a:pPr algn="ctr"/>
            <a:endParaRPr lang="zh-CN" altLang="en-US" dirty="0">
              <a:solidFill>
                <a:schemeClr val="tx1"/>
              </a:solidFill>
            </a:endParaRPr>
          </a:p>
          <a:p>
            <a:pPr algn="ctr"/>
            <a:endParaRPr lang="en-US" altLang="zh-CN" dirty="0">
              <a:solidFill>
                <a:schemeClr val="tx1"/>
              </a:solidFill>
            </a:endParaRPr>
          </a:p>
        </p:txBody>
      </p:sp>
      <p:sp>
        <p:nvSpPr>
          <p:cNvPr id="56" name="圆角矩形标注 55"/>
          <p:cNvSpPr/>
          <p:nvPr/>
        </p:nvSpPr>
        <p:spPr>
          <a:xfrm>
            <a:off x="9968230" y="3043261"/>
            <a:ext cx="1978660" cy="1116965"/>
          </a:xfrm>
          <a:prstGeom prst="wedgeRoundRectCallout">
            <a:avLst>
              <a:gd name="adj1" fmla="val -48743"/>
              <a:gd name="adj2" fmla="val 69747"/>
              <a:gd name="adj3" fmla="val 16667"/>
            </a:avLst>
          </a:prstGeom>
          <a:noFill/>
          <a:ln w="28575" cmpd="dbl">
            <a:solidFill>
              <a:srgbClr val="FC611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1400" dirty="0">
                <a:solidFill>
                  <a:schemeClr val="tx1"/>
                </a:solidFill>
                <a:sym typeface="+mn-ea"/>
              </a:rPr>
              <a:t> </a:t>
            </a:r>
          </a:p>
          <a:p>
            <a:pPr algn="l"/>
            <a:r>
              <a:rPr lang="zh-CN" altLang="zh-CN" sz="1600" dirty="0" smtClean="0">
                <a:solidFill>
                  <a:schemeClr val="tx1"/>
                </a:solidFill>
                <a:sym typeface="+mn-ea"/>
              </a:rPr>
              <a:t>功能</a:t>
            </a:r>
            <a:r>
              <a:rPr lang="en-US" altLang="zh-CN" sz="1400" dirty="0">
                <a:solidFill>
                  <a:schemeClr val="tx1"/>
                </a:solidFill>
                <a:sym typeface="+mn-ea"/>
              </a:rPr>
              <a:t>:</a:t>
            </a:r>
          </a:p>
          <a:p>
            <a:pPr algn="l"/>
            <a:r>
              <a:rPr lang="zh-CN" altLang="en-US" sz="1600" dirty="0" smtClean="0">
                <a:solidFill>
                  <a:schemeClr val="tx1"/>
                </a:solidFill>
                <a:sym typeface="+mn-ea"/>
              </a:rPr>
              <a:t>支撑</a:t>
            </a:r>
            <a:r>
              <a:rPr lang="en-US" altLang="zh-CN" sz="1600" dirty="0">
                <a:solidFill>
                  <a:schemeClr val="tx1"/>
                </a:solidFill>
                <a:sym typeface="+mn-ea"/>
              </a:rPr>
              <a:t>web</a:t>
            </a:r>
            <a:r>
              <a:rPr lang="zh-CN" altLang="en-US" sz="1600" dirty="0">
                <a:solidFill>
                  <a:schemeClr val="tx1"/>
                </a:solidFill>
                <a:sym typeface="+mn-ea"/>
              </a:rPr>
              <a:t>系统</a:t>
            </a:r>
          </a:p>
          <a:p>
            <a:pPr algn="l"/>
            <a:endParaRPr lang="zh-CN" altLang="en-US" sz="1600" dirty="0">
              <a:solidFill>
                <a:schemeClr val="tx1"/>
              </a:solidFill>
              <a:sym typeface="+mn-ea"/>
            </a:endParaRPr>
          </a:p>
        </p:txBody>
      </p:sp>
      <p:sp>
        <p:nvSpPr>
          <p:cNvPr id="86" name="文本框 85"/>
          <p:cNvSpPr txBox="1"/>
          <p:nvPr/>
        </p:nvSpPr>
        <p:spPr>
          <a:xfrm>
            <a:off x="8476987" y="1617768"/>
            <a:ext cx="825867" cy="246221"/>
          </a:xfrm>
          <a:prstGeom prst="rect">
            <a:avLst/>
          </a:prstGeom>
          <a:noFill/>
        </p:spPr>
        <p:txBody>
          <a:bodyPr wrap="none" rtlCol="0">
            <a:spAutoFit/>
          </a:bodyPr>
          <a:lstStyle/>
          <a:p>
            <a:r>
              <a:rPr lang="zh-CN" altLang="en-US" sz="1000" b="1" dirty="0" smtClean="0">
                <a:solidFill>
                  <a:srgbClr val="0070C0"/>
                </a:solidFill>
                <a:latin typeface="微软雅黑" panose="020B0503020204020204" pitchFamily="34" charset="-122"/>
                <a:ea typeface="微软雅黑" panose="020B0503020204020204" pitchFamily="34" charset="-122"/>
              </a:rPr>
              <a:t>数据服务器</a:t>
            </a:r>
            <a:endParaRPr lang="en-US" altLang="zh-CN" sz="1000" b="1" dirty="0" smtClean="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par>
    </p:tnLst>
    <p:bldLst>
      <p:bldP spid="28" grpId="0" animBg="1"/>
      <p:bldP spid="34" grpId="0"/>
      <p:bldP spid="43" grpId="0" animBg="1"/>
      <p:bldP spid="44" grpId="0" animBg="1"/>
      <p:bldP spid="46" grpId="0" animBg="1"/>
      <p:bldP spid="47" grpId="0" animBg="1"/>
      <p:bldP spid="48" grpId="0"/>
      <p:bldP spid="5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2354491"/>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数据分析：</a:t>
            </a:r>
            <a:endParaRPr lang="en-US" altLang="zh-CN" sz="1400" dirty="0"/>
          </a:p>
          <a:p>
            <a:pPr marL="742950" lvl="1" indent="-285750">
              <a:lnSpc>
                <a:spcPct val="150000"/>
              </a:lnSpc>
              <a:buFont typeface="Arial" panose="020B0604020202020204" pitchFamily="34" charset="0"/>
              <a:buChar char="•"/>
            </a:pPr>
            <a:r>
              <a:rPr lang="zh-CN" altLang="en-US" sz="1400" dirty="0" smtClean="0"/>
              <a:t>常用</a:t>
            </a:r>
            <a:r>
              <a:rPr lang="zh-CN" altLang="en-US" sz="1400" dirty="0"/>
              <a:t>分析</a:t>
            </a:r>
            <a:r>
              <a:rPr lang="zh-CN" altLang="en-US" sz="1400" dirty="0" smtClean="0"/>
              <a:t>自动</a:t>
            </a:r>
            <a:r>
              <a:rPr lang="zh-CN" altLang="en-US" sz="1400" dirty="0" smtClean="0"/>
              <a:t>完成</a:t>
            </a:r>
            <a:endParaRPr lang="en-US" altLang="zh-CN" sz="1400" dirty="0" smtClean="0"/>
          </a:p>
          <a:p>
            <a:pPr marL="742950" lvl="1" indent="-285750">
              <a:lnSpc>
                <a:spcPct val="150000"/>
              </a:lnSpc>
              <a:buFont typeface="Arial" panose="020B0604020202020204" pitchFamily="34" charset="0"/>
              <a:buChar char="•"/>
            </a:pPr>
            <a:r>
              <a:rPr lang="zh-CN" altLang="en-US" sz="1400" dirty="0"/>
              <a:t>自动</a:t>
            </a:r>
            <a:r>
              <a:rPr lang="zh-CN" altLang="en-US" sz="1400" dirty="0" smtClean="0"/>
              <a:t>调整门限</a:t>
            </a:r>
            <a:r>
              <a:rPr lang="zh-CN" altLang="en-US" sz="1400" dirty="0" smtClean="0"/>
              <a:t>阈值</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智能挖掘数据关联</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数据异常及时告警</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潜在问题提前预测</a:t>
            </a:r>
            <a:endParaRPr lang="en-US" altLang="zh-CN" sz="1400" dirty="0" smtClean="0"/>
          </a:p>
        </p:txBody>
      </p:sp>
      <p:sp>
        <p:nvSpPr>
          <p:cNvPr id="3" name="文本框 2"/>
          <p:cNvSpPr txBox="1"/>
          <p:nvPr/>
        </p:nvSpPr>
        <p:spPr>
          <a:xfrm>
            <a:off x="6629400" y="2049565"/>
            <a:ext cx="3324225" cy="369332"/>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0725" y="523504"/>
            <a:ext cx="5314286" cy="1333333"/>
          </a:xfrm>
          <a:prstGeom prst="rect">
            <a:avLst/>
          </a:prstGeom>
        </p:spPr>
      </p:pic>
      <p:sp>
        <p:nvSpPr>
          <p:cNvPr id="11" name="文本框 10"/>
          <p:cNvSpPr txBox="1"/>
          <p:nvPr/>
        </p:nvSpPr>
        <p:spPr>
          <a:xfrm>
            <a:off x="6276975" y="2049565"/>
            <a:ext cx="4267200" cy="369332"/>
          </a:xfrm>
          <a:prstGeom prst="rect">
            <a:avLst/>
          </a:prstGeom>
          <a:noFill/>
        </p:spPr>
        <p:txBody>
          <a:bodyPr wrap="square" rtlCol="0">
            <a:spAutoFit/>
          </a:bodyPr>
          <a:lstStyle/>
          <a:p>
            <a:pPr algn="ctr"/>
            <a:r>
              <a:rPr lang="zh-CN" altLang="en-US" dirty="0" smtClean="0"/>
              <a:t>预警门限自动调整</a:t>
            </a:r>
            <a:endParaRPr lang="zh-CN" altLang="en-US"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6976" y="2703966"/>
            <a:ext cx="4362450" cy="3200669"/>
          </a:xfrm>
          <a:prstGeom prst="rect">
            <a:avLst/>
          </a:prstGeom>
        </p:spPr>
      </p:pic>
      <p:sp>
        <p:nvSpPr>
          <p:cNvPr id="14" name="文本框 13"/>
          <p:cNvSpPr txBox="1"/>
          <p:nvPr/>
        </p:nvSpPr>
        <p:spPr>
          <a:xfrm>
            <a:off x="6629400" y="3600450"/>
            <a:ext cx="1104900" cy="369332"/>
          </a:xfrm>
          <a:prstGeom prst="rect">
            <a:avLst/>
          </a:prstGeom>
          <a:noFill/>
        </p:spPr>
        <p:txBody>
          <a:bodyPr wrap="square" rtlCol="0">
            <a:spAutoFit/>
          </a:bodyPr>
          <a:lstStyle/>
          <a:p>
            <a:r>
              <a:rPr lang="zh-CN" altLang="en-US" dirty="0" smtClean="0"/>
              <a:t>原始数据</a:t>
            </a:r>
            <a:endParaRPr lang="zh-CN" altLang="en-US" dirty="0"/>
          </a:p>
        </p:txBody>
      </p:sp>
      <p:sp>
        <p:nvSpPr>
          <p:cNvPr id="16" name="文本框 15"/>
          <p:cNvSpPr txBox="1"/>
          <p:nvPr/>
        </p:nvSpPr>
        <p:spPr>
          <a:xfrm>
            <a:off x="7886700" y="4114799"/>
            <a:ext cx="914400" cy="523220"/>
          </a:xfrm>
          <a:prstGeom prst="rect">
            <a:avLst/>
          </a:prstGeom>
          <a:noFill/>
        </p:spPr>
        <p:txBody>
          <a:bodyPr wrap="square" rtlCol="0">
            <a:spAutoFit/>
          </a:bodyPr>
          <a:lstStyle/>
          <a:p>
            <a:r>
              <a:rPr lang="zh-CN" altLang="en-US" sz="1400" dirty="0" smtClean="0"/>
              <a:t>数据关联分析</a:t>
            </a:r>
            <a:endParaRPr lang="zh-CN" altLang="en-US" dirty="0"/>
          </a:p>
        </p:txBody>
      </p:sp>
      <p:sp>
        <p:nvSpPr>
          <p:cNvPr id="18" name="文本框 17"/>
          <p:cNvSpPr txBox="1"/>
          <p:nvPr/>
        </p:nvSpPr>
        <p:spPr>
          <a:xfrm>
            <a:off x="8162925" y="4638019"/>
            <a:ext cx="914400" cy="276999"/>
          </a:xfrm>
          <a:prstGeom prst="rect">
            <a:avLst/>
          </a:prstGeom>
          <a:noFill/>
        </p:spPr>
        <p:txBody>
          <a:bodyPr wrap="square" rtlCol="0">
            <a:spAutoFit/>
          </a:bodyPr>
          <a:lstStyle/>
          <a:p>
            <a:r>
              <a:rPr lang="zh-CN" altLang="en-US" sz="1200" dirty="0" smtClean="0"/>
              <a:t>数据聚类</a:t>
            </a:r>
            <a:endParaRPr lang="zh-CN" altLang="en-US" sz="1200" dirty="0"/>
          </a:p>
        </p:txBody>
      </p:sp>
      <p:sp>
        <p:nvSpPr>
          <p:cNvPr id="19" name="文本框 18"/>
          <p:cNvSpPr txBox="1"/>
          <p:nvPr/>
        </p:nvSpPr>
        <p:spPr>
          <a:xfrm>
            <a:off x="9263063" y="4613937"/>
            <a:ext cx="1057502" cy="276999"/>
          </a:xfrm>
          <a:prstGeom prst="rect">
            <a:avLst/>
          </a:prstGeom>
          <a:noFill/>
        </p:spPr>
        <p:txBody>
          <a:bodyPr wrap="square" rtlCol="0">
            <a:spAutoFit/>
          </a:bodyPr>
          <a:lstStyle/>
          <a:p>
            <a:r>
              <a:rPr lang="zh-CN" altLang="en-US" sz="1200" dirty="0" smtClean="0"/>
              <a:t>数据聚类簇</a:t>
            </a:r>
            <a:endParaRPr lang="zh-CN" altLang="en-US" sz="1200" dirty="0"/>
          </a:p>
        </p:txBody>
      </p:sp>
      <p:sp>
        <p:nvSpPr>
          <p:cNvPr id="20" name="文本框 19"/>
          <p:cNvSpPr txBox="1"/>
          <p:nvPr/>
        </p:nvSpPr>
        <p:spPr>
          <a:xfrm>
            <a:off x="6276975" y="6058523"/>
            <a:ext cx="4267200" cy="369332"/>
          </a:xfrm>
          <a:prstGeom prst="rect">
            <a:avLst/>
          </a:prstGeom>
          <a:noFill/>
        </p:spPr>
        <p:txBody>
          <a:bodyPr wrap="square" rtlCol="0">
            <a:spAutoFit/>
          </a:bodyPr>
          <a:lstStyle/>
          <a:p>
            <a:pPr algn="ctr"/>
            <a:r>
              <a:rPr lang="zh-CN" altLang="en-US" dirty="0" smtClean="0"/>
              <a:t>智能数据关联</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061829"/>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呈现：</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通过全景图直观全面呈现</a:t>
            </a:r>
            <a:endParaRPr lang="en-US" altLang="zh-CN" sz="1400" dirty="0"/>
          </a:p>
        </p:txBody>
      </p:sp>
      <p:sp>
        <p:nvSpPr>
          <p:cNvPr id="2" name="文本框 1"/>
          <p:cNvSpPr txBox="1"/>
          <p:nvPr/>
        </p:nvSpPr>
        <p:spPr>
          <a:xfrm>
            <a:off x="6429375" y="3373380"/>
            <a:ext cx="1838325" cy="369332"/>
          </a:xfrm>
          <a:prstGeom prst="rect">
            <a:avLst/>
          </a:prstGeom>
          <a:noFill/>
        </p:spPr>
        <p:txBody>
          <a:bodyPr wrap="square" rtlCol="0">
            <a:spAutoFit/>
          </a:bodyPr>
          <a:lstStyle/>
          <a:p>
            <a:r>
              <a:rPr lang="zh-CN" altLang="en-US" dirty="0" smtClean="0"/>
              <a:t>驾驶舱演示视频</a:t>
            </a:r>
            <a:endParaRPr lang="zh-CN" altLang="en-US" dirty="0"/>
          </a:p>
        </p:txBody>
      </p:sp>
    </p:spTree>
    <p:extLst>
      <p:ext uri="{BB962C8B-B14F-4D97-AF65-F5344CB8AC3E}">
        <p14:creationId xmlns:p14="http://schemas.microsoft.com/office/powerpoint/2010/main" val="924282353"/>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29" name="矩形 28"/>
          <p:cNvSpPr/>
          <p:nvPr/>
        </p:nvSpPr>
        <p:spPr>
          <a:xfrm>
            <a:off x="1072023" y="504334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30" name="矩形 29"/>
          <p:cNvSpPr/>
          <p:nvPr/>
        </p:nvSpPr>
        <p:spPr>
          <a:xfrm>
            <a:off x="1076943" y="439441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32" name="矩形 31"/>
          <p:cNvSpPr/>
          <p:nvPr/>
        </p:nvSpPr>
        <p:spPr>
          <a:xfrm>
            <a:off x="1076943" y="267381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33" name="矩形 32"/>
          <p:cNvSpPr/>
          <p:nvPr/>
        </p:nvSpPr>
        <p:spPr>
          <a:xfrm>
            <a:off x="1091688" y="178886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34" name="矩形 33"/>
          <p:cNvSpPr/>
          <p:nvPr/>
        </p:nvSpPr>
        <p:spPr>
          <a:xfrm>
            <a:off x="8721507" y="2678376"/>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endParaRPr lang="en-US" altLang="zh-CN" sz="1600" dirty="0" smtClean="0"/>
          </a:p>
          <a:p>
            <a:pPr algn="ctr"/>
            <a:r>
              <a:rPr lang="zh-CN" altLang="en-US" sz="1600" dirty="0" smtClean="0"/>
              <a:t>故障处理、专案保障</a:t>
            </a:r>
            <a:endParaRPr lang="zh-CN" altLang="en-US" sz="1600" dirty="0"/>
          </a:p>
        </p:txBody>
      </p:sp>
      <p:sp>
        <p:nvSpPr>
          <p:cNvPr id="35" name="矩形 34"/>
          <p:cNvSpPr/>
          <p:nvPr/>
        </p:nvSpPr>
        <p:spPr>
          <a:xfrm>
            <a:off x="2517366" y="1788555"/>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网络全景图、运</a:t>
            </a:r>
            <a:r>
              <a:rPr lang="zh-CN" altLang="en-US" dirty="0" smtClean="0"/>
              <a:t>维场景应用、故障跟踪处理、信息查询、多维分析等</a:t>
            </a:r>
            <a:endParaRPr lang="zh-CN" altLang="en-US" dirty="0"/>
          </a:p>
        </p:txBody>
      </p:sp>
      <p:sp>
        <p:nvSpPr>
          <p:cNvPr id="36" name="矩形 35"/>
          <p:cNvSpPr/>
          <p:nvPr/>
        </p:nvSpPr>
        <p:spPr>
          <a:xfrm>
            <a:off x="2517365" y="5038109"/>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37" name="矩形 36"/>
          <p:cNvSpPr/>
          <p:nvPr/>
        </p:nvSpPr>
        <p:spPr>
          <a:xfrm>
            <a:off x="2517365" y="4389187"/>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a:t>
            </a:r>
            <a:r>
              <a:rPr lang="zh-CN" altLang="en-US" dirty="0" smtClean="0"/>
              <a:t>数据</a:t>
            </a:r>
            <a:r>
              <a:rPr lang="zh-CN" altLang="en-US" dirty="0" smtClean="0"/>
              <a:t>处理</a:t>
            </a:r>
            <a:endParaRPr lang="zh-CN" altLang="en-US" dirty="0"/>
          </a:p>
        </p:txBody>
      </p:sp>
      <p:sp>
        <p:nvSpPr>
          <p:cNvPr id="38" name="矩形 37"/>
          <p:cNvSpPr/>
          <p:nvPr/>
        </p:nvSpPr>
        <p:spPr>
          <a:xfrm>
            <a:off x="2517365" y="2688207"/>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39" name="矩形 38"/>
          <p:cNvSpPr/>
          <p:nvPr/>
        </p:nvSpPr>
        <p:spPr>
          <a:xfrm>
            <a:off x="10260256" y="1798388"/>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40" name="矩形 39"/>
          <p:cNvSpPr/>
          <p:nvPr/>
        </p:nvSpPr>
        <p:spPr>
          <a:xfrm>
            <a:off x="2517365" y="3224067"/>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41" name="矩形 40"/>
          <p:cNvSpPr/>
          <p:nvPr/>
        </p:nvSpPr>
        <p:spPr>
          <a:xfrm>
            <a:off x="2517365" y="3804166"/>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5637974" y="2408303"/>
            <a:ext cx="2653452"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smtClean="0"/>
              <a:t>数据</a:t>
            </a:r>
            <a:r>
              <a:rPr lang="zh-CN" altLang="en-US" dirty="0"/>
              <a:t>处理</a:t>
            </a:r>
            <a:r>
              <a:rPr lang="zh-CN" altLang="en-US" dirty="0" smtClean="0"/>
              <a:t>模块</a:t>
            </a:r>
            <a:endParaRPr lang="zh-CN" altLang="en-US" dirty="0"/>
          </a:p>
          <a:p>
            <a:pPr marL="285750" indent="-285750">
              <a:lnSpc>
                <a:spcPct val="150000"/>
              </a:lnSpc>
              <a:buFont typeface="Arial" panose="020B0604020202020204" pitchFamily="34" charset="0"/>
              <a:buChar char="•"/>
            </a:pPr>
            <a:r>
              <a:rPr lang="zh-CN" altLang="en-US" dirty="0" smtClean="0"/>
              <a:t>自主学习</a:t>
            </a:r>
            <a:r>
              <a:rPr lang="zh-CN" altLang="en-US" dirty="0" smtClean="0"/>
              <a:t>模块</a:t>
            </a:r>
            <a:endParaRPr lang="zh-CN" altLang="en-US" dirty="0"/>
          </a:p>
          <a:p>
            <a:pPr marL="285750" indent="-285750">
              <a:lnSpc>
                <a:spcPct val="150000"/>
              </a:lnSpc>
              <a:buFont typeface="Arial" panose="020B0604020202020204" pitchFamily="34" charset="0"/>
              <a:buChar char="•"/>
            </a:pPr>
            <a:r>
              <a:rPr lang="zh-CN" altLang="en-US" dirty="0"/>
              <a:t>业务管理模块</a:t>
            </a:r>
          </a:p>
          <a:p>
            <a:pPr marL="285750" indent="-285750">
              <a:lnSpc>
                <a:spcPct val="150000"/>
              </a:lnSpc>
              <a:buFont typeface="Arial" panose="020B0604020202020204" pitchFamily="34" charset="0"/>
              <a:buChar char="•"/>
            </a:pPr>
            <a:r>
              <a:rPr lang="zh-CN" altLang="en-US" dirty="0" smtClean="0"/>
              <a:t>故障处理</a:t>
            </a:r>
            <a:r>
              <a:rPr lang="zh-CN" altLang="en-US" dirty="0"/>
              <a:t>模块</a:t>
            </a:r>
          </a:p>
          <a:p>
            <a:pPr marL="285750" indent="-285750">
              <a:lnSpc>
                <a:spcPct val="150000"/>
              </a:lnSpc>
              <a:buFont typeface="Arial" panose="020B0604020202020204" pitchFamily="34" charset="0"/>
              <a:buChar char="•"/>
            </a:pPr>
            <a:r>
              <a:rPr lang="zh-CN" altLang="en-US" dirty="0" smtClean="0"/>
              <a:t>专案保障</a:t>
            </a:r>
            <a:r>
              <a:rPr lang="zh-CN" altLang="en-US" dirty="0" smtClean="0"/>
              <a:t>模块</a:t>
            </a:r>
            <a:endParaRPr lang="zh-CN" altLang="en-US" dirty="0"/>
          </a:p>
        </p:txBody>
      </p:sp>
      <p:sp>
        <p:nvSpPr>
          <p:cNvPr id="20" name="文本框 19"/>
          <p:cNvSpPr txBox="1"/>
          <p:nvPr/>
        </p:nvSpPr>
        <p:spPr>
          <a:xfrm>
            <a:off x="4029710" y="2675858"/>
            <a:ext cx="1097280" cy="368300"/>
          </a:xfrm>
          <a:prstGeom prst="rect">
            <a:avLst/>
          </a:prstGeom>
          <a:noFill/>
        </p:spPr>
        <p:txBody>
          <a:bodyPr wrap="none" rtlCol="0">
            <a:spAutoFit/>
          </a:bodyPr>
          <a:lstStyle/>
          <a:p>
            <a:r>
              <a:rPr lang="zh-CN" altLang="en-US" dirty="0"/>
              <a:t>感知系统</a:t>
            </a:r>
          </a:p>
        </p:txBody>
      </p:sp>
      <p:sp>
        <p:nvSpPr>
          <p:cNvPr id="21" name="文本框 20"/>
          <p:cNvSpPr txBox="1"/>
          <p:nvPr/>
        </p:nvSpPr>
        <p:spPr>
          <a:xfrm>
            <a:off x="4029710" y="3506709"/>
            <a:ext cx="1097280" cy="368300"/>
          </a:xfrm>
          <a:prstGeom prst="rect">
            <a:avLst/>
          </a:prstGeom>
          <a:noFill/>
        </p:spPr>
        <p:txBody>
          <a:bodyPr wrap="none" rtlCol="0">
            <a:spAutoFit/>
          </a:bodyPr>
          <a:lstStyle/>
          <a:p>
            <a:r>
              <a:rPr lang="zh-CN" altLang="en-US" dirty="0"/>
              <a:t>决策系统</a:t>
            </a:r>
          </a:p>
        </p:txBody>
      </p:sp>
      <p:sp>
        <p:nvSpPr>
          <p:cNvPr id="22" name="文本框 21"/>
          <p:cNvSpPr txBox="1"/>
          <p:nvPr/>
        </p:nvSpPr>
        <p:spPr>
          <a:xfrm>
            <a:off x="4029710" y="4291179"/>
            <a:ext cx="1097280" cy="368300"/>
          </a:xfrm>
          <a:prstGeom prst="rect">
            <a:avLst/>
          </a:prstGeom>
          <a:noFill/>
        </p:spPr>
        <p:txBody>
          <a:bodyPr wrap="none" rtlCol="0">
            <a:spAutoFit/>
          </a:bodyPr>
          <a:lstStyle/>
          <a:p>
            <a:r>
              <a:rPr lang="zh-CN" altLang="en-US"/>
              <a:t>控制系统</a:t>
            </a:r>
          </a:p>
        </p:txBody>
      </p:sp>
      <p:sp>
        <p:nvSpPr>
          <p:cNvPr id="23" name="左大括号 22"/>
          <p:cNvSpPr/>
          <p:nvPr/>
        </p:nvSpPr>
        <p:spPr>
          <a:xfrm>
            <a:off x="5403215" y="2672080"/>
            <a:ext cx="234759" cy="454597"/>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4" name="左大括号 23"/>
          <p:cNvSpPr/>
          <p:nvPr/>
        </p:nvSpPr>
        <p:spPr>
          <a:xfrm>
            <a:off x="5403120" y="3481889"/>
            <a:ext cx="234950" cy="43815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5" name="左大括号 24"/>
          <p:cNvSpPr/>
          <p:nvPr/>
        </p:nvSpPr>
        <p:spPr>
          <a:xfrm>
            <a:off x="5398488" y="4291179"/>
            <a:ext cx="234950" cy="517973"/>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603808529"/>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070901" y="894080"/>
            <a:ext cx="3450077" cy="5107305"/>
          </a:xfrm>
          <a:prstGeom prst="roundRect">
            <a:avLst/>
          </a:prstGeom>
          <a:ln w="38100">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57250"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5774" y="646483"/>
            <a:ext cx="1169292" cy="369332"/>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sp>
        <p:nvSpPr>
          <p:cNvPr id="10" name="文本框 9"/>
          <p:cNvSpPr txBox="1"/>
          <p:nvPr/>
        </p:nvSpPr>
        <p:spPr>
          <a:xfrm>
            <a:off x="42076" y="3116558"/>
            <a:ext cx="1325880" cy="645160"/>
          </a:xfrm>
          <a:prstGeom prst="rect">
            <a:avLst/>
          </a:prstGeom>
          <a:noFill/>
        </p:spPr>
        <p:txBody>
          <a:bodyPr wrap="none" rtlCol="0">
            <a:spAutoFit/>
          </a:bodyPr>
          <a:lstStyle/>
          <a:p>
            <a:r>
              <a:rPr lang="zh-CN" altLang="en-US" dirty="0"/>
              <a:t>感知对象：</a:t>
            </a:r>
          </a:p>
          <a:p>
            <a:r>
              <a:rPr lang="zh-CN" altLang="en-US" dirty="0"/>
              <a:t>各类数据源</a:t>
            </a:r>
          </a:p>
        </p:txBody>
      </p:sp>
      <p:sp>
        <p:nvSpPr>
          <p:cNvPr id="11" name="KSO_Shape"/>
          <p:cNvSpPr/>
          <p:nvPr/>
        </p:nvSpPr>
        <p:spPr bwMode="auto">
          <a:xfrm>
            <a:off x="2264576" y="1171553"/>
            <a:ext cx="925195" cy="70802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3300261" y="1341733"/>
            <a:ext cx="1097280" cy="368300"/>
          </a:xfrm>
          <a:prstGeom prst="rect">
            <a:avLst/>
          </a:prstGeom>
          <a:noFill/>
        </p:spPr>
        <p:txBody>
          <a:bodyPr wrap="none" rtlCol="0">
            <a:spAutoFit/>
          </a:bodyPr>
          <a:lstStyle/>
          <a:p>
            <a:r>
              <a:rPr lang="zh-CN" altLang="en-US" dirty="0"/>
              <a:t>用户数据</a:t>
            </a:r>
          </a:p>
        </p:txBody>
      </p:sp>
      <p:pic>
        <p:nvPicPr>
          <p:cNvPr id="13" name="图片 12" descr="business_Card_47.481081081081px_1197727_easyicon.net"/>
          <p:cNvPicPr>
            <a:picLocks noChangeAspect="1"/>
          </p:cNvPicPr>
          <p:nvPr/>
        </p:nvPicPr>
        <p:blipFill>
          <a:blip r:embed="rId3"/>
          <a:stretch>
            <a:fillRect/>
          </a:stretch>
        </p:blipFill>
        <p:spPr>
          <a:xfrm>
            <a:off x="2335696" y="2242163"/>
            <a:ext cx="782955" cy="799465"/>
          </a:xfrm>
          <a:prstGeom prst="rect">
            <a:avLst/>
          </a:prstGeom>
        </p:spPr>
      </p:pic>
      <p:sp>
        <p:nvSpPr>
          <p:cNvPr id="14" name="文本框 13"/>
          <p:cNvSpPr txBox="1"/>
          <p:nvPr/>
        </p:nvSpPr>
        <p:spPr>
          <a:xfrm>
            <a:off x="3300261" y="2458063"/>
            <a:ext cx="1097280" cy="36830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2223936" y="4738348"/>
            <a:ext cx="1005840" cy="967740"/>
          </a:xfrm>
          <a:prstGeom prst="rect">
            <a:avLst/>
          </a:prstGeom>
        </p:spPr>
      </p:pic>
      <p:sp>
        <p:nvSpPr>
          <p:cNvPr id="16" name="文本框 15"/>
          <p:cNvSpPr txBox="1"/>
          <p:nvPr/>
        </p:nvSpPr>
        <p:spPr>
          <a:xfrm>
            <a:off x="3300261" y="4922498"/>
            <a:ext cx="1097280" cy="36830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2239811" y="3402308"/>
            <a:ext cx="975360" cy="975360"/>
          </a:xfrm>
          <a:prstGeom prst="rect">
            <a:avLst/>
          </a:prstGeom>
        </p:spPr>
      </p:pic>
      <p:sp>
        <p:nvSpPr>
          <p:cNvPr id="19" name="文本框 18"/>
          <p:cNvSpPr txBox="1"/>
          <p:nvPr/>
        </p:nvSpPr>
        <p:spPr>
          <a:xfrm>
            <a:off x="3300261" y="3705838"/>
            <a:ext cx="1097280" cy="368300"/>
          </a:xfrm>
          <a:prstGeom prst="rect">
            <a:avLst/>
          </a:prstGeom>
          <a:noFill/>
        </p:spPr>
        <p:txBody>
          <a:bodyPr wrap="none" rtlCol="0">
            <a:spAutoFit/>
          </a:bodyPr>
          <a:lstStyle/>
          <a:p>
            <a:r>
              <a:rPr lang="zh-CN" altLang="en-US"/>
              <a:t>网络数据</a:t>
            </a:r>
          </a:p>
        </p:txBody>
      </p:sp>
      <p:sp>
        <p:nvSpPr>
          <p:cNvPr id="20" name="左大括号 19"/>
          <p:cNvSpPr/>
          <p:nvPr/>
        </p:nvSpPr>
        <p:spPr>
          <a:xfrm>
            <a:off x="1432726" y="1171553"/>
            <a:ext cx="360680" cy="4534535"/>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6" name="文本框 25"/>
          <p:cNvSpPr txBox="1"/>
          <p:nvPr/>
        </p:nvSpPr>
        <p:spPr>
          <a:xfrm>
            <a:off x="3485681" y="610213"/>
            <a:ext cx="1783080" cy="645160"/>
          </a:xfrm>
          <a:prstGeom prst="rect">
            <a:avLst/>
          </a:prstGeom>
          <a:solidFill>
            <a:schemeClr val="accent5">
              <a:lumMod val="40000"/>
              <a:lumOff val="60000"/>
            </a:schemeClr>
          </a:solidFill>
        </p:spPr>
        <p:txBody>
          <a:bodyPr wrap="none" rtlCol="0">
            <a:spAutoFit/>
          </a:bodyPr>
          <a:lstStyle/>
          <a:p>
            <a:r>
              <a:rPr lang="zh-CN" altLang="en-US" dirty="0"/>
              <a:t>感知渠道：</a:t>
            </a:r>
          </a:p>
          <a:p>
            <a:r>
              <a:rPr lang="zh-CN" altLang="en-US" dirty="0"/>
              <a:t>丰富的数据接口</a:t>
            </a:r>
          </a:p>
        </p:txBody>
      </p:sp>
      <p:sp>
        <p:nvSpPr>
          <p:cNvPr id="27" name="文本框 26"/>
          <p:cNvSpPr txBox="1"/>
          <p:nvPr/>
        </p:nvSpPr>
        <p:spPr>
          <a:xfrm>
            <a:off x="10952368" y="3633199"/>
            <a:ext cx="1107996" cy="369332"/>
          </a:xfrm>
          <a:prstGeom prst="rect">
            <a:avLst/>
          </a:prstGeom>
          <a:noFill/>
        </p:spPr>
        <p:txBody>
          <a:bodyPr wrap="none" rtlCol="0">
            <a:spAutoFit/>
          </a:bodyPr>
          <a:lstStyle/>
          <a:p>
            <a:r>
              <a:rPr lang="zh-CN" altLang="en-US" dirty="0" smtClean="0"/>
              <a:t>数据仓库</a:t>
            </a:r>
            <a:endParaRPr lang="zh-CN" altLang="en-US" dirty="0"/>
          </a:p>
        </p:txBody>
      </p:sp>
      <p:pic>
        <p:nvPicPr>
          <p:cNvPr id="28" name="图片 27" descr="STORAGE_135.26977687627px_1199104_easyicon.net"/>
          <p:cNvPicPr>
            <a:picLocks noChangeAspect="1"/>
          </p:cNvPicPr>
          <p:nvPr/>
        </p:nvPicPr>
        <p:blipFill>
          <a:blip r:embed="rId6"/>
          <a:stretch>
            <a:fillRect/>
          </a:stretch>
        </p:blipFill>
        <p:spPr>
          <a:xfrm>
            <a:off x="10818026" y="2237718"/>
            <a:ext cx="1376680" cy="1305560"/>
          </a:xfrm>
          <a:prstGeom prst="rect">
            <a:avLst/>
          </a:prstGeom>
        </p:spPr>
      </p:pic>
      <p:sp>
        <p:nvSpPr>
          <p:cNvPr id="29" name="燕尾形箭头 28"/>
          <p:cNvSpPr/>
          <p:nvPr/>
        </p:nvSpPr>
        <p:spPr>
          <a:xfrm>
            <a:off x="8105941" y="2720318"/>
            <a:ext cx="2712085"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7" name="燕尾形箭头 116"/>
          <p:cNvSpPr/>
          <p:nvPr/>
        </p:nvSpPr>
        <p:spPr>
          <a:xfrm>
            <a:off x="5530046" y="2784224"/>
            <a:ext cx="62865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2453171"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8521815" y="6041296"/>
            <a:ext cx="1569660" cy="369332"/>
          </a:xfrm>
          <a:prstGeom prst="rect">
            <a:avLst/>
          </a:prstGeom>
          <a:noFill/>
        </p:spPr>
        <p:txBody>
          <a:bodyPr wrap="none" rtlCol="0">
            <a:spAutoFit/>
          </a:bodyPr>
          <a:lstStyle/>
          <a:p>
            <a:r>
              <a:rPr lang="zh-CN" altLang="en-US" b="1" dirty="0" smtClean="0">
                <a:solidFill>
                  <a:schemeClr val="accent1"/>
                </a:solidFill>
                <a:effectLst>
                  <a:outerShdw blurRad="38100" dist="25400" dir="5400000" algn="ctr" rotWithShape="0">
                    <a:srgbClr val="6E747A">
                      <a:alpha val="43000"/>
                    </a:srgbClr>
                  </a:outerShdw>
                </a:effectLst>
              </a:rPr>
              <a:t>数据</a:t>
            </a:r>
            <a:r>
              <a:rPr lang="zh-CN" altLang="en-US" b="1" dirty="0">
                <a:solidFill>
                  <a:schemeClr val="accent1"/>
                </a:solidFill>
                <a:effectLst>
                  <a:outerShdw blurRad="38100" dist="25400" dir="5400000" algn="ctr" rotWithShape="0">
                    <a:srgbClr val="6E747A">
                      <a:alpha val="43000"/>
                    </a:srgbClr>
                  </a:outerShdw>
                </a:effectLst>
              </a:rPr>
              <a:t>处理</a:t>
            </a:r>
            <a:r>
              <a:rPr lang="zh-CN" altLang="en-US" b="1" dirty="0" smtClean="0">
                <a:solidFill>
                  <a:schemeClr val="accent1"/>
                </a:solidFill>
                <a:effectLst>
                  <a:outerShdw blurRad="38100" dist="25400" dir="5400000" algn="ctr" rotWithShape="0">
                    <a:srgbClr val="6E747A">
                      <a:alpha val="43000"/>
                    </a:srgbClr>
                  </a:outerShdw>
                </a:effectLst>
              </a:rPr>
              <a:t>模块</a:t>
            </a:r>
            <a:endParaRPr lang="zh-CN" altLang="en-US" b="1" dirty="0">
              <a:solidFill>
                <a:schemeClr val="accent1"/>
              </a:solidFill>
              <a:effectLst>
                <a:outerShdw blurRad="38100" dist="25400" dir="5400000" algn="ctr" rotWithShape="0">
                  <a:srgbClr val="6E747A">
                    <a:alpha val="43000"/>
                  </a:srgbClr>
                </a:outerShdw>
              </a:effectLst>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181845" y="2084547"/>
            <a:ext cx="1869493" cy="162129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8" name="矩形 17"/>
          <p:cNvSpPr/>
          <p:nvPr/>
        </p:nvSpPr>
        <p:spPr>
          <a:xfrm>
            <a:off x="6345420" y="298935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335794" y="224981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678694" y="224980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7022884" y="224980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362434" y="225392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711138" y="225186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335794" y="2610893"/>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345420"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69834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7060893" y="261089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684581"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022884" y="2987019"/>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363851" y="2989357"/>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6698343" y="336469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448246" y="1099053"/>
            <a:ext cx="1870605" cy="1632481"/>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68" name="矩形 67"/>
          <p:cNvSpPr/>
          <p:nvPr/>
        </p:nvSpPr>
        <p:spPr>
          <a:xfrm>
            <a:off x="8602195" y="126431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8945095" y="1264316"/>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9289285" y="1254371"/>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9631010" y="1264315"/>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9972735" y="1255775"/>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8618238" y="1620383"/>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8961138" y="1620382"/>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9305328" y="1610437"/>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9647053" y="1620381"/>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9988778" y="1611841"/>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8605418" y="2002450"/>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948318" y="2002449"/>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a:off x="9292508" y="1992504"/>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a:off x="9634233" y="2002448"/>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a:off x="9975958" y="1993908"/>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8605418" y="2355858"/>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8948318" y="2355857"/>
            <a:ext cx="216040" cy="244475"/>
          </a:xfrm>
          <a:prstGeom prst="rect">
            <a:avLst/>
          </a:prstGeom>
          <a:solidFill>
            <a:srgbClr val="12C869"/>
          </a:solidFill>
          <a:ln>
            <a:solidFill>
              <a:srgbClr val="12C8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92"/>
          <p:cNvSpPr/>
          <p:nvPr/>
        </p:nvSpPr>
        <p:spPr>
          <a:xfrm>
            <a:off x="9292508" y="2345912"/>
            <a:ext cx="216040" cy="24447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93"/>
          <p:cNvSpPr/>
          <p:nvPr/>
        </p:nvSpPr>
        <p:spPr>
          <a:xfrm>
            <a:off x="9634233" y="2355856"/>
            <a:ext cx="216040" cy="2444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p:cNvSpPr/>
          <p:nvPr/>
        </p:nvSpPr>
        <p:spPr>
          <a:xfrm>
            <a:off x="9975958" y="2347316"/>
            <a:ext cx="216040" cy="244475"/>
          </a:xfrm>
          <a:prstGeom prst="rect">
            <a:avLst/>
          </a:prstGeom>
          <a:solidFill>
            <a:srgbClr val="D9D9D9"/>
          </a:solidFill>
          <a:ln>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6524433" y="3862634"/>
            <a:ext cx="1054041" cy="338554"/>
          </a:xfrm>
          <a:prstGeom prst="rect">
            <a:avLst/>
          </a:prstGeom>
          <a:noFill/>
        </p:spPr>
        <p:txBody>
          <a:bodyPr wrap="square" rtlCol="0">
            <a:spAutoFit/>
          </a:bodyPr>
          <a:lstStyle/>
          <a:p>
            <a:r>
              <a:rPr lang="zh-CN" altLang="en-US" sz="1600" dirty="0" smtClean="0"/>
              <a:t>数据解码</a:t>
            </a:r>
            <a:endParaRPr lang="zh-CN" altLang="en-US" sz="1600" dirty="0"/>
          </a:p>
        </p:txBody>
      </p:sp>
      <p:sp>
        <p:nvSpPr>
          <p:cNvPr id="97" name="文本框 96"/>
          <p:cNvSpPr txBox="1"/>
          <p:nvPr/>
        </p:nvSpPr>
        <p:spPr>
          <a:xfrm>
            <a:off x="8861641" y="3100981"/>
            <a:ext cx="1201787" cy="338554"/>
          </a:xfrm>
          <a:prstGeom prst="rect">
            <a:avLst/>
          </a:prstGeom>
          <a:noFill/>
        </p:spPr>
        <p:txBody>
          <a:bodyPr wrap="square" rtlCol="0">
            <a:spAutoFit/>
          </a:bodyPr>
          <a:lstStyle/>
          <a:p>
            <a:r>
              <a:rPr lang="zh-CN" altLang="en-US" sz="1600" dirty="0" smtClean="0"/>
              <a:t>数据结构化</a:t>
            </a:r>
            <a:endParaRPr lang="zh-CN" altLang="en-US" sz="1600" dirty="0"/>
          </a:p>
        </p:txBody>
      </p:sp>
      <p:pic>
        <p:nvPicPr>
          <p:cNvPr id="98" name="Picture 2"/>
          <p:cNvPicPr>
            <a:picLocks noChangeAspect="1" noChangeArrowheads="1"/>
          </p:cNvPicPr>
          <p:nvPr/>
        </p:nvPicPr>
        <p:blipFill>
          <a:blip r:embed="rId7" cstate="print"/>
          <a:srcRect/>
          <a:stretch>
            <a:fillRect/>
          </a:stretch>
        </p:blipFill>
        <p:spPr bwMode="auto">
          <a:xfrm>
            <a:off x="4690855" y="2610892"/>
            <a:ext cx="785640" cy="874917"/>
          </a:xfrm>
          <a:prstGeom prst="rect">
            <a:avLst/>
          </a:prstGeom>
          <a:noFill/>
          <a:ln w="9525">
            <a:noFill/>
            <a:miter lim="800000"/>
            <a:headEnd/>
            <a:tailEnd/>
          </a:ln>
        </p:spPr>
      </p:pic>
      <p:cxnSp>
        <p:nvCxnSpPr>
          <p:cNvPr id="100" name="肘形连接符 99"/>
          <p:cNvCxnSpPr>
            <a:stCxn id="12" idx="1"/>
            <a:endCxn id="98" idx="1"/>
          </p:cNvCxnSpPr>
          <p:nvPr/>
        </p:nvCxnSpPr>
        <p:spPr>
          <a:xfrm rot="10800000" flipH="1" flipV="1">
            <a:off x="3300261" y="1525883"/>
            <a:ext cx="1390594" cy="1522468"/>
          </a:xfrm>
          <a:prstGeom prst="bentConnector3">
            <a:avLst>
              <a:gd name="adj1" fmla="val 294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13" idx="3"/>
          </p:cNvCxnSpPr>
          <p:nvPr/>
        </p:nvCxnSpPr>
        <p:spPr>
          <a:xfrm>
            <a:off x="3118651" y="2641896"/>
            <a:ext cx="1562578" cy="423656"/>
          </a:xfrm>
          <a:prstGeom prst="bentConnector3">
            <a:avLst>
              <a:gd name="adj1" fmla="val 148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肘形连接符 106"/>
          <p:cNvCxnSpPr>
            <a:stCxn id="17" idx="3"/>
            <a:endCxn id="98" idx="1"/>
          </p:cNvCxnSpPr>
          <p:nvPr/>
        </p:nvCxnSpPr>
        <p:spPr>
          <a:xfrm flipV="1">
            <a:off x="3215171" y="3048351"/>
            <a:ext cx="1475684" cy="841637"/>
          </a:xfrm>
          <a:prstGeom prst="bentConnector3">
            <a:avLst>
              <a:gd name="adj1" fmla="val 956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15" idx="3"/>
            <a:endCxn id="98" idx="1"/>
          </p:cNvCxnSpPr>
          <p:nvPr/>
        </p:nvCxnSpPr>
        <p:spPr>
          <a:xfrm flipV="1">
            <a:off x="3229776" y="3048351"/>
            <a:ext cx="1461079" cy="2173867"/>
          </a:xfrm>
          <a:prstGeom prst="bentConnector3">
            <a:avLst>
              <a:gd name="adj1" fmla="val 849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8" name="椭圆 117"/>
          <p:cNvSpPr/>
          <p:nvPr/>
        </p:nvSpPr>
        <p:spPr>
          <a:xfrm>
            <a:off x="3708571" y="278165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平行四边形 118"/>
          <p:cNvSpPr/>
          <p:nvPr/>
        </p:nvSpPr>
        <p:spPr>
          <a:xfrm>
            <a:off x="3682867" y="4088743"/>
            <a:ext cx="258084" cy="184150"/>
          </a:xfrm>
          <a:prstGeom prst="parallelogram">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等腰三角形 119"/>
          <p:cNvSpPr/>
          <p:nvPr/>
        </p:nvSpPr>
        <p:spPr>
          <a:xfrm>
            <a:off x="3668399" y="1708436"/>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正五边形 120"/>
          <p:cNvSpPr/>
          <p:nvPr/>
        </p:nvSpPr>
        <p:spPr>
          <a:xfrm>
            <a:off x="3671635" y="5346888"/>
            <a:ext cx="280547" cy="266700"/>
          </a:xfrm>
          <a:prstGeom prst="pentagon">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圆角矩形 122"/>
          <p:cNvSpPr/>
          <p:nvPr/>
        </p:nvSpPr>
        <p:spPr>
          <a:xfrm>
            <a:off x="6161402" y="894080"/>
            <a:ext cx="6030598" cy="5107304"/>
          </a:xfrm>
          <a:prstGeom prst="roundRect">
            <a:avLst/>
          </a:prstGeom>
          <a:noFill/>
          <a:ln w="38100" cap="flat" cmpd="sng" algn="ctr">
            <a:solidFill>
              <a:srgbClr val="D71DCA"/>
            </a:solidFill>
            <a:prstDash val="dash"/>
            <a:round/>
            <a:headEnd type="none" w="med" len="med"/>
            <a:tailEnd type="none" w="med" len="med"/>
          </a:ln>
          <a:extLst/>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4" name="文本框 123"/>
          <p:cNvSpPr txBox="1"/>
          <p:nvPr/>
        </p:nvSpPr>
        <p:spPr>
          <a:xfrm>
            <a:off x="4533848" y="3515753"/>
            <a:ext cx="902811" cy="307777"/>
          </a:xfrm>
          <a:prstGeom prst="rect">
            <a:avLst/>
          </a:prstGeom>
          <a:noFill/>
        </p:spPr>
        <p:txBody>
          <a:bodyPr wrap="none" rtlCol="0">
            <a:spAutoFit/>
          </a:bodyPr>
          <a:lstStyle/>
          <a:p>
            <a:r>
              <a:rPr lang="zh-CN" altLang="en-US" sz="1400" dirty="0" smtClean="0"/>
              <a:t>采集工具</a:t>
            </a:r>
            <a:endParaRPr lang="zh-CN" altLang="en-US" sz="1400" dirty="0"/>
          </a:p>
        </p:txBody>
      </p:sp>
      <p:sp>
        <p:nvSpPr>
          <p:cNvPr id="125" name="文本框 124"/>
          <p:cNvSpPr txBox="1"/>
          <p:nvPr/>
        </p:nvSpPr>
        <p:spPr>
          <a:xfrm>
            <a:off x="6052623" y="647670"/>
            <a:ext cx="1800493" cy="646331"/>
          </a:xfrm>
          <a:prstGeom prst="rect">
            <a:avLst/>
          </a:prstGeom>
          <a:solidFill>
            <a:schemeClr val="accent5">
              <a:lumMod val="40000"/>
              <a:lumOff val="60000"/>
            </a:schemeClr>
          </a:solidFill>
        </p:spPr>
        <p:txBody>
          <a:bodyPr wrap="none" rtlCol="0">
            <a:spAutoFit/>
          </a:bodyPr>
          <a:lstStyle/>
          <a:p>
            <a:r>
              <a:rPr lang="zh-CN" altLang="en-US" dirty="0" smtClean="0"/>
              <a:t>感知</a:t>
            </a:r>
            <a:r>
              <a:rPr lang="zh-CN" altLang="en-US" dirty="0"/>
              <a:t>结果</a:t>
            </a:r>
            <a:r>
              <a:rPr lang="zh-CN" altLang="en-US" dirty="0" smtClean="0"/>
              <a:t>：</a:t>
            </a:r>
            <a:endParaRPr lang="zh-CN" altLang="en-US" dirty="0"/>
          </a:p>
          <a:p>
            <a:r>
              <a:rPr lang="zh-CN" altLang="en-US" dirty="0" smtClean="0"/>
              <a:t>统一结构化数据</a:t>
            </a:r>
            <a:endParaRPr lang="zh-CN" altLang="en-US" dirty="0"/>
          </a:p>
        </p:txBody>
      </p:sp>
      <p:pic>
        <p:nvPicPr>
          <p:cNvPr id="126" name="图片 125" descr="model_vrml_72px_1078125_easyicon.net"/>
          <p:cNvPicPr>
            <a:picLocks noChangeAspect="1"/>
          </p:cNvPicPr>
          <p:nvPr/>
        </p:nvPicPr>
        <p:blipFill>
          <a:blip r:embed="rId8"/>
          <a:stretch>
            <a:fillRect/>
          </a:stretch>
        </p:blipFill>
        <p:spPr>
          <a:xfrm>
            <a:off x="8961138" y="4081290"/>
            <a:ext cx="914400" cy="914400"/>
          </a:xfrm>
          <a:prstGeom prst="rect">
            <a:avLst/>
          </a:prstGeom>
        </p:spPr>
      </p:pic>
      <p:sp>
        <p:nvSpPr>
          <p:cNvPr id="127" name="文本框 126"/>
          <p:cNvSpPr txBox="1"/>
          <p:nvPr/>
        </p:nvSpPr>
        <p:spPr>
          <a:xfrm>
            <a:off x="8869063" y="5231910"/>
            <a:ext cx="1097280" cy="368300"/>
          </a:xfrm>
          <a:prstGeom prst="rect">
            <a:avLst/>
          </a:prstGeom>
          <a:noFill/>
        </p:spPr>
        <p:txBody>
          <a:bodyPr wrap="none" rtlCol="0">
            <a:spAutoFit/>
          </a:bodyPr>
          <a:lstStyle/>
          <a:p>
            <a:r>
              <a:rPr lang="zh-CN" altLang="en-US"/>
              <a:t>经验模型</a:t>
            </a:r>
          </a:p>
        </p:txBody>
      </p:sp>
      <p:sp>
        <p:nvSpPr>
          <p:cNvPr id="128" name="直角上箭头 127"/>
          <p:cNvSpPr/>
          <p:nvPr/>
        </p:nvSpPr>
        <p:spPr>
          <a:xfrm>
            <a:off x="10363939" y="3916202"/>
            <a:ext cx="1430464" cy="1474344"/>
          </a:xfrm>
          <a:prstGeom prst="bentUpArrow">
            <a:avLst>
              <a:gd name="adj1" fmla="val 15678"/>
              <a:gd name="adj2" fmla="val 25000"/>
              <a:gd name="adj3" fmla="val 35654"/>
            </a:avLst>
          </a:prstGeom>
          <a:solidFill>
            <a:srgbClr val="323F4F"/>
          </a:solidFill>
          <a:ln>
            <a:solidFill>
              <a:srgbClr val="323F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barn(inVertical)">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arn(inVertical)">
                                      <p:cBhvr>
                                        <p:cTn id="33" dur="500"/>
                                        <p:tgtEl>
                                          <p:spTgt spid="1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00"/>
                                        </p:tgtEl>
                                        <p:attrNameLst>
                                          <p:attrName>style.visibility</p:attrName>
                                        </p:attrNameLst>
                                      </p:cBhvr>
                                      <p:to>
                                        <p:strVal val="visible"/>
                                      </p:to>
                                    </p:set>
                                    <p:animEffect transition="in" filter="barn(inVertical)">
                                      <p:cBhvr>
                                        <p:cTn id="41" dur="500"/>
                                        <p:tgtEl>
                                          <p:spTgt spid="100"/>
                                        </p:tgtEl>
                                      </p:cBhvr>
                                    </p:animEffect>
                                  </p:childTnLst>
                                </p:cTn>
                              </p:par>
                              <p:par>
                                <p:cTn id="42" presetID="16" presetClass="entr" presetSubtype="21" fill="hold" nodeType="withEffect">
                                  <p:stCondLst>
                                    <p:cond delay="0"/>
                                  </p:stCondLst>
                                  <p:childTnLst>
                                    <p:set>
                                      <p:cBhvr>
                                        <p:cTn id="43" dur="1" fill="hold">
                                          <p:stCondLst>
                                            <p:cond delay="0"/>
                                          </p:stCondLst>
                                        </p:cTn>
                                        <p:tgtEl>
                                          <p:spTgt spid="104"/>
                                        </p:tgtEl>
                                        <p:attrNameLst>
                                          <p:attrName>style.visibility</p:attrName>
                                        </p:attrNameLst>
                                      </p:cBhvr>
                                      <p:to>
                                        <p:strVal val="visible"/>
                                      </p:to>
                                    </p:set>
                                    <p:animEffect transition="in" filter="barn(inVertical)">
                                      <p:cBhvr>
                                        <p:cTn id="44" dur="500"/>
                                        <p:tgtEl>
                                          <p:spTgt spid="104"/>
                                        </p:tgtEl>
                                      </p:cBhvr>
                                    </p:animEffect>
                                  </p:childTnLst>
                                </p:cTn>
                              </p:par>
                              <p:par>
                                <p:cTn id="45" presetID="16" presetClass="entr" presetSubtype="21" fill="hold" nodeType="withEffect">
                                  <p:stCondLst>
                                    <p:cond delay="0"/>
                                  </p:stCondLst>
                                  <p:childTnLst>
                                    <p:set>
                                      <p:cBhvr>
                                        <p:cTn id="46" dur="1" fill="hold">
                                          <p:stCondLst>
                                            <p:cond delay="0"/>
                                          </p:stCondLst>
                                        </p:cTn>
                                        <p:tgtEl>
                                          <p:spTgt spid="109"/>
                                        </p:tgtEl>
                                        <p:attrNameLst>
                                          <p:attrName>style.visibility</p:attrName>
                                        </p:attrNameLst>
                                      </p:cBhvr>
                                      <p:to>
                                        <p:strVal val="visible"/>
                                      </p:to>
                                    </p:set>
                                    <p:animEffect transition="in" filter="barn(inVertical)">
                                      <p:cBhvr>
                                        <p:cTn id="47" dur="500"/>
                                        <p:tgtEl>
                                          <p:spTgt spid="109"/>
                                        </p:tgtEl>
                                      </p:cBhvr>
                                    </p:animEffect>
                                  </p:childTnLst>
                                </p:cTn>
                              </p:par>
                              <p:par>
                                <p:cTn id="48" presetID="16" presetClass="entr" presetSubtype="21" fill="hold" nodeType="with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barn(inVertical)">
                                      <p:cBhvr>
                                        <p:cTn id="50" dur="500"/>
                                        <p:tgtEl>
                                          <p:spTgt spid="107"/>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barn(inVertical)">
                                      <p:cBhvr>
                                        <p:cTn id="53" dur="500"/>
                                        <p:tgtEl>
                                          <p:spTgt spid="120"/>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118"/>
                                        </p:tgtEl>
                                        <p:attrNameLst>
                                          <p:attrName>style.visibility</p:attrName>
                                        </p:attrNameLst>
                                      </p:cBhvr>
                                      <p:to>
                                        <p:strVal val="visible"/>
                                      </p:to>
                                    </p:set>
                                    <p:animEffect transition="in" filter="barn(inVertical)">
                                      <p:cBhvr>
                                        <p:cTn id="56" dur="500"/>
                                        <p:tgtEl>
                                          <p:spTgt spid="11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barn(inVertical)">
                                      <p:cBhvr>
                                        <p:cTn id="59" dur="500"/>
                                        <p:tgtEl>
                                          <p:spTgt spid="11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121"/>
                                        </p:tgtEl>
                                        <p:attrNameLst>
                                          <p:attrName>style.visibility</p:attrName>
                                        </p:attrNameLst>
                                      </p:cBhvr>
                                      <p:to>
                                        <p:strVal val="visible"/>
                                      </p:to>
                                    </p:set>
                                    <p:animEffect transition="in" filter="barn(inVertical)">
                                      <p:cBhvr>
                                        <p:cTn id="62" dur="500"/>
                                        <p:tgtEl>
                                          <p:spTgt spid="121"/>
                                        </p:tgtEl>
                                      </p:cBhvr>
                                    </p:animEffect>
                                  </p:childTnLst>
                                </p:cTn>
                              </p:par>
                              <p:par>
                                <p:cTn id="63" presetID="16" presetClass="entr" presetSubtype="21"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barn(inVertical)">
                                      <p:cBhvr>
                                        <p:cTn id="65" dur="500"/>
                                        <p:tgtEl>
                                          <p:spTgt spid="9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124"/>
                                        </p:tgtEl>
                                        <p:attrNameLst>
                                          <p:attrName>style.visibility</p:attrName>
                                        </p:attrNameLst>
                                      </p:cBhvr>
                                      <p:to>
                                        <p:strVal val="visible"/>
                                      </p:to>
                                    </p:set>
                                    <p:animEffect transition="in" filter="barn(inVertical)">
                                      <p:cBhvr>
                                        <p:cTn id="68" dur="500"/>
                                        <p:tgtEl>
                                          <p:spTgt spid="12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inVertical)">
                                      <p:cBhvr>
                                        <p:cTn id="76" dur="500"/>
                                        <p:tgtEl>
                                          <p:spTgt spid="25"/>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wipe(down)">
                                      <p:cBhvr>
                                        <p:cTn id="84" dur="500"/>
                                        <p:tgtEl>
                                          <p:spTgt spid="11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wipe(down)">
                                      <p:cBhvr>
                                        <p:cTn id="90" dur="500"/>
                                        <p:tgtEl>
                                          <p:spTgt spid="65"/>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wipe(down)">
                                      <p:cBhvr>
                                        <p:cTn id="93" dur="500"/>
                                        <p:tgtEl>
                                          <p:spTgt spid="5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down)">
                                      <p:cBhvr>
                                        <p:cTn id="96" dur="500"/>
                                        <p:tgtEl>
                                          <p:spTgt spid="1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wipe(down)">
                                      <p:cBhvr>
                                        <p:cTn id="99" dur="500"/>
                                        <p:tgtEl>
                                          <p:spTgt spid="62"/>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down)">
                                      <p:cBhvr>
                                        <p:cTn id="102" dur="500"/>
                                        <p:tgtEl>
                                          <p:spTgt spid="63"/>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wipe(down)">
                                      <p:cBhvr>
                                        <p:cTn id="105" dur="500"/>
                                        <p:tgtEl>
                                          <p:spTgt spid="6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down)">
                                      <p:cBhvr>
                                        <p:cTn id="108" dur="500"/>
                                        <p:tgtEl>
                                          <p:spTgt spid="61"/>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wipe(down)">
                                      <p:cBhvr>
                                        <p:cTn id="111" dur="500"/>
                                        <p:tgtEl>
                                          <p:spTgt spid="60"/>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wipe(down)">
                                      <p:cBhvr>
                                        <p:cTn id="114" dur="500"/>
                                        <p:tgtEl>
                                          <p:spTgt spid="56"/>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0"/>
                                        </p:tgtEl>
                                        <p:attrNameLst>
                                          <p:attrName>style.visibility</p:attrName>
                                        </p:attrNameLst>
                                      </p:cBhvr>
                                      <p:to>
                                        <p:strVal val="visible"/>
                                      </p:to>
                                    </p:set>
                                    <p:animEffect transition="in" filter="wipe(down)">
                                      <p:cBhvr>
                                        <p:cTn id="117" dur="500"/>
                                        <p:tgtEl>
                                          <p:spTgt spid="50"/>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51"/>
                                        </p:tgtEl>
                                        <p:attrNameLst>
                                          <p:attrName>style.visibility</p:attrName>
                                        </p:attrNameLst>
                                      </p:cBhvr>
                                      <p:to>
                                        <p:strVal val="visible"/>
                                      </p:to>
                                    </p:set>
                                    <p:animEffect transition="in" filter="wipe(down)">
                                      <p:cBhvr>
                                        <p:cTn id="120" dur="500"/>
                                        <p:tgtEl>
                                          <p:spTgt spid="51"/>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animEffect transition="in" filter="wipe(down)">
                                      <p:cBhvr>
                                        <p:cTn id="123" dur="500"/>
                                        <p:tgtEl>
                                          <p:spTgt spid="5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down)">
                                      <p:cBhvr>
                                        <p:cTn id="126" dur="500"/>
                                        <p:tgtEl>
                                          <p:spTgt spid="5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wipe(down)">
                                      <p:cBhvr>
                                        <p:cTn id="129" dur="500"/>
                                        <p:tgtEl>
                                          <p:spTgt spid="5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96"/>
                                        </p:tgtEl>
                                        <p:attrNameLst>
                                          <p:attrName>style.visibility</p:attrName>
                                        </p:attrNameLst>
                                      </p:cBhvr>
                                      <p:to>
                                        <p:strVal val="visible"/>
                                      </p:to>
                                    </p:set>
                                    <p:animEffect transition="in" filter="wipe(down)">
                                      <p:cBhvr>
                                        <p:cTn id="132" dur="500"/>
                                        <p:tgtEl>
                                          <p:spTgt spid="96"/>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grpId="0" nodeType="click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500" fill="hold"/>
                                        <p:tgtEl>
                                          <p:spTgt spid="29"/>
                                        </p:tgtEl>
                                        <p:attrNameLst>
                                          <p:attrName>ppt_w</p:attrName>
                                        </p:attrNameLst>
                                      </p:cBhvr>
                                      <p:tavLst>
                                        <p:tav tm="0">
                                          <p:val>
                                            <p:fltVal val="0"/>
                                          </p:val>
                                        </p:tav>
                                        <p:tav tm="100000">
                                          <p:val>
                                            <p:strVal val="#ppt_w"/>
                                          </p:val>
                                        </p:tav>
                                      </p:tavLst>
                                    </p:anim>
                                    <p:anim calcmode="lin" valueType="num">
                                      <p:cBhvr>
                                        <p:cTn id="138" dur="500" fill="hold"/>
                                        <p:tgtEl>
                                          <p:spTgt spid="29"/>
                                        </p:tgtEl>
                                        <p:attrNameLst>
                                          <p:attrName>ppt_h</p:attrName>
                                        </p:attrNameLst>
                                      </p:cBhvr>
                                      <p:tavLst>
                                        <p:tav tm="0">
                                          <p:val>
                                            <p:fltVal val="0"/>
                                          </p:val>
                                        </p:tav>
                                        <p:tav tm="100000">
                                          <p:val>
                                            <p:strVal val="#ppt_h"/>
                                          </p:val>
                                        </p:tav>
                                      </p:tavLst>
                                    </p:anim>
                                    <p:animEffect transition="in" filter="fade">
                                      <p:cBhvr>
                                        <p:cTn id="139" dur="50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66"/>
                                        </p:tgtEl>
                                        <p:attrNameLst>
                                          <p:attrName>style.visibility</p:attrName>
                                        </p:attrNameLst>
                                      </p:cBhvr>
                                      <p:to>
                                        <p:strVal val="visible"/>
                                      </p:to>
                                    </p:set>
                                    <p:anim calcmode="lin" valueType="num">
                                      <p:cBhvr>
                                        <p:cTn id="142" dur="500" fill="hold"/>
                                        <p:tgtEl>
                                          <p:spTgt spid="66"/>
                                        </p:tgtEl>
                                        <p:attrNameLst>
                                          <p:attrName>ppt_w</p:attrName>
                                        </p:attrNameLst>
                                      </p:cBhvr>
                                      <p:tavLst>
                                        <p:tav tm="0">
                                          <p:val>
                                            <p:fltVal val="0"/>
                                          </p:val>
                                        </p:tav>
                                        <p:tav tm="100000">
                                          <p:val>
                                            <p:strVal val="#ppt_w"/>
                                          </p:val>
                                        </p:tav>
                                      </p:tavLst>
                                    </p:anim>
                                    <p:anim calcmode="lin" valueType="num">
                                      <p:cBhvr>
                                        <p:cTn id="143" dur="500" fill="hold"/>
                                        <p:tgtEl>
                                          <p:spTgt spid="66"/>
                                        </p:tgtEl>
                                        <p:attrNameLst>
                                          <p:attrName>ppt_h</p:attrName>
                                        </p:attrNameLst>
                                      </p:cBhvr>
                                      <p:tavLst>
                                        <p:tav tm="0">
                                          <p:val>
                                            <p:fltVal val="0"/>
                                          </p:val>
                                        </p:tav>
                                        <p:tav tm="100000">
                                          <p:val>
                                            <p:strVal val="#ppt_h"/>
                                          </p:val>
                                        </p:tav>
                                      </p:tavLst>
                                    </p:anim>
                                    <p:animEffect transition="in" filter="fade">
                                      <p:cBhvr>
                                        <p:cTn id="144" dur="500"/>
                                        <p:tgtEl>
                                          <p:spTgt spid="66"/>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91"/>
                                        </p:tgtEl>
                                        <p:attrNameLst>
                                          <p:attrName>style.visibility</p:attrName>
                                        </p:attrNameLst>
                                      </p:cBhvr>
                                      <p:to>
                                        <p:strVal val="visible"/>
                                      </p:to>
                                    </p:set>
                                    <p:anim calcmode="lin" valueType="num">
                                      <p:cBhvr>
                                        <p:cTn id="147" dur="500" fill="hold"/>
                                        <p:tgtEl>
                                          <p:spTgt spid="91"/>
                                        </p:tgtEl>
                                        <p:attrNameLst>
                                          <p:attrName>ppt_w</p:attrName>
                                        </p:attrNameLst>
                                      </p:cBhvr>
                                      <p:tavLst>
                                        <p:tav tm="0">
                                          <p:val>
                                            <p:fltVal val="0"/>
                                          </p:val>
                                        </p:tav>
                                        <p:tav tm="100000">
                                          <p:val>
                                            <p:strVal val="#ppt_w"/>
                                          </p:val>
                                        </p:tav>
                                      </p:tavLst>
                                    </p:anim>
                                    <p:anim calcmode="lin" valueType="num">
                                      <p:cBhvr>
                                        <p:cTn id="148" dur="500" fill="hold"/>
                                        <p:tgtEl>
                                          <p:spTgt spid="91"/>
                                        </p:tgtEl>
                                        <p:attrNameLst>
                                          <p:attrName>ppt_h</p:attrName>
                                        </p:attrNameLst>
                                      </p:cBhvr>
                                      <p:tavLst>
                                        <p:tav tm="0">
                                          <p:val>
                                            <p:fltVal val="0"/>
                                          </p:val>
                                        </p:tav>
                                        <p:tav tm="100000">
                                          <p:val>
                                            <p:strVal val="#ppt_h"/>
                                          </p:val>
                                        </p:tav>
                                      </p:tavLst>
                                    </p:anim>
                                    <p:animEffect transition="in" filter="fade">
                                      <p:cBhvr>
                                        <p:cTn id="149" dur="500"/>
                                        <p:tgtEl>
                                          <p:spTgt spid="9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 calcmode="lin" valueType="num">
                                      <p:cBhvr>
                                        <p:cTn id="152" dur="500" fill="hold"/>
                                        <p:tgtEl>
                                          <p:spTgt spid="86"/>
                                        </p:tgtEl>
                                        <p:attrNameLst>
                                          <p:attrName>ppt_w</p:attrName>
                                        </p:attrNameLst>
                                      </p:cBhvr>
                                      <p:tavLst>
                                        <p:tav tm="0">
                                          <p:val>
                                            <p:fltVal val="0"/>
                                          </p:val>
                                        </p:tav>
                                        <p:tav tm="100000">
                                          <p:val>
                                            <p:strVal val="#ppt_w"/>
                                          </p:val>
                                        </p:tav>
                                      </p:tavLst>
                                    </p:anim>
                                    <p:anim calcmode="lin" valueType="num">
                                      <p:cBhvr>
                                        <p:cTn id="153" dur="500" fill="hold"/>
                                        <p:tgtEl>
                                          <p:spTgt spid="86"/>
                                        </p:tgtEl>
                                        <p:attrNameLst>
                                          <p:attrName>ppt_h</p:attrName>
                                        </p:attrNameLst>
                                      </p:cBhvr>
                                      <p:tavLst>
                                        <p:tav tm="0">
                                          <p:val>
                                            <p:fltVal val="0"/>
                                          </p:val>
                                        </p:tav>
                                        <p:tav tm="100000">
                                          <p:val>
                                            <p:strVal val="#ppt_h"/>
                                          </p:val>
                                        </p:tav>
                                      </p:tavLst>
                                    </p:anim>
                                    <p:animEffect transition="in" filter="fade">
                                      <p:cBhvr>
                                        <p:cTn id="154" dur="500"/>
                                        <p:tgtEl>
                                          <p:spTgt spid="86"/>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anim calcmode="lin" valueType="num">
                                      <p:cBhvr>
                                        <p:cTn id="157" dur="500" fill="hold"/>
                                        <p:tgtEl>
                                          <p:spTgt spid="81"/>
                                        </p:tgtEl>
                                        <p:attrNameLst>
                                          <p:attrName>ppt_w</p:attrName>
                                        </p:attrNameLst>
                                      </p:cBhvr>
                                      <p:tavLst>
                                        <p:tav tm="0">
                                          <p:val>
                                            <p:fltVal val="0"/>
                                          </p:val>
                                        </p:tav>
                                        <p:tav tm="100000">
                                          <p:val>
                                            <p:strVal val="#ppt_w"/>
                                          </p:val>
                                        </p:tav>
                                      </p:tavLst>
                                    </p:anim>
                                    <p:anim calcmode="lin" valueType="num">
                                      <p:cBhvr>
                                        <p:cTn id="158" dur="500" fill="hold"/>
                                        <p:tgtEl>
                                          <p:spTgt spid="81"/>
                                        </p:tgtEl>
                                        <p:attrNameLst>
                                          <p:attrName>ppt_h</p:attrName>
                                        </p:attrNameLst>
                                      </p:cBhvr>
                                      <p:tavLst>
                                        <p:tav tm="0">
                                          <p:val>
                                            <p:fltVal val="0"/>
                                          </p:val>
                                        </p:tav>
                                        <p:tav tm="100000">
                                          <p:val>
                                            <p:strVal val="#ppt_h"/>
                                          </p:val>
                                        </p:tav>
                                      </p:tavLst>
                                    </p:anim>
                                    <p:animEffect transition="in" filter="fade">
                                      <p:cBhvr>
                                        <p:cTn id="159" dur="500"/>
                                        <p:tgtEl>
                                          <p:spTgt spid="81"/>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p:cTn id="162" dur="500" fill="hold"/>
                                        <p:tgtEl>
                                          <p:spTgt spid="68"/>
                                        </p:tgtEl>
                                        <p:attrNameLst>
                                          <p:attrName>ppt_w</p:attrName>
                                        </p:attrNameLst>
                                      </p:cBhvr>
                                      <p:tavLst>
                                        <p:tav tm="0">
                                          <p:val>
                                            <p:fltVal val="0"/>
                                          </p:val>
                                        </p:tav>
                                        <p:tav tm="100000">
                                          <p:val>
                                            <p:strVal val="#ppt_w"/>
                                          </p:val>
                                        </p:tav>
                                      </p:tavLst>
                                    </p:anim>
                                    <p:anim calcmode="lin" valueType="num">
                                      <p:cBhvr>
                                        <p:cTn id="163" dur="500" fill="hold"/>
                                        <p:tgtEl>
                                          <p:spTgt spid="68"/>
                                        </p:tgtEl>
                                        <p:attrNameLst>
                                          <p:attrName>ppt_h</p:attrName>
                                        </p:attrNameLst>
                                      </p:cBhvr>
                                      <p:tavLst>
                                        <p:tav tm="0">
                                          <p:val>
                                            <p:fltVal val="0"/>
                                          </p:val>
                                        </p:tav>
                                        <p:tav tm="100000">
                                          <p:val>
                                            <p:strVal val="#ppt_h"/>
                                          </p:val>
                                        </p:tav>
                                      </p:tavLst>
                                    </p:anim>
                                    <p:animEffect transition="in" filter="fade">
                                      <p:cBhvr>
                                        <p:cTn id="164" dur="500"/>
                                        <p:tgtEl>
                                          <p:spTgt spid="68"/>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69"/>
                                        </p:tgtEl>
                                        <p:attrNameLst>
                                          <p:attrName>style.visibility</p:attrName>
                                        </p:attrNameLst>
                                      </p:cBhvr>
                                      <p:to>
                                        <p:strVal val="visible"/>
                                      </p:to>
                                    </p:set>
                                    <p:anim calcmode="lin" valueType="num">
                                      <p:cBhvr>
                                        <p:cTn id="167" dur="500" fill="hold"/>
                                        <p:tgtEl>
                                          <p:spTgt spid="69"/>
                                        </p:tgtEl>
                                        <p:attrNameLst>
                                          <p:attrName>ppt_w</p:attrName>
                                        </p:attrNameLst>
                                      </p:cBhvr>
                                      <p:tavLst>
                                        <p:tav tm="0">
                                          <p:val>
                                            <p:fltVal val="0"/>
                                          </p:val>
                                        </p:tav>
                                        <p:tav tm="100000">
                                          <p:val>
                                            <p:strVal val="#ppt_w"/>
                                          </p:val>
                                        </p:tav>
                                      </p:tavLst>
                                    </p:anim>
                                    <p:anim calcmode="lin" valueType="num">
                                      <p:cBhvr>
                                        <p:cTn id="168" dur="500" fill="hold"/>
                                        <p:tgtEl>
                                          <p:spTgt spid="69"/>
                                        </p:tgtEl>
                                        <p:attrNameLst>
                                          <p:attrName>ppt_h</p:attrName>
                                        </p:attrNameLst>
                                      </p:cBhvr>
                                      <p:tavLst>
                                        <p:tav tm="0">
                                          <p:val>
                                            <p:fltVal val="0"/>
                                          </p:val>
                                        </p:tav>
                                        <p:tav tm="100000">
                                          <p:val>
                                            <p:strVal val="#ppt_h"/>
                                          </p:val>
                                        </p:tav>
                                      </p:tavLst>
                                    </p:anim>
                                    <p:animEffect transition="in" filter="fade">
                                      <p:cBhvr>
                                        <p:cTn id="169" dur="500"/>
                                        <p:tgtEl>
                                          <p:spTgt spid="69"/>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82"/>
                                        </p:tgtEl>
                                        <p:attrNameLst>
                                          <p:attrName>style.visibility</p:attrName>
                                        </p:attrNameLst>
                                      </p:cBhvr>
                                      <p:to>
                                        <p:strVal val="visible"/>
                                      </p:to>
                                    </p:set>
                                    <p:anim calcmode="lin" valueType="num">
                                      <p:cBhvr>
                                        <p:cTn id="172" dur="500" fill="hold"/>
                                        <p:tgtEl>
                                          <p:spTgt spid="82"/>
                                        </p:tgtEl>
                                        <p:attrNameLst>
                                          <p:attrName>ppt_w</p:attrName>
                                        </p:attrNameLst>
                                      </p:cBhvr>
                                      <p:tavLst>
                                        <p:tav tm="0">
                                          <p:val>
                                            <p:fltVal val="0"/>
                                          </p:val>
                                        </p:tav>
                                        <p:tav tm="100000">
                                          <p:val>
                                            <p:strVal val="#ppt_w"/>
                                          </p:val>
                                        </p:tav>
                                      </p:tavLst>
                                    </p:anim>
                                    <p:anim calcmode="lin" valueType="num">
                                      <p:cBhvr>
                                        <p:cTn id="173" dur="500" fill="hold"/>
                                        <p:tgtEl>
                                          <p:spTgt spid="82"/>
                                        </p:tgtEl>
                                        <p:attrNameLst>
                                          <p:attrName>ppt_h</p:attrName>
                                        </p:attrNameLst>
                                      </p:cBhvr>
                                      <p:tavLst>
                                        <p:tav tm="0">
                                          <p:val>
                                            <p:fltVal val="0"/>
                                          </p:val>
                                        </p:tav>
                                        <p:tav tm="100000">
                                          <p:val>
                                            <p:strVal val="#ppt_h"/>
                                          </p:val>
                                        </p:tav>
                                      </p:tavLst>
                                    </p:anim>
                                    <p:animEffect transition="in" filter="fade">
                                      <p:cBhvr>
                                        <p:cTn id="174" dur="500"/>
                                        <p:tgtEl>
                                          <p:spTgt spid="82"/>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87"/>
                                        </p:tgtEl>
                                        <p:attrNameLst>
                                          <p:attrName>style.visibility</p:attrName>
                                        </p:attrNameLst>
                                      </p:cBhvr>
                                      <p:to>
                                        <p:strVal val="visible"/>
                                      </p:to>
                                    </p:set>
                                    <p:anim calcmode="lin" valueType="num">
                                      <p:cBhvr>
                                        <p:cTn id="177" dur="500" fill="hold"/>
                                        <p:tgtEl>
                                          <p:spTgt spid="87"/>
                                        </p:tgtEl>
                                        <p:attrNameLst>
                                          <p:attrName>ppt_w</p:attrName>
                                        </p:attrNameLst>
                                      </p:cBhvr>
                                      <p:tavLst>
                                        <p:tav tm="0">
                                          <p:val>
                                            <p:fltVal val="0"/>
                                          </p:val>
                                        </p:tav>
                                        <p:tav tm="100000">
                                          <p:val>
                                            <p:strVal val="#ppt_w"/>
                                          </p:val>
                                        </p:tav>
                                      </p:tavLst>
                                    </p:anim>
                                    <p:anim calcmode="lin" valueType="num">
                                      <p:cBhvr>
                                        <p:cTn id="178" dur="500" fill="hold"/>
                                        <p:tgtEl>
                                          <p:spTgt spid="87"/>
                                        </p:tgtEl>
                                        <p:attrNameLst>
                                          <p:attrName>ppt_h</p:attrName>
                                        </p:attrNameLst>
                                      </p:cBhvr>
                                      <p:tavLst>
                                        <p:tav tm="0">
                                          <p:val>
                                            <p:fltVal val="0"/>
                                          </p:val>
                                        </p:tav>
                                        <p:tav tm="100000">
                                          <p:val>
                                            <p:strVal val="#ppt_h"/>
                                          </p:val>
                                        </p:tav>
                                      </p:tavLst>
                                    </p:anim>
                                    <p:animEffect transition="in" filter="fade">
                                      <p:cBhvr>
                                        <p:cTn id="179" dur="500"/>
                                        <p:tgtEl>
                                          <p:spTgt spid="87"/>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 calcmode="lin" valueType="num">
                                      <p:cBhvr>
                                        <p:cTn id="182" dur="500" fill="hold"/>
                                        <p:tgtEl>
                                          <p:spTgt spid="92"/>
                                        </p:tgtEl>
                                        <p:attrNameLst>
                                          <p:attrName>ppt_w</p:attrName>
                                        </p:attrNameLst>
                                      </p:cBhvr>
                                      <p:tavLst>
                                        <p:tav tm="0">
                                          <p:val>
                                            <p:fltVal val="0"/>
                                          </p:val>
                                        </p:tav>
                                        <p:tav tm="100000">
                                          <p:val>
                                            <p:strVal val="#ppt_w"/>
                                          </p:val>
                                        </p:tav>
                                      </p:tavLst>
                                    </p:anim>
                                    <p:anim calcmode="lin" valueType="num">
                                      <p:cBhvr>
                                        <p:cTn id="183" dur="500" fill="hold"/>
                                        <p:tgtEl>
                                          <p:spTgt spid="92"/>
                                        </p:tgtEl>
                                        <p:attrNameLst>
                                          <p:attrName>ppt_h</p:attrName>
                                        </p:attrNameLst>
                                      </p:cBhvr>
                                      <p:tavLst>
                                        <p:tav tm="0">
                                          <p:val>
                                            <p:fltVal val="0"/>
                                          </p:val>
                                        </p:tav>
                                        <p:tav tm="100000">
                                          <p:val>
                                            <p:strVal val="#ppt_h"/>
                                          </p:val>
                                        </p:tav>
                                      </p:tavLst>
                                    </p:anim>
                                    <p:animEffect transition="in" filter="fade">
                                      <p:cBhvr>
                                        <p:cTn id="184" dur="500"/>
                                        <p:tgtEl>
                                          <p:spTgt spid="92"/>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 calcmode="lin" valueType="num">
                                      <p:cBhvr>
                                        <p:cTn id="187" dur="500" fill="hold"/>
                                        <p:tgtEl>
                                          <p:spTgt spid="93"/>
                                        </p:tgtEl>
                                        <p:attrNameLst>
                                          <p:attrName>ppt_w</p:attrName>
                                        </p:attrNameLst>
                                      </p:cBhvr>
                                      <p:tavLst>
                                        <p:tav tm="0">
                                          <p:val>
                                            <p:fltVal val="0"/>
                                          </p:val>
                                        </p:tav>
                                        <p:tav tm="100000">
                                          <p:val>
                                            <p:strVal val="#ppt_w"/>
                                          </p:val>
                                        </p:tav>
                                      </p:tavLst>
                                    </p:anim>
                                    <p:anim calcmode="lin" valueType="num">
                                      <p:cBhvr>
                                        <p:cTn id="188" dur="500" fill="hold"/>
                                        <p:tgtEl>
                                          <p:spTgt spid="93"/>
                                        </p:tgtEl>
                                        <p:attrNameLst>
                                          <p:attrName>ppt_h</p:attrName>
                                        </p:attrNameLst>
                                      </p:cBhvr>
                                      <p:tavLst>
                                        <p:tav tm="0">
                                          <p:val>
                                            <p:fltVal val="0"/>
                                          </p:val>
                                        </p:tav>
                                        <p:tav tm="100000">
                                          <p:val>
                                            <p:strVal val="#ppt_h"/>
                                          </p:val>
                                        </p:tav>
                                      </p:tavLst>
                                    </p:anim>
                                    <p:animEffect transition="in" filter="fade">
                                      <p:cBhvr>
                                        <p:cTn id="189" dur="500"/>
                                        <p:tgtEl>
                                          <p:spTgt spid="93"/>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88"/>
                                        </p:tgtEl>
                                        <p:attrNameLst>
                                          <p:attrName>style.visibility</p:attrName>
                                        </p:attrNameLst>
                                      </p:cBhvr>
                                      <p:to>
                                        <p:strVal val="visible"/>
                                      </p:to>
                                    </p:set>
                                    <p:anim calcmode="lin" valueType="num">
                                      <p:cBhvr>
                                        <p:cTn id="192" dur="500" fill="hold"/>
                                        <p:tgtEl>
                                          <p:spTgt spid="88"/>
                                        </p:tgtEl>
                                        <p:attrNameLst>
                                          <p:attrName>ppt_w</p:attrName>
                                        </p:attrNameLst>
                                      </p:cBhvr>
                                      <p:tavLst>
                                        <p:tav tm="0">
                                          <p:val>
                                            <p:fltVal val="0"/>
                                          </p:val>
                                        </p:tav>
                                        <p:tav tm="100000">
                                          <p:val>
                                            <p:strVal val="#ppt_w"/>
                                          </p:val>
                                        </p:tav>
                                      </p:tavLst>
                                    </p:anim>
                                    <p:anim calcmode="lin" valueType="num">
                                      <p:cBhvr>
                                        <p:cTn id="193" dur="500" fill="hold"/>
                                        <p:tgtEl>
                                          <p:spTgt spid="88"/>
                                        </p:tgtEl>
                                        <p:attrNameLst>
                                          <p:attrName>ppt_h</p:attrName>
                                        </p:attrNameLst>
                                      </p:cBhvr>
                                      <p:tavLst>
                                        <p:tav tm="0">
                                          <p:val>
                                            <p:fltVal val="0"/>
                                          </p:val>
                                        </p:tav>
                                        <p:tav tm="100000">
                                          <p:val>
                                            <p:strVal val="#ppt_h"/>
                                          </p:val>
                                        </p:tav>
                                      </p:tavLst>
                                    </p:anim>
                                    <p:animEffect transition="in" filter="fade">
                                      <p:cBhvr>
                                        <p:cTn id="194" dur="500"/>
                                        <p:tgtEl>
                                          <p:spTgt spid="88"/>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500" fill="hold"/>
                                        <p:tgtEl>
                                          <p:spTgt spid="83"/>
                                        </p:tgtEl>
                                        <p:attrNameLst>
                                          <p:attrName>ppt_w</p:attrName>
                                        </p:attrNameLst>
                                      </p:cBhvr>
                                      <p:tavLst>
                                        <p:tav tm="0">
                                          <p:val>
                                            <p:fltVal val="0"/>
                                          </p:val>
                                        </p:tav>
                                        <p:tav tm="100000">
                                          <p:val>
                                            <p:strVal val="#ppt_w"/>
                                          </p:val>
                                        </p:tav>
                                      </p:tavLst>
                                    </p:anim>
                                    <p:anim calcmode="lin" valueType="num">
                                      <p:cBhvr>
                                        <p:cTn id="198" dur="500" fill="hold"/>
                                        <p:tgtEl>
                                          <p:spTgt spid="83"/>
                                        </p:tgtEl>
                                        <p:attrNameLst>
                                          <p:attrName>ppt_h</p:attrName>
                                        </p:attrNameLst>
                                      </p:cBhvr>
                                      <p:tavLst>
                                        <p:tav tm="0">
                                          <p:val>
                                            <p:fltVal val="0"/>
                                          </p:val>
                                        </p:tav>
                                        <p:tav tm="100000">
                                          <p:val>
                                            <p:strVal val="#ppt_h"/>
                                          </p:val>
                                        </p:tav>
                                      </p:tavLst>
                                    </p:anim>
                                    <p:animEffect transition="in" filter="fade">
                                      <p:cBhvr>
                                        <p:cTn id="199" dur="500"/>
                                        <p:tgtEl>
                                          <p:spTgt spid="83"/>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70"/>
                                        </p:tgtEl>
                                        <p:attrNameLst>
                                          <p:attrName>style.visibility</p:attrName>
                                        </p:attrNameLst>
                                      </p:cBhvr>
                                      <p:to>
                                        <p:strVal val="visible"/>
                                      </p:to>
                                    </p:set>
                                    <p:anim calcmode="lin" valueType="num">
                                      <p:cBhvr>
                                        <p:cTn id="202" dur="500" fill="hold"/>
                                        <p:tgtEl>
                                          <p:spTgt spid="70"/>
                                        </p:tgtEl>
                                        <p:attrNameLst>
                                          <p:attrName>ppt_w</p:attrName>
                                        </p:attrNameLst>
                                      </p:cBhvr>
                                      <p:tavLst>
                                        <p:tav tm="0">
                                          <p:val>
                                            <p:fltVal val="0"/>
                                          </p:val>
                                        </p:tav>
                                        <p:tav tm="100000">
                                          <p:val>
                                            <p:strVal val="#ppt_w"/>
                                          </p:val>
                                        </p:tav>
                                      </p:tavLst>
                                    </p:anim>
                                    <p:anim calcmode="lin" valueType="num">
                                      <p:cBhvr>
                                        <p:cTn id="203" dur="500" fill="hold"/>
                                        <p:tgtEl>
                                          <p:spTgt spid="70"/>
                                        </p:tgtEl>
                                        <p:attrNameLst>
                                          <p:attrName>ppt_h</p:attrName>
                                        </p:attrNameLst>
                                      </p:cBhvr>
                                      <p:tavLst>
                                        <p:tav tm="0">
                                          <p:val>
                                            <p:fltVal val="0"/>
                                          </p:val>
                                        </p:tav>
                                        <p:tav tm="100000">
                                          <p:val>
                                            <p:strVal val="#ppt_h"/>
                                          </p:val>
                                        </p:tav>
                                      </p:tavLst>
                                    </p:anim>
                                    <p:animEffect transition="in" filter="fade">
                                      <p:cBhvr>
                                        <p:cTn id="204" dur="500"/>
                                        <p:tgtEl>
                                          <p:spTgt spid="70"/>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79"/>
                                        </p:tgtEl>
                                        <p:attrNameLst>
                                          <p:attrName>style.visibility</p:attrName>
                                        </p:attrNameLst>
                                      </p:cBhvr>
                                      <p:to>
                                        <p:strVal val="visible"/>
                                      </p:to>
                                    </p:set>
                                    <p:anim calcmode="lin" valueType="num">
                                      <p:cBhvr>
                                        <p:cTn id="207" dur="500" fill="hold"/>
                                        <p:tgtEl>
                                          <p:spTgt spid="79"/>
                                        </p:tgtEl>
                                        <p:attrNameLst>
                                          <p:attrName>ppt_w</p:attrName>
                                        </p:attrNameLst>
                                      </p:cBhvr>
                                      <p:tavLst>
                                        <p:tav tm="0">
                                          <p:val>
                                            <p:fltVal val="0"/>
                                          </p:val>
                                        </p:tav>
                                        <p:tav tm="100000">
                                          <p:val>
                                            <p:strVal val="#ppt_w"/>
                                          </p:val>
                                        </p:tav>
                                      </p:tavLst>
                                    </p:anim>
                                    <p:anim calcmode="lin" valueType="num">
                                      <p:cBhvr>
                                        <p:cTn id="208" dur="500" fill="hold"/>
                                        <p:tgtEl>
                                          <p:spTgt spid="79"/>
                                        </p:tgtEl>
                                        <p:attrNameLst>
                                          <p:attrName>ppt_h</p:attrName>
                                        </p:attrNameLst>
                                      </p:cBhvr>
                                      <p:tavLst>
                                        <p:tav tm="0">
                                          <p:val>
                                            <p:fltVal val="0"/>
                                          </p:val>
                                        </p:tav>
                                        <p:tav tm="100000">
                                          <p:val>
                                            <p:strVal val="#ppt_h"/>
                                          </p:val>
                                        </p:tav>
                                      </p:tavLst>
                                    </p:anim>
                                    <p:animEffect transition="in" filter="fade">
                                      <p:cBhvr>
                                        <p:cTn id="209" dur="500"/>
                                        <p:tgtEl>
                                          <p:spTgt spid="79"/>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84"/>
                                        </p:tgtEl>
                                        <p:attrNameLst>
                                          <p:attrName>style.visibility</p:attrName>
                                        </p:attrNameLst>
                                      </p:cBhvr>
                                      <p:to>
                                        <p:strVal val="visible"/>
                                      </p:to>
                                    </p:set>
                                    <p:anim calcmode="lin" valueType="num">
                                      <p:cBhvr>
                                        <p:cTn id="212" dur="500" fill="hold"/>
                                        <p:tgtEl>
                                          <p:spTgt spid="84"/>
                                        </p:tgtEl>
                                        <p:attrNameLst>
                                          <p:attrName>ppt_w</p:attrName>
                                        </p:attrNameLst>
                                      </p:cBhvr>
                                      <p:tavLst>
                                        <p:tav tm="0">
                                          <p:val>
                                            <p:fltVal val="0"/>
                                          </p:val>
                                        </p:tav>
                                        <p:tav tm="100000">
                                          <p:val>
                                            <p:strVal val="#ppt_w"/>
                                          </p:val>
                                        </p:tav>
                                      </p:tavLst>
                                    </p:anim>
                                    <p:anim calcmode="lin" valueType="num">
                                      <p:cBhvr>
                                        <p:cTn id="213" dur="500" fill="hold"/>
                                        <p:tgtEl>
                                          <p:spTgt spid="84"/>
                                        </p:tgtEl>
                                        <p:attrNameLst>
                                          <p:attrName>ppt_h</p:attrName>
                                        </p:attrNameLst>
                                      </p:cBhvr>
                                      <p:tavLst>
                                        <p:tav tm="0">
                                          <p:val>
                                            <p:fltVal val="0"/>
                                          </p:val>
                                        </p:tav>
                                        <p:tav tm="100000">
                                          <p:val>
                                            <p:strVal val="#ppt_h"/>
                                          </p:val>
                                        </p:tav>
                                      </p:tavLst>
                                    </p:anim>
                                    <p:animEffect transition="in" filter="fade">
                                      <p:cBhvr>
                                        <p:cTn id="214" dur="500"/>
                                        <p:tgtEl>
                                          <p:spTgt spid="84"/>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89"/>
                                        </p:tgtEl>
                                        <p:attrNameLst>
                                          <p:attrName>style.visibility</p:attrName>
                                        </p:attrNameLst>
                                      </p:cBhvr>
                                      <p:to>
                                        <p:strVal val="visible"/>
                                      </p:to>
                                    </p:set>
                                    <p:anim calcmode="lin" valueType="num">
                                      <p:cBhvr>
                                        <p:cTn id="217" dur="500" fill="hold"/>
                                        <p:tgtEl>
                                          <p:spTgt spid="89"/>
                                        </p:tgtEl>
                                        <p:attrNameLst>
                                          <p:attrName>ppt_w</p:attrName>
                                        </p:attrNameLst>
                                      </p:cBhvr>
                                      <p:tavLst>
                                        <p:tav tm="0">
                                          <p:val>
                                            <p:fltVal val="0"/>
                                          </p:val>
                                        </p:tav>
                                        <p:tav tm="100000">
                                          <p:val>
                                            <p:strVal val="#ppt_w"/>
                                          </p:val>
                                        </p:tav>
                                      </p:tavLst>
                                    </p:anim>
                                    <p:anim calcmode="lin" valueType="num">
                                      <p:cBhvr>
                                        <p:cTn id="218" dur="500" fill="hold"/>
                                        <p:tgtEl>
                                          <p:spTgt spid="89"/>
                                        </p:tgtEl>
                                        <p:attrNameLst>
                                          <p:attrName>ppt_h</p:attrName>
                                        </p:attrNameLst>
                                      </p:cBhvr>
                                      <p:tavLst>
                                        <p:tav tm="0">
                                          <p:val>
                                            <p:fltVal val="0"/>
                                          </p:val>
                                        </p:tav>
                                        <p:tav tm="100000">
                                          <p:val>
                                            <p:strVal val="#ppt_h"/>
                                          </p:val>
                                        </p:tav>
                                      </p:tavLst>
                                    </p:anim>
                                    <p:animEffect transition="in" filter="fade">
                                      <p:cBhvr>
                                        <p:cTn id="219" dur="500"/>
                                        <p:tgtEl>
                                          <p:spTgt spid="8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94"/>
                                        </p:tgtEl>
                                        <p:attrNameLst>
                                          <p:attrName>style.visibility</p:attrName>
                                        </p:attrNameLst>
                                      </p:cBhvr>
                                      <p:to>
                                        <p:strVal val="visible"/>
                                      </p:to>
                                    </p:set>
                                    <p:anim calcmode="lin" valueType="num">
                                      <p:cBhvr>
                                        <p:cTn id="222" dur="500" fill="hold"/>
                                        <p:tgtEl>
                                          <p:spTgt spid="94"/>
                                        </p:tgtEl>
                                        <p:attrNameLst>
                                          <p:attrName>ppt_w</p:attrName>
                                        </p:attrNameLst>
                                      </p:cBhvr>
                                      <p:tavLst>
                                        <p:tav tm="0">
                                          <p:val>
                                            <p:fltVal val="0"/>
                                          </p:val>
                                        </p:tav>
                                        <p:tav tm="100000">
                                          <p:val>
                                            <p:strVal val="#ppt_w"/>
                                          </p:val>
                                        </p:tav>
                                      </p:tavLst>
                                    </p:anim>
                                    <p:anim calcmode="lin" valueType="num">
                                      <p:cBhvr>
                                        <p:cTn id="223" dur="500" fill="hold"/>
                                        <p:tgtEl>
                                          <p:spTgt spid="94"/>
                                        </p:tgtEl>
                                        <p:attrNameLst>
                                          <p:attrName>ppt_h</p:attrName>
                                        </p:attrNameLst>
                                      </p:cBhvr>
                                      <p:tavLst>
                                        <p:tav tm="0">
                                          <p:val>
                                            <p:fltVal val="0"/>
                                          </p:val>
                                        </p:tav>
                                        <p:tav tm="100000">
                                          <p:val>
                                            <p:strVal val="#ppt_h"/>
                                          </p:val>
                                        </p:tav>
                                      </p:tavLst>
                                    </p:anim>
                                    <p:animEffect transition="in" filter="fade">
                                      <p:cBhvr>
                                        <p:cTn id="224" dur="500"/>
                                        <p:tgtEl>
                                          <p:spTgt spid="94"/>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95"/>
                                        </p:tgtEl>
                                        <p:attrNameLst>
                                          <p:attrName>style.visibility</p:attrName>
                                        </p:attrNameLst>
                                      </p:cBhvr>
                                      <p:to>
                                        <p:strVal val="visible"/>
                                      </p:to>
                                    </p:set>
                                    <p:anim calcmode="lin" valueType="num">
                                      <p:cBhvr>
                                        <p:cTn id="227" dur="500" fill="hold"/>
                                        <p:tgtEl>
                                          <p:spTgt spid="95"/>
                                        </p:tgtEl>
                                        <p:attrNameLst>
                                          <p:attrName>ppt_w</p:attrName>
                                        </p:attrNameLst>
                                      </p:cBhvr>
                                      <p:tavLst>
                                        <p:tav tm="0">
                                          <p:val>
                                            <p:fltVal val="0"/>
                                          </p:val>
                                        </p:tav>
                                        <p:tav tm="100000">
                                          <p:val>
                                            <p:strVal val="#ppt_w"/>
                                          </p:val>
                                        </p:tav>
                                      </p:tavLst>
                                    </p:anim>
                                    <p:anim calcmode="lin" valueType="num">
                                      <p:cBhvr>
                                        <p:cTn id="228" dur="500" fill="hold"/>
                                        <p:tgtEl>
                                          <p:spTgt spid="95"/>
                                        </p:tgtEl>
                                        <p:attrNameLst>
                                          <p:attrName>ppt_h</p:attrName>
                                        </p:attrNameLst>
                                      </p:cBhvr>
                                      <p:tavLst>
                                        <p:tav tm="0">
                                          <p:val>
                                            <p:fltVal val="0"/>
                                          </p:val>
                                        </p:tav>
                                        <p:tav tm="100000">
                                          <p:val>
                                            <p:strVal val="#ppt_h"/>
                                          </p:val>
                                        </p:tav>
                                      </p:tavLst>
                                    </p:anim>
                                    <p:animEffect transition="in" filter="fade">
                                      <p:cBhvr>
                                        <p:cTn id="229" dur="500"/>
                                        <p:tgtEl>
                                          <p:spTgt spid="95"/>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90"/>
                                        </p:tgtEl>
                                        <p:attrNameLst>
                                          <p:attrName>style.visibility</p:attrName>
                                        </p:attrNameLst>
                                      </p:cBhvr>
                                      <p:to>
                                        <p:strVal val="visible"/>
                                      </p:to>
                                    </p:set>
                                    <p:anim calcmode="lin" valueType="num">
                                      <p:cBhvr>
                                        <p:cTn id="232" dur="500" fill="hold"/>
                                        <p:tgtEl>
                                          <p:spTgt spid="90"/>
                                        </p:tgtEl>
                                        <p:attrNameLst>
                                          <p:attrName>ppt_w</p:attrName>
                                        </p:attrNameLst>
                                      </p:cBhvr>
                                      <p:tavLst>
                                        <p:tav tm="0">
                                          <p:val>
                                            <p:fltVal val="0"/>
                                          </p:val>
                                        </p:tav>
                                        <p:tav tm="100000">
                                          <p:val>
                                            <p:strVal val="#ppt_w"/>
                                          </p:val>
                                        </p:tav>
                                      </p:tavLst>
                                    </p:anim>
                                    <p:anim calcmode="lin" valueType="num">
                                      <p:cBhvr>
                                        <p:cTn id="233" dur="500" fill="hold"/>
                                        <p:tgtEl>
                                          <p:spTgt spid="90"/>
                                        </p:tgtEl>
                                        <p:attrNameLst>
                                          <p:attrName>ppt_h</p:attrName>
                                        </p:attrNameLst>
                                      </p:cBhvr>
                                      <p:tavLst>
                                        <p:tav tm="0">
                                          <p:val>
                                            <p:fltVal val="0"/>
                                          </p:val>
                                        </p:tav>
                                        <p:tav tm="100000">
                                          <p:val>
                                            <p:strVal val="#ppt_h"/>
                                          </p:val>
                                        </p:tav>
                                      </p:tavLst>
                                    </p:anim>
                                    <p:animEffect transition="in" filter="fade">
                                      <p:cBhvr>
                                        <p:cTn id="234" dur="500"/>
                                        <p:tgtEl>
                                          <p:spTgt spid="90"/>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85"/>
                                        </p:tgtEl>
                                        <p:attrNameLst>
                                          <p:attrName>style.visibility</p:attrName>
                                        </p:attrNameLst>
                                      </p:cBhvr>
                                      <p:to>
                                        <p:strVal val="visible"/>
                                      </p:to>
                                    </p:set>
                                    <p:anim calcmode="lin" valueType="num">
                                      <p:cBhvr>
                                        <p:cTn id="237" dur="500" fill="hold"/>
                                        <p:tgtEl>
                                          <p:spTgt spid="85"/>
                                        </p:tgtEl>
                                        <p:attrNameLst>
                                          <p:attrName>ppt_w</p:attrName>
                                        </p:attrNameLst>
                                      </p:cBhvr>
                                      <p:tavLst>
                                        <p:tav tm="0">
                                          <p:val>
                                            <p:fltVal val="0"/>
                                          </p:val>
                                        </p:tav>
                                        <p:tav tm="100000">
                                          <p:val>
                                            <p:strVal val="#ppt_w"/>
                                          </p:val>
                                        </p:tav>
                                      </p:tavLst>
                                    </p:anim>
                                    <p:anim calcmode="lin" valueType="num">
                                      <p:cBhvr>
                                        <p:cTn id="238" dur="500" fill="hold"/>
                                        <p:tgtEl>
                                          <p:spTgt spid="85"/>
                                        </p:tgtEl>
                                        <p:attrNameLst>
                                          <p:attrName>ppt_h</p:attrName>
                                        </p:attrNameLst>
                                      </p:cBhvr>
                                      <p:tavLst>
                                        <p:tav tm="0">
                                          <p:val>
                                            <p:fltVal val="0"/>
                                          </p:val>
                                        </p:tav>
                                        <p:tav tm="100000">
                                          <p:val>
                                            <p:strVal val="#ppt_h"/>
                                          </p:val>
                                        </p:tav>
                                      </p:tavLst>
                                    </p:anim>
                                    <p:animEffect transition="in" filter="fade">
                                      <p:cBhvr>
                                        <p:cTn id="239" dur="500"/>
                                        <p:tgtEl>
                                          <p:spTgt spid="85"/>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80"/>
                                        </p:tgtEl>
                                        <p:attrNameLst>
                                          <p:attrName>style.visibility</p:attrName>
                                        </p:attrNameLst>
                                      </p:cBhvr>
                                      <p:to>
                                        <p:strVal val="visible"/>
                                      </p:to>
                                    </p:set>
                                    <p:anim calcmode="lin" valueType="num">
                                      <p:cBhvr>
                                        <p:cTn id="242" dur="500" fill="hold"/>
                                        <p:tgtEl>
                                          <p:spTgt spid="80"/>
                                        </p:tgtEl>
                                        <p:attrNameLst>
                                          <p:attrName>ppt_w</p:attrName>
                                        </p:attrNameLst>
                                      </p:cBhvr>
                                      <p:tavLst>
                                        <p:tav tm="0">
                                          <p:val>
                                            <p:fltVal val="0"/>
                                          </p:val>
                                        </p:tav>
                                        <p:tav tm="100000">
                                          <p:val>
                                            <p:strVal val="#ppt_w"/>
                                          </p:val>
                                        </p:tav>
                                      </p:tavLst>
                                    </p:anim>
                                    <p:anim calcmode="lin" valueType="num">
                                      <p:cBhvr>
                                        <p:cTn id="243" dur="500" fill="hold"/>
                                        <p:tgtEl>
                                          <p:spTgt spid="80"/>
                                        </p:tgtEl>
                                        <p:attrNameLst>
                                          <p:attrName>ppt_h</p:attrName>
                                        </p:attrNameLst>
                                      </p:cBhvr>
                                      <p:tavLst>
                                        <p:tav tm="0">
                                          <p:val>
                                            <p:fltVal val="0"/>
                                          </p:val>
                                        </p:tav>
                                        <p:tav tm="100000">
                                          <p:val>
                                            <p:strVal val="#ppt_h"/>
                                          </p:val>
                                        </p:tav>
                                      </p:tavLst>
                                    </p:anim>
                                    <p:animEffect transition="in" filter="fade">
                                      <p:cBhvr>
                                        <p:cTn id="244" dur="500"/>
                                        <p:tgtEl>
                                          <p:spTgt spid="80"/>
                                        </p:tgtEl>
                                      </p:cBhvr>
                                    </p:animEffect>
                                  </p:childTnLst>
                                </p:cTn>
                              </p:par>
                              <p:par>
                                <p:cTn id="245" presetID="53" presetClass="entr" presetSubtype="16" fill="hold" nodeType="withEffect">
                                  <p:stCondLst>
                                    <p:cond delay="0"/>
                                  </p:stCondLst>
                                  <p:childTnLst>
                                    <p:set>
                                      <p:cBhvr>
                                        <p:cTn id="246" dur="1" fill="hold">
                                          <p:stCondLst>
                                            <p:cond delay="0"/>
                                          </p:stCondLst>
                                        </p:cTn>
                                        <p:tgtEl>
                                          <p:spTgt spid="28"/>
                                        </p:tgtEl>
                                        <p:attrNameLst>
                                          <p:attrName>style.visibility</p:attrName>
                                        </p:attrNameLst>
                                      </p:cBhvr>
                                      <p:to>
                                        <p:strVal val="visible"/>
                                      </p:to>
                                    </p:set>
                                    <p:anim calcmode="lin" valueType="num">
                                      <p:cBhvr>
                                        <p:cTn id="247" dur="500" fill="hold"/>
                                        <p:tgtEl>
                                          <p:spTgt spid="28"/>
                                        </p:tgtEl>
                                        <p:attrNameLst>
                                          <p:attrName>ppt_w</p:attrName>
                                        </p:attrNameLst>
                                      </p:cBhvr>
                                      <p:tavLst>
                                        <p:tav tm="0">
                                          <p:val>
                                            <p:fltVal val="0"/>
                                          </p:val>
                                        </p:tav>
                                        <p:tav tm="100000">
                                          <p:val>
                                            <p:strVal val="#ppt_w"/>
                                          </p:val>
                                        </p:tav>
                                      </p:tavLst>
                                    </p:anim>
                                    <p:anim calcmode="lin" valueType="num">
                                      <p:cBhvr>
                                        <p:cTn id="248" dur="500" fill="hold"/>
                                        <p:tgtEl>
                                          <p:spTgt spid="28"/>
                                        </p:tgtEl>
                                        <p:attrNameLst>
                                          <p:attrName>ppt_h</p:attrName>
                                        </p:attrNameLst>
                                      </p:cBhvr>
                                      <p:tavLst>
                                        <p:tav tm="0">
                                          <p:val>
                                            <p:fltVal val="0"/>
                                          </p:val>
                                        </p:tav>
                                        <p:tav tm="100000">
                                          <p:val>
                                            <p:strVal val="#ppt_h"/>
                                          </p:val>
                                        </p:tav>
                                      </p:tavLst>
                                    </p:anim>
                                    <p:animEffect transition="in" filter="fade">
                                      <p:cBhvr>
                                        <p:cTn id="249" dur="500"/>
                                        <p:tgtEl>
                                          <p:spTgt spid="28"/>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97"/>
                                        </p:tgtEl>
                                        <p:attrNameLst>
                                          <p:attrName>style.visibility</p:attrName>
                                        </p:attrNameLst>
                                      </p:cBhvr>
                                      <p:to>
                                        <p:strVal val="visible"/>
                                      </p:to>
                                    </p:set>
                                    <p:anim calcmode="lin" valueType="num">
                                      <p:cBhvr>
                                        <p:cTn id="252" dur="500" fill="hold"/>
                                        <p:tgtEl>
                                          <p:spTgt spid="97"/>
                                        </p:tgtEl>
                                        <p:attrNameLst>
                                          <p:attrName>ppt_w</p:attrName>
                                        </p:attrNameLst>
                                      </p:cBhvr>
                                      <p:tavLst>
                                        <p:tav tm="0">
                                          <p:val>
                                            <p:fltVal val="0"/>
                                          </p:val>
                                        </p:tav>
                                        <p:tav tm="100000">
                                          <p:val>
                                            <p:strVal val="#ppt_w"/>
                                          </p:val>
                                        </p:tav>
                                      </p:tavLst>
                                    </p:anim>
                                    <p:anim calcmode="lin" valueType="num">
                                      <p:cBhvr>
                                        <p:cTn id="253" dur="500" fill="hold"/>
                                        <p:tgtEl>
                                          <p:spTgt spid="97"/>
                                        </p:tgtEl>
                                        <p:attrNameLst>
                                          <p:attrName>ppt_h</p:attrName>
                                        </p:attrNameLst>
                                      </p:cBhvr>
                                      <p:tavLst>
                                        <p:tav tm="0">
                                          <p:val>
                                            <p:fltVal val="0"/>
                                          </p:val>
                                        </p:tav>
                                        <p:tav tm="100000">
                                          <p:val>
                                            <p:strVal val="#ppt_h"/>
                                          </p:val>
                                        </p:tav>
                                      </p:tavLst>
                                    </p:anim>
                                    <p:animEffect transition="in" filter="fade">
                                      <p:cBhvr>
                                        <p:cTn id="254" dur="500"/>
                                        <p:tgtEl>
                                          <p:spTgt spid="97"/>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27"/>
                                        </p:tgtEl>
                                        <p:attrNameLst>
                                          <p:attrName>style.visibility</p:attrName>
                                        </p:attrNameLst>
                                      </p:cBhvr>
                                      <p:to>
                                        <p:strVal val="visible"/>
                                      </p:to>
                                    </p:set>
                                    <p:anim calcmode="lin" valueType="num">
                                      <p:cBhvr>
                                        <p:cTn id="257" dur="500" fill="hold"/>
                                        <p:tgtEl>
                                          <p:spTgt spid="27"/>
                                        </p:tgtEl>
                                        <p:attrNameLst>
                                          <p:attrName>ppt_w</p:attrName>
                                        </p:attrNameLst>
                                      </p:cBhvr>
                                      <p:tavLst>
                                        <p:tav tm="0">
                                          <p:val>
                                            <p:fltVal val="0"/>
                                          </p:val>
                                        </p:tav>
                                        <p:tav tm="100000">
                                          <p:val>
                                            <p:strVal val="#ppt_w"/>
                                          </p:val>
                                        </p:tav>
                                      </p:tavLst>
                                    </p:anim>
                                    <p:anim calcmode="lin" valueType="num">
                                      <p:cBhvr>
                                        <p:cTn id="258" dur="500" fill="hold"/>
                                        <p:tgtEl>
                                          <p:spTgt spid="27"/>
                                        </p:tgtEl>
                                        <p:attrNameLst>
                                          <p:attrName>ppt_h</p:attrName>
                                        </p:attrNameLst>
                                      </p:cBhvr>
                                      <p:tavLst>
                                        <p:tav tm="0">
                                          <p:val>
                                            <p:fltVal val="0"/>
                                          </p:val>
                                        </p:tav>
                                        <p:tav tm="100000">
                                          <p:val>
                                            <p:strVal val="#ppt_h"/>
                                          </p:val>
                                        </p:tav>
                                      </p:tavLst>
                                    </p:anim>
                                    <p:animEffect transition="in" filter="fade">
                                      <p:cBhvr>
                                        <p:cTn id="259" dur="500"/>
                                        <p:tgtEl>
                                          <p:spTgt spid="27"/>
                                        </p:tgtEl>
                                      </p:cBhvr>
                                    </p:animEffect>
                                  </p:childTnLst>
                                </p:cTn>
                              </p:par>
                            </p:childTnLst>
                          </p:cTn>
                        </p:par>
                      </p:childTnLst>
                    </p:cTn>
                  </p:par>
                  <p:par>
                    <p:cTn id="260" fill="hold">
                      <p:stCondLst>
                        <p:cond delay="indefinite"/>
                      </p:stCondLst>
                      <p:childTnLst>
                        <p:par>
                          <p:cTn id="261" fill="hold">
                            <p:stCondLst>
                              <p:cond delay="0"/>
                            </p:stCondLst>
                            <p:childTnLst>
                              <p:par>
                                <p:cTn id="262" presetID="53" presetClass="entr" presetSubtype="16" fill="hold" grpId="0" nodeType="clickEffect">
                                  <p:stCondLst>
                                    <p:cond delay="0"/>
                                  </p:stCondLst>
                                  <p:childTnLst>
                                    <p:set>
                                      <p:cBhvr>
                                        <p:cTn id="263" dur="1" fill="hold">
                                          <p:stCondLst>
                                            <p:cond delay="0"/>
                                          </p:stCondLst>
                                        </p:cTn>
                                        <p:tgtEl>
                                          <p:spTgt spid="123"/>
                                        </p:tgtEl>
                                        <p:attrNameLst>
                                          <p:attrName>style.visibility</p:attrName>
                                        </p:attrNameLst>
                                      </p:cBhvr>
                                      <p:to>
                                        <p:strVal val="visible"/>
                                      </p:to>
                                    </p:set>
                                    <p:anim calcmode="lin" valueType="num">
                                      <p:cBhvr>
                                        <p:cTn id="264" dur="500" fill="hold"/>
                                        <p:tgtEl>
                                          <p:spTgt spid="123"/>
                                        </p:tgtEl>
                                        <p:attrNameLst>
                                          <p:attrName>ppt_w</p:attrName>
                                        </p:attrNameLst>
                                      </p:cBhvr>
                                      <p:tavLst>
                                        <p:tav tm="0">
                                          <p:val>
                                            <p:fltVal val="0"/>
                                          </p:val>
                                        </p:tav>
                                        <p:tav tm="100000">
                                          <p:val>
                                            <p:strVal val="#ppt_w"/>
                                          </p:val>
                                        </p:tav>
                                      </p:tavLst>
                                    </p:anim>
                                    <p:anim calcmode="lin" valueType="num">
                                      <p:cBhvr>
                                        <p:cTn id="265" dur="500" fill="hold"/>
                                        <p:tgtEl>
                                          <p:spTgt spid="123"/>
                                        </p:tgtEl>
                                        <p:attrNameLst>
                                          <p:attrName>ppt_h</p:attrName>
                                        </p:attrNameLst>
                                      </p:cBhvr>
                                      <p:tavLst>
                                        <p:tav tm="0">
                                          <p:val>
                                            <p:fltVal val="0"/>
                                          </p:val>
                                        </p:tav>
                                        <p:tav tm="100000">
                                          <p:val>
                                            <p:strVal val="#ppt_h"/>
                                          </p:val>
                                        </p:tav>
                                      </p:tavLst>
                                    </p:anim>
                                    <p:animEffect transition="in" filter="fade">
                                      <p:cBhvr>
                                        <p:cTn id="266" dur="500"/>
                                        <p:tgtEl>
                                          <p:spTgt spid="123"/>
                                        </p:tgtEl>
                                      </p:cBhvr>
                                    </p:animEffect>
                                  </p:childTnLst>
                                </p:cTn>
                              </p:par>
                              <p:par>
                                <p:cTn id="267" presetID="53" presetClass="entr" presetSubtype="16" fill="hold" grpId="0" nodeType="withEffect">
                                  <p:stCondLst>
                                    <p:cond delay="0"/>
                                  </p:stCondLst>
                                  <p:childTnLst>
                                    <p:set>
                                      <p:cBhvr>
                                        <p:cTn id="268" dur="1" fill="hold">
                                          <p:stCondLst>
                                            <p:cond delay="0"/>
                                          </p:stCondLst>
                                        </p:cTn>
                                        <p:tgtEl>
                                          <p:spTgt spid="32"/>
                                        </p:tgtEl>
                                        <p:attrNameLst>
                                          <p:attrName>style.visibility</p:attrName>
                                        </p:attrNameLst>
                                      </p:cBhvr>
                                      <p:to>
                                        <p:strVal val="visible"/>
                                      </p:to>
                                    </p:set>
                                    <p:anim calcmode="lin" valueType="num">
                                      <p:cBhvr>
                                        <p:cTn id="269" dur="500" fill="hold"/>
                                        <p:tgtEl>
                                          <p:spTgt spid="32"/>
                                        </p:tgtEl>
                                        <p:attrNameLst>
                                          <p:attrName>ppt_w</p:attrName>
                                        </p:attrNameLst>
                                      </p:cBhvr>
                                      <p:tavLst>
                                        <p:tav tm="0">
                                          <p:val>
                                            <p:fltVal val="0"/>
                                          </p:val>
                                        </p:tav>
                                        <p:tav tm="100000">
                                          <p:val>
                                            <p:strVal val="#ppt_w"/>
                                          </p:val>
                                        </p:tav>
                                      </p:tavLst>
                                    </p:anim>
                                    <p:anim calcmode="lin" valueType="num">
                                      <p:cBhvr>
                                        <p:cTn id="270" dur="500" fill="hold"/>
                                        <p:tgtEl>
                                          <p:spTgt spid="32"/>
                                        </p:tgtEl>
                                        <p:attrNameLst>
                                          <p:attrName>ppt_h</p:attrName>
                                        </p:attrNameLst>
                                      </p:cBhvr>
                                      <p:tavLst>
                                        <p:tav tm="0">
                                          <p:val>
                                            <p:fltVal val="0"/>
                                          </p:val>
                                        </p:tav>
                                        <p:tav tm="100000">
                                          <p:val>
                                            <p:strVal val="#ppt_h"/>
                                          </p:val>
                                        </p:tav>
                                      </p:tavLst>
                                    </p:anim>
                                    <p:animEffect transition="in" filter="fade">
                                      <p:cBhvr>
                                        <p:cTn id="271" dur="500"/>
                                        <p:tgtEl>
                                          <p:spTgt spid="32"/>
                                        </p:tgtEl>
                                      </p:cBhvr>
                                    </p:animEffect>
                                  </p:childTnLst>
                                </p:cTn>
                              </p:par>
                              <p:par>
                                <p:cTn id="272" presetID="16" presetClass="entr" presetSubtype="21" fill="hold" grpId="0" nodeType="withEffect">
                                  <p:stCondLst>
                                    <p:cond delay="0"/>
                                  </p:stCondLst>
                                  <p:childTnLst>
                                    <p:set>
                                      <p:cBhvr>
                                        <p:cTn id="273" dur="1" fill="hold">
                                          <p:stCondLst>
                                            <p:cond delay="0"/>
                                          </p:stCondLst>
                                        </p:cTn>
                                        <p:tgtEl>
                                          <p:spTgt spid="125"/>
                                        </p:tgtEl>
                                        <p:attrNameLst>
                                          <p:attrName>style.visibility</p:attrName>
                                        </p:attrNameLst>
                                      </p:cBhvr>
                                      <p:to>
                                        <p:strVal val="visible"/>
                                      </p:to>
                                    </p:set>
                                    <p:animEffect transition="in" filter="barn(inVertical)">
                                      <p:cBhvr>
                                        <p:cTn id="274"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0" grpId="0"/>
      <p:bldP spid="11" grpId="0" animBg="1"/>
      <p:bldP spid="12" grpId="0"/>
      <p:bldP spid="14" grpId="0"/>
      <p:bldP spid="16" grpId="0"/>
      <p:bldP spid="19" grpId="0"/>
      <p:bldP spid="20" grpId="0" animBg="1"/>
      <p:bldP spid="26" grpId="0" animBg="1"/>
      <p:bldP spid="27" grpId="0"/>
      <p:bldP spid="29" grpId="0" animBg="1"/>
      <p:bldP spid="117" grpId="0" animBg="1"/>
      <p:bldP spid="30" grpId="0"/>
      <p:bldP spid="32" grpId="0"/>
      <p:bldP spid="3" grpId="0" animBg="1"/>
      <p:bldP spid="18" grpId="0" animBg="1"/>
      <p:bldP spid="50" grpId="0" animBg="1"/>
      <p:bldP spid="51" grpId="0" animBg="1"/>
      <p:bldP spid="52" grpId="0" animBg="1"/>
      <p:bldP spid="53" grpId="0" animBg="1"/>
      <p:bldP spid="54" grpId="0" animBg="1"/>
      <p:bldP spid="56" grpId="0" animBg="1"/>
      <p:bldP spid="59" grpId="0" animBg="1"/>
      <p:bldP spid="60" grpId="0" animBg="1"/>
      <p:bldP spid="61" grpId="0" animBg="1"/>
      <p:bldP spid="62" grpId="0" animBg="1"/>
      <p:bldP spid="63" grpId="0" animBg="1"/>
      <p:bldP spid="64" grpId="0" animBg="1"/>
      <p:bldP spid="65" grpId="0" animBg="1"/>
      <p:bldP spid="66" grpId="0" animBg="1"/>
      <p:bldP spid="68" grpId="0" animBg="1"/>
      <p:bldP spid="69" grpId="0" animBg="1"/>
      <p:bldP spid="70"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118" grpId="0" animBg="1"/>
      <p:bldP spid="119" grpId="0" animBg="1"/>
      <p:bldP spid="120" grpId="0" animBg="1"/>
      <p:bldP spid="121" grpId="0" animBg="1"/>
      <p:bldP spid="123" grpId="0" animBg="1"/>
      <p:bldP spid="124" grpId="0"/>
      <p:bldP spid="1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决策系统</a:t>
            </a:r>
            <a:endParaRPr lang="zh-CN" altLang="en-US" dirty="0">
              <a:solidFill>
                <a:srgbClr val="333F50"/>
              </a:solidFill>
            </a:endParaRPr>
          </a:p>
        </p:txBody>
      </p:sp>
      <p:sp>
        <p:nvSpPr>
          <p:cNvPr id="37" name="文本框 36"/>
          <p:cNvSpPr txBox="1"/>
          <p:nvPr/>
        </p:nvSpPr>
        <p:spPr>
          <a:xfrm>
            <a:off x="624205" y="3399790"/>
            <a:ext cx="1554480" cy="368300"/>
          </a:xfrm>
          <a:prstGeom prst="rect">
            <a:avLst/>
          </a:prstGeom>
          <a:noFill/>
        </p:spPr>
        <p:txBody>
          <a:bodyPr wrap="none" rtlCol="0">
            <a:spAutoFit/>
          </a:bodyPr>
          <a:lstStyle/>
          <a:p>
            <a:pPr algn="ctr"/>
            <a:r>
              <a:rPr lang="zh-CN" altLang="en-US"/>
              <a:t>数据存储模块</a:t>
            </a:r>
          </a:p>
        </p:txBody>
      </p:sp>
      <p:grpSp>
        <p:nvGrpSpPr>
          <p:cNvPr id="9" name="组合 8"/>
          <p:cNvGrpSpPr/>
          <p:nvPr/>
        </p:nvGrpSpPr>
        <p:grpSpPr>
          <a:xfrm>
            <a:off x="5866765" y="1781810"/>
            <a:ext cx="1554480" cy="1528445"/>
            <a:chOff x="7847" y="1740"/>
            <a:chExt cx="2448" cy="2407"/>
          </a:xfrm>
        </p:grpSpPr>
        <p:sp>
          <p:nvSpPr>
            <p:cNvPr id="30" name="文本框 29"/>
            <p:cNvSpPr txBox="1"/>
            <p:nvPr/>
          </p:nvSpPr>
          <p:spPr>
            <a:xfrm>
              <a:off x="7847" y="3567"/>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自主学习模块</a:t>
              </a:r>
            </a:p>
          </p:txBody>
        </p:sp>
        <p:sp>
          <p:nvSpPr>
            <p:cNvPr id="2" name="KSO_Shape"/>
            <p:cNvSpPr/>
            <p:nvPr/>
          </p:nvSpPr>
          <p:spPr bwMode="auto">
            <a:xfrm>
              <a:off x="8111" y="1740"/>
              <a:ext cx="2056" cy="1640"/>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grpSp>
      <p:grpSp>
        <p:nvGrpSpPr>
          <p:cNvPr id="10" name="组合 9"/>
          <p:cNvGrpSpPr/>
          <p:nvPr/>
        </p:nvGrpSpPr>
        <p:grpSpPr>
          <a:xfrm>
            <a:off x="5866765" y="4056380"/>
            <a:ext cx="1554480" cy="1587500"/>
            <a:chOff x="8210" y="6203"/>
            <a:chExt cx="2448" cy="2500"/>
          </a:xfrm>
        </p:grpSpPr>
        <p:sp>
          <p:nvSpPr>
            <p:cNvPr id="51" name="文本框 50"/>
            <p:cNvSpPr txBox="1"/>
            <p:nvPr/>
          </p:nvSpPr>
          <p:spPr>
            <a:xfrm>
              <a:off x="8210" y="8123"/>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业务管理模块</a:t>
              </a:r>
            </a:p>
          </p:txBody>
        </p:sp>
        <p:pic>
          <p:nvPicPr>
            <p:cNvPr id="5" name="图片 4" descr="Monitor_128px_1178229_easyicon.net"/>
            <p:cNvPicPr>
              <a:picLocks noChangeAspect="1"/>
            </p:cNvPicPr>
            <p:nvPr/>
          </p:nvPicPr>
          <p:blipFill>
            <a:blip r:embed="rId3"/>
            <a:stretch>
              <a:fillRect/>
            </a:stretch>
          </p:blipFill>
          <p:spPr>
            <a:xfrm>
              <a:off x="8474" y="6203"/>
              <a:ext cx="1920" cy="1920"/>
            </a:xfrm>
            <a:prstGeom prst="rect">
              <a:avLst/>
            </a:prstGeom>
          </p:spPr>
        </p:pic>
      </p:grpSp>
      <p:grpSp>
        <p:nvGrpSpPr>
          <p:cNvPr id="13" name="组合 12"/>
          <p:cNvGrpSpPr/>
          <p:nvPr/>
        </p:nvGrpSpPr>
        <p:grpSpPr>
          <a:xfrm>
            <a:off x="4425950" y="1839595"/>
            <a:ext cx="1441450" cy="782320"/>
            <a:chOff x="5236" y="1874"/>
            <a:chExt cx="2270" cy="1232"/>
          </a:xfrm>
        </p:grpSpPr>
        <p:sp>
          <p:nvSpPr>
            <p:cNvPr id="11" name="右箭头 10"/>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5237" y="1874"/>
              <a:ext cx="2088" cy="580"/>
            </a:xfrm>
            <a:prstGeom prst="rect">
              <a:avLst/>
            </a:prstGeom>
            <a:noFill/>
          </p:spPr>
          <p:txBody>
            <a:bodyPr wrap="none" rtlCol="0">
              <a:spAutoFit/>
            </a:bodyPr>
            <a:lstStyle/>
            <a:p>
              <a:r>
                <a:rPr lang="zh-CN" altLang="en-US"/>
                <a:t>建立经验库</a:t>
              </a:r>
            </a:p>
          </p:txBody>
        </p:sp>
      </p:grpSp>
      <p:grpSp>
        <p:nvGrpSpPr>
          <p:cNvPr id="14" name="组合 13"/>
          <p:cNvGrpSpPr/>
          <p:nvPr/>
        </p:nvGrpSpPr>
        <p:grpSpPr>
          <a:xfrm>
            <a:off x="4425315" y="4056380"/>
            <a:ext cx="1441450" cy="803275"/>
            <a:chOff x="5236" y="1842"/>
            <a:chExt cx="2270" cy="1265"/>
          </a:xfrm>
        </p:grpSpPr>
        <p:sp>
          <p:nvSpPr>
            <p:cNvPr id="15" name="左右箭头 14"/>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 name="文本框 15"/>
            <p:cNvSpPr txBox="1"/>
            <p:nvPr/>
          </p:nvSpPr>
          <p:spPr>
            <a:xfrm>
              <a:off x="5507" y="1842"/>
              <a:ext cx="1728" cy="580"/>
            </a:xfrm>
            <a:prstGeom prst="rect">
              <a:avLst/>
            </a:prstGeom>
            <a:noFill/>
          </p:spPr>
          <p:txBody>
            <a:bodyPr wrap="none" rtlCol="0">
              <a:spAutoFit/>
            </a:bodyPr>
            <a:lstStyle/>
            <a:p>
              <a:r>
                <a:rPr lang="zh-CN" altLang="en-US"/>
                <a:t>实时监测</a:t>
              </a:r>
            </a:p>
          </p:txBody>
        </p:sp>
      </p:grpSp>
      <p:grpSp>
        <p:nvGrpSpPr>
          <p:cNvPr id="17" name="组合 16"/>
          <p:cNvGrpSpPr/>
          <p:nvPr/>
        </p:nvGrpSpPr>
        <p:grpSpPr>
          <a:xfrm>
            <a:off x="7582535" y="1413510"/>
            <a:ext cx="1554480" cy="755015"/>
            <a:chOff x="5147" y="1918"/>
            <a:chExt cx="2448" cy="1189"/>
          </a:xfrm>
        </p:grpSpPr>
        <p:sp>
          <p:nvSpPr>
            <p:cNvPr id="19" name="左右箭头 18"/>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 name="文本框 19"/>
            <p:cNvSpPr txBox="1"/>
            <p:nvPr/>
          </p:nvSpPr>
          <p:spPr>
            <a:xfrm>
              <a:off x="5147" y="1918"/>
              <a:ext cx="2448" cy="580"/>
            </a:xfrm>
            <a:prstGeom prst="rect">
              <a:avLst/>
            </a:prstGeom>
            <a:noFill/>
          </p:spPr>
          <p:txBody>
            <a:bodyPr wrap="none" rtlCol="0">
              <a:spAutoFit/>
            </a:bodyPr>
            <a:lstStyle/>
            <a:p>
              <a:r>
                <a:rPr lang="zh-CN" altLang="en-US"/>
                <a:t>历史数据建模</a:t>
              </a:r>
            </a:p>
          </p:txBody>
        </p:sp>
      </p:grpSp>
      <p:grpSp>
        <p:nvGrpSpPr>
          <p:cNvPr id="22" name="组合 21"/>
          <p:cNvGrpSpPr/>
          <p:nvPr/>
        </p:nvGrpSpPr>
        <p:grpSpPr>
          <a:xfrm>
            <a:off x="7582535" y="2644775"/>
            <a:ext cx="1554480" cy="755015"/>
            <a:chOff x="5147" y="1918"/>
            <a:chExt cx="2448" cy="1189"/>
          </a:xfrm>
        </p:grpSpPr>
        <p:sp>
          <p:nvSpPr>
            <p:cNvPr id="23" name="左右箭头 22"/>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文本框 23"/>
            <p:cNvSpPr txBox="1"/>
            <p:nvPr/>
          </p:nvSpPr>
          <p:spPr>
            <a:xfrm>
              <a:off x="5147" y="1918"/>
              <a:ext cx="2448" cy="580"/>
            </a:xfrm>
            <a:prstGeom prst="rect">
              <a:avLst/>
            </a:prstGeom>
            <a:noFill/>
          </p:spPr>
          <p:txBody>
            <a:bodyPr wrap="none" rtlCol="0">
              <a:spAutoFit/>
            </a:bodyPr>
            <a:lstStyle/>
            <a:p>
              <a:r>
                <a:rPr lang="zh-CN" altLang="en-US"/>
                <a:t>故障处理指令</a:t>
              </a:r>
            </a:p>
          </p:txBody>
        </p:sp>
      </p:grpSp>
      <p:grpSp>
        <p:nvGrpSpPr>
          <p:cNvPr id="29" name="组合 28"/>
          <p:cNvGrpSpPr/>
          <p:nvPr/>
        </p:nvGrpSpPr>
        <p:grpSpPr>
          <a:xfrm>
            <a:off x="7639050" y="4056380"/>
            <a:ext cx="1441450" cy="803275"/>
            <a:chOff x="5236" y="1842"/>
            <a:chExt cx="2270" cy="1265"/>
          </a:xfrm>
        </p:grpSpPr>
        <p:sp>
          <p:nvSpPr>
            <p:cNvPr id="32" name="右箭头 31"/>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5507" y="1842"/>
              <a:ext cx="1728" cy="580"/>
            </a:xfrm>
            <a:prstGeom prst="rect">
              <a:avLst/>
            </a:prstGeom>
            <a:noFill/>
          </p:spPr>
          <p:txBody>
            <a:bodyPr wrap="none" rtlCol="0">
              <a:spAutoFit/>
            </a:bodyPr>
            <a:lstStyle/>
            <a:p>
              <a:r>
                <a:rPr lang="zh-CN" altLang="en-US"/>
                <a:t>异常上报</a:t>
              </a:r>
            </a:p>
          </p:txBody>
        </p:sp>
      </p:grpSp>
      <p:sp>
        <p:nvSpPr>
          <p:cNvPr id="52" name="圆角矩形 51"/>
          <p:cNvSpPr/>
          <p:nvPr/>
        </p:nvSpPr>
        <p:spPr>
          <a:xfrm>
            <a:off x="9450705" y="3013075"/>
            <a:ext cx="1017270" cy="1918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a:t>
            </a:r>
          </a:p>
          <a:p>
            <a:pPr algn="ctr"/>
            <a:r>
              <a:rPr lang="zh-CN" altLang="en-US"/>
              <a:t>处理</a:t>
            </a:r>
          </a:p>
          <a:p>
            <a:pPr algn="ctr"/>
            <a:r>
              <a:rPr lang="zh-CN" altLang="en-US"/>
              <a:t>模块</a:t>
            </a:r>
          </a:p>
        </p:txBody>
      </p:sp>
      <p:pic>
        <p:nvPicPr>
          <p:cNvPr id="53" name="图片 52" descr="model_vrml_72px_1078125_easyicon.net"/>
          <p:cNvPicPr>
            <a:picLocks noChangeAspect="1"/>
          </p:cNvPicPr>
          <p:nvPr/>
        </p:nvPicPr>
        <p:blipFill>
          <a:blip r:embed="rId4"/>
          <a:stretch>
            <a:fillRect/>
          </a:stretch>
        </p:blipFill>
        <p:spPr>
          <a:xfrm>
            <a:off x="3046095" y="1791335"/>
            <a:ext cx="914400" cy="914400"/>
          </a:xfrm>
          <a:prstGeom prst="rect">
            <a:avLst/>
          </a:prstGeom>
        </p:spPr>
      </p:pic>
      <p:sp>
        <p:nvSpPr>
          <p:cNvPr id="54" name="文本框 53"/>
          <p:cNvSpPr txBox="1"/>
          <p:nvPr/>
        </p:nvSpPr>
        <p:spPr>
          <a:xfrm>
            <a:off x="2954020" y="2941955"/>
            <a:ext cx="1097280" cy="368300"/>
          </a:xfrm>
          <a:prstGeom prst="rect">
            <a:avLst/>
          </a:prstGeom>
          <a:noFill/>
        </p:spPr>
        <p:txBody>
          <a:bodyPr wrap="none" rtlCol="0">
            <a:spAutoFit/>
          </a:bodyPr>
          <a:lstStyle/>
          <a:p>
            <a:r>
              <a:rPr lang="zh-CN" altLang="en-US"/>
              <a:t>经验模型</a:t>
            </a:r>
          </a:p>
        </p:txBody>
      </p:sp>
      <p:pic>
        <p:nvPicPr>
          <p:cNvPr id="55" name="图片 54" descr="cogs_153.32620320856px_1185588_easyicon.net"/>
          <p:cNvPicPr>
            <a:picLocks noChangeAspect="1"/>
          </p:cNvPicPr>
          <p:nvPr/>
        </p:nvPicPr>
        <p:blipFill>
          <a:blip r:embed="rId5"/>
          <a:stretch>
            <a:fillRect/>
          </a:stretch>
        </p:blipFill>
        <p:spPr>
          <a:xfrm>
            <a:off x="2920365" y="3956050"/>
            <a:ext cx="1165860" cy="975360"/>
          </a:xfrm>
          <a:prstGeom prst="rect">
            <a:avLst/>
          </a:prstGeom>
        </p:spPr>
      </p:pic>
      <p:sp>
        <p:nvSpPr>
          <p:cNvPr id="56" name="文本框 55"/>
          <p:cNvSpPr txBox="1"/>
          <p:nvPr/>
        </p:nvSpPr>
        <p:spPr>
          <a:xfrm>
            <a:off x="2954655" y="5142865"/>
            <a:ext cx="1097280" cy="368300"/>
          </a:xfrm>
          <a:prstGeom prst="rect">
            <a:avLst/>
          </a:prstGeom>
          <a:noFill/>
        </p:spPr>
        <p:txBody>
          <a:bodyPr wrap="none" rtlCol="0">
            <a:spAutoFit/>
          </a:bodyPr>
          <a:lstStyle/>
          <a:p>
            <a:r>
              <a:rPr lang="zh-CN" altLang="en-US"/>
              <a:t>基础数据</a:t>
            </a:r>
          </a:p>
        </p:txBody>
      </p:sp>
      <p:sp>
        <p:nvSpPr>
          <p:cNvPr id="57" name="圆角矩形 56"/>
          <p:cNvSpPr/>
          <p:nvPr/>
        </p:nvSpPr>
        <p:spPr>
          <a:xfrm>
            <a:off x="9450705" y="1560830"/>
            <a:ext cx="1313815" cy="84518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专案保障</a:t>
            </a:r>
            <a:r>
              <a:rPr lang="zh-CN" altLang="en-US" dirty="0"/>
              <a:t>模块</a:t>
            </a:r>
          </a:p>
        </p:txBody>
      </p:sp>
      <p:sp>
        <p:nvSpPr>
          <p:cNvPr id="58" name="左大括号 57"/>
          <p:cNvSpPr/>
          <p:nvPr/>
        </p:nvSpPr>
        <p:spPr>
          <a:xfrm>
            <a:off x="2450465" y="1843405"/>
            <a:ext cx="234950" cy="347853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59" name="圆角矩形 58"/>
          <p:cNvSpPr/>
          <p:nvPr/>
        </p:nvSpPr>
        <p:spPr>
          <a:xfrm>
            <a:off x="5728335" y="141287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5638165" y="605599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0543896"/>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1684020" y="1809750"/>
            <a:ext cx="7820660" cy="3446145"/>
            <a:chOff x="2580" y="2211"/>
            <a:chExt cx="12316" cy="5427"/>
          </a:xfrm>
        </p:grpSpPr>
        <p:grpSp>
          <p:nvGrpSpPr>
            <p:cNvPr id="9" name="组合 8"/>
            <p:cNvGrpSpPr/>
            <p:nvPr/>
          </p:nvGrpSpPr>
          <p:grpSpPr>
            <a:xfrm>
              <a:off x="5155" y="2211"/>
              <a:ext cx="2270" cy="1189"/>
              <a:chOff x="5236" y="1918"/>
              <a:chExt cx="2270" cy="1189"/>
            </a:xfrm>
          </p:grpSpPr>
          <p:sp>
            <p:nvSpPr>
              <p:cNvPr id="20" name="右箭头 19"/>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1" name="文本框 20"/>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10" name="右箭头 9"/>
            <p:cNvSpPr/>
            <p:nvPr/>
          </p:nvSpPr>
          <p:spPr>
            <a:xfrm>
              <a:off x="5155" y="4730"/>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 name="右箭头 10"/>
            <p:cNvSpPr/>
            <p:nvPr/>
          </p:nvSpPr>
          <p:spPr>
            <a:xfrm rot="10800000">
              <a:off x="5133" y="6666"/>
              <a:ext cx="7315"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圆角矩形 11"/>
            <p:cNvSpPr/>
            <p:nvPr/>
          </p:nvSpPr>
          <p:spPr>
            <a:xfrm>
              <a:off x="7681" y="4367"/>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故障处理</a:t>
              </a:r>
            </a:p>
            <a:p>
              <a:pPr algn="ctr"/>
              <a:r>
                <a:rPr lang="zh-CN" altLang="en-US"/>
                <a:t>模块</a:t>
              </a:r>
            </a:p>
          </p:txBody>
        </p:sp>
        <p:sp>
          <p:nvSpPr>
            <p:cNvPr id="13" name="圆角矩形 12"/>
            <p:cNvSpPr/>
            <p:nvPr/>
          </p:nvSpPr>
          <p:spPr>
            <a:xfrm>
              <a:off x="7681" y="2430"/>
              <a:ext cx="2069" cy="133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专案保障</a:t>
              </a:r>
              <a:r>
                <a:rPr lang="zh-CN" altLang="en-US" dirty="0"/>
                <a:t>模块</a:t>
              </a:r>
            </a:p>
          </p:txBody>
        </p:sp>
        <p:sp>
          <p:nvSpPr>
            <p:cNvPr id="14" name="圆角矩形 13"/>
            <p:cNvSpPr/>
            <p:nvPr/>
          </p:nvSpPr>
          <p:spPr>
            <a:xfrm>
              <a:off x="2580" y="6303"/>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感知系统</a:t>
              </a:r>
              <a:endParaRPr lang="zh-CN" altLang="en-US" dirty="0"/>
            </a:p>
          </p:txBody>
        </p:sp>
        <p:sp>
          <p:nvSpPr>
            <p:cNvPr id="15" name="圆角矩形 14"/>
            <p:cNvSpPr/>
            <p:nvPr/>
          </p:nvSpPr>
          <p:spPr>
            <a:xfrm>
              <a:off x="2580" y="2430"/>
              <a:ext cx="2069" cy="327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决策系统</a:t>
              </a:r>
            </a:p>
          </p:txBody>
        </p:sp>
        <p:sp>
          <p:nvSpPr>
            <p:cNvPr id="16" name="右箭头 15"/>
            <p:cNvSpPr/>
            <p:nvPr/>
          </p:nvSpPr>
          <p:spPr>
            <a:xfrm>
              <a:off x="10050" y="2791"/>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7" name="右箭头 16"/>
            <p:cNvSpPr/>
            <p:nvPr/>
          </p:nvSpPr>
          <p:spPr>
            <a:xfrm>
              <a:off x="10050" y="4730"/>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9" name="圆角矩形 18"/>
            <p:cNvSpPr/>
            <p:nvPr/>
          </p:nvSpPr>
          <p:spPr>
            <a:xfrm>
              <a:off x="12827" y="2430"/>
              <a:ext cx="2069" cy="52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smtClean="0"/>
                <a:t>自动化执行预设流程或记入日志</a:t>
              </a:r>
              <a:endParaRPr lang="zh-CN" altLang="en-US" dirty="0"/>
            </a:p>
          </p:txBody>
        </p:sp>
      </p:grpSp>
      <p:sp>
        <p:nvSpPr>
          <p:cNvPr id="22" name="圆角矩形 21"/>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 name="文本框 1"/>
          <p:cNvSpPr txBox="1"/>
          <p:nvPr/>
        </p:nvSpPr>
        <p:spPr>
          <a:xfrm>
            <a:off x="4923155" y="5155050"/>
            <a:ext cx="1588770" cy="369332"/>
          </a:xfrm>
          <a:prstGeom prst="rect">
            <a:avLst/>
          </a:prstGeom>
          <a:noFill/>
        </p:spPr>
        <p:txBody>
          <a:bodyPr wrap="square" rtlCol="0">
            <a:spAutoFit/>
          </a:bodyPr>
          <a:lstStyle/>
          <a:p>
            <a:r>
              <a:rPr lang="zh-CN" altLang="en-US" dirty="0" smtClean="0"/>
              <a:t>完成闭环</a:t>
            </a:r>
            <a:endParaRPr lang="zh-CN" altLang="en-US" dirty="0"/>
          </a:p>
        </p:txBody>
      </p:sp>
    </p:spTree>
    <p:extLst>
      <p:ext uri="{BB962C8B-B14F-4D97-AF65-F5344CB8AC3E}">
        <p14:creationId xmlns:p14="http://schemas.microsoft.com/office/powerpoint/2010/main" val="1468419878"/>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pic>
        <p:nvPicPr>
          <p:cNvPr id="25" name="Picture 2"/>
          <p:cNvPicPr>
            <a:picLocks noChangeAspect="1" noChangeArrowheads="1"/>
          </p:cNvPicPr>
          <p:nvPr/>
        </p:nvPicPr>
        <p:blipFill>
          <a:blip r:embed="rId3" cstate="print"/>
          <a:srcRect/>
          <a:stretch>
            <a:fillRect/>
          </a:stretch>
        </p:blipFill>
        <p:spPr bwMode="auto">
          <a:xfrm>
            <a:off x="2395537" y="1496796"/>
            <a:ext cx="7400925" cy="4429125"/>
          </a:xfrm>
          <a:prstGeom prst="rect">
            <a:avLst/>
          </a:prstGeom>
          <a:noFill/>
          <a:ln w="9525">
            <a:noFill/>
            <a:miter lim="800000"/>
            <a:headEnd/>
            <a:tailEnd/>
          </a:ln>
        </p:spPr>
      </p:pic>
    </p:spTree>
    <p:extLst>
      <p:ext uri="{BB962C8B-B14F-4D97-AF65-F5344CB8AC3E}">
        <p14:creationId xmlns:p14="http://schemas.microsoft.com/office/powerpoint/2010/main" val="1475670304"/>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33425" y="3332696"/>
            <a:ext cx="1781175"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
        <p:nvSpPr>
          <p:cNvPr id="3" name="文本框 2"/>
          <p:cNvSpPr txBox="1"/>
          <p:nvPr/>
        </p:nvSpPr>
        <p:spPr>
          <a:xfrm>
            <a:off x="914400" y="800100"/>
            <a:ext cx="1943100" cy="369332"/>
          </a:xfrm>
          <a:prstGeom prst="rect">
            <a:avLst/>
          </a:prstGeom>
          <a:noFill/>
        </p:spPr>
        <p:txBody>
          <a:bodyPr wrap="square" rtlCol="0">
            <a:spAutoFit/>
          </a:bodyPr>
          <a:lstStyle/>
          <a:p>
            <a:r>
              <a:rPr lang="zh-CN" altLang="en-US" dirty="0" smtClean="0"/>
              <a:t>以故障管理为例</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3751297"/>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078278"/>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4548</TotalTime>
  <Words>1942</Words>
  <Application>Microsoft Office PowerPoint</Application>
  <PresentationFormat>宽屏</PresentationFormat>
  <Paragraphs>415</Paragraphs>
  <Slides>30</Slides>
  <Notes>20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Lato Light</vt:lpstr>
      <vt:lpstr>等线</vt:lpstr>
      <vt:lpstr>宋体</vt:lpstr>
      <vt:lpstr>微软雅黑 Light</vt:lpstr>
      <vt:lpstr>Arial</vt:lpstr>
      <vt:lpstr>Calibri</vt:lpstr>
      <vt:lpstr>Calibri Light</vt:lpstr>
      <vt:lpstr>Segoe UI Light</vt:lpstr>
      <vt:lpstr>Wingdings</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273</cp:revision>
  <dcterms:created xsi:type="dcterms:W3CDTF">2015-08-05T01:47:03Z</dcterms:created>
  <dcterms:modified xsi:type="dcterms:W3CDTF">2018-01-21T20:01:16Z</dcterms:modified>
</cp:coreProperties>
</file>