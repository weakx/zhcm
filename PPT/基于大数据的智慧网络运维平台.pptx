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80" r:id="rId2"/>
    <p:sldId id="257" r:id="rId3"/>
    <p:sldId id="282" r:id="rId4"/>
    <p:sldId id="319" r:id="rId5"/>
    <p:sldId id="271" r:id="rId6"/>
    <p:sldId id="322" r:id="rId7"/>
    <p:sldId id="328" r:id="rId8"/>
    <p:sldId id="329" r:id="rId9"/>
    <p:sldId id="330" r:id="rId10"/>
    <p:sldId id="326" r:id="rId11"/>
    <p:sldId id="348" r:id="rId12"/>
    <p:sldId id="321" r:id="rId13"/>
    <p:sldId id="347" r:id="rId14"/>
    <p:sldId id="335" r:id="rId15"/>
    <p:sldId id="345" r:id="rId16"/>
    <p:sldId id="323" r:id="rId17"/>
    <p:sldId id="337" r:id="rId18"/>
    <p:sldId id="338" r:id="rId19"/>
    <p:sldId id="339" r:id="rId20"/>
    <p:sldId id="340" r:id="rId21"/>
    <p:sldId id="341" r:id="rId22"/>
    <p:sldId id="342" r:id="rId23"/>
    <p:sldId id="343" r:id="rId24"/>
    <p:sldId id="346" r:id="rId25"/>
    <p:sldId id="344" r:id="rId26"/>
    <p:sldId id="336" r:id="rId27"/>
    <p:sldId id="331" r:id="rId28"/>
    <p:sldId id="332" r:id="rId29"/>
    <p:sldId id="333" r:id="rId30"/>
    <p:sldId id="349" r:id="rId31"/>
    <p:sldId id="312" r:id="rId32"/>
    <p:sldId id="313" r:id="rId33"/>
    <p:sldId id="293" r:id="rId34"/>
    <p:sldId id="292" r:id="rId35"/>
    <p:sldId id="294" r:id="rId36"/>
    <p:sldId id="295" r:id="rId37"/>
    <p:sldId id="296" r:id="rId38"/>
    <p:sldId id="298" r:id="rId39"/>
    <p:sldId id="299" r:id="rId40"/>
    <p:sldId id="300" r:id="rId41"/>
    <p:sldId id="301" r:id="rId42"/>
    <p:sldId id="302" r:id="rId43"/>
    <p:sldId id="305" r:id="rId44"/>
    <p:sldId id="306" r:id="rId45"/>
    <p:sldId id="350" r:id="rId46"/>
    <p:sldId id="314" r:id="rId47"/>
    <p:sldId id="315" r:id="rId48"/>
    <p:sldId id="316" r:id="rId49"/>
    <p:sldId id="317" r:id="rId50"/>
    <p:sldId id="277"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4E"/>
    <a:srgbClr val="007A37"/>
    <a:srgbClr val="00DE64"/>
    <a:srgbClr val="FFFFFF"/>
    <a:srgbClr val="00B050"/>
    <a:srgbClr val="33C073"/>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88084" autoAdjust="0"/>
  </p:normalViewPr>
  <p:slideViewPr>
    <p:cSldViewPr snapToGrid="0">
      <p:cViewPr varScale="1">
        <p:scale>
          <a:sx n="101" d="100"/>
          <a:sy n="101" d="100"/>
        </p:scale>
        <p:origin x="87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3880813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336829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tags" Target="../tags/tag66.xml"/><Relationship Id="rId74" Type="http://schemas.openxmlformats.org/officeDocument/2006/relationships/tags" Target="../tags/tag74.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slideLayout" Target="../slideLayouts/slideLayout2.xml"/><Relationship Id="rId7" Type="http://schemas.openxmlformats.org/officeDocument/2006/relationships/tags" Target="../tags/tag7.xml"/><Relationship Id="rId71" Type="http://schemas.openxmlformats.org/officeDocument/2006/relationships/tags" Target="../tags/tag7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平台方案</a:t>
            </a:r>
            <a:r>
              <a:rPr lang="en-US" altLang="zh-CN" dirty="0" smtClean="0">
                <a:solidFill>
                  <a:srgbClr val="103154"/>
                </a:solidFill>
                <a:latin typeface="微软雅黑" panose="020B0503020204020204" pitchFamily="34" charset="-122"/>
                <a:ea typeface="微软雅黑" panose="020B0503020204020204" pitchFamily="34" charset="-122"/>
              </a:rPr>
              <a:t>&amp;</a:t>
            </a:r>
            <a:r>
              <a:rPr lang="zh-CN" altLang="en-US" dirty="0" smtClean="0">
                <a:solidFill>
                  <a:srgbClr val="103154"/>
                </a:solidFill>
                <a:latin typeface="微软雅黑" panose="020B0503020204020204" pitchFamily="34" charset="-122"/>
                <a:ea typeface="微软雅黑" panose="020B0503020204020204" pitchFamily="34" charset="-122"/>
              </a:rPr>
              <a:t>架构</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工作进展</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01</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项目背景</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6299154"/>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216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51155" y="2706505"/>
            <a:ext cx="3686174" cy="2169825"/>
          </a:xfrm>
          <a:prstGeom prst="rect">
            <a:avLst/>
          </a:prstGeom>
          <a:noFill/>
        </p:spPr>
        <p:txBody>
          <a:bodyPr wrap="square" rtlCol="0">
            <a:spAutoFit/>
          </a:bodyPr>
          <a:lstStyle/>
          <a:p>
            <a:pPr indent="457200">
              <a:lnSpc>
                <a:spcPct val="150000"/>
              </a:lnSpc>
            </a:pPr>
            <a:r>
              <a:rPr lang="zh-CN" altLang="en-US" dirty="0" smtClean="0"/>
              <a:t>现阶段城域网运维主要系统为网佳系统，但是由于系统建立时未考虑扩展性需求，导致系统功能与实际日常运维工作脱节，实际工作中依旧使用效率较低的工具和方法。</a:t>
            </a:r>
            <a:endParaRPr lang="zh-CN" altLang="en-US"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7325" y="1733549"/>
            <a:ext cx="6553200" cy="3686175"/>
          </a:xfrm>
          <a:prstGeom prst="rect">
            <a:avLst/>
          </a:prstGeom>
        </p:spPr>
      </p:pic>
      <p:sp>
        <p:nvSpPr>
          <p:cNvPr id="8" name="文本框 7"/>
          <p:cNvSpPr txBox="1"/>
          <p:nvPr/>
        </p:nvSpPr>
        <p:spPr>
          <a:xfrm>
            <a:off x="5810250" y="5705475"/>
            <a:ext cx="5172075" cy="276999"/>
          </a:xfrm>
          <a:prstGeom prst="rect">
            <a:avLst/>
          </a:prstGeom>
          <a:noFill/>
        </p:spPr>
        <p:txBody>
          <a:bodyPr wrap="square" rtlCol="0">
            <a:spAutoFit/>
          </a:bodyPr>
          <a:lstStyle/>
          <a:p>
            <a:pPr algn="ctr"/>
            <a:r>
              <a:rPr lang="zh-CN" altLang="en-US" sz="1200" dirty="0" smtClean="0"/>
              <a:t>网佳系统截图</a:t>
            </a:r>
            <a:endParaRPr lang="zh-CN" altLang="en-US" sz="12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TELNET huawei”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9150" y="2058986"/>
            <a:ext cx="5931262" cy="298926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457201" y="2496216"/>
            <a:ext cx="4819650" cy="299971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运维人员关心的指标如性能利用率、资源利用率</a:t>
            </a:r>
            <a:r>
              <a:rPr lang="zh-CN" altLang="en-US" dirty="0" smtClean="0"/>
              <a:t>等无法通过系统获取，需要运维人员手动</a:t>
            </a:r>
            <a:r>
              <a:rPr lang="zh-CN" altLang="en-US" dirty="0"/>
              <a:t>登录设备进行查询获取</a:t>
            </a:r>
            <a:r>
              <a:rPr lang="zh-CN" altLang="en-US" dirty="0" smtClean="0"/>
              <a:t>，存在着重复性劳动的问题，对于故障问题的查找效率十分低下，且对于非专业人士或缺少经验的运维人员来说，不熟悉指令库的情况下无法进行操作。</a:t>
            </a:r>
            <a:endParaRPr lang="en-US" altLang="zh-CN" dirty="0"/>
          </a:p>
        </p:txBody>
      </p:sp>
      <p:sp>
        <p:nvSpPr>
          <p:cNvPr id="7" name="文本框 6"/>
          <p:cNvSpPr txBox="1"/>
          <p:nvPr/>
        </p:nvSpPr>
        <p:spPr>
          <a:xfrm>
            <a:off x="6981825" y="5314950"/>
            <a:ext cx="3228975" cy="276999"/>
          </a:xfrm>
          <a:prstGeom prst="rect">
            <a:avLst/>
          </a:prstGeom>
          <a:noFill/>
        </p:spPr>
        <p:txBody>
          <a:bodyPr wrap="square" rtlCol="0">
            <a:spAutoFit/>
          </a:bodyPr>
          <a:lstStyle/>
          <a:p>
            <a:pPr algn="ctr"/>
            <a:r>
              <a:rPr lang="en-US" altLang="zh-CN" sz="1200" dirty="0" smtClean="0"/>
              <a:t>Telnet</a:t>
            </a:r>
            <a:r>
              <a:rPr lang="zh-CN" altLang="en-US" sz="1200" dirty="0" smtClean="0"/>
              <a:t>登录界面</a:t>
            </a:r>
            <a:endParaRPr lang="zh-CN" altLang="en-US" sz="1200" dirty="0"/>
          </a:p>
        </p:txBody>
      </p:sp>
    </p:spTree>
    <p:extLst>
      <p:ext uri="{BB962C8B-B14F-4D97-AF65-F5344CB8AC3E}">
        <p14:creationId xmlns:p14="http://schemas.microsoft.com/office/powerpoint/2010/main" val="4066279875"/>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0" y="2496214"/>
            <a:ext cx="4638675"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数据呈现方式单一</a:t>
            </a:r>
            <a:r>
              <a:rPr lang="zh-CN" altLang="en-US" dirty="0" smtClean="0"/>
              <a:t>，无法直观获取网络情况；对于大规模的数据和进一步的分析，需要手动获取数据后对</a:t>
            </a:r>
            <a:r>
              <a:rPr lang="zh-CN" altLang="en-US" dirty="0"/>
              <a:t>数据</a:t>
            </a:r>
            <a:r>
              <a:rPr lang="zh-CN" altLang="en-US" dirty="0" smtClean="0"/>
              <a:t>进行规范化处理，然后才能通过可视化的技术和分析工具等对数据进行统计分析。</a:t>
            </a:r>
            <a:endParaRPr lang="en-US" altLang="zh-CN"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1175" y="1449527"/>
            <a:ext cx="6265333" cy="3524250"/>
          </a:xfrm>
          <a:prstGeom prst="rect">
            <a:avLst/>
          </a:prstGeom>
        </p:spPr>
      </p:pic>
    </p:spTree>
    <p:extLst>
      <p:ext uri="{BB962C8B-B14F-4D97-AF65-F5344CB8AC3E}">
        <p14:creationId xmlns:p14="http://schemas.microsoft.com/office/powerpoint/2010/main" val="3086638107"/>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1" y="2496214"/>
            <a:ext cx="4381500"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系统导出的</a:t>
            </a:r>
            <a:r>
              <a:rPr lang="en-US" altLang="zh-CN" dirty="0" smtClean="0"/>
              <a:t>Excel</a:t>
            </a:r>
            <a:r>
              <a:rPr lang="zh-CN" altLang="en-US" dirty="0" smtClean="0"/>
              <a:t>数据表格</a:t>
            </a:r>
            <a:r>
              <a:rPr lang="zh-CN" altLang="en-US" dirty="0"/>
              <a:t>内容十分</a:t>
            </a:r>
            <a:r>
              <a:rPr lang="zh-CN" altLang="en-US" dirty="0" smtClean="0"/>
              <a:t>单薄，且不支持对数据的汇总</a:t>
            </a:r>
            <a:r>
              <a:rPr lang="zh-CN" altLang="en-US" dirty="0"/>
              <a:t>分析及报表生成导出</a:t>
            </a:r>
            <a:r>
              <a:rPr lang="zh-CN" altLang="en-US" dirty="0" smtClean="0"/>
              <a:t>，对于日常工作汇报与考核十分不便；运维人员需要</a:t>
            </a:r>
            <a:r>
              <a:rPr lang="zh-CN" altLang="en-US" dirty="0"/>
              <a:t>通过</a:t>
            </a:r>
            <a:r>
              <a:rPr lang="en-US" altLang="zh-CN" dirty="0"/>
              <a:t>IPNET</a:t>
            </a:r>
            <a:r>
              <a:rPr lang="zh-CN" altLang="en-US" dirty="0"/>
              <a:t>网管网登录省公司平台</a:t>
            </a:r>
            <a:r>
              <a:rPr lang="zh-CN" altLang="en-US" dirty="0" smtClean="0"/>
              <a:t>获取本市设备的批量</a:t>
            </a:r>
            <a:r>
              <a:rPr lang="zh-CN" altLang="en-US" dirty="0"/>
              <a:t>数据</a:t>
            </a:r>
            <a:r>
              <a:rPr lang="zh-CN" altLang="en-US" dirty="0" smtClean="0"/>
              <a:t>，无法直接获取设备上数据。</a:t>
            </a:r>
            <a:endParaRPr lang="en-US" altLang="zh-CN" dirty="0"/>
          </a:p>
        </p:txBody>
      </p:sp>
      <p:pic>
        <p:nvPicPr>
          <p:cNvPr id="7" name="图片 6"/>
          <p:cNvPicPr>
            <a:picLocks noChangeAspect="1"/>
          </p:cNvPicPr>
          <p:nvPr/>
        </p:nvPicPr>
        <p:blipFill>
          <a:blip r:embed="rId2"/>
          <a:stretch>
            <a:fillRect/>
          </a:stretch>
        </p:blipFill>
        <p:spPr>
          <a:xfrm>
            <a:off x="5584644" y="1993587"/>
            <a:ext cx="3376991" cy="2776312"/>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7836" y="1914525"/>
            <a:ext cx="3066866" cy="3322794"/>
          </a:xfrm>
          <a:prstGeom prst="rect">
            <a:avLst/>
          </a:prstGeom>
        </p:spPr>
      </p:pic>
    </p:spTree>
    <p:extLst>
      <p:ext uri="{BB962C8B-B14F-4D97-AF65-F5344CB8AC3E}">
        <p14:creationId xmlns:p14="http://schemas.microsoft.com/office/powerpoint/2010/main" val="3582696954"/>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1892" y="2706505"/>
            <a:ext cx="443865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对于新兴业务如</a:t>
            </a:r>
            <a:r>
              <a:rPr lang="en-US" altLang="zh-CN" dirty="0" smtClean="0"/>
              <a:t>IPTV</a:t>
            </a:r>
            <a:r>
              <a:rPr lang="zh-CN" altLang="en-US" dirty="0" smtClean="0"/>
              <a:t>、</a:t>
            </a:r>
            <a:r>
              <a:rPr lang="en-US" altLang="zh-CN" dirty="0" smtClean="0"/>
              <a:t>WLAN</a:t>
            </a:r>
            <a:r>
              <a:rPr lang="zh-CN" altLang="en-US" dirty="0" smtClean="0"/>
              <a:t>等业务，运维人员无法通过平台获取</a:t>
            </a:r>
            <a:r>
              <a:rPr lang="zh-CN" altLang="en-US" dirty="0"/>
              <a:t>数据及报表</a:t>
            </a:r>
            <a:r>
              <a:rPr lang="zh-CN" altLang="en-US" dirty="0" smtClean="0"/>
              <a:t>，仍需手动登录设备或通过省公司平台获取数据，即存在功能扩展性</a:t>
            </a:r>
            <a:r>
              <a:rPr lang="zh-CN" altLang="en-US" dirty="0"/>
              <a:t>问题。</a:t>
            </a:r>
            <a:endParaRPr lang="en-US" altLang="zh-CN" dirty="0"/>
          </a:p>
        </p:txBody>
      </p:sp>
      <p:pic>
        <p:nvPicPr>
          <p:cNvPr id="7" name="图片 6"/>
          <p:cNvPicPr>
            <a:picLocks noChangeAspect="1"/>
          </p:cNvPicPr>
          <p:nvPr/>
        </p:nvPicPr>
        <p:blipFill>
          <a:blip r:embed="rId2"/>
          <a:stretch>
            <a:fillRect/>
          </a:stretch>
        </p:blipFill>
        <p:spPr>
          <a:xfrm>
            <a:off x="5872443" y="4641662"/>
            <a:ext cx="5738660" cy="938167"/>
          </a:xfrm>
          <a:prstGeom prst="rect">
            <a:avLst/>
          </a:prstGeom>
        </p:spPr>
      </p:pic>
      <p:pic>
        <p:nvPicPr>
          <p:cNvPr id="2050" name="Picture 2" descr="“IPTV”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023" y="112861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920975"/>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614612" y="2604502"/>
            <a:ext cx="6176963" cy="2585323"/>
          </a:xfrm>
          <a:prstGeom prst="rect">
            <a:avLst/>
          </a:prstGeom>
          <a:noFill/>
        </p:spPr>
        <p:txBody>
          <a:bodyPr wrap="square" rtlCol="0">
            <a:spAutoFit/>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a:t>
            </a:r>
            <a:r>
              <a:rPr lang="zh-CN" altLang="en-US" dirty="0" smtClean="0"/>
              <a:t>情况。除此之外，对于数据的深层次分析以及故障预测等体现智慧运维的工作由于缺乏有效的平台和工具，在现阶段的工作中也难以体现。</a:t>
            </a:r>
            <a:endParaRPr lang="zh-CN" altLang="en-US" dirty="0"/>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02</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项目提出</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1497700"/>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2" descr="“big data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6106" y="3370532"/>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2923" y="1738557"/>
            <a:ext cx="839568" cy="8395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0315" y="4956651"/>
            <a:ext cx="1867471" cy="102051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0058" y="2582827"/>
            <a:ext cx="2619978" cy="1949264"/>
          </a:xfrm>
          <a:prstGeom prst="rect">
            <a:avLst/>
          </a:prstGeom>
          <a:noFill/>
          <a:extLst>
            <a:ext uri="{909E8E84-426E-40DD-AFC4-6F175D3DCCD1}">
              <a14:hiddenFill xmlns:a14="http://schemas.microsoft.com/office/drawing/2010/main">
                <a:solidFill>
                  <a:srgbClr val="FFFFFF"/>
                </a:solidFill>
              </a14:hiddenFill>
            </a:ext>
          </a:extLst>
        </p:spPr>
      </p:pic>
      <p:sp>
        <p:nvSpPr>
          <p:cNvPr id="19" name="右箭头 18"/>
          <p:cNvSpPr/>
          <p:nvPr/>
        </p:nvSpPr>
        <p:spPr>
          <a:xfrm>
            <a:off x="4033367" y="3231208"/>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2003213" y="2798617"/>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2042923" y="439957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1889278" y="1400352"/>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1889277" y="3294100"/>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1889278" y="4803828"/>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6689726" y="4478532"/>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1329324" y="3244537"/>
            <a:ext cx="3486247" cy="678261"/>
          </a:xfrm>
          <a:prstGeom prst="rect">
            <a:avLst/>
          </a:prstGeom>
        </p:spPr>
        <p:txBody>
          <a:bodyPr wrap="square" lIns="68570" tIns="34289" rIns="68570" bIns="34289">
            <a:spAutoFit/>
          </a:bodyPr>
          <a:lstStyle/>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7951146"/>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5896381" y="2358030"/>
            <a:ext cx="37694" cy="20710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flipH="1">
            <a:off x="3584968" y="4676775"/>
            <a:ext cx="1958582" cy="7589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p:cNvCxnSpPr/>
          <p:nvPr/>
        </p:nvCxnSpPr>
        <p:spPr>
          <a:xfrm>
            <a:off x="6240836" y="4592062"/>
            <a:ext cx="1979477" cy="820334"/>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2" name="矩形 6"/>
          <p:cNvSpPr>
            <a:spLocks noChangeArrowheads="1"/>
          </p:cNvSpPr>
          <p:nvPr/>
        </p:nvSpPr>
        <p:spPr bwMode="auto">
          <a:xfrm>
            <a:off x="745580" y="560477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发出指令，执行操作</a:t>
            </a:r>
            <a:endParaRPr lang="zh-CN" altLang="en-US" sz="1200" dirty="0">
              <a:solidFill>
                <a:schemeClr val="bg1"/>
              </a:solidFill>
              <a:latin typeface="Century Gothic" panose="020B0502020202020204" pitchFamily="34" charset="0"/>
            </a:endParaRPr>
          </a:p>
        </p:txBody>
      </p:sp>
      <p:sp>
        <p:nvSpPr>
          <p:cNvPr id="13" name="矩形 6"/>
          <p:cNvSpPr>
            <a:spLocks noChangeArrowheads="1"/>
          </p:cNvSpPr>
          <p:nvPr/>
        </p:nvSpPr>
        <p:spPr bwMode="auto">
          <a:xfrm>
            <a:off x="9228649" y="5436978"/>
            <a:ext cx="22354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利用经验库对数据进行分析、过滤、判断；同时也对经验库进行完善</a:t>
            </a:r>
            <a:endParaRPr lang="zh-CN" altLang="en-US" sz="1200" dirty="0">
              <a:solidFill>
                <a:schemeClr val="bg1"/>
              </a:solidFill>
              <a:latin typeface="Century Gothic" panose="020B0502020202020204" pitchFamily="34" charset="0"/>
            </a:endParaRPr>
          </a:p>
        </p:txBody>
      </p:sp>
      <p:sp>
        <p:nvSpPr>
          <p:cNvPr id="14" name="矩形 6"/>
          <p:cNvSpPr>
            <a:spLocks noChangeArrowheads="1"/>
          </p:cNvSpPr>
          <p:nvPr/>
        </p:nvSpPr>
        <p:spPr bwMode="auto">
          <a:xfrm>
            <a:off x="4822540" y="119038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对于数据的采集、聚合、存储</a:t>
            </a:r>
            <a:endParaRPr lang="zh-CN" altLang="en-US" sz="1200" dirty="0">
              <a:solidFill>
                <a:schemeClr val="bg1"/>
              </a:solidFill>
              <a:latin typeface="Century Gothic" panose="020B0502020202020204" pitchFamily="34" charset="0"/>
            </a:endParaRPr>
          </a:p>
        </p:txBody>
      </p:sp>
      <p:grpSp>
        <p:nvGrpSpPr>
          <p:cNvPr id="25" name="组合 24"/>
          <p:cNvGrpSpPr/>
          <p:nvPr/>
        </p:nvGrpSpPr>
        <p:grpSpPr>
          <a:xfrm>
            <a:off x="5510427" y="4116115"/>
            <a:ext cx="881231" cy="854980"/>
            <a:chOff x="5932231" y="4415044"/>
            <a:chExt cx="488440" cy="509247"/>
          </a:xfrm>
        </p:grpSpPr>
        <p:sp>
          <p:nvSpPr>
            <p:cNvPr id="26" name="椭圆 25"/>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7" name="矩形 26"/>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itchFamily="34" charset="-122"/>
              </a:endParaRPr>
            </a:p>
          </p:txBody>
        </p:sp>
      </p:grpSp>
      <p:sp>
        <p:nvSpPr>
          <p:cNvPr id="42" name="等腰三角形 41"/>
          <p:cNvSpPr/>
          <p:nvPr/>
        </p:nvSpPr>
        <p:spPr>
          <a:xfrm>
            <a:off x="3283088" y="2231482"/>
            <a:ext cx="5114925" cy="3314700"/>
          </a:xfrm>
          <a:prstGeom prst="triangle">
            <a:avLst/>
          </a:prstGeom>
          <a:noFill/>
          <a:ln w="28575" cap="flat" cmpd="sng" algn="ctr">
            <a:solidFill>
              <a:srgbClr val="FFFFFF"/>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nvGrpSpPr>
          <p:cNvPr id="16" name="组合 15"/>
          <p:cNvGrpSpPr/>
          <p:nvPr/>
        </p:nvGrpSpPr>
        <p:grpSpPr>
          <a:xfrm>
            <a:off x="5472358" y="1650515"/>
            <a:ext cx="810266" cy="810266"/>
            <a:chOff x="5766870" y="2649434"/>
            <a:chExt cx="810266" cy="810266"/>
          </a:xfrm>
          <a:solidFill>
            <a:srgbClr val="00DE64"/>
          </a:solidFill>
        </p:grpSpPr>
        <p:sp>
          <p:nvSpPr>
            <p:cNvPr id="17" name="椭圆 16"/>
            <p:cNvSpPr/>
            <p:nvPr/>
          </p:nvSpPr>
          <p:spPr>
            <a:xfrm>
              <a:off x="5766870" y="2649434"/>
              <a:ext cx="810266" cy="81026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18" name="矩形 17"/>
            <p:cNvSpPr/>
            <p:nvPr/>
          </p:nvSpPr>
          <p:spPr>
            <a:xfrm>
              <a:off x="5823189" y="2842359"/>
              <a:ext cx="697627" cy="400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感知</a:t>
              </a:r>
              <a:endParaRPr lang="zh-CN" altLang="en-US" sz="2000" b="1" dirty="0">
                <a:solidFill>
                  <a:srgbClr val="EAE7D4"/>
                </a:solidFill>
                <a:ea typeface="微软雅黑" pitchFamily="34" charset="-122"/>
              </a:endParaRPr>
            </a:p>
          </p:txBody>
        </p:sp>
      </p:grpSp>
      <p:grpSp>
        <p:nvGrpSpPr>
          <p:cNvPr id="19" name="组合 18"/>
          <p:cNvGrpSpPr/>
          <p:nvPr/>
        </p:nvGrpSpPr>
        <p:grpSpPr>
          <a:xfrm>
            <a:off x="8018805" y="5163841"/>
            <a:ext cx="810266" cy="810266"/>
            <a:chOff x="7402397" y="5003093"/>
            <a:chExt cx="810266" cy="810266"/>
          </a:xfrm>
        </p:grpSpPr>
        <p:sp>
          <p:nvSpPr>
            <p:cNvPr id="20" name="椭圆 19"/>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1" name="矩形 20"/>
            <p:cNvSpPr/>
            <p:nvPr/>
          </p:nvSpPr>
          <p:spPr>
            <a:xfrm>
              <a:off x="7458716" y="519928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决策</a:t>
              </a:r>
              <a:endParaRPr lang="zh-CN" altLang="en-US" sz="2000" b="1" dirty="0">
                <a:solidFill>
                  <a:srgbClr val="EAE7D4"/>
                </a:solidFill>
                <a:ea typeface="微软雅黑" pitchFamily="34" charset="-122"/>
              </a:endParaRPr>
            </a:p>
          </p:txBody>
        </p:sp>
      </p:grpSp>
      <p:grpSp>
        <p:nvGrpSpPr>
          <p:cNvPr id="22" name="组合 21"/>
          <p:cNvGrpSpPr/>
          <p:nvPr/>
        </p:nvGrpSpPr>
        <p:grpSpPr>
          <a:xfrm>
            <a:off x="2921570" y="5102693"/>
            <a:ext cx="810266" cy="810266"/>
            <a:chOff x="4070096" y="5016162"/>
            <a:chExt cx="810266" cy="810266"/>
          </a:xfrm>
        </p:grpSpPr>
        <p:sp>
          <p:nvSpPr>
            <p:cNvPr id="23" name="椭圆 22"/>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4" name="矩形 23"/>
            <p:cNvSpPr/>
            <p:nvPr/>
          </p:nvSpPr>
          <p:spPr>
            <a:xfrm>
              <a:off x="4129546" y="5231037"/>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itchFamily="34" charset="-122"/>
                </a:rPr>
                <a:t>控制</a:t>
              </a:r>
              <a:endParaRPr lang="zh-CN" altLang="en-US" sz="2000" b="1" dirty="0">
                <a:solidFill>
                  <a:srgbClr val="EAE7D4"/>
                </a:solidFill>
                <a:ea typeface="微软雅黑" pitchFamily="34" charset="-122"/>
              </a:endParaRPr>
            </a:p>
          </p:txBody>
        </p:sp>
      </p:grpSp>
      <p:sp>
        <p:nvSpPr>
          <p:cNvPr id="50" name="文本框 49"/>
          <p:cNvSpPr txBox="1"/>
          <p:nvPr/>
        </p:nvSpPr>
        <p:spPr>
          <a:xfrm>
            <a:off x="5610937" y="4263961"/>
            <a:ext cx="663162" cy="646331"/>
          </a:xfrm>
          <a:prstGeom prst="rect">
            <a:avLst/>
          </a:prstGeom>
          <a:noFill/>
        </p:spPr>
        <p:txBody>
          <a:bodyPr wrap="square" rtlCol="0">
            <a:spAutoFit/>
          </a:bodyPr>
          <a:lstStyle/>
          <a:p>
            <a:r>
              <a:rPr lang="zh-CN" altLang="en-US" dirty="0" smtClean="0">
                <a:solidFill>
                  <a:schemeClr val="bg1"/>
                </a:solidFill>
              </a:rPr>
              <a:t>网络大脑</a:t>
            </a:r>
            <a:endParaRPr lang="zh-CN" altLang="en-US" dirty="0">
              <a:solidFill>
                <a:schemeClr val="bg1"/>
              </a:solidFill>
            </a:endParaRPr>
          </a:p>
        </p:txBody>
      </p:sp>
      <p:sp>
        <p:nvSpPr>
          <p:cNvPr id="53" name="文本框 52"/>
          <p:cNvSpPr txBox="1"/>
          <p:nvPr/>
        </p:nvSpPr>
        <p:spPr>
          <a:xfrm>
            <a:off x="624114" y="10310"/>
            <a:ext cx="1838593" cy="584775"/>
          </a:xfrm>
          <a:prstGeom prst="rect">
            <a:avLst/>
          </a:prstGeom>
          <a:noFill/>
        </p:spPr>
        <p:txBody>
          <a:bodyPr wrap="square" rtlCol="0">
            <a:spAutoFit/>
          </a:bodyPr>
          <a:lstStyle/>
          <a:p>
            <a:r>
              <a:rPr lang="zh-CN" altLang="en-US" sz="3200" b="1" dirty="0" smtClean="0">
                <a:solidFill>
                  <a:schemeClr val="bg1"/>
                </a:solidFill>
                <a:latin typeface="微软雅黑" panose="020B0503020204020204" pitchFamily="34" charset="-122"/>
                <a:ea typeface="微软雅黑" panose="020B0503020204020204" pitchFamily="34" charset="-122"/>
              </a:rPr>
              <a:t>项目提出</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7772400" y="3079615"/>
            <a:ext cx="2257425" cy="646331"/>
          </a:xfrm>
          <a:prstGeom prst="rect">
            <a:avLst/>
          </a:prstGeom>
          <a:noFill/>
        </p:spPr>
        <p:txBody>
          <a:bodyPr wrap="square" rtlCol="0">
            <a:spAutoFit/>
          </a:bodyPr>
          <a:lstStyle/>
          <a:p>
            <a:r>
              <a:rPr lang="zh-CN" altLang="en-US" dirty="0" smtClean="0">
                <a:solidFill>
                  <a:schemeClr val="bg1"/>
                </a:solidFill>
              </a:rPr>
              <a:t>通过闭环反馈机制，完成自我学习的过程</a:t>
            </a:r>
            <a:endParaRPr lang="zh-CN" altLang="en-US" dirty="0">
              <a:solidFill>
                <a:schemeClr val="bg1"/>
              </a:solidFill>
            </a:endParaRPr>
          </a:p>
        </p:txBody>
      </p:sp>
    </p:spTree>
    <p:extLst>
      <p:ext uri="{BB962C8B-B14F-4D97-AF65-F5344CB8AC3E}">
        <p14:creationId xmlns:p14="http://schemas.microsoft.com/office/powerpoint/2010/main" val="3527762173"/>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矩形 4"/>
          <p:cNvSpPr/>
          <p:nvPr/>
        </p:nvSpPr>
        <p:spPr>
          <a:xfrm>
            <a:off x="2934787" y="3266578"/>
            <a:ext cx="8896433" cy="51091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01070" y="5345098"/>
            <a:ext cx="1244534" cy="4569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493343" y="2593085"/>
            <a:ext cx="1244534" cy="5105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493343" y="3265720"/>
            <a:ext cx="1243713" cy="120706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34786" y="1100545"/>
            <a:ext cx="8975879" cy="89352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934787" y="2577105"/>
            <a:ext cx="8896433" cy="49951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012609" y="1209349"/>
            <a:ext cx="4677733" cy="70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934787" y="3968912"/>
            <a:ext cx="8896433" cy="495435"/>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TextBox 27"/>
          <p:cNvSpPr txBox="1"/>
          <p:nvPr/>
        </p:nvSpPr>
        <p:spPr>
          <a:xfrm>
            <a:off x="3128525" y="4061833"/>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5" name="TextBox 28"/>
          <p:cNvSpPr txBox="1"/>
          <p:nvPr/>
        </p:nvSpPr>
        <p:spPr>
          <a:xfrm>
            <a:off x="5693044" y="4056847"/>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6" name="TextBox 29"/>
          <p:cNvSpPr txBox="1"/>
          <p:nvPr/>
        </p:nvSpPr>
        <p:spPr>
          <a:xfrm>
            <a:off x="4395014" y="4051586"/>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7" name="矩形 16"/>
          <p:cNvSpPr/>
          <p:nvPr/>
        </p:nvSpPr>
        <p:spPr>
          <a:xfrm>
            <a:off x="2934786" y="4697455"/>
            <a:ext cx="8896433" cy="495435"/>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934786" y="5348037"/>
            <a:ext cx="8896433" cy="459558"/>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40"/>
          <p:cNvSpPr txBox="1"/>
          <p:nvPr/>
        </p:nvSpPr>
        <p:spPr>
          <a:xfrm>
            <a:off x="3313150" y="5466970"/>
            <a:ext cx="1812957" cy="369332"/>
          </a:xfrm>
          <a:prstGeom prst="rect">
            <a:avLst/>
          </a:prstGeom>
          <a:noFill/>
        </p:spPr>
        <p:txBody>
          <a:bodyPr wrap="square" rtlCol="0">
            <a:spAutoFit/>
          </a:bodyPr>
          <a:lstStyle/>
          <a:p>
            <a:r>
              <a:rPr lang="en-US" altLang="zh-CN" dirty="0" smtClean="0"/>
              <a:t>Telnet</a:t>
            </a:r>
            <a:endParaRPr lang="zh-CN" altLang="en-US" dirty="0" smtClean="0"/>
          </a:p>
        </p:txBody>
      </p:sp>
      <p:sp>
        <p:nvSpPr>
          <p:cNvPr id="20" name="TextBox 41"/>
          <p:cNvSpPr txBox="1"/>
          <p:nvPr/>
        </p:nvSpPr>
        <p:spPr>
          <a:xfrm>
            <a:off x="5205011" y="5461716"/>
            <a:ext cx="5950215" cy="369332"/>
          </a:xfrm>
          <a:prstGeom prst="rect">
            <a:avLst/>
          </a:prstGeom>
          <a:noFill/>
        </p:spPr>
        <p:txBody>
          <a:bodyPr wrap="square" rtlCol="0">
            <a:spAutoFit/>
          </a:bodyPr>
          <a:lstStyle/>
          <a:p>
            <a:r>
              <a:rPr lang="en-US" altLang="zh-CN" b="1" dirty="0" err="1" smtClean="0"/>
              <a:t>WebServices</a:t>
            </a:r>
            <a:r>
              <a:rPr lang="en-US" altLang="zh-CN" b="1" dirty="0" smtClean="0"/>
              <a:t>/FTP/JDBC/ODBC/ESB/</a:t>
            </a:r>
            <a:r>
              <a:rPr lang="en-US" altLang="zh-CN" b="1" dirty="0" err="1" smtClean="0"/>
              <a:t>syslog</a:t>
            </a:r>
            <a:r>
              <a:rPr lang="en-US" altLang="zh-CN" b="1" dirty="0" smtClean="0"/>
              <a:t>/SNMP/</a:t>
            </a:r>
            <a:r>
              <a:rPr lang="en-US" altLang="zh-CN" b="1" dirty="0" err="1" smtClean="0"/>
              <a:t>Hadoop</a:t>
            </a:r>
            <a:r>
              <a:rPr lang="en-US" altLang="zh-CN" b="1" dirty="0" smtClean="0"/>
              <a:t>…</a:t>
            </a:r>
            <a:endParaRPr lang="zh-CN" altLang="en-US" dirty="0" smtClean="0"/>
          </a:p>
        </p:txBody>
      </p:sp>
      <p:sp>
        <p:nvSpPr>
          <p:cNvPr id="21" name="TextBox 47"/>
          <p:cNvSpPr txBox="1"/>
          <p:nvPr/>
        </p:nvSpPr>
        <p:spPr>
          <a:xfrm>
            <a:off x="6933265" y="4067625"/>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2" name="TextBox 52"/>
          <p:cNvSpPr txBox="1"/>
          <p:nvPr/>
        </p:nvSpPr>
        <p:spPr>
          <a:xfrm>
            <a:off x="1647946" y="5373053"/>
            <a:ext cx="945106"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接口层</a:t>
            </a:r>
            <a:endParaRPr lang="zh-CN" altLang="en-US" dirty="0">
              <a:latin typeface="微软雅黑" pitchFamily="34" charset="-122"/>
              <a:ea typeface="微软雅黑" pitchFamily="34" charset="-122"/>
            </a:endParaRPr>
          </a:p>
        </p:txBody>
      </p:sp>
      <p:sp>
        <p:nvSpPr>
          <p:cNvPr id="23" name="TextBox 73"/>
          <p:cNvSpPr txBox="1"/>
          <p:nvPr/>
        </p:nvSpPr>
        <p:spPr>
          <a:xfrm>
            <a:off x="8147627" y="4103458"/>
            <a:ext cx="1379086" cy="369332"/>
          </a:xfrm>
          <a:prstGeom prst="rect">
            <a:avLst/>
          </a:prstGeom>
          <a:noFill/>
        </p:spPr>
        <p:txBody>
          <a:bodyPr wrap="square" rtlCol="0">
            <a:spAutoFit/>
          </a:bodyPr>
          <a:lstStyle/>
          <a:p>
            <a:r>
              <a:rPr lang="en-US" altLang="zh-CN" dirty="0" smtClean="0"/>
              <a:t>…..</a:t>
            </a:r>
            <a:endParaRPr lang="zh-CN" altLang="en-US" dirty="0"/>
          </a:p>
        </p:txBody>
      </p:sp>
      <p:sp>
        <p:nvSpPr>
          <p:cNvPr id="24" name="TextBox 74"/>
          <p:cNvSpPr txBox="1"/>
          <p:nvPr/>
        </p:nvSpPr>
        <p:spPr>
          <a:xfrm>
            <a:off x="4082190" y="1368335"/>
            <a:ext cx="2619071"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实现网络智慧运维管理</a:t>
            </a:r>
            <a:endParaRPr lang="zh-CN" altLang="en-US" dirty="0">
              <a:latin typeface="微软雅黑" pitchFamily="34" charset="-122"/>
              <a:ea typeface="微软雅黑" pitchFamily="34" charset="-122"/>
            </a:endParaRPr>
          </a:p>
        </p:txBody>
      </p:sp>
      <p:sp>
        <p:nvSpPr>
          <p:cNvPr id="25" name="TextBox 76"/>
          <p:cNvSpPr txBox="1"/>
          <p:nvPr/>
        </p:nvSpPr>
        <p:spPr>
          <a:xfrm>
            <a:off x="3097274" y="2663632"/>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网络概览</a:t>
            </a:r>
            <a:endParaRPr lang="zh-CN" altLang="en-US" b="0" dirty="0">
              <a:solidFill>
                <a:schemeClr val="tx1"/>
              </a:solidFill>
              <a:effectLst/>
            </a:endParaRPr>
          </a:p>
        </p:txBody>
      </p:sp>
      <p:sp>
        <p:nvSpPr>
          <p:cNvPr id="26" name="TextBox 77"/>
          <p:cNvSpPr txBox="1"/>
          <p:nvPr/>
        </p:nvSpPr>
        <p:spPr>
          <a:xfrm>
            <a:off x="4206480" y="2648133"/>
            <a:ext cx="96593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拓扑视图</a:t>
            </a:r>
            <a:endParaRPr lang="zh-CN" altLang="en-US" b="0" dirty="0">
              <a:solidFill>
                <a:schemeClr val="tx1"/>
              </a:solidFill>
              <a:effectLst/>
            </a:endParaRPr>
          </a:p>
        </p:txBody>
      </p:sp>
      <p:sp>
        <p:nvSpPr>
          <p:cNvPr id="27" name="TextBox 78"/>
          <p:cNvSpPr txBox="1"/>
          <p:nvPr/>
        </p:nvSpPr>
        <p:spPr>
          <a:xfrm>
            <a:off x="5236107" y="2642878"/>
            <a:ext cx="103862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统计报表</a:t>
            </a:r>
          </a:p>
        </p:txBody>
      </p:sp>
      <p:sp>
        <p:nvSpPr>
          <p:cNvPr id="28" name="TextBox 79"/>
          <p:cNvSpPr txBox="1"/>
          <p:nvPr/>
        </p:nvSpPr>
        <p:spPr>
          <a:xfrm>
            <a:off x="6350189" y="2653388"/>
            <a:ext cx="101280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监测视图</a:t>
            </a:r>
            <a:endParaRPr lang="zh-CN" altLang="en-US" b="0" dirty="0">
              <a:solidFill>
                <a:schemeClr val="tx1"/>
              </a:solidFill>
              <a:effectLst/>
            </a:endParaRPr>
          </a:p>
        </p:txBody>
      </p:sp>
      <p:sp>
        <p:nvSpPr>
          <p:cNvPr id="29" name="TextBox 82"/>
          <p:cNvSpPr txBox="1"/>
          <p:nvPr/>
        </p:nvSpPr>
        <p:spPr>
          <a:xfrm>
            <a:off x="7429613" y="2642879"/>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智能定位</a:t>
            </a:r>
            <a:endParaRPr lang="zh-CN" altLang="en-US" b="0" dirty="0">
              <a:solidFill>
                <a:schemeClr val="tx1"/>
              </a:solidFill>
              <a:effectLst/>
            </a:endParaRPr>
          </a:p>
        </p:txBody>
      </p:sp>
      <p:sp>
        <p:nvSpPr>
          <p:cNvPr id="30" name="TextBox 83"/>
          <p:cNvSpPr txBox="1"/>
          <p:nvPr/>
        </p:nvSpPr>
        <p:spPr>
          <a:xfrm>
            <a:off x="8354524" y="263762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a:solidFill>
                  <a:schemeClr val="tx1"/>
                </a:solidFill>
                <a:effectLst/>
              </a:rPr>
              <a:t>消息告警</a:t>
            </a:r>
          </a:p>
        </p:txBody>
      </p:sp>
      <p:sp>
        <p:nvSpPr>
          <p:cNvPr id="31" name="TextBox 84"/>
          <p:cNvSpPr txBox="1"/>
          <p:nvPr/>
        </p:nvSpPr>
        <p:spPr>
          <a:xfrm>
            <a:off x="9279432" y="264813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即席查询</a:t>
            </a:r>
            <a:endParaRPr lang="zh-CN" altLang="en-US" b="0" dirty="0">
              <a:solidFill>
                <a:schemeClr val="tx1"/>
              </a:solidFill>
              <a:effectLst/>
            </a:endParaRPr>
          </a:p>
        </p:txBody>
      </p:sp>
      <p:sp>
        <p:nvSpPr>
          <p:cNvPr id="32" name="上箭头 31"/>
          <p:cNvSpPr/>
          <p:nvPr/>
        </p:nvSpPr>
        <p:spPr>
          <a:xfrm>
            <a:off x="7527577" y="2112434"/>
            <a:ext cx="314606" cy="3301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86"/>
          <p:cNvSpPr txBox="1"/>
          <p:nvPr/>
        </p:nvSpPr>
        <p:spPr>
          <a:xfrm>
            <a:off x="1646512" y="2655145"/>
            <a:ext cx="98508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应用层</a:t>
            </a:r>
            <a:endParaRPr lang="zh-CN" altLang="en-US" dirty="0">
              <a:latin typeface="微软雅黑" pitchFamily="34" charset="-122"/>
              <a:ea typeface="微软雅黑" pitchFamily="34" charset="-122"/>
            </a:endParaRPr>
          </a:p>
        </p:txBody>
      </p:sp>
      <p:sp>
        <p:nvSpPr>
          <p:cNvPr id="34" name="TextBox 50"/>
          <p:cNvSpPr txBox="1"/>
          <p:nvPr/>
        </p:nvSpPr>
        <p:spPr>
          <a:xfrm>
            <a:off x="3128525" y="3352763"/>
            <a:ext cx="8329885"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35" name="TextBox 86"/>
          <p:cNvSpPr txBox="1"/>
          <p:nvPr/>
        </p:nvSpPr>
        <p:spPr>
          <a:xfrm>
            <a:off x="1631458" y="3599580"/>
            <a:ext cx="908574" cy="369332"/>
          </a:xfrm>
          <a:prstGeom prst="rect">
            <a:avLst/>
          </a:prstGeom>
          <a:solidFill>
            <a:schemeClr val="accent1">
              <a:lumMod val="60000"/>
              <a:lumOff val="40000"/>
            </a:schemeClr>
          </a:solidFill>
        </p:spPr>
        <p:txBody>
          <a:bodyPr wrap="square" rtlCol="0">
            <a:spAutoFit/>
          </a:bodyPr>
          <a:lstStyle/>
          <a:p>
            <a:r>
              <a:rPr lang="zh-CN" altLang="en-US" dirty="0">
                <a:latin typeface="微软雅黑" pitchFamily="34" charset="-122"/>
                <a:ea typeface="微软雅黑" pitchFamily="34" charset="-122"/>
              </a:rPr>
              <a:t>配置</a:t>
            </a:r>
            <a:r>
              <a:rPr lang="zh-CN" altLang="en-US" dirty="0" smtClean="0">
                <a:latin typeface="微软雅黑" pitchFamily="34" charset="-122"/>
                <a:ea typeface="微软雅黑" pitchFamily="34" charset="-122"/>
              </a:rPr>
              <a:t>层</a:t>
            </a:r>
            <a:endParaRPr lang="zh-CN" altLang="en-US" dirty="0">
              <a:latin typeface="微软雅黑" pitchFamily="34" charset="-122"/>
              <a:ea typeface="微软雅黑" pitchFamily="34" charset="-122"/>
            </a:endParaRPr>
          </a:p>
        </p:txBody>
      </p:sp>
      <p:sp>
        <p:nvSpPr>
          <p:cNvPr id="36" name="TextBox 84"/>
          <p:cNvSpPr txBox="1"/>
          <p:nvPr/>
        </p:nvSpPr>
        <p:spPr>
          <a:xfrm>
            <a:off x="10206747" y="264555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系统管理</a:t>
            </a:r>
            <a:endParaRPr lang="zh-CN" altLang="en-US" b="0" dirty="0">
              <a:solidFill>
                <a:schemeClr val="tx1"/>
              </a:solidFill>
              <a:effectLst/>
            </a:endParaRPr>
          </a:p>
        </p:txBody>
      </p:sp>
      <p:sp>
        <p:nvSpPr>
          <p:cNvPr id="37" name="矩形 36"/>
          <p:cNvSpPr/>
          <p:nvPr/>
        </p:nvSpPr>
        <p:spPr>
          <a:xfrm>
            <a:off x="7879154" y="1209348"/>
            <a:ext cx="3952196" cy="696831"/>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74"/>
          <p:cNvSpPr txBox="1"/>
          <p:nvPr/>
        </p:nvSpPr>
        <p:spPr>
          <a:xfrm>
            <a:off x="8495264" y="1402922"/>
            <a:ext cx="301105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展示珠海网络状态、能力</a:t>
            </a:r>
            <a:endParaRPr lang="zh-CN" altLang="en-US" dirty="0">
              <a:latin typeface="微软雅黑" pitchFamily="34" charset="-122"/>
              <a:ea typeface="微软雅黑" pitchFamily="34" charset="-122"/>
            </a:endParaRPr>
          </a:p>
        </p:txBody>
      </p:sp>
      <p:sp>
        <p:nvSpPr>
          <p:cNvPr id="39" name="矩形 38"/>
          <p:cNvSpPr/>
          <p:nvPr/>
        </p:nvSpPr>
        <p:spPr>
          <a:xfrm>
            <a:off x="2942441" y="5958124"/>
            <a:ext cx="8888910" cy="495435"/>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3"/>
          <p:cNvSpPr txBox="1"/>
          <p:nvPr/>
        </p:nvSpPr>
        <p:spPr>
          <a:xfrm>
            <a:off x="3265431" y="6034149"/>
            <a:ext cx="1503474"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41" name="TextBox 34"/>
          <p:cNvSpPr txBox="1"/>
          <p:nvPr/>
        </p:nvSpPr>
        <p:spPr>
          <a:xfrm>
            <a:off x="4881524" y="6049915"/>
            <a:ext cx="1460263"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42" name="TextBox 35"/>
          <p:cNvSpPr txBox="1"/>
          <p:nvPr/>
        </p:nvSpPr>
        <p:spPr>
          <a:xfrm>
            <a:off x="6490492" y="6044659"/>
            <a:ext cx="1913161"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44" name="TextBox 45"/>
          <p:cNvSpPr txBox="1"/>
          <p:nvPr/>
        </p:nvSpPr>
        <p:spPr>
          <a:xfrm>
            <a:off x="8576023" y="6034148"/>
            <a:ext cx="1110860"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45" name="矩形 44"/>
          <p:cNvSpPr/>
          <p:nvPr/>
        </p:nvSpPr>
        <p:spPr>
          <a:xfrm>
            <a:off x="1492522" y="5921930"/>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52"/>
          <p:cNvSpPr txBox="1"/>
          <p:nvPr/>
        </p:nvSpPr>
        <p:spPr>
          <a:xfrm>
            <a:off x="1674560" y="5984982"/>
            <a:ext cx="1103412"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数据源</a:t>
            </a:r>
            <a:endParaRPr lang="zh-CN" altLang="en-US" dirty="0">
              <a:latin typeface="微软雅黑" pitchFamily="34" charset="-122"/>
              <a:ea typeface="微软雅黑" pitchFamily="34" charset="-122"/>
            </a:endParaRPr>
          </a:p>
        </p:txBody>
      </p:sp>
      <p:sp>
        <p:nvSpPr>
          <p:cNvPr id="47" name="矩形 46"/>
          <p:cNvSpPr/>
          <p:nvPr/>
        </p:nvSpPr>
        <p:spPr>
          <a:xfrm>
            <a:off x="1492522" y="4729756"/>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52"/>
          <p:cNvSpPr txBox="1"/>
          <p:nvPr/>
        </p:nvSpPr>
        <p:spPr>
          <a:xfrm>
            <a:off x="1470321" y="4768564"/>
            <a:ext cx="1526945"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数据管理层</a:t>
            </a:r>
            <a:endParaRPr lang="zh-CN" altLang="en-US" dirty="0">
              <a:latin typeface="微软雅黑" pitchFamily="34" charset="-122"/>
              <a:ea typeface="微软雅黑" pitchFamily="34" charset="-122"/>
            </a:endParaRPr>
          </a:p>
        </p:txBody>
      </p:sp>
      <p:sp>
        <p:nvSpPr>
          <p:cNvPr id="49" name="TextBox 27"/>
          <p:cNvSpPr txBox="1"/>
          <p:nvPr/>
        </p:nvSpPr>
        <p:spPr>
          <a:xfrm>
            <a:off x="2942441" y="4768521"/>
            <a:ext cx="8736584"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sp>
        <p:nvSpPr>
          <p:cNvPr id="50" name="文本框 49"/>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整体架构</a:t>
            </a:r>
            <a:endParaRPr lang="zh-CN" altLang="en-US" dirty="0">
              <a:solidFill>
                <a:srgbClr val="333F50"/>
              </a:solidFill>
            </a:endParaRPr>
          </a:p>
        </p:txBody>
      </p:sp>
      <p:sp>
        <p:nvSpPr>
          <p:cNvPr id="2" name="文本框 1"/>
          <p:cNvSpPr txBox="1"/>
          <p:nvPr/>
        </p:nvSpPr>
        <p:spPr>
          <a:xfrm>
            <a:off x="314257" y="4833906"/>
            <a:ext cx="911292" cy="1569660"/>
          </a:xfrm>
          <a:prstGeom prst="rect">
            <a:avLst/>
          </a:prstGeom>
          <a:solidFill>
            <a:srgbClr val="00AC4E"/>
          </a:solidFill>
        </p:spPr>
        <p:txBody>
          <a:bodyPr wrap="square" rtlCol="0">
            <a:spAutoFit/>
          </a:bodyPr>
          <a:lstStyle/>
          <a:p>
            <a:r>
              <a:rPr lang="zh-CN" altLang="en-US" sz="3200" dirty="0" smtClean="0">
                <a:solidFill>
                  <a:schemeClr val="bg1"/>
                </a:solidFill>
              </a:rPr>
              <a:t>感</a:t>
            </a:r>
            <a:endParaRPr lang="en-US" altLang="zh-CN" sz="3200" dirty="0" smtClean="0">
              <a:solidFill>
                <a:schemeClr val="bg1"/>
              </a:solidFill>
            </a:endParaRPr>
          </a:p>
          <a:p>
            <a:endParaRPr lang="en-US" altLang="zh-CN" sz="3200" dirty="0">
              <a:solidFill>
                <a:schemeClr val="bg1"/>
              </a:solidFill>
            </a:endParaRPr>
          </a:p>
          <a:p>
            <a:r>
              <a:rPr lang="zh-CN" altLang="en-US" sz="3200" dirty="0" smtClean="0">
                <a:solidFill>
                  <a:schemeClr val="bg1"/>
                </a:solidFill>
              </a:rPr>
              <a:t>知</a:t>
            </a:r>
            <a:endParaRPr lang="zh-CN" altLang="en-US" sz="3200" dirty="0">
              <a:solidFill>
                <a:schemeClr val="bg1"/>
              </a:solidFill>
            </a:endParaRPr>
          </a:p>
        </p:txBody>
      </p:sp>
      <p:sp>
        <p:nvSpPr>
          <p:cNvPr id="4" name="文本框 3"/>
          <p:cNvSpPr txBox="1"/>
          <p:nvPr/>
        </p:nvSpPr>
        <p:spPr>
          <a:xfrm>
            <a:off x="314257" y="2580837"/>
            <a:ext cx="970443" cy="523220"/>
          </a:xfrm>
          <a:prstGeom prst="rect">
            <a:avLst/>
          </a:prstGeom>
          <a:solidFill>
            <a:srgbClr val="007A37"/>
          </a:solidFill>
        </p:spPr>
        <p:txBody>
          <a:bodyPr wrap="square" rtlCol="0">
            <a:spAutoFit/>
          </a:bodyPr>
          <a:lstStyle/>
          <a:p>
            <a:r>
              <a:rPr lang="zh-CN" altLang="en-US" sz="2800" dirty="0" smtClean="0">
                <a:solidFill>
                  <a:schemeClr val="bg1"/>
                </a:solidFill>
              </a:rPr>
              <a:t>控制</a:t>
            </a:r>
            <a:endParaRPr lang="zh-CN" altLang="en-US" dirty="0">
              <a:solidFill>
                <a:schemeClr val="bg1"/>
              </a:solidFill>
            </a:endParaRPr>
          </a:p>
        </p:txBody>
      </p:sp>
      <p:sp>
        <p:nvSpPr>
          <p:cNvPr id="11" name="文本框 10"/>
          <p:cNvSpPr txBox="1"/>
          <p:nvPr/>
        </p:nvSpPr>
        <p:spPr>
          <a:xfrm>
            <a:off x="314257" y="3272460"/>
            <a:ext cx="955355" cy="1200329"/>
          </a:xfrm>
          <a:prstGeom prst="rect">
            <a:avLst/>
          </a:prstGeom>
          <a:solidFill>
            <a:srgbClr val="92D050"/>
          </a:solidFill>
        </p:spPr>
        <p:txBody>
          <a:bodyPr vert="horz" wrap="square" rtlCol="0">
            <a:spAutoFit/>
          </a:bodyPr>
          <a:lstStyle/>
          <a:p>
            <a:r>
              <a:rPr lang="zh-CN" altLang="en-US" sz="3600" dirty="0" smtClean="0">
                <a:solidFill>
                  <a:schemeClr val="bg1"/>
                </a:solidFill>
              </a:rPr>
              <a:t>决策</a:t>
            </a:r>
            <a:endParaRPr lang="zh-CN" altLang="en-US" sz="3600" dirty="0">
              <a:solidFill>
                <a:schemeClr val="bg1"/>
              </a:solidFill>
            </a:endParaRPr>
          </a:p>
        </p:txBody>
      </p:sp>
    </p:spTree>
    <p:extLst>
      <p:ext uri="{BB962C8B-B14F-4D97-AF65-F5344CB8AC3E}">
        <p14:creationId xmlns:p14="http://schemas.microsoft.com/office/powerpoint/2010/main" val="2113503660"/>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2" name="文本框 1"/>
          <p:cNvSpPr txBox="1"/>
          <p:nvPr/>
        </p:nvSpPr>
        <p:spPr>
          <a:xfrm>
            <a:off x="6817632" y="2527331"/>
            <a:ext cx="4544786" cy="2169825"/>
          </a:xfrm>
          <a:prstGeom prst="rect">
            <a:avLst/>
          </a:prstGeom>
          <a:noFill/>
        </p:spPr>
        <p:txBody>
          <a:bodyPr wrap="square" rtlCol="0">
            <a:spAutoFit/>
          </a:bodyPr>
          <a:lstStyle/>
          <a:p>
            <a:pPr indent="457200">
              <a:lnSpc>
                <a:spcPct val="150000"/>
              </a:lnSpc>
            </a:pPr>
            <a:r>
              <a:rPr lang="zh-CN" altLang="en-US" dirty="0" smtClean="0"/>
              <a:t>网络大脑的感知层面，是一切平台功能和运维工作的基础，也是重中之重，感知层面获取的数据直接影响到网络大脑的日常运行，为后续的决策与控制部分提供基础与反馈。</a:t>
            </a:r>
            <a:endParaRPr lang="zh-CN" altLang="en-US" dirty="0"/>
          </a:p>
        </p:txBody>
      </p:sp>
      <p:pic>
        <p:nvPicPr>
          <p:cNvPr id="1026" name="Picture 2" descr="“城市网络大脑”的图片搜索结果"/>
          <p:cNvPicPr>
            <a:picLocks noChangeAspect="1" noChangeArrowheads="1"/>
          </p:cNvPicPr>
          <p:nvPr/>
        </p:nvPicPr>
        <p:blipFill rotWithShape="1">
          <a:blip r:embed="rId2">
            <a:extLst>
              <a:ext uri="{28A0092B-C50C-407E-A947-70E740481C1C}">
                <a14:useLocalDpi xmlns:a14="http://schemas.microsoft.com/office/drawing/2010/main" val="0"/>
              </a:ext>
            </a:extLst>
          </a:blip>
          <a:srcRect l="9011" r="8890" b="9412"/>
          <a:stretch/>
        </p:blipFill>
        <p:spPr bwMode="auto">
          <a:xfrm>
            <a:off x="193895" y="2206935"/>
            <a:ext cx="6074461" cy="377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06143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3" name="文本框 2"/>
          <p:cNvSpPr txBox="1"/>
          <p:nvPr/>
        </p:nvSpPr>
        <p:spPr>
          <a:xfrm>
            <a:off x="624114" y="2295525"/>
            <a:ext cx="4838700"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作为一个大脑，首先要确定大脑感知的对象，对于我们这个智慧运维平台来说，感知的对象包括珠海市内各种网络设备上的资源数据、性能数据、告警信息、投诉信息、业务数据等等。</a:t>
            </a:r>
            <a:endParaRPr lang="zh-CN" altLang="en-US" dirty="0"/>
          </a:p>
        </p:txBody>
      </p:sp>
      <p:pic>
        <p:nvPicPr>
          <p:cNvPr id="6146" name="Picture 2" descr="“brain information”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4400" y="2020887"/>
            <a:ext cx="5432297" cy="304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563682"/>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5"/>
            <a:ext cx="4838700"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收集到各种数据后，如同人脑对于不同感知的划分，需要按照业务类型、设备类型等对数据进行分类，如按业务划分成十二大业务，设备类型划分成来自不同网元设备。数分类后按照统一的结构化格式进行存储。</a:t>
            </a:r>
            <a:endParaRPr lang="zh-CN" altLang="en-US" dirty="0"/>
          </a:p>
        </p:txBody>
      </p:sp>
      <p:sp>
        <p:nvSpPr>
          <p:cNvPr id="2" name="文本框 1"/>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3860757897"/>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5"/>
            <a:ext cx="48387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实际运行过程中，还包括了对于数据的过滤操作，对于不同类别的数据分别给予不同的权重，代表着不同的重要程度，根据权值大小确定数据采集粒度，这个权重并不是一成不变的，通过上层的决策与控制单元会对感知获取数据的权重进行反馈更新。</a:t>
            </a:r>
            <a:endParaRPr lang="zh-CN" altLang="en-US" dirty="0"/>
          </a:p>
        </p:txBody>
      </p:sp>
      <p:sp>
        <p:nvSpPr>
          <p:cNvPr id="9" name="文本框 8"/>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349721535"/>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4"/>
            <a:ext cx="4424136"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数据的感知途径也包括主动和被动，主动感知如通过指令主动进行获取，以及在发生数据缺漏时进行数据补录；被动获取如通过数据接口获取数据。</a:t>
            </a:r>
            <a:endParaRPr lang="zh-CN" altLang="en-US" dirty="0"/>
          </a:p>
        </p:txBody>
      </p:sp>
      <p:sp>
        <p:nvSpPr>
          <p:cNvPr id="10" name="文本框 9"/>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2008794513"/>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pic>
        <p:nvPicPr>
          <p:cNvPr id="2050" name="Picture 2" descr="“brain decision”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975" y="1876425"/>
            <a:ext cx="5074969" cy="359092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24114" y="2295524"/>
            <a:ext cx="4424136" cy="2169825"/>
          </a:xfrm>
          <a:prstGeom prst="rect">
            <a:avLst/>
          </a:prstGeom>
          <a:noFill/>
        </p:spPr>
        <p:txBody>
          <a:bodyPr wrap="square" rtlCol="0">
            <a:spAutoFit/>
          </a:bodyPr>
          <a:lstStyle/>
          <a:p>
            <a:pPr marL="285750">
              <a:lnSpc>
                <a:spcPct val="150000"/>
              </a:lnSpc>
            </a:pPr>
            <a:r>
              <a:rPr lang="zh-CN" altLang="en-US" dirty="0" smtClean="0"/>
              <a:t>网络大脑的决策单元是基于感知获取的数据的进一步分析，</a:t>
            </a:r>
            <a:r>
              <a:rPr lang="zh-CN" altLang="en-US" dirty="0"/>
              <a:t>是对网络实现智慧运维的核心所在，</a:t>
            </a:r>
            <a:r>
              <a:rPr lang="zh-CN" altLang="en-US" dirty="0" smtClean="0"/>
              <a:t>决策部分包括了判断、思考、学习等功能组成，三个部分层层递进，同时也在不断发展。</a:t>
            </a:r>
            <a:endParaRPr lang="zh-CN" altLang="en-US" dirty="0"/>
          </a:p>
        </p:txBody>
      </p:sp>
    </p:spTree>
    <p:extLst>
      <p:ext uri="{BB962C8B-B14F-4D97-AF65-F5344CB8AC3E}">
        <p14:creationId xmlns:p14="http://schemas.microsoft.com/office/powerpoint/2010/main" val="4179574683"/>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482174" y="1943099"/>
            <a:ext cx="4424136" cy="30469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sz="1600" dirty="0" smtClean="0"/>
              <a:t>判断</a:t>
            </a:r>
            <a:endParaRPr lang="en-US" altLang="zh-CN" sz="1600" dirty="0" smtClean="0"/>
          </a:p>
          <a:p>
            <a:pPr marL="285750">
              <a:lnSpc>
                <a:spcPct val="150000"/>
              </a:lnSpc>
            </a:pPr>
            <a:r>
              <a:rPr lang="zh-CN" altLang="en-US" sz="1600" dirty="0" smtClean="0"/>
              <a:t>对于数据的判断最起初由积累的经验库以及人工制定的规则，这些经验和规则组成了一个个的元判断模型，能够对一些基础的事件进行判断；在这些元判断的基础之上，通过后续的思考学习模型能将这些元判断进行组合形成更高层次的判断，最终形成较为完善的评价模型。</a:t>
            </a:r>
            <a:endParaRPr lang="zh-CN" altLang="en-US" sz="1600" dirty="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3076147105"/>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624114" y="2295524"/>
            <a:ext cx="4424136" cy="2585323"/>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思考</a:t>
            </a:r>
            <a:endParaRPr lang="en-US" altLang="zh-CN" dirty="0" smtClean="0"/>
          </a:p>
          <a:p>
            <a:pPr marL="285750">
              <a:lnSpc>
                <a:spcPct val="150000"/>
              </a:lnSpc>
            </a:pPr>
            <a:r>
              <a:rPr lang="zh-CN" altLang="en-US" dirty="0" smtClean="0"/>
              <a:t>思考是指对于感知数据的更深层次的分析，包含了对判断结果、决策反馈等的进一步分析，相对于底层的判断单元注重的输出结果，思考更多注重于分析事件的成因，为进一步的学习提供材料。</a:t>
            </a:r>
            <a:endParaRPr lang="en-US" altLang="zh-CN" dirty="0" smtClean="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4114806768"/>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624114" y="2295524"/>
            <a:ext cx="4424136" cy="2585323"/>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学习</a:t>
            </a:r>
            <a:endParaRPr lang="en-US" altLang="zh-CN" dirty="0" smtClean="0"/>
          </a:p>
          <a:p>
            <a:pPr marL="285750">
              <a:lnSpc>
                <a:spcPct val="150000"/>
              </a:lnSpc>
            </a:pPr>
            <a:r>
              <a:rPr lang="zh-CN" altLang="en-US" dirty="0" smtClean="0"/>
              <a:t>决策模块在执行决策后会得到一个反馈，基于思考模型的分析结果以及一次次的决策反馈不断学习改进决策判断结果，同时对已有的经验和模型进行总结，提出新的判断或评估模型。</a:t>
            </a:r>
            <a:endParaRPr lang="en-US" altLang="zh-CN" dirty="0" smtClean="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3314146691"/>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控制</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2" name="文本框 1"/>
          <p:cNvSpPr txBox="1"/>
          <p:nvPr/>
        </p:nvSpPr>
        <p:spPr>
          <a:xfrm>
            <a:off x="1019175" y="2780835"/>
            <a:ext cx="4162425" cy="2169825"/>
          </a:xfrm>
          <a:prstGeom prst="rect">
            <a:avLst/>
          </a:prstGeom>
          <a:noFill/>
        </p:spPr>
        <p:txBody>
          <a:bodyPr wrap="square" rtlCol="0">
            <a:spAutoFit/>
          </a:bodyPr>
          <a:lstStyle/>
          <a:p>
            <a:pPr indent="457200">
              <a:lnSpc>
                <a:spcPct val="150000"/>
              </a:lnSpc>
            </a:pPr>
            <a:r>
              <a:rPr lang="zh-CN" altLang="en-US" dirty="0" smtClean="0"/>
              <a:t>对于智慧网络运维平台来说，控制的部分都是基于决策结果而发出的指令或触发的操作，通过指令将整个运维平台的应用层面协调工作，将思考结果进行落实。</a:t>
            </a:r>
            <a:endParaRPr lang="zh-CN" altLang="en-US" dirty="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2254613101"/>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在新平台的支撑下（还以城域网日常运维为例）。通过完善的数据采集系统（大脑的感知）能够直接对珠海本地的全网设备的多种数据源进行数据采集、结构化、存储，无需通过省公司平台。</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图：数据采集、结构化、存储</a:t>
            </a:r>
            <a:endParaRPr lang="zh-CN" altLang="en-US" dirty="0"/>
          </a:p>
        </p:txBody>
      </p:sp>
    </p:spTree>
    <p:extLst>
      <p:ext uri="{BB962C8B-B14F-4D97-AF65-F5344CB8AC3E}">
        <p14:creationId xmlns:p14="http://schemas.microsoft.com/office/powerpoint/2010/main" val="4081090239"/>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3"/>
            <a:ext cx="4171951"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对于存储的数据，能够在线进行常用的统计分析（决策），并通过多样化的数据可视化技术进行直观</a:t>
            </a:r>
            <a:r>
              <a:rPr lang="zh-CN" altLang="en-US" dirty="0" smtClean="0"/>
              <a:t>呈现（控制），</a:t>
            </a:r>
            <a:r>
              <a:rPr lang="zh-CN" altLang="en-US" dirty="0" smtClean="0"/>
              <a:t>除此之外，支持分类分周期个性化的报表生成与导出。</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图：统计分析、可视化</a:t>
            </a:r>
            <a:endParaRPr lang="zh-CN" altLang="en-US" dirty="0"/>
          </a:p>
        </p:txBody>
      </p:sp>
    </p:spTree>
    <p:extLst>
      <p:ext uri="{BB962C8B-B14F-4D97-AF65-F5344CB8AC3E}">
        <p14:creationId xmlns:p14="http://schemas.microsoft.com/office/powerpoint/2010/main" val="3079824730"/>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通过设备管理中的拓扑结构分析能够直观了解设备的连接情况和业务</a:t>
            </a:r>
            <a:r>
              <a:rPr lang="zh-CN" altLang="en-US" dirty="0" smtClean="0"/>
              <a:t>流（决策），</a:t>
            </a:r>
            <a:r>
              <a:rPr lang="zh-CN" altLang="en-US" dirty="0" smtClean="0"/>
              <a:t>并且提供直观的交互界面，提高系统的易操作性。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图：拓扑结构</a:t>
            </a:r>
            <a:endParaRPr lang="zh-CN" altLang="en-US" dirty="0"/>
          </a:p>
        </p:txBody>
      </p:sp>
    </p:spTree>
    <p:extLst>
      <p:ext uri="{BB962C8B-B14F-4D97-AF65-F5344CB8AC3E}">
        <p14:creationId xmlns:p14="http://schemas.microsoft.com/office/powerpoint/2010/main" val="2792394096"/>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系统保留开放的应用和数据接口，对于未来新兴的业务也可通过对系统的扩展进行业务支撑，提高系统的可扩展性。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图：开放应用接口</a:t>
            </a:r>
            <a:endParaRPr lang="zh-CN" altLang="en-US" dirty="0"/>
          </a:p>
        </p:txBody>
      </p:sp>
    </p:spTree>
    <p:extLst>
      <p:ext uri="{BB962C8B-B14F-4D97-AF65-F5344CB8AC3E}">
        <p14:creationId xmlns:p14="http://schemas.microsoft.com/office/powerpoint/2010/main" val="1773551730"/>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03</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平台方案</a:t>
            </a:r>
            <a:r>
              <a:rPr kumimoji="1" lang="en-US" altLang="zh-CN" sz="3600" dirty="0" smtClean="0">
                <a:solidFill>
                  <a:schemeClr val="tx1"/>
                </a:solidFill>
                <a:latin typeface="微软雅黑" panose="020B0503020204020204" pitchFamily="34" charset="-122"/>
                <a:ea typeface="微软雅黑" panose="020B0503020204020204" pitchFamily="34" charset="-122"/>
              </a:rPr>
              <a:t>&amp;</a:t>
            </a:r>
            <a:r>
              <a:rPr kumimoji="1" lang="zh-CN" altLang="en-US" sz="3600" dirty="0" smtClean="0">
                <a:solidFill>
                  <a:schemeClr val="tx1"/>
                </a:solidFill>
                <a:latin typeface="微软雅黑" panose="020B0503020204020204" pitchFamily="34" charset="-122"/>
                <a:ea typeface="微软雅黑" panose="020B0503020204020204" pitchFamily="34" charset="-122"/>
              </a:rPr>
              <a:t>架构</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1671617"/>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平台目标：</a:t>
            </a:r>
            <a:endParaRPr lang="zh-CN" altLang="en-US" dirty="0">
              <a:solidFill>
                <a:srgbClr val="333F50"/>
              </a:solidFill>
            </a:endParaRPr>
          </a:p>
        </p:txBody>
      </p:sp>
      <p:sp>
        <p:nvSpPr>
          <p:cNvPr id="44" name="文本框 43"/>
          <p:cNvSpPr txBox="1"/>
          <p:nvPr/>
        </p:nvSpPr>
        <p:spPr>
          <a:xfrm>
            <a:off x="2605087" y="2009487"/>
            <a:ext cx="6343650" cy="3322955"/>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zh-CN" altLang="en-US" sz="2000" dirty="0" smtClean="0"/>
              <a:t>异源数据、应用接口一体化</a:t>
            </a:r>
          </a:p>
          <a:p>
            <a:pPr marL="285750" indent="285750" algn="ctr">
              <a:lnSpc>
                <a:spcPct val="150000"/>
              </a:lnSpc>
              <a:buFont typeface="Arial" panose="020B0604020202020204" pitchFamily="34" charset="0"/>
              <a:buChar char="•"/>
            </a:pPr>
            <a:r>
              <a:rPr lang="zh-CN" altLang="en-US" sz="2000" dirty="0" smtClean="0"/>
              <a:t>资产设备、网络状态可视化</a:t>
            </a:r>
          </a:p>
          <a:p>
            <a:pPr marL="285750" indent="285750" algn="ctr">
              <a:lnSpc>
                <a:spcPct val="150000"/>
              </a:lnSpc>
              <a:buFont typeface="Arial" panose="020B0604020202020204" pitchFamily="34" charset="0"/>
              <a:buChar char="•"/>
            </a:pPr>
            <a:r>
              <a:rPr lang="zh-CN" altLang="en-US" sz="2000" dirty="0" smtClean="0"/>
              <a:t>业务监测、</a:t>
            </a:r>
            <a:r>
              <a:rPr lang="zh-CN" altLang="en-US" sz="2000" dirty="0"/>
              <a:t>场景保障</a:t>
            </a:r>
            <a:r>
              <a:rPr lang="zh-CN" altLang="en-US" sz="2000" dirty="0" smtClean="0"/>
              <a:t>智能化</a:t>
            </a:r>
          </a:p>
          <a:p>
            <a:pPr marL="285750" indent="285750" algn="ctr">
              <a:lnSpc>
                <a:spcPct val="150000"/>
              </a:lnSpc>
              <a:buFont typeface="Arial" panose="020B0604020202020204" pitchFamily="34" charset="0"/>
              <a:buChar char="•"/>
            </a:pPr>
            <a:r>
              <a:rPr lang="zh-CN" altLang="en-US" sz="2000" dirty="0" smtClean="0"/>
              <a:t>报表生成、</a:t>
            </a:r>
            <a:r>
              <a:rPr lang="zh-CN" altLang="en-US" sz="2000" dirty="0"/>
              <a:t>设备</a:t>
            </a:r>
            <a:r>
              <a:rPr lang="zh-CN" altLang="en-US" sz="2000" dirty="0" smtClean="0"/>
              <a:t>维护规范化</a:t>
            </a:r>
          </a:p>
          <a:p>
            <a:pPr marL="285750" indent="285750" algn="ctr">
              <a:lnSpc>
                <a:spcPct val="150000"/>
              </a:lnSpc>
              <a:buFont typeface="Arial" panose="020B0604020202020204" pitchFamily="34" charset="0"/>
              <a:buChar char="•"/>
            </a:pPr>
            <a:r>
              <a:rPr lang="zh-CN" altLang="en-US" sz="2000" dirty="0" smtClean="0"/>
              <a:t>故障修复、投诉处理流程化</a:t>
            </a:r>
          </a:p>
          <a:p>
            <a:pPr marL="285750" indent="285750" algn="ctr">
              <a:lnSpc>
                <a:spcPct val="150000"/>
              </a:lnSpc>
              <a:buFont typeface="Arial" panose="020B0604020202020204" pitchFamily="34" charset="0"/>
              <a:buChar char="•"/>
            </a:pPr>
            <a:r>
              <a:rPr lang="zh-CN" altLang="en-US" sz="2000" dirty="0" smtClean="0">
                <a:sym typeface="+mn-ea"/>
              </a:rPr>
              <a:t>数据分析、资源管理高效化</a:t>
            </a:r>
          </a:p>
          <a:p>
            <a:pPr marL="285750" indent="285750" algn="ctr">
              <a:lnSpc>
                <a:spcPct val="150000"/>
              </a:lnSpc>
              <a:buFont typeface="Arial" panose="020B0604020202020204" pitchFamily="34" charset="0"/>
              <a:buChar char="•"/>
            </a:pPr>
            <a:r>
              <a:rPr lang="zh-CN" altLang="en-US" sz="2000" dirty="0" smtClean="0">
                <a:sym typeface="+mn-ea"/>
              </a:rPr>
              <a:t>规则定制、经验学习标准化</a:t>
            </a:r>
          </a:p>
        </p:txBody>
      </p:sp>
    </p:spTree>
    <p:extLst>
      <p:ext uri="{BB962C8B-B14F-4D97-AF65-F5344CB8AC3E}">
        <p14:creationId xmlns:p14="http://schemas.microsoft.com/office/powerpoint/2010/main" val="3703518223"/>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平台建设原则：</a:t>
            </a:r>
            <a:endParaRPr lang="zh-CN" altLang="en-US" dirty="0">
              <a:solidFill>
                <a:srgbClr val="333F50"/>
              </a:solidFill>
            </a:endParaRPr>
          </a:p>
        </p:txBody>
      </p:sp>
      <p:sp>
        <p:nvSpPr>
          <p:cNvPr id="7" name="文本框 6"/>
          <p:cNvSpPr txBox="1"/>
          <p:nvPr/>
        </p:nvSpPr>
        <p:spPr>
          <a:xfrm>
            <a:off x="4457700" y="2821642"/>
            <a:ext cx="6343650" cy="21685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系统框架可移植性</a:t>
            </a:r>
          </a:p>
          <a:p>
            <a:pPr marL="285750" indent="285750">
              <a:lnSpc>
                <a:spcPct val="150000"/>
              </a:lnSpc>
              <a:buFont typeface="Arial" panose="020B0604020202020204" pitchFamily="34" charset="0"/>
              <a:buChar char="•"/>
            </a:pPr>
            <a:r>
              <a:rPr lang="zh-CN" altLang="en-US" dirty="0" smtClean="0"/>
              <a:t>平台结构健壮性</a:t>
            </a:r>
          </a:p>
          <a:p>
            <a:pPr marL="285750" indent="285750">
              <a:lnSpc>
                <a:spcPct val="150000"/>
              </a:lnSpc>
              <a:buFont typeface="Arial" panose="020B0604020202020204" pitchFamily="34" charset="0"/>
              <a:buChar char="•"/>
            </a:pPr>
            <a:r>
              <a:rPr lang="zh-CN" altLang="en-US" dirty="0" smtClean="0"/>
              <a:t>数据接口可扩展性</a:t>
            </a:r>
          </a:p>
          <a:p>
            <a:pPr marL="285750" indent="285750">
              <a:lnSpc>
                <a:spcPct val="150000"/>
              </a:lnSpc>
              <a:buFont typeface="Arial" panose="020B0604020202020204" pitchFamily="34" charset="0"/>
              <a:buChar char="•"/>
            </a:pPr>
            <a:r>
              <a:rPr lang="zh-CN" altLang="en-US" dirty="0" smtClean="0">
                <a:sym typeface="+mn-ea"/>
              </a:rPr>
              <a:t>用户界面易操作性</a:t>
            </a:r>
          </a:p>
          <a:p>
            <a:pPr marL="285750" indent="285750">
              <a:lnSpc>
                <a:spcPct val="150000"/>
              </a:lnSpc>
              <a:buFont typeface="Arial" panose="020B0604020202020204" pitchFamily="34" charset="0"/>
              <a:buChar char="•"/>
            </a:pPr>
            <a:r>
              <a:rPr lang="zh-CN" altLang="en-US" dirty="0" smtClean="0"/>
              <a:t>各专业部门通用性</a:t>
            </a:r>
          </a:p>
        </p:txBody>
      </p:sp>
    </p:spTree>
    <p:extLst>
      <p:ext uri="{BB962C8B-B14F-4D97-AF65-F5344CB8AC3E}">
        <p14:creationId xmlns:p14="http://schemas.microsoft.com/office/powerpoint/2010/main" val="2226539025"/>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2403305" y="5778957"/>
            <a:ext cx="8125179" cy="563562"/>
          </a:xfrm>
          <a:prstGeom prst="rect">
            <a:avLst/>
          </a:prstGeom>
          <a:solidFill>
            <a:schemeClr val="accent5">
              <a:lumMod val="60000"/>
              <a:lumOff val="40000"/>
              <a:alpha val="36000"/>
            </a:schemeClr>
          </a:solidFill>
          <a:ln w="9525" cap="flat" cmpd="sng" algn="ctr">
            <a:noFill/>
            <a:prstDash val="solid"/>
            <a:round/>
            <a:headEnd type="none" w="med" len="med"/>
            <a:tailEnd type="none" w="med" len="med"/>
          </a:ln>
          <a:effectLst/>
          <a:extLst/>
        </p:spPr>
        <p:txBody>
          <a:bodyPr lIns="68562" tIns="34281" rIns="68562" bIns="34281"/>
          <a:lstStyle/>
          <a:p>
            <a:pPr fontAlgn="auto">
              <a:spcBef>
                <a:spcPts val="0"/>
              </a:spcBef>
              <a:spcAft>
                <a:spcPts val="0"/>
              </a:spcAft>
              <a:defRPr/>
            </a:pPr>
            <a:endParaRPr lang="zh-CN" altLang="en-US">
              <a:solidFill>
                <a:schemeClr val="tx1">
                  <a:lumMod val="75000"/>
                  <a:lumOff val="25000"/>
                </a:schemeClr>
              </a:solidFill>
              <a:latin typeface="+mn-lt"/>
              <a:ea typeface="+mn-ea"/>
            </a:endParaRPr>
          </a:p>
        </p:txBody>
      </p:sp>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6" name="矩形 5"/>
          <p:cNvSpPr/>
          <p:nvPr/>
        </p:nvSpPr>
        <p:spPr>
          <a:xfrm>
            <a:off x="2462707" y="4018696"/>
            <a:ext cx="574675" cy="823912"/>
          </a:xfrm>
          <a:prstGeom prst="rect">
            <a:avLst/>
          </a:pr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04</a:t>
            </a:r>
            <a:endParaRPr lang="zh-CN" altLang="en-US" sz="2400" dirty="0">
              <a:solidFill>
                <a:prstClr val="white"/>
              </a:solidFill>
              <a:latin typeface="Agency FB" panose="020B0503020202020204" pitchFamily="34" charset="0"/>
            </a:endParaRPr>
          </a:p>
        </p:txBody>
      </p:sp>
      <p:sp>
        <p:nvSpPr>
          <p:cNvPr id="7" name="矩形 6"/>
          <p:cNvSpPr/>
          <p:nvPr/>
        </p:nvSpPr>
        <p:spPr>
          <a:xfrm>
            <a:off x="2462707" y="3194783"/>
            <a:ext cx="574675" cy="823913"/>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03</a:t>
            </a:r>
            <a:endParaRPr lang="zh-CN" altLang="en-US" sz="2400" dirty="0">
              <a:solidFill>
                <a:prstClr val="white"/>
              </a:solidFill>
              <a:latin typeface="Agency FB" panose="020B0503020202020204" pitchFamily="34" charset="0"/>
            </a:endParaRPr>
          </a:p>
        </p:txBody>
      </p:sp>
      <p:sp>
        <p:nvSpPr>
          <p:cNvPr id="8" name="矩形 7"/>
          <p:cNvSpPr/>
          <p:nvPr/>
        </p:nvSpPr>
        <p:spPr>
          <a:xfrm>
            <a:off x="2462707" y="2377221"/>
            <a:ext cx="574675" cy="825500"/>
          </a:xfrm>
          <a:prstGeom prst="rect">
            <a:avLst/>
          </a:prstGeom>
          <a:solidFill>
            <a:srgbClr val="53D2FF">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02</a:t>
            </a:r>
            <a:endParaRPr lang="zh-CN" altLang="en-US" sz="2400" dirty="0">
              <a:solidFill>
                <a:prstClr val="white"/>
              </a:solidFill>
              <a:latin typeface="Agency FB" panose="020B0503020202020204" pitchFamily="34" charset="0"/>
            </a:endParaRPr>
          </a:p>
        </p:txBody>
      </p:sp>
      <p:sp>
        <p:nvSpPr>
          <p:cNvPr id="9" name="矩形 8"/>
          <p:cNvSpPr/>
          <p:nvPr/>
        </p:nvSpPr>
        <p:spPr>
          <a:xfrm>
            <a:off x="2462707" y="1556483"/>
            <a:ext cx="574675" cy="825500"/>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latin typeface="Agency FB" panose="020B0503020202020204" pitchFamily="34" charset="0"/>
              </a:rPr>
              <a:t>01</a:t>
            </a:r>
            <a:endParaRPr lang="zh-CN" altLang="en-US" sz="2400" dirty="0">
              <a:latin typeface="Agency FB" panose="020B0503020202020204" pitchFamily="34" charset="0"/>
            </a:endParaRPr>
          </a:p>
        </p:txBody>
      </p:sp>
      <p:sp>
        <p:nvSpPr>
          <p:cNvPr id="10" name="矩形 28"/>
          <p:cNvSpPr/>
          <p:nvPr/>
        </p:nvSpPr>
        <p:spPr>
          <a:xfrm>
            <a:off x="3227882" y="1556483"/>
            <a:ext cx="1120775" cy="104775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6712" h="1280593">
                <a:moveTo>
                  <a:pt x="0" y="0"/>
                </a:moveTo>
                <a:lnTo>
                  <a:pt x="1826712" y="555625"/>
                </a:lnTo>
                <a:lnTo>
                  <a:pt x="1826712" y="1280593"/>
                </a:lnTo>
                <a:lnTo>
                  <a:pt x="0" y="1007543"/>
                </a:lnTo>
                <a:lnTo>
                  <a:pt x="0" y="0"/>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1" name="矩形 28"/>
          <p:cNvSpPr/>
          <p:nvPr/>
        </p:nvSpPr>
        <p:spPr>
          <a:xfrm>
            <a:off x="3227882" y="2378808"/>
            <a:ext cx="1123950" cy="82550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33980"/>
              <a:gd name="connsiteY0" fmla="*/ 0 h 1007543"/>
              <a:gd name="connsiteX1" fmla="*/ 1829887 w 1833980"/>
              <a:gd name="connsiteY1" fmla="*/ 273050 h 1007543"/>
              <a:gd name="connsiteX2" fmla="*/ 1833856 w 1833980"/>
              <a:gd name="connsiteY2" fmla="*/ 1001193 h 1007543"/>
              <a:gd name="connsiteX3" fmla="*/ 0 w 1833980"/>
              <a:gd name="connsiteY3" fmla="*/ 1007543 h 1007543"/>
              <a:gd name="connsiteX4" fmla="*/ 0 w 1833980"/>
              <a:gd name="connsiteY4" fmla="*/ 0 h 1007543"/>
              <a:gd name="connsiteX0" fmla="*/ 0 w 1829887"/>
              <a:gd name="connsiteY0" fmla="*/ 0 h 1007543"/>
              <a:gd name="connsiteX1" fmla="*/ 1829887 w 1829887"/>
              <a:gd name="connsiteY1" fmla="*/ 273050 h 1007543"/>
              <a:gd name="connsiteX2" fmla="*/ 1829093 w 1829887"/>
              <a:gd name="connsiteY2" fmla="*/ 1003575 h 1007543"/>
              <a:gd name="connsiteX3" fmla="*/ 0 w 1829887"/>
              <a:gd name="connsiteY3" fmla="*/ 1007543 h 1007543"/>
              <a:gd name="connsiteX4" fmla="*/ 0 w 1829887"/>
              <a:gd name="connsiteY4" fmla="*/ 0 h 100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887" h="1007543">
                <a:moveTo>
                  <a:pt x="0" y="0"/>
                </a:moveTo>
                <a:lnTo>
                  <a:pt x="1829887" y="273050"/>
                </a:lnTo>
                <a:cubicBezTo>
                  <a:pt x="1828829" y="608898"/>
                  <a:pt x="1830151" y="667727"/>
                  <a:pt x="1829093" y="1003575"/>
                </a:cubicBezTo>
                <a:lnTo>
                  <a:pt x="0" y="1007543"/>
                </a:lnTo>
                <a:lnTo>
                  <a:pt x="0" y="0"/>
                </a:lnTo>
                <a:close/>
              </a:path>
            </a:pathLst>
          </a:custGeom>
          <a:solidFill>
            <a:srgbClr val="53D2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dirty="0"/>
          </a:p>
        </p:txBody>
      </p:sp>
      <p:sp>
        <p:nvSpPr>
          <p:cNvPr id="12" name="矩形 28"/>
          <p:cNvSpPr/>
          <p:nvPr/>
        </p:nvSpPr>
        <p:spPr>
          <a:xfrm>
            <a:off x="3227882" y="3197958"/>
            <a:ext cx="1125537" cy="820738"/>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048"/>
              <a:gd name="connsiteY0" fmla="*/ 5556 h 1003574"/>
              <a:gd name="connsiteX1" fmla="*/ 1832268 w 1834048"/>
              <a:gd name="connsiteY1" fmla="*/ 0 h 1003574"/>
              <a:gd name="connsiteX2" fmla="*/ 1833856 w 1834048"/>
              <a:gd name="connsiteY2" fmla="*/ 720999 h 1003574"/>
              <a:gd name="connsiteX3" fmla="*/ 0 w 1834048"/>
              <a:gd name="connsiteY3" fmla="*/ 1003574 h 1003574"/>
              <a:gd name="connsiteX4" fmla="*/ 0 w 1834048"/>
              <a:gd name="connsiteY4" fmla="*/ 5556 h 100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4048" h="1003574">
                <a:moveTo>
                  <a:pt x="0" y="5556"/>
                </a:moveTo>
                <a:lnTo>
                  <a:pt x="1832268" y="0"/>
                </a:lnTo>
                <a:cubicBezTo>
                  <a:pt x="1831210" y="335848"/>
                  <a:pt x="1834914" y="385151"/>
                  <a:pt x="1833856" y="720999"/>
                </a:cubicBezTo>
                <a:lnTo>
                  <a:pt x="0" y="1003574"/>
                </a:lnTo>
                <a:lnTo>
                  <a:pt x="0" y="5556"/>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3" name="矩形 28"/>
          <p:cNvSpPr/>
          <p:nvPr/>
        </p:nvSpPr>
        <p:spPr>
          <a:xfrm>
            <a:off x="3224707" y="3783746"/>
            <a:ext cx="1127125" cy="1058862"/>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649"/>
              <a:gd name="connsiteY0" fmla="*/ 793 h 1003574"/>
              <a:gd name="connsiteX1" fmla="*/ 1834649 w 1834649"/>
              <a:gd name="connsiteY1" fmla="*/ 0 h 1003574"/>
              <a:gd name="connsiteX2" fmla="*/ 1831474 w 1834649"/>
              <a:gd name="connsiteY2" fmla="*/ 720999 h 1003574"/>
              <a:gd name="connsiteX3" fmla="*/ 2381 w 1834649"/>
              <a:gd name="connsiteY3" fmla="*/ 1003574 h 1003574"/>
              <a:gd name="connsiteX4" fmla="*/ 0 w 1834649"/>
              <a:gd name="connsiteY4" fmla="*/ 793 h 1003574"/>
              <a:gd name="connsiteX0" fmla="*/ 0 w 1834649"/>
              <a:gd name="connsiteY0" fmla="*/ 284162 h 1286943"/>
              <a:gd name="connsiteX1" fmla="*/ 1834649 w 1834649"/>
              <a:gd name="connsiteY1" fmla="*/ 0 h 1286943"/>
              <a:gd name="connsiteX2" fmla="*/ 1831474 w 1834649"/>
              <a:gd name="connsiteY2" fmla="*/ 1004368 h 1286943"/>
              <a:gd name="connsiteX3" fmla="*/ 2381 w 1834649"/>
              <a:gd name="connsiteY3" fmla="*/ 1286943 h 1286943"/>
              <a:gd name="connsiteX4" fmla="*/ 0 w 1834649"/>
              <a:gd name="connsiteY4" fmla="*/ 284162 h 1286943"/>
              <a:gd name="connsiteX0" fmla="*/ 0 w 1834649"/>
              <a:gd name="connsiteY0" fmla="*/ 284162 h 1286943"/>
              <a:gd name="connsiteX1" fmla="*/ 1834649 w 1834649"/>
              <a:gd name="connsiteY1" fmla="*/ 0 h 1286943"/>
              <a:gd name="connsiteX2" fmla="*/ 1829093 w 1834649"/>
              <a:gd name="connsiteY2" fmla="*/ 721000 h 1286943"/>
              <a:gd name="connsiteX3" fmla="*/ 2381 w 1834649"/>
              <a:gd name="connsiteY3" fmla="*/ 1286943 h 1286943"/>
              <a:gd name="connsiteX4" fmla="*/ 0 w 1834649"/>
              <a:gd name="connsiteY4" fmla="*/ 284162 h 1286943"/>
              <a:gd name="connsiteX0" fmla="*/ 229 w 1834878"/>
              <a:gd name="connsiteY0" fmla="*/ 284162 h 1289324"/>
              <a:gd name="connsiteX1" fmla="*/ 1834878 w 1834878"/>
              <a:gd name="connsiteY1" fmla="*/ 0 h 1289324"/>
              <a:gd name="connsiteX2" fmla="*/ 1829322 w 1834878"/>
              <a:gd name="connsiteY2" fmla="*/ 721000 h 1289324"/>
              <a:gd name="connsiteX3" fmla="*/ 229 w 1834878"/>
              <a:gd name="connsiteY3" fmla="*/ 1289324 h 1289324"/>
              <a:gd name="connsiteX4" fmla="*/ 229 w 1834878"/>
              <a:gd name="connsiteY4" fmla="*/ 284162 h 1289324"/>
              <a:gd name="connsiteX0" fmla="*/ 2486 w 1837135"/>
              <a:gd name="connsiteY0" fmla="*/ 284162 h 1296468"/>
              <a:gd name="connsiteX1" fmla="*/ 1837135 w 1837135"/>
              <a:gd name="connsiteY1" fmla="*/ 0 h 1296468"/>
              <a:gd name="connsiteX2" fmla="*/ 1831579 w 1837135"/>
              <a:gd name="connsiteY2" fmla="*/ 721000 h 1296468"/>
              <a:gd name="connsiteX3" fmla="*/ 105 w 1837135"/>
              <a:gd name="connsiteY3" fmla="*/ 1296468 h 1296468"/>
              <a:gd name="connsiteX4" fmla="*/ 2486 w 1837135"/>
              <a:gd name="connsiteY4" fmla="*/ 284162 h 1296468"/>
              <a:gd name="connsiteX0" fmla="*/ 2486 w 1837135"/>
              <a:gd name="connsiteY0" fmla="*/ 284162 h 1296468"/>
              <a:gd name="connsiteX1" fmla="*/ 1837135 w 1837135"/>
              <a:gd name="connsiteY1" fmla="*/ 0 h 1296468"/>
              <a:gd name="connsiteX2" fmla="*/ 1836342 w 1837135"/>
              <a:gd name="connsiteY2" fmla="*/ 728144 h 1296468"/>
              <a:gd name="connsiteX3" fmla="*/ 105 w 1837135"/>
              <a:gd name="connsiteY3" fmla="*/ 1296468 h 1296468"/>
              <a:gd name="connsiteX4" fmla="*/ 2486 w 1837135"/>
              <a:gd name="connsiteY4" fmla="*/ 284162 h 1296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7135" h="1296468">
                <a:moveTo>
                  <a:pt x="2486" y="284162"/>
                </a:moveTo>
                <a:lnTo>
                  <a:pt x="1837135" y="0"/>
                </a:lnTo>
                <a:cubicBezTo>
                  <a:pt x="1836077" y="335848"/>
                  <a:pt x="1837400" y="392296"/>
                  <a:pt x="1836342" y="728144"/>
                </a:cubicBezTo>
                <a:lnTo>
                  <a:pt x="105" y="1296468"/>
                </a:lnTo>
                <a:cubicBezTo>
                  <a:pt x="-689" y="962208"/>
                  <a:pt x="3280" y="618422"/>
                  <a:pt x="2486" y="284162"/>
                </a:cubicBez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4" name="等腰三角形 66"/>
          <p:cNvSpPr/>
          <p:nvPr/>
        </p:nvSpPr>
        <p:spPr>
          <a:xfrm rot="5400000">
            <a:off x="5292466" y="1431370"/>
            <a:ext cx="594216" cy="1752642"/>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latin typeface="微软雅黑" pitchFamily="34" charset="-122"/>
                <a:ea typeface="微软雅黑" pitchFamily="34" charset="-122"/>
              </a:rPr>
              <a:t>全景概览</a:t>
            </a:r>
          </a:p>
        </p:txBody>
      </p:sp>
      <p:sp>
        <p:nvSpPr>
          <p:cNvPr id="15" name="等腰三角形 67"/>
          <p:cNvSpPr/>
          <p:nvPr/>
        </p:nvSpPr>
        <p:spPr>
          <a:xfrm rot="5400000">
            <a:off x="5298545" y="2026710"/>
            <a:ext cx="594216"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53D2FF">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smtClean="0">
                <a:solidFill>
                  <a:prstClr val="white"/>
                </a:solidFill>
                <a:latin typeface="微软雅黑" pitchFamily="34" charset="-122"/>
                <a:ea typeface="微软雅黑" pitchFamily="34" charset="-122"/>
              </a:rPr>
              <a:t>设备管理</a:t>
            </a:r>
            <a:endParaRPr lang="zh-CN" altLang="en-US" sz="1500" b="1" dirty="0">
              <a:solidFill>
                <a:prstClr val="white"/>
              </a:solidFill>
              <a:latin typeface="微软雅黑" pitchFamily="34" charset="-122"/>
              <a:ea typeface="微软雅黑" pitchFamily="34" charset="-122"/>
            </a:endParaRPr>
          </a:p>
        </p:txBody>
      </p:sp>
      <p:sp>
        <p:nvSpPr>
          <p:cNvPr id="16" name="等腰三角形 68"/>
          <p:cNvSpPr/>
          <p:nvPr/>
        </p:nvSpPr>
        <p:spPr>
          <a:xfrm rot="5400000">
            <a:off x="5302411" y="2618959"/>
            <a:ext cx="586485"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故障诊断</a:t>
            </a:r>
          </a:p>
        </p:txBody>
      </p:sp>
      <p:sp>
        <p:nvSpPr>
          <p:cNvPr id="17" name="等腰三角形 69"/>
          <p:cNvSpPr/>
          <p:nvPr/>
        </p:nvSpPr>
        <p:spPr>
          <a:xfrm rot="5400000">
            <a:off x="5298545" y="3209308"/>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业务管理</a:t>
            </a:r>
          </a:p>
        </p:txBody>
      </p:sp>
      <p:sp>
        <p:nvSpPr>
          <p:cNvPr id="18" name="TextBox 32"/>
          <p:cNvSpPr txBox="1"/>
          <p:nvPr/>
        </p:nvSpPr>
        <p:spPr>
          <a:xfrm>
            <a:off x="6697768" y="2017008"/>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整体网络的量化评估与统计</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全</a:t>
            </a:r>
            <a:r>
              <a:rPr lang="zh-CN" altLang="en-US" sz="1400" dirty="0" smtClean="0">
                <a:latin typeface="微软雅黑 Light" pitchFamily="34" charset="-122"/>
                <a:ea typeface="微软雅黑 Light" pitchFamily="34" charset="-122"/>
              </a:rPr>
              <a:t>网情况有</a:t>
            </a:r>
            <a:r>
              <a:rPr lang="zh-CN" altLang="en-US" sz="1400" dirty="0">
                <a:latin typeface="微软雅黑 Light" pitchFamily="34" charset="-122"/>
                <a:ea typeface="微软雅黑 Light" pitchFamily="34" charset="-122"/>
              </a:rPr>
              <a:t>一个直观真实的呈现方式</a:t>
            </a:r>
          </a:p>
        </p:txBody>
      </p:sp>
      <p:sp>
        <p:nvSpPr>
          <p:cNvPr id="19" name="TextBox 32"/>
          <p:cNvSpPr txBox="1"/>
          <p:nvPr/>
        </p:nvSpPr>
        <p:spPr>
          <a:xfrm>
            <a:off x="6697769" y="2589423"/>
            <a:ext cx="4031372"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对主设备</a:t>
            </a:r>
            <a:r>
              <a:rPr lang="zh-CN" altLang="en-US" sz="1400" dirty="0">
                <a:latin typeface="微软雅黑 Light" pitchFamily="34" charset="-122"/>
                <a:ea typeface="微软雅黑 Light" pitchFamily="34" charset="-122"/>
              </a:rPr>
              <a:t>、</a:t>
            </a:r>
            <a:r>
              <a:rPr lang="zh-CN" altLang="en-US" sz="1400" dirty="0" smtClean="0">
                <a:latin typeface="微软雅黑 Light" pitchFamily="34" charset="-122"/>
                <a:ea typeface="微软雅黑 Light" pitchFamily="34" charset="-122"/>
              </a:rPr>
              <a:t>动力、传输等设备的拓扑结构呈现</a:t>
            </a:r>
            <a:endParaRPr lang="en-US" altLang="zh-CN"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对设备的监控及维护保障</a:t>
            </a:r>
            <a:endParaRPr lang="zh-CN" altLang="en-US" sz="1400" dirty="0">
              <a:latin typeface="微软雅黑 Light" pitchFamily="34" charset="-122"/>
              <a:ea typeface="微软雅黑 Light" pitchFamily="34" charset="-122"/>
            </a:endParaRPr>
          </a:p>
        </p:txBody>
      </p:sp>
      <p:sp>
        <p:nvSpPr>
          <p:cNvPr id="20" name="TextBox 32"/>
          <p:cNvSpPr txBox="1"/>
          <p:nvPr/>
        </p:nvSpPr>
        <p:spPr>
          <a:xfrm>
            <a:off x="6697769" y="3179045"/>
            <a:ext cx="3890117" cy="652486"/>
          </a:xfrm>
          <a:prstGeom prst="rect">
            <a:avLst/>
          </a:prstGeom>
          <a:noFill/>
        </p:spPr>
        <p:txBody>
          <a:bodyPr>
            <a:spAutoFit/>
            <a:scene3d>
              <a:camera prst="orthographicFront"/>
              <a:lightRig rig="threePt" dir="t"/>
            </a:scene3d>
            <a:sp3d contourW="12700"/>
          </a:bodyPr>
          <a:lstStyle/>
          <a:p>
            <a:pPr>
              <a:lnSpc>
                <a:spcPct val="130000"/>
              </a:lnSpc>
              <a:defRPr/>
            </a:pPr>
            <a:r>
              <a:rPr lang="zh-CN" altLang="en-US" sz="1400" dirty="0" smtClean="0">
                <a:latin typeface="微软雅黑 Light" pitchFamily="34" charset="-122"/>
                <a:ea typeface="微软雅黑 Light" pitchFamily="34" charset="-122"/>
              </a:rPr>
              <a:t>处理被动投诉以及智能识别告警通知</a:t>
            </a:r>
            <a:endParaRPr lang="zh-CN" altLang="en-US"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建立故障处理经验库</a:t>
            </a:r>
            <a:endParaRPr lang="zh-CN" altLang="en-US" sz="1400" dirty="0">
              <a:latin typeface="微软雅黑 Light" pitchFamily="34" charset="-122"/>
              <a:ea typeface="微软雅黑 Light" pitchFamily="34" charset="-122"/>
            </a:endParaRPr>
          </a:p>
        </p:txBody>
      </p:sp>
      <p:sp>
        <p:nvSpPr>
          <p:cNvPr id="21" name="TextBox 32"/>
          <p:cNvSpPr txBox="1"/>
          <p:nvPr/>
        </p:nvSpPr>
        <p:spPr>
          <a:xfrm>
            <a:off x="6697769" y="3745620"/>
            <a:ext cx="4373950" cy="652486"/>
          </a:xfrm>
          <a:prstGeom prst="rect">
            <a:avLst/>
          </a:prstGeom>
          <a:noFill/>
        </p:spPr>
        <p:txBody>
          <a:bodyPr wrap="square">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业务</a:t>
            </a:r>
            <a:r>
              <a:rPr lang="zh-CN" altLang="en-US" sz="1400" dirty="0" smtClean="0">
                <a:latin typeface="微软雅黑 Light" pitchFamily="34" charset="-122"/>
                <a:ea typeface="微软雅黑 Light" pitchFamily="34" charset="-122"/>
              </a:rPr>
              <a:t>流量及用户体验情况</a:t>
            </a:r>
            <a:r>
              <a:rPr lang="zh-CN" altLang="en-US" sz="1400" dirty="0">
                <a:latin typeface="微软雅黑 Light" pitchFamily="34" charset="-122"/>
                <a:ea typeface="微软雅黑 Light" pitchFamily="34" charset="-122"/>
              </a:rPr>
              <a:t>进行实时主动的监控</a:t>
            </a:r>
            <a:r>
              <a:rPr lang="zh-CN" altLang="en-US" sz="1400" dirty="0" smtClean="0">
                <a:latin typeface="微软雅黑 Light" pitchFamily="34" charset="-122"/>
                <a:ea typeface="微软雅黑 Light" pitchFamily="34" charset="-122"/>
              </a:rPr>
              <a:t>管理</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按照分类及周期导出数据报表</a:t>
            </a:r>
            <a:endParaRPr lang="en-US" altLang="zh-CN" sz="1400" dirty="0" smtClean="0">
              <a:latin typeface="微软雅黑 Light" pitchFamily="34" charset="-122"/>
              <a:ea typeface="微软雅黑 Light" pitchFamily="34" charset="-122"/>
            </a:endParaRPr>
          </a:p>
        </p:txBody>
      </p:sp>
      <p:sp>
        <p:nvSpPr>
          <p:cNvPr id="22" name="矩形 21"/>
          <p:cNvSpPr/>
          <p:nvPr/>
        </p:nvSpPr>
        <p:spPr>
          <a:xfrm>
            <a:off x="2462707" y="4842608"/>
            <a:ext cx="574675" cy="823913"/>
          </a:xfrm>
          <a:prstGeom prst="rect">
            <a:avLst/>
          </a:pr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05</a:t>
            </a:r>
            <a:endParaRPr lang="zh-CN" altLang="en-US" sz="2400" dirty="0">
              <a:solidFill>
                <a:prstClr val="white"/>
              </a:solidFill>
              <a:latin typeface="Agency FB" panose="020B0503020202020204" pitchFamily="34" charset="0"/>
            </a:endParaRPr>
          </a:p>
        </p:txBody>
      </p:sp>
      <p:sp>
        <p:nvSpPr>
          <p:cNvPr id="23" name="矩形 2"/>
          <p:cNvSpPr/>
          <p:nvPr/>
        </p:nvSpPr>
        <p:spPr>
          <a:xfrm>
            <a:off x="3225285" y="4369196"/>
            <a:ext cx="1139825" cy="1287463"/>
          </a:xfrm>
          <a:custGeom>
            <a:avLst/>
            <a:gdLst>
              <a:gd name="connsiteX0" fmla="*/ 0 w 1123937"/>
              <a:gd name="connsiteY0" fmla="*/ 0 h 823913"/>
              <a:gd name="connsiteX1" fmla="*/ 1123937 w 1123937"/>
              <a:gd name="connsiteY1" fmla="*/ 0 h 823913"/>
              <a:gd name="connsiteX2" fmla="*/ 1123937 w 1123937"/>
              <a:gd name="connsiteY2" fmla="*/ 823913 h 823913"/>
              <a:gd name="connsiteX3" fmla="*/ 0 w 1123937"/>
              <a:gd name="connsiteY3" fmla="*/ 823913 h 823913"/>
              <a:gd name="connsiteX4" fmla="*/ 0 w 1123937"/>
              <a:gd name="connsiteY4" fmla="*/ 0 h 823913"/>
              <a:gd name="connsiteX0" fmla="*/ 0 w 1139177"/>
              <a:gd name="connsiteY0" fmla="*/ 464820 h 1288733"/>
              <a:gd name="connsiteX1" fmla="*/ 1139177 w 1139177"/>
              <a:gd name="connsiteY1" fmla="*/ 0 h 1288733"/>
              <a:gd name="connsiteX2" fmla="*/ 1123937 w 1139177"/>
              <a:gd name="connsiteY2" fmla="*/ 12887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1557 w 1139177"/>
              <a:gd name="connsiteY2" fmla="*/ 7172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9177 w 1139177"/>
              <a:gd name="connsiteY2" fmla="*/ 595313 h 1288733"/>
              <a:gd name="connsiteX3" fmla="*/ 0 w 1139177"/>
              <a:gd name="connsiteY3" fmla="*/ 1288733 h 1288733"/>
              <a:gd name="connsiteX4" fmla="*/ 0 w 1139177"/>
              <a:gd name="connsiteY4" fmla="*/ 464820 h 1288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177" h="1288733">
                <a:moveTo>
                  <a:pt x="0" y="464820"/>
                </a:moveTo>
                <a:lnTo>
                  <a:pt x="1139177" y="0"/>
                </a:lnTo>
                <a:lnTo>
                  <a:pt x="1139177" y="595313"/>
                </a:lnTo>
                <a:lnTo>
                  <a:pt x="0" y="1288733"/>
                </a:lnTo>
                <a:lnTo>
                  <a:pt x="0" y="46482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等腰三角形 69"/>
          <p:cNvSpPr/>
          <p:nvPr/>
        </p:nvSpPr>
        <p:spPr>
          <a:xfrm rot="5400000">
            <a:off x="5298545" y="3803524"/>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场景</a:t>
            </a:r>
            <a:r>
              <a:rPr lang="zh-CN" altLang="en-US" sz="1500" b="1" dirty="0" smtClean="0">
                <a:solidFill>
                  <a:prstClr val="white"/>
                </a:solidFill>
                <a:latin typeface="微软雅黑" pitchFamily="34" charset="-122"/>
                <a:ea typeface="微软雅黑" pitchFamily="34" charset="-122"/>
              </a:rPr>
              <a:t>保障</a:t>
            </a:r>
            <a:endParaRPr lang="zh-CN" altLang="en-US" sz="1500" b="1" dirty="0">
              <a:solidFill>
                <a:prstClr val="white"/>
              </a:solidFill>
              <a:latin typeface="微软雅黑" pitchFamily="34" charset="-122"/>
              <a:ea typeface="微软雅黑" pitchFamily="34" charset="-122"/>
            </a:endParaRPr>
          </a:p>
        </p:txBody>
      </p:sp>
      <p:sp>
        <p:nvSpPr>
          <p:cNvPr id="25" name="TextBox 112"/>
          <p:cNvSpPr txBox="1"/>
          <p:nvPr/>
        </p:nvSpPr>
        <p:spPr>
          <a:xfrm>
            <a:off x="2429960" y="5909921"/>
            <a:ext cx="8027987" cy="338138"/>
          </a:xfrm>
          <a:prstGeom prst="rect">
            <a:avLst/>
          </a:prstGeom>
          <a:noFill/>
        </p:spPr>
        <p:txBody>
          <a:bodyPr>
            <a:spAutoFit/>
          </a:bodyPr>
          <a:lstStyle/>
          <a:p>
            <a:pPr fontAlgn="auto">
              <a:spcBef>
                <a:spcPts val="0"/>
              </a:spcBef>
              <a:spcAft>
                <a:spcPts val="0"/>
              </a:spcAft>
              <a:defRPr/>
            </a:pPr>
            <a:r>
              <a:rPr lang="zh-CN" altLang="en-US" sz="1600" dirty="0">
                <a:latin typeface="+mn-lt"/>
                <a:ea typeface="+mn-ea"/>
                <a:cs typeface="+mn-ea"/>
              </a:rPr>
              <a:t>支撑网络运维管理</a:t>
            </a:r>
            <a:r>
              <a:rPr lang="en-US" altLang="zh-CN" sz="1600" dirty="0">
                <a:latin typeface="+mn-lt"/>
                <a:ea typeface="+mn-ea"/>
                <a:cs typeface="+mn-ea"/>
              </a:rPr>
              <a:t>9</a:t>
            </a:r>
            <a:r>
              <a:rPr lang="zh-CN" altLang="en-US" sz="1600" dirty="0">
                <a:latin typeface="+mn-lt"/>
                <a:ea typeface="+mn-ea"/>
                <a:cs typeface="+mn-ea"/>
              </a:rPr>
              <a:t>大工作：规划、维护、投诉、分析、优化、保障、考核、资管、汇报</a:t>
            </a:r>
          </a:p>
        </p:txBody>
      </p:sp>
      <p:sp>
        <p:nvSpPr>
          <p:cNvPr id="26" name="Freeform: Shape 11"/>
          <p:cNvSpPr>
            <a:spLocks noChangeAspect="1"/>
          </p:cNvSpPr>
          <p:nvPr/>
        </p:nvSpPr>
        <p:spPr bwMode="auto">
          <a:xfrm>
            <a:off x="3686669" y="2713771"/>
            <a:ext cx="322263" cy="274637"/>
          </a:xfrm>
          <a:custGeom>
            <a:avLst/>
            <a:gdLst>
              <a:gd name="T0" fmla="*/ 322415 w 48"/>
              <a:gd name="T1" fmla="*/ 255247 h 41"/>
              <a:gd name="T2" fmla="*/ 302264 w 48"/>
              <a:gd name="T3" fmla="*/ 275398 h 41"/>
              <a:gd name="T4" fmla="*/ 248528 w 48"/>
              <a:gd name="T5" fmla="*/ 275398 h 41"/>
              <a:gd name="T6" fmla="*/ 228377 w 48"/>
              <a:gd name="T7" fmla="*/ 255247 h 41"/>
              <a:gd name="T8" fmla="*/ 228377 w 48"/>
              <a:gd name="T9" fmla="*/ 201511 h 41"/>
              <a:gd name="T10" fmla="*/ 248528 w 48"/>
              <a:gd name="T11" fmla="*/ 181360 h 41"/>
              <a:gd name="T12" fmla="*/ 261962 w 48"/>
              <a:gd name="T13" fmla="*/ 181360 h 41"/>
              <a:gd name="T14" fmla="*/ 261962 w 48"/>
              <a:gd name="T15" fmla="*/ 147775 h 41"/>
              <a:gd name="T16" fmla="*/ 167924 w 48"/>
              <a:gd name="T17" fmla="*/ 147775 h 41"/>
              <a:gd name="T18" fmla="*/ 167924 w 48"/>
              <a:gd name="T19" fmla="*/ 181360 h 41"/>
              <a:gd name="T20" fmla="*/ 188075 w 48"/>
              <a:gd name="T21" fmla="*/ 181360 h 41"/>
              <a:gd name="T22" fmla="*/ 208226 w 48"/>
              <a:gd name="T23" fmla="*/ 201511 h 41"/>
              <a:gd name="T24" fmla="*/ 208226 w 48"/>
              <a:gd name="T25" fmla="*/ 255247 h 41"/>
              <a:gd name="T26" fmla="*/ 188075 w 48"/>
              <a:gd name="T27" fmla="*/ 275398 h 41"/>
              <a:gd name="T28" fmla="*/ 127623 w 48"/>
              <a:gd name="T29" fmla="*/ 275398 h 41"/>
              <a:gd name="T30" fmla="*/ 114189 w 48"/>
              <a:gd name="T31" fmla="*/ 255247 h 41"/>
              <a:gd name="T32" fmla="*/ 114189 w 48"/>
              <a:gd name="T33" fmla="*/ 201511 h 41"/>
              <a:gd name="T34" fmla="*/ 127623 w 48"/>
              <a:gd name="T35" fmla="*/ 181360 h 41"/>
              <a:gd name="T36" fmla="*/ 147774 w 48"/>
              <a:gd name="T37" fmla="*/ 181360 h 41"/>
              <a:gd name="T38" fmla="*/ 147774 w 48"/>
              <a:gd name="T39" fmla="*/ 147775 h 41"/>
              <a:gd name="T40" fmla="*/ 53736 w 48"/>
              <a:gd name="T41" fmla="*/ 147775 h 41"/>
              <a:gd name="T42" fmla="*/ 53736 w 48"/>
              <a:gd name="T43" fmla="*/ 181360 h 41"/>
              <a:gd name="T44" fmla="*/ 73887 w 48"/>
              <a:gd name="T45" fmla="*/ 181360 h 41"/>
              <a:gd name="T46" fmla="*/ 87321 w 48"/>
              <a:gd name="T47" fmla="*/ 201511 h 41"/>
              <a:gd name="T48" fmla="*/ 87321 w 48"/>
              <a:gd name="T49" fmla="*/ 255247 h 41"/>
              <a:gd name="T50" fmla="*/ 73887 w 48"/>
              <a:gd name="T51" fmla="*/ 275398 h 41"/>
              <a:gd name="T52" fmla="*/ 13434 w 48"/>
              <a:gd name="T53" fmla="*/ 275398 h 41"/>
              <a:gd name="T54" fmla="*/ 0 w 48"/>
              <a:gd name="T55" fmla="*/ 255247 h 41"/>
              <a:gd name="T56" fmla="*/ 0 w 48"/>
              <a:gd name="T57" fmla="*/ 201511 h 41"/>
              <a:gd name="T58" fmla="*/ 13434 w 48"/>
              <a:gd name="T59" fmla="*/ 181360 h 41"/>
              <a:gd name="T60" fmla="*/ 33585 w 48"/>
              <a:gd name="T61" fmla="*/ 181360 h 41"/>
              <a:gd name="T62" fmla="*/ 33585 w 48"/>
              <a:gd name="T63" fmla="*/ 147775 h 41"/>
              <a:gd name="T64" fmla="*/ 53736 w 48"/>
              <a:gd name="T65" fmla="*/ 127623 h 41"/>
              <a:gd name="T66" fmla="*/ 147774 w 48"/>
              <a:gd name="T67" fmla="*/ 127623 h 41"/>
              <a:gd name="T68" fmla="*/ 147774 w 48"/>
              <a:gd name="T69" fmla="*/ 87321 h 41"/>
              <a:gd name="T70" fmla="*/ 127623 w 48"/>
              <a:gd name="T71" fmla="*/ 87321 h 41"/>
              <a:gd name="T72" fmla="*/ 114189 w 48"/>
              <a:gd name="T73" fmla="*/ 73887 h 41"/>
              <a:gd name="T74" fmla="*/ 114189 w 48"/>
              <a:gd name="T75" fmla="*/ 13434 h 41"/>
              <a:gd name="T76" fmla="*/ 127623 w 48"/>
              <a:gd name="T77" fmla="*/ 0 h 41"/>
              <a:gd name="T78" fmla="*/ 188075 w 48"/>
              <a:gd name="T79" fmla="*/ 0 h 41"/>
              <a:gd name="T80" fmla="*/ 208226 w 48"/>
              <a:gd name="T81" fmla="*/ 13434 h 41"/>
              <a:gd name="T82" fmla="*/ 208226 w 48"/>
              <a:gd name="T83" fmla="*/ 73887 h 41"/>
              <a:gd name="T84" fmla="*/ 188075 w 48"/>
              <a:gd name="T85" fmla="*/ 87321 h 41"/>
              <a:gd name="T86" fmla="*/ 167924 w 48"/>
              <a:gd name="T87" fmla="*/ 87321 h 41"/>
              <a:gd name="T88" fmla="*/ 167924 w 48"/>
              <a:gd name="T89" fmla="*/ 127623 h 41"/>
              <a:gd name="T90" fmla="*/ 261962 w 48"/>
              <a:gd name="T91" fmla="*/ 127623 h 41"/>
              <a:gd name="T92" fmla="*/ 288830 w 48"/>
              <a:gd name="T93" fmla="*/ 147775 h 41"/>
              <a:gd name="T94" fmla="*/ 288830 w 48"/>
              <a:gd name="T95" fmla="*/ 181360 h 41"/>
              <a:gd name="T96" fmla="*/ 302264 w 48"/>
              <a:gd name="T97" fmla="*/ 181360 h 41"/>
              <a:gd name="T98" fmla="*/ 322415 w 48"/>
              <a:gd name="T99" fmla="*/ 201511 h 41"/>
              <a:gd name="T100" fmla="*/ 322415 w 48"/>
              <a:gd name="T101" fmla="*/ 255247 h 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nvGrpSpPr>
          <p:cNvPr id="27" name="Group 173"/>
          <p:cNvGrpSpPr>
            <a:grpSpLocks noChangeAspect="1"/>
          </p:cNvGrpSpPr>
          <p:nvPr/>
        </p:nvGrpSpPr>
        <p:grpSpPr>
          <a:xfrm>
            <a:off x="3754031" y="4576872"/>
            <a:ext cx="310376" cy="532467"/>
            <a:chOff x="-2773363" y="1651000"/>
            <a:chExt cx="2692401" cy="3448051"/>
          </a:xfrm>
          <a:solidFill>
            <a:schemeClr val="bg1"/>
          </a:solidFill>
        </p:grpSpPr>
        <p:sp>
          <p:nvSpPr>
            <p:cNvPr id="28"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29"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0"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1"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2"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3" name="Oval 24"/>
            <p:cNvSpPr>
              <a:spLocks noChangeArrowheads="1"/>
            </p:cNvSpPr>
            <p:nvPr/>
          </p:nvSpPr>
          <p:spPr bwMode="auto">
            <a:xfrm>
              <a:off x="-1333500" y="3128963"/>
              <a:ext cx="77788" cy="79375"/>
            </a:xfrm>
            <a:prstGeom prst="ellipse">
              <a:avLst/>
            </a:prstGeom>
            <a:grpFill/>
            <a:ln w="9525">
              <a:solidFill>
                <a:schemeClr val="tx1"/>
              </a:solidFill>
              <a:round/>
              <a:headEnd/>
              <a:tailEnd/>
            </a:ln>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4" name="Freeform 25"/>
            <p:cNvSpPr>
              <a:spLocks/>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grpSp>
      <p:sp>
        <p:nvSpPr>
          <p:cNvPr id="35" name="i$liḋe-Freeform: Shape 52"/>
          <p:cNvSpPr>
            <a:spLocks/>
          </p:cNvSpPr>
          <p:nvPr/>
        </p:nvSpPr>
        <p:spPr bwMode="auto">
          <a:xfrm>
            <a:off x="3653332" y="1969233"/>
            <a:ext cx="350837" cy="350838"/>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fontAlgn="auto">
              <a:spcBef>
                <a:spcPts val="0"/>
              </a:spcBef>
              <a:spcAft>
                <a:spcPts val="0"/>
              </a:spcAft>
              <a:defRPr/>
            </a:pPr>
            <a:endParaRPr dirty="0">
              <a:solidFill>
                <a:schemeClr val="bg1"/>
              </a:solidFill>
              <a:latin typeface="+mn-lt"/>
              <a:ea typeface="微软雅黑 Light" panose="020B0502040204020203" pitchFamily="34" charset="-122"/>
              <a:cs typeface="+mn-ea"/>
              <a:sym typeface="+mn-lt"/>
            </a:endParaRPr>
          </a:p>
        </p:txBody>
      </p:sp>
      <p:grpSp>
        <p:nvGrpSpPr>
          <p:cNvPr id="36" name="组合 79"/>
          <p:cNvGrpSpPr/>
          <p:nvPr/>
        </p:nvGrpSpPr>
        <p:grpSpPr>
          <a:xfrm>
            <a:off x="3675586" y="3365691"/>
            <a:ext cx="328264" cy="335789"/>
            <a:chOff x="6703195" y="942077"/>
            <a:chExt cx="265554" cy="251300"/>
          </a:xfrm>
          <a:solidFill>
            <a:schemeClr val="bg1"/>
          </a:solidFill>
        </p:grpSpPr>
        <p:sp>
          <p:nvSpPr>
            <p:cNvPr id="37" name="Freeform 695"/>
            <p:cNvSpPr>
              <a:spLocks noEditPoints="1"/>
            </p:cNvSpPr>
            <p:nvPr/>
          </p:nvSpPr>
          <p:spPr bwMode="auto">
            <a:xfrm>
              <a:off x="6850880" y="1088568"/>
              <a:ext cx="103603" cy="104807"/>
            </a:xfrm>
            <a:custGeom>
              <a:avLst/>
              <a:gdLst>
                <a:gd name="T0" fmla="*/ 0 w 119"/>
                <a:gd name="T1" fmla="*/ 40 h 121"/>
                <a:gd name="T2" fmla="*/ 46 w 119"/>
                <a:gd name="T3" fmla="*/ 85 h 121"/>
                <a:gd name="T4" fmla="*/ 70 w 119"/>
                <a:gd name="T5" fmla="*/ 118 h 121"/>
                <a:gd name="T6" fmla="*/ 83 w 119"/>
                <a:gd name="T7" fmla="*/ 121 h 121"/>
                <a:gd name="T8" fmla="*/ 119 w 119"/>
                <a:gd name="T9" fmla="*/ 85 h 121"/>
                <a:gd name="T10" fmla="*/ 116 w 119"/>
                <a:gd name="T11" fmla="*/ 72 h 121"/>
                <a:gd name="T12" fmla="*/ 83 w 119"/>
                <a:gd name="T13" fmla="*/ 48 h 121"/>
                <a:gd name="T14" fmla="*/ 35 w 119"/>
                <a:gd name="T15" fmla="*/ 0 h 121"/>
                <a:gd name="T16" fmla="*/ 1 w 119"/>
                <a:gd name="T17" fmla="*/ 34 h 121"/>
                <a:gd name="T18" fmla="*/ 0 w 119"/>
                <a:gd name="T19" fmla="*/ 40 h 121"/>
                <a:gd name="T20" fmla="*/ 80 w 119"/>
                <a:gd name="T21" fmla="*/ 67 h 121"/>
                <a:gd name="T22" fmla="*/ 95 w 119"/>
                <a:gd name="T23" fmla="*/ 82 h 121"/>
                <a:gd name="T24" fmla="*/ 80 w 119"/>
                <a:gd name="T25" fmla="*/ 97 h 121"/>
                <a:gd name="T26" fmla="*/ 65 w 119"/>
                <a:gd name="T27" fmla="*/ 82 h 121"/>
                <a:gd name="T28" fmla="*/ 80 w 119"/>
                <a:gd name="T29" fmla="*/ 6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9" h="121">
                  <a:moveTo>
                    <a:pt x="0" y="40"/>
                  </a:moveTo>
                  <a:cubicBezTo>
                    <a:pt x="46" y="85"/>
                    <a:pt x="46" y="85"/>
                    <a:pt x="46" y="85"/>
                  </a:cubicBezTo>
                  <a:cubicBezTo>
                    <a:pt x="70" y="118"/>
                    <a:pt x="70" y="118"/>
                    <a:pt x="70" y="118"/>
                  </a:cubicBezTo>
                  <a:cubicBezTo>
                    <a:pt x="83" y="121"/>
                    <a:pt x="83" y="121"/>
                    <a:pt x="83" y="121"/>
                  </a:cubicBezTo>
                  <a:cubicBezTo>
                    <a:pt x="119" y="85"/>
                    <a:pt x="119" y="85"/>
                    <a:pt x="119" y="85"/>
                  </a:cubicBezTo>
                  <a:cubicBezTo>
                    <a:pt x="116" y="72"/>
                    <a:pt x="116" y="72"/>
                    <a:pt x="116" y="72"/>
                  </a:cubicBezTo>
                  <a:cubicBezTo>
                    <a:pt x="83" y="48"/>
                    <a:pt x="83" y="48"/>
                    <a:pt x="83" y="48"/>
                  </a:cubicBezTo>
                  <a:cubicBezTo>
                    <a:pt x="35" y="0"/>
                    <a:pt x="35" y="0"/>
                    <a:pt x="35" y="0"/>
                  </a:cubicBezTo>
                  <a:cubicBezTo>
                    <a:pt x="1" y="34"/>
                    <a:pt x="1" y="34"/>
                    <a:pt x="1" y="34"/>
                  </a:cubicBezTo>
                  <a:cubicBezTo>
                    <a:pt x="1" y="36"/>
                    <a:pt x="1" y="38"/>
                    <a:pt x="0" y="40"/>
                  </a:cubicBezTo>
                  <a:close/>
                  <a:moveTo>
                    <a:pt x="80" y="67"/>
                  </a:moveTo>
                  <a:cubicBezTo>
                    <a:pt x="88" y="67"/>
                    <a:pt x="95" y="73"/>
                    <a:pt x="95" y="82"/>
                  </a:cubicBezTo>
                  <a:cubicBezTo>
                    <a:pt x="95" y="90"/>
                    <a:pt x="88" y="97"/>
                    <a:pt x="80" y="97"/>
                  </a:cubicBezTo>
                  <a:cubicBezTo>
                    <a:pt x="71" y="97"/>
                    <a:pt x="65" y="90"/>
                    <a:pt x="65" y="82"/>
                  </a:cubicBezTo>
                  <a:cubicBezTo>
                    <a:pt x="65" y="73"/>
                    <a:pt x="71" y="67"/>
                    <a:pt x="80"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8" name="Freeform 696"/>
            <p:cNvSpPr>
              <a:spLocks/>
            </p:cNvSpPr>
            <p:nvPr/>
          </p:nvSpPr>
          <p:spPr bwMode="auto">
            <a:xfrm>
              <a:off x="6703195" y="942099"/>
              <a:ext cx="130991" cy="129819"/>
            </a:xfrm>
            <a:custGeom>
              <a:avLst/>
              <a:gdLst>
                <a:gd name="T0" fmla="*/ 151 w 151"/>
                <a:gd name="T1" fmla="*/ 114 h 149"/>
                <a:gd name="T2" fmla="*/ 124 w 151"/>
                <a:gd name="T3" fmla="*/ 87 h 149"/>
                <a:gd name="T4" fmla="*/ 130 w 151"/>
                <a:gd name="T5" fmla="*/ 67 h 149"/>
                <a:gd name="T6" fmla="*/ 62 w 151"/>
                <a:gd name="T7" fmla="*/ 0 h 149"/>
                <a:gd name="T8" fmla="*/ 56 w 151"/>
                <a:gd name="T9" fmla="*/ 6 h 149"/>
                <a:gd name="T10" fmla="*/ 82 w 151"/>
                <a:gd name="T11" fmla="*/ 46 h 149"/>
                <a:gd name="T12" fmla="*/ 46 w 151"/>
                <a:gd name="T13" fmla="*/ 81 h 149"/>
                <a:gd name="T14" fmla="*/ 6 w 151"/>
                <a:gd name="T15" fmla="*/ 56 h 149"/>
                <a:gd name="T16" fmla="*/ 0 w 151"/>
                <a:gd name="T17" fmla="*/ 62 h 149"/>
                <a:gd name="T18" fmla="*/ 67 w 151"/>
                <a:gd name="T19" fmla="*/ 130 h 149"/>
                <a:gd name="T20" fmla="*/ 87 w 151"/>
                <a:gd name="T21" fmla="*/ 124 h 149"/>
                <a:gd name="T22" fmla="*/ 111 w 151"/>
                <a:gd name="T23" fmla="*/ 149 h 149"/>
                <a:gd name="T24" fmla="*/ 117 w 151"/>
                <a:gd name="T25" fmla="*/ 148 h 149"/>
                <a:gd name="T26" fmla="*/ 151 w 151"/>
                <a:gd name="T27"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49">
                  <a:moveTo>
                    <a:pt x="151" y="114"/>
                  </a:moveTo>
                  <a:cubicBezTo>
                    <a:pt x="124" y="87"/>
                    <a:pt x="124" y="87"/>
                    <a:pt x="124" y="87"/>
                  </a:cubicBezTo>
                  <a:cubicBezTo>
                    <a:pt x="128" y="80"/>
                    <a:pt x="130" y="74"/>
                    <a:pt x="130" y="67"/>
                  </a:cubicBezTo>
                  <a:cubicBezTo>
                    <a:pt x="130" y="33"/>
                    <a:pt x="97" y="0"/>
                    <a:pt x="62" y="0"/>
                  </a:cubicBezTo>
                  <a:cubicBezTo>
                    <a:pt x="62" y="0"/>
                    <a:pt x="58" y="4"/>
                    <a:pt x="56" y="6"/>
                  </a:cubicBezTo>
                  <a:cubicBezTo>
                    <a:pt x="84" y="34"/>
                    <a:pt x="82" y="29"/>
                    <a:pt x="82" y="46"/>
                  </a:cubicBezTo>
                  <a:cubicBezTo>
                    <a:pt x="82" y="60"/>
                    <a:pt x="60" y="81"/>
                    <a:pt x="46" y="81"/>
                  </a:cubicBezTo>
                  <a:cubicBezTo>
                    <a:pt x="29" y="81"/>
                    <a:pt x="34" y="84"/>
                    <a:pt x="6" y="56"/>
                  </a:cubicBezTo>
                  <a:cubicBezTo>
                    <a:pt x="4" y="58"/>
                    <a:pt x="0" y="62"/>
                    <a:pt x="0" y="62"/>
                  </a:cubicBezTo>
                  <a:cubicBezTo>
                    <a:pt x="1" y="97"/>
                    <a:pt x="33" y="130"/>
                    <a:pt x="67" y="130"/>
                  </a:cubicBezTo>
                  <a:cubicBezTo>
                    <a:pt x="74" y="130"/>
                    <a:pt x="80" y="128"/>
                    <a:pt x="87" y="124"/>
                  </a:cubicBezTo>
                  <a:cubicBezTo>
                    <a:pt x="111" y="149"/>
                    <a:pt x="111" y="149"/>
                    <a:pt x="111" y="149"/>
                  </a:cubicBezTo>
                  <a:cubicBezTo>
                    <a:pt x="113" y="148"/>
                    <a:pt x="115" y="148"/>
                    <a:pt x="117" y="148"/>
                  </a:cubicBezTo>
                  <a:lnTo>
                    <a:pt x="151"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9" name="Freeform 697"/>
            <p:cNvSpPr>
              <a:spLocks/>
            </p:cNvSpPr>
            <p:nvPr/>
          </p:nvSpPr>
          <p:spPr bwMode="auto">
            <a:xfrm>
              <a:off x="6719865" y="942077"/>
              <a:ext cx="248884" cy="251300"/>
            </a:xfrm>
            <a:custGeom>
              <a:avLst/>
              <a:gdLst>
                <a:gd name="T0" fmla="*/ 240 w 285"/>
                <a:gd name="T1" fmla="*/ 172 h 289"/>
                <a:gd name="T2" fmla="*/ 259 w 285"/>
                <a:gd name="T3" fmla="*/ 190 h 289"/>
                <a:gd name="T4" fmla="*/ 254 w 285"/>
                <a:gd name="T5" fmla="*/ 86 h 289"/>
                <a:gd name="T6" fmla="*/ 213 w 285"/>
                <a:gd name="T7" fmla="*/ 45 h 289"/>
                <a:gd name="T8" fmla="*/ 200 w 285"/>
                <a:gd name="T9" fmla="*/ 42 h 289"/>
                <a:gd name="T10" fmla="*/ 191 w 285"/>
                <a:gd name="T11" fmla="*/ 26 h 289"/>
                <a:gd name="T12" fmla="*/ 178 w 285"/>
                <a:gd name="T13" fmla="*/ 9 h 289"/>
                <a:gd name="T14" fmla="*/ 177 w 285"/>
                <a:gd name="T15" fmla="*/ 7 h 289"/>
                <a:gd name="T16" fmla="*/ 167 w 285"/>
                <a:gd name="T17" fmla="*/ 0 h 289"/>
                <a:gd name="T18" fmla="*/ 159 w 285"/>
                <a:gd name="T19" fmla="*/ 6 h 289"/>
                <a:gd name="T20" fmla="*/ 133 w 285"/>
                <a:gd name="T21" fmla="*/ 31 h 289"/>
                <a:gd name="T22" fmla="*/ 134 w 285"/>
                <a:gd name="T23" fmla="*/ 49 h 289"/>
                <a:gd name="T24" fmla="*/ 136 w 285"/>
                <a:gd name="T25" fmla="*/ 51 h 289"/>
                <a:gd name="T26" fmla="*/ 155 w 285"/>
                <a:gd name="T27" fmla="*/ 64 h 289"/>
                <a:gd name="T28" fmla="*/ 156 w 285"/>
                <a:gd name="T29" fmla="*/ 64 h 289"/>
                <a:gd name="T30" fmla="*/ 177 w 285"/>
                <a:gd name="T31" fmla="*/ 77 h 289"/>
                <a:gd name="T32" fmla="*/ 171 w 285"/>
                <a:gd name="T33" fmla="*/ 102 h 289"/>
                <a:gd name="T34" fmla="*/ 104 w 285"/>
                <a:gd name="T35" fmla="*/ 169 h 289"/>
                <a:gd name="T36" fmla="*/ 98 w 285"/>
                <a:gd name="T37" fmla="*/ 168 h 289"/>
                <a:gd name="T38" fmla="*/ 88 w 285"/>
                <a:gd name="T39" fmla="*/ 172 h 289"/>
                <a:gd name="T40" fmla="*/ 86 w 285"/>
                <a:gd name="T41" fmla="*/ 174 h 289"/>
                <a:gd name="T42" fmla="*/ 16 w 285"/>
                <a:gd name="T43" fmla="*/ 244 h 289"/>
                <a:gd name="T44" fmla="*/ 14 w 285"/>
                <a:gd name="T45" fmla="*/ 246 h 289"/>
                <a:gd name="T46" fmla="*/ 43 w 285"/>
                <a:gd name="T47" fmla="*/ 289 h 289"/>
                <a:gd name="T48" fmla="*/ 53 w 285"/>
                <a:gd name="T49" fmla="*/ 285 h 289"/>
                <a:gd name="T50" fmla="*/ 55 w 285"/>
                <a:gd name="T51" fmla="*/ 283 h 289"/>
                <a:gd name="T52" fmla="*/ 125 w 285"/>
                <a:gd name="T53" fmla="*/ 213 h 289"/>
                <a:gd name="T54" fmla="*/ 127 w 285"/>
                <a:gd name="T55" fmla="*/ 211 h 289"/>
                <a:gd name="T56" fmla="*/ 130 w 285"/>
                <a:gd name="T57" fmla="*/ 195 h 289"/>
                <a:gd name="T58" fmla="*/ 205 w 285"/>
                <a:gd name="T59" fmla="*/ 120 h 289"/>
                <a:gd name="T60" fmla="*/ 217 w 285"/>
                <a:gd name="T61" fmla="*/ 112 h 289"/>
                <a:gd name="T62" fmla="*/ 218 w 285"/>
                <a:gd name="T63" fmla="*/ 112 h 289"/>
                <a:gd name="T64" fmla="*/ 240 w 285"/>
                <a:gd name="T65" fmla="*/ 17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289">
                  <a:moveTo>
                    <a:pt x="240" y="172"/>
                  </a:moveTo>
                  <a:cubicBezTo>
                    <a:pt x="259" y="190"/>
                    <a:pt x="259" y="190"/>
                    <a:pt x="259" y="190"/>
                  </a:cubicBezTo>
                  <a:cubicBezTo>
                    <a:pt x="259" y="190"/>
                    <a:pt x="285" y="117"/>
                    <a:pt x="254" y="86"/>
                  </a:cubicBezTo>
                  <a:cubicBezTo>
                    <a:pt x="242" y="74"/>
                    <a:pt x="226" y="58"/>
                    <a:pt x="213" y="45"/>
                  </a:cubicBezTo>
                  <a:cubicBezTo>
                    <a:pt x="210" y="42"/>
                    <a:pt x="202" y="44"/>
                    <a:pt x="200" y="42"/>
                  </a:cubicBezTo>
                  <a:cubicBezTo>
                    <a:pt x="194" y="34"/>
                    <a:pt x="192" y="27"/>
                    <a:pt x="191" y="26"/>
                  </a:cubicBezTo>
                  <a:cubicBezTo>
                    <a:pt x="190" y="20"/>
                    <a:pt x="184" y="14"/>
                    <a:pt x="178" y="9"/>
                  </a:cubicBezTo>
                  <a:cubicBezTo>
                    <a:pt x="177" y="7"/>
                    <a:pt x="177" y="7"/>
                    <a:pt x="177" y="7"/>
                  </a:cubicBezTo>
                  <a:cubicBezTo>
                    <a:pt x="172" y="2"/>
                    <a:pt x="170" y="0"/>
                    <a:pt x="167" y="0"/>
                  </a:cubicBezTo>
                  <a:cubicBezTo>
                    <a:pt x="165" y="0"/>
                    <a:pt x="163" y="2"/>
                    <a:pt x="159" y="6"/>
                  </a:cubicBezTo>
                  <a:cubicBezTo>
                    <a:pt x="133" y="31"/>
                    <a:pt x="133" y="31"/>
                    <a:pt x="133" y="31"/>
                  </a:cubicBezTo>
                  <a:cubicBezTo>
                    <a:pt x="124" y="40"/>
                    <a:pt x="126" y="41"/>
                    <a:pt x="134" y="49"/>
                  </a:cubicBezTo>
                  <a:cubicBezTo>
                    <a:pt x="136" y="51"/>
                    <a:pt x="136" y="51"/>
                    <a:pt x="136" y="51"/>
                  </a:cubicBezTo>
                  <a:cubicBezTo>
                    <a:pt x="142" y="57"/>
                    <a:pt x="149" y="64"/>
                    <a:pt x="155" y="64"/>
                  </a:cubicBezTo>
                  <a:cubicBezTo>
                    <a:pt x="156" y="64"/>
                    <a:pt x="156" y="64"/>
                    <a:pt x="156" y="64"/>
                  </a:cubicBezTo>
                  <a:cubicBezTo>
                    <a:pt x="161" y="65"/>
                    <a:pt x="172" y="68"/>
                    <a:pt x="177" y="77"/>
                  </a:cubicBezTo>
                  <a:cubicBezTo>
                    <a:pt x="182" y="89"/>
                    <a:pt x="174" y="97"/>
                    <a:pt x="171" y="102"/>
                  </a:cubicBezTo>
                  <a:cubicBezTo>
                    <a:pt x="104" y="169"/>
                    <a:pt x="104" y="169"/>
                    <a:pt x="104" y="169"/>
                  </a:cubicBezTo>
                  <a:cubicBezTo>
                    <a:pt x="102" y="168"/>
                    <a:pt x="100" y="168"/>
                    <a:pt x="98" y="168"/>
                  </a:cubicBezTo>
                  <a:cubicBezTo>
                    <a:pt x="94" y="168"/>
                    <a:pt x="91" y="169"/>
                    <a:pt x="88" y="172"/>
                  </a:cubicBezTo>
                  <a:cubicBezTo>
                    <a:pt x="87" y="172"/>
                    <a:pt x="87" y="173"/>
                    <a:pt x="86" y="174"/>
                  </a:cubicBezTo>
                  <a:cubicBezTo>
                    <a:pt x="86" y="174"/>
                    <a:pt x="30" y="229"/>
                    <a:pt x="16" y="244"/>
                  </a:cubicBezTo>
                  <a:cubicBezTo>
                    <a:pt x="15" y="245"/>
                    <a:pt x="14" y="245"/>
                    <a:pt x="14" y="246"/>
                  </a:cubicBezTo>
                  <a:cubicBezTo>
                    <a:pt x="0" y="259"/>
                    <a:pt x="25" y="289"/>
                    <a:pt x="43" y="289"/>
                  </a:cubicBezTo>
                  <a:cubicBezTo>
                    <a:pt x="47" y="289"/>
                    <a:pt x="50" y="288"/>
                    <a:pt x="53" y="285"/>
                  </a:cubicBezTo>
                  <a:cubicBezTo>
                    <a:pt x="54" y="285"/>
                    <a:pt x="54" y="284"/>
                    <a:pt x="55" y="283"/>
                  </a:cubicBezTo>
                  <a:cubicBezTo>
                    <a:pt x="70" y="268"/>
                    <a:pt x="125" y="213"/>
                    <a:pt x="125" y="213"/>
                  </a:cubicBezTo>
                  <a:cubicBezTo>
                    <a:pt x="126" y="212"/>
                    <a:pt x="127" y="212"/>
                    <a:pt x="127" y="211"/>
                  </a:cubicBezTo>
                  <a:cubicBezTo>
                    <a:pt x="131" y="207"/>
                    <a:pt x="132" y="201"/>
                    <a:pt x="130" y="195"/>
                  </a:cubicBezTo>
                  <a:cubicBezTo>
                    <a:pt x="205" y="120"/>
                    <a:pt x="205" y="120"/>
                    <a:pt x="205" y="120"/>
                  </a:cubicBezTo>
                  <a:cubicBezTo>
                    <a:pt x="210" y="116"/>
                    <a:pt x="215" y="112"/>
                    <a:pt x="217" y="112"/>
                  </a:cubicBezTo>
                  <a:cubicBezTo>
                    <a:pt x="218" y="112"/>
                    <a:pt x="218" y="112"/>
                    <a:pt x="218" y="112"/>
                  </a:cubicBezTo>
                  <a:cubicBezTo>
                    <a:pt x="246" y="128"/>
                    <a:pt x="240" y="172"/>
                    <a:pt x="240" y="1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grpSp>
      <p:sp>
        <p:nvSpPr>
          <p:cNvPr id="40" name="îṣļîḑé-Freeform: Shape 15"/>
          <p:cNvSpPr>
            <a:spLocks noChangeAspect="1"/>
          </p:cNvSpPr>
          <p:nvPr/>
        </p:nvSpPr>
        <p:spPr bwMode="auto">
          <a:xfrm>
            <a:off x="3675557" y="4050446"/>
            <a:ext cx="336550" cy="381000"/>
          </a:xfrm>
          <a:custGeom>
            <a:avLst/>
            <a:gdLst>
              <a:gd name="connsiteX0" fmla="*/ 32079 w 449102"/>
              <a:gd name="connsiteY0" fmla="*/ 355245 h 508000"/>
              <a:gd name="connsiteX1" fmla="*/ 32079 w 449102"/>
              <a:gd name="connsiteY1" fmla="*/ 387217 h 508000"/>
              <a:gd name="connsiteX2" fmla="*/ 60593 w 449102"/>
              <a:gd name="connsiteY2" fmla="*/ 387217 h 508000"/>
              <a:gd name="connsiteX3" fmla="*/ 32079 w 449102"/>
              <a:gd name="connsiteY3" fmla="*/ 355245 h 508000"/>
              <a:gd name="connsiteX4" fmla="*/ 231680 w 449102"/>
              <a:gd name="connsiteY4" fmla="*/ 248672 h 508000"/>
              <a:gd name="connsiteX5" fmla="*/ 213858 w 449102"/>
              <a:gd name="connsiteY5" fmla="*/ 266434 h 508000"/>
              <a:gd name="connsiteX6" fmla="*/ 213858 w 449102"/>
              <a:gd name="connsiteY6" fmla="*/ 284196 h 508000"/>
              <a:gd name="connsiteX7" fmla="*/ 352866 w 449102"/>
              <a:gd name="connsiteY7" fmla="*/ 284196 h 508000"/>
              <a:gd name="connsiteX8" fmla="*/ 370688 w 449102"/>
              <a:gd name="connsiteY8" fmla="*/ 266434 h 508000"/>
              <a:gd name="connsiteX9" fmla="*/ 370688 w 449102"/>
              <a:gd name="connsiteY9" fmla="*/ 248672 h 508000"/>
              <a:gd name="connsiteX10" fmla="*/ 231680 w 449102"/>
              <a:gd name="connsiteY10" fmla="*/ 248672 h 508000"/>
              <a:gd name="connsiteX11" fmla="*/ 217107 w 449102"/>
              <a:gd name="connsiteY11" fmla="*/ 98655 h 508000"/>
              <a:gd name="connsiteX12" fmla="*/ 316580 w 449102"/>
              <a:gd name="connsiteY12" fmla="*/ 98655 h 508000"/>
              <a:gd name="connsiteX13" fmla="*/ 316580 w 449102"/>
              <a:gd name="connsiteY13" fmla="*/ 112934 h 508000"/>
              <a:gd name="connsiteX14" fmla="*/ 309475 w 449102"/>
              <a:gd name="connsiteY14" fmla="*/ 130782 h 508000"/>
              <a:gd name="connsiteX15" fmla="*/ 302370 w 449102"/>
              <a:gd name="connsiteY15" fmla="*/ 130782 h 508000"/>
              <a:gd name="connsiteX16" fmla="*/ 302370 w 449102"/>
              <a:gd name="connsiteY16" fmla="*/ 112934 h 508000"/>
              <a:gd name="connsiteX17" fmla="*/ 224212 w 449102"/>
              <a:gd name="connsiteY17" fmla="*/ 112934 h 508000"/>
              <a:gd name="connsiteX18" fmla="*/ 213554 w 449102"/>
              <a:gd name="connsiteY18" fmla="*/ 130782 h 508000"/>
              <a:gd name="connsiteX19" fmla="*/ 117633 w 449102"/>
              <a:gd name="connsiteY19" fmla="*/ 130782 h 508000"/>
              <a:gd name="connsiteX20" fmla="*/ 106976 w 449102"/>
              <a:gd name="connsiteY20" fmla="*/ 141491 h 508000"/>
              <a:gd name="connsiteX21" fmla="*/ 106976 w 449102"/>
              <a:gd name="connsiteY21" fmla="*/ 216452 h 508000"/>
              <a:gd name="connsiteX22" fmla="*/ 99870 w 449102"/>
              <a:gd name="connsiteY22" fmla="*/ 216452 h 508000"/>
              <a:gd name="connsiteX23" fmla="*/ 92765 w 449102"/>
              <a:gd name="connsiteY23" fmla="*/ 198604 h 508000"/>
              <a:gd name="connsiteX24" fmla="*/ 92765 w 449102"/>
              <a:gd name="connsiteY24" fmla="*/ 141491 h 508000"/>
              <a:gd name="connsiteX25" fmla="*/ 117633 w 449102"/>
              <a:gd name="connsiteY25" fmla="*/ 116503 h 508000"/>
              <a:gd name="connsiteX26" fmla="*/ 206449 w 449102"/>
              <a:gd name="connsiteY26" fmla="*/ 116503 h 508000"/>
              <a:gd name="connsiteX27" fmla="*/ 185531 w 449102"/>
              <a:gd name="connsiteY27" fmla="*/ 55954 h 508000"/>
              <a:gd name="connsiteX28" fmla="*/ 285658 w 449102"/>
              <a:gd name="connsiteY28" fmla="*/ 55954 h 508000"/>
              <a:gd name="connsiteX29" fmla="*/ 285658 w 449102"/>
              <a:gd name="connsiteY29" fmla="*/ 70159 h 508000"/>
              <a:gd name="connsiteX30" fmla="*/ 278506 w 449102"/>
              <a:gd name="connsiteY30" fmla="*/ 87915 h 508000"/>
              <a:gd name="connsiteX31" fmla="*/ 271354 w 449102"/>
              <a:gd name="connsiteY31" fmla="*/ 87915 h 508000"/>
              <a:gd name="connsiteX32" fmla="*/ 271354 w 449102"/>
              <a:gd name="connsiteY32" fmla="*/ 70159 h 508000"/>
              <a:gd name="connsiteX33" fmla="*/ 196258 w 449102"/>
              <a:gd name="connsiteY33" fmla="*/ 70159 h 508000"/>
              <a:gd name="connsiteX34" fmla="*/ 181955 w 449102"/>
              <a:gd name="connsiteY34" fmla="*/ 87915 h 508000"/>
              <a:gd name="connsiteX35" fmla="*/ 85403 w 449102"/>
              <a:gd name="connsiteY35" fmla="*/ 87915 h 508000"/>
              <a:gd name="connsiteX36" fmla="*/ 74675 w 449102"/>
              <a:gd name="connsiteY36" fmla="*/ 102120 h 508000"/>
              <a:gd name="connsiteX37" fmla="*/ 74675 w 449102"/>
              <a:gd name="connsiteY37" fmla="*/ 176696 h 508000"/>
              <a:gd name="connsiteX38" fmla="*/ 67523 w 449102"/>
              <a:gd name="connsiteY38" fmla="*/ 176696 h 508000"/>
              <a:gd name="connsiteX39" fmla="*/ 60371 w 449102"/>
              <a:gd name="connsiteY39" fmla="*/ 155389 h 508000"/>
              <a:gd name="connsiteX40" fmla="*/ 60371 w 449102"/>
              <a:gd name="connsiteY40" fmla="*/ 102120 h 508000"/>
              <a:gd name="connsiteX41" fmla="*/ 85403 w 449102"/>
              <a:gd name="connsiteY41" fmla="*/ 73710 h 508000"/>
              <a:gd name="connsiteX42" fmla="*/ 174803 w 449102"/>
              <a:gd name="connsiteY42" fmla="*/ 73710 h 508000"/>
              <a:gd name="connsiteX43" fmla="*/ 185531 w 449102"/>
              <a:gd name="connsiteY43" fmla="*/ 55954 h 508000"/>
              <a:gd name="connsiteX44" fmla="*/ 49900 w 449102"/>
              <a:gd name="connsiteY44" fmla="*/ 35525 h 508000"/>
              <a:gd name="connsiteX45" fmla="*/ 32079 w 449102"/>
              <a:gd name="connsiteY45" fmla="*/ 53287 h 508000"/>
              <a:gd name="connsiteX46" fmla="*/ 32079 w 449102"/>
              <a:gd name="connsiteY46" fmla="*/ 198937 h 508000"/>
              <a:gd name="connsiteX47" fmla="*/ 128315 w 449102"/>
              <a:gd name="connsiteY47" fmla="*/ 287748 h 508000"/>
              <a:gd name="connsiteX48" fmla="*/ 128315 w 449102"/>
              <a:gd name="connsiteY48" fmla="*/ 195385 h 508000"/>
              <a:gd name="connsiteX49" fmla="*/ 163958 w 449102"/>
              <a:gd name="connsiteY49" fmla="*/ 156308 h 508000"/>
              <a:gd name="connsiteX50" fmla="*/ 352866 w 449102"/>
              <a:gd name="connsiteY50" fmla="*/ 156308 h 508000"/>
              <a:gd name="connsiteX51" fmla="*/ 352866 w 449102"/>
              <a:gd name="connsiteY51" fmla="*/ 35525 h 508000"/>
              <a:gd name="connsiteX52" fmla="*/ 49900 w 449102"/>
              <a:gd name="connsiteY52" fmla="*/ 35525 h 508000"/>
              <a:gd name="connsiteX53" fmla="*/ 39207 w 449102"/>
              <a:gd name="connsiteY53" fmla="*/ 0 h 508000"/>
              <a:gd name="connsiteX54" fmla="*/ 377816 w 449102"/>
              <a:gd name="connsiteY54" fmla="*/ 0 h 508000"/>
              <a:gd name="connsiteX55" fmla="*/ 377816 w 449102"/>
              <a:gd name="connsiteY55" fmla="*/ 156308 h 508000"/>
              <a:gd name="connsiteX56" fmla="*/ 449102 w 449102"/>
              <a:gd name="connsiteY56" fmla="*/ 156308 h 508000"/>
              <a:gd name="connsiteX57" fmla="*/ 449102 w 449102"/>
              <a:gd name="connsiteY57" fmla="*/ 468923 h 508000"/>
              <a:gd name="connsiteX58" fmla="*/ 409895 w 449102"/>
              <a:gd name="connsiteY58" fmla="*/ 508000 h 508000"/>
              <a:gd name="connsiteX59" fmla="*/ 128315 w 449102"/>
              <a:gd name="connsiteY59" fmla="*/ 508000 h 508000"/>
              <a:gd name="connsiteX60" fmla="*/ 128315 w 449102"/>
              <a:gd name="connsiteY60" fmla="*/ 458266 h 508000"/>
              <a:gd name="connsiteX61" fmla="*/ 74850 w 449102"/>
              <a:gd name="connsiteY61" fmla="*/ 401427 h 508000"/>
              <a:gd name="connsiteX62" fmla="*/ 0 w 449102"/>
              <a:gd name="connsiteY62" fmla="*/ 401427 h 508000"/>
              <a:gd name="connsiteX63" fmla="*/ 0 w 449102"/>
              <a:gd name="connsiteY63" fmla="*/ 39077 h 508000"/>
              <a:gd name="connsiteX64" fmla="*/ 39207 w 449102"/>
              <a:gd name="connsiteY64"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49102" h="508000">
                <a:moveTo>
                  <a:pt x="32079" y="355245"/>
                </a:moveTo>
                <a:cubicBezTo>
                  <a:pt x="32079" y="355245"/>
                  <a:pt x="32079" y="355245"/>
                  <a:pt x="32079" y="387217"/>
                </a:cubicBezTo>
                <a:lnTo>
                  <a:pt x="60593" y="387217"/>
                </a:lnTo>
                <a:cubicBezTo>
                  <a:pt x="60593" y="387217"/>
                  <a:pt x="60593" y="387217"/>
                  <a:pt x="32079" y="355245"/>
                </a:cubicBezTo>
                <a:close/>
                <a:moveTo>
                  <a:pt x="231680" y="248672"/>
                </a:moveTo>
                <a:cubicBezTo>
                  <a:pt x="220987" y="248672"/>
                  <a:pt x="213858" y="255776"/>
                  <a:pt x="213858" y="266434"/>
                </a:cubicBezTo>
                <a:cubicBezTo>
                  <a:pt x="213858" y="266434"/>
                  <a:pt x="213858" y="266434"/>
                  <a:pt x="213858" y="284196"/>
                </a:cubicBezTo>
                <a:cubicBezTo>
                  <a:pt x="213858" y="284196"/>
                  <a:pt x="213858" y="284196"/>
                  <a:pt x="352866" y="284196"/>
                </a:cubicBezTo>
                <a:cubicBezTo>
                  <a:pt x="363559" y="284196"/>
                  <a:pt x="370688" y="277091"/>
                  <a:pt x="370688" y="266434"/>
                </a:cubicBezTo>
                <a:cubicBezTo>
                  <a:pt x="370688" y="255776"/>
                  <a:pt x="370688" y="248672"/>
                  <a:pt x="370688" y="248672"/>
                </a:cubicBezTo>
                <a:cubicBezTo>
                  <a:pt x="370688" y="248672"/>
                  <a:pt x="370688" y="248672"/>
                  <a:pt x="231680" y="248672"/>
                </a:cubicBezTo>
                <a:close/>
                <a:moveTo>
                  <a:pt x="217107" y="98655"/>
                </a:moveTo>
                <a:cubicBezTo>
                  <a:pt x="217107" y="98655"/>
                  <a:pt x="217107" y="98655"/>
                  <a:pt x="316580" y="98655"/>
                </a:cubicBezTo>
                <a:cubicBezTo>
                  <a:pt x="316580" y="98655"/>
                  <a:pt x="316580" y="98655"/>
                  <a:pt x="316580" y="112934"/>
                </a:cubicBezTo>
                <a:cubicBezTo>
                  <a:pt x="316580" y="123642"/>
                  <a:pt x="313028" y="130782"/>
                  <a:pt x="309475" y="130782"/>
                </a:cubicBezTo>
                <a:cubicBezTo>
                  <a:pt x="309475" y="130782"/>
                  <a:pt x="309475" y="130782"/>
                  <a:pt x="302370" y="130782"/>
                </a:cubicBezTo>
                <a:cubicBezTo>
                  <a:pt x="302370" y="130782"/>
                  <a:pt x="302370" y="130782"/>
                  <a:pt x="302370" y="112934"/>
                </a:cubicBezTo>
                <a:cubicBezTo>
                  <a:pt x="302370" y="112934"/>
                  <a:pt x="302370" y="112934"/>
                  <a:pt x="224212" y="112934"/>
                </a:cubicBezTo>
                <a:cubicBezTo>
                  <a:pt x="224212" y="112934"/>
                  <a:pt x="224212" y="112934"/>
                  <a:pt x="213554" y="130782"/>
                </a:cubicBezTo>
                <a:cubicBezTo>
                  <a:pt x="213554" y="130782"/>
                  <a:pt x="213554" y="130782"/>
                  <a:pt x="117633" y="130782"/>
                </a:cubicBezTo>
                <a:cubicBezTo>
                  <a:pt x="110528" y="130782"/>
                  <a:pt x="106976" y="134351"/>
                  <a:pt x="106976" y="141491"/>
                </a:cubicBezTo>
                <a:cubicBezTo>
                  <a:pt x="106976" y="141491"/>
                  <a:pt x="106976" y="141491"/>
                  <a:pt x="106976" y="216452"/>
                </a:cubicBezTo>
                <a:cubicBezTo>
                  <a:pt x="106976" y="216452"/>
                  <a:pt x="106976" y="216452"/>
                  <a:pt x="99870" y="216452"/>
                </a:cubicBezTo>
                <a:cubicBezTo>
                  <a:pt x="92765" y="216452"/>
                  <a:pt x="92765" y="209313"/>
                  <a:pt x="92765" y="198604"/>
                </a:cubicBezTo>
                <a:cubicBezTo>
                  <a:pt x="92765" y="198604"/>
                  <a:pt x="92765" y="198604"/>
                  <a:pt x="92765" y="141491"/>
                </a:cubicBezTo>
                <a:cubicBezTo>
                  <a:pt x="92765" y="127212"/>
                  <a:pt x="103423" y="116503"/>
                  <a:pt x="117633" y="116503"/>
                </a:cubicBezTo>
                <a:cubicBezTo>
                  <a:pt x="117633" y="116503"/>
                  <a:pt x="117633" y="116503"/>
                  <a:pt x="206449" y="116503"/>
                </a:cubicBezTo>
                <a:close/>
                <a:moveTo>
                  <a:pt x="185531" y="55954"/>
                </a:moveTo>
                <a:cubicBezTo>
                  <a:pt x="185531" y="55954"/>
                  <a:pt x="185531" y="55954"/>
                  <a:pt x="285658" y="55954"/>
                </a:cubicBezTo>
                <a:cubicBezTo>
                  <a:pt x="285658" y="55954"/>
                  <a:pt x="285658" y="55954"/>
                  <a:pt x="285658" y="70159"/>
                </a:cubicBezTo>
                <a:cubicBezTo>
                  <a:pt x="285658" y="80813"/>
                  <a:pt x="282082" y="87915"/>
                  <a:pt x="278506" y="87915"/>
                </a:cubicBezTo>
                <a:cubicBezTo>
                  <a:pt x="278506" y="87915"/>
                  <a:pt x="278506" y="87915"/>
                  <a:pt x="271354" y="87915"/>
                </a:cubicBezTo>
                <a:cubicBezTo>
                  <a:pt x="271354" y="87915"/>
                  <a:pt x="271354" y="87915"/>
                  <a:pt x="271354" y="70159"/>
                </a:cubicBezTo>
                <a:cubicBezTo>
                  <a:pt x="271354" y="70159"/>
                  <a:pt x="271354" y="70159"/>
                  <a:pt x="196258" y="70159"/>
                </a:cubicBezTo>
                <a:lnTo>
                  <a:pt x="181955" y="87915"/>
                </a:lnTo>
                <a:cubicBezTo>
                  <a:pt x="181955" y="87915"/>
                  <a:pt x="181955" y="87915"/>
                  <a:pt x="85403" y="87915"/>
                </a:cubicBezTo>
                <a:cubicBezTo>
                  <a:pt x="78251" y="87915"/>
                  <a:pt x="74675" y="95018"/>
                  <a:pt x="74675" y="102120"/>
                </a:cubicBezTo>
                <a:cubicBezTo>
                  <a:pt x="74675" y="102120"/>
                  <a:pt x="74675" y="102120"/>
                  <a:pt x="74675" y="176696"/>
                </a:cubicBezTo>
                <a:cubicBezTo>
                  <a:pt x="74675" y="176696"/>
                  <a:pt x="74675" y="176696"/>
                  <a:pt x="67523" y="176696"/>
                </a:cubicBezTo>
                <a:cubicBezTo>
                  <a:pt x="63947" y="176696"/>
                  <a:pt x="60371" y="166043"/>
                  <a:pt x="60371" y="155389"/>
                </a:cubicBezTo>
                <a:cubicBezTo>
                  <a:pt x="60371" y="155389"/>
                  <a:pt x="60371" y="155389"/>
                  <a:pt x="60371" y="102120"/>
                </a:cubicBezTo>
                <a:cubicBezTo>
                  <a:pt x="60371" y="87915"/>
                  <a:pt x="71099" y="73710"/>
                  <a:pt x="85403" y="73710"/>
                </a:cubicBezTo>
                <a:cubicBezTo>
                  <a:pt x="85403" y="73710"/>
                  <a:pt x="85403" y="73710"/>
                  <a:pt x="174803" y="73710"/>
                </a:cubicBezTo>
                <a:cubicBezTo>
                  <a:pt x="174803" y="73710"/>
                  <a:pt x="174803" y="73710"/>
                  <a:pt x="185531" y="55954"/>
                </a:cubicBezTo>
                <a:close/>
                <a:moveTo>
                  <a:pt x="49900" y="35525"/>
                </a:moveTo>
                <a:cubicBezTo>
                  <a:pt x="39207" y="35525"/>
                  <a:pt x="32079" y="42630"/>
                  <a:pt x="32079" y="53287"/>
                </a:cubicBezTo>
                <a:cubicBezTo>
                  <a:pt x="32079" y="53287"/>
                  <a:pt x="32079" y="53287"/>
                  <a:pt x="32079" y="198937"/>
                </a:cubicBezTo>
                <a:cubicBezTo>
                  <a:pt x="32079" y="198937"/>
                  <a:pt x="32079" y="198937"/>
                  <a:pt x="128315" y="287748"/>
                </a:cubicBezTo>
                <a:cubicBezTo>
                  <a:pt x="128315" y="287748"/>
                  <a:pt x="128315" y="287748"/>
                  <a:pt x="128315" y="195385"/>
                </a:cubicBezTo>
                <a:cubicBezTo>
                  <a:pt x="128315" y="174070"/>
                  <a:pt x="142572" y="156308"/>
                  <a:pt x="163958" y="156308"/>
                </a:cubicBezTo>
                <a:cubicBezTo>
                  <a:pt x="163958" y="156308"/>
                  <a:pt x="163958" y="156308"/>
                  <a:pt x="352866" y="156308"/>
                </a:cubicBezTo>
                <a:cubicBezTo>
                  <a:pt x="352866" y="156308"/>
                  <a:pt x="352866" y="156308"/>
                  <a:pt x="352866" y="35525"/>
                </a:cubicBezTo>
                <a:cubicBezTo>
                  <a:pt x="352866" y="35525"/>
                  <a:pt x="352866" y="35525"/>
                  <a:pt x="49900" y="35525"/>
                </a:cubicBezTo>
                <a:close/>
                <a:moveTo>
                  <a:pt x="39207" y="0"/>
                </a:moveTo>
                <a:cubicBezTo>
                  <a:pt x="39207" y="0"/>
                  <a:pt x="39207" y="0"/>
                  <a:pt x="377816" y="0"/>
                </a:cubicBezTo>
                <a:lnTo>
                  <a:pt x="377816" y="156308"/>
                </a:lnTo>
                <a:cubicBezTo>
                  <a:pt x="377816" y="156308"/>
                  <a:pt x="377816" y="156308"/>
                  <a:pt x="449102" y="156308"/>
                </a:cubicBezTo>
                <a:cubicBezTo>
                  <a:pt x="449102" y="156308"/>
                  <a:pt x="449102" y="156308"/>
                  <a:pt x="449102" y="468923"/>
                </a:cubicBezTo>
                <a:cubicBezTo>
                  <a:pt x="449102" y="490238"/>
                  <a:pt x="431281" y="508000"/>
                  <a:pt x="409895" y="508000"/>
                </a:cubicBezTo>
                <a:cubicBezTo>
                  <a:pt x="409895" y="508000"/>
                  <a:pt x="409895" y="508000"/>
                  <a:pt x="128315" y="508000"/>
                </a:cubicBezTo>
                <a:cubicBezTo>
                  <a:pt x="128315" y="508000"/>
                  <a:pt x="128315" y="508000"/>
                  <a:pt x="128315" y="458266"/>
                </a:cubicBezTo>
                <a:cubicBezTo>
                  <a:pt x="128315" y="458266"/>
                  <a:pt x="128315" y="458266"/>
                  <a:pt x="74850" y="401427"/>
                </a:cubicBezTo>
                <a:cubicBezTo>
                  <a:pt x="74850" y="401427"/>
                  <a:pt x="74850" y="401427"/>
                  <a:pt x="0" y="401427"/>
                </a:cubicBezTo>
                <a:cubicBezTo>
                  <a:pt x="0" y="401427"/>
                  <a:pt x="0" y="401427"/>
                  <a:pt x="0" y="39077"/>
                </a:cubicBezTo>
                <a:cubicBezTo>
                  <a:pt x="0" y="17762"/>
                  <a:pt x="17822" y="0"/>
                  <a:pt x="39207" y="0"/>
                </a:cubicBezTo>
                <a:close/>
              </a:path>
            </a:pathLst>
          </a:custGeom>
          <a:solidFill>
            <a:schemeClr val="bg1"/>
          </a:solidFill>
          <a:ln>
            <a:noFill/>
          </a:ln>
          <a:extLst/>
        </p:spPr>
        <p:txBody>
          <a:bodyPr anchor="ctr"/>
          <a:lstStyle/>
          <a:p>
            <a:pPr algn="ctr" fontAlgn="auto">
              <a:spcBef>
                <a:spcPts val="0"/>
              </a:spcBef>
              <a:spcAft>
                <a:spcPts val="0"/>
              </a:spcAft>
              <a:defRPr/>
            </a:pPr>
            <a:endParaRPr dirty="0">
              <a:latin typeface="+mn-lt"/>
              <a:ea typeface="微软雅黑 Light" panose="020B0502040204020203" pitchFamily="34" charset="-122"/>
              <a:cs typeface="+mn-ea"/>
              <a:sym typeface="+mn-lt"/>
            </a:endParaRPr>
          </a:p>
        </p:txBody>
      </p:sp>
      <p:sp>
        <p:nvSpPr>
          <p:cNvPr id="41" name="TextBox 32"/>
          <p:cNvSpPr txBox="1"/>
          <p:nvPr/>
        </p:nvSpPr>
        <p:spPr>
          <a:xfrm>
            <a:off x="6697769" y="4358546"/>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基于大数据对特定</a:t>
            </a:r>
            <a:r>
              <a:rPr lang="zh-CN" altLang="en-US" sz="1400" dirty="0">
                <a:latin typeface="微软雅黑 Light" pitchFamily="34" charset="-122"/>
                <a:ea typeface="微软雅黑 Light" pitchFamily="34" charset="-122"/>
              </a:rPr>
              <a:t>场景</a:t>
            </a:r>
            <a:r>
              <a:rPr lang="zh-CN" altLang="en-US" sz="1400" dirty="0" smtClean="0">
                <a:latin typeface="微软雅黑 Light" pitchFamily="34" charset="-122"/>
                <a:ea typeface="微软雅黑 Light" pitchFamily="34" charset="-122"/>
              </a:rPr>
              <a:t>建模分析</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a:latin typeface="微软雅黑 Light" pitchFamily="34" charset="-122"/>
                <a:ea typeface="微软雅黑 Light" pitchFamily="34" charset="-122"/>
              </a:rPr>
              <a:t>对</a:t>
            </a:r>
            <a:r>
              <a:rPr lang="zh-CN" altLang="en-US" sz="1400" dirty="0" smtClean="0">
                <a:latin typeface="微软雅黑 Light" pitchFamily="34" charset="-122"/>
                <a:ea typeface="微软雅黑 Light" pitchFamily="34" charset="-122"/>
              </a:rPr>
              <a:t>网络进行提前规划</a:t>
            </a:r>
            <a:endParaRPr lang="en-US" altLang="zh-CN" sz="1400" dirty="0">
              <a:latin typeface="微软雅黑 Light" pitchFamily="34" charset="-122"/>
              <a:ea typeface="微软雅黑 Light"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功能规划</a:t>
            </a:r>
            <a:endParaRPr lang="zh-CN" altLang="en-US" dirty="0">
              <a:solidFill>
                <a:srgbClr val="333F50"/>
              </a:solidFill>
            </a:endParaRPr>
          </a:p>
        </p:txBody>
      </p:sp>
    </p:spTree>
    <p:extLst>
      <p:ext uri="{BB962C8B-B14F-4D97-AF65-F5344CB8AC3E}">
        <p14:creationId xmlns:p14="http://schemas.microsoft.com/office/powerpoint/2010/main" val="2468891010"/>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endParaRPr lang="zh-CN" altLang="en-US" dirty="0">
              <a:solidFill>
                <a:srgbClr val="333F50"/>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025"/>
            <a:ext cx="12192000" cy="3581400"/>
          </a:xfrm>
          <a:prstGeom prst="rect">
            <a:avLst/>
          </a:prstGeom>
        </p:spPr>
      </p:pic>
      <p:sp>
        <p:nvSpPr>
          <p:cNvPr id="44" name="矩形 43"/>
          <p:cNvSpPr/>
          <p:nvPr/>
        </p:nvSpPr>
        <p:spPr>
          <a:xfrm>
            <a:off x="6096000" y="1343025"/>
            <a:ext cx="6095999" cy="358139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524000" y="5044508"/>
            <a:ext cx="1866900"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呈现内容</a:t>
            </a:r>
            <a:endParaRPr lang="zh-CN" altLang="en-US" sz="2000" b="1" dirty="0"/>
          </a:p>
        </p:txBody>
      </p:sp>
      <p:sp>
        <p:nvSpPr>
          <p:cNvPr id="46" name="矩形 45"/>
          <p:cNvSpPr/>
          <p:nvPr/>
        </p:nvSpPr>
        <p:spPr>
          <a:xfrm>
            <a:off x="5226848" y="5044508"/>
            <a:ext cx="1866900" cy="381000"/>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评价体系</a:t>
            </a:r>
            <a:endParaRPr lang="zh-CN" altLang="en-US" sz="2000" b="1" dirty="0"/>
          </a:p>
        </p:txBody>
      </p:sp>
      <p:sp>
        <p:nvSpPr>
          <p:cNvPr id="47" name="矩形 46"/>
          <p:cNvSpPr/>
          <p:nvPr/>
        </p:nvSpPr>
        <p:spPr>
          <a:xfrm>
            <a:off x="8929696" y="5044508"/>
            <a:ext cx="1866900" cy="381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呈现方式</a:t>
            </a:r>
            <a:endParaRPr lang="zh-CN" altLang="en-US" sz="2000" b="1" dirty="0"/>
          </a:p>
        </p:txBody>
      </p:sp>
      <p:sp>
        <p:nvSpPr>
          <p:cNvPr id="48" name="矩形 47"/>
          <p:cNvSpPr/>
          <p:nvPr/>
        </p:nvSpPr>
        <p:spPr>
          <a:xfrm>
            <a:off x="624114" y="5657864"/>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包括全网用户统计、业务统计、网络统计、设备统计，能反映出展示珠海网络的整体状态</a:t>
            </a: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a:t>
            </a:r>
          </a:p>
        </p:txBody>
      </p:sp>
      <p:sp>
        <p:nvSpPr>
          <p:cNvPr id="49" name="矩形 48"/>
          <p:cNvSpPr/>
          <p:nvPr/>
        </p:nvSpPr>
        <p:spPr>
          <a:xfrm>
            <a:off x="4510314" y="5657864"/>
            <a:ext cx="3598370" cy="525976"/>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可以从多个方面进行综合评价，如业务健康、设备健康、用户体验性等。</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5" name="矩形 54"/>
          <p:cNvSpPr/>
          <p:nvPr/>
        </p:nvSpPr>
        <p:spPr>
          <a:xfrm>
            <a:off x="8244114" y="5657863"/>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基于</a:t>
            </a:r>
            <a:r>
              <a:rPr lang="en-US" altLang="zh-CN" sz="1200" b="1" dirty="0" smtClean="0">
                <a:solidFill>
                  <a:prstClr val="black">
                    <a:lumMod val="75000"/>
                    <a:lumOff val="25000"/>
                  </a:prstClr>
                </a:solidFill>
                <a:latin typeface="微软雅黑" panose="020B0503020204020204" pitchFamily="34" charset="-122"/>
                <a:ea typeface="微软雅黑" panose="020B0503020204020204" pitchFamily="34" charset="-122"/>
              </a:rPr>
              <a:t>GIS</a:t>
            </a: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拟合指标进行地图上的渲染呈现网络状况，对于其他的统计数据可用图表的方式进行呈现。</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48450" y="2486431"/>
            <a:ext cx="5124450" cy="1294585"/>
          </a:xfrm>
          <a:prstGeom prst="rect">
            <a:avLst/>
          </a:prstGeom>
          <a:noFill/>
        </p:spPr>
        <p:txBody>
          <a:bodyPr wrap="square" rtlCol="0">
            <a:spAutoFit/>
          </a:bodyPr>
          <a:lstStyle/>
          <a:p>
            <a:pPr indent="457200">
              <a:lnSpc>
                <a:spcPct val="150000"/>
              </a:lnSpc>
            </a:pPr>
            <a:r>
              <a:rPr lang="zh-CN" altLang="en-US" dirty="0" smtClean="0">
                <a:solidFill>
                  <a:schemeClr val="bg1"/>
                </a:solidFill>
              </a:rPr>
              <a:t>由于网络规模大、业务系统复杂、设备种类繁多，因此对于全网情况有一个直观真实的呈现能让我们整体掌控网络的运行质量</a:t>
            </a:r>
            <a:endParaRPr lang="zh-CN" altLang="en-US" dirty="0">
              <a:solidFill>
                <a:schemeClr val="bg1"/>
              </a:solidFill>
            </a:endParaRPr>
          </a:p>
        </p:txBody>
      </p:sp>
    </p:spTree>
    <p:extLst>
      <p:ext uri="{BB962C8B-B14F-4D97-AF65-F5344CB8AC3E}">
        <p14:creationId xmlns:p14="http://schemas.microsoft.com/office/powerpoint/2010/main" val="1079075039"/>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r>
              <a:rPr lang="en-US" altLang="zh-CN" dirty="0" smtClean="0">
                <a:solidFill>
                  <a:srgbClr val="333F50"/>
                </a:solidFill>
              </a:rPr>
              <a:t>demo</a:t>
            </a:r>
            <a:endParaRPr lang="zh-CN" altLang="en-US" dirty="0">
              <a:solidFill>
                <a:srgbClr val="333F50"/>
              </a:solidFill>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3909"/>
            <a:ext cx="12192000" cy="5080000"/>
          </a:xfrm>
          <a:prstGeom prst="rect">
            <a:avLst/>
          </a:prstGeom>
        </p:spPr>
      </p:pic>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 y="1358264"/>
            <a:ext cx="12025745" cy="5010727"/>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27" y="1508355"/>
            <a:ext cx="12192000" cy="5080000"/>
          </a:xfrm>
          <a:prstGeom prst="rect">
            <a:avLst/>
          </a:prstGeom>
        </p:spPr>
      </p:pic>
      <p:pic>
        <p:nvPicPr>
          <p:cNvPr id="16" name="图片 15"/>
          <p:cNvPicPr>
            <a:picLocks noChangeAspect="1"/>
          </p:cNvPicPr>
          <p:nvPr/>
        </p:nvPicPr>
        <p:blipFill>
          <a:blip r:embed="rId5"/>
          <a:stretch>
            <a:fillRect/>
          </a:stretch>
        </p:blipFill>
        <p:spPr>
          <a:xfrm>
            <a:off x="688667" y="1188870"/>
            <a:ext cx="11247619" cy="4695238"/>
          </a:xfrm>
          <a:prstGeom prst="rect">
            <a:avLst/>
          </a:prstGeom>
        </p:spPr>
      </p:pic>
      <p:pic>
        <p:nvPicPr>
          <p:cNvPr id="17" name="图片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254" y="1148428"/>
            <a:ext cx="12192000" cy="5080000"/>
          </a:xfrm>
          <a:prstGeom prst="rect">
            <a:avLst/>
          </a:prstGeom>
        </p:spPr>
      </p:pic>
    </p:spTree>
    <p:extLst>
      <p:ext uri="{BB962C8B-B14F-4D97-AF65-F5344CB8AC3E}">
        <p14:creationId xmlns:p14="http://schemas.microsoft.com/office/powerpoint/2010/main" val="13330850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391400" y="1474511"/>
            <a:ext cx="3733799" cy="404998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15531" t="8250" r="3787" b="9090"/>
          <a:stretch/>
        </p:blipFill>
        <p:spPr>
          <a:xfrm>
            <a:off x="632655" y="1819275"/>
            <a:ext cx="6231096" cy="3590925"/>
          </a:xfrm>
          <a:prstGeom prst="rect">
            <a:avLst/>
          </a:prstGeom>
        </p:spPr>
      </p:pic>
      <p:sp>
        <p:nvSpPr>
          <p:cNvPr id="4" name="文本框 3"/>
          <p:cNvSpPr txBox="1"/>
          <p:nvPr/>
        </p:nvSpPr>
        <p:spPr>
          <a:xfrm>
            <a:off x="7524749" y="1828800"/>
            <a:ext cx="3600450" cy="3000821"/>
          </a:xfrm>
          <a:prstGeom prst="rect">
            <a:avLst/>
          </a:prstGeom>
          <a:noFill/>
        </p:spPr>
        <p:txBody>
          <a:bodyPr wrap="square" rtlCol="0">
            <a:spAutoFit/>
          </a:bodyPr>
          <a:lstStyle/>
          <a:p>
            <a:pPr indent="457200">
              <a:lnSpc>
                <a:spcPct val="150000"/>
              </a:lnSpc>
            </a:pPr>
            <a:r>
              <a:rPr lang="zh-CN" altLang="en-US" dirty="0">
                <a:solidFill>
                  <a:schemeClr val="bg1"/>
                </a:solidFill>
              </a:rPr>
              <a:t>采用先进的拓扑算法</a:t>
            </a:r>
            <a:r>
              <a:rPr lang="zh-CN" altLang="en-US" dirty="0" smtClean="0">
                <a:solidFill>
                  <a:schemeClr val="bg1"/>
                </a:solidFill>
              </a:rPr>
              <a:t>、搜索</a:t>
            </a:r>
            <a:r>
              <a:rPr lang="zh-CN" altLang="en-US" dirty="0">
                <a:solidFill>
                  <a:schemeClr val="bg1"/>
                </a:solidFill>
              </a:rPr>
              <a:t>整个网络内的所有网络资源</a:t>
            </a:r>
            <a:r>
              <a:rPr lang="zh-CN" altLang="en-US" dirty="0" smtClean="0">
                <a:solidFill>
                  <a:schemeClr val="bg1"/>
                </a:solidFill>
              </a:rPr>
              <a:t>并勾画出全市的设备拓扑</a:t>
            </a:r>
            <a:r>
              <a:rPr lang="zh-CN" altLang="en-US" dirty="0">
                <a:solidFill>
                  <a:schemeClr val="bg1"/>
                </a:solidFill>
              </a:rPr>
              <a:t>图，包括设备间的冗余连接、备份连接、均衡负载连接，</a:t>
            </a:r>
            <a:r>
              <a:rPr lang="zh-CN" altLang="en-US" dirty="0" smtClean="0">
                <a:solidFill>
                  <a:schemeClr val="bg1"/>
                </a:solidFill>
              </a:rPr>
              <a:t>同时辨别</a:t>
            </a:r>
            <a:r>
              <a:rPr lang="zh-CN" altLang="en-US" dirty="0">
                <a:solidFill>
                  <a:schemeClr val="bg1"/>
                </a:solidFill>
              </a:rPr>
              <a:t>链路的连接</a:t>
            </a:r>
            <a:r>
              <a:rPr lang="zh-CN" altLang="en-US" dirty="0" smtClean="0">
                <a:solidFill>
                  <a:schemeClr val="bg1"/>
                </a:solidFill>
              </a:rPr>
              <a:t>类型、业务类型以及设备工作情况。</a:t>
            </a:r>
            <a:endParaRPr lang="zh-CN" altLang="en-US" dirty="0">
              <a:solidFill>
                <a:schemeClr val="bg1"/>
              </a:solidFill>
            </a:endParaRPr>
          </a:p>
        </p:txBody>
      </p:sp>
      <p:sp>
        <p:nvSpPr>
          <p:cNvPr id="7" name="矩形 6"/>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3142599"/>
      </p:ext>
    </p:extLst>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sp>
        <p:nvSpPr>
          <p:cNvPr id="5" name="文本框 4"/>
          <p:cNvSpPr txBox="1"/>
          <p:nvPr/>
        </p:nvSpPr>
        <p:spPr>
          <a:xfrm>
            <a:off x="1714500" y="2028825"/>
            <a:ext cx="8115300" cy="2585323"/>
          </a:xfrm>
          <a:prstGeom prst="rect">
            <a:avLst/>
          </a:prstGeom>
          <a:noFill/>
        </p:spPr>
        <p:txBody>
          <a:bodyPr wrap="square" rtlCol="0">
            <a:spAutoFit/>
          </a:bodyPr>
          <a:lstStyle/>
          <a:p>
            <a:pPr indent="457200">
              <a:lnSpc>
                <a:spcPct val="150000"/>
              </a:lnSpc>
            </a:pPr>
            <a:r>
              <a:rPr lang="zh-CN" altLang="en-US" dirty="0" smtClean="0"/>
              <a:t>除了拓扑结构的呈现，设备管理还包括：</a:t>
            </a:r>
            <a:endParaRPr lang="en-US" altLang="zh-CN" dirty="0" smtClean="0"/>
          </a:p>
          <a:p>
            <a:pPr marL="285750" indent="457200">
              <a:lnSpc>
                <a:spcPct val="150000"/>
              </a:lnSpc>
              <a:buFont typeface="Arial" panose="020B0604020202020204" pitchFamily="34" charset="0"/>
              <a:buChar char="•"/>
            </a:pPr>
            <a:r>
              <a:rPr lang="zh-CN" altLang="en-US" dirty="0" smtClean="0"/>
              <a:t>设备运行状态的监控：端口流量、链路利用率、</a:t>
            </a:r>
            <a:r>
              <a:rPr lang="en-US" altLang="zh-CN" dirty="0" smtClean="0"/>
              <a:t>CPU</a:t>
            </a:r>
            <a:r>
              <a:rPr lang="zh-CN" altLang="en-US" dirty="0" smtClean="0"/>
              <a:t>、内存使用情况、设备基础信息等</a:t>
            </a:r>
            <a:endParaRPr lang="en-US" altLang="zh-CN" dirty="0" smtClean="0"/>
          </a:p>
          <a:p>
            <a:pPr marL="285750" indent="457200">
              <a:lnSpc>
                <a:spcPct val="150000"/>
              </a:lnSpc>
              <a:buFont typeface="Arial" panose="020B0604020202020204" pitchFamily="34" charset="0"/>
              <a:buChar char="•"/>
            </a:pPr>
            <a:r>
              <a:rPr lang="zh-CN" altLang="en-US" dirty="0" smtClean="0"/>
              <a:t>智能维护如配置自动备份、健康检查容量</a:t>
            </a:r>
            <a:r>
              <a:rPr lang="zh-CN" altLang="en-US" dirty="0"/>
              <a:t>管</a:t>
            </a:r>
            <a:r>
              <a:rPr lang="zh-CN" altLang="en-US" dirty="0" smtClean="0"/>
              <a:t>控、用户签约数据核对等功能</a:t>
            </a:r>
            <a:endParaRPr lang="en-US" altLang="zh-CN" dirty="0" smtClean="0"/>
          </a:p>
          <a:p>
            <a:pPr marL="285750" indent="457200">
              <a:lnSpc>
                <a:spcPct val="150000"/>
              </a:lnSpc>
              <a:buFont typeface="Arial" panose="020B0604020202020204" pitchFamily="34" charset="0"/>
              <a:buChar char="•"/>
            </a:pPr>
            <a:r>
              <a:rPr lang="zh-CN" altLang="en-US" dirty="0" smtClean="0"/>
              <a:t>设备相关报表生成与导出（资源报表、性能报表、自定义报表）</a:t>
            </a:r>
            <a:endParaRPr lang="zh-CN" altLang="en-US" dirty="0"/>
          </a:p>
        </p:txBody>
      </p:sp>
    </p:spTree>
    <p:extLst>
      <p:ext uri="{BB962C8B-B14F-4D97-AF65-F5344CB8AC3E}">
        <p14:creationId xmlns:p14="http://schemas.microsoft.com/office/powerpoint/2010/main" val="1261304282"/>
      </p:ext>
    </p:extLst>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3. </a:t>
            </a:r>
            <a:r>
              <a:rPr lang="zh-CN" altLang="en-US" dirty="0" smtClean="0">
                <a:solidFill>
                  <a:srgbClr val="333F50"/>
                </a:solidFill>
              </a:rPr>
              <a:t>故障诊断</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建设平台后故障诊断功能包含：</a:t>
            </a:r>
            <a:endParaRPr lang="en-US" altLang="zh-CN" dirty="0" smtClean="0"/>
          </a:p>
          <a:p>
            <a:pPr marL="285750" indent="-285750">
              <a:lnSpc>
                <a:spcPct val="150000"/>
              </a:lnSpc>
              <a:buFont typeface="Arial" panose="020B0604020202020204" pitchFamily="34" charset="0"/>
              <a:buChar char="•"/>
            </a:pPr>
            <a:r>
              <a:rPr lang="zh-CN" altLang="en-US" dirty="0" smtClean="0"/>
              <a:t>对于投诉收到的被动故障通知，通过系统自动通知专业人员进行处理</a:t>
            </a:r>
            <a:endParaRPr lang="en-US" altLang="zh-CN" dirty="0" smtClean="0"/>
          </a:p>
          <a:p>
            <a:pPr marL="285750" indent="-285750">
              <a:lnSpc>
                <a:spcPct val="150000"/>
              </a:lnSpc>
              <a:buFont typeface="Arial" panose="020B0604020202020204" pitchFamily="34" charset="0"/>
              <a:buChar char="•"/>
            </a:pPr>
            <a:r>
              <a:rPr lang="zh-CN" altLang="en-US" dirty="0" smtClean="0"/>
              <a:t>运用大数据、机器学习等方法主动对网络状态进行分析预测，提前发出故障告警</a:t>
            </a:r>
            <a:endParaRPr lang="en-US" altLang="zh-CN" dirty="0" smtClean="0"/>
          </a:p>
          <a:p>
            <a:pPr marL="285750" indent="-285750">
              <a:lnSpc>
                <a:spcPct val="150000"/>
              </a:lnSpc>
              <a:buFont typeface="Arial" panose="020B0604020202020204" pitchFamily="34" charset="0"/>
              <a:buChar char="•"/>
            </a:pPr>
            <a:r>
              <a:rPr lang="zh-CN" altLang="en-US" dirty="0" smtClean="0"/>
              <a:t>网管工具平台集成化</a:t>
            </a:r>
            <a:endParaRPr lang="en-US" altLang="zh-CN" dirty="0" smtClean="0"/>
          </a:p>
          <a:p>
            <a:pPr marL="285750" indent="-285750">
              <a:lnSpc>
                <a:spcPct val="150000"/>
              </a:lnSpc>
              <a:buFont typeface="Arial" panose="020B0604020202020204" pitchFamily="34" charset="0"/>
              <a:buChar char="•"/>
            </a:pPr>
            <a:r>
              <a:rPr lang="zh-CN" altLang="en-US" dirty="0" smtClean="0"/>
              <a:t>不同专业人员直接通过系统进行交流</a:t>
            </a:r>
            <a:endParaRPr lang="en-US" altLang="zh-CN" dirty="0" smtClean="0"/>
          </a:p>
          <a:p>
            <a:pPr marL="285750" indent="-285750">
              <a:lnSpc>
                <a:spcPct val="150000"/>
              </a:lnSpc>
              <a:buFont typeface="Arial" panose="020B0604020202020204" pitchFamily="34" charset="0"/>
              <a:buChar char="•"/>
            </a:pPr>
            <a:r>
              <a:rPr lang="zh-CN" altLang="en-US" dirty="0" smtClean="0"/>
              <a:t>建立故障处理经验库</a:t>
            </a:r>
            <a:endParaRPr lang="zh-CN" altLang="en-US" dirty="0"/>
          </a:p>
        </p:txBody>
      </p:sp>
    </p:spTree>
    <p:extLst>
      <p:ext uri="{BB962C8B-B14F-4D97-AF65-F5344CB8AC3E}">
        <p14:creationId xmlns:p14="http://schemas.microsoft.com/office/powerpoint/2010/main" val="2735161756"/>
      </p:ext>
    </p:extLst>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grpSp>
        <p:nvGrpSpPr>
          <p:cNvPr id="5" name="组合 4"/>
          <p:cNvGrpSpPr/>
          <p:nvPr/>
        </p:nvGrpSpPr>
        <p:grpSpPr>
          <a:xfrm>
            <a:off x="632655" y="1108760"/>
            <a:ext cx="10627360" cy="4822190"/>
            <a:chOff x="678" y="2099"/>
            <a:chExt cx="18070" cy="8039"/>
          </a:xfrm>
        </p:grpSpPr>
        <p:grpSp>
          <p:nvGrpSpPr>
            <p:cNvPr id="6" name="组合 5"/>
            <p:cNvGrpSpPr/>
            <p:nvPr/>
          </p:nvGrpSpPr>
          <p:grpSpPr>
            <a:xfrm>
              <a:off x="7917" y="2099"/>
              <a:ext cx="1824" cy="2031"/>
              <a:chOff x="9581" y="668"/>
              <a:chExt cx="2765" cy="3012"/>
            </a:xfrm>
          </p:grpSpPr>
          <p:cxnSp>
            <p:nvCxnSpPr>
              <p:cNvPr id="93" name="直接连接符 92"/>
              <p:cNvCxnSpPr/>
              <p:nvPr>
                <p:custDataLst>
                  <p:tags r:id="rId72"/>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4" name="空心弧 93"/>
              <p:cNvSpPr/>
              <p:nvPr>
                <p:custDataLst>
                  <p:tags r:id="rId7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5" name="椭圆 94"/>
              <p:cNvSpPr/>
              <p:nvPr>
                <p:custDataLst>
                  <p:tags r:id="rId7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6" name="文本框 95"/>
              <p:cNvSpPr txBox="1"/>
              <p:nvPr>
                <p:custDataLst>
                  <p:tags r:id="rId75"/>
                </p:custDataLst>
              </p:nvPr>
            </p:nvSpPr>
            <p:spPr>
              <a:xfrm>
                <a:off x="10095" y="1535"/>
                <a:ext cx="1722" cy="959"/>
              </a:xfrm>
              <a:prstGeom prst="rect">
                <a:avLst/>
              </a:prstGeom>
              <a:noFill/>
            </p:spPr>
            <p:txBody>
              <a:bodyPr wrap="square" rtlCol="0" anchor="ctr" anchorCtr="0">
                <a:normAutofit/>
              </a:bodyPr>
              <a:lstStyle/>
              <a:p>
                <a:pPr algn="ctr"/>
                <a:r>
                  <a:rPr lang="zh-CN" altLang="en-US" dirty="0"/>
                  <a:t>业务</a:t>
                </a:r>
              </a:p>
            </p:txBody>
          </p:sp>
        </p:grpSp>
        <p:grpSp>
          <p:nvGrpSpPr>
            <p:cNvPr id="7" name="组合 6"/>
            <p:cNvGrpSpPr/>
            <p:nvPr/>
          </p:nvGrpSpPr>
          <p:grpSpPr>
            <a:xfrm>
              <a:off x="678" y="4128"/>
              <a:ext cx="18070" cy="6011"/>
              <a:chOff x="693" y="2253"/>
              <a:chExt cx="18070" cy="6011"/>
            </a:xfrm>
          </p:grpSpPr>
          <p:sp>
            <p:nvSpPr>
              <p:cNvPr id="8" name="半闭框 7"/>
              <p:cNvSpPr/>
              <p:nvPr>
                <p:custDataLst>
                  <p:tags r:id="rId1"/>
                </p:custDataLst>
              </p:nvPr>
            </p:nvSpPr>
            <p:spPr>
              <a:xfrm flipH="1">
                <a:off x="14036"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 name="半闭框 8"/>
              <p:cNvSpPr/>
              <p:nvPr>
                <p:custDataLst>
                  <p:tags r:id="rId2"/>
                </p:custDataLst>
              </p:nvPr>
            </p:nvSpPr>
            <p:spPr>
              <a:xfrm>
                <a:off x="10754" y="4398"/>
                <a:ext cx="3263"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0" name="半闭框 9"/>
              <p:cNvSpPr/>
              <p:nvPr>
                <p:custDataLst>
                  <p:tags r:id="rId3"/>
                </p:custDataLst>
              </p:nvPr>
            </p:nvSpPr>
            <p:spPr>
              <a:xfrm>
                <a:off x="2824" y="4398"/>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2" name="半闭框 11"/>
              <p:cNvSpPr/>
              <p:nvPr>
                <p:custDataLst>
                  <p:tags r:id="rId4"/>
                </p:custDataLst>
              </p:nvPr>
            </p:nvSpPr>
            <p:spPr>
              <a:xfrm flipH="1">
                <a:off x="3619"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3" name="半闭框 12"/>
              <p:cNvSpPr/>
              <p:nvPr>
                <p:custDataLst>
                  <p:tags r:id="rId5"/>
                </p:custDataLst>
              </p:nvPr>
            </p:nvSpPr>
            <p:spPr>
              <a:xfrm>
                <a:off x="4494" y="2253"/>
                <a:ext cx="51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4" name="半闭框 13"/>
              <p:cNvSpPr/>
              <p:nvPr>
                <p:custDataLst>
                  <p:tags r:id="rId6"/>
                </p:custDataLst>
              </p:nvPr>
            </p:nvSpPr>
            <p:spPr>
              <a:xfrm flipH="1">
                <a:off x="9601" y="2253"/>
                <a:ext cx="40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15" name="组合 14"/>
              <p:cNvGrpSpPr/>
              <p:nvPr/>
            </p:nvGrpSpPr>
            <p:grpSpPr>
              <a:xfrm>
                <a:off x="3586" y="2387"/>
                <a:ext cx="1824" cy="2031"/>
                <a:chOff x="9581" y="668"/>
                <a:chExt cx="2765" cy="3012"/>
              </a:xfrm>
            </p:grpSpPr>
            <p:cxnSp>
              <p:nvCxnSpPr>
                <p:cNvPr id="89" name="直接连接符 88"/>
                <p:cNvCxnSpPr/>
                <p:nvPr>
                  <p:custDataLst>
                    <p:tags r:id="rId68"/>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0" name="空心弧 89"/>
                <p:cNvSpPr/>
                <p:nvPr>
                  <p:custDataLst>
                    <p:tags r:id="rId69"/>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1" name="椭圆 90"/>
                <p:cNvSpPr/>
                <p:nvPr>
                  <p:custDataLst>
                    <p:tags r:id="rId70"/>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2" name="文本框 91"/>
                <p:cNvSpPr txBox="1"/>
                <p:nvPr>
                  <p:custDataLst>
                    <p:tags r:id="rId71"/>
                  </p:custDataLst>
                </p:nvPr>
              </p:nvSpPr>
              <p:spPr>
                <a:xfrm>
                  <a:off x="10102" y="1161"/>
                  <a:ext cx="1722" cy="1708"/>
                </a:xfrm>
                <a:prstGeom prst="rect">
                  <a:avLst/>
                </a:prstGeom>
                <a:noFill/>
              </p:spPr>
              <p:txBody>
                <a:bodyPr wrap="square" rtlCol="0" anchor="ctr" anchorCtr="0">
                  <a:normAutofit/>
                </a:bodyPr>
                <a:lstStyle/>
                <a:p>
                  <a:pPr algn="ctr"/>
                  <a:r>
                    <a:rPr lang="zh-CN" altLang="en-US" dirty="0"/>
                    <a:t>语音</a:t>
                  </a:r>
                </a:p>
                <a:p>
                  <a:pPr algn="ctr"/>
                  <a:r>
                    <a:rPr lang="zh-CN" altLang="en-US" dirty="0"/>
                    <a:t>业务</a:t>
                  </a:r>
                </a:p>
              </p:txBody>
            </p:sp>
          </p:grpSp>
          <p:grpSp>
            <p:nvGrpSpPr>
              <p:cNvPr id="16" name="组合 15"/>
              <p:cNvGrpSpPr/>
              <p:nvPr/>
            </p:nvGrpSpPr>
            <p:grpSpPr>
              <a:xfrm>
                <a:off x="12736" y="2387"/>
                <a:ext cx="1824" cy="2031"/>
                <a:chOff x="9581" y="668"/>
                <a:chExt cx="2765" cy="3012"/>
              </a:xfrm>
            </p:grpSpPr>
            <p:cxnSp>
              <p:nvCxnSpPr>
                <p:cNvPr id="85" name="直接连接符 84"/>
                <p:cNvCxnSpPr/>
                <p:nvPr>
                  <p:custDataLst>
                    <p:tags r:id="rId64"/>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6" name="空心弧 85"/>
                <p:cNvSpPr/>
                <p:nvPr>
                  <p:custDataLst>
                    <p:tags r:id="rId65"/>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7" name="椭圆 86"/>
                <p:cNvSpPr/>
                <p:nvPr>
                  <p:custDataLst>
                    <p:tags r:id="rId66"/>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8" name="文本框 87"/>
                <p:cNvSpPr txBox="1"/>
                <p:nvPr>
                  <p:custDataLst>
                    <p:tags r:id="rId67"/>
                  </p:custDataLst>
                </p:nvPr>
              </p:nvSpPr>
              <p:spPr>
                <a:xfrm>
                  <a:off x="10102" y="1161"/>
                  <a:ext cx="1722" cy="1708"/>
                </a:xfrm>
                <a:prstGeom prst="rect">
                  <a:avLst/>
                </a:prstGeom>
                <a:noFill/>
              </p:spPr>
              <p:txBody>
                <a:bodyPr wrap="square" rtlCol="0" anchor="ctr" anchorCtr="0">
                  <a:normAutofit/>
                </a:bodyPr>
                <a:lstStyle/>
                <a:p>
                  <a:pPr algn="ctr"/>
                  <a:r>
                    <a:rPr lang="zh-CN" altLang="en-US" dirty="0"/>
                    <a:t>数据</a:t>
                  </a:r>
                </a:p>
                <a:p>
                  <a:pPr algn="ctr"/>
                  <a:r>
                    <a:rPr lang="zh-CN" altLang="en-US" dirty="0"/>
                    <a:t>业务</a:t>
                  </a:r>
                </a:p>
              </p:txBody>
            </p:sp>
          </p:grpSp>
          <p:grpSp>
            <p:nvGrpSpPr>
              <p:cNvPr id="17" name="组合 16"/>
              <p:cNvGrpSpPr/>
              <p:nvPr/>
            </p:nvGrpSpPr>
            <p:grpSpPr>
              <a:xfrm>
                <a:off x="1929" y="4516"/>
                <a:ext cx="1824" cy="2465"/>
                <a:chOff x="9581" y="668"/>
                <a:chExt cx="2765" cy="3656"/>
              </a:xfrm>
            </p:grpSpPr>
            <p:cxnSp>
              <p:nvCxnSpPr>
                <p:cNvPr id="81" name="直接连接符 80"/>
                <p:cNvCxnSpPr>
                  <a:endCxn id="72" idx="0"/>
                </p:cNvCxnSpPr>
                <p:nvPr>
                  <p:custDataLst>
                    <p:tags r:id="rId60"/>
                  </p:custDataLst>
                </p:nvPr>
              </p:nvCxnSpPr>
              <p:spPr>
                <a:xfrm>
                  <a:off x="10956" y="3243"/>
                  <a:ext cx="9" cy="108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2" name="空心弧 81"/>
                <p:cNvSpPr/>
                <p:nvPr>
                  <p:custDataLst>
                    <p:tags r:id="rId61"/>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3" name="椭圆 82"/>
                <p:cNvSpPr/>
                <p:nvPr>
                  <p:custDataLst>
                    <p:tags r:id="rId62"/>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4" name="文本框 83"/>
                <p:cNvSpPr txBox="1"/>
                <p:nvPr>
                  <p:custDataLst>
                    <p:tags r:id="rId63"/>
                  </p:custDataLst>
                </p:nvPr>
              </p:nvSpPr>
              <p:spPr>
                <a:xfrm>
                  <a:off x="10102" y="1161"/>
                  <a:ext cx="1722" cy="1708"/>
                </a:xfrm>
                <a:prstGeom prst="rect">
                  <a:avLst/>
                </a:prstGeom>
                <a:noFill/>
              </p:spPr>
              <p:txBody>
                <a:bodyPr wrap="square" rtlCol="0" anchor="ctr" anchorCtr="0">
                  <a:normAutofit/>
                </a:bodyPr>
                <a:lstStyle/>
                <a:p>
                  <a:pPr algn="ctr"/>
                  <a:r>
                    <a:rPr lang="zh-CN" altLang="en-US" dirty="0"/>
                    <a:t>无线语音</a:t>
                  </a:r>
                </a:p>
              </p:txBody>
            </p:sp>
          </p:grpSp>
          <p:grpSp>
            <p:nvGrpSpPr>
              <p:cNvPr id="18" name="组合 17"/>
              <p:cNvGrpSpPr/>
              <p:nvPr/>
            </p:nvGrpSpPr>
            <p:grpSpPr>
              <a:xfrm>
                <a:off x="5324" y="4516"/>
                <a:ext cx="1824" cy="2405"/>
                <a:chOff x="9581" y="668"/>
                <a:chExt cx="2765" cy="3567"/>
              </a:xfrm>
            </p:grpSpPr>
            <p:cxnSp>
              <p:nvCxnSpPr>
                <p:cNvPr id="77" name="直接连接符 76"/>
                <p:cNvCxnSpPr>
                  <a:endCxn id="66" idx="0"/>
                </p:cNvCxnSpPr>
                <p:nvPr>
                  <p:custDataLst>
                    <p:tags r:id="rId56"/>
                  </p:custDataLst>
                </p:nvPr>
              </p:nvCxnSpPr>
              <p:spPr>
                <a:xfrm>
                  <a:off x="10956" y="3243"/>
                  <a:ext cx="20" cy="992"/>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78" name="空心弧 77"/>
                <p:cNvSpPr/>
                <p:nvPr>
                  <p:custDataLst>
                    <p:tags r:id="rId5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9" name="椭圆 78"/>
                <p:cNvSpPr/>
                <p:nvPr>
                  <p:custDataLst>
                    <p:tags r:id="rId5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0" name="文本框 79"/>
                <p:cNvSpPr txBox="1"/>
                <p:nvPr>
                  <p:custDataLst>
                    <p:tags r:id="rId59"/>
                  </p:custDataLst>
                </p:nvPr>
              </p:nvSpPr>
              <p:spPr>
                <a:xfrm>
                  <a:off x="10102" y="1161"/>
                  <a:ext cx="1722" cy="1708"/>
                </a:xfrm>
                <a:prstGeom prst="rect">
                  <a:avLst/>
                </a:prstGeom>
                <a:noFill/>
              </p:spPr>
              <p:txBody>
                <a:bodyPr wrap="square" rtlCol="0" anchor="ctr" anchorCtr="0">
                  <a:normAutofit/>
                </a:bodyPr>
                <a:lstStyle/>
                <a:p>
                  <a:pPr algn="ctr"/>
                  <a:r>
                    <a:rPr lang="zh-CN" altLang="en-US" dirty="0"/>
                    <a:t>有线语音</a:t>
                  </a:r>
                </a:p>
              </p:txBody>
            </p:sp>
          </p:grpSp>
          <p:grpSp>
            <p:nvGrpSpPr>
              <p:cNvPr id="19" name="组合 18"/>
              <p:cNvGrpSpPr/>
              <p:nvPr/>
            </p:nvGrpSpPr>
            <p:grpSpPr>
              <a:xfrm>
                <a:off x="693" y="6798"/>
                <a:ext cx="4290" cy="1327"/>
                <a:chOff x="693" y="6798"/>
                <a:chExt cx="4290" cy="1327"/>
              </a:xfrm>
            </p:grpSpPr>
            <p:sp>
              <p:nvSpPr>
                <p:cNvPr id="68" name="空心弧 67"/>
                <p:cNvSpPr/>
                <p:nvPr>
                  <p:custDataLst>
                    <p:tags r:id="rId47"/>
                  </p:custDataLst>
                </p:nvPr>
              </p:nvSpPr>
              <p:spPr>
                <a:xfrm>
                  <a:off x="69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9" name="椭圆 68"/>
                <p:cNvSpPr/>
                <p:nvPr>
                  <p:custDataLst>
                    <p:tags r:id="rId48"/>
                  </p:custDataLst>
                </p:nvPr>
              </p:nvSpPr>
              <p:spPr>
                <a:xfrm>
                  <a:off x="88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0" name="文本框 69"/>
                <p:cNvSpPr txBox="1"/>
                <p:nvPr>
                  <p:custDataLst>
                    <p:tags r:id="rId49"/>
                  </p:custDataLst>
                </p:nvPr>
              </p:nvSpPr>
              <p:spPr>
                <a:xfrm>
                  <a:off x="943" y="7042"/>
                  <a:ext cx="825" cy="842"/>
                </a:xfrm>
                <a:prstGeom prst="rect">
                  <a:avLst/>
                </a:prstGeom>
                <a:noFill/>
              </p:spPr>
              <p:txBody>
                <a:bodyPr wrap="square" rtlCol="0" anchor="ctr" anchorCtr="0">
                  <a:normAutofit/>
                </a:bodyPr>
                <a:lstStyle/>
                <a:p>
                  <a:pPr algn="ctr"/>
                  <a:r>
                    <a:rPr lang="en-US" altLang="zh-CN" dirty="0"/>
                    <a:t>2G</a:t>
                  </a:r>
                </a:p>
              </p:txBody>
            </p:sp>
            <p:sp>
              <p:nvSpPr>
                <p:cNvPr id="71" name="空心弧 70"/>
                <p:cNvSpPr/>
                <p:nvPr>
                  <p:custDataLst>
                    <p:tags r:id="rId50"/>
                  </p:custDataLst>
                </p:nvPr>
              </p:nvSpPr>
              <p:spPr>
                <a:xfrm>
                  <a:off x="2179"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2" name="椭圆 71"/>
                <p:cNvSpPr/>
                <p:nvPr>
                  <p:custDataLst>
                    <p:tags r:id="rId51"/>
                  </p:custDataLst>
                </p:nvPr>
              </p:nvSpPr>
              <p:spPr>
                <a:xfrm>
                  <a:off x="2373"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3" name="文本框 72"/>
                <p:cNvSpPr txBox="1"/>
                <p:nvPr>
                  <p:custDataLst>
                    <p:tags r:id="rId52"/>
                  </p:custDataLst>
                </p:nvPr>
              </p:nvSpPr>
              <p:spPr>
                <a:xfrm>
                  <a:off x="2429" y="7042"/>
                  <a:ext cx="825" cy="842"/>
                </a:xfrm>
                <a:prstGeom prst="rect">
                  <a:avLst/>
                </a:prstGeom>
                <a:noFill/>
              </p:spPr>
              <p:txBody>
                <a:bodyPr wrap="square" rtlCol="0" anchor="ctr" anchorCtr="0">
                  <a:normAutofit/>
                </a:bodyPr>
                <a:lstStyle/>
                <a:p>
                  <a:pPr algn="ctr"/>
                  <a:r>
                    <a:rPr lang="en-US" altLang="zh-CN" dirty="0"/>
                    <a:t>3G</a:t>
                  </a:r>
                </a:p>
              </p:txBody>
            </p:sp>
            <p:sp>
              <p:nvSpPr>
                <p:cNvPr id="74" name="空心弧 73"/>
                <p:cNvSpPr/>
                <p:nvPr>
                  <p:custDataLst>
                    <p:tags r:id="rId53"/>
                  </p:custDataLst>
                </p:nvPr>
              </p:nvSpPr>
              <p:spPr>
                <a:xfrm>
                  <a:off x="3659" y="6798"/>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5" name="椭圆 74"/>
                <p:cNvSpPr/>
                <p:nvPr>
                  <p:custDataLst>
                    <p:tags r:id="rId54"/>
                  </p:custDataLst>
                </p:nvPr>
              </p:nvSpPr>
              <p:spPr>
                <a:xfrm>
                  <a:off x="3853" y="6980"/>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6" name="文本框 75"/>
                <p:cNvSpPr txBox="1"/>
                <p:nvPr>
                  <p:custDataLst>
                    <p:tags r:id="rId55"/>
                  </p:custDataLst>
                </p:nvPr>
              </p:nvSpPr>
              <p:spPr>
                <a:xfrm>
                  <a:off x="3782" y="7041"/>
                  <a:ext cx="1066" cy="842"/>
                </a:xfrm>
                <a:prstGeom prst="rect">
                  <a:avLst/>
                </a:prstGeom>
                <a:noFill/>
              </p:spPr>
              <p:txBody>
                <a:bodyPr wrap="square" rtlCol="0" anchor="ctr" anchorCtr="0">
                  <a:normAutofit fontScale="90000" lnSpcReduction="20000"/>
                </a:bodyPr>
                <a:lstStyle/>
                <a:p>
                  <a:pPr algn="ctr"/>
                  <a:r>
                    <a:rPr lang="en-US" altLang="zh-CN" dirty="0"/>
                    <a:t>VoLTE</a:t>
                  </a:r>
                </a:p>
              </p:txBody>
            </p:sp>
          </p:grpSp>
          <p:grpSp>
            <p:nvGrpSpPr>
              <p:cNvPr id="20" name="组合 19"/>
              <p:cNvGrpSpPr/>
              <p:nvPr/>
            </p:nvGrpSpPr>
            <p:grpSpPr>
              <a:xfrm>
                <a:off x="5476" y="6708"/>
                <a:ext cx="1534" cy="1557"/>
                <a:chOff x="5476" y="6708"/>
                <a:chExt cx="1534" cy="1557"/>
              </a:xfrm>
            </p:grpSpPr>
            <p:sp>
              <p:nvSpPr>
                <p:cNvPr id="65" name="空心弧 64"/>
                <p:cNvSpPr/>
                <p:nvPr>
                  <p:custDataLst>
                    <p:tags r:id="rId44"/>
                  </p:custDataLst>
                </p:nvPr>
              </p:nvSpPr>
              <p:spPr>
                <a:xfrm>
                  <a:off x="5476" y="6708"/>
                  <a:ext cx="1534" cy="155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6" name="椭圆 65"/>
                <p:cNvSpPr/>
                <p:nvPr>
                  <p:custDataLst>
                    <p:tags r:id="rId45"/>
                  </p:custDataLst>
                </p:nvPr>
              </p:nvSpPr>
              <p:spPr>
                <a:xfrm>
                  <a:off x="5701" y="6921"/>
                  <a:ext cx="1085" cy="1130"/>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7" name="文本框 66"/>
                <p:cNvSpPr txBox="1"/>
                <p:nvPr>
                  <p:custDataLst>
                    <p:tags r:id="rId46"/>
                  </p:custDataLst>
                </p:nvPr>
              </p:nvSpPr>
              <p:spPr>
                <a:xfrm>
                  <a:off x="5701" y="6850"/>
                  <a:ext cx="1087" cy="1270"/>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语音</a:t>
                  </a:r>
                </a:p>
                <a:p>
                  <a:pPr algn="ctr"/>
                  <a:r>
                    <a:rPr lang="zh-CN" altLang="en-US" sz="1400" dirty="0"/>
                    <a:t>专线</a:t>
                  </a:r>
                </a:p>
              </p:txBody>
            </p:sp>
          </p:grpSp>
          <p:cxnSp>
            <p:nvCxnSpPr>
              <p:cNvPr id="21" name="直接连接符 20"/>
              <p:cNvCxnSpPr>
                <a:stCxn id="69" idx="0"/>
              </p:cNvCxnSpPr>
              <p:nvPr/>
            </p:nvCxnSpPr>
            <p:spPr>
              <a:xfrm flipH="1" flipV="1">
                <a:off x="1353" y="6564"/>
                <a:ext cx="3" cy="417"/>
              </a:xfrm>
              <a:prstGeom prst="line">
                <a:avLst/>
              </a:prstGeom>
            </p:spPr>
            <p:style>
              <a:lnRef idx="1">
                <a:schemeClr val="dk1"/>
              </a:lnRef>
              <a:fillRef idx="0">
                <a:schemeClr val="dk1"/>
              </a:fillRef>
              <a:effectRef idx="0">
                <a:schemeClr val="dk1"/>
              </a:effectRef>
              <a:fontRef idx="minor">
                <a:schemeClr val="tx1"/>
              </a:fontRef>
            </p:style>
          </p:cxnSp>
          <p:sp>
            <p:nvSpPr>
              <p:cNvPr id="22" name="半闭框 21"/>
              <p:cNvSpPr/>
              <p:nvPr>
                <p:custDataLst>
                  <p:tags r:id="rId7"/>
                </p:custDataLst>
              </p:nvPr>
            </p:nvSpPr>
            <p:spPr>
              <a:xfrm flipH="1">
                <a:off x="1356" y="6548"/>
                <a:ext cx="2953" cy="398"/>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3" name="组合 22"/>
              <p:cNvGrpSpPr/>
              <p:nvPr/>
            </p:nvGrpSpPr>
            <p:grpSpPr>
              <a:xfrm>
                <a:off x="7309" y="4516"/>
                <a:ext cx="11455" cy="3637"/>
                <a:chOff x="7309" y="4516"/>
                <a:chExt cx="11455" cy="3637"/>
              </a:xfrm>
            </p:grpSpPr>
            <p:sp>
              <p:nvSpPr>
                <p:cNvPr id="24" name="半闭框 23"/>
                <p:cNvSpPr/>
                <p:nvPr>
                  <p:custDataLst>
                    <p:tags r:id="rId8"/>
                  </p:custDataLst>
                </p:nvPr>
              </p:nvSpPr>
              <p:spPr>
                <a:xfrm flipH="1">
                  <a:off x="16488" y="6617"/>
                  <a:ext cx="16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5" name="半闭框 24"/>
                <p:cNvSpPr/>
                <p:nvPr>
                  <p:custDataLst>
                    <p:tags r:id="rId9"/>
                  </p:custDataLst>
                </p:nvPr>
              </p:nvSpPr>
              <p:spPr>
                <a:xfrm>
                  <a:off x="15177" y="6617"/>
                  <a:ext cx="1560"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6" name="半闭框 25"/>
                <p:cNvSpPr/>
                <p:nvPr>
                  <p:custDataLst>
                    <p:tags r:id="rId10"/>
                  </p:custDataLst>
                </p:nvPr>
              </p:nvSpPr>
              <p:spPr>
                <a:xfrm flipH="1">
                  <a:off x="10754" y="6613"/>
                  <a:ext cx="2859"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7" name="组合 26"/>
                <p:cNvGrpSpPr/>
                <p:nvPr/>
              </p:nvGrpSpPr>
              <p:grpSpPr>
                <a:xfrm>
                  <a:off x="14560" y="6741"/>
                  <a:ext cx="4205" cy="1350"/>
                  <a:chOff x="14560" y="6741"/>
                  <a:chExt cx="4205" cy="1350"/>
                </a:xfrm>
              </p:grpSpPr>
              <p:sp>
                <p:nvSpPr>
                  <p:cNvPr id="56" name="空心弧 55"/>
                  <p:cNvSpPr/>
                  <p:nvPr>
                    <p:custDataLst>
                      <p:tags r:id="rId35"/>
                    </p:custDataLst>
                  </p:nvPr>
                </p:nvSpPr>
                <p:spPr>
                  <a:xfrm>
                    <a:off x="14560" y="6765"/>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7" name="椭圆 56"/>
                  <p:cNvSpPr/>
                  <p:nvPr>
                    <p:custDataLst>
                      <p:tags r:id="rId36"/>
                    </p:custDataLst>
                  </p:nvPr>
                </p:nvSpPr>
                <p:spPr>
                  <a:xfrm>
                    <a:off x="14754" y="6947"/>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8" name="文本框 57"/>
                  <p:cNvSpPr txBox="1"/>
                  <p:nvPr>
                    <p:custDataLst>
                      <p:tags r:id="rId37"/>
                    </p:custDataLst>
                  </p:nvPr>
                </p:nvSpPr>
                <p:spPr>
                  <a:xfrm>
                    <a:off x="14753" y="7008"/>
                    <a:ext cx="938" cy="842"/>
                  </a:xfrm>
                  <a:prstGeom prst="rect">
                    <a:avLst/>
                  </a:prstGeom>
                  <a:noFill/>
                </p:spPr>
                <p:txBody>
                  <a:bodyPr wrap="square" rtlCol="0" anchor="ctr" anchorCtr="0">
                    <a:normAutofit fontScale="90000" lnSpcReduction="20000"/>
                  </a:bodyPr>
                  <a:lstStyle/>
                  <a:p>
                    <a:pPr algn="ctr"/>
                    <a:r>
                      <a:rPr lang="zh-CN" altLang="en-US" dirty="0"/>
                      <a:t>家宽</a:t>
                    </a:r>
                  </a:p>
                </p:txBody>
              </p:sp>
              <p:sp>
                <p:nvSpPr>
                  <p:cNvPr id="59" name="空心弧 58"/>
                  <p:cNvSpPr/>
                  <p:nvPr>
                    <p:custDataLst>
                      <p:tags r:id="rId38"/>
                    </p:custDataLst>
                  </p:nvPr>
                </p:nvSpPr>
                <p:spPr>
                  <a:xfrm>
                    <a:off x="15990" y="6764"/>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0" name="椭圆 59"/>
                  <p:cNvSpPr/>
                  <p:nvPr>
                    <p:custDataLst>
                      <p:tags r:id="rId39"/>
                    </p:custDataLst>
                  </p:nvPr>
                </p:nvSpPr>
                <p:spPr>
                  <a:xfrm>
                    <a:off x="16184" y="6946"/>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1" name="文本框 60"/>
                  <p:cNvSpPr txBox="1"/>
                  <p:nvPr>
                    <p:custDataLst>
                      <p:tags r:id="rId40"/>
                    </p:custDataLst>
                  </p:nvPr>
                </p:nvSpPr>
                <p:spPr>
                  <a:xfrm>
                    <a:off x="16145" y="6947"/>
                    <a:ext cx="1016" cy="967"/>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专线</a:t>
                    </a:r>
                  </a:p>
                </p:txBody>
              </p:sp>
              <p:sp>
                <p:nvSpPr>
                  <p:cNvPr id="62" name="空心弧 61"/>
                  <p:cNvSpPr/>
                  <p:nvPr>
                    <p:custDataLst>
                      <p:tags r:id="rId41"/>
                    </p:custDataLst>
                  </p:nvPr>
                </p:nvSpPr>
                <p:spPr>
                  <a:xfrm>
                    <a:off x="17441" y="6741"/>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3" name="椭圆 62"/>
                  <p:cNvSpPr/>
                  <p:nvPr>
                    <p:custDataLst>
                      <p:tags r:id="rId42"/>
                    </p:custDataLst>
                  </p:nvPr>
                </p:nvSpPr>
                <p:spPr>
                  <a:xfrm>
                    <a:off x="17635" y="6923"/>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4" name="文本框 63"/>
                  <p:cNvSpPr txBox="1"/>
                  <p:nvPr>
                    <p:custDataLst>
                      <p:tags r:id="rId43"/>
                    </p:custDataLst>
                  </p:nvPr>
                </p:nvSpPr>
                <p:spPr>
                  <a:xfrm>
                    <a:off x="17560" y="6984"/>
                    <a:ext cx="1075" cy="842"/>
                  </a:xfrm>
                  <a:prstGeom prst="rect">
                    <a:avLst/>
                  </a:prstGeom>
                  <a:noFill/>
                </p:spPr>
                <p:txBody>
                  <a:bodyPr wrap="square" rtlCol="0" anchor="ctr" anchorCtr="0">
                    <a:normAutofit/>
                  </a:bodyPr>
                  <a:lstStyle/>
                  <a:p>
                    <a:pPr algn="ctr"/>
                    <a:r>
                      <a:rPr lang="en-US" altLang="zh-CN" dirty="0"/>
                      <a:t>IPTV</a:t>
                    </a:r>
                  </a:p>
                </p:txBody>
              </p:sp>
            </p:grpSp>
            <p:grpSp>
              <p:nvGrpSpPr>
                <p:cNvPr id="28" name="组合 27"/>
                <p:cNvGrpSpPr/>
                <p:nvPr/>
              </p:nvGrpSpPr>
              <p:grpSpPr>
                <a:xfrm>
                  <a:off x="7309" y="6799"/>
                  <a:ext cx="6959" cy="1354"/>
                  <a:chOff x="7309" y="6799"/>
                  <a:chExt cx="6959" cy="1354"/>
                </a:xfrm>
              </p:grpSpPr>
              <p:sp>
                <p:nvSpPr>
                  <p:cNvPr id="40" name="空心弧 39"/>
                  <p:cNvSpPr/>
                  <p:nvPr>
                    <p:custDataLst>
                      <p:tags r:id="rId20"/>
                    </p:custDataLst>
                  </p:nvPr>
                </p:nvSpPr>
                <p:spPr>
                  <a:xfrm>
                    <a:off x="7309"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1" name="椭圆 40"/>
                  <p:cNvSpPr/>
                  <p:nvPr>
                    <p:custDataLst>
                      <p:tags r:id="rId21"/>
                    </p:custDataLst>
                  </p:nvPr>
                </p:nvSpPr>
                <p:spPr>
                  <a:xfrm>
                    <a:off x="7503"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2" name="文本框 41"/>
                  <p:cNvSpPr txBox="1"/>
                  <p:nvPr>
                    <p:custDataLst>
                      <p:tags r:id="rId22"/>
                    </p:custDataLst>
                  </p:nvPr>
                </p:nvSpPr>
                <p:spPr>
                  <a:xfrm>
                    <a:off x="7359" y="7069"/>
                    <a:ext cx="1227" cy="842"/>
                  </a:xfrm>
                  <a:prstGeom prst="rect">
                    <a:avLst/>
                  </a:prstGeom>
                  <a:noFill/>
                </p:spPr>
                <p:txBody>
                  <a:bodyPr wrap="square" rtlCol="0" anchor="ctr" anchorCtr="0">
                    <a:normAutofit fontScale="87500" lnSpcReduction="20000"/>
                  </a:bodyPr>
                  <a:lstStyle/>
                  <a:p>
                    <a:pPr algn="ctr"/>
                    <a:r>
                      <a:rPr lang="zh-CN" altLang="en-US" dirty="0"/>
                      <a:t>物联网</a:t>
                    </a:r>
                  </a:p>
                </p:txBody>
              </p:sp>
              <p:sp>
                <p:nvSpPr>
                  <p:cNvPr id="44" name="空心弧 43"/>
                  <p:cNvSpPr/>
                  <p:nvPr>
                    <p:custDataLst>
                      <p:tags r:id="rId23"/>
                    </p:custDataLst>
                  </p:nvPr>
                </p:nvSpPr>
                <p:spPr>
                  <a:xfrm>
                    <a:off x="8681"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5" name="椭圆 44"/>
                  <p:cNvSpPr/>
                  <p:nvPr>
                    <p:custDataLst>
                      <p:tags r:id="rId24"/>
                    </p:custDataLst>
                  </p:nvPr>
                </p:nvSpPr>
                <p:spPr>
                  <a:xfrm>
                    <a:off x="8875"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6" name="文本框 45"/>
                  <p:cNvSpPr txBox="1"/>
                  <p:nvPr>
                    <p:custDataLst>
                      <p:tags r:id="rId25"/>
                    </p:custDataLst>
                  </p:nvPr>
                </p:nvSpPr>
                <p:spPr>
                  <a:xfrm>
                    <a:off x="8931" y="7069"/>
                    <a:ext cx="825" cy="842"/>
                  </a:xfrm>
                  <a:prstGeom prst="rect">
                    <a:avLst/>
                  </a:prstGeom>
                  <a:noFill/>
                </p:spPr>
                <p:txBody>
                  <a:bodyPr wrap="square" rtlCol="0" anchor="ctr" anchorCtr="0">
                    <a:normAutofit/>
                  </a:bodyPr>
                  <a:lstStyle/>
                  <a:p>
                    <a:pPr algn="ctr"/>
                    <a:r>
                      <a:rPr lang="en-US" altLang="zh-CN" dirty="0"/>
                      <a:t>2G</a:t>
                    </a:r>
                  </a:p>
                </p:txBody>
              </p:sp>
              <p:sp>
                <p:nvSpPr>
                  <p:cNvPr id="47" name="空心弧 46"/>
                  <p:cNvSpPr/>
                  <p:nvPr>
                    <p:custDataLst>
                      <p:tags r:id="rId26"/>
                    </p:custDataLst>
                  </p:nvPr>
                </p:nvSpPr>
                <p:spPr>
                  <a:xfrm>
                    <a:off x="10096"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8" name="椭圆 47"/>
                  <p:cNvSpPr/>
                  <p:nvPr>
                    <p:custDataLst>
                      <p:tags r:id="rId27"/>
                    </p:custDataLst>
                  </p:nvPr>
                </p:nvSpPr>
                <p:spPr>
                  <a:xfrm>
                    <a:off x="10290"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9" name="文本框 48"/>
                  <p:cNvSpPr txBox="1"/>
                  <p:nvPr>
                    <p:custDataLst>
                      <p:tags r:id="rId28"/>
                    </p:custDataLst>
                  </p:nvPr>
                </p:nvSpPr>
                <p:spPr>
                  <a:xfrm>
                    <a:off x="10346" y="7069"/>
                    <a:ext cx="825" cy="842"/>
                  </a:xfrm>
                  <a:prstGeom prst="rect">
                    <a:avLst/>
                  </a:prstGeom>
                  <a:noFill/>
                </p:spPr>
                <p:txBody>
                  <a:bodyPr wrap="square" rtlCol="0" anchor="ctr" anchorCtr="0">
                    <a:normAutofit/>
                  </a:bodyPr>
                  <a:lstStyle/>
                  <a:p>
                    <a:pPr algn="ctr"/>
                    <a:r>
                      <a:rPr lang="en-US" altLang="zh-CN" dirty="0"/>
                      <a:t>3G</a:t>
                    </a:r>
                  </a:p>
                </p:txBody>
              </p:sp>
              <p:sp>
                <p:nvSpPr>
                  <p:cNvPr id="50" name="空心弧 49"/>
                  <p:cNvSpPr/>
                  <p:nvPr>
                    <p:custDataLst>
                      <p:tags r:id="rId29"/>
                    </p:custDataLst>
                  </p:nvPr>
                </p:nvSpPr>
                <p:spPr>
                  <a:xfrm>
                    <a:off x="11547" y="6822"/>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1" name="椭圆 50"/>
                  <p:cNvSpPr/>
                  <p:nvPr>
                    <p:custDataLst>
                      <p:tags r:id="rId30"/>
                    </p:custDataLst>
                  </p:nvPr>
                </p:nvSpPr>
                <p:spPr>
                  <a:xfrm>
                    <a:off x="11741" y="7004"/>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2" name="文本框 51"/>
                  <p:cNvSpPr txBox="1"/>
                  <p:nvPr>
                    <p:custDataLst>
                      <p:tags r:id="rId31"/>
                    </p:custDataLst>
                  </p:nvPr>
                </p:nvSpPr>
                <p:spPr>
                  <a:xfrm>
                    <a:off x="11797" y="7065"/>
                    <a:ext cx="825" cy="842"/>
                  </a:xfrm>
                  <a:prstGeom prst="rect">
                    <a:avLst/>
                  </a:prstGeom>
                  <a:noFill/>
                </p:spPr>
                <p:txBody>
                  <a:bodyPr wrap="square" rtlCol="0" anchor="ctr" anchorCtr="0">
                    <a:normAutofit/>
                  </a:bodyPr>
                  <a:lstStyle/>
                  <a:p>
                    <a:pPr algn="ctr"/>
                    <a:r>
                      <a:rPr lang="en-US" altLang="zh-CN" dirty="0"/>
                      <a:t>4G</a:t>
                    </a:r>
                  </a:p>
                </p:txBody>
              </p:sp>
              <p:sp>
                <p:nvSpPr>
                  <p:cNvPr id="53" name="空心弧 52"/>
                  <p:cNvSpPr/>
                  <p:nvPr>
                    <p:custDataLst>
                      <p:tags r:id="rId32"/>
                    </p:custDataLst>
                  </p:nvPr>
                </p:nvSpPr>
                <p:spPr>
                  <a:xfrm>
                    <a:off x="1294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4" name="椭圆 53"/>
                  <p:cNvSpPr/>
                  <p:nvPr>
                    <p:custDataLst>
                      <p:tags r:id="rId33"/>
                    </p:custDataLst>
                  </p:nvPr>
                </p:nvSpPr>
                <p:spPr>
                  <a:xfrm>
                    <a:off x="1313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5" name="文本框 54"/>
                  <p:cNvSpPr txBox="1"/>
                  <p:nvPr>
                    <p:custDataLst>
                      <p:tags r:id="rId34"/>
                    </p:custDataLst>
                  </p:nvPr>
                </p:nvSpPr>
                <p:spPr>
                  <a:xfrm>
                    <a:off x="12976" y="7040"/>
                    <a:ext cx="1259" cy="842"/>
                  </a:xfrm>
                  <a:prstGeom prst="rect">
                    <a:avLst/>
                  </a:prstGeom>
                  <a:noFill/>
                </p:spPr>
                <p:txBody>
                  <a:bodyPr wrap="square" rtlCol="0" anchor="ctr" anchorCtr="0">
                    <a:normAutofit fontScale="92500"/>
                  </a:bodyPr>
                  <a:lstStyle/>
                  <a:p>
                    <a:pPr algn="ctr"/>
                    <a:r>
                      <a:rPr lang="en-US" altLang="zh-CN" dirty="0"/>
                      <a:t>WLAN</a:t>
                    </a:r>
                  </a:p>
                </p:txBody>
              </p:sp>
            </p:grpSp>
            <p:grpSp>
              <p:nvGrpSpPr>
                <p:cNvPr id="29" name="组合 28"/>
                <p:cNvGrpSpPr/>
                <p:nvPr/>
              </p:nvGrpSpPr>
              <p:grpSpPr>
                <a:xfrm>
                  <a:off x="9847" y="4516"/>
                  <a:ext cx="1824" cy="2492"/>
                  <a:chOff x="9581" y="668"/>
                  <a:chExt cx="2765" cy="3696"/>
                </a:xfrm>
              </p:grpSpPr>
              <p:cxnSp>
                <p:nvCxnSpPr>
                  <p:cNvPr id="36" name="直接连接符 35"/>
                  <p:cNvCxnSpPr>
                    <a:endCxn id="48" idx="0"/>
                  </p:cNvCxnSpPr>
                  <p:nvPr>
                    <p:custDataLst>
                      <p:tags r:id="rId16"/>
                    </p:custDataLst>
                  </p:nvPr>
                </p:nvCxnSpPr>
                <p:spPr>
                  <a:xfrm>
                    <a:off x="10956" y="3243"/>
                    <a:ext cx="8" cy="112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7" name="空心弧 36"/>
                  <p:cNvSpPr/>
                  <p:nvPr>
                    <p:custDataLst>
                      <p:tags r:id="rId1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8" name="椭圆 37"/>
                  <p:cNvSpPr/>
                  <p:nvPr>
                    <p:custDataLst>
                      <p:tags r:id="rId1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9" name="文本框 38"/>
                  <p:cNvSpPr txBox="1"/>
                  <p:nvPr>
                    <p:custDataLst>
                      <p:tags r:id="rId19"/>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移动</a:t>
                    </a:r>
                  </a:p>
                  <a:p>
                    <a:pPr algn="ctr"/>
                    <a:r>
                      <a:rPr lang="zh-CN" altLang="en-US" dirty="0"/>
                      <a:t>互联网</a:t>
                    </a:r>
                  </a:p>
                </p:txBody>
              </p:sp>
            </p:grpSp>
            <p:grpSp>
              <p:nvGrpSpPr>
                <p:cNvPr id="30" name="组合 29"/>
                <p:cNvGrpSpPr/>
                <p:nvPr/>
              </p:nvGrpSpPr>
              <p:grpSpPr>
                <a:xfrm>
                  <a:off x="15741" y="4516"/>
                  <a:ext cx="1824" cy="2432"/>
                  <a:chOff x="9581" y="668"/>
                  <a:chExt cx="2765" cy="3606"/>
                </a:xfrm>
              </p:grpSpPr>
              <p:cxnSp>
                <p:nvCxnSpPr>
                  <p:cNvPr id="32" name="直接连接符 31"/>
                  <p:cNvCxnSpPr>
                    <a:endCxn id="61" idx="0"/>
                  </p:cNvCxnSpPr>
                  <p:nvPr>
                    <p:custDataLst>
                      <p:tags r:id="rId12"/>
                    </p:custDataLst>
                  </p:nvPr>
                </p:nvCxnSpPr>
                <p:spPr>
                  <a:xfrm>
                    <a:off x="10956" y="3243"/>
                    <a:ext cx="8" cy="103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3" name="空心弧 32"/>
                  <p:cNvSpPr/>
                  <p:nvPr>
                    <p:custDataLst>
                      <p:tags r:id="rId1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4" name="椭圆 33"/>
                  <p:cNvSpPr/>
                  <p:nvPr>
                    <p:custDataLst>
                      <p:tags r:id="rId1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5" name="文本框 34"/>
                  <p:cNvSpPr txBox="1"/>
                  <p:nvPr>
                    <p:custDataLst>
                      <p:tags r:id="rId15"/>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有线</a:t>
                    </a:r>
                  </a:p>
                  <a:p>
                    <a:pPr algn="ctr"/>
                    <a:r>
                      <a:rPr lang="zh-CN" altLang="en-US" dirty="0"/>
                      <a:t>互联网</a:t>
                    </a:r>
                  </a:p>
                </p:txBody>
              </p:sp>
            </p:grpSp>
            <p:sp>
              <p:nvSpPr>
                <p:cNvPr id="31" name="半闭框 30"/>
                <p:cNvSpPr/>
                <p:nvPr>
                  <p:custDataLst>
                    <p:tags r:id="rId11"/>
                  </p:custDataLst>
                </p:nvPr>
              </p:nvSpPr>
              <p:spPr>
                <a:xfrm>
                  <a:off x="7960" y="6614"/>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grpSp>
      </p:grpSp>
    </p:spTree>
    <p:extLst>
      <p:ext uri="{BB962C8B-B14F-4D97-AF65-F5344CB8AC3E}">
        <p14:creationId xmlns:p14="http://schemas.microsoft.com/office/powerpoint/2010/main" val="688203633"/>
      </p:ext>
    </p:extLst>
  </p:cSld>
  <p:clrMapOvr>
    <a:masterClrMapping/>
  </p:clrMapOvr>
  <p:transition spd="med">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业务管理功能包含：</a:t>
            </a:r>
            <a:endParaRPr lang="en-US" altLang="zh-CN" dirty="0" smtClean="0"/>
          </a:p>
          <a:p>
            <a:pPr marL="285750" indent="-285750">
              <a:lnSpc>
                <a:spcPct val="150000"/>
              </a:lnSpc>
              <a:buFont typeface="Arial" panose="020B0604020202020204" pitchFamily="34" charset="0"/>
              <a:buChar char="•"/>
            </a:pPr>
            <a:r>
              <a:rPr lang="zh-CN" altLang="en-US" dirty="0" smtClean="0"/>
              <a:t>综合业务指标</a:t>
            </a:r>
            <a:r>
              <a:rPr lang="zh-CN" altLang="en-US" dirty="0"/>
              <a:t>管理：监控业务特别相关的网络关键质量指标</a:t>
            </a:r>
            <a:r>
              <a:rPr lang="en-US" altLang="zh-CN" dirty="0"/>
              <a:t>(KQI</a:t>
            </a:r>
            <a:r>
              <a:rPr lang="en-US" altLang="zh-CN" dirty="0" smtClean="0"/>
              <a:t>)</a:t>
            </a:r>
            <a:r>
              <a:rPr lang="zh-CN" altLang="en-US" dirty="0" smtClean="0"/>
              <a:t>（经典</a:t>
            </a:r>
            <a:r>
              <a:rPr lang="zh-CN" altLang="en-US" dirty="0"/>
              <a:t>业务</a:t>
            </a:r>
            <a:r>
              <a:rPr lang="zh-CN" altLang="en-US" dirty="0" smtClean="0"/>
              <a:t>管理</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smtClean="0"/>
              <a:t>用户实际体验管理：</a:t>
            </a:r>
            <a:r>
              <a:rPr lang="en-US" altLang="zh-CN" dirty="0" smtClean="0"/>
              <a:t>“</a:t>
            </a:r>
            <a:r>
              <a:rPr lang="zh-CN" altLang="en-US" dirty="0" smtClean="0"/>
              <a:t>主动式</a:t>
            </a:r>
            <a:r>
              <a:rPr lang="zh-CN" altLang="en-US" dirty="0"/>
              <a:t>：模拟用户环境，拨测验证业务性能。被动式：测量吞吐量、延迟、或者差错条件等单个用户实际体验到的各个因素，这些因素将直接影响到用户对服务质量的</a:t>
            </a:r>
            <a:r>
              <a:rPr lang="zh-CN" altLang="en-US" dirty="0" smtClean="0"/>
              <a:t>体验。</a:t>
            </a:r>
            <a:endParaRPr lang="en-US" altLang="zh-CN" dirty="0" smtClean="0"/>
          </a:p>
          <a:p>
            <a:pPr marL="285750" indent="-285750">
              <a:lnSpc>
                <a:spcPct val="150000"/>
              </a:lnSpc>
              <a:buFont typeface="Arial" panose="020B0604020202020204" pitchFamily="34" charset="0"/>
              <a:buChar char="•"/>
            </a:pPr>
            <a:r>
              <a:rPr lang="zh-CN" altLang="en-US" dirty="0" smtClean="0"/>
              <a:t>按照分类及周期导出相应报表</a:t>
            </a:r>
            <a:endParaRPr lang="zh-CN" altLang="en-US" dirty="0"/>
          </a:p>
        </p:txBody>
      </p:sp>
    </p:spTree>
    <p:extLst>
      <p:ext uri="{BB962C8B-B14F-4D97-AF65-F5344CB8AC3E}">
        <p14:creationId xmlns:p14="http://schemas.microsoft.com/office/powerpoint/2010/main" val="2038897115"/>
      </p:ext>
    </p:extLst>
  </p:cSld>
  <p:clrMapOvr>
    <a:masterClrMapping/>
  </p:clrMapOvr>
  <p:transition spd="med">
    <p:pull/>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5. </a:t>
            </a:r>
            <a:r>
              <a:rPr lang="zh-CN" altLang="en-US" dirty="0" smtClean="0">
                <a:solidFill>
                  <a:srgbClr val="333F50"/>
                </a:solidFill>
              </a:rPr>
              <a:t>场景保障</a:t>
            </a:r>
            <a:endParaRPr lang="zh-CN" altLang="en-US" dirty="0">
              <a:solidFill>
                <a:srgbClr val="333F50"/>
              </a:solidFill>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660" y="1236386"/>
            <a:ext cx="9076965" cy="499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418321"/>
      </p:ext>
    </p:extLst>
  </p:cSld>
  <p:clrMapOvr>
    <a:masterClrMapping/>
  </p:clrMapOvr>
  <p:transition spd="med">
    <p:pull/>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数据类型</a:t>
            </a:r>
            <a:endParaRPr lang="zh-CN" altLang="en-US" dirty="0">
              <a:solidFill>
                <a:srgbClr val="333F50"/>
              </a:solidFill>
            </a:endParaRPr>
          </a:p>
        </p:txBody>
      </p:sp>
      <p:sp>
        <p:nvSpPr>
          <p:cNvPr id="6" name="等腰三角形 5"/>
          <p:cNvSpPr/>
          <p:nvPr/>
        </p:nvSpPr>
        <p:spPr>
          <a:xfrm>
            <a:off x="2000885" y="844550"/>
            <a:ext cx="5738495" cy="5350510"/>
          </a:xfrm>
          <a:prstGeom prst="triangl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流程图: 可选过程 6"/>
          <p:cNvSpPr/>
          <p:nvPr/>
        </p:nvSpPr>
        <p:spPr>
          <a:xfrm>
            <a:off x="4119245" y="2176145"/>
            <a:ext cx="150114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用户</a:t>
            </a:r>
          </a:p>
        </p:txBody>
      </p:sp>
      <p:sp>
        <p:nvSpPr>
          <p:cNvPr id="8" name="流程图: 可选过程 7"/>
          <p:cNvSpPr/>
          <p:nvPr/>
        </p:nvSpPr>
        <p:spPr>
          <a:xfrm>
            <a:off x="3874770" y="3172460"/>
            <a:ext cx="199136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业务</a:t>
            </a:r>
          </a:p>
        </p:txBody>
      </p:sp>
      <p:sp>
        <p:nvSpPr>
          <p:cNvPr id="9" name="流程图: 可选过程 8"/>
          <p:cNvSpPr/>
          <p:nvPr/>
        </p:nvSpPr>
        <p:spPr>
          <a:xfrm>
            <a:off x="3665855" y="4173220"/>
            <a:ext cx="2409825"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网络</a:t>
            </a:r>
          </a:p>
        </p:txBody>
      </p:sp>
      <p:sp>
        <p:nvSpPr>
          <p:cNvPr id="10" name="流程图: 可选过程 9"/>
          <p:cNvSpPr/>
          <p:nvPr/>
        </p:nvSpPr>
        <p:spPr>
          <a:xfrm>
            <a:off x="3246120" y="5174615"/>
            <a:ext cx="324739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设备</a:t>
            </a:r>
          </a:p>
        </p:txBody>
      </p:sp>
      <p:sp>
        <p:nvSpPr>
          <p:cNvPr id="12" name="左大括号 11"/>
          <p:cNvSpPr/>
          <p:nvPr/>
        </p:nvSpPr>
        <p:spPr>
          <a:xfrm rot="10800000">
            <a:off x="7345045" y="2176145"/>
            <a:ext cx="819785" cy="369316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434070" y="3804920"/>
            <a:ext cx="3535680" cy="460375"/>
          </a:xfrm>
          <a:prstGeom prst="rect">
            <a:avLst/>
          </a:prstGeom>
          <a:noFill/>
        </p:spPr>
        <p:txBody>
          <a:bodyPr wrap="none" rtlCol="0">
            <a:spAutoFit/>
          </a:bodyPr>
          <a:lstStyle/>
          <a:p>
            <a:r>
              <a:rPr lang="zh-CN" altLang="en-US" sz="240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rPr>
              <a:t>围绕四种类型的数据展开</a:t>
            </a:r>
          </a:p>
        </p:txBody>
      </p:sp>
    </p:spTree>
    <p:extLst>
      <p:ext uri="{BB962C8B-B14F-4D97-AF65-F5344CB8AC3E}">
        <p14:creationId xmlns:p14="http://schemas.microsoft.com/office/powerpoint/2010/main" val="1235558823"/>
      </p:ext>
    </p:extLst>
  </p:cSld>
  <p:clrMapOvr>
    <a:masterClrMapping/>
  </p:clrMapOvr>
  <p:transition spd="med">
    <p:pull/>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30639" y="3596923"/>
            <a:ext cx="5977695" cy="811459"/>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191375" y="1445290"/>
            <a:ext cx="4229100" cy="44119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a:t>
            </a:r>
            <a:r>
              <a:rPr lang="zh-CN" altLang="en-US" dirty="0">
                <a:solidFill>
                  <a:srgbClr val="333F50"/>
                </a:solidFill>
              </a:rPr>
              <a:t>管理</a:t>
            </a:r>
          </a:p>
        </p:txBody>
      </p:sp>
      <p:sp>
        <p:nvSpPr>
          <p:cNvPr id="14" name="文本框 13"/>
          <p:cNvSpPr txBox="1"/>
          <p:nvPr/>
        </p:nvSpPr>
        <p:spPr>
          <a:xfrm>
            <a:off x="7239000" y="1943100"/>
            <a:ext cx="4181475" cy="3416320"/>
          </a:xfrm>
          <a:prstGeom prst="rect">
            <a:avLst/>
          </a:prstGeom>
          <a:noFill/>
        </p:spPr>
        <p:txBody>
          <a:bodyPr wrap="square" rtlCol="0">
            <a:spAutoFit/>
          </a:bodyPr>
          <a:lstStyle/>
          <a:p>
            <a:pPr indent="457200">
              <a:lnSpc>
                <a:spcPct val="150000"/>
              </a:lnSpc>
            </a:pPr>
            <a:r>
              <a:rPr lang="zh-CN" altLang="en-US" dirty="0">
                <a:solidFill>
                  <a:schemeClr val="bg1"/>
                </a:solidFill>
              </a:rPr>
              <a:t>数据管理层的数据包括对网元拓扑关系数据、指令数据、告警数据、话统数据、指标数据、以及其他数据的存储、备份、与分析，为监控对象的可视化展现提供数据支持</a:t>
            </a:r>
            <a:r>
              <a:rPr lang="zh-CN" altLang="en-US" dirty="0" smtClean="0">
                <a:solidFill>
                  <a:schemeClr val="bg1"/>
                </a:solidFill>
              </a:rPr>
              <a:t>。同时还负责</a:t>
            </a:r>
            <a:r>
              <a:rPr lang="zh-CN" altLang="en-US" dirty="0">
                <a:solidFill>
                  <a:schemeClr val="bg1"/>
                </a:solidFill>
              </a:rPr>
              <a:t>对来源不同的告警信息进行过滤、压缩和关联，以及对不同来源的性能数据进行规范、汇聚、分析</a:t>
            </a:r>
            <a:r>
              <a:rPr lang="zh-CN" altLang="en-US" dirty="0" smtClean="0">
                <a:solidFill>
                  <a:schemeClr val="bg1"/>
                </a:solidFill>
              </a:rPr>
              <a:t>等。</a:t>
            </a:r>
            <a:endParaRPr lang="zh-CN" altLang="en-US" dirty="0">
              <a:solidFill>
                <a:schemeClr val="bg1"/>
              </a:solidFill>
            </a:endParaRPr>
          </a:p>
        </p:txBody>
      </p:sp>
      <p:sp>
        <p:nvSpPr>
          <p:cNvPr id="16" name="TextBox 27"/>
          <p:cNvSpPr txBox="1"/>
          <p:nvPr/>
        </p:nvSpPr>
        <p:spPr>
          <a:xfrm>
            <a:off x="0" y="5151090"/>
            <a:ext cx="888890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cxnSp>
        <p:nvCxnSpPr>
          <p:cNvPr id="4" name="直接箭头连接符 3"/>
          <p:cNvCxnSpPr/>
          <p:nvPr/>
        </p:nvCxnSpPr>
        <p:spPr>
          <a:xfrm flipV="1">
            <a:off x="232410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3038475"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375285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444454"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4798" y="3822872"/>
            <a:ext cx="6429375" cy="369332"/>
          </a:xfrm>
          <a:prstGeom prst="rect">
            <a:avLst/>
          </a:prstGeom>
          <a:noFill/>
        </p:spPr>
        <p:txBody>
          <a:bodyPr wrap="square" rtlCol="0">
            <a:spAutoFit/>
          </a:bodyPr>
          <a:lstStyle/>
          <a:p>
            <a:pPr algn="ctr"/>
            <a:r>
              <a:rPr lang="zh-CN" altLang="en-US" dirty="0" smtClean="0">
                <a:solidFill>
                  <a:schemeClr val="bg1"/>
                </a:solidFill>
              </a:rPr>
              <a:t>过滤、压缩、存储、分析</a:t>
            </a:r>
            <a:endParaRPr lang="zh-CN" altLang="en-US" dirty="0">
              <a:solidFill>
                <a:schemeClr val="bg1"/>
              </a:solidFill>
            </a:endParaRPr>
          </a:p>
        </p:txBody>
      </p:sp>
      <p:sp>
        <p:nvSpPr>
          <p:cNvPr id="23" name="下箭头 22"/>
          <p:cNvSpPr/>
          <p:nvPr/>
        </p:nvSpPr>
        <p:spPr>
          <a:xfrm flipV="1">
            <a:off x="3257547" y="2818370"/>
            <a:ext cx="523875" cy="5905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404934" y="2129917"/>
            <a:ext cx="4229100" cy="369332"/>
          </a:xfrm>
          <a:prstGeom prst="rect">
            <a:avLst/>
          </a:prstGeom>
          <a:noFill/>
        </p:spPr>
        <p:txBody>
          <a:bodyPr wrap="square" rtlCol="0">
            <a:spAutoFit/>
          </a:bodyPr>
          <a:lstStyle/>
          <a:p>
            <a:pPr algn="ctr"/>
            <a:r>
              <a:rPr lang="zh-CN" altLang="en-US" dirty="0" smtClean="0"/>
              <a:t>为上层可视化应用及配置提供数据支持</a:t>
            </a:r>
            <a:endParaRPr lang="zh-CN" altLang="en-US" dirty="0"/>
          </a:p>
        </p:txBody>
      </p:sp>
    </p:spTree>
    <p:extLst>
      <p:ext uri="{BB962C8B-B14F-4D97-AF65-F5344CB8AC3E}">
        <p14:creationId xmlns:p14="http://schemas.microsoft.com/office/powerpoint/2010/main" val="2224585660"/>
      </p:ext>
    </p:extLst>
  </p:cSld>
  <p:clrMapOvr>
    <a:masterClrMapping/>
  </p:clrMapOvr>
  <p:transition spd="med">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系统配置</a:t>
            </a:r>
            <a:endParaRPr lang="zh-CN" altLang="en-US" dirty="0">
              <a:solidFill>
                <a:srgbClr val="333F50"/>
              </a:solidFill>
            </a:endParaRPr>
          </a:p>
        </p:txBody>
      </p:sp>
      <p:sp>
        <p:nvSpPr>
          <p:cNvPr id="14" name="矩形 13"/>
          <p:cNvSpPr/>
          <p:nvPr/>
        </p:nvSpPr>
        <p:spPr>
          <a:xfrm>
            <a:off x="1847960" y="1795900"/>
            <a:ext cx="9051545" cy="57625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47960" y="2498234"/>
            <a:ext cx="9051545" cy="558791"/>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TextBox 27"/>
          <p:cNvSpPr txBox="1"/>
          <p:nvPr/>
        </p:nvSpPr>
        <p:spPr>
          <a:xfrm>
            <a:off x="2041698" y="2591154"/>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7" name="TextBox 28"/>
          <p:cNvSpPr txBox="1"/>
          <p:nvPr/>
        </p:nvSpPr>
        <p:spPr>
          <a:xfrm>
            <a:off x="4606217" y="2586168"/>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8" name="TextBox 29"/>
          <p:cNvSpPr txBox="1"/>
          <p:nvPr/>
        </p:nvSpPr>
        <p:spPr>
          <a:xfrm>
            <a:off x="3308187" y="2580907"/>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9" name="TextBox 47"/>
          <p:cNvSpPr txBox="1"/>
          <p:nvPr/>
        </p:nvSpPr>
        <p:spPr>
          <a:xfrm>
            <a:off x="5846438" y="2596946"/>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0" name="TextBox 73"/>
          <p:cNvSpPr txBox="1"/>
          <p:nvPr/>
        </p:nvSpPr>
        <p:spPr>
          <a:xfrm>
            <a:off x="7060799" y="2632780"/>
            <a:ext cx="1403131" cy="369332"/>
          </a:xfrm>
          <a:prstGeom prst="rect">
            <a:avLst/>
          </a:prstGeom>
          <a:noFill/>
        </p:spPr>
        <p:txBody>
          <a:bodyPr wrap="square" rtlCol="0">
            <a:spAutoFit/>
          </a:bodyPr>
          <a:lstStyle/>
          <a:p>
            <a:r>
              <a:rPr lang="en-US" altLang="zh-CN" dirty="0" smtClean="0"/>
              <a:t>…..</a:t>
            </a:r>
            <a:endParaRPr lang="zh-CN" altLang="en-US" dirty="0"/>
          </a:p>
        </p:txBody>
      </p:sp>
      <p:sp>
        <p:nvSpPr>
          <p:cNvPr id="21" name="TextBox 50"/>
          <p:cNvSpPr txBox="1"/>
          <p:nvPr/>
        </p:nvSpPr>
        <p:spPr>
          <a:xfrm>
            <a:off x="2041698" y="1882084"/>
            <a:ext cx="847511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2" name="文本框 1"/>
          <p:cNvSpPr txBox="1"/>
          <p:nvPr/>
        </p:nvSpPr>
        <p:spPr>
          <a:xfrm>
            <a:off x="2451676" y="3387289"/>
            <a:ext cx="591929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场景库包括对无线</a:t>
            </a:r>
            <a:r>
              <a:rPr lang="en-US" altLang="zh-CN" dirty="0" smtClean="0"/>
              <a:t>/</a:t>
            </a:r>
            <a:r>
              <a:rPr lang="zh-CN" altLang="en-US" dirty="0" smtClean="0"/>
              <a:t>有线网络场景的划分</a:t>
            </a:r>
            <a:endParaRPr lang="en-US" altLang="zh-CN" dirty="0" smtClean="0"/>
          </a:p>
          <a:p>
            <a:pPr marL="285750" indent="285750">
              <a:lnSpc>
                <a:spcPct val="150000"/>
              </a:lnSpc>
              <a:buFont typeface="Arial" panose="020B0604020202020204" pitchFamily="34" charset="0"/>
              <a:buChar char="•"/>
            </a:pPr>
            <a:r>
              <a:rPr lang="zh-CN" altLang="en-US" dirty="0"/>
              <a:t>算法库：考核指标</a:t>
            </a:r>
            <a:r>
              <a:rPr lang="zh-CN" altLang="en-US" dirty="0" smtClean="0"/>
              <a:t>算法</a:t>
            </a:r>
            <a:endParaRPr lang="en-US" altLang="zh-CN" dirty="0"/>
          </a:p>
          <a:p>
            <a:pPr marL="285750" indent="285750">
              <a:lnSpc>
                <a:spcPct val="150000"/>
              </a:lnSpc>
              <a:buFont typeface="Arial" panose="020B0604020202020204" pitchFamily="34" charset="0"/>
              <a:buChar char="•"/>
            </a:pPr>
            <a:r>
              <a:rPr lang="zh-CN" altLang="en-US" dirty="0"/>
              <a:t>模型库：故障模型、投诉处理</a:t>
            </a:r>
            <a:r>
              <a:rPr lang="zh-CN" altLang="en-US" dirty="0" smtClean="0"/>
              <a:t>模型</a:t>
            </a:r>
            <a:endParaRPr lang="en-US" altLang="zh-CN" dirty="0"/>
          </a:p>
          <a:p>
            <a:pPr marL="285750" indent="285750">
              <a:lnSpc>
                <a:spcPct val="150000"/>
              </a:lnSpc>
              <a:buFont typeface="Arial" panose="020B0604020202020204" pitchFamily="34" charset="0"/>
              <a:buChar char="•"/>
            </a:pPr>
            <a:r>
              <a:rPr lang="zh-CN" altLang="en-US" dirty="0"/>
              <a:t>指令库：日常维护涉及的指令</a:t>
            </a:r>
          </a:p>
          <a:p>
            <a:pPr marL="285750" indent="285750">
              <a:lnSpc>
                <a:spcPct val="150000"/>
              </a:lnSpc>
              <a:buFont typeface="Arial" panose="020B0604020202020204" pitchFamily="34" charset="0"/>
              <a:buChar char="•"/>
            </a:pPr>
            <a:endParaRPr lang="en-US" altLang="zh-CN" dirty="0" smtClean="0"/>
          </a:p>
        </p:txBody>
      </p:sp>
    </p:spTree>
    <p:extLst>
      <p:ext uri="{BB962C8B-B14F-4D97-AF65-F5344CB8AC3E}">
        <p14:creationId xmlns:p14="http://schemas.microsoft.com/office/powerpoint/2010/main" val="3221408332"/>
      </p:ext>
    </p:extLst>
  </p:cSld>
  <p:clrMapOvr>
    <a:masterClrMapping/>
  </p:clrMapOvr>
  <p:transition spd="med">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04</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工作进展</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7218312"/>
      </p:ext>
    </p:extLst>
  </p:cSld>
  <p:clrMapOvr>
    <a:masterClrMapping/>
  </p:clrMapOvr>
  <p:transition spd="med">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0720466"/>
      </p:ext>
    </p:extLst>
  </p:cSld>
  <p:clrMapOvr>
    <a:masterClrMapping/>
  </p:clrMapOvr>
  <p:transition spd="med">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3582532"/>
      </p:ext>
    </p:extLst>
  </p:cSld>
  <p:clrMapOvr>
    <a:masterClrMapping/>
  </p:clrMapOvr>
  <p:transition spd="med">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1061862"/>
      </p:ext>
    </p:extLst>
  </p:cSld>
  <p:clrMapOvr>
    <a:masterClrMapping/>
  </p:clrMapOvr>
  <p:transition spd="med">
    <p:pull/>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79653310"/>
      </p:ext>
    </p:extLst>
  </p:cSld>
  <p:clrMapOvr>
    <a:masterClrMapping/>
  </p:clrMapOvr>
  <p:transition spd="med">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8"/>
  <p:tag name="KSO_WM_UNIT_ID" val="diagram20164482_1*p_i*1_18"/>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9"/>
  <p:tag name="KSO_WM_UNIT_ID" val="diagram20164482_1*p_i*1_19"/>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1697</TotalTime>
  <Words>2460</Words>
  <Application>Microsoft Office PowerPoint</Application>
  <PresentationFormat>宽屏</PresentationFormat>
  <Paragraphs>309</Paragraphs>
  <Slides>50</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50</vt:i4>
      </vt:variant>
    </vt:vector>
  </HeadingPairs>
  <TitlesOfParts>
    <vt:vector size="61" baseType="lpstr">
      <vt:lpstr>Agency FB</vt:lpstr>
      <vt:lpstr>Lato Light</vt:lpstr>
      <vt:lpstr>等线</vt:lpstr>
      <vt:lpstr>微软雅黑</vt:lpstr>
      <vt:lpstr>微软雅黑 Light</vt:lpstr>
      <vt:lpstr>Arial</vt:lpstr>
      <vt:lpstr>Calibri</vt:lpstr>
      <vt:lpstr>Calibri Light</vt:lpstr>
      <vt:lpstr>Century Gothic</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150</cp:revision>
  <dcterms:created xsi:type="dcterms:W3CDTF">2015-08-05T01:47:03Z</dcterms:created>
  <dcterms:modified xsi:type="dcterms:W3CDTF">2017-12-21T06:04:12Z</dcterms:modified>
</cp:coreProperties>
</file>