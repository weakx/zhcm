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80" r:id="rId2"/>
    <p:sldId id="257" r:id="rId3"/>
    <p:sldId id="319" r:id="rId4"/>
    <p:sldId id="271" r:id="rId5"/>
    <p:sldId id="322" r:id="rId6"/>
    <p:sldId id="328" r:id="rId7"/>
    <p:sldId id="329" r:id="rId8"/>
    <p:sldId id="330" r:id="rId9"/>
    <p:sldId id="321" r:id="rId10"/>
    <p:sldId id="335" r:id="rId11"/>
    <p:sldId id="323" r:id="rId12"/>
    <p:sldId id="331" r:id="rId13"/>
    <p:sldId id="332" r:id="rId14"/>
    <p:sldId id="333" r:id="rId15"/>
    <p:sldId id="326" r:id="rId16"/>
    <p:sldId id="289" r:id="rId17"/>
    <p:sldId id="312" r:id="rId18"/>
    <p:sldId id="313" r:id="rId19"/>
    <p:sldId id="293" r:id="rId20"/>
    <p:sldId id="292" r:id="rId21"/>
    <p:sldId id="294" r:id="rId22"/>
    <p:sldId id="295" r:id="rId23"/>
    <p:sldId id="296" r:id="rId24"/>
    <p:sldId id="298" r:id="rId25"/>
    <p:sldId id="299" r:id="rId26"/>
    <p:sldId id="300" r:id="rId27"/>
    <p:sldId id="301" r:id="rId28"/>
    <p:sldId id="302" r:id="rId29"/>
    <p:sldId id="305" r:id="rId30"/>
    <p:sldId id="306" r:id="rId31"/>
    <p:sldId id="303" r:id="rId32"/>
    <p:sldId id="307" r:id="rId33"/>
    <p:sldId id="314" r:id="rId34"/>
    <p:sldId id="315" r:id="rId35"/>
    <p:sldId id="316" r:id="rId36"/>
    <p:sldId id="317" r:id="rId37"/>
    <p:sldId id="282" r:id="rId38"/>
    <p:sldId id="277"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C4E"/>
    <a:srgbClr val="007A37"/>
    <a:srgbClr val="00DE64"/>
    <a:srgbClr val="FFFFFF"/>
    <a:srgbClr val="00B050"/>
    <a:srgbClr val="33C073"/>
    <a:srgbClr val="5EF1A4"/>
    <a:srgbClr val="E73A1C"/>
    <a:srgbClr val="333F50"/>
    <a:srgbClr val="2FFF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7" autoAdjust="0"/>
    <p:restoredTop sz="88084" autoAdjust="0"/>
  </p:normalViewPr>
  <p:slideViewPr>
    <p:cSldViewPr snapToGrid="0">
      <p:cViewPr varScale="1">
        <p:scale>
          <a:sx n="101" d="100"/>
          <a:sy n="101" d="100"/>
        </p:scale>
        <p:origin x="87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t>2017/12/20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t>‹#›</a:t>
            </a:fld>
            <a:endParaRPr lang="zh-CN" altLang="en-US"/>
          </a:p>
        </p:txBody>
      </p:sp>
    </p:spTree>
    <p:extLst>
      <p:ext uri="{BB962C8B-B14F-4D97-AF65-F5344CB8AC3E}">
        <p14:creationId xmlns:p14="http://schemas.microsoft.com/office/powerpoint/2010/main" val="4113223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31</a:t>
            </a:fld>
            <a:endParaRPr lang="zh-CN" altLang="en-US"/>
          </a:p>
        </p:txBody>
      </p:sp>
    </p:spTree>
    <p:extLst>
      <p:ext uri="{BB962C8B-B14F-4D97-AF65-F5344CB8AC3E}">
        <p14:creationId xmlns:p14="http://schemas.microsoft.com/office/powerpoint/2010/main" val="2282551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4237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9568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107780534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67967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extLst>
      <p:ext uri="{BB962C8B-B14F-4D97-AF65-F5344CB8AC3E}">
        <p14:creationId xmlns:p14="http://schemas.microsoft.com/office/powerpoint/2010/main" val="35112795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2793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37698044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9585"/>
            <a:r>
              <a:rPr lang="zh-CN" altLang="en-US" sz="1867" dirty="0">
                <a:solidFill>
                  <a:srgbClr val="FFFFFF"/>
                </a:solidFill>
                <a:latin typeface="Segoe UI Light"/>
                <a:cs typeface="Segoe UI Light"/>
              </a:rPr>
              <a:t>标注</a:t>
            </a:r>
          </a:p>
        </p:txBody>
      </p:sp>
      <p:sp>
        <p:nvSpPr>
          <p:cNvPr id="8" name="矩形 7"/>
          <p:cNvSpPr/>
          <p:nvPr userDrawn="1"/>
        </p:nvSpPr>
        <p:spPr>
          <a:xfrm>
            <a:off x="2857674" y="841948"/>
            <a:ext cx="1402001" cy="3292440"/>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字体使用 </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行距</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背景图片出处</a:t>
            </a: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声明</a:t>
            </a:r>
            <a:endParaRPr lang="en-US" altLang="zh-CN" sz="1333" dirty="0">
              <a:solidFill>
                <a:srgbClr val="FFFFFF"/>
              </a:solidFill>
              <a:latin typeface="Segoe UI Light"/>
              <a:cs typeface="Segoe UI Light"/>
            </a:endParaRPr>
          </a:p>
        </p:txBody>
      </p:sp>
      <p:sp>
        <p:nvSpPr>
          <p:cNvPr id="9" name="矩形 8"/>
          <p:cNvSpPr/>
          <p:nvPr userDrawn="1"/>
        </p:nvSpPr>
        <p:spPr>
          <a:xfrm>
            <a:off x="4395052" y="841948"/>
            <a:ext cx="3727457" cy="3825791"/>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英文 </a:t>
            </a:r>
            <a:r>
              <a:rPr lang="en-US" altLang="zh-CN" sz="1333" dirty="0" smtClean="0">
                <a:solidFill>
                  <a:srgbClr val="FFFFFF"/>
                </a:solidFill>
                <a:latin typeface="Segoe UI Light"/>
                <a:cs typeface="Segoe UI Light"/>
              </a:rPr>
              <a:t>Calibri</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中文 微软雅黑</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正文 </a:t>
            </a:r>
            <a:r>
              <a:rPr lang="en-US" altLang="zh-CN" sz="1333" dirty="0">
                <a:solidFill>
                  <a:srgbClr val="FFFFFF"/>
                </a:solidFill>
                <a:latin typeface="Segoe UI Light"/>
                <a:cs typeface="Segoe UI Light"/>
              </a:rPr>
              <a:t>1.3</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en-US" altLang="zh-CN" sz="1333" dirty="0" err="1">
                <a:solidFill>
                  <a:srgbClr val="FFFFFF"/>
                </a:solidFill>
                <a:latin typeface="Segoe UI Light"/>
                <a:cs typeface="Segoe UI Light"/>
              </a:rPr>
              <a:t>cn.bing.com</a:t>
            </a: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prstClr val="white"/>
                </a:solidFill>
              </a:rPr>
              <a:t>互联网是一个开放共享的平台</a:t>
            </a:r>
          </a:p>
          <a:p>
            <a:pPr defTabSz="609585">
              <a:lnSpc>
                <a:spcPct val="130000"/>
              </a:lnSpc>
            </a:pPr>
            <a:r>
              <a:rPr lang="zh-CN" altLang="en-US" sz="1333" dirty="0" smtClean="0">
                <a:solidFill>
                  <a:prstClr val="white"/>
                </a:solidFill>
              </a:rPr>
              <a:t>Office</a:t>
            </a:r>
            <a:r>
              <a:rPr lang="en-US" altLang="zh-CN" sz="1333" dirty="0" smtClean="0">
                <a:solidFill>
                  <a:prstClr val="white"/>
                </a:solidFill>
              </a:rPr>
              <a:t>PLUS</a:t>
            </a:r>
            <a:r>
              <a:rPr lang="zh-CN" altLang="en-US" sz="1333" dirty="0" smtClean="0">
                <a:solidFill>
                  <a:prstClr val="white"/>
                </a:solidFill>
              </a:rPr>
              <a:t> </a:t>
            </a:r>
            <a:r>
              <a:rPr lang="zh-CN" altLang="en-US" sz="1333" dirty="0">
                <a:solidFill>
                  <a:prstClr val="white"/>
                </a:solidFill>
              </a:rPr>
              <a:t>部分设计灵感与元素来源于网络</a:t>
            </a:r>
          </a:p>
          <a:p>
            <a:pPr defTabSz="609585">
              <a:lnSpc>
                <a:spcPct val="130000"/>
              </a:lnSpc>
            </a:pPr>
            <a:r>
              <a:rPr lang="zh-CN" altLang="en-US" sz="1333" dirty="0">
                <a:solidFill>
                  <a:prstClr val="white"/>
                </a:solidFill>
              </a:rPr>
              <a:t>如有建议请联系officeplus@microsoft.com</a:t>
            </a:r>
            <a:endParaRPr lang="en-US" altLang="zh-CN" sz="1333" dirty="0">
              <a:solidFill>
                <a:srgbClr val="FFFFFF"/>
              </a:solidFill>
              <a:latin typeface="Segoe UI Light"/>
              <a:cs typeface="Segoe UI Light"/>
            </a:endParaRPr>
          </a:p>
        </p:txBody>
      </p:sp>
      <p:sp>
        <p:nvSpPr>
          <p:cNvPr id="10" name="矩形 9"/>
          <p:cNvSpPr/>
          <p:nvPr userDrawn="1"/>
        </p:nvSpPr>
        <p:spPr>
          <a:xfrm>
            <a:off x="440603" y="182445"/>
            <a:ext cx="816249" cy="256545"/>
          </a:xfrm>
          <a:prstGeom prst="rect">
            <a:avLst/>
          </a:prstGeom>
        </p:spPr>
        <p:txBody>
          <a:bodyPr wrap="none">
            <a:spAutoFit/>
          </a:bodyPr>
          <a:lstStyle/>
          <a:p>
            <a:pPr defTabSz="609585"/>
            <a:r>
              <a:rPr kumimoji="1" lang="en-US" altLang="zh-CN" sz="1067" dirty="0" err="1" smtClean="0">
                <a:solidFill>
                  <a:srgbClr val="FFFFFF"/>
                </a:solidFill>
                <a:latin typeface="Segoe UI Light"/>
                <a:cs typeface="Segoe UI Light"/>
              </a:rPr>
              <a:t>OfficePLUS</a:t>
            </a:r>
            <a:endParaRPr lang="zh-CN" altLang="en-US" sz="1067" dirty="0">
              <a:solidFill>
                <a:srgbClr val="FFFFFF"/>
              </a:solidFill>
              <a:latin typeface="Segoe UI Light"/>
              <a:cs typeface="Segoe UI Light"/>
            </a:endParaRPr>
          </a:p>
        </p:txBody>
      </p:sp>
    </p:spTree>
    <p:extLst>
      <p:ext uri="{BB962C8B-B14F-4D97-AF65-F5344CB8AC3E}">
        <p14:creationId xmlns:p14="http://schemas.microsoft.com/office/powerpoint/2010/main" val="1982807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3" dirty="0">
                <a:solidFill>
                  <a:schemeClr val="tx1">
                    <a:lumMod val="75000"/>
                    <a:lumOff val="25000"/>
                  </a:schemeClr>
                </a:solidFill>
              </a:rPr>
              <a:t>点击</a:t>
            </a:r>
            <a:r>
              <a:rPr kumimoji="1" lang="en-US" altLang="zh-CN" sz="1333" dirty="0">
                <a:solidFill>
                  <a:schemeClr val="tx1">
                    <a:lumMod val="75000"/>
                    <a:lumOff val="25000"/>
                  </a:schemeClr>
                </a:solidFill>
              </a:rPr>
              <a:t>Logo</a:t>
            </a:r>
            <a:r>
              <a:rPr kumimoji="1" lang="zh-CN" altLang="en-US" sz="1333" dirty="0">
                <a:solidFill>
                  <a:schemeClr val="tx1">
                    <a:lumMod val="75000"/>
                    <a:lumOff val="25000"/>
                  </a:schemeClr>
                </a:solidFill>
              </a:rPr>
              <a:t>获取更多优质模板（放映模式）</a:t>
            </a:r>
          </a:p>
        </p:txBody>
      </p:sp>
    </p:spTree>
    <p:extLst>
      <p:ext uri="{BB962C8B-B14F-4D97-AF65-F5344CB8AC3E}">
        <p14:creationId xmlns:p14="http://schemas.microsoft.com/office/powerpoint/2010/main" val="39118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69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7" r:id="rId4"/>
    <p:sldLayoutId id="2147483651" r:id="rId5"/>
    <p:sldLayoutId id="2147483652" r:id="rId6"/>
    <p:sldLayoutId id="2147483653" r:id="rId7"/>
    <p:sldLayoutId id="2147483655" r:id="rId8"/>
    <p:sldLayoutId id="2147483656"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42" Type="http://schemas.openxmlformats.org/officeDocument/2006/relationships/tags" Target="../tags/tag42.xml"/><Relationship Id="rId47" Type="http://schemas.openxmlformats.org/officeDocument/2006/relationships/tags" Target="../tags/tag47.xml"/><Relationship Id="rId63" Type="http://schemas.openxmlformats.org/officeDocument/2006/relationships/tags" Target="../tags/tag63.xml"/><Relationship Id="rId68" Type="http://schemas.openxmlformats.org/officeDocument/2006/relationships/tags" Target="../tags/tag68.xml"/><Relationship Id="rId2" Type="http://schemas.openxmlformats.org/officeDocument/2006/relationships/tags" Target="../tags/tag2.xml"/><Relationship Id="rId16" Type="http://schemas.openxmlformats.org/officeDocument/2006/relationships/tags" Target="../tags/tag16.xml"/><Relationship Id="rId29" Type="http://schemas.openxmlformats.org/officeDocument/2006/relationships/tags" Target="../tags/tag29.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tags" Target="../tags/tag40.xml"/><Relationship Id="rId45" Type="http://schemas.openxmlformats.org/officeDocument/2006/relationships/tags" Target="../tags/tag45.xml"/><Relationship Id="rId53" Type="http://schemas.openxmlformats.org/officeDocument/2006/relationships/tags" Target="../tags/tag53.xml"/><Relationship Id="rId58" Type="http://schemas.openxmlformats.org/officeDocument/2006/relationships/tags" Target="../tags/tag58.xml"/><Relationship Id="rId66" Type="http://schemas.openxmlformats.org/officeDocument/2006/relationships/tags" Target="../tags/tag66.xml"/><Relationship Id="rId74" Type="http://schemas.openxmlformats.org/officeDocument/2006/relationships/tags" Target="../tags/tag74.xml"/><Relationship Id="rId5" Type="http://schemas.openxmlformats.org/officeDocument/2006/relationships/tags" Target="../tags/tag5.xml"/><Relationship Id="rId61" Type="http://schemas.openxmlformats.org/officeDocument/2006/relationships/tags" Target="../tags/tag61.xml"/><Relationship Id="rId19" Type="http://schemas.openxmlformats.org/officeDocument/2006/relationships/tags" Target="../tags/tag1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 Id="rId48" Type="http://schemas.openxmlformats.org/officeDocument/2006/relationships/tags" Target="../tags/tag48.xml"/><Relationship Id="rId56" Type="http://schemas.openxmlformats.org/officeDocument/2006/relationships/tags" Target="../tags/tag56.xml"/><Relationship Id="rId64" Type="http://schemas.openxmlformats.org/officeDocument/2006/relationships/tags" Target="../tags/tag64.xml"/><Relationship Id="rId69" Type="http://schemas.openxmlformats.org/officeDocument/2006/relationships/tags" Target="../tags/tag69.xml"/><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67" Type="http://schemas.openxmlformats.org/officeDocument/2006/relationships/tags" Target="../tags/tag67.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tags" Target="../tags/tag62.xml"/><Relationship Id="rId70" Type="http://schemas.openxmlformats.org/officeDocument/2006/relationships/tags" Target="../tags/tag70.xml"/><Relationship Id="rId75" Type="http://schemas.openxmlformats.org/officeDocument/2006/relationships/tags" Target="../tags/tag75.xml"/><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tags" Target="../tags/tag65.xml"/><Relationship Id="rId73" Type="http://schemas.openxmlformats.org/officeDocument/2006/relationships/tags" Target="../tags/tag73.xm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slideLayout" Target="../slideLayouts/slideLayout2.xml"/><Relationship Id="rId7" Type="http://schemas.openxmlformats.org/officeDocument/2006/relationships/tags" Target="../tags/tag7.xml"/><Relationship Id="rId71" Type="http://schemas.openxmlformats.org/officeDocument/2006/relationships/tags" Target="../tags/tag7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extLst>
      <p:ext uri="{BB962C8B-B14F-4D97-AF65-F5344CB8AC3E}">
        <p14:creationId xmlns:p14="http://schemas.microsoft.com/office/powerpoint/2010/main" val="3586063360"/>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210674" y="2343933"/>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ONE</a:t>
            </a:r>
            <a:endParaRPr kumimoji="1" lang="zh-CN" altLang="en-US" sz="2800" b="1" dirty="0">
              <a:solidFill>
                <a:schemeClr val="bg1"/>
              </a:solidFill>
            </a:endParaRPr>
          </a:p>
        </p:txBody>
      </p:sp>
      <p:sp>
        <p:nvSpPr>
          <p:cNvPr id="7" name="文本框 6"/>
          <p:cNvSpPr txBox="1"/>
          <p:nvPr/>
        </p:nvSpPr>
        <p:spPr>
          <a:xfrm>
            <a:off x="1210674" y="4165391"/>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TWO</a:t>
            </a:r>
            <a:endParaRPr kumimoji="1" lang="zh-CN" altLang="en-US" sz="2800" b="1" dirty="0">
              <a:solidFill>
                <a:schemeClr val="bg1"/>
              </a:solidFill>
            </a:endParaRPr>
          </a:p>
        </p:txBody>
      </p:sp>
      <p:sp>
        <p:nvSpPr>
          <p:cNvPr id="8" name="矩形 7"/>
          <p:cNvSpPr/>
          <p:nvPr/>
        </p:nvSpPr>
        <p:spPr>
          <a:xfrm>
            <a:off x="1106920"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项目背景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106920"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项目提出</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154396" y="2343933"/>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a:solidFill>
                  <a:schemeClr val="bg1"/>
                </a:solidFill>
              </a:rPr>
              <a:t> </a:t>
            </a:r>
            <a:r>
              <a:rPr kumimoji="1" lang="en-US" altLang="zh-CN" sz="2800" b="1" dirty="0" smtClean="0">
                <a:solidFill>
                  <a:schemeClr val="bg1"/>
                </a:solidFill>
              </a:rPr>
              <a:t>THREE</a:t>
            </a:r>
            <a:endParaRPr kumimoji="1" lang="zh-CN" altLang="en-US" sz="2800" b="1" dirty="0">
              <a:solidFill>
                <a:schemeClr val="bg1"/>
              </a:solidFill>
            </a:endParaRPr>
          </a:p>
        </p:txBody>
      </p:sp>
      <p:sp>
        <p:nvSpPr>
          <p:cNvPr id="11" name="文本框 10"/>
          <p:cNvSpPr txBox="1"/>
          <p:nvPr/>
        </p:nvSpPr>
        <p:spPr>
          <a:xfrm>
            <a:off x="7154396" y="4165391"/>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FOUR</a:t>
            </a:r>
            <a:endParaRPr kumimoji="1" lang="zh-CN" altLang="en-US" sz="2800" b="1" dirty="0">
              <a:solidFill>
                <a:schemeClr val="bg1"/>
              </a:solidFill>
            </a:endParaRPr>
          </a:p>
        </p:txBody>
      </p:sp>
      <p:sp>
        <p:nvSpPr>
          <p:cNvPr id="12" name="矩形 11"/>
          <p:cNvSpPr/>
          <p:nvPr/>
        </p:nvSpPr>
        <p:spPr>
          <a:xfrm>
            <a:off x="7050642"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平台方案</a:t>
            </a:r>
            <a:r>
              <a:rPr lang="en-US" altLang="zh-CN" dirty="0" smtClean="0">
                <a:solidFill>
                  <a:srgbClr val="103154"/>
                </a:solidFill>
                <a:latin typeface="微软雅黑" panose="020B0503020204020204" pitchFamily="34" charset="-122"/>
                <a:ea typeface="微软雅黑" panose="020B0503020204020204" pitchFamily="34" charset="-122"/>
              </a:rPr>
              <a:t>&amp;</a:t>
            </a:r>
            <a:r>
              <a:rPr lang="zh-CN" altLang="en-US" dirty="0" smtClean="0">
                <a:solidFill>
                  <a:srgbClr val="103154"/>
                </a:solidFill>
                <a:latin typeface="微软雅黑" panose="020B0503020204020204" pitchFamily="34" charset="-122"/>
                <a:ea typeface="微软雅黑" panose="020B0503020204020204" pitchFamily="34" charset="-122"/>
              </a:rPr>
              <a:t>架构</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3" name="矩形 12"/>
          <p:cNvSpPr/>
          <p:nvPr/>
        </p:nvSpPr>
        <p:spPr>
          <a:xfrm>
            <a:off x="7050642"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工作进展</a:t>
            </a:r>
            <a:endParaRPr lang="zh-CN" altLang="en-US" dirty="0">
              <a:solidFill>
                <a:srgbClr val="103154"/>
              </a:solidFill>
              <a:latin typeface="微软雅黑" panose="020B0503020204020204" pitchFamily="34" charset="-122"/>
              <a:ea typeface="微软雅黑" panose="020B0503020204020204" pitchFamily="34" charset="-122"/>
            </a:endParaRPr>
          </a:p>
        </p:txBody>
      </p:sp>
      <p:cxnSp>
        <p:nvCxnSpPr>
          <p:cNvPr id="14" name="直线连接符 16"/>
          <p:cNvCxnSpPr/>
          <p:nvPr/>
        </p:nvCxnSpPr>
        <p:spPr>
          <a:xfrm>
            <a:off x="606230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78796"/>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网维工作的现状</a:t>
            </a:r>
            <a:endParaRPr lang="zh-CN" altLang="en-US" dirty="0">
              <a:solidFill>
                <a:srgbClr val="333F50"/>
              </a:solidFill>
            </a:endParaRPr>
          </a:p>
        </p:txBody>
      </p:sp>
      <p:grpSp>
        <p:nvGrpSpPr>
          <p:cNvPr id="54" name="Group 13"/>
          <p:cNvGrpSpPr>
            <a:grpSpLocks noChangeAspect="1"/>
          </p:cNvGrpSpPr>
          <p:nvPr/>
        </p:nvGrpSpPr>
        <p:grpSpPr bwMode="auto">
          <a:xfrm>
            <a:off x="4462463" y="2525713"/>
            <a:ext cx="2689225" cy="2711450"/>
            <a:chOff x="1219" y="-53"/>
            <a:chExt cx="3321" cy="3348"/>
          </a:xfrm>
        </p:grpSpPr>
        <p:sp>
          <p:nvSpPr>
            <p:cNvPr id="55" name="Freeform 14"/>
            <p:cNvSpPr>
              <a:spLocks/>
            </p:cNvSpPr>
            <p:nvPr/>
          </p:nvSpPr>
          <p:spPr bwMode="auto">
            <a:xfrm>
              <a:off x="1219" y="265"/>
              <a:ext cx="1680" cy="1899"/>
            </a:xfrm>
            <a:custGeom>
              <a:avLst/>
              <a:gdLst>
                <a:gd name="T0" fmla="*/ 2311 w 2311"/>
                <a:gd name="T1" fmla="*/ 440 h 2611"/>
                <a:gd name="T2" fmla="*/ 1335 w 2311"/>
                <a:gd name="T3" fmla="*/ 1278 h 2611"/>
                <a:gd name="T4" fmla="*/ 865 w 2311"/>
                <a:gd name="T5" fmla="*/ 1829 h 2611"/>
                <a:gd name="T6" fmla="*/ 488 w 2311"/>
                <a:gd name="T7" fmla="*/ 2599 h 2611"/>
                <a:gd name="T8" fmla="*/ 470 w 2311"/>
                <a:gd name="T9" fmla="*/ 2611 h 2611"/>
                <a:gd name="T10" fmla="*/ 87 w 2311"/>
                <a:gd name="T11" fmla="*/ 1937 h 2611"/>
                <a:gd name="T12" fmla="*/ 933 w 2311"/>
                <a:gd name="T13" fmla="*/ 616 h 2611"/>
                <a:gd name="T14" fmla="*/ 1535 w 2311"/>
                <a:gd name="T15" fmla="*/ 47 h 2611"/>
                <a:gd name="T16" fmla="*/ 2311 w 2311"/>
                <a:gd name="T17" fmla="*/ 440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1" h="2611">
                  <a:moveTo>
                    <a:pt x="2311" y="440"/>
                  </a:moveTo>
                  <a:cubicBezTo>
                    <a:pt x="2062" y="586"/>
                    <a:pt x="1700" y="891"/>
                    <a:pt x="1335" y="1278"/>
                  </a:cubicBezTo>
                  <a:cubicBezTo>
                    <a:pt x="1156" y="1469"/>
                    <a:pt x="996" y="1657"/>
                    <a:pt x="865" y="1829"/>
                  </a:cubicBezTo>
                  <a:cubicBezTo>
                    <a:pt x="582" y="2201"/>
                    <a:pt x="429" y="2501"/>
                    <a:pt x="488" y="2599"/>
                  </a:cubicBezTo>
                  <a:cubicBezTo>
                    <a:pt x="470" y="2611"/>
                    <a:pt x="470" y="2611"/>
                    <a:pt x="470" y="2611"/>
                  </a:cubicBezTo>
                  <a:cubicBezTo>
                    <a:pt x="244" y="2334"/>
                    <a:pt x="87" y="1937"/>
                    <a:pt x="87" y="1937"/>
                  </a:cubicBezTo>
                  <a:cubicBezTo>
                    <a:pt x="0" y="1793"/>
                    <a:pt x="368" y="1216"/>
                    <a:pt x="933" y="616"/>
                  </a:cubicBezTo>
                  <a:cubicBezTo>
                    <a:pt x="1142" y="395"/>
                    <a:pt x="1349" y="201"/>
                    <a:pt x="1535" y="47"/>
                  </a:cubicBezTo>
                  <a:cubicBezTo>
                    <a:pt x="1642" y="0"/>
                    <a:pt x="1943" y="157"/>
                    <a:pt x="2311" y="440"/>
                  </a:cubicBezTo>
                  <a:close/>
                </a:path>
              </a:pathLst>
            </a:custGeom>
            <a:solidFill>
              <a:schemeClr val="accent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6" name="Freeform 15"/>
            <p:cNvSpPr>
              <a:spLocks/>
            </p:cNvSpPr>
            <p:nvPr/>
          </p:nvSpPr>
          <p:spPr bwMode="auto">
            <a:xfrm>
              <a:off x="1519" y="1596"/>
              <a:ext cx="1904" cy="1699"/>
            </a:xfrm>
            <a:custGeom>
              <a:avLst/>
              <a:gdLst>
                <a:gd name="T0" fmla="*/ 2618 w 2618"/>
                <a:gd name="T1" fmla="*/ 1852 h 2337"/>
                <a:gd name="T2" fmla="*/ 2615 w 2618"/>
                <a:gd name="T3" fmla="*/ 1855 h 2337"/>
                <a:gd name="T4" fmla="*/ 1965 w 2618"/>
                <a:gd name="T5" fmla="*/ 2250 h 2337"/>
                <a:gd name="T6" fmla="*/ 644 w 2618"/>
                <a:gd name="T7" fmla="*/ 1403 h 2337"/>
                <a:gd name="T8" fmla="*/ 59 w 2618"/>
                <a:gd name="T9" fmla="*/ 782 h 2337"/>
                <a:gd name="T10" fmla="*/ 59 w 2618"/>
                <a:gd name="T11" fmla="*/ 782 h 2337"/>
                <a:gd name="T12" fmla="*/ 454 w 2618"/>
                <a:gd name="T13" fmla="*/ 0 h 2337"/>
                <a:gd name="T14" fmla="*/ 1306 w 2618"/>
                <a:gd name="T15" fmla="*/ 1001 h 2337"/>
                <a:gd name="T16" fmla="*/ 1842 w 2618"/>
                <a:gd name="T17" fmla="*/ 1460 h 2337"/>
                <a:gd name="T18" fmla="*/ 2618 w 2618"/>
                <a:gd name="T19" fmla="*/ 1852 h 2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7">
                  <a:moveTo>
                    <a:pt x="2618" y="1852"/>
                  </a:moveTo>
                  <a:cubicBezTo>
                    <a:pt x="2617" y="1853"/>
                    <a:pt x="2616" y="1854"/>
                    <a:pt x="2615" y="1855"/>
                  </a:cubicBezTo>
                  <a:cubicBezTo>
                    <a:pt x="2360" y="2065"/>
                    <a:pt x="1965" y="2250"/>
                    <a:pt x="1965" y="2250"/>
                  </a:cubicBezTo>
                  <a:cubicBezTo>
                    <a:pt x="1821" y="2337"/>
                    <a:pt x="1244" y="1968"/>
                    <a:pt x="644" y="1403"/>
                  </a:cubicBezTo>
                  <a:cubicBezTo>
                    <a:pt x="415" y="1187"/>
                    <a:pt x="215" y="973"/>
                    <a:pt x="59" y="782"/>
                  </a:cubicBezTo>
                  <a:cubicBezTo>
                    <a:pt x="59" y="782"/>
                    <a:pt x="59" y="782"/>
                    <a:pt x="59" y="782"/>
                  </a:cubicBezTo>
                  <a:cubicBezTo>
                    <a:pt x="0" y="684"/>
                    <a:pt x="171" y="372"/>
                    <a:pt x="454" y="0"/>
                  </a:cubicBezTo>
                  <a:cubicBezTo>
                    <a:pt x="593" y="251"/>
                    <a:pt x="906" y="624"/>
                    <a:pt x="1306" y="1001"/>
                  </a:cubicBezTo>
                  <a:cubicBezTo>
                    <a:pt x="1491" y="1176"/>
                    <a:pt x="1674" y="1331"/>
                    <a:pt x="1842" y="1460"/>
                  </a:cubicBezTo>
                  <a:cubicBezTo>
                    <a:pt x="2211" y="1743"/>
                    <a:pt x="2511" y="1900"/>
                    <a:pt x="2618" y="1852"/>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7" name="Freeform 16"/>
            <p:cNvSpPr>
              <a:spLocks/>
            </p:cNvSpPr>
            <p:nvPr/>
          </p:nvSpPr>
          <p:spPr bwMode="auto">
            <a:xfrm>
              <a:off x="3421" y="2938"/>
              <a:ext cx="8" cy="6"/>
            </a:xfrm>
            <a:custGeom>
              <a:avLst/>
              <a:gdLst>
                <a:gd name="T0" fmla="*/ 12 w 12"/>
                <a:gd name="T1" fmla="*/ 0 h 7"/>
                <a:gd name="T2" fmla="*/ 0 w 12"/>
                <a:gd name="T3" fmla="*/ 7 h 7"/>
                <a:gd name="T4" fmla="*/ 3 w 12"/>
                <a:gd name="T5" fmla="*/ 4 h 7"/>
                <a:gd name="T6" fmla="*/ 4 w 12"/>
                <a:gd name="T7" fmla="*/ 4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0" y="7"/>
                    <a:pt x="0" y="7"/>
                    <a:pt x="0" y="7"/>
                  </a:cubicBezTo>
                  <a:cubicBezTo>
                    <a:pt x="1" y="6"/>
                    <a:pt x="2" y="5"/>
                    <a:pt x="3" y="4"/>
                  </a:cubicBezTo>
                  <a:cubicBezTo>
                    <a:pt x="4" y="4"/>
                    <a:pt x="4" y="4"/>
                    <a:pt x="4" y="4"/>
                  </a:cubicBezTo>
                  <a:cubicBezTo>
                    <a:pt x="6" y="3"/>
                    <a:pt x="9" y="2"/>
                    <a:pt x="12" y="0"/>
                  </a:cubicBezTo>
                  <a:close/>
                </a:path>
              </a:pathLst>
            </a:custGeom>
            <a:solidFill>
              <a:srgbClr val="ED546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8" name="Freeform 17"/>
            <p:cNvSpPr>
              <a:spLocks/>
            </p:cNvSpPr>
            <p:nvPr/>
          </p:nvSpPr>
          <p:spPr bwMode="auto">
            <a:xfrm>
              <a:off x="2858" y="1078"/>
              <a:ext cx="1682" cy="1899"/>
            </a:xfrm>
            <a:custGeom>
              <a:avLst/>
              <a:gdLst>
                <a:gd name="T0" fmla="*/ 2225 w 2312"/>
                <a:gd name="T1" fmla="*/ 674 h 2611"/>
                <a:gd name="T2" fmla="*/ 1378 w 2312"/>
                <a:gd name="T3" fmla="*/ 1994 h 2611"/>
                <a:gd name="T4" fmla="*/ 777 w 2312"/>
                <a:gd name="T5" fmla="*/ 2563 h 2611"/>
                <a:gd name="T6" fmla="*/ 776 w 2312"/>
                <a:gd name="T7" fmla="*/ 2563 h 2611"/>
                <a:gd name="T8" fmla="*/ 0 w 2312"/>
                <a:gd name="T9" fmla="*/ 2171 h 2611"/>
                <a:gd name="T10" fmla="*/ 976 w 2312"/>
                <a:gd name="T11" fmla="*/ 1332 h 2611"/>
                <a:gd name="T12" fmla="*/ 1447 w 2312"/>
                <a:gd name="T13" fmla="*/ 781 h 2611"/>
                <a:gd name="T14" fmla="*/ 1823 w 2312"/>
                <a:gd name="T15" fmla="*/ 12 h 2611"/>
                <a:gd name="T16" fmla="*/ 1841 w 2312"/>
                <a:gd name="T17" fmla="*/ 0 h 2611"/>
                <a:gd name="T18" fmla="*/ 2225 w 2312"/>
                <a:gd name="T19" fmla="*/ 674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12" h="2611">
                  <a:moveTo>
                    <a:pt x="2225" y="674"/>
                  </a:moveTo>
                  <a:cubicBezTo>
                    <a:pt x="2312" y="817"/>
                    <a:pt x="1943" y="1395"/>
                    <a:pt x="1378" y="1994"/>
                  </a:cubicBezTo>
                  <a:cubicBezTo>
                    <a:pt x="1170" y="2216"/>
                    <a:pt x="962" y="2410"/>
                    <a:pt x="777" y="2563"/>
                  </a:cubicBezTo>
                  <a:cubicBezTo>
                    <a:pt x="776" y="2563"/>
                    <a:pt x="776" y="2563"/>
                    <a:pt x="776" y="2563"/>
                  </a:cubicBezTo>
                  <a:cubicBezTo>
                    <a:pt x="669" y="2611"/>
                    <a:pt x="369" y="2454"/>
                    <a:pt x="0" y="2171"/>
                  </a:cubicBezTo>
                  <a:cubicBezTo>
                    <a:pt x="250" y="2025"/>
                    <a:pt x="611" y="1720"/>
                    <a:pt x="976" y="1332"/>
                  </a:cubicBezTo>
                  <a:cubicBezTo>
                    <a:pt x="1156" y="1142"/>
                    <a:pt x="1315" y="954"/>
                    <a:pt x="1447" y="781"/>
                  </a:cubicBezTo>
                  <a:cubicBezTo>
                    <a:pt x="1729" y="410"/>
                    <a:pt x="1882" y="110"/>
                    <a:pt x="1823" y="12"/>
                  </a:cubicBezTo>
                  <a:cubicBezTo>
                    <a:pt x="1841" y="0"/>
                    <a:pt x="1841" y="0"/>
                    <a:pt x="1841" y="0"/>
                  </a:cubicBezTo>
                  <a:cubicBezTo>
                    <a:pt x="2067" y="277"/>
                    <a:pt x="2225" y="674"/>
                    <a:pt x="2225" y="674"/>
                  </a:cubicBezTo>
                  <a:close/>
                </a:path>
              </a:pathLst>
            </a:custGeom>
            <a:solidFill>
              <a:schemeClr val="accent1"/>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9" name="Freeform 18"/>
            <p:cNvSpPr>
              <a:spLocks/>
            </p:cNvSpPr>
            <p:nvPr/>
          </p:nvSpPr>
          <p:spPr bwMode="auto">
            <a:xfrm>
              <a:off x="2336" y="-53"/>
              <a:ext cx="1904" cy="1699"/>
            </a:xfrm>
            <a:custGeom>
              <a:avLst/>
              <a:gdLst>
                <a:gd name="T0" fmla="*/ 2559 w 2618"/>
                <a:gd name="T1" fmla="*/ 1555 h 2336"/>
                <a:gd name="T2" fmla="*/ 2559 w 2618"/>
                <a:gd name="T3" fmla="*/ 1555 h 2336"/>
                <a:gd name="T4" fmla="*/ 2165 w 2618"/>
                <a:gd name="T5" fmla="*/ 2336 h 2336"/>
                <a:gd name="T6" fmla="*/ 1312 w 2618"/>
                <a:gd name="T7" fmla="*/ 1335 h 2336"/>
                <a:gd name="T8" fmla="*/ 776 w 2618"/>
                <a:gd name="T9" fmla="*/ 877 h 2336"/>
                <a:gd name="T10" fmla="*/ 0 w 2618"/>
                <a:gd name="T11" fmla="*/ 484 h 2336"/>
                <a:gd name="T12" fmla="*/ 3 w 2618"/>
                <a:gd name="T13" fmla="*/ 482 h 2336"/>
                <a:gd name="T14" fmla="*/ 654 w 2618"/>
                <a:gd name="T15" fmla="*/ 87 h 2336"/>
                <a:gd name="T16" fmla="*/ 1974 w 2618"/>
                <a:gd name="T17" fmla="*/ 933 h 2336"/>
                <a:gd name="T18" fmla="*/ 2559 w 2618"/>
                <a:gd name="T19" fmla="*/ 1555 h 2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6">
                  <a:moveTo>
                    <a:pt x="2559" y="1555"/>
                  </a:moveTo>
                  <a:cubicBezTo>
                    <a:pt x="2559" y="1555"/>
                    <a:pt x="2559" y="1555"/>
                    <a:pt x="2559" y="1555"/>
                  </a:cubicBezTo>
                  <a:cubicBezTo>
                    <a:pt x="2618" y="1652"/>
                    <a:pt x="2447" y="1965"/>
                    <a:pt x="2165" y="2336"/>
                  </a:cubicBezTo>
                  <a:cubicBezTo>
                    <a:pt x="2025" y="2086"/>
                    <a:pt x="1713" y="1713"/>
                    <a:pt x="1312" y="1335"/>
                  </a:cubicBezTo>
                  <a:cubicBezTo>
                    <a:pt x="1127" y="1161"/>
                    <a:pt x="945" y="1006"/>
                    <a:pt x="776" y="877"/>
                  </a:cubicBezTo>
                  <a:cubicBezTo>
                    <a:pt x="408" y="594"/>
                    <a:pt x="107" y="437"/>
                    <a:pt x="0" y="484"/>
                  </a:cubicBezTo>
                  <a:cubicBezTo>
                    <a:pt x="1" y="483"/>
                    <a:pt x="2" y="483"/>
                    <a:pt x="3" y="482"/>
                  </a:cubicBezTo>
                  <a:cubicBezTo>
                    <a:pt x="258" y="272"/>
                    <a:pt x="654" y="87"/>
                    <a:pt x="654" y="87"/>
                  </a:cubicBezTo>
                  <a:cubicBezTo>
                    <a:pt x="797" y="0"/>
                    <a:pt x="1375" y="368"/>
                    <a:pt x="1974" y="933"/>
                  </a:cubicBezTo>
                  <a:cubicBezTo>
                    <a:pt x="2203" y="1149"/>
                    <a:pt x="2403" y="1364"/>
                    <a:pt x="2559" y="1555"/>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60" name="Freeform 19"/>
            <p:cNvSpPr>
              <a:spLocks/>
            </p:cNvSpPr>
            <p:nvPr/>
          </p:nvSpPr>
          <p:spPr bwMode="auto">
            <a:xfrm>
              <a:off x="2331" y="298"/>
              <a:ext cx="8" cy="6"/>
            </a:xfrm>
            <a:custGeom>
              <a:avLst/>
              <a:gdLst>
                <a:gd name="T0" fmla="*/ 11 w 11"/>
                <a:gd name="T1" fmla="*/ 0 h 7"/>
                <a:gd name="T2" fmla="*/ 8 w 11"/>
                <a:gd name="T3" fmla="*/ 2 h 7"/>
                <a:gd name="T4" fmla="*/ 0 w 11"/>
                <a:gd name="T5" fmla="*/ 7 h 7"/>
                <a:gd name="T6" fmla="*/ 11 w 11"/>
                <a:gd name="T7" fmla="*/ 0 h 7"/>
              </a:gdLst>
              <a:ahLst/>
              <a:cxnLst>
                <a:cxn ang="0">
                  <a:pos x="T0" y="T1"/>
                </a:cxn>
                <a:cxn ang="0">
                  <a:pos x="T2" y="T3"/>
                </a:cxn>
                <a:cxn ang="0">
                  <a:pos x="T4" y="T5"/>
                </a:cxn>
                <a:cxn ang="0">
                  <a:pos x="T6" y="T7"/>
                </a:cxn>
              </a:cxnLst>
              <a:rect l="0" t="0" r="r" b="b"/>
              <a:pathLst>
                <a:path w="11" h="7">
                  <a:moveTo>
                    <a:pt x="11" y="0"/>
                  </a:moveTo>
                  <a:cubicBezTo>
                    <a:pt x="10" y="1"/>
                    <a:pt x="9" y="1"/>
                    <a:pt x="8" y="2"/>
                  </a:cubicBezTo>
                  <a:cubicBezTo>
                    <a:pt x="5" y="4"/>
                    <a:pt x="2" y="5"/>
                    <a:pt x="0" y="7"/>
                  </a:cubicBezTo>
                  <a:lnTo>
                    <a:pt x="11" y="0"/>
                  </a:lnTo>
                  <a:close/>
                </a:path>
              </a:pathLst>
            </a:custGeom>
            <a:solidFill>
              <a:srgbClr val="A1D469"/>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grpSp>
      <p:sp>
        <p:nvSpPr>
          <p:cNvPr id="61" name="Oval 17"/>
          <p:cNvSpPr>
            <a:spLocks noChangeArrowheads="1"/>
          </p:cNvSpPr>
          <p:nvPr/>
        </p:nvSpPr>
        <p:spPr bwMode="auto">
          <a:xfrm>
            <a:off x="2206625" y="2651125"/>
            <a:ext cx="100013" cy="101600"/>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2" name="Group 18"/>
          <p:cNvGrpSpPr>
            <a:grpSpLocks/>
          </p:cNvGrpSpPr>
          <p:nvPr/>
        </p:nvGrpSpPr>
        <p:grpSpPr bwMode="auto">
          <a:xfrm>
            <a:off x="2419350" y="2517775"/>
            <a:ext cx="2286042" cy="1339642"/>
            <a:chOff x="2249510" y="1913096"/>
            <a:chExt cx="3049934" cy="1785923"/>
          </a:xfrm>
        </p:grpSpPr>
        <p:sp>
          <p:nvSpPr>
            <p:cNvPr id="63" name="Rectangle 19"/>
            <p:cNvSpPr/>
            <p:nvPr/>
          </p:nvSpPr>
          <p:spPr>
            <a:xfrm>
              <a:off x="2249510" y="1913096"/>
              <a:ext cx="1872286" cy="49311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分散管理</a:t>
              </a:r>
              <a:endParaRPr lang="en-US" b="1" dirty="0">
                <a:solidFill>
                  <a:schemeClr val="tx1">
                    <a:lumMod val="75000"/>
                    <a:lumOff val="25000"/>
                  </a:schemeClr>
                </a:solidFill>
                <a:latin typeface="Arial"/>
                <a:ea typeface="微软雅黑 Light"/>
                <a:cs typeface="+mn-ea"/>
                <a:sym typeface="Arial"/>
              </a:endParaRPr>
            </a:p>
          </p:txBody>
        </p:sp>
        <p:sp>
          <p:nvSpPr>
            <p:cNvPr id="64" name="TextBox 154"/>
            <p:cNvSpPr txBox="1"/>
            <p:nvPr/>
          </p:nvSpPr>
          <p:spPr>
            <a:xfrm>
              <a:off x="2249510" y="2283458"/>
              <a:ext cx="3049934" cy="1415561"/>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各专业“各自为政”，投入产出比不高，无人掌控全网网络质量</a:t>
              </a:r>
              <a:endParaRPr lang="en-US" altLang="zh-CN" sz="1400" dirty="0">
                <a:latin typeface="+mn-lt"/>
                <a:ea typeface="微软雅黑 Light"/>
                <a:cs typeface="Lato Light" charset="0"/>
                <a:sym typeface="Arial"/>
              </a:endParaRPr>
            </a:p>
          </p:txBody>
        </p:sp>
      </p:grpSp>
      <p:sp>
        <p:nvSpPr>
          <p:cNvPr id="65" name="Oval 21"/>
          <p:cNvSpPr>
            <a:spLocks noChangeArrowheads="1"/>
          </p:cNvSpPr>
          <p:nvPr/>
        </p:nvSpPr>
        <p:spPr bwMode="auto">
          <a:xfrm>
            <a:off x="2206625" y="3978275"/>
            <a:ext cx="100013" cy="100013"/>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6" name="Group 22"/>
          <p:cNvGrpSpPr>
            <a:grpSpLocks/>
          </p:cNvGrpSpPr>
          <p:nvPr/>
        </p:nvGrpSpPr>
        <p:grpSpPr bwMode="auto">
          <a:xfrm>
            <a:off x="2432050" y="3890963"/>
            <a:ext cx="2431430" cy="1328529"/>
            <a:chOff x="2249510" y="1913092"/>
            <a:chExt cx="2846792" cy="1770700"/>
          </a:xfrm>
        </p:grpSpPr>
        <p:sp>
          <p:nvSpPr>
            <p:cNvPr id="67" name="Rectangle 23"/>
            <p:cNvSpPr/>
            <p:nvPr/>
          </p:nvSpPr>
          <p:spPr>
            <a:xfrm>
              <a:off x="2249510" y="1913092"/>
              <a:ext cx="2100324" cy="492996"/>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被动管理</a:t>
              </a:r>
              <a:endParaRPr lang="en-US" b="1" dirty="0">
                <a:solidFill>
                  <a:schemeClr val="tx1">
                    <a:lumMod val="75000"/>
                    <a:lumOff val="25000"/>
                  </a:schemeClr>
                </a:solidFill>
                <a:latin typeface="Arial"/>
                <a:ea typeface="微软雅黑 Light"/>
                <a:cs typeface="+mn-ea"/>
                <a:sym typeface="Arial"/>
              </a:endParaRPr>
            </a:p>
          </p:txBody>
        </p:sp>
        <p:sp>
          <p:nvSpPr>
            <p:cNvPr id="68" name="TextBox 158"/>
            <p:cNvSpPr txBox="1"/>
            <p:nvPr/>
          </p:nvSpPr>
          <p:spPr>
            <a:xfrm>
              <a:off x="2249510" y="2268557"/>
              <a:ext cx="2846792" cy="1415235"/>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接到故障申告后才进行测试和故障分析，不能满足主动监控和主动维护需求</a:t>
              </a:r>
            </a:p>
          </p:txBody>
        </p:sp>
      </p:grpSp>
      <p:sp>
        <p:nvSpPr>
          <p:cNvPr id="69" name="Oval 25"/>
          <p:cNvSpPr>
            <a:spLocks noChangeArrowheads="1"/>
          </p:cNvSpPr>
          <p:nvPr/>
        </p:nvSpPr>
        <p:spPr bwMode="auto">
          <a:xfrm>
            <a:off x="7415213" y="265112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0" name="Group 26"/>
          <p:cNvGrpSpPr>
            <a:grpSpLocks/>
          </p:cNvGrpSpPr>
          <p:nvPr/>
        </p:nvGrpSpPr>
        <p:grpSpPr bwMode="auto">
          <a:xfrm>
            <a:off x="7640637" y="2525713"/>
            <a:ext cx="2376953" cy="1342816"/>
            <a:chOff x="2249509" y="1913092"/>
            <a:chExt cx="2826259" cy="1789807"/>
          </a:xfrm>
        </p:grpSpPr>
        <p:sp>
          <p:nvSpPr>
            <p:cNvPr id="71" name="Rectangle 27"/>
            <p:cNvSpPr/>
            <p:nvPr/>
          </p:nvSpPr>
          <p:spPr>
            <a:xfrm>
              <a:off x="2249510" y="1913092"/>
              <a:ext cx="1872478" cy="493013"/>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人工管理</a:t>
              </a:r>
              <a:endParaRPr lang="en-US" b="1" dirty="0">
                <a:solidFill>
                  <a:schemeClr val="tx1">
                    <a:lumMod val="75000"/>
                    <a:lumOff val="25000"/>
                  </a:schemeClr>
                </a:solidFill>
                <a:latin typeface="Arial"/>
                <a:ea typeface="微软雅黑 Light"/>
                <a:cs typeface="+mn-ea"/>
                <a:sym typeface="Arial"/>
              </a:endParaRPr>
            </a:p>
          </p:txBody>
        </p:sp>
        <p:sp>
          <p:nvSpPr>
            <p:cNvPr id="72" name="TextBox 162"/>
            <p:cNvSpPr txBox="1"/>
            <p:nvPr/>
          </p:nvSpPr>
          <p:spPr>
            <a:xfrm>
              <a:off x="2249509" y="2287613"/>
              <a:ext cx="2826259" cy="1415286"/>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依靠个人经验管理网络，工作重复性高，难以满足日益增长的网络运维需求</a:t>
              </a:r>
              <a:endParaRPr lang="en-US" altLang="zh-CN" sz="1400" dirty="0">
                <a:latin typeface="+mn-lt"/>
                <a:ea typeface="微软雅黑 Light"/>
                <a:sym typeface="Arial"/>
              </a:endParaRPr>
            </a:p>
          </p:txBody>
        </p:sp>
      </p:grpSp>
      <p:sp>
        <p:nvSpPr>
          <p:cNvPr id="73" name="Oval 29"/>
          <p:cNvSpPr>
            <a:spLocks noChangeArrowheads="1"/>
          </p:cNvSpPr>
          <p:nvPr/>
        </p:nvSpPr>
        <p:spPr bwMode="auto">
          <a:xfrm>
            <a:off x="7415213" y="402907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4" name="Group 30"/>
          <p:cNvGrpSpPr>
            <a:grpSpLocks/>
          </p:cNvGrpSpPr>
          <p:nvPr/>
        </p:nvGrpSpPr>
        <p:grpSpPr bwMode="auto">
          <a:xfrm>
            <a:off x="7640638" y="3890963"/>
            <a:ext cx="2695450" cy="1328529"/>
            <a:chOff x="2249510" y="1913092"/>
            <a:chExt cx="2681913" cy="1771882"/>
          </a:xfrm>
        </p:grpSpPr>
        <p:sp>
          <p:nvSpPr>
            <p:cNvPr id="75" name="Rectangle 31"/>
            <p:cNvSpPr/>
            <p:nvPr/>
          </p:nvSpPr>
          <p:spPr>
            <a:xfrm>
              <a:off x="2249510" y="1913092"/>
              <a:ext cx="2099191" cy="368406"/>
            </a:xfrm>
            <a:prstGeom prst="rect">
              <a:avLst/>
            </a:prstGeom>
          </p:spPr>
          <p:txBody>
            <a:bodyPr>
              <a:spAutoFit/>
            </a:bodyPr>
            <a:lstStyle/>
            <a:p>
              <a:pPr>
                <a:defRPr/>
              </a:pPr>
              <a:endParaRPr lang="en-US" sz="1200" dirty="0">
                <a:solidFill>
                  <a:schemeClr val="tx1">
                    <a:lumMod val="75000"/>
                    <a:lumOff val="25000"/>
                  </a:schemeClr>
                </a:solidFill>
                <a:latin typeface="Arial"/>
                <a:ea typeface="微软雅黑 Light"/>
                <a:cs typeface="+mn-ea"/>
                <a:sym typeface="Arial"/>
              </a:endParaRPr>
            </a:p>
          </p:txBody>
        </p:sp>
        <p:sp>
          <p:nvSpPr>
            <p:cNvPr id="76" name="TextBox 166"/>
            <p:cNvSpPr txBox="1"/>
            <p:nvPr/>
          </p:nvSpPr>
          <p:spPr>
            <a:xfrm>
              <a:off x="2249510" y="2268794"/>
              <a:ext cx="2681913" cy="1416180"/>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未充分发挥新技术在规划、维护、优化、分析、用户感知管理中的技术优势，管理效率低下</a:t>
              </a:r>
              <a:endParaRPr lang="en-US" altLang="zh-CN" sz="1400" dirty="0">
                <a:latin typeface="+mn-lt"/>
                <a:ea typeface="微软雅黑 Light"/>
                <a:sym typeface="Arial"/>
              </a:endParaRPr>
            </a:p>
          </p:txBody>
        </p:sp>
      </p:grpSp>
      <p:sp>
        <p:nvSpPr>
          <p:cNvPr id="77" name="Rectangle 27"/>
          <p:cNvSpPr/>
          <p:nvPr/>
        </p:nvSpPr>
        <p:spPr>
          <a:xfrm>
            <a:off x="7640638" y="3889375"/>
            <a:ext cx="1403350" cy="36830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传统管理</a:t>
            </a:r>
            <a:endParaRPr lang="en-US" b="1" dirty="0">
              <a:solidFill>
                <a:schemeClr val="tx1">
                  <a:lumMod val="75000"/>
                  <a:lumOff val="25000"/>
                </a:schemeClr>
              </a:solidFill>
              <a:latin typeface="Arial"/>
              <a:ea typeface="微软雅黑 Light"/>
              <a:cs typeface="+mn-ea"/>
              <a:sym typeface="Arial"/>
            </a:endParaRPr>
          </a:p>
        </p:txBody>
      </p:sp>
      <p:sp>
        <p:nvSpPr>
          <p:cNvPr id="78" name="Text Placeholder 4"/>
          <p:cNvSpPr txBox="1"/>
          <p:nvPr/>
        </p:nvSpPr>
        <p:spPr>
          <a:xfrm>
            <a:off x="5276850" y="3716338"/>
            <a:ext cx="1025525" cy="298450"/>
          </a:xfrm>
          <a:prstGeom prst="rect">
            <a:avLst/>
          </a:prstGeom>
        </p:spPr>
        <p:txBody>
          <a:bodyPr lIns="68580" tIns="34290" rIns="68580" bIns="34290"/>
          <a:lstStyle>
            <a:lvl1pPr marL="342900" indent="-342900" algn="l" defTabSz="914400" rtl="0" eaLnBrk="1" latinLnBrk="0" hangingPunct="1">
              <a:spcBef>
                <a:spcPct val="20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fontAlgn="auto">
              <a:lnSpc>
                <a:spcPts val="1380"/>
              </a:lnSpc>
              <a:spcAft>
                <a:spcPts val="0"/>
              </a:spcAft>
              <a:buFont typeface="Arial" panose="020B0604020202020204" pitchFamily="34" charset="0"/>
              <a:buNone/>
              <a:defRPr/>
            </a:pPr>
            <a:r>
              <a:rPr lang="zh-CN" altLang="en-US" sz="2000" dirty="0">
                <a:solidFill>
                  <a:schemeClr val="tx1">
                    <a:lumMod val="50000"/>
                    <a:lumOff val="50000"/>
                  </a:schemeClr>
                </a:solidFill>
                <a:cs typeface="+mn-ea"/>
              </a:rPr>
              <a:t>现状</a:t>
            </a:r>
            <a:endParaRPr lang="en-US" sz="2000" dirty="0">
              <a:solidFill>
                <a:schemeClr val="tx1">
                  <a:lumMod val="50000"/>
                  <a:lumOff val="50000"/>
                </a:schemeClr>
              </a:solidFill>
              <a:cs typeface="+mn-ea"/>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80680556"/>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216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851155" y="2706505"/>
            <a:ext cx="3686174" cy="2169825"/>
          </a:xfrm>
          <a:prstGeom prst="rect">
            <a:avLst/>
          </a:prstGeom>
          <a:noFill/>
        </p:spPr>
        <p:txBody>
          <a:bodyPr wrap="square" rtlCol="0">
            <a:spAutoFit/>
          </a:bodyPr>
          <a:lstStyle/>
          <a:p>
            <a:pPr indent="457200">
              <a:lnSpc>
                <a:spcPct val="150000"/>
              </a:lnSpc>
            </a:pPr>
            <a:r>
              <a:rPr lang="zh-CN" altLang="en-US" dirty="0" smtClean="0"/>
              <a:t>现阶段城域网运维主要系统为网佳系统，但是由于系统建立时未考虑扩展性需求，导致系统功能与实际日常运维工作</a:t>
            </a:r>
            <a:r>
              <a:rPr lang="zh-CN" altLang="en-US" dirty="0" smtClean="0"/>
              <a:t>脱节，实际工作中依旧使用效率较低的工具和方法。</a:t>
            </a:r>
            <a:endParaRPr lang="zh-CN" altLang="en-US" dirty="0"/>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67325" y="1733549"/>
            <a:ext cx="6553200" cy="3686175"/>
          </a:xfrm>
          <a:prstGeom prst="rect">
            <a:avLst/>
          </a:prstGeom>
        </p:spPr>
      </p:pic>
      <p:sp>
        <p:nvSpPr>
          <p:cNvPr id="8" name="文本框 7"/>
          <p:cNvSpPr txBox="1"/>
          <p:nvPr/>
        </p:nvSpPr>
        <p:spPr>
          <a:xfrm>
            <a:off x="5810250" y="5705475"/>
            <a:ext cx="5172075" cy="276999"/>
          </a:xfrm>
          <a:prstGeom prst="rect">
            <a:avLst/>
          </a:prstGeom>
          <a:noFill/>
        </p:spPr>
        <p:txBody>
          <a:bodyPr wrap="square" rtlCol="0">
            <a:spAutoFit/>
          </a:bodyPr>
          <a:lstStyle/>
          <a:p>
            <a:pPr algn="ctr"/>
            <a:r>
              <a:rPr lang="zh-CN" altLang="en-US" sz="1200" dirty="0" smtClean="0"/>
              <a:t>网佳系统截图</a:t>
            </a:r>
            <a:endParaRPr lang="zh-CN" altLang="en-US" sz="1200" dirty="0"/>
          </a:p>
        </p:txBody>
      </p:sp>
    </p:spTree>
    <p:extLst>
      <p:ext uri="{BB962C8B-B14F-4D97-AF65-F5344CB8AC3E}">
        <p14:creationId xmlns:p14="http://schemas.microsoft.com/office/powerpoint/2010/main" val="812894468"/>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descr="“TELNET huawei”的图片搜索结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9150" y="2058986"/>
            <a:ext cx="5931262" cy="2989263"/>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457201" y="2496216"/>
            <a:ext cx="4819650" cy="2999710"/>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t>运维人员关心的指标如性能利用率、资源利用率</a:t>
            </a:r>
            <a:r>
              <a:rPr lang="zh-CN" altLang="en-US" dirty="0" smtClean="0"/>
              <a:t>等无法通过系统获取，需要运维人员手动</a:t>
            </a:r>
            <a:r>
              <a:rPr lang="zh-CN" altLang="en-US" dirty="0"/>
              <a:t>登录设备进行查询获取</a:t>
            </a:r>
            <a:r>
              <a:rPr lang="zh-CN" altLang="en-US" dirty="0" smtClean="0"/>
              <a:t>，存在着重复性劳动的问题，对于</a:t>
            </a:r>
            <a:r>
              <a:rPr lang="zh-CN" altLang="en-US" dirty="0" smtClean="0"/>
              <a:t>故障问题的查找效率十分低下，且</a:t>
            </a:r>
            <a:r>
              <a:rPr lang="zh-CN" altLang="en-US" dirty="0" smtClean="0"/>
              <a:t>对于非专业人士</a:t>
            </a:r>
            <a:r>
              <a:rPr lang="zh-CN" altLang="en-US" dirty="0" smtClean="0"/>
              <a:t>或缺少经验的运维人员</a:t>
            </a:r>
            <a:r>
              <a:rPr lang="zh-CN" altLang="en-US" dirty="0" smtClean="0"/>
              <a:t>来说，不熟悉指令库的情况下无法进行操作。</a:t>
            </a:r>
            <a:endParaRPr lang="en-US" altLang="zh-CN" dirty="0"/>
          </a:p>
        </p:txBody>
      </p:sp>
      <p:sp>
        <p:nvSpPr>
          <p:cNvPr id="7" name="文本框 6"/>
          <p:cNvSpPr txBox="1"/>
          <p:nvPr/>
        </p:nvSpPr>
        <p:spPr>
          <a:xfrm>
            <a:off x="6981825" y="5314950"/>
            <a:ext cx="3228975" cy="276999"/>
          </a:xfrm>
          <a:prstGeom prst="rect">
            <a:avLst/>
          </a:prstGeom>
          <a:noFill/>
        </p:spPr>
        <p:txBody>
          <a:bodyPr wrap="square" rtlCol="0">
            <a:spAutoFit/>
          </a:bodyPr>
          <a:lstStyle/>
          <a:p>
            <a:pPr algn="ctr"/>
            <a:r>
              <a:rPr lang="en-US" altLang="zh-CN" sz="1200" dirty="0" smtClean="0"/>
              <a:t>Telnet</a:t>
            </a:r>
            <a:r>
              <a:rPr lang="zh-CN" altLang="en-US" sz="1200" dirty="0" smtClean="0"/>
              <a:t>登录界面</a:t>
            </a:r>
            <a:endParaRPr lang="zh-CN" altLang="en-US" sz="1200" dirty="0"/>
          </a:p>
        </p:txBody>
      </p:sp>
    </p:spTree>
    <p:extLst>
      <p:ext uri="{BB962C8B-B14F-4D97-AF65-F5344CB8AC3E}">
        <p14:creationId xmlns:p14="http://schemas.microsoft.com/office/powerpoint/2010/main" val="4066279875"/>
      </p:ext>
    </p:extLst>
  </p:cSld>
  <p:clrMapOvr>
    <a:masterClrMapping/>
  </p:clrMapOvr>
  <p:transition spd="med">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457200" y="2496214"/>
            <a:ext cx="4638675" cy="2169825"/>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t>数据呈现方式单一</a:t>
            </a:r>
            <a:r>
              <a:rPr lang="zh-CN" altLang="en-US" dirty="0" smtClean="0"/>
              <a:t>，无法直观获取网络情况；对于</a:t>
            </a:r>
            <a:r>
              <a:rPr lang="zh-CN" altLang="en-US" dirty="0" smtClean="0"/>
              <a:t>大规模的数据和进一步的</a:t>
            </a:r>
            <a:r>
              <a:rPr lang="zh-CN" altLang="en-US" dirty="0" smtClean="0"/>
              <a:t>分析，</a:t>
            </a:r>
            <a:r>
              <a:rPr lang="zh-CN" altLang="en-US" dirty="0" smtClean="0"/>
              <a:t>需要手动获取数据后对</a:t>
            </a:r>
            <a:r>
              <a:rPr lang="zh-CN" altLang="en-US" dirty="0"/>
              <a:t>数据</a:t>
            </a:r>
            <a:r>
              <a:rPr lang="zh-CN" altLang="en-US" dirty="0" smtClean="0"/>
              <a:t>进行规范化处理，然后才能通过可视化的技术和分析工具等对数据进行</a:t>
            </a:r>
            <a:r>
              <a:rPr lang="zh-CN" altLang="en-US" dirty="0" smtClean="0"/>
              <a:t>统计分析。</a:t>
            </a:r>
            <a:endParaRPr lang="en-US" altLang="zh-CN" dirty="0"/>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91175" y="1449527"/>
            <a:ext cx="6265333" cy="3524250"/>
          </a:xfrm>
          <a:prstGeom prst="rect">
            <a:avLst/>
          </a:prstGeom>
        </p:spPr>
      </p:pic>
    </p:spTree>
    <p:extLst>
      <p:ext uri="{BB962C8B-B14F-4D97-AF65-F5344CB8AC3E}">
        <p14:creationId xmlns:p14="http://schemas.microsoft.com/office/powerpoint/2010/main" val="3086638107"/>
      </p:ext>
    </p:extLst>
  </p:cSld>
  <p:clrMapOvr>
    <a:masterClrMapping/>
  </p:clrMapOvr>
  <p:transition spd="med">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457201" y="2496214"/>
            <a:ext cx="4381500" cy="2585323"/>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smtClean="0"/>
              <a:t>系统导出的</a:t>
            </a:r>
            <a:r>
              <a:rPr lang="en-US" altLang="zh-CN" dirty="0" smtClean="0"/>
              <a:t>Excel</a:t>
            </a:r>
            <a:r>
              <a:rPr lang="zh-CN" altLang="en-US" dirty="0" smtClean="0"/>
              <a:t>数据表格</a:t>
            </a:r>
            <a:r>
              <a:rPr lang="zh-CN" altLang="en-US" dirty="0"/>
              <a:t>内容十分</a:t>
            </a:r>
            <a:r>
              <a:rPr lang="zh-CN" altLang="en-US" dirty="0" smtClean="0"/>
              <a:t>单薄</a:t>
            </a:r>
            <a:r>
              <a:rPr lang="zh-CN" altLang="en-US" dirty="0" smtClean="0"/>
              <a:t>，且不支持对数据的汇总</a:t>
            </a:r>
            <a:r>
              <a:rPr lang="zh-CN" altLang="en-US" dirty="0"/>
              <a:t>分析及报表生成导出</a:t>
            </a:r>
            <a:r>
              <a:rPr lang="zh-CN" altLang="en-US" dirty="0" smtClean="0"/>
              <a:t>，对于日常工作汇报与考核十分不便；运</a:t>
            </a:r>
            <a:r>
              <a:rPr lang="zh-CN" altLang="en-US" dirty="0" smtClean="0"/>
              <a:t>维人员需要</a:t>
            </a:r>
            <a:r>
              <a:rPr lang="zh-CN" altLang="en-US" dirty="0"/>
              <a:t>通过</a:t>
            </a:r>
            <a:r>
              <a:rPr lang="en-US" altLang="zh-CN" dirty="0"/>
              <a:t>IPNET</a:t>
            </a:r>
            <a:r>
              <a:rPr lang="zh-CN" altLang="en-US" dirty="0"/>
              <a:t>网管网登录省公司平台</a:t>
            </a:r>
            <a:r>
              <a:rPr lang="zh-CN" altLang="en-US" dirty="0" smtClean="0"/>
              <a:t>获取本市设备的批量</a:t>
            </a:r>
            <a:r>
              <a:rPr lang="zh-CN" altLang="en-US" dirty="0"/>
              <a:t>数据</a:t>
            </a:r>
            <a:r>
              <a:rPr lang="zh-CN" altLang="en-US" dirty="0" smtClean="0"/>
              <a:t>，无法直接获取设备上数据。</a:t>
            </a:r>
            <a:endParaRPr lang="en-US" altLang="zh-CN" dirty="0"/>
          </a:p>
        </p:txBody>
      </p:sp>
      <p:pic>
        <p:nvPicPr>
          <p:cNvPr id="7" name="图片 6"/>
          <p:cNvPicPr>
            <a:picLocks noChangeAspect="1"/>
          </p:cNvPicPr>
          <p:nvPr/>
        </p:nvPicPr>
        <p:blipFill>
          <a:blip r:embed="rId2"/>
          <a:stretch>
            <a:fillRect/>
          </a:stretch>
        </p:blipFill>
        <p:spPr>
          <a:xfrm>
            <a:off x="5584644" y="1993587"/>
            <a:ext cx="3376991" cy="2776312"/>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7836" y="1914525"/>
            <a:ext cx="3066866" cy="3322794"/>
          </a:xfrm>
          <a:prstGeom prst="rect">
            <a:avLst/>
          </a:prstGeom>
        </p:spPr>
      </p:pic>
    </p:spTree>
    <p:extLst>
      <p:ext uri="{BB962C8B-B14F-4D97-AF65-F5344CB8AC3E}">
        <p14:creationId xmlns:p14="http://schemas.microsoft.com/office/powerpoint/2010/main" val="3582696954"/>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641892" y="2706505"/>
            <a:ext cx="4438650" cy="1754326"/>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t>对于新兴业务如</a:t>
            </a:r>
            <a:r>
              <a:rPr lang="en-US" altLang="zh-CN" dirty="0" smtClean="0"/>
              <a:t>IPTV</a:t>
            </a:r>
            <a:r>
              <a:rPr lang="zh-CN" altLang="en-US" dirty="0" smtClean="0"/>
              <a:t>、</a:t>
            </a:r>
            <a:r>
              <a:rPr lang="en-US" altLang="zh-CN" dirty="0" smtClean="0"/>
              <a:t>WLAN</a:t>
            </a:r>
            <a:r>
              <a:rPr lang="zh-CN" altLang="en-US" dirty="0" smtClean="0"/>
              <a:t>等业务，运维人员无法通过平台获取</a:t>
            </a:r>
            <a:r>
              <a:rPr lang="zh-CN" altLang="en-US" dirty="0"/>
              <a:t>数据及报表</a:t>
            </a:r>
            <a:r>
              <a:rPr lang="zh-CN" altLang="en-US" dirty="0" smtClean="0"/>
              <a:t>，仍需手动登录设备或通过省公司平台获取数据，即存在功能扩展性</a:t>
            </a:r>
            <a:r>
              <a:rPr lang="zh-CN" altLang="en-US" dirty="0"/>
              <a:t>问题。</a:t>
            </a:r>
            <a:endParaRPr lang="en-US" altLang="zh-CN" dirty="0"/>
          </a:p>
        </p:txBody>
      </p:sp>
      <p:pic>
        <p:nvPicPr>
          <p:cNvPr id="7" name="图片 6"/>
          <p:cNvPicPr>
            <a:picLocks noChangeAspect="1"/>
          </p:cNvPicPr>
          <p:nvPr/>
        </p:nvPicPr>
        <p:blipFill>
          <a:blip r:embed="rId2"/>
          <a:stretch>
            <a:fillRect/>
          </a:stretch>
        </p:blipFill>
        <p:spPr>
          <a:xfrm>
            <a:off x="5872443" y="4641662"/>
            <a:ext cx="5738660" cy="938167"/>
          </a:xfrm>
          <a:prstGeom prst="rect">
            <a:avLst/>
          </a:prstGeom>
        </p:spPr>
      </p:pic>
      <p:pic>
        <p:nvPicPr>
          <p:cNvPr id="2050" name="Picture 2" descr="“IPTV”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3023" y="1128615"/>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3920975"/>
      </p:ext>
    </p:extLst>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601924" y="2295684"/>
            <a:ext cx="4178600" cy="3000821"/>
          </a:xfrm>
          <a:prstGeom prst="rect">
            <a:avLst/>
          </a:prstGeom>
          <a:noFill/>
        </p:spPr>
        <p:txBody>
          <a:bodyPr wrap="square" rtlCol="0">
            <a:spAutoFit/>
          </a:bodyPr>
          <a:lstStyle/>
          <a:p>
            <a:pPr indent="457200">
              <a:lnSpc>
                <a:spcPct val="150000"/>
              </a:lnSpc>
            </a:pPr>
            <a:r>
              <a:rPr lang="zh-CN" altLang="en-US" dirty="0" smtClean="0"/>
              <a:t>通过将现有资源进行整合，结合发展迅猛的云计算、大数据等技术，将不同运维工作中的各种需求、工具、经验进行集成归一化，使得能够通过该平台既能展示整个珠海网络情况，从全局把控网络质量，又能满足网络日常维护需求，成为真正的珠海网络大脑。</a:t>
            </a:r>
            <a:endParaRPr lang="zh-CN" altLang="en-US" dirty="0"/>
          </a:p>
        </p:txBody>
      </p:sp>
      <p:pic>
        <p:nvPicPr>
          <p:cNvPr id="13" name="Picture 2" descr="“big data icon”的图片搜索结果"/>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8055" y="3098795"/>
            <a:ext cx="1473203" cy="113838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tools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54872" y="1466820"/>
            <a:ext cx="839568" cy="83956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tech icon”的图片搜索结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62264" y="4684914"/>
            <a:ext cx="1867471" cy="1020514"/>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platform icon”的图片搜索结果"/>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28051" y="2443414"/>
            <a:ext cx="2619978" cy="1949264"/>
          </a:xfrm>
          <a:prstGeom prst="rect">
            <a:avLst/>
          </a:prstGeom>
          <a:noFill/>
          <a:extLst>
            <a:ext uri="{909E8E84-426E-40DD-AFC4-6F175D3DCCD1}">
              <a14:hiddenFill xmlns:a14="http://schemas.microsoft.com/office/drawing/2010/main">
                <a:solidFill>
                  <a:srgbClr val="FFFFFF"/>
                </a:solidFill>
              </a14:hiddenFill>
            </a:ext>
          </a:extLst>
        </p:spPr>
      </p:pic>
      <p:sp>
        <p:nvSpPr>
          <p:cNvPr id="19" name="右箭头 18"/>
          <p:cNvSpPr/>
          <p:nvPr/>
        </p:nvSpPr>
        <p:spPr>
          <a:xfrm>
            <a:off x="6779459" y="3384614"/>
            <a:ext cx="2062633" cy="523291"/>
          </a:xfrm>
          <a:prstGeom prst="rightArrow">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7" name="文本框 16"/>
          <p:cNvSpPr txBox="1"/>
          <p:nvPr/>
        </p:nvSpPr>
        <p:spPr>
          <a:xfrm>
            <a:off x="5615162" y="2526880"/>
            <a:ext cx="839568" cy="646331"/>
          </a:xfrm>
          <a:prstGeom prst="rect">
            <a:avLst/>
          </a:prstGeom>
          <a:noFill/>
        </p:spPr>
        <p:txBody>
          <a:bodyPr wrap="square" rtlCol="0">
            <a:spAutoFit/>
          </a:bodyPr>
          <a:lstStyle/>
          <a:p>
            <a:pPr algn="ctr"/>
            <a:r>
              <a:rPr lang="en-US" altLang="zh-CN" sz="3600" b="1" dirty="0" smtClean="0"/>
              <a:t>+</a:t>
            </a:r>
            <a:endParaRPr lang="zh-CN" altLang="en-US" sz="3600" b="1" dirty="0"/>
          </a:p>
        </p:txBody>
      </p:sp>
      <p:sp>
        <p:nvSpPr>
          <p:cNvPr id="21" name="文本框 20"/>
          <p:cNvSpPr txBox="1"/>
          <p:nvPr/>
        </p:nvSpPr>
        <p:spPr>
          <a:xfrm>
            <a:off x="5654872" y="4127833"/>
            <a:ext cx="839568" cy="646331"/>
          </a:xfrm>
          <a:prstGeom prst="rect">
            <a:avLst/>
          </a:prstGeom>
          <a:noFill/>
        </p:spPr>
        <p:txBody>
          <a:bodyPr wrap="square" rtlCol="0">
            <a:spAutoFit/>
          </a:bodyPr>
          <a:lstStyle/>
          <a:p>
            <a:pPr algn="ctr"/>
            <a:r>
              <a:rPr lang="en-US" altLang="zh-CN" sz="3600" b="1" dirty="0" smtClean="0"/>
              <a:t>+</a:t>
            </a:r>
            <a:endParaRPr lang="zh-CN" altLang="en-US" sz="3600" b="1" dirty="0"/>
          </a:p>
        </p:txBody>
      </p:sp>
      <p:sp>
        <p:nvSpPr>
          <p:cNvPr id="18" name="文本框 17"/>
          <p:cNvSpPr txBox="1"/>
          <p:nvPr/>
        </p:nvSpPr>
        <p:spPr>
          <a:xfrm>
            <a:off x="5501227" y="1128615"/>
            <a:ext cx="1146857" cy="276999"/>
          </a:xfrm>
          <a:prstGeom prst="rect">
            <a:avLst/>
          </a:prstGeom>
          <a:noFill/>
        </p:spPr>
        <p:txBody>
          <a:bodyPr wrap="square" rtlCol="0">
            <a:spAutoFit/>
          </a:bodyPr>
          <a:lstStyle/>
          <a:p>
            <a:r>
              <a:rPr lang="zh-CN" altLang="en-US" sz="1200" dirty="0" smtClean="0"/>
              <a:t>丰富运维经验</a:t>
            </a:r>
            <a:endParaRPr lang="zh-CN" altLang="en-US" sz="1200" dirty="0"/>
          </a:p>
        </p:txBody>
      </p:sp>
      <p:sp>
        <p:nvSpPr>
          <p:cNvPr id="23" name="文本框 22"/>
          <p:cNvSpPr txBox="1"/>
          <p:nvPr/>
        </p:nvSpPr>
        <p:spPr>
          <a:xfrm>
            <a:off x="5501226" y="3022363"/>
            <a:ext cx="1146857" cy="276999"/>
          </a:xfrm>
          <a:prstGeom prst="rect">
            <a:avLst/>
          </a:prstGeom>
          <a:noFill/>
        </p:spPr>
        <p:txBody>
          <a:bodyPr wrap="square" rtlCol="0">
            <a:spAutoFit/>
          </a:bodyPr>
          <a:lstStyle/>
          <a:p>
            <a:r>
              <a:rPr lang="zh-CN" altLang="en-US" sz="1200" dirty="0" smtClean="0"/>
              <a:t>海量数据资源</a:t>
            </a:r>
            <a:endParaRPr lang="zh-CN" altLang="en-US" sz="1200" dirty="0"/>
          </a:p>
        </p:txBody>
      </p:sp>
      <p:sp>
        <p:nvSpPr>
          <p:cNvPr id="24" name="文本框 23"/>
          <p:cNvSpPr txBox="1"/>
          <p:nvPr/>
        </p:nvSpPr>
        <p:spPr>
          <a:xfrm>
            <a:off x="5501227" y="4532091"/>
            <a:ext cx="1146857" cy="276999"/>
          </a:xfrm>
          <a:prstGeom prst="rect">
            <a:avLst/>
          </a:prstGeom>
          <a:noFill/>
        </p:spPr>
        <p:txBody>
          <a:bodyPr wrap="square" rtlCol="0">
            <a:spAutoFit/>
          </a:bodyPr>
          <a:lstStyle/>
          <a:p>
            <a:pPr algn="ctr"/>
            <a:r>
              <a:rPr lang="zh-CN" altLang="en-US" sz="1200" dirty="0" smtClean="0"/>
              <a:t>新兴技术</a:t>
            </a:r>
            <a:endParaRPr lang="zh-CN" altLang="en-US" sz="1200" dirty="0"/>
          </a:p>
        </p:txBody>
      </p:sp>
      <p:sp>
        <p:nvSpPr>
          <p:cNvPr id="20" name="文本框 19"/>
          <p:cNvSpPr txBox="1"/>
          <p:nvPr/>
        </p:nvSpPr>
        <p:spPr>
          <a:xfrm>
            <a:off x="8528051" y="4532091"/>
            <a:ext cx="3390900" cy="369332"/>
          </a:xfrm>
          <a:prstGeom prst="rect">
            <a:avLst/>
          </a:prstGeom>
          <a:noFill/>
        </p:spPr>
        <p:txBody>
          <a:bodyPr wrap="square" rtlCol="0">
            <a:spAutoFit/>
          </a:bodyPr>
          <a:lstStyle/>
          <a:p>
            <a:r>
              <a:rPr lang="zh-CN" altLang="en-US" dirty="0" smtClean="0"/>
              <a:t>智慧网络运维平台（网络大脑）</a:t>
            </a:r>
            <a:endParaRPr lang="zh-CN" altLang="en-US" dirty="0"/>
          </a:p>
        </p:txBody>
      </p:sp>
    </p:spTree>
    <p:extLst>
      <p:ext uri="{BB962C8B-B14F-4D97-AF65-F5344CB8AC3E}">
        <p14:creationId xmlns:p14="http://schemas.microsoft.com/office/powerpoint/2010/main" val="1846210321"/>
      </p:ext>
    </p:extLst>
  </p:cSld>
  <p:clrMapOvr>
    <a:masterClrMapping/>
  </p:clrMapOvr>
  <p:transition spd="med">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5896381" y="2358030"/>
            <a:ext cx="37694" cy="2071095"/>
          </a:xfrm>
          <a:prstGeom prst="line">
            <a:avLst/>
          </a:prstGeom>
          <a:noFill/>
          <a:ln w="25400" cap="rnd">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4" name="直接连接符 3"/>
          <p:cNvCxnSpPr/>
          <p:nvPr/>
        </p:nvCxnSpPr>
        <p:spPr>
          <a:xfrm flipH="1">
            <a:off x="3584968" y="4676775"/>
            <a:ext cx="1958582" cy="758995"/>
          </a:xfrm>
          <a:prstGeom prst="line">
            <a:avLst/>
          </a:prstGeom>
          <a:noFill/>
          <a:ln w="25400" cap="rnd">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8" name="直接连接符 7"/>
          <p:cNvCxnSpPr/>
          <p:nvPr/>
        </p:nvCxnSpPr>
        <p:spPr>
          <a:xfrm>
            <a:off x="6240836" y="4592062"/>
            <a:ext cx="1979477" cy="820334"/>
          </a:xfrm>
          <a:prstGeom prst="line">
            <a:avLst/>
          </a:prstGeom>
          <a:noFill/>
          <a:ln w="25400" cap="rnd">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12" name="矩形 6"/>
          <p:cNvSpPr>
            <a:spLocks noChangeArrowheads="1"/>
          </p:cNvSpPr>
          <p:nvPr/>
        </p:nvSpPr>
        <p:spPr bwMode="auto">
          <a:xfrm>
            <a:off x="745580" y="5604774"/>
            <a:ext cx="22354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400" fontAlgn="base">
              <a:spcBef>
                <a:spcPct val="0"/>
              </a:spcBef>
              <a:spcAft>
                <a:spcPct val="0"/>
              </a:spcAft>
            </a:pPr>
            <a:r>
              <a:rPr lang="zh-CN" altLang="en-US" sz="1200" dirty="0" smtClean="0">
                <a:solidFill>
                  <a:schemeClr val="bg1"/>
                </a:solidFill>
                <a:latin typeface="微软雅黑" panose="020B0503020204020204" pitchFamily="34" charset="-122"/>
                <a:ea typeface="微软雅黑" panose="020B0503020204020204" pitchFamily="34" charset="-122"/>
              </a:rPr>
              <a:t>发出指令，执行操作</a:t>
            </a:r>
            <a:endParaRPr lang="zh-CN" altLang="en-US" sz="1200" dirty="0">
              <a:solidFill>
                <a:schemeClr val="bg1"/>
              </a:solidFill>
              <a:latin typeface="Century Gothic" panose="020B0502020202020204" pitchFamily="34" charset="0"/>
            </a:endParaRPr>
          </a:p>
        </p:txBody>
      </p:sp>
      <p:sp>
        <p:nvSpPr>
          <p:cNvPr id="13" name="矩形 6"/>
          <p:cNvSpPr>
            <a:spLocks noChangeArrowheads="1"/>
          </p:cNvSpPr>
          <p:nvPr/>
        </p:nvSpPr>
        <p:spPr bwMode="auto">
          <a:xfrm>
            <a:off x="9228649" y="5436978"/>
            <a:ext cx="223544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914400" fontAlgn="base">
              <a:spcBef>
                <a:spcPct val="0"/>
              </a:spcBef>
              <a:spcAft>
                <a:spcPct val="0"/>
              </a:spcAft>
            </a:pPr>
            <a:r>
              <a:rPr lang="zh-CN" altLang="en-US" sz="1200" dirty="0" smtClean="0">
                <a:solidFill>
                  <a:schemeClr val="bg1"/>
                </a:solidFill>
                <a:latin typeface="微软雅黑" panose="020B0503020204020204" pitchFamily="34" charset="-122"/>
                <a:ea typeface="微软雅黑" panose="020B0503020204020204" pitchFamily="34" charset="-122"/>
              </a:rPr>
              <a:t>利用经验库对数据进行分析、过滤、判断；同时也对经验库进行完善</a:t>
            </a:r>
            <a:endParaRPr lang="zh-CN" altLang="en-US" sz="1200" dirty="0">
              <a:solidFill>
                <a:schemeClr val="bg1"/>
              </a:solidFill>
              <a:latin typeface="Century Gothic" panose="020B0502020202020204" pitchFamily="34" charset="0"/>
            </a:endParaRPr>
          </a:p>
        </p:txBody>
      </p:sp>
      <p:sp>
        <p:nvSpPr>
          <p:cNvPr id="14" name="矩形 6"/>
          <p:cNvSpPr>
            <a:spLocks noChangeArrowheads="1"/>
          </p:cNvSpPr>
          <p:nvPr/>
        </p:nvSpPr>
        <p:spPr bwMode="auto">
          <a:xfrm>
            <a:off x="4822540" y="1190384"/>
            <a:ext cx="22354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914400" fontAlgn="base">
              <a:spcBef>
                <a:spcPct val="0"/>
              </a:spcBef>
              <a:spcAft>
                <a:spcPct val="0"/>
              </a:spcAft>
            </a:pPr>
            <a:r>
              <a:rPr lang="zh-CN" altLang="en-US" sz="1200" dirty="0" smtClean="0">
                <a:solidFill>
                  <a:schemeClr val="bg1"/>
                </a:solidFill>
                <a:latin typeface="微软雅黑" panose="020B0503020204020204" pitchFamily="34" charset="-122"/>
                <a:ea typeface="微软雅黑" panose="020B0503020204020204" pitchFamily="34" charset="-122"/>
              </a:rPr>
              <a:t>对于数据的采集、聚合、存储</a:t>
            </a:r>
            <a:endParaRPr lang="zh-CN" altLang="en-US" sz="1200" dirty="0">
              <a:solidFill>
                <a:schemeClr val="bg1"/>
              </a:solidFill>
              <a:latin typeface="Century Gothic" panose="020B0502020202020204" pitchFamily="34" charset="0"/>
            </a:endParaRPr>
          </a:p>
        </p:txBody>
      </p:sp>
      <p:grpSp>
        <p:nvGrpSpPr>
          <p:cNvPr id="25" name="组合 24"/>
          <p:cNvGrpSpPr/>
          <p:nvPr/>
        </p:nvGrpSpPr>
        <p:grpSpPr>
          <a:xfrm>
            <a:off x="5510427" y="4116115"/>
            <a:ext cx="881231" cy="854980"/>
            <a:chOff x="5932231" y="4415044"/>
            <a:chExt cx="488440" cy="509247"/>
          </a:xfrm>
        </p:grpSpPr>
        <p:sp>
          <p:nvSpPr>
            <p:cNvPr id="26" name="椭圆 25"/>
            <p:cNvSpPr/>
            <p:nvPr/>
          </p:nvSpPr>
          <p:spPr>
            <a:xfrm>
              <a:off x="5932231" y="4435851"/>
              <a:ext cx="488440" cy="488440"/>
            </a:xfrm>
            <a:prstGeom prst="ellipse">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27" name="矩形 26"/>
            <p:cNvSpPr/>
            <p:nvPr/>
          </p:nvSpPr>
          <p:spPr>
            <a:xfrm>
              <a:off x="5935187" y="4415044"/>
              <a:ext cx="119677" cy="36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endParaRPr lang="zh-CN" altLang="en-US" sz="2800" b="1" dirty="0">
                <a:solidFill>
                  <a:srgbClr val="EAE7D4"/>
                </a:solidFill>
                <a:ea typeface="微软雅黑" pitchFamily="34" charset="-122"/>
              </a:endParaRPr>
            </a:p>
          </p:txBody>
        </p:sp>
      </p:grpSp>
      <p:sp>
        <p:nvSpPr>
          <p:cNvPr id="42" name="等腰三角形 41"/>
          <p:cNvSpPr/>
          <p:nvPr/>
        </p:nvSpPr>
        <p:spPr>
          <a:xfrm>
            <a:off x="3283088" y="2231482"/>
            <a:ext cx="5114925" cy="3314700"/>
          </a:xfrm>
          <a:prstGeom prst="triangle">
            <a:avLst/>
          </a:prstGeom>
          <a:noFill/>
          <a:ln w="28575" cap="flat" cmpd="sng" algn="ctr">
            <a:solidFill>
              <a:srgbClr val="FFFFFF"/>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grpSp>
        <p:nvGrpSpPr>
          <p:cNvPr id="16" name="组合 15"/>
          <p:cNvGrpSpPr/>
          <p:nvPr/>
        </p:nvGrpSpPr>
        <p:grpSpPr>
          <a:xfrm>
            <a:off x="5472358" y="1650515"/>
            <a:ext cx="810266" cy="810266"/>
            <a:chOff x="5766870" y="2649434"/>
            <a:chExt cx="810266" cy="810266"/>
          </a:xfrm>
          <a:solidFill>
            <a:srgbClr val="00DE64"/>
          </a:solidFill>
        </p:grpSpPr>
        <p:sp>
          <p:nvSpPr>
            <p:cNvPr id="17" name="椭圆 16"/>
            <p:cNvSpPr/>
            <p:nvPr/>
          </p:nvSpPr>
          <p:spPr>
            <a:xfrm>
              <a:off x="5766870" y="2649434"/>
              <a:ext cx="810266" cy="81026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18" name="矩形 17"/>
            <p:cNvSpPr/>
            <p:nvPr/>
          </p:nvSpPr>
          <p:spPr>
            <a:xfrm>
              <a:off x="5823189" y="2842359"/>
              <a:ext cx="697627" cy="400110"/>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lang="zh-CN" altLang="en-US" sz="2000" b="1" dirty="0" smtClean="0">
                  <a:solidFill>
                    <a:srgbClr val="EAE7D4"/>
                  </a:solidFill>
                  <a:ea typeface="微软雅黑" pitchFamily="34" charset="-122"/>
                </a:rPr>
                <a:t>感知</a:t>
              </a:r>
              <a:endParaRPr lang="zh-CN" altLang="en-US" sz="2000" b="1" dirty="0">
                <a:solidFill>
                  <a:srgbClr val="EAE7D4"/>
                </a:solidFill>
                <a:ea typeface="微软雅黑" pitchFamily="34" charset="-122"/>
              </a:endParaRPr>
            </a:p>
          </p:txBody>
        </p:sp>
      </p:grpSp>
      <p:grpSp>
        <p:nvGrpSpPr>
          <p:cNvPr id="19" name="组合 18"/>
          <p:cNvGrpSpPr/>
          <p:nvPr/>
        </p:nvGrpSpPr>
        <p:grpSpPr>
          <a:xfrm>
            <a:off x="8018805" y="5163841"/>
            <a:ext cx="810266" cy="810266"/>
            <a:chOff x="7402397" y="5003093"/>
            <a:chExt cx="810266" cy="810266"/>
          </a:xfrm>
        </p:grpSpPr>
        <p:sp>
          <p:nvSpPr>
            <p:cNvPr id="20" name="椭圆 19"/>
            <p:cNvSpPr/>
            <p:nvPr/>
          </p:nvSpPr>
          <p:spPr>
            <a:xfrm>
              <a:off x="7402397" y="5003093"/>
              <a:ext cx="810266" cy="810266"/>
            </a:xfrm>
            <a:prstGeom prst="ellipse">
              <a:avLst/>
            </a:prstGeom>
            <a:solidFill>
              <a:srgbClr val="00DE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21" name="矩形 20"/>
            <p:cNvSpPr/>
            <p:nvPr/>
          </p:nvSpPr>
          <p:spPr>
            <a:xfrm>
              <a:off x="7458716" y="5199286"/>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lang="zh-CN" altLang="en-US" sz="2000" b="1" dirty="0" smtClean="0">
                  <a:solidFill>
                    <a:srgbClr val="EAE7D4"/>
                  </a:solidFill>
                  <a:ea typeface="微软雅黑" pitchFamily="34" charset="-122"/>
                </a:rPr>
                <a:t>决策</a:t>
              </a:r>
              <a:endParaRPr lang="zh-CN" altLang="en-US" sz="2000" b="1" dirty="0">
                <a:solidFill>
                  <a:srgbClr val="EAE7D4"/>
                </a:solidFill>
                <a:ea typeface="微软雅黑" pitchFamily="34" charset="-122"/>
              </a:endParaRPr>
            </a:p>
          </p:txBody>
        </p:sp>
      </p:grpSp>
      <p:grpSp>
        <p:nvGrpSpPr>
          <p:cNvPr id="22" name="组合 21"/>
          <p:cNvGrpSpPr/>
          <p:nvPr/>
        </p:nvGrpSpPr>
        <p:grpSpPr>
          <a:xfrm>
            <a:off x="2921570" y="5102693"/>
            <a:ext cx="810266" cy="810266"/>
            <a:chOff x="4070096" y="5016162"/>
            <a:chExt cx="810266" cy="810266"/>
          </a:xfrm>
        </p:grpSpPr>
        <p:sp>
          <p:nvSpPr>
            <p:cNvPr id="23" name="椭圆 22"/>
            <p:cNvSpPr/>
            <p:nvPr/>
          </p:nvSpPr>
          <p:spPr>
            <a:xfrm>
              <a:off x="4070096" y="5016162"/>
              <a:ext cx="810266" cy="81026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24" name="矩形 23"/>
            <p:cNvSpPr/>
            <p:nvPr/>
          </p:nvSpPr>
          <p:spPr>
            <a:xfrm>
              <a:off x="4129546" y="5231037"/>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lang="zh-CN" altLang="en-US" sz="2000" b="1" dirty="0" smtClean="0">
                  <a:solidFill>
                    <a:srgbClr val="EAE7D4"/>
                  </a:solidFill>
                  <a:ea typeface="微软雅黑" pitchFamily="34" charset="-122"/>
                </a:rPr>
                <a:t>控制</a:t>
              </a:r>
              <a:endParaRPr lang="zh-CN" altLang="en-US" sz="2000" b="1" dirty="0">
                <a:solidFill>
                  <a:srgbClr val="EAE7D4"/>
                </a:solidFill>
                <a:ea typeface="微软雅黑" pitchFamily="34" charset="-122"/>
              </a:endParaRPr>
            </a:p>
          </p:txBody>
        </p:sp>
      </p:grpSp>
      <p:sp>
        <p:nvSpPr>
          <p:cNvPr id="50" name="文本框 49"/>
          <p:cNvSpPr txBox="1"/>
          <p:nvPr/>
        </p:nvSpPr>
        <p:spPr>
          <a:xfrm>
            <a:off x="5610937" y="4263961"/>
            <a:ext cx="663162" cy="646331"/>
          </a:xfrm>
          <a:prstGeom prst="rect">
            <a:avLst/>
          </a:prstGeom>
          <a:noFill/>
        </p:spPr>
        <p:txBody>
          <a:bodyPr wrap="square" rtlCol="0">
            <a:spAutoFit/>
          </a:bodyPr>
          <a:lstStyle/>
          <a:p>
            <a:r>
              <a:rPr lang="zh-CN" altLang="en-US" dirty="0" smtClean="0">
                <a:solidFill>
                  <a:schemeClr val="bg1"/>
                </a:solidFill>
              </a:rPr>
              <a:t>网络大脑</a:t>
            </a:r>
            <a:endParaRPr lang="zh-CN" altLang="en-US" dirty="0">
              <a:solidFill>
                <a:schemeClr val="bg1"/>
              </a:solidFill>
            </a:endParaRPr>
          </a:p>
        </p:txBody>
      </p:sp>
      <p:sp>
        <p:nvSpPr>
          <p:cNvPr id="53" name="文本框 52"/>
          <p:cNvSpPr txBox="1"/>
          <p:nvPr/>
        </p:nvSpPr>
        <p:spPr>
          <a:xfrm>
            <a:off x="624114" y="10310"/>
            <a:ext cx="1838593" cy="584775"/>
          </a:xfrm>
          <a:prstGeom prst="rect">
            <a:avLst/>
          </a:prstGeom>
          <a:noFill/>
        </p:spPr>
        <p:txBody>
          <a:bodyPr wrap="square" rtlCol="0">
            <a:spAutoFit/>
          </a:bodyPr>
          <a:lstStyle/>
          <a:p>
            <a:r>
              <a:rPr lang="zh-CN" altLang="en-US" sz="3200" b="1" dirty="0" smtClean="0">
                <a:solidFill>
                  <a:schemeClr val="bg1"/>
                </a:solidFill>
                <a:latin typeface="微软雅黑" panose="020B0503020204020204" pitchFamily="34" charset="-122"/>
                <a:ea typeface="微软雅黑" panose="020B0503020204020204" pitchFamily="34" charset="-122"/>
              </a:rPr>
              <a:t>项目提出</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8524875" y="1467383"/>
            <a:ext cx="2257425" cy="1754326"/>
          </a:xfrm>
          <a:prstGeom prst="rect">
            <a:avLst/>
          </a:prstGeom>
          <a:noFill/>
        </p:spPr>
        <p:txBody>
          <a:bodyPr wrap="square" rtlCol="0">
            <a:spAutoFit/>
          </a:bodyPr>
          <a:lstStyle/>
          <a:p>
            <a:r>
              <a:rPr lang="zh-CN" altLang="en-US" dirty="0" smtClean="0">
                <a:solidFill>
                  <a:schemeClr val="bg1"/>
                </a:solidFill>
              </a:rPr>
              <a:t>对于数据呈现的部分只需感知</a:t>
            </a:r>
            <a:r>
              <a:rPr lang="en-US" altLang="zh-CN" dirty="0" smtClean="0">
                <a:solidFill>
                  <a:schemeClr val="bg1"/>
                </a:solidFill>
              </a:rPr>
              <a:t>-</a:t>
            </a:r>
            <a:r>
              <a:rPr lang="zh-CN" altLang="en-US" dirty="0" smtClean="0">
                <a:solidFill>
                  <a:schemeClr val="bg1"/>
                </a:solidFill>
              </a:rPr>
              <a:t>决策二元模型，控制部分分为人为控制与自动控制。</a:t>
            </a:r>
            <a:endParaRPr lang="en-US" altLang="zh-CN" dirty="0" smtClean="0">
              <a:solidFill>
                <a:schemeClr val="bg1"/>
              </a:solidFill>
            </a:endParaRPr>
          </a:p>
          <a:p>
            <a:r>
              <a:rPr lang="zh-CN" altLang="en-US" dirty="0" smtClean="0">
                <a:solidFill>
                  <a:schemeClr val="bg1"/>
                </a:solidFill>
              </a:rPr>
              <a:t>自动控制的部分可以完成自我闭环。</a:t>
            </a:r>
            <a:endParaRPr lang="zh-CN" altLang="en-US" dirty="0">
              <a:solidFill>
                <a:schemeClr val="bg1"/>
              </a:solidFill>
            </a:endParaRPr>
          </a:p>
        </p:txBody>
      </p:sp>
    </p:spTree>
    <p:extLst>
      <p:ext uri="{BB962C8B-B14F-4D97-AF65-F5344CB8AC3E}">
        <p14:creationId xmlns:p14="http://schemas.microsoft.com/office/powerpoint/2010/main" val="3527762173"/>
      </p:ext>
    </p:extLst>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4"/>
            <a:ext cx="4410075"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在新平台的支撑下（还以城域网日常运维为例）。通过完善的</a:t>
            </a:r>
            <a:r>
              <a:rPr lang="zh-CN" altLang="en-US" dirty="0" smtClean="0"/>
              <a:t>数据采集系统（大脑的感知）能够</a:t>
            </a:r>
            <a:r>
              <a:rPr lang="zh-CN" altLang="en-US" dirty="0" smtClean="0"/>
              <a:t>直接对珠海本地的全网设备的多种数据源进行数据采集、结构化、存储，无需通过省公司平台。</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图：数据采集、结构化、存储</a:t>
            </a:r>
            <a:endParaRPr lang="zh-CN" altLang="en-US" dirty="0"/>
          </a:p>
        </p:txBody>
      </p:sp>
    </p:spTree>
    <p:extLst>
      <p:ext uri="{BB962C8B-B14F-4D97-AF65-F5344CB8AC3E}">
        <p14:creationId xmlns:p14="http://schemas.microsoft.com/office/powerpoint/2010/main" val="963061433"/>
      </p:ext>
    </p:extLst>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3"/>
            <a:ext cx="4171951"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对于存储的数据，能够在线进行常用的</a:t>
            </a:r>
            <a:r>
              <a:rPr lang="zh-CN" altLang="en-US" dirty="0" smtClean="0"/>
              <a:t>统计分析（决策），</a:t>
            </a:r>
            <a:r>
              <a:rPr lang="zh-CN" altLang="en-US" dirty="0" smtClean="0"/>
              <a:t>并通过多样化的数据可视化技术进行直观呈现，除此之外，支持分类分周期个性化的报表生成与导出。</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图：统计分析、可视化</a:t>
            </a:r>
            <a:endParaRPr lang="zh-CN" altLang="en-US" dirty="0"/>
          </a:p>
        </p:txBody>
      </p:sp>
    </p:spTree>
    <p:extLst>
      <p:ext uri="{BB962C8B-B14F-4D97-AF65-F5344CB8AC3E}">
        <p14:creationId xmlns:p14="http://schemas.microsoft.com/office/powerpoint/2010/main" val="3079824730"/>
      </p:ext>
    </p:extLst>
  </p:cSld>
  <p:clrMapOvr>
    <a:masterClrMapping/>
  </p:clrMapOvr>
  <p:transition spd="med">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4"/>
            <a:ext cx="4410075" cy="175432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通过设备管理中的拓扑结构分析能够直观了解设备的连接情况和业务流，并且提供直观的交互界面，提高系统的易操作性。</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图：拓扑结构</a:t>
            </a:r>
            <a:endParaRPr lang="zh-CN" altLang="en-US" dirty="0"/>
          </a:p>
        </p:txBody>
      </p:sp>
    </p:spTree>
    <p:extLst>
      <p:ext uri="{BB962C8B-B14F-4D97-AF65-F5344CB8AC3E}">
        <p14:creationId xmlns:p14="http://schemas.microsoft.com/office/powerpoint/2010/main" val="2792394096"/>
      </p:ext>
    </p:extLst>
  </p:cSld>
  <p:clrMapOvr>
    <a:masterClrMapping/>
  </p:clrMapOvr>
  <p:transition spd="med">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4"/>
            <a:ext cx="4410075"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系统保留开放的应用和数据接口，对于未来新兴的业务也可通过对系统的扩展进行业务支撑，提高系统的可扩展性。</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图：开放应用接口</a:t>
            </a:r>
            <a:endParaRPr lang="zh-CN" altLang="en-US" dirty="0"/>
          </a:p>
        </p:txBody>
      </p:sp>
    </p:spTree>
    <p:extLst>
      <p:ext uri="{BB962C8B-B14F-4D97-AF65-F5344CB8AC3E}">
        <p14:creationId xmlns:p14="http://schemas.microsoft.com/office/powerpoint/2010/main" val="1773551730"/>
      </p:ext>
    </p:extLst>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2314575" y="2185403"/>
            <a:ext cx="8058150" cy="1754326"/>
          </a:xfrm>
          <a:prstGeom prst="rect">
            <a:avLst/>
          </a:prstGeom>
          <a:noFill/>
        </p:spPr>
        <p:txBody>
          <a:bodyPr wrap="square" rtlCol="0">
            <a:spAutoFit/>
          </a:bodyPr>
          <a:lstStyle/>
          <a:p>
            <a:pPr indent="457200">
              <a:lnSpc>
                <a:spcPct val="150000"/>
              </a:lnSpc>
            </a:pPr>
            <a:r>
              <a:rPr lang="zh-CN" altLang="en-US" dirty="0" smtClean="0"/>
              <a:t>城域网只是运维工作中的一部分，但是在其他业务的运维工作中也会有类似的有关系统实用性、工具繁多、操作复杂且重复等问题、以及不同运维工作分而治之，缺乏统一管理的情况，如同人体中的不同器官。通过构建的“网络大脑”，将各部分进行统一调控，全局管理</a:t>
            </a:r>
            <a:r>
              <a:rPr lang="zh-CN" altLang="en-US" dirty="0" smtClean="0"/>
              <a:t>。（</a:t>
            </a:r>
            <a:r>
              <a:rPr lang="zh-CN" altLang="en-US" dirty="0" smtClean="0">
                <a:solidFill>
                  <a:srgbClr val="FF0000"/>
                </a:solidFill>
              </a:rPr>
              <a:t>待修改</a:t>
            </a:r>
            <a:r>
              <a:rPr lang="zh-CN" altLang="en-US" dirty="0" smtClean="0"/>
              <a:t>）</a:t>
            </a:r>
            <a:endParaRPr lang="zh-CN" altLang="en-US" dirty="0"/>
          </a:p>
        </p:txBody>
      </p:sp>
    </p:spTree>
    <p:extLst>
      <p:ext uri="{BB962C8B-B14F-4D97-AF65-F5344CB8AC3E}">
        <p14:creationId xmlns:p14="http://schemas.microsoft.com/office/powerpoint/2010/main" val="826175779"/>
      </p:ext>
    </p:extLst>
  </p:cSld>
  <p:clrMapOvr>
    <a:masterClrMapping/>
  </p:clrMapOvr>
  <p:transition spd="med">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sp>
        <p:nvSpPr>
          <p:cNvPr id="4" name="矩形 3"/>
          <p:cNvSpPr/>
          <p:nvPr/>
        </p:nvSpPr>
        <p:spPr>
          <a:xfrm>
            <a:off x="1329324" y="2323974"/>
            <a:ext cx="2266765" cy="61335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项目目标</a:t>
            </a:r>
            <a:endParaRPr lang="zh-CN" altLang="en-US" sz="3200" b="1" dirty="0"/>
          </a:p>
        </p:txBody>
      </p:sp>
      <p:sp>
        <p:nvSpPr>
          <p:cNvPr id="7" name="矩形 6"/>
          <p:cNvSpPr/>
          <p:nvPr/>
        </p:nvSpPr>
        <p:spPr>
          <a:xfrm>
            <a:off x="1329324" y="3244537"/>
            <a:ext cx="3486247" cy="678261"/>
          </a:xfrm>
          <a:prstGeom prst="rect">
            <a:avLst/>
          </a:prstGeom>
        </p:spPr>
        <p:txBody>
          <a:bodyPr wrap="square" lIns="68570" tIns="34289" rIns="68570" bIns="34289">
            <a:spAutoFit/>
          </a:bodyPr>
          <a:lstStyle/>
          <a:p>
            <a:pPr defTabSz="685681">
              <a:lnSpc>
                <a:spcPct val="130000"/>
              </a:lnSpc>
            </a:pP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展现珠海网络情况、能力</a:t>
            </a:r>
            <a:endParaRPr lang="en-US" altLang="zh-CN" sz="160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defTabSz="685681">
              <a:lnSpc>
                <a:spcPct val="130000"/>
              </a:lnSpc>
            </a:pP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实现珠海网络智慧运维</a:t>
            </a:r>
            <a:endParaRPr lang="en-US" altLang="zh-CN" sz="1600" dirty="0" smtClean="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10" name="矩形 9"/>
          <p:cNvSpPr/>
          <p:nvPr/>
        </p:nvSpPr>
        <p:spPr>
          <a:xfrm>
            <a:off x="8962730" y="2323974"/>
            <a:ext cx="2266765" cy="613356"/>
          </a:xfrm>
          <a:prstGeom prst="rect">
            <a:avLst/>
          </a:prstGeom>
          <a:solidFill>
            <a:srgbClr val="333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平台功能</a:t>
            </a:r>
            <a:endParaRPr lang="zh-CN" altLang="en-US" sz="3200" b="1" dirty="0"/>
          </a:p>
        </p:txBody>
      </p:sp>
      <p:sp>
        <p:nvSpPr>
          <p:cNvPr id="11" name="矩形 10"/>
          <p:cNvSpPr/>
          <p:nvPr/>
        </p:nvSpPr>
        <p:spPr>
          <a:xfrm>
            <a:off x="4896875" y="2323974"/>
            <a:ext cx="2266765" cy="613356"/>
          </a:xfrm>
          <a:prstGeom prst="rect">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平台面向</a:t>
            </a:r>
            <a:endParaRPr lang="zh-CN" altLang="en-US" sz="3200" b="1" dirty="0"/>
          </a:p>
        </p:txBody>
      </p:sp>
      <p:sp>
        <p:nvSpPr>
          <p:cNvPr id="12" name="矩形 11"/>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986972" y="3119512"/>
            <a:ext cx="2218055" cy="1666875"/>
          </a:xfrm>
          <a:prstGeom prst="rect">
            <a:avLst/>
          </a:prstGeom>
        </p:spPr>
        <p:txBody>
          <a:bodyPr wrap="square" lIns="68570" tIns="34289" rIns="68570" bIns="34289">
            <a:spAutoFit/>
          </a:bodyPr>
          <a:lstStyle/>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领导</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监控岗位人员</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专业岗位人员</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其它岗位人员</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外部</a:t>
            </a: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人员等</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14" name="矩形 13"/>
          <p:cNvSpPr/>
          <p:nvPr/>
        </p:nvSpPr>
        <p:spPr>
          <a:xfrm>
            <a:off x="8296927" y="3374976"/>
            <a:ext cx="3598370" cy="1346835"/>
          </a:xfrm>
          <a:prstGeom prst="rect">
            <a:avLst/>
          </a:prstGeom>
        </p:spPr>
        <p:txBody>
          <a:bodyPr wrap="square" lIns="68570" tIns="34289" rIns="68570" bIns="34289">
            <a:spAutoFit/>
          </a:bodyPr>
          <a:lstStyle/>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实时直观感知网络状态</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快速确切获取网络参数</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智能精准挖掘有效信息</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高效规范管理网络运维</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12057133"/>
      </p:ext>
    </p:extLst>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6575423"/>
            <a:ext cx="12192000" cy="282578"/>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平台目标：</a:t>
            </a:r>
            <a:endParaRPr lang="zh-CN" altLang="en-US" dirty="0">
              <a:solidFill>
                <a:srgbClr val="333F50"/>
              </a:solidFill>
            </a:endParaRPr>
          </a:p>
        </p:txBody>
      </p:sp>
      <p:sp>
        <p:nvSpPr>
          <p:cNvPr id="44" name="文本框 43"/>
          <p:cNvSpPr txBox="1"/>
          <p:nvPr/>
        </p:nvSpPr>
        <p:spPr>
          <a:xfrm>
            <a:off x="2605087" y="2009487"/>
            <a:ext cx="6343650" cy="3322955"/>
          </a:xfrm>
          <a:prstGeom prst="rect">
            <a:avLst/>
          </a:prstGeom>
          <a:noFill/>
        </p:spPr>
        <p:txBody>
          <a:bodyPr wrap="square" rtlCol="0">
            <a:spAutoFit/>
          </a:bodyPr>
          <a:lstStyle/>
          <a:p>
            <a:pPr marL="285750" indent="285750" algn="ctr">
              <a:lnSpc>
                <a:spcPct val="150000"/>
              </a:lnSpc>
              <a:buFont typeface="Arial" panose="020B0604020202020204" pitchFamily="34" charset="0"/>
              <a:buChar char="•"/>
            </a:pPr>
            <a:r>
              <a:rPr lang="zh-CN" altLang="en-US" sz="2000" dirty="0" smtClean="0"/>
              <a:t>异源数据、应用接口一体化</a:t>
            </a:r>
          </a:p>
          <a:p>
            <a:pPr marL="285750" indent="285750" algn="ctr">
              <a:lnSpc>
                <a:spcPct val="150000"/>
              </a:lnSpc>
              <a:buFont typeface="Arial" panose="020B0604020202020204" pitchFamily="34" charset="0"/>
              <a:buChar char="•"/>
            </a:pPr>
            <a:r>
              <a:rPr lang="zh-CN" altLang="en-US" sz="2000" dirty="0" smtClean="0"/>
              <a:t>资产设备、网络状态可视化</a:t>
            </a:r>
          </a:p>
          <a:p>
            <a:pPr marL="285750" indent="285750" algn="ctr">
              <a:lnSpc>
                <a:spcPct val="150000"/>
              </a:lnSpc>
              <a:buFont typeface="Arial" panose="020B0604020202020204" pitchFamily="34" charset="0"/>
              <a:buChar char="•"/>
            </a:pPr>
            <a:r>
              <a:rPr lang="zh-CN" altLang="en-US" sz="2000" dirty="0" smtClean="0"/>
              <a:t>业务监测、</a:t>
            </a:r>
            <a:r>
              <a:rPr lang="zh-CN" altLang="en-US" sz="2000" dirty="0"/>
              <a:t>场景保障</a:t>
            </a:r>
            <a:r>
              <a:rPr lang="zh-CN" altLang="en-US" sz="2000" dirty="0" smtClean="0"/>
              <a:t>智能化</a:t>
            </a:r>
          </a:p>
          <a:p>
            <a:pPr marL="285750" indent="285750" algn="ctr">
              <a:lnSpc>
                <a:spcPct val="150000"/>
              </a:lnSpc>
              <a:buFont typeface="Arial" panose="020B0604020202020204" pitchFamily="34" charset="0"/>
              <a:buChar char="•"/>
            </a:pPr>
            <a:r>
              <a:rPr lang="zh-CN" altLang="en-US" sz="2000" dirty="0" smtClean="0"/>
              <a:t>报表生成、</a:t>
            </a:r>
            <a:r>
              <a:rPr lang="zh-CN" altLang="en-US" sz="2000" dirty="0"/>
              <a:t>设备</a:t>
            </a:r>
            <a:r>
              <a:rPr lang="zh-CN" altLang="en-US" sz="2000" dirty="0" smtClean="0"/>
              <a:t>维护规范化</a:t>
            </a:r>
          </a:p>
          <a:p>
            <a:pPr marL="285750" indent="285750" algn="ctr">
              <a:lnSpc>
                <a:spcPct val="150000"/>
              </a:lnSpc>
              <a:buFont typeface="Arial" panose="020B0604020202020204" pitchFamily="34" charset="0"/>
              <a:buChar char="•"/>
            </a:pPr>
            <a:r>
              <a:rPr lang="zh-CN" altLang="en-US" sz="2000" dirty="0" smtClean="0"/>
              <a:t>故障修复、投诉处理流程化</a:t>
            </a:r>
          </a:p>
          <a:p>
            <a:pPr marL="285750" indent="285750" algn="ctr">
              <a:lnSpc>
                <a:spcPct val="150000"/>
              </a:lnSpc>
              <a:buFont typeface="Arial" panose="020B0604020202020204" pitchFamily="34" charset="0"/>
              <a:buChar char="•"/>
            </a:pPr>
            <a:r>
              <a:rPr lang="zh-CN" altLang="en-US" sz="2000" dirty="0" smtClean="0">
                <a:sym typeface="+mn-ea"/>
              </a:rPr>
              <a:t>数据分析、资源管理高效化</a:t>
            </a:r>
          </a:p>
          <a:p>
            <a:pPr marL="285750" indent="285750" algn="ctr">
              <a:lnSpc>
                <a:spcPct val="150000"/>
              </a:lnSpc>
              <a:buFont typeface="Arial" panose="020B0604020202020204" pitchFamily="34" charset="0"/>
              <a:buChar char="•"/>
            </a:pPr>
            <a:r>
              <a:rPr lang="zh-CN" altLang="en-US" sz="2000" dirty="0" smtClean="0">
                <a:sym typeface="+mn-ea"/>
              </a:rPr>
              <a:t>规则定制、经验学习标准化</a:t>
            </a:r>
          </a:p>
        </p:txBody>
      </p:sp>
    </p:spTree>
    <p:extLst>
      <p:ext uri="{BB962C8B-B14F-4D97-AF65-F5344CB8AC3E}">
        <p14:creationId xmlns:p14="http://schemas.microsoft.com/office/powerpoint/2010/main" val="3703518223"/>
      </p:ext>
    </p:extLst>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6575423"/>
            <a:ext cx="12192000" cy="282578"/>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平台建设原则：</a:t>
            </a:r>
            <a:endParaRPr lang="zh-CN" altLang="en-US" dirty="0">
              <a:solidFill>
                <a:srgbClr val="333F50"/>
              </a:solidFill>
            </a:endParaRPr>
          </a:p>
        </p:txBody>
      </p:sp>
      <p:sp>
        <p:nvSpPr>
          <p:cNvPr id="7" name="文本框 6"/>
          <p:cNvSpPr txBox="1"/>
          <p:nvPr/>
        </p:nvSpPr>
        <p:spPr>
          <a:xfrm>
            <a:off x="4457700" y="2821642"/>
            <a:ext cx="6343650" cy="21685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系统框架可移植性</a:t>
            </a:r>
          </a:p>
          <a:p>
            <a:pPr marL="285750" indent="285750">
              <a:lnSpc>
                <a:spcPct val="150000"/>
              </a:lnSpc>
              <a:buFont typeface="Arial" panose="020B0604020202020204" pitchFamily="34" charset="0"/>
              <a:buChar char="•"/>
            </a:pPr>
            <a:r>
              <a:rPr lang="zh-CN" altLang="en-US" dirty="0" smtClean="0"/>
              <a:t>平台结构健壮性</a:t>
            </a:r>
          </a:p>
          <a:p>
            <a:pPr marL="285750" indent="285750">
              <a:lnSpc>
                <a:spcPct val="150000"/>
              </a:lnSpc>
              <a:buFont typeface="Arial" panose="020B0604020202020204" pitchFamily="34" charset="0"/>
              <a:buChar char="•"/>
            </a:pPr>
            <a:r>
              <a:rPr lang="zh-CN" altLang="en-US" dirty="0" smtClean="0"/>
              <a:t>数据接口可扩展性</a:t>
            </a:r>
          </a:p>
          <a:p>
            <a:pPr marL="285750" indent="285750">
              <a:lnSpc>
                <a:spcPct val="150000"/>
              </a:lnSpc>
              <a:buFont typeface="Arial" panose="020B0604020202020204" pitchFamily="34" charset="0"/>
              <a:buChar char="•"/>
            </a:pPr>
            <a:r>
              <a:rPr lang="zh-CN" altLang="en-US" dirty="0" smtClean="0">
                <a:sym typeface="+mn-ea"/>
              </a:rPr>
              <a:t>用户界面易操作性</a:t>
            </a:r>
          </a:p>
          <a:p>
            <a:pPr marL="285750" indent="285750">
              <a:lnSpc>
                <a:spcPct val="150000"/>
              </a:lnSpc>
              <a:buFont typeface="Arial" panose="020B0604020202020204" pitchFamily="34" charset="0"/>
              <a:buChar char="•"/>
            </a:pPr>
            <a:r>
              <a:rPr lang="zh-CN" altLang="en-US" dirty="0" smtClean="0"/>
              <a:t>各专业部门通用性</a:t>
            </a:r>
          </a:p>
        </p:txBody>
      </p:sp>
    </p:spTree>
    <p:extLst>
      <p:ext uri="{BB962C8B-B14F-4D97-AF65-F5344CB8AC3E}">
        <p14:creationId xmlns:p14="http://schemas.microsoft.com/office/powerpoint/2010/main" val="2226539025"/>
      </p:ext>
    </p:extLst>
  </p:cSld>
  <p:clrMapOvr>
    <a:masterClrMapping/>
  </p:clrMapOvr>
  <p:transition spd="med">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p:nvPr/>
        </p:nvSpPr>
        <p:spPr bwMode="auto">
          <a:xfrm>
            <a:off x="2403305" y="5778957"/>
            <a:ext cx="8125179" cy="563562"/>
          </a:xfrm>
          <a:prstGeom prst="rect">
            <a:avLst/>
          </a:prstGeom>
          <a:solidFill>
            <a:schemeClr val="accent5">
              <a:lumMod val="60000"/>
              <a:lumOff val="40000"/>
              <a:alpha val="36000"/>
            </a:schemeClr>
          </a:solidFill>
          <a:ln w="9525" cap="flat" cmpd="sng" algn="ctr">
            <a:noFill/>
            <a:prstDash val="solid"/>
            <a:round/>
            <a:headEnd type="none" w="med" len="med"/>
            <a:tailEnd type="none" w="med" len="med"/>
          </a:ln>
          <a:effectLst/>
          <a:extLst/>
        </p:spPr>
        <p:txBody>
          <a:bodyPr lIns="68562" tIns="34281" rIns="68562" bIns="34281"/>
          <a:lstStyle/>
          <a:p>
            <a:pPr fontAlgn="auto">
              <a:spcBef>
                <a:spcPts val="0"/>
              </a:spcBef>
              <a:spcAft>
                <a:spcPts val="0"/>
              </a:spcAft>
              <a:defRPr/>
            </a:pPr>
            <a:endParaRPr lang="zh-CN" altLang="en-US">
              <a:solidFill>
                <a:schemeClr val="tx1">
                  <a:lumMod val="75000"/>
                  <a:lumOff val="25000"/>
                </a:schemeClr>
              </a:solidFill>
              <a:latin typeface="+mn-lt"/>
              <a:ea typeface="+mn-ea"/>
            </a:endParaRPr>
          </a:p>
        </p:txBody>
      </p:sp>
      <p:sp>
        <p:nvSpPr>
          <p:cNvPr id="5" name="矩形 4"/>
          <p:cNvSpPr/>
          <p:nvPr/>
        </p:nvSpPr>
        <p:spPr>
          <a:xfrm>
            <a:off x="0" y="6575423"/>
            <a:ext cx="12192000" cy="282578"/>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6" name="矩形 5"/>
          <p:cNvSpPr/>
          <p:nvPr/>
        </p:nvSpPr>
        <p:spPr>
          <a:xfrm>
            <a:off x="2462707" y="4018696"/>
            <a:ext cx="574675" cy="823912"/>
          </a:xfrm>
          <a:prstGeom prst="rect">
            <a:avLst/>
          </a:prstGeom>
          <a:solidFill>
            <a:srgbClr val="41A0D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solidFill>
                  <a:prstClr val="white"/>
                </a:solidFill>
                <a:latin typeface="Agency FB" panose="020B0503020202020204" pitchFamily="34" charset="0"/>
              </a:rPr>
              <a:t>04</a:t>
            </a:r>
            <a:endParaRPr lang="zh-CN" altLang="en-US" sz="2400" dirty="0">
              <a:solidFill>
                <a:prstClr val="white"/>
              </a:solidFill>
              <a:latin typeface="Agency FB" panose="020B0503020202020204" pitchFamily="34" charset="0"/>
            </a:endParaRPr>
          </a:p>
        </p:txBody>
      </p:sp>
      <p:sp>
        <p:nvSpPr>
          <p:cNvPr id="7" name="矩形 6"/>
          <p:cNvSpPr/>
          <p:nvPr/>
        </p:nvSpPr>
        <p:spPr>
          <a:xfrm>
            <a:off x="2462707" y="3194783"/>
            <a:ext cx="574675" cy="823913"/>
          </a:xfrm>
          <a:prstGeom prst="rect">
            <a:avLst/>
          </a:pr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solidFill>
                  <a:prstClr val="white"/>
                </a:solidFill>
                <a:latin typeface="Agency FB" panose="020B0503020202020204" pitchFamily="34" charset="0"/>
              </a:rPr>
              <a:t>03</a:t>
            </a:r>
            <a:endParaRPr lang="zh-CN" altLang="en-US" sz="2400" dirty="0">
              <a:solidFill>
                <a:prstClr val="white"/>
              </a:solidFill>
              <a:latin typeface="Agency FB" panose="020B0503020202020204" pitchFamily="34" charset="0"/>
            </a:endParaRPr>
          </a:p>
        </p:txBody>
      </p:sp>
      <p:sp>
        <p:nvSpPr>
          <p:cNvPr id="8" name="矩形 7"/>
          <p:cNvSpPr/>
          <p:nvPr/>
        </p:nvSpPr>
        <p:spPr>
          <a:xfrm>
            <a:off x="2462707" y="2377221"/>
            <a:ext cx="574675" cy="825500"/>
          </a:xfrm>
          <a:prstGeom prst="rect">
            <a:avLst/>
          </a:prstGeom>
          <a:solidFill>
            <a:srgbClr val="53D2FF">
              <a:alpha val="80000"/>
            </a:srgbClr>
          </a:solidFill>
          <a:ln>
            <a:noFill/>
          </a:ln>
          <a:effectLst>
            <a:outerShdw blurRad="254000" algn="ctr" rotWithShape="0">
              <a:srgbClr val="53D2FF">
                <a:alpha val="8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solidFill>
                  <a:prstClr val="white"/>
                </a:solidFill>
                <a:latin typeface="Agency FB" panose="020B0503020202020204" pitchFamily="34" charset="0"/>
              </a:rPr>
              <a:t>02</a:t>
            </a:r>
            <a:endParaRPr lang="zh-CN" altLang="en-US" sz="2400">
              <a:solidFill>
                <a:prstClr val="white"/>
              </a:solidFill>
              <a:latin typeface="Agency FB" panose="020B0503020202020204" pitchFamily="34" charset="0"/>
            </a:endParaRPr>
          </a:p>
        </p:txBody>
      </p:sp>
      <p:sp>
        <p:nvSpPr>
          <p:cNvPr id="9" name="矩形 8"/>
          <p:cNvSpPr/>
          <p:nvPr/>
        </p:nvSpPr>
        <p:spPr>
          <a:xfrm>
            <a:off x="2462707" y="1556483"/>
            <a:ext cx="574675" cy="825500"/>
          </a:xfrm>
          <a:prstGeom prst="rect">
            <a:avLst/>
          </a:pr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latin typeface="Agency FB" panose="020B0503020202020204" pitchFamily="34" charset="0"/>
              </a:rPr>
              <a:t>01</a:t>
            </a:r>
            <a:endParaRPr lang="zh-CN" altLang="en-US" sz="2400" dirty="0">
              <a:latin typeface="Agency FB" panose="020B0503020202020204" pitchFamily="34" charset="0"/>
            </a:endParaRPr>
          </a:p>
        </p:txBody>
      </p:sp>
      <p:sp>
        <p:nvSpPr>
          <p:cNvPr id="10" name="矩形 28"/>
          <p:cNvSpPr/>
          <p:nvPr/>
        </p:nvSpPr>
        <p:spPr>
          <a:xfrm>
            <a:off x="3227882" y="1556483"/>
            <a:ext cx="1120775" cy="1047750"/>
          </a:xfrm>
          <a:custGeom>
            <a:avLst/>
            <a:gdLst>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280593 h 1280593"/>
              <a:gd name="connsiteX4" fmla="*/ 0 w 1826712"/>
              <a:gd name="connsiteY4" fmla="*/ 0 h 1280593"/>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007543 h 1280593"/>
              <a:gd name="connsiteX4" fmla="*/ 0 w 1826712"/>
              <a:gd name="connsiteY4" fmla="*/ 0 h 1280593"/>
              <a:gd name="connsiteX0" fmla="*/ 0 w 1826712"/>
              <a:gd name="connsiteY0" fmla="*/ 0 h 1280593"/>
              <a:gd name="connsiteX1" fmla="*/ 1826712 w 1826712"/>
              <a:gd name="connsiteY1" fmla="*/ 555625 h 1280593"/>
              <a:gd name="connsiteX2" fmla="*/ 1826712 w 1826712"/>
              <a:gd name="connsiteY2" fmla="*/ 1280593 h 1280593"/>
              <a:gd name="connsiteX3" fmla="*/ 0 w 1826712"/>
              <a:gd name="connsiteY3" fmla="*/ 1007543 h 1280593"/>
              <a:gd name="connsiteX4" fmla="*/ 0 w 1826712"/>
              <a:gd name="connsiteY4" fmla="*/ 0 h 12805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6712" h="1280593">
                <a:moveTo>
                  <a:pt x="0" y="0"/>
                </a:moveTo>
                <a:lnTo>
                  <a:pt x="1826712" y="555625"/>
                </a:lnTo>
                <a:lnTo>
                  <a:pt x="1826712" y="1280593"/>
                </a:lnTo>
                <a:lnTo>
                  <a:pt x="0" y="1007543"/>
                </a:lnTo>
                <a:lnTo>
                  <a:pt x="0" y="0"/>
                </a:lnTo>
                <a:close/>
              </a:path>
            </a:pathLst>
          </a:custGeom>
          <a:solidFill>
            <a:srgbClr val="41A0D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1" name="矩形 28"/>
          <p:cNvSpPr/>
          <p:nvPr/>
        </p:nvSpPr>
        <p:spPr>
          <a:xfrm>
            <a:off x="3227882" y="2378808"/>
            <a:ext cx="1123950" cy="825500"/>
          </a:xfrm>
          <a:custGeom>
            <a:avLst/>
            <a:gdLst>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280593 h 1280593"/>
              <a:gd name="connsiteX4" fmla="*/ 0 w 1826712"/>
              <a:gd name="connsiteY4" fmla="*/ 0 h 1280593"/>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007543 h 1280593"/>
              <a:gd name="connsiteX4" fmla="*/ 0 w 1826712"/>
              <a:gd name="connsiteY4" fmla="*/ 0 h 1280593"/>
              <a:gd name="connsiteX0" fmla="*/ 0 w 1826712"/>
              <a:gd name="connsiteY0" fmla="*/ 0 h 1280593"/>
              <a:gd name="connsiteX1" fmla="*/ 1826712 w 1826712"/>
              <a:gd name="connsiteY1" fmla="*/ 555625 h 1280593"/>
              <a:gd name="connsiteX2" fmla="*/ 1826712 w 1826712"/>
              <a:gd name="connsiteY2" fmla="*/ 1280593 h 1280593"/>
              <a:gd name="connsiteX3" fmla="*/ 0 w 1826712"/>
              <a:gd name="connsiteY3" fmla="*/ 1007543 h 1280593"/>
              <a:gd name="connsiteX4" fmla="*/ 0 w 1826712"/>
              <a:gd name="connsiteY4" fmla="*/ 0 h 1280593"/>
              <a:gd name="connsiteX0" fmla="*/ 0 w 1829887"/>
              <a:gd name="connsiteY0" fmla="*/ 0 h 1280593"/>
              <a:gd name="connsiteX1" fmla="*/ 1829887 w 1829887"/>
              <a:gd name="connsiteY1" fmla="*/ 273050 h 1280593"/>
              <a:gd name="connsiteX2" fmla="*/ 1826712 w 1829887"/>
              <a:gd name="connsiteY2" fmla="*/ 1280593 h 1280593"/>
              <a:gd name="connsiteX3" fmla="*/ 0 w 1829887"/>
              <a:gd name="connsiteY3" fmla="*/ 1007543 h 1280593"/>
              <a:gd name="connsiteX4" fmla="*/ 0 w 1829887"/>
              <a:gd name="connsiteY4" fmla="*/ 0 h 1280593"/>
              <a:gd name="connsiteX0" fmla="*/ 0 w 1830192"/>
              <a:gd name="connsiteY0" fmla="*/ 0 h 1007543"/>
              <a:gd name="connsiteX1" fmla="*/ 1829887 w 1830192"/>
              <a:gd name="connsiteY1" fmla="*/ 273050 h 1007543"/>
              <a:gd name="connsiteX2" fmla="*/ 1829887 w 1830192"/>
              <a:gd name="connsiteY2" fmla="*/ 998018 h 1007543"/>
              <a:gd name="connsiteX3" fmla="*/ 0 w 1830192"/>
              <a:gd name="connsiteY3" fmla="*/ 1007543 h 1007543"/>
              <a:gd name="connsiteX4" fmla="*/ 0 w 1830192"/>
              <a:gd name="connsiteY4" fmla="*/ 0 h 1007543"/>
              <a:gd name="connsiteX0" fmla="*/ 0 w 1829887"/>
              <a:gd name="connsiteY0" fmla="*/ 0 h 1007543"/>
              <a:gd name="connsiteX1" fmla="*/ 1829887 w 1829887"/>
              <a:gd name="connsiteY1" fmla="*/ 273050 h 1007543"/>
              <a:gd name="connsiteX2" fmla="*/ 1823537 w 1829887"/>
              <a:gd name="connsiteY2" fmla="*/ 1001193 h 1007543"/>
              <a:gd name="connsiteX3" fmla="*/ 0 w 1829887"/>
              <a:gd name="connsiteY3" fmla="*/ 1007543 h 1007543"/>
              <a:gd name="connsiteX4" fmla="*/ 0 w 1829887"/>
              <a:gd name="connsiteY4" fmla="*/ 0 h 1007543"/>
              <a:gd name="connsiteX0" fmla="*/ 0 w 1830192"/>
              <a:gd name="connsiteY0" fmla="*/ 0 h 1007543"/>
              <a:gd name="connsiteX1" fmla="*/ 1829887 w 1830192"/>
              <a:gd name="connsiteY1" fmla="*/ 273050 h 1007543"/>
              <a:gd name="connsiteX2" fmla="*/ 1829887 w 1830192"/>
              <a:gd name="connsiteY2" fmla="*/ 1001193 h 1007543"/>
              <a:gd name="connsiteX3" fmla="*/ 0 w 1830192"/>
              <a:gd name="connsiteY3" fmla="*/ 1007543 h 1007543"/>
              <a:gd name="connsiteX4" fmla="*/ 0 w 1830192"/>
              <a:gd name="connsiteY4" fmla="*/ 0 h 1007543"/>
              <a:gd name="connsiteX0" fmla="*/ 0 w 1829887"/>
              <a:gd name="connsiteY0" fmla="*/ 0 h 1007543"/>
              <a:gd name="connsiteX1" fmla="*/ 1829887 w 1829887"/>
              <a:gd name="connsiteY1" fmla="*/ 273050 h 1007543"/>
              <a:gd name="connsiteX2" fmla="*/ 1826712 w 1829887"/>
              <a:gd name="connsiteY2" fmla="*/ 1001193 h 1007543"/>
              <a:gd name="connsiteX3" fmla="*/ 0 w 1829887"/>
              <a:gd name="connsiteY3" fmla="*/ 1007543 h 1007543"/>
              <a:gd name="connsiteX4" fmla="*/ 0 w 1829887"/>
              <a:gd name="connsiteY4" fmla="*/ 0 h 1007543"/>
              <a:gd name="connsiteX0" fmla="*/ 0 w 1833980"/>
              <a:gd name="connsiteY0" fmla="*/ 0 h 1007543"/>
              <a:gd name="connsiteX1" fmla="*/ 1829887 w 1833980"/>
              <a:gd name="connsiteY1" fmla="*/ 273050 h 1007543"/>
              <a:gd name="connsiteX2" fmla="*/ 1833856 w 1833980"/>
              <a:gd name="connsiteY2" fmla="*/ 1001193 h 1007543"/>
              <a:gd name="connsiteX3" fmla="*/ 0 w 1833980"/>
              <a:gd name="connsiteY3" fmla="*/ 1007543 h 1007543"/>
              <a:gd name="connsiteX4" fmla="*/ 0 w 1833980"/>
              <a:gd name="connsiteY4" fmla="*/ 0 h 1007543"/>
              <a:gd name="connsiteX0" fmla="*/ 0 w 1829887"/>
              <a:gd name="connsiteY0" fmla="*/ 0 h 1007543"/>
              <a:gd name="connsiteX1" fmla="*/ 1829887 w 1829887"/>
              <a:gd name="connsiteY1" fmla="*/ 273050 h 1007543"/>
              <a:gd name="connsiteX2" fmla="*/ 1829093 w 1829887"/>
              <a:gd name="connsiteY2" fmla="*/ 1003575 h 1007543"/>
              <a:gd name="connsiteX3" fmla="*/ 0 w 1829887"/>
              <a:gd name="connsiteY3" fmla="*/ 1007543 h 1007543"/>
              <a:gd name="connsiteX4" fmla="*/ 0 w 1829887"/>
              <a:gd name="connsiteY4" fmla="*/ 0 h 100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9887" h="1007543">
                <a:moveTo>
                  <a:pt x="0" y="0"/>
                </a:moveTo>
                <a:lnTo>
                  <a:pt x="1829887" y="273050"/>
                </a:lnTo>
                <a:cubicBezTo>
                  <a:pt x="1828829" y="608898"/>
                  <a:pt x="1830151" y="667727"/>
                  <a:pt x="1829093" y="1003575"/>
                </a:cubicBezTo>
                <a:lnTo>
                  <a:pt x="0" y="1007543"/>
                </a:lnTo>
                <a:lnTo>
                  <a:pt x="0" y="0"/>
                </a:lnTo>
                <a:close/>
              </a:path>
            </a:pathLst>
          </a:custGeom>
          <a:solidFill>
            <a:srgbClr val="53D2FF"/>
          </a:solidFill>
          <a:ln>
            <a:noFill/>
          </a:ln>
          <a:effectLst>
            <a:outerShdw blurRad="254000" algn="ctr" rotWithShape="0">
              <a:srgbClr val="53D2FF">
                <a:alpha val="8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dirty="0"/>
          </a:p>
        </p:txBody>
      </p:sp>
      <p:sp>
        <p:nvSpPr>
          <p:cNvPr id="12" name="矩形 28"/>
          <p:cNvSpPr/>
          <p:nvPr/>
        </p:nvSpPr>
        <p:spPr>
          <a:xfrm>
            <a:off x="3227882" y="3197958"/>
            <a:ext cx="1125537" cy="820738"/>
          </a:xfrm>
          <a:custGeom>
            <a:avLst/>
            <a:gdLst>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280593 h 1280593"/>
              <a:gd name="connsiteX4" fmla="*/ 0 w 1826712"/>
              <a:gd name="connsiteY4" fmla="*/ 0 h 1280593"/>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007543 h 1280593"/>
              <a:gd name="connsiteX4" fmla="*/ 0 w 1826712"/>
              <a:gd name="connsiteY4" fmla="*/ 0 h 1280593"/>
              <a:gd name="connsiteX0" fmla="*/ 0 w 1826712"/>
              <a:gd name="connsiteY0" fmla="*/ 0 h 1280593"/>
              <a:gd name="connsiteX1" fmla="*/ 1826712 w 1826712"/>
              <a:gd name="connsiteY1" fmla="*/ 555625 h 1280593"/>
              <a:gd name="connsiteX2" fmla="*/ 1826712 w 1826712"/>
              <a:gd name="connsiteY2" fmla="*/ 1280593 h 1280593"/>
              <a:gd name="connsiteX3" fmla="*/ 0 w 1826712"/>
              <a:gd name="connsiteY3" fmla="*/ 1007543 h 1280593"/>
              <a:gd name="connsiteX4" fmla="*/ 0 w 1826712"/>
              <a:gd name="connsiteY4" fmla="*/ 0 h 1280593"/>
              <a:gd name="connsiteX0" fmla="*/ 0 w 1829887"/>
              <a:gd name="connsiteY0" fmla="*/ 0 h 1280593"/>
              <a:gd name="connsiteX1" fmla="*/ 1829887 w 1829887"/>
              <a:gd name="connsiteY1" fmla="*/ 273050 h 1280593"/>
              <a:gd name="connsiteX2" fmla="*/ 1826712 w 1829887"/>
              <a:gd name="connsiteY2" fmla="*/ 1280593 h 1280593"/>
              <a:gd name="connsiteX3" fmla="*/ 0 w 1829887"/>
              <a:gd name="connsiteY3" fmla="*/ 1007543 h 1280593"/>
              <a:gd name="connsiteX4" fmla="*/ 0 w 1829887"/>
              <a:gd name="connsiteY4" fmla="*/ 0 h 1280593"/>
              <a:gd name="connsiteX0" fmla="*/ 0 w 1830192"/>
              <a:gd name="connsiteY0" fmla="*/ 0 h 1007543"/>
              <a:gd name="connsiteX1" fmla="*/ 1829887 w 1830192"/>
              <a:gd name="connsiteY1" fmla="*/ 273050 h 1007543"/>
              <a:gd name="connsiteX2" fmla="*/ 1829887 w 1830192"/>
              <a:gd name="connsiteY2" fmla="*/ 998018 h 1007543"/>
              <a:gd name="connsiteX3" fmla="*/ 0 w 1830192"/>
              <a:gd name="connsiteY3" fmla="*/ 1007543 h 1007543"/>
              <a:gd name="connsiteX4" fmla="*/ 0 w 1830192"/>
              <a:gd name="connsiteY4" fmla="*/ 0 h 1007543"/>
              <a:gd name="connsiteX0" fmla="*/ 0 w 1829887"/>
              <a:gd name="connsiteY0" fmla="*/ 0 h 1007543"/>
              <a:gd name="connsiteX1" fmla="*/ 1829887 w 1829887"/>
              <a:gd name="connsiteY1" fmla="*/ 273050 h 1007543"/>
              <a:gd name="connsiteX2" fmla="*/ 1823537 w 1829887"/>
              <a:gd name="connsiteY2" fmla="*/ 1001193 h 1007543"/>
              <a:gd name="connsiteX3" fmla="*/ 0 w 1829887"/>
              <a:gd name="connsiteY3" fmla="*/ 1007543 h 1007543"/>
              <a:gd name="connsiteX4" fmla="*/ 0 w 1829887"/>
              <a:gd name="connsiteY4" fmla="*/ 0 h 1007543"/>
              <a:gd name="connsiteX0" fmla="*/ 0 w 1830192"/>
              <a:gd name="connsiteY0" fmla="*/ 0 h 1007543"/>
              <a:gd name="connsiteX1" fmla="*/ 1829887 w 1830192"/>
              <a:gd name="connsiteY1" fmla="*/ 273050 h 1007543"/>
              <a:gd name="connsiteX2" fmla="*/ 1829887 w 1830192"/>
              <a:gd name="connsiteY2" fmla="*/ 1001193 h 1007543"/>
              <a:gd name="connsiteX3" fmla="*/ 0 w 1830192"/>
              <a:gd name="connsiteY3" fmla="*/ 1007543 h 1007543"/>
              <a:gd name="connsiteX4" fmla="*/ 0 w 1830192"/>
              <a:gd name="connsiteY4" fmla="*/ 0 h 1007543"/>
              <a:gd name="connsiteX0" fmla="*/ 0 w 1829887"/>
              <a:gd name="connsiteY0" fmla="*/ 0 h 1007543"/>
              <a:gd name="connsiteX1" fmla="*/ 1829887 w 1829887"/>
              <a:gd name="connsiteY1" fmla="*/ 273050 h 1007543"/>
              <a:gd name="connsiteX2" fmla="*/ 1826712 w 1829887"/>
              <a:gd name="connsiteY2" fmla="*/ 1001193 h 1007543"/>
              <a:gd name="connsiteX3" fmla="*/ 0 w 1829887"/>
              <a:gd name="connsiteY3" fmla="*/ 1007543 h 1007543"/>
              <a:gd name="connsiteX4" fmla="*/ 0 w 1829887"/>
              <a:gd name="connsiteY4" fmla="*/ 0 h 1007543"/>
              <a:gd name="connsiteX0" fmla="*/ 0 w 1829887"/>
              <a:gd name="connsiteY0" fmla="*/ 0 h 1001193"/>
              <a:gd name="connsiteX1" fmla="*/ 1829887 w 1829887"/>
              <a:gd name="connsiteY1" fmla="*/ 273050 h 1001193"/>
              <a:gd name="connsiteX2" fmla="*/ 1826712 w 1829887"/>
              <a:gd name="connsiteY2" fmla="*/ 1001193 h 1001193"/>
              <a:gd name="connsiteX3" fmla="*/ 0 w 1829887"/>
              <a:gd name="connsiteY3" fmla="*/ 998018 h 1001193"/>
              <a:gd name="connsiteX4" fmla="*/ 0 w 1829887"/>
              <a:gd name="connsiteY4" fmla="*/ 0 h 1001193"/>
              <a:gd name="connsiteX0" fmla="*/ 0 w 1832268"/>
              <a:gd name="connsiteY0" fmla="*/ 5556 h 1006749"/>
              <a:gd name="connsiteX1" fmla="*/ 1832268 w 1832268"/>
              <a:gd name="connsiteY1" fmla="*/ 0 h 1006749"/>
              <a:gd name="connsiteX2" fmla="*/ 1826712 w 1832268"/>
              <a:gd name="connsiteY2" fmla="*/ 1006749 h 1006749"/>
              <a:gd name="connsiteX3" fmla="*/ 0 w 1832268"/>
              <a:gd name="connsiteY3" fmla="*/ 1003574 h 1006749"/>
              <a:gd name="connsiteX4" fmla="*/ 0 w 1832268"/>
              <a:gd name="connsiteY4" fmla="*/ 5556 h 1006749"/>
              <a:gd name="connsiteX0" fmla="*/ 0 w 1832268"/>
              <a:gd name="connsiteY0" fmla="*/ 5556 h 1003574"/>
              <a:gd name="connsiteX1" fmla="*/ 1832268 w 1832268"/>
              <a:gd name="connsiteY1" fmla="*/ 0 h 1003574"/>
              <a:gd name="connsiteX2" fmla="*/ 1829093 w 1832268"/>
              <a:gd name="connsiteY2" fmla="*/ 720999 h 1003574"/>
              <a:gd name="connsiteX3" fmla="*/ 0 w 1832268"/>
              <a:gd name="connsiteY3" fmla="*/ 1003574 h 1003574"/>
              <a:gd name="connsiteX4" fmla="*/ 0 w 1832268"/>
              <a:gd name="connsiteY4" fmla="*/ 5556 h 1003574"/>
              <a:gd name="connsiteX0" fmla="*/ 0 w 1834048"/>
              <a:gd name="connsiteY0" fmla="*/ 5556 h 1003574"/>
              <a:gd name="connsiteX1" fmla="*/ 1832268 w 1834048"/>
              <a:gd name="connsiteY1" fmla="*/ 0 h 1003574"/>
              <a:gd name="connsiteX2" fmla="*/ 1833856 w 1834048"/>
              <a:gd name="connsiteY2" fmla="*/ 720999 h 1003574"/>
              <a:gd name="connsiteX3" fmla="*/ 0 w 1834048"/>
              <a:gd name="connsiteY3" fmla="*/ 1003574 h 1003574"/>
              <a:gd name="connsiteX4" fmla="*/ 0 w 1834048"/>
              <a:gd name="connsiteY4" fmla="*/ 5556 h 100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4048" h="1003574">
                <a:moveTo>
                  <a:pt x="0" y="5556"/>
                </a:moveTo>
                <a:lnTo>
                  <a:pt x="1832268" y="0"/>
                </a:lnTo>
                <a:cubicBezTo>
                  <a:pt x="1831210" y="335848"/>
                  <a:pt x="1834914" y="385151"/>
                  <a:pt x="1833856" y="720999"/>
                </a:cubicBezTo>
                <a:lnTo>
                  <a:pt x="0" y="1003574"/>
                </a:lnTo>
                <a:lnTo>
                  <a:pt x="0" y="5556"/>
                </a:lnTo>
                <a:close/>
              </a:path>
            </a:pathLst>
          </a:custGeom>
          <a:solidFill>
            <a:srgbClr val="41A0D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3" name="矩形 28"/>
          <p:cNvSpPr/>
          <p:nvPr/>
        </p:nvSpPr>
        <p:spPr>
          <a:xfrm>
            <a:off x="3224707" y="3783746"/>
            <a:ext cx="1127125" cy="1058862"/>
          </a:xfrm>
          <a:custGeom>
            <a:avLst/>
            <a:gdLst>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280593 h 1280593"/>
              <a:gd name="connsiteX4" fmla="*/ 0 w 1826712"/>
              <a:gd name="connsiteY4" fmla="*/ 0 h 1280593"/>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007543 h 1280593"/>
              <a:gd name="connsiteX4" fmla="*/ 0 w 1826712"/>
              <a:gd name="connsiteY4" fmla="*/ 0 h 1280593"/>
              <a:gd name="connsiteX0" fmla="*/ 0 w 1826712"/>
              <a:gd name="connsiteY0" fmla="*/ 0 h 1280593"/>
              <a:gd name="connsiteX1" fmla="*/ 1826712 w 1826712"/>
              <a:gd name="connsiteY1" fmla="*/ 555625 h 1280593"/>
              <a:gd name="connsiteX2" fmla="*/ 1826712 w 1826712"/>
              <a:gd name="connsiteY2" fmla="*/ 1280593 h 1280593"/>
              <a:gd name="connsiteX3" fmla="*/ 0 w 1826712"/>
              <a:gd name="connsiteY3" fmla="*/ 1007543 h 1280593"/>
              <a:gd name="connsiteX4" fmla="*/ 0 w 1826712"/>
              <a:gd name="connsiteY4" fmla="*/ 0 h 1280593"/>
              <a:gd name="connsiteX0" fmla="*/ 0 w 1829887"/>
              <a:gd name="connsiteY0" fmla="*/ 0 h 1280593"/>
              <a:gd name="connsiteX1" fmla="*/ 1829887 w 1829887"/>
              <a:gd name="connsiteY1" fmla="*/ 273050 h 1280593"/>
              <a:gd name="connsiteX2" fmla="*/ 1826712 w 1829887"/>
              <a:gd name="connsiteY2" fmla="*/ 1280593 h 1280593"/>
              <a:gd name="connsiteX3" fmla="*/ 0 w 1829887"/>
              <a:gd name="connsiteY3" fmla="*/ 1007543 h 1280593"/>
              <a:gd name="connsiteX4" fmla="*/ 0 w 1829887"/>
              <a:gd name="connsiteY4" fmla="*/ 0 h 1280593"/>
              <a:gd name="connsiteX0" fmla="*/ 0 w 1830192"/>
              <a:gd name="connsiteY0" fmla="*/ 0 h 1007543"/>
              <a:gd name="connsiteX1" fmla="*/ 1829887 w 1830192"/>
              <a:gd name="connsiteY1" fmla="*/ 273050 h 1007543"/>
              <a:gd name="connsiteX2" fmla="*/ 1829887 w 1830192"/>
              <a:gd name="connsiteY2" fmla="*/ 998018 h 1007543"/>
              <a:gd name="connsiteX3" fmla="*/ 0 w 1830192"/>
              <a:gd name="connsiteY3" fmla="*/ 1007543 h 1007543"/>
              <a:gd name="connsiteX4" fmla="*/ 0 w 1830192"/>
              <a:gd name="connsiteY4" fmla="*/ 0 h 1007543"/>
              <a:gd name="connsiteX0" fmla="*/ 0 w 1829887"/>
              <a:gd name="connsiteY0" fmla="*/ 0 h 1007543"/>
              <a:gd name="connsiteX1" fmla="*/ 1829887 w 1829887"/>
              <a:gd name="connsiteY1" fmla="*/ 273050 h 1007543"/>
              <a:gd name="connsiteX2" fmla="*/ 1823537 w 1829887"/>
              <a:gd name="connsiteY2" fmla="*/ 1001193 h 1007543"/>
              <a:gd name="connsiteX3" fmla="*/ 0 w 1829887"/>
              <a:gd name="connsiteY3" fmla="*/ 1007543 h 1007543"/>
              <a:gd name="connsiteX4" fmla="*/ 0 w 1829887"/>
              <a:gd name="connsiteY4" fmla="*/ 0 h 1007543"/>
              <a:gd name="connsiteX0" fmla="*/ 0 w 1830192"/>
              <a:gd name="connsiteY0" fmla="*/ 0 h 1007543"/>
              <a:gd name="connsiteX1" fmla="*/ 1829887 w 1830192"/>
              <a:gd name="connsiteY1" fmla="*/ 273050 h 1007543"/>
              <a:gd name="connsiteX2" fmla="*/ 1829887 w 1830192"/>
              <a:gd name="connsiteY2" fmla="*/ 1001193 h 1007543"/>
              <a:gd name="connsiteX3" fmla="*/ 0 w 1830192"/>
              <a:gd name="connsiteY3" fmla="*/ 1007543 h 1007543"/>
              <a:gd name="connsiteX4" fmla="*/ 0 w 1830192"/>
              <a:gd name="connsiteY4" fmla="*/ 0 h 1007543"/>
              <a:gd name="connsiteX0" fmla="*/ 0 w 1829887"/>
              <a:gd name="connsiteY0" fmla="*/ 0 h 1007543"/>
              <a:gd name="connsiteX1" fmla="*/ 1829887 w 1829887"/>
              <a:gd name="connsiteY1" fmla="*/ 273050 h 1007543"/>
              <a:gd name="connsiteX2" fmla="*/ 1826712 w 1829887"/>
              <a:gd name="connsiteY2" fmla="*/ 1001193 h 1007543"/>
              <a:gd name="connsiteX3" fmla="*/ 0 w 1829887"/>
              <a:gd name="connsiteY3" fmla="*/ 1007543 h 1007543"/>
              <a:gd name="connsiteX4" fmla="*/ 0 w 1829887"/>
              <a:gd name="connsiteY4" fmla="*/ 0 h 1007543"/>
              <a:gd name="connsiteX0" fmla="*/ 0 w 1829887"/>
              <a:gd name="connsiteY0" fmla="*/ 0 h 1001193"/>
              <a:gd name="connsiteX1" fmla="*/ 1829887 w 1829887"/>
              <a:gd name="connsiteY1" fmla="*/ 273050 h 1001193"/>
              <a:gd name="connsiteX2" fmla="*/ 1826712 w 1829887"/>
              <a:gd name="connsiteY2" fmla="*/ 1001193 h 1001193"/>
              <a:gd name="connsiteX3" fmla="*/ 0 w 1829887"/>
              <a:gd name="connsiteY3" fmla="*/ 998018 h 1001193"/>
              <a:gd name="connsiteX4" fmla="*/ 0 w 1829887"/>
              <a:gd name="connsiteY4" fmla="*/ 0 h 1001193"/>
              <a:gd name="connsiteX0" fmla="*/ 0 w 1832268"/>
              <a:gd name="connsiteY0" fmla="*/ 5556 h 1006749"/>
              <a:gd name="connsiteX1" fmla="*/ 1832268 w 1832268"/>
              <a:gd name="connsiteY1" fmla="*/ 0 h 1006749"/>
              <a:gd name="connsiteX2" fmla="*/ 1826712 w 1832268"/>
              <a:gd name="connsiteY2" fmla="*/ 1006749 h 1006749"/>
              <a:gd name="connsiteX3" fmla="*/ 0 w 1832268"/>
              <a:gd name="connsiteY3" fmla="*/ 1003574 h 1006749"/>
              <a:gd name="connsiteX4" fmla="*/ 0 w 1832268"/>
              <a:gd name="connsiteY4" fmla="*/ 5556 h 1006749"/>
              <a:gd name="connsiteX0" fmla="*/ 0 w 1832268"/>
              <a:gd name="connsiteY0" fmla="*/ 5556 h 1003574"/>
              <a:gd name="connsiteX1" fmla="*/ 1832268 w 1832268"/>
              <a:gd name="connsiteY1" fmla="*/ 0 h 1003574"/>
              <a:gd name="connsiteX2" fmla="*/ 1829093 w 1832268"/>
              <a:gd name="connsiteY2" fmla="*/ 720999 h 1003574"/>
              <a:gd name="connsiteX3" fmla="*/ 0 w 1832268"/>
              <a:gd name="connsiteY3" fmla="*/ 1003574 h 1003574"/>
              <a:gd name="connsiteX4" fmla="*/ 0 w 1832268"/>
              <a:gd name="connsiteY4" fmla="*/ 5556 h 1003574"/>
              <a:gd name="connsiteX0" fmla="*/ 0 w 1834649"/>
              <a:gd name="connsiteY0" fmla="*/ 793 h 1003574"/>
              <a:gd name="connsiteX1" fmla="*/ 1834649 w 1834649"/>
              <a:gd name="connsiteY1" fmla="*/ 0 h 1003574"/>
              <a:gd name="connsiteX2" fmla="*/ 1831474 w 1834649"/>
              <a:gd name="connsiteY2" fmla="*/ 720999 h 1003574"/>
              <a:gd name="connsiteX3" fmla="*/ 2381 w 1834649"/>
              <a:gd name="connsiteY3" fmla="*/ 1003574 h 1003574"/>
              <a:gd name="connsiteX4" fmla="*/ 0 w 1834649"/>
              <a:gd name="connsiteY4" fmla="*/ 793 h 1003574"/>
              <a:gd name="connsiteX0" fmla="*/ 0 w 1834649"/>
              <a:gd name="connsiteY0" fmla="*/ 284162 h 1286943"/>
              <a:gd name="connsiteX1" fmla="*/ 1834649 w 1834649"/>
              <a:gd name="connsiteY1" fmla="*/ 0 h 1286943"/>
              <a:gd name="connsiteX2" fmla="*/ 1831474 w 1834649"/>
              <a:gd name="connsiteY2" fmla="*/ 1004368 h 1286943"/>
              <a:gd name="connsiteX3" fmla="*/ 2381 w 1834649"/>
              <a:gd name="connsiteY3" fmla="*/ 1286943 h 1286943"/>
              <a:gd name="connsiteX4" fmla="*/ 0 w 1834649"/>
              <a:gd name="connsiteY4" fmla="*/ 284162 h 1286943"/>
              <a:gd name="connsiteX0" fmla="*/ 0 w 1834649"/>
              <a:gd name="connsiteY0" fmla="*/ 284162 h 1286943"/>
              <a:gd name="connsiteX1" fmla="*/ 1834649 w 1834649"/>
              <a:gd name="connsiteY1" fmla="*/ 0 h 1286943"/>
              <a:gd name="connsiteX2" fmla="*/ 1829093 w 1834649"/>
              <a:gd name="connsiteY2" fmla="*/ 721000 h 1286943"/>
              <a:gd name="connsiteX3" fmla="*/ 2381 w 1834649"/>
              <a:gd name="connsiteY3" fmla="*/ 1286943 h 1286943"/>
              <a:gd name="connsiteX4" fmla="*/ 0 w 1834649"/>
              <a:gd name="connsiteY4" fmla="*/ 284162 h 1286943"/>
              <a:gd name="connsiteX0" fmla="*/ 229 w 1834878"/>
              <a:gd name="connsiteY0" fmla="*/ 284162 h 1289324"/>
              <a:gd name="connsiteX1" fmla="*/ 1834878 w 1834878"/>
              <a:gd name="connsiteY1" fmla="*/ 0 h 1289324"/>
              <a:gd name="connsiteX2" fmla="*/ 1829322 w 1834878"/>
              <a:gd name="connsiteY2" fmla="*/ 721000 h 1289324"/>
              <a:gd name="connsiteX3" fmla="*/ 229 w 1834878"/>
              <a:gd name="connsiteY3" fmla="*/ 1289324 h 1289324"/>
              <a:gd name="connsiteX4" fmla="*/ 229 w 1834878"/>
              <a:gd name="connsiteY4" fmla="*/ 284162 h 1289324"/>
              <a:gd name="connsiteX0" fmla="*/ 2486 w 1837135"/>
              <a:gd name="connsiteY0" fmla="*/ 284162 h 1296468"/>
              <a:gd name="connsiteX1" fmla="*/ 1837135 w 1837135"/>
              <a:gd name="connsiteY1" fmla="*/ 0 h 1296468"/>
              <a:gd name="connsiteX2" fmla="*/ 1831579 w 1837135"/>
              <a:gd name="connsiteY2" fmla="*/ 721000 h 1296468"/>
              <a:gd name="connsiteX3" fmla="*/ 105 w 1837135"/>
              <a:gd name="connsiteY3" fmla="*/ 1296468 h 1296468"/>
              <a:gd name="connsiteX4" fmla="*/ 2486 w 1837135"/>
              <a:gd name="connsiteY4" fmla="*/ 284162 h 1296468"/>
              <a:gd name="connsiteX0" fmla="*/ 2486 w 1837135"/>
              <a:gd name="connsiteY0" fmla="*/ 284162 h 1296468"/>
              <a:gd name="connsiteX1" fmla="*/ 1837135 w 1837135"/>
              <a:gd name="connsiteY1" fmla="*/ 0 h 1296468"/>
              <a:gd name="connsiteX2" fmla="*/ 1836342 w 1837135"/>
              <a:gd name="connsiteY2" fmla="*/ 728144 h 1296468"/>
              <a:gd name="connsiteX3" fmla="*/ 105 w 1837135"/>
              <a:gd name="connsiteY3" fmla="*/ 1296468 h 1296468"/>
              <a:gd name="connsiteX4" fmla="*/ 2486 w 1837135"/>
              <a:gd name="connsiteY4" fmla="*/ 284162 h 1296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7135" h="1296468">
                <a:moveTo>
                  <a:pt x="2486" y="284162"/>
                </a:moveTo>
                <a:lnTo>
                  <a:pt x="1837135" y="0"/>
                </a:lnTo>
                <a:cubicBezTo>
                  <a:pt x="1836077" y="335848"/>
                  <a:pt x="1837400" y="392296"/>
                  <a:pt x="1836342" y="728144"/>
                </a:cubicBezTo>
                <a:lnTo>
                  <a:pt x="105" y="1296468"/>
                </a:lnTo>
                <a:cubicBezTo>
                  <a:pt x="-689" y="962208"/>
                  <a:pt x="3280" y="618422"/>
                  <a:pt x="2486" y="284162"/>
                </a:cubicBezTo>
                <a:close/>
              </a:path>
            </a:pathLst>
          </a:cu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4" name="等腰三角形 66"/>
          <p:cNvSpPr/>
          <p:nvPr/>
        </p:nvSpPr>
        <p:spPr>
          <a:xfrm rot="5400000">
            <a:off x="5292466" y="1431370"/>
            <a:ext cx="594216" cy="1752642"/>
          </a:xfrm>
          <a:custGeom>
            <a:avLst/>
            <a:gdLst/>
            <a:ahLst/>
            <a:cxnLst/>
            <a:rect l="l" t="t" r="r" b="b"/>
            <a:pathLst>
              <a:path w="792185" h="3101364">
                <a:moveTo>
                  <a:pt x="0" y="3101364"/>
                </a:moveTo>
                <a:lnTo>
                  <a:pt x="0" y="245938"/>
                </a:lnTo>
                <a:lnTo>
                  <a:pt x="253447" y="245938"/>
                </a:lnTo>
                <a:lnTo>
                  <a:pt x="396091" y="0"/>
                </a:lnTo>
                <a:lnTo>
                  <a:pt x="538735" y="245938"/>
                </a:lnTo>
                <a:lnTo>
                  <a:pt x="792185" y="245938"/>
                </a:lnTo>
                <a:lnTo>
                  <a:pt x="792185" y="3101364"/>
                </a:lnTo>
                <a:close/>
              </a:path>
            </a:pathLst>
          </a:cu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a:latin typeface="微软雅黑" pitchFamily="34" charset="-122"/>
                <a:ea typeface="微软雅黑" pitchFamily="34" charset="-122"/>
              </a:rPr>
              <a:t>全景概览</a:t>
            </a:r>
          </a:p>
        </p:txBody>
      </p:sp>
      <p:sp>
        <p:nvSpPr>
          <p:cNvPr id="15" name="等腰三角形 67"/>
          <p:cNvSpPr/>
          <p:nvPr/>
        </p:nvSpPr>
        <p:spPr>
          <a:xfrm rot="5400000">
            <a:off x="5298545" y="2026710"/>
            <a:ext cx="594216" cy="1745344"/>
          </a:xfrm>
          <a:custGeom>
            <a:avLst/>
            <a:gdLst/>
            <a:ahLst/>
            <a:cxnLst/>
            <a:rect l="l" t="t" r="r" b="b"/>
            <a:pathLst>
              <a:path w="792185" h="3101364">
                <a:moveTo>
                  <a:pt x="0" y="3101364"/>
                </a:moveTo>
                <a:lnTo>
                  <a:pt x="0" y="245938"/>
                </a:lnTo>
                <a:lnTo>
                  <a:pt x="253447" y="245938"/>
                </a:lnTo>
                <a:lnTo>
                  <a:pt x="396091" y="0"/>
                </a:lnTo>
                <a:lnTo>
                  <a:pt x="538735" y="245938"/>
                </a:lnTo>
                <a:lnTo>
                  <a:pt x="792185" y="245938"/>
                </a:lnTo>
                <a:lnTo>
                  <a:pt x="792185" y="3101364"/>
                </a:lnTo>
                <a:close/>
              </a:path>
            </a:pathLst>
          </a:custGeom>
          <a:solidFill>
            <a:srgbClr val="53D2FF">
              <a:alpha val="80000"/>
            </a:srgbClr>
          </a:solidFill>
          <a:ln>
            <a:noFill/>
          </a:ln>
          <a:effectLst>
            <a:outerShdw blurRad="254000" algn="ctr" rotWithShape="0">
              <a:srgbClr val="53D2FF">
                <a:alpha val="8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smtClean="0">
                <a:solidFill>
                  <a:prstClr val="white"/>
                </a:solidFill>
                <a:latin typeface="微软雅黑" pitchFamily="34" charset="-122"/>
                <a:ea typeface="微软雅黑" pitchFamily="34" charset="-122"/>
              </a:rPr>
              <a:t>设备管理</a:t>
            </a:r>
            <a:endParaRPr lang="zh-CN" altLang="en-US" sz="1500" b="1" dirty="0">
              <a:solidFill>
                <a:prstClr val="white"/>
              </a:solidFill>
              <a:latin typeface="微软雅黑" pitchFamily="34" charset="-122"/>
              <a:ea typeface="微软雅黑" pitchFamily="34" charset="-122"/>
            </a:endParaRPr>
          </a:p>
        </p:txBody>
      </p:sp>
      <p:sp>
        <p:nvSpPr>
          <p:cNvPr id="16" name="等腰三角形 68"/>
          <p:cNvSpPr/>
          <p:nvPr/>
        </p:nvSpPr>
        <p:spPr>
          <a:xfrm rot="5400000">
            <a:off x="5302411" y="2618959"/>
            <a:ext cx="586485" cy="1745344"/>
          </a:xfrm>
          <a:custGeom>
            <a:avLst/>
            <a:gdLst/>
            <a:ahLst/>
            <a:cxnLst/>
            <a:rect l="l" t="t" r="r" b="b"/>
            <a:pathLst>
              <a:path w="792185" h="3101364">
                <a:moveTo>
                  <a:pt x="0" y="3101364"/>
                </a:moveTo>
                <a:lnTo>
                  <a:pt x="0" y="245938"/>
                </a:lnTo>
                <a:lnTo>
                  <a:pt x="253447" y="245938"/>
                </a:lnTo>
                <a:lnTo>
                  <a:pt x="396091" y="0"/>
                </a:lnTo>
                <a:lnTo>
                  <a:pt x="538735" y="245938"/>
                </a:lnTo>
                <a:lnTo>
                  <a:pt x="792185" y="245938"/>
                </a:lnTo>
                <a:lnTo>
                  <a:pt x="792185" y="3101364"/>
                </a:lnTo>
                <a:close/>
              </a:path>
            </a:pathLst>
          </a:cu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a:solidFill>
                  <a:prstClr val="white"/>
                </a:solidFill>
                <a:latin typeface="微软雅黑" pitchFamily="34" charset="-122"/>
                <a:ea typeface="微软雅黑" pitchFamily="34" charset="-122"/>
              </a:rPr>
              <a:t>故障诊断</a:t>
            </a:r>
          </a:p>
        </p:txBody>
      </p:sp>
      <p:sp>
        <p:nvSpPr>
          <p:cNvPr id="17" name="等腰三角形 69"/>
          <p:cNvSpPr/>
          <p:nvPr/>
        </p:nvSpPr>
        <p:spPr>
          <a:xfrm rot="5400000">
            <a:off x="5298545" y="3209308"/>
            <a:ext cx="594216" cy="1745344"/>
          </a:xfrm>
          <a:custGeom>
            <a:avLst/>
            <a:gdLst/>
            <a:ahLst/>
            <a:cxnLst/>
            <a:rect l="l" t="t" r="r" b="b"/>
            <a:pathLst>
              <a:path w="792185" h="3101364">
                <a:moveTo>
                  <a:pt x="0" y="3101364"/>
                </a:moveTo>
                <a:lnTo>
                  <a:pt x="0" y="245938"/>
                </a:lnTo>
                <a:lnTo>
                  <a:pt x="253975" y="245938"/>
                </a:lnTo>
                <a:lnTo>
                  <a:pt x="396619" y="0"/>
                </a:lnTo>
                <a:lnTo>
                  <a:pt x="539263" y="245938"/>
                </a:lnTo>
                <a:lnTo>
                  <a:pt x="792185" y="245938"/>
                </a:lnTo>
                <a:lnTo>
                  <a:pt x="792185" y="3101364"/>
                </a:lnTo>
                <a:close/>
              </a:path>
            </a:pathLst>
          </a:custGeom>
          <a:solidFill>
            <a:srgbClr val="41A0D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a:solidFill>
                  <a:prstClr val="white"/>
                </a:solidFill>
                <a:latin typeface="微软雅黑" pitchFamily="34" charset="-122"/>
                <a:ea typeface="微软雅黑" pitchFamily="34" charset="-122"/>
              </a:rPr>
              <a:t>业务管理</a:t>
            </a:r>
          </a:p>
        </p:txBody>
      </p:sp>
      <p:sp>
        <p:nvSpPr>
          <p:cNvPr id="18" name="TextBox 32"/>
          <p:cNvSpPr txBox="1"/>
          <p:nvPr/>
        </p:nvSpPr>
        <p:spPr>
          <a:xfrm>
            <a:off x="6697768" y="2017008"/>
            <a:ext cx="3890117" cy="652486"/>
          </a:xfrm>
          <a:prstGeom prst="rect">
            <a:avLst/>
          </a:prstGeom>
          <a:noFill/>
        </p:spPr>
        <p:txBody>
          <a:bodyPr>
            <a:spAutoFit/>
            <a:scene3d>
              <a:camera prst="orthographicFront"/>
              <a:lightRig rig="threePt" dir="t"/>
            </a:scene3d>
            <a:sp3d contourW="12700"/>
          </a:bodyPr>
          <a:lstStyle/>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整体网络的量化评估与统计</a:t>
            </a:r>
            <a:endParaRPr lang="en-US" altLang="zh-CN" sz="1400" dirty="0" smtClean="0">
              <a:latin typeface="微软雅黑 Light" pitchFamily="34" charset="-122"/>
              <a:ea typeface="微软雅黑 Light" pitchFamily="34" charset="-122"/>
            </a:endParaRPr>
          </a:p>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对</a:t>
            </a:r>
            <a:r>
              <a:rPr lang="zh-CN" altLang="en-US" sz="1400" dirty="0">
                <a:latin typeface="微软雅黑 Light" pitchFamily="34" charset="-122"/>
                <a:ea typeface="微软雅黑 Light" pitchFamily="34" charset="-122"/>
              </a:rPr>
              <a:t>全</a:t>
            </a:r>
            <a:r>
              <a:rPr lang="zh-CN" altLang="en-US" sz="1400" dirty="0" smtClean="0">
                <a:latin typeface="微软雅黑 Light" pitchFamily="34" charset="-122"/>
                <a:ea typeface="微软雅黑 Light" pitchFamily="34" charset="-122"/>
              </a:rPr>
              <a:t>网情况有</a:t>
            </a:r>
            <a:r>
              <a:rPr lang="zh-CN" altLang="en-US" sz="1400" dirty="0">
                <a:latin typeface="微软雅黑 Light" pitchFamily="34" charset="-122"/>
                <a:ea typeface="微软雅黑 Light" pitchFamily="34" charset="-122"/>
              </a:rPr>
              <a:t>一个直观真实的呈现方式</a:t>
            </a:r>
          </a:p>
        </p:txBody>
      </p:sp>
      <p:sp>
        <p:nvSpPr>
          <p:cNvPr id="19" name="TextBox 32"/>
          <p:cNvSpPr txBox="1"/>
          <p:nvPr/>
        </p:nvSpPr>
        <p:spPr>
          <a:xfrm>
            <a:off x="6697769" y="2589423"/>
            <a:ext cx="4031372" cy="652486"/>
          </a:xfrm>
          <a:prstGeom prst="rect">
            <a:avLst/>
          </a:prstGeom>
          <a:noFill/>
        </p:spPr>
        <p:txBody>
          <a:bodyPr>
            <a:spAutoFit/>
            <a:scene3d>
              <a:camera prst="orthographicFront"/>
              <a:lightRig rig="threePt" dir="t"/>
            </a:scene3d>
            <a:sp3d contourW="12700"/>
          </a:bodyPr>
          <a:lstStyle/>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对主设备</a:t>
            </a:r>
            <a:r>
              <a:rPr lang="zh-CN" altLang="en-US" sz="1400" dirty="0">
                <a:latin typeface="微软雅黑 Light" pitchFamily="34" charset="-122"/>
                <a:ea typeface="微软雅黑 Light" pitchFamily="34" charset="-122"/>
              </a:rPr>
              <a:t>、</a:t>
            </a:r>
            <a:r>
              <a:rPr lang="zh-CN" altLang="en-US" sz="1400" dirty="0" smtClean="0">
                <a:latin typeface="微软雅黑 Light" pitchFamily="34" charset="-122"/>
                <a:ea typeface="微软雅黑 Light" pitchFamily="34" charset="-122"/>
              </a:rPr>
              <a:t>动力、传输等设备的拓扑结构呈现</a:t>
            </a:r>
            <a:endParaRPr lang="en-US" altLang="zh-CN" sz="1400" dirty="0">
              <a:latin typeface="微软雅黑 Light" pitchFamily="34" charset="-122"/>
              <a:ea typeface="微软雅黑 Light" pitchFamily="34" charset="-122"/>
            </a:endParaRPr>
          </a:p>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对设备的监控及维护保障</a:t>
            </a:r>
            <a:endParaRPr lang="zh-CN" altLang="en-US" sz="1400" dirty="0">
              <a:latin typeface="微软雅黑 Light" pitchFamily="34" charset="-122"/>
              <a:ea typeface="微软雅黑 Light" pitchFamily="34" charset="-122"/>
            </a:endParaRPr>
          </a:p>
        </p:txBody>
      </p:sp>
      <p:sp>
        <p:nvSpPr>
          <p:cNvPr id="20" name="TextBox 32"/>
          <p:cNvSpPr txBox="1"/>
          <p:nvPr/>
        </p:nvSpPr>
        <p:spPr>
          <a:xfrm>
            <a:off x="6697769" y="3179045"/>
            <a:ext cx="3890117" cy="652486"/>
          </a:xfrm>
          <a:prstGeom prst="rect">
            <a:avLst/>
          </a:prstGeom>
          <a:noFill/>
        </p:spPr>
        <p:txBody>
          <a:bodyPr>
            <a:spAutoFit/>
            <a:scene3d>
              <a:camera prst="orthographicFront"/>
              <a:lightRig rig="threePt" dir="t"/>
            </a:scene3d>
            <a:sp3d contourW="12700"/>
          </a:bodyPr>
          <a:lstStyle/>
          <a:p>
            <a:pPr>
              <a:lnSpc>
                <a:spcPct val="130000"/>
              </a:lnSpc>
              <a:defRPr/>
            </a:pPr>
            <a:r>
              <a:rPr lang="zh-CN" altLang="en-US" sz="1400" dirty="0" smtClean="0">
                <a:latin typeface="微软雅黑 Light" pitchFamily="34" charset="-122"/>
                <a:ea typeface="微软雅黑 Light" pitchFamily="34" charset="-122"/>
              </a:rPr>
              <a:t>处理被动投诉以及智能识别告警通知</a:t>
            </a:r>
            <a:endParaRPr lang="zh-CN" altLang="en-US" sz="1400" dirty="0">
              <a:latin typeface="微软雅黑 Light" pitchFamily="34" charset="-122"/>
              <a:ea typeface="微软雅黑 Light" pitchFamily="34" charset="-122"/>
            </a:endParaRPr>
          </a:p>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建立故障处理经验库</a:t>
            </a:r>
            <a:endParaRPr lang="zh-CN" altLang="en-US" sz="1400" dirty="0">
              <a:latin typeface="微软雅黑 Light" pitchFamily="34" charset="-122"/>
              <a:ea typeface="微软雅黑 Light" pitchFamily="34" charset="-122"/>
            </a:endParaRPr>
          </a:p>
        </p:txBody>
      </p:sp>
      <p:sp>
        <p:nvSpPr>
          <p:cNvPr id="21" name="TextBox 32"/>
          <p:cNvSpPr txBox="1"/>
          <p:nvPr/>
        </p:nvSpPr>
        <p:spPr>
          <a:xfrm>
            <a:off x="6697769" y="3745620"/>
            <a:ext cx="4373950" cy="652486"/>
          </a:xfrm>
          <a:prstGeom prst="rect">
            <a:avLst/>
          </a:prstGeom>
          <a:noFill/>
        </p:spPr>
        <p:txBody>
          <a:bodyPr wrap="square">
            <a:spAutoFit/>
            <a:scene3d>
              <a:camera prst="orthographicFront"/>
              <a:lightRig rig="threePt" dir="t"/>
            </a:scene3d>
            <a:sp3d contourW="12700"/>
          </a:bodyPr>
          <a:lstStyle/>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对</a:t>
            </a:r>
            <a:r>
              <a:rPr lang="zh-CN" altLang="en-US" sz="1400" dirty="0">
                <a:latin typeface="微软雅黑 Light" pitchFamily="34" charset="-122"/>
                <a:ea typeface="微软雅黑 Light" pitchFamily="34" charset="-122"/>
              </a:rPr>
              <a:t>业务</a:t>
            </a:r>
            <a:r>
              <a:rPr lang="zh-CN" altLang="en-US" sz="1400" dirty="0" smtClean="0">
                <a:latin typeface="微软雅黑 Light" pitchFamily="34" charset="-122"/>
                <a:ea typeface="微软雅黑 Light" pitchFamily="34" charset="-122"/>
              </a:rPr>
              <a:t>流量及用户体验情况</a:t>
            </a:r>
            <a:r>
              <a:rPr lang="zh-CN" altLang="en-US" sz="1400" dirty="0">
                <a:latin typeface="微软雅黑 Light" pitchFamily="34" charset="-122"/>
                <a:ea typeface="微软雅黑 Light" pitchFamily="34" charset="-122"/>
              </a:rPr>
              <a:t>进行实时主动的监控</a:t>
            </a:r>
            <a:r>
              <a:rPr lang="zh-CN" altLang="en-US" sz="1400" dirty="0" smtClean="0">
                <a:latin typeface="微软雅黑 Light" pitchFamily="34" charset="-122"/>
                <a:ea typeface="微软雅黑 Light" pitchFamily="34" charset="-122"/>
              </a:rPr>
              <a:t>管理</a:t>
            </a:r>
            <a:endParaRPr lang="en-US" altLang="zh-CN" sz="1400" dirty="0" smtClean="0">
              <a:latin typeface="微软雅黑 Light" pitchFamily="34" charset="-122"/>
              <a:ea typeface="微软雅黑 Light" pitchFamily="34" charset="-122"/>
            </a:endParaRPr>
          </a:p>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按照分类及周期导出数据报表</a:t>
            </a:r>
            <a:endParaRPr lang="en-US" altLang="zh-CN" sz="1400" dirty="0" smtClean="0">
              <a:latin typeface="微软雅黑 Light" pitchFamily="34" charset="-122"/>
              <a:ea typeface="微软雅黑 Light" pitchFamily="34" charset="-122"/>
            </a:endParaRPr>
          </a:p>
        </p:txBody>
      </p:sp>
      <p:sp>
        <p:nvSpPr>
          <p:cNvPr id="22" name="矩形 21"/>
          <p:cNvSpPr/>
          <p:nvPr/>
        </p:nvSpPr>
        <p:spPr>
          <a:xfrm>
            <a:off x="2462707" y="4842608"/>
            <a:ext cx="574675" cy="823913"/>
          </a:xfrm>
          <a:prstGeom prst="rect">
            <a:avLst/>
          </a:prstGeom>
          <a:solidFill>
            <a:srgbClr val="5EF1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solidFill>
                  <a:prstClr val="white"/>
                </a:solidFill>
                <a:latin typeface="Agency FB" panose="020B0503020202020204" pitchFamily="34" charset="0"/>
              </a:rPr>
              <a:t>05</a:t>
            </a:r>
            <a:endParaRPr lang="zh-CN" altLang="en-US" sz="2400" dirty="0">
              <a:solidFill>
                <a:prstClr val="white"/>
              </a:solidFill>
              <a:latin typeface="Agency FB" panose="020B0503020202020204" pitchFamily="34" charset="0"/>
            </a:endParaRPr>
          </a:p>
        </p:txBody>
      </p:sp>
      <p:sp>
        <p:nvSpPr>
          <p:cNvPr id="23" name="矩形 2"/>
          <p:cNvSpPr/>
          <p:nvPr/>
        </p:nvSpPr>
        <p:spPr>
          <a:xfrm>
            <a:off x="3225285" y="4369196"/>
            <a:ext cx="1139825" cy="1287463"/>
          </a:xfrm>
          <a:custGeom>
            <a:avLst/>
            <a:gdLst>
              <a:gd name="connsiteX0" fmla="*/ 0 w 1123937"/>
              <a:gd name="connsiteY0" fmla="*/ 0 h 823913"/>
              <a:gd name="connsiteX1" fmla="*/ 1123937 w 1123937"/>
              <a:gd name="connsiteY1" fmla="*/ 0 h 823913"/>
              <a:gd name="connsiteX2" fmla="*/ 1123937 w 1123937"/>
              <a:gd name="connsiteY2" fmla="*/ 823913 h 823913"/>
              <a:gd name="connsiteX3" fmla="*/ 0 w 1123937"/>
              <a:gd name="connsiteY3" fmla="*/ 823913 h 823913"/>
              <a:gd name="connsiteX4" fmla="*/ 0 w 1123937"/>
              <a:gd name="connsiteY4" fmla="*/ 0 h 823913"/>
              <a:gd name="connsiteX0" fmla="*/ 0 w 1139177"/>
              <a:gd name="connsiteY0" fmla="*/ 464820 h 1288733"/>
              <a:gd name="connsiteX1" fmla="*/ 1139177 w 1139177"/>
              <a:gd name="connsiteY1" fmla="*/ 0 h 1288733"/>
              <a:gd name="connsiteX2" fmla="*/ 1123937 w 1139177"/>
              <a:gd name="connsiteY2" fmla="*/ 1288733 h 1288733"/>
              <a:gd name="connsiteX3" fmla="*/ 0 w 1139177"/>
              <a:gd name="connsiteY3" fmla="*/ 1288733 h 1288733"/>
              <a:gd name="connsiteX4" fmla="*/ 0 w 1139177"/>
              <a:gd name="connsiteY4" fmla="*/ 464820 h 1288733"/>
              <a:gd name="connsiteX0" fmla="*/ 0 w 1139177"/>
              <a:gd name="connsiteY0" fmla="*/ 464820 h 1288733"/>
              <a:gd name="connsiteX1" fmla="*/ 1139177 w 1139177"/>
              <a:gd name="connsiteY1" fmla="*/ 0 h 1288733"/>
              <a:gd name="connsiteX2" fmla="*/ 1131557 w 1139177"/>
              <a:gd name="connsiteY2" fmla="*/ 717233 h 1288733"/>
              <a:gd name="connsiteX3" fmla="*/ 0 w 1139177"/>
              <a:gd name="connsiteY3" fmla="*/ 1288733 h 1288733"/>
              <a:gd name="connsiteX4" fmla="*/ 0 w 1139177"/>
              <a:gd name="connsiteY4" fmla="*/ 464820 h 1288733"/>
              <a:gd name="connsiteX0" fmla="*/ 0 w 1139177"/>
              <a:gd name="connsiteY0" fmla="*/ 464820 h 1288733"/>
              <a:gd name="connsiteX1" fmla="*/ 1139177 w 1139177"/>
              <a:gd name="connsiteY1" fmla="*/ 0 h 1288733"/>
              <a:gd name="connsiteX2" fmla="*/ 1139177 w 1139177"/>
              <a:gd name="connsiteY2" fmla="*/ 595313 h 1288733"/>
              <a:gd name="connsiteX3" fmla="*/ 0 w 1139177"/>
              <a:gd name="connsiteY3" fmla="*/ 1288733 h 1288733"/>
              <a:gd name="connsiteX4" fmla="*/ 0 w 1139177"/>
              <a:gd name="connsiteY4" fmla="*/ 464820 h 1288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9177" h="1288733">
                <a:moveTo>
                  <a:pt x="0" y="464820"/>
                </a:moveTo>
                <a:lnTo>
                  <a:pt x="1139177" y="0"/>
                </a:lnTo>
                <a:lnTo>
                  <a:pt x="1139177" y="595313"/>
                </a:lnTo>
                <a:lnTo>
                  <a:pt x="0" y="1288733"/>
                </a:lnTo>
                <a:lnTo>
                  <a:pt x="0" y="46482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4" name="等腰三角形 69"/>
          <p:cNvSpPr/>
          <p:nvPr/>
        </p:nvSpPr>
        <p:spPr>
          <a:xfrm rot="5400000">
            <a:off x="5298545" y="3803524"/>
            <a:ext cx="594216" cy="1745344"/>
          </a:xfrm>
          <a:custGeom>
            <a:avLst/>
            <a:gdLst/>
            <a:ahLst/>
            <a:cxnLst/>
            <a:rect l="l" t="t" r="r" b="b"/>
            <a:pathLst>
              <a:path w="792185" h="3101364">
                <a:moveTo>
                  <a:pt x="0" y="3101364"/>
                </a:moveTo>
                <a:lnTo>
                  <a:pt x="0" y="245938"/>
                </a:lnTo>
                <a:lnTo>
                  <a:pt x="253975" y="245938"/>
                </a:lnTo>
                <a:lnTo>
                  <a:pt x="396619" y="0"/>
                </a:lnTo>
                <a:lnTo>
                  <a:pt x="539263" y="245938"/>
                </a:lnTo>
                <a:lnTo>
                  <a:pt x="792185" y="245938"/>
                </a:lnTo>
                <a:lnTo>
                  <a:pt x="792185" y="3101364"/>
                </a:lnTo>
                <a:close/>
              </a:path>
            </a:pathLst>
          </a:custGeom>
          <a:solidFill>
            <a:srgbClr val="5EF1A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a:solidFill>
                  <a:prstClr val="white"/>
                </a:solidFill>
                <a:latin typeface="微软雅黑" pitchFamily="34" charset="-122"/>
                <a:ea typeface="微软雅黑" pitchFamily="34" charset="-122"/>
              </a:rPr>
              <a:t>场景</a:t>
            </a:r>
            <a:r>
              <a:rPr lang="zh-CN" altLang="en-US" sz="1500" b="1" dirty="0" smtClean="0">
                <a:solidFill>
                  <a:prstClr val="white"/>
                </a:solidFill>
                <a:latin typeface="微软雅黑" pitchFamily="34" charset="-122"/>
                <a:ea typeface="微软雅黑" pitchFamily="34" charset="-122"/>
              </a:rPr>
              <a:t>保障</a:t>
            </a:r>
            <a:endParaRPr lang="zh-CN" altLang="en-US" sz="1500" b="1" dirty="0">
              <a:solidFill>
                <a:prstClr val="white"/>
              </a:solidFill>
              <a:latin typeface="微软雅黑" pitchFamily="34" charset="-122"/>
              <a:ea typeface="微软雅黑" pitchFamily="34" charset="-122"/>
            </a:endParaRPr>
          </a:p>
        </p:txBody>
      </p:sp>
      <p:sp>
        <p:nvSpPr>
          <p:cNvPr id="25" name="TextBox 112"/>
          <p:cNvSpPr txBox="1"/>
          <p:nvPr/>
        </p:nvSpPr>
        <p:spPr>
          <a:xfrm>
            <a:off x="2429960" y="5909921"/>
            <a:ext cx="8027987" cy="338138"/>
          </a:xfrm>
          <a:prstGeom prst="rect">
            <a:avLst/>
          </a:prstGeom>
          <a:noFill/>
        </p:spPr>
        <p:txBody>
          <a:bodyPr>
            <a:spAutoFit/>
          </a:bodyPr>
          <a:lstStyle/>
          <a:p>
            <a:pPr fontAlgn="auto">
              <a:spcBef>
                <a:spcPts val="0"/>
              </a:spcBef>
              <a:spcAft>
                <a:spcPts val="0"/>
              </a:spcAft>
              <a:defRPr/>
            </a:pPr>
            <a:r>
              <a:rPr lang="zh-CN" altLang="en-US" sz="1600" dirty="0">
                <a:latin typeface="+mn-lt"/>
                <a:ea typeface="+mn-ea"/>
                <a:cs typeface="+mn-ea"/>
              </a:rPr>
              <a:t>支撑网络运维管理</a:t>
            </a:r>
            <a:r>
              <a:rPr lang="en-US" altLang="zh-CN" sz="1600" dirty="0">
                <a:latin typeface="+mn-lt"/>
                <a:ea typeface="+mn-ea"/>
                <a:cs typeface="+mn-ea"/>
              </a:rPr>
              <a:t>9</a:t>
            </a:r>
            <a:r>
              <a:rPr lang="zh-CN" altLang="en-US" sz="1600" dirty="0">
                <a:latin typeface="+mn-lt"/>
                <a:ea typeface="+mn-ea"/>
                <a:cs typeface="+mn-ea"/>
              </a:rPr>
              <a:t>大工作：规划、维护、投诉、分析、优化、保障、考核、资管、汇报</a:t>
            </a:r>
          </a:p>
        </p:txBody>
      </p:sp>
      <p:sp>
        <p:nvSpPr>
          <p:cNvPr id="26" name="Freeform: Shape 11"/>
          <p:cNvSpPr>
            <a:spLocks noChangeAspect="1"/>
          </p:cNvSpPr>
          <p:nvPr/>
        </p:nvSpPr>
        <p:spPr bwMode="auto">
          <a:xfrm>
            <a:off x="3686669" y="2713771"/>
            <a:ext cx="322263" cy="274637"/>
          </a:xfrm>
          <a:custGeom>
            <a:avLst/>
            <a:gdLst>
              <a:gd name="T0" fmla="*/ 322415 w 48"/>
              <a:gd name="T1" fmla="*/ 255247 h 41"/>
              <a:gd name="T2" fmla="*/ 302264 w 48"/>
              <a:gd name="T3" fmla="*/ 275398 h 41"/>
              <a:gd name="T4" fmla="*/ 248528 w 48"/>
              <a:gd name="T5" fmla="*/ 275398 h 41"/>
              <a:gd name="T6" fmla="*/ 228377 w 48"/>
              <a:gd name="T7" fmla="*/ 255247 h 41"/>
              <a:gd name="T8" fmla="*/ 228377 w 48"/>
              <a:gd name="T9" fmla="*/ 201511 h 41"/>
              <a:gd name="T10" fmla="*/ 248528 w 48"/>
              <a:gd name="T11" fmla="*/ 181360 h 41"/>
              <a:gd name="T12" fmla="*/ 261962 w 48"/>
              <a:gd name="T13" fmla="*/ 181360 h 41"/>
              <a:gd name="T14" fmla="*/ 261962 w 48"/>
              <a:gd name="T15" fmla="*/ 147775 h 41"/>
              <a:gd name="T16" fmla="*/ 167924 w 48"/>
              <a:gd name="T17" fmla="*/ 147775 h 41"/>
              <a:gd name="T18" fmla="*/ 167924 w 48"/>
              <a:gd name="T19" fmla="*/ 181360 h 41"/>
              <a:gd name="T20" fmla="*/ 188075 w 48"/>
              <a:gd name="T21" fmla="*/ 181360 h 41"/>
              <a:gd name="T22" fmla="*/ 208226 w 48"/>
              <a:gd name="T23" fmla="*/ 201511 h 41"/>
              <a:gd name="T24" fmla="*/ 208226 w 48"/>
              <a:gd name="T25" fmla="*/ 255247 h 41"/>
              <a:gd name="T26" fmla="*/ 188075 w 48"/>
              <a:gd name="T27" fmla="*/ 275398 h 41"/>
              <a:gd name="T28" fmla="*/ 127623 w 48"/>
              <a:gd name="T29" fmla="*/ 275398 h 41"/>
              <a:gd name="T30" fmla="*/ 114189 w 48"/>
              <a:gd name="T31" fmla="*/ 255247 h 41"/>
              <a:gd name="T32" fmla="*/ 114189 w 48"/>
              <a:gd name="T33" fmla="*/ 201511 h 41"/>
              <a:gd name="T34" fmla="*/ 127623 w 48"/>
              <a:gd name="T35" fmla="*/ 181360 h 41"/>
              <a:gd name="T36" fmla="*/ 147774 w 48"/>
              <a:gd name="T37" fmla="*/ 181360 h 41"/>
              <a:gd name="T38" fmla="*/ 147774 w 48"/>
              <a:gd name="T39" fmla="*/ 147775 h 41"/>
              <a:gd name="T40" fmla="*/ 53736 w 48"/>
              <a:gd name="T41" fmla="*/ 147775 h 41"/>
              <a:gd name="T42" fmla="*/ 53736 w 48"/>
              <a:gd name="T43" fmla="*/ 181360 h 41"/>
              <a:gd name="T44" fmla="*/ 73887 w 48"/>
              <a:gd name="T45" fmla="*/ 181360 h 41"/>
              <a:gd name="T46" fmla="*/ 87321 w 48"/>
              <a:gd name="T47" fmla="*/ 201511 h 41"/>
              <a:gd name="T48" fmla="*/ 87321 w 48"/>
              <a:gd name="T49" fmla="*/ 255247 h 41"/>
              <a:gd name="T50" fmla="*/ 73887 w 48"/>
              <a:gd name="T51" fmla="*/ 275398 h 41"/>
              <a:gd name="T52" fmla="*/ 13434 w 48"/>
              <a:gd name="T53" fmla="*/ 275398 h 41"/>
              <a:gd name="T54" fmla="*/ 0 w 48"/>
              <a:gd name="T55" fmla="*/ 255247 h 41"/>
              <a:gd name="T56" fmla="*/ 0 w 48"/>
              <a:gd name="T57" fmla="*/ 201511 h 41"/>
              <a:gd name="T58" fmla="*/ 13434 w 48"/>
              <a:gd name="T59" fmla="*/ 181360 h 41"/>
              <a:gd name="T60" fmla="*/ 33585 w 48"/>
              <a:gd name="T61" fmla="*/ 181360 h 41"/>
              <a:gd name="T62" fmla="*/ 33585 w 48"/>
              <a:gd name="T63" fmla="*/ 147775 h 41"/>
              <a:gd name="T64" fmla="*/ 53736 w 48"/>
              <a:gd name="T65" fmla="*/ 127623 h 41"/>
              <a:gd name="T66" fmla="*/ 147774 w 48"/>
              <a:gd name="T67" fmla="*/ 127623 h 41"/>
              <a:gd name="T68" fmla="*/ 147774 w 48"/>
              <a:gd name="T69" fmla="*/ 87321 h 41"/>
              <a:gd name="T70" fmla="*/ 127623 w 48"/>
              <a:gd name="T71" fmla="*/ 87321 h 41"/>
              <a:gd name="T72" fmla="*/ 114189 w 48"/>
              <a:gd name="T73" fmla="*/ 73887 h 41"/>
              <a:gd name="T74" fmla="*/ 114189 w 48"/>
              <a:gd name="T75" fmla="*/ 13434 h 41"/>
              <a:gd name="T76" fmla="*/ 127623 w 48"/>
              <a:gd name="T77" fmla="*/ 0 h 41"/>
              <a:gd name="T78" fmla="*/ 188075 w 48"/>
              <a:gd name="T79" fmla="*/ 0 h 41"/>
              <a:gd name="T80" fmla="*/ 208226 w 48"/>
              <a:gd name="T81" fmla="*/ 13434 h 41"/>
              <a:gd name="T82" fmla="*/ 208226 w 48"/>
              <a:gd name="T83" fmla="*/ 73887 h 41"/>
              <a:gd name="T84" fmla="*/ 188075 w 48"/>
              <a:gd name="T85" fmla="*/ 87321 h 41"/>
              <a:gd name="T86" fmla="*/ 167924 w 48"/>
              <a:gd name="T87" fmla="*/ 87321 h 41"/>
              <a:gd name="T88" fmla="*/ 167924 w 48"/>
              <a:gd name="T89" fmla="*/ 127623 h 41"/>
              <a:gd name="T90" fmla="*/ 261962 w 48"/>
              <a:gd name="T91" fmla="*/ 127623 h 41"/>
              <a:gd name="T92" fmla="*/ 288830 w 48"/>
              <a:gd name="T93" fmla="*/ 147775 h 41"/>
              <a:gd name="T94" fmla="*/ 288830 w 48"/>
              <a:gd name="T95" fmla="*/ 181360 h 41"/>
              <a:gd name="T96" fmla="*/ 302264 w 48"/>
              <a:gd name="T97" fmla="*/ 181360 h 41"/>
              <a:gd name="T98" fmla="*/ 322415 w 48"/>
              <a:gd name="T99" fmla="*/ 201511 h 41"/>
              <a:gd name="T100" fmla="*/ 322415 w 48"/>
              <a:gd name="T101" fmla="*/ 255247 h 4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8" h="41">
                <a:moveTo>
                  <a:pt x="48" y="38"/>
                </a:moveTo>
                <a:cubicBezTo>
                  <a:pt x="48" y="40"/>
                  <a:pt x="47" y="41"/>
                  <a:pt x="45" y="41"/>
                </a:cubicBezTo>
                <a:cubicBezTo>
                  <a:pt x="37" y="41"/>
                  <a:pt x="37" y="41"/>
                  <a:pt x="37" y="41"/>
                </a:cubicBezTo>
                <a:cubicBezTo>
                  <a:pt x="35" y="41"/>
                  <a:pt x="34" y="40"/>
                  <a:pt x="34" y="38"/>
                </a:cubicBezTo>
                <a:cubicBezTo>
                  <a:pt x="34" y="30"/>
                  <a:pt x="34" y="30"/>
                  <a:pt x="34" y="30"/>
                </a:cubicBezTo>
                <a:cubicBezTo>
                  <a:pt x="34" y="28"/>
                  <a:pt x="35" y="27"/>
                  <a:pt x="37" y="27"/>
                </a:cubicBezTo>
                <a:cubicBezTo>
                  <a:pt x="39" y="27"/>
                  <a:pt x="39" y="27"/>
                  <a:pt x="39" y="27"/>
                </a:cubicBezTo>
                <a:cubicBezTo>
                  <a:pt x="39" y="22"/>
                  <a:pt x="39" y="22"/>
                  <a:pt x="39" y="22"/>
                </a:cubicBezTo>
                <a:cubicBezTo>
                  <a:pt x="25" y="22"/>
                  <a:pt x="25" y="22"/>
                  <a:pt x="25" y="22"/>
                </a:cubicBezTo>
                <a:cubicBezTo>
                  <a:pt x="25" y="27"/>
                  <a:pt x="25" y="27"/>
                  <a:pt x="25" y="27"/>
                </a:cubicBezTo>
                <a:cubicBezTo>
                  <a:pt x="28" y="27"/>
                  <a:pt x="28" y="27"/>
                  <a:pt x="28" y="27"/>
                </a:cubicBezTo>
                <a:cubicBezTo>
                  <a:pt x="29" y="27"/>
                  <a:pt x="31" y="28"/>
                  <a:pt x="31" y="30"/>
                </a:cubicBezTo>
                <a:cubicBezTo>
                  <a:pt x="31" y="38"/>
                  <a:pt x="31" y="38"/>
                  <a:pt x="31" y="38"/>
                </a:cubicBezTo>
                <a:cubicBezTo>
                  <a:pt x="31" y="40"/>
                  <a:pt x="29" y="41"/>
                  <a:pt x="28" y="41"/>
                </a:cubicBezTo>
                <a:cubicBezTo>
                  <a:pt x="19" y="41"/>
                  <a:pt x="19" y="41"/>
                  <a:pt x="19" y="41"/>
                </a:cubicBezTo>
                <a:cubicBezTo>
                  <a:pt x="18" y="41"/>
                  <a:pt x="17" y="40"/>
                  <a:pt x="17" y="38"/>
                </a:cubicBezTo>
                <a:cubicBezTo>
                  <a:pt x="17" y="30"/>
                  <a:pt x="17" y="30"/>
                  <a:pt x="17" y="30"/>
                </a:cubicBezTo>
                <a:cubicBezTo>
                  <a:pt x="17" y="28"/>
                  <a:pt x="18" y="27"/>
                  <a:pt x="19" y="27"/>
                </a:cubicBezTo>
                <a:cubicBezTo>
                  <a:pt x="22" y="27"/>
                  <a:pt x="22" y="27"/>
                  <a:pt x="22" y="27"/>
                </a:cubicBezTo>
                <a:cubicBezTo>
                  <a:pt x="22" y="22"/>
                  <a:pt x="22" y="22"/>
                  <a:pt x="22" y="22"/>
                </a:cubicBezTo>
                <a:cubicBezTo>
                  <a:pt x="8" y="22"/>
                  <a:pt x="8" y="22"/>
                  <a:pt x="8" y="22"/>
                </a:cubicBezTo>
                <a:cubicBezTo>
                  <a:pt x="8" y="27"/>
                  <a:pt x="8" y="27"/>
                  <a:pt x="8" y="27"/>
                </a:cubicBezTo>
                <a:cubicBezTo>
                  <a:pt x="11" y="27"/>
                  <a:pt x="11" y="27"/>
                  <a:pt x="11" y="27"/>
                </a:cubicBezTo>
                <a:cubicBezTo>
                  <a:pt x="12" y="27"/>
                  <a:pt x="13" y="28"/>
                  <a:pt x="13" y="30"/>
                </a:cubicBezTo>
                <a:cubicBezTo>
                  <a:pt x="13" y="38"/>
                  <a:pt x="13" y="38"/>
                  <a:pt x="13" y="38"/>
                </a:cubicBezTo>
                <a:cubicBezTo>
                  <a:pt x="13" y="40"/>
                  <a:pt x="12" y="41"/>
                  <a:pt x="11" y="41"/>
                </a:cubicBezTo>
                <a:cubicBezTo>
                  <a:pt x="2" y="41"/>
                  <a:pt x="2" y="41"/>
                  <a:pt x="2" y="41"/>
                </a:cubicBezTo>
                <a:cubicBezTo>
                  <a:pt x="1" y="41"/>
                  <a:pt x="0" y="40"/>
                  <a:pt x="0" y="38"/>
                </a:cubicBezTo>
                <a:cubicBezTo>
                  <a:pt x="0" y="30"/>
                  <a:pt x="0" y="30"/>
                  <a:pt x="0" y="30"/>
                </a:cubicBezTo>
                <a:cubicBezTo>
                  <a:pt x="0" y="28"/>
                  <a:pt x="1" y="27"/>
                  <a:pt x="2" y="27"/>
                </a:cubicBezTo>
                <a:cubicBezTo>
                  <a:pt x="5" y="27"/>
                  <a:pt x="5" y="27"/>
                  <a:pt x="5" y="27"/>
                </a:cubicBezTo>
                <a:cubicBezTo>
                  <a:pt x="5" y="22"/>
                  <a:pt x="5" y="22"/>
                  <a:pt x="5" y="22"/>
                </a:cubicBezTo>
                <a:cubicBezTo>
                  <a:pt x="5" y="20"/>
                  <a:pt x="6" y="19"/>
                  <a:pt x="8" y="19"/>
                </a:cubicBezTo>
                <a:cubicBezTo>
                  <a:pt x="22" y="19"/>
                  <a:pt x="22" y="19"/>
                  <a:pt x="22" y="19"/>
                </a:cubicBezTo>
                <a:cubicBezTo>
                  <a:pt x="22" y="13"/>
                  <a:pt x="22" y="13"/>
                  <a:pt x="22" y="13"/>
                </a:cubicBezTo>
                <a:cubicBezTo>
                  <a:pt x="19" y="13"/>
                  <a:pt x="19" y="13"/>
                  <a:pt x="19" y="13"/>
                </a:cubicBezTo>
                <a:cubicBezTo>
                  <a:pt x="18" y="13"/>
                  <a:pt x="17" y="12"/>
                  <a:pt x="17" y="11"/>
                </a:cubicBezTo>
                <a:cubicBezTo>
                  <a:pt x="17" y="2"/>
                  <a:pt x="17" y="2"/>
                  <a:pt x="17" y="2"/>
                </a:cubicBezTo>
                <a:cubicBezTo>
                  <a:pt x="17" y="1"/>
                  <a:pt x="18" y="0"/>
                  <a:pt x="19" y="0"/>
                </a:cubicBezTo>
                <a:cubicBezTo>
                  <a:pt x="28" y="0"/>
                  <a:pt x="28" y="0"/>
                  <a:pt x="28" y="0"/>
                </a:cubicBezTo>
                <a:cubicBezTo>
                  <a:pt x="29" y="0"/>
                  <a:pt x="31" y="1"/>
                  <a:pt x="31" y="2"/>
                </a:cubicBezTo>
                <a:cubicBezTo>
                  <a:pt x="31" y="11"/>
                  <a:pt x="31" y="11"/>
                  <a:pt x="31" y="11"/>
                </a:cubicBezTo>
                <a:cubicBezTo>
                  <a:pt x="31" y="12"/>
                  <a:pt x="29" y="13"/>
                  <a:pt x="28" y="13"/>
                </a:cubicBezTo>
                <a:cubicBezTo>
                  <a:pt x="25" y="13"/>
                  <a:pt x="25" y="13"/>
                  <a:pt x="25" y="13"/>
                </a:cubicBezTo>
                <a:cubicBezTo>
                  <a:pt x="25" y="19"/>
                  <a:pt x="25" y="19"/>
                  <a:pt x="25" y="19"/>
                </a:cubicBezTo>
                <a:cubicBezTo>
                  <a:pt x="39" y="19"/>
                  <a:pt x="39" y="19"/>
                  <a:pt x="39" y="19"/>
                </a:cubicBezTo>
                <a:cubicBezTo>
                  <a:pt x="41" y="19"/>
                  <a:pt x="43" y="20"/>
                  <a:pt x="43" y="22"/>
                </a:cubicBezTo>
                <a:cubicBezTo>
                  <a:pt x="43" y="27"/>
                  <a:pt x="43" y="27"/>
                  <a:pt x="43" y="27"/>
                </a:cubicBezTo>
                <a:cubicBezTo>
                  <a:pt x="45" y="27"/>
                  <a:pt x="45" y="27"/>
                  <a:pt x="45" y="27"/>
                </a:cubicBezTo>
                <a:cubicBezTo>
                  <a:pt x="47" y="27"/>
                  <a:pt x="48" y="28"/>
                  <a:pt x="48" y="30"/>
                </a:cubicBezTo>
                <a:lnTo>
                  <a:pt x="48" y="3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nvGrpSpPr>
          <p:cNvPr id="27" name="Group 173"/>
          <p:cNvGrpSpPr>
            <a:grpSpLocks noChangeAspect="1"/>
          </p:cNvGrpSpPr>
          <p:nvPr/>
        </p:nvGrpSpPr>
        <p:grpSpPr>
          <a:xfrm>
            <a:off x="3754031" y="4576872"/>
            <a:ext cx="310376" cy="532467"/>
            <a:chOff x="-2773363" y="1651000"/>
            <a:chExt cx="2692401" cy="3448051"/>
          </a:xfrm>
          <a:solidFill>
            <a:schemeClr val="bg1"/>
          </a:solidFill>
        </p:grpSpPr>
        <p:sp>
          <p:nvSpPr>
            <p:cNvPr id="28" name="Freeform 19"/>
            <p:cNvSpPr>
              <a:spLocks noEditPoints="1"/>
            </p:cNvSpPr>
            <p:nvPr/>
          </p:nvSpPr>
          <p:spPr bwMode="auto">
            <a:xfrm>
              <a:off x="-1908175" y="1798638"/>
              <a:ext cx="641350" cy="641350"/>
            </a:xfrm>
            <a:custGeom>
              <a:avLst/>
              <a:gdLst>
                <a:gd name="T0" fmla="*/ 171 w 171"/>
                <a:gd name="T1" fmla="*/ 79 h 171"/>
                <a:gd name="T2" fmla="*/ 168 w 171"/>
                <a:gd name="T3" fmla="*/ 77 h 171"/>
                <a:gd name="T4" fmla="*/ 152 w 171"/>
                <a:gd name="T5" fmla="*/ 65 h 171"/>
                <a:gd name="T6" fmla="*/ 165 w 171"/>
                <a:gd name="T7" fmla="*/ 54 h 171"/>
                <a:gd name="T8" fmla="*/ 161 w 171"/>
                <a:gd name="T9" fmla="*/ 52 h 171"/>
                <a:gd name="T10" fmla="*/ 142 w 171"/>
                <a:gd name="T11" fmla="*/ 45 h 171"/>
                <a:gd name="T12" fmla="*/ 152 w 171"/>
                <a:gd name="T13" fmla="*/ 32 h 171"/>
                <a:gd name="T14" fmla="*/ 147 w 171"/>
                <a:gd name="T15" fmla="*/ 30 h 171"/>
                <a:gd name="T16" fmla="*/ 127 w 171"/>
                <a:gd name="T17" fmla="*/ 30 h 171"/>
                <a:gd name="T18" fmla="*/ 132 w 171"/>
                <a:gd name="T19" fmla="*/ 15 h 171"/>
                <a:gd name="T20" fmla="*/ 127 w 171"/>
                <a:gd name="T21" fmla="*/ 14 h 171"/>
                <a:gd name="T22" fmla="*/ 108 w 171"/>
                <a:gd name="T23" fmla="*/ 20 h 171"/>
                <a:gd name="T24" fmla="*/ 108 w 171"/>
                <a:gd name="T25" fmla="*/ 5 h 171"/>
                <a:gd name="T26" fmla="*/ 103 w 171"/>
                <a:gd name="T27" fmla="*/ 4 h 171"/>
                <a:gd name="T28" fmla="*/ 86 w 171"/>
                <a:gd name="T29" fmla="*/ 16 h 171"/>
                <a:gd name="T30" fmla="*/ 79 w 171"/>
                <a:gd name="T31" fmla="*/ 0 h 171"/>
                <a:gd name="T32" fmla="*/ 77 w 171"/>
                <a:gd name="T33" fmla="*/ 3 h 171"/>
                <a:gd name="T34" fmla="*/ 65 w 171"/>
                <a:gd name="T35" fmla="*/ 19 h 171"/>
                <a:gd name="T36" fmla="*/ 53 w 171"/>
                <a:gd name="T37" fmla="*/ 6 h 171"/>
                <a:gd name="T38" fmla="*/ 52 w 171"/>
                <a:gd name="T39" fmla="*/ 10 h 171"/>
                <a:gd name="T40" fmla="*/ 45 w 171"/>
                <a:gd name="T41" fmla="*/ 29 h 171"/>
                <a:gd name="T42" fmla="*/ 30 w 171"/>
                <a:gd name="T43" fmla="*/ 20 h 171"/>
                <a:gd name="T44" fmla="*/ 30 w 171"/>
                <a:gd name="T45" fmla="*/ 24 h 171"/>
                <a:gd name="T46" fmla="*/ 30 w 171"/>
                <a:gd name="T47" fmla="*/ 44 h 171"/>
                <a:gd name="T48" fmla="*/ 13 w 171"/>
                <a:gd name="T49" fmla="*/ 40 h 171"/>
                <a:gd name="T50" fmla="*/ 14 w 171"/>
                <a:gd name="T51" fmla="*/ 44 h 171"/>
                <a:gd name="T52" fmla="*/ 20 w 171"/>
                <a:gd name="T53" fmla="*/ 63 h 171"/>
                <a:gd name="T54" fmla="*/ 2 w 171"/>
                <a:gd name="T55" fmla="*/ 65 h 171"/>
                <a:gd name="T56" fmla="*/ 4 w 171"/>
                <a:gd name="T57" fmla="*/ 68 h 171"/>
                <a:gd name="T58" fmla="*/ 16 w 171"/>
                <a:gd name="T59" fmla="*/ 84 h 171"/>
                <a:gd name="T60" fmla="*/ 0 w 171"/>
                <a:gd name="T61" fmla="*/ 91 h 171"/>
                <a:gd name="T62" fmla="*/ 3 w 171"/>
                <a:gd name="T63" fmla="*/ 94 h 171"/>
                <a:gd name="T64" fmla="*/ 19 w 171"/>
                <a:gd name="T65" fmla="*/ 106 h 171"/>
                <a:gd name="T66" fmla="*/ 6 w 171"/>
                <a:gd name="T67" fmla="*/ 116 h 171"/>
                <a:gd name="T68" fmla="*/ 10 w 171"/>
                <a:gd name="T69" fmla="*/ 119 h 171"/>
                <a:gd name="T70" fmla="*/ 29 w 171"/>
                <a:gd name="T71" fmla="*/ 125 h 171"/>
                <a:gd name="T72" fmla="*/ 19 w 171"/>
                <a:gd name="T73" fmla="*/ 139 h 171"/>
                <a:gd name="T74" fmla="*/ 24 w 171"/>
                <a:gd name="T75" fmla="*/ 141 h 171"/>
                <a:gd name="T76" fmla="*/ 44 w 171"/>
                <a:gd name="T77" fmla="*/ 141 h 171"/>
                <a:gd name="T78" fmla="*/ 39 w 171"/>
                <a:gd name="T79" fmla="*/ 156 h 171"/>
                <a:gd name="T80" fmla="*/ 44 w 171"/>
                <a:gd name="T81" fmla="*/ 157 h 171"/>
                <a:gd name="T82" fmla="*/ 63 w 171"/>
                <a:gd name="T83" fmla="*/ 151 h 171"/>
                <a:gd name="T84" fmla="*/ 63 w 171"/>
                <a:gd name="T85" fmla="*/ 166 h 171"/>
                <a:gd name="T86" fmla="*/ 68 w 171"/>
                <a:gd name="T87" fmla="*/ 166 h 171"/>
                <a:gd name="T88" fmla="*/ 85 w 171"/>
                <a:gd name="T89" fmla="*/ 155 h 171"/>
                <a:gd name="T90" fmla="*/ 91 w 171"/>
                <a:gd name="T91" fmla="*/ 171 h 171"/>
                <a:gd name="T92" fmla="*/ 94 w 171"/>
                <a:gd name="T93" fmla="*/ 168 h 171"/>
                <a:gd name="T94" fmla="*/ 96 w 171"/>
                <a:gd name="T95" fmla="*/ 154 h 171"/>
                <a:gd name="T96" fmla="*/ 114 w 171"/>
                <a:gd name="T97" fmla="*/ 163 h 171"/>
                <a:gd name="T98" fmla="*/ 119 w 171"/>
                <a:gd name="T99" fmla="*/ 162 h 171"/>
                <a:gd name="T100" fmla="*/ 117 w 171"/>
                <a:gd name="T101" fmla="*/ 147 h 171"/>
                <a:gd name="T102" fmla="*/ 137 w 171"/>
                <a:gd name="T103" fmla="*/ 150 h 171"/>
                <a:gd name="T104" fmla="*/ 142 w 171"/>
                <a:gd name="T105" fmla="*/ 149 h 171"/>
                <a:gd name="T106" fmla="*/ 135 w 171"/>
                <a:gd name="T107" fmla="*/ 134 h 171"/>
                <a:gd name="T108" fmla="*/ 154 w 171"/>
                <a:gd name="T109" fmla="*/ 131 h 171"/>
                <a:gd name="T110" fmla="*/ 159 w 171"/>
                <a:gd name="T111" fmla="*/ 129 h 171"/>
                <a:gd name="T112" fmla="*/ 147 w 171"/>
                <a:gd name="T113" fmla="*/ 117 h 171"/>
                <a:gd name="T114" fmla="*/ 165 w 171"/>
                <a:gd name="T115" fmla="*/ 108 h 171"/>
                <a:gd name="T116" fmla="*/ 169 w 171"/>
                <a:gd name="T117" fmla="*/ 105 h 171"/>
                <a:gd name="T118" fmla="*/ 154 w 171"/>
                <a:gd name="T119" fmla="*/ 96 h 171"/>
                <a:gd name="T120" fmla="*/ 168 w 171"/>
                <a:gd name="T121" fmla="*/ 82 h 171"/>
                <a:gd name="T122" fmla="*/ 70 w 171"/>
                <a:gd name="T123" fmla="*/ 85 h 171"/>
                <a:gd name="T124" fmla="*/ 101 w 171"/>
                <a:gd name="T125" fmla="*/ 8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71" h="171">
                  <a:moveTo>
                    <a:pt x="168" y="82"/>
                  </a:moveTo>
                  <a:cubicBezTo>
                    <a:pt x="170" y="82"/>
                    <a:pt x="171" y="81"/>
                    <a:pt x="171" y="79"/>
                  </a:cubicBezTo>
                  <a:cubicBezTo>
                    <a:pt x="171" y="79"/>
                    <a:pt x="171" y="79"/>
                    <a:pt x="171" y="79"/>
                  </a:cubicBezTo>
                  <a:cubicBezTo>
                    <a:pt x="171" y="78"/>
                    <a:pt x="169" y="77"/>
                    <a:pt x="168" y="77"/>
                  </a:cubicBezTo>
                  <a:cubicBezTo>
                    <a:pt x="154" y="75"/>
                    <a:pt x="154" y="75"/>
                    <a:pt x="154" y="75"/>
                  </a:cubicBezTo>
                  <a:cubicBezTo>
                    <a:pt x="154" y="71"/>
                    <a:pt x="153" y="68"/>
                    <a:pt x="152" y="65"/>
                  </a:cubicBezTo>
                  <a:cubicBezTo>
                    <a:pt x="163" y="57"/>
                    <a:pt x="163" y="57"/>
                    <a:pt x="163" y="57"/>
                  </a:cubicBezTo>
                  <a:cubicBezTo>
                    <a:pt x="164" y="56"/>
                    <a:pt x="165" y="55"/>
                    <a:pt x="165" y="54"/>
                  </a:cubicBezTo>
                  <a:cubicBezTo>
                    <a:pt x="165" y="54"/>
                    <a:pt x="165" y="53"/>
                    <a:pt x="165" y="53"/>
                  </a:cubicBezTo>
                  <a:cubicBezTo>
                    <a:pt x="164" y="52"/>
                    <a:pt x="163" y="51"/>
                    <a:pt x="161" y="52"/>
                  </a:cubicBezTo>
                  <a:cubicBezTo>
                    <a:pt x="147" y="54"/>
                    <a:pt x="147" y="54"/>
                    <a:pt x="147" y="54"/>
                  </a:cubicBezTo>
                  <a:cubicBezTo>
                    <a:pt x="146" y="51"/>
                    <a:pt x="144" y="48"/>
                    <a:pt x="142" y="45"/>
                  </a:cubicBezTo>
                  <a:cubicBezTo>
                    <a:pt x="151" y="34"/>
                    <a:pt x="151" y="34"/>
                    <a:pt x="151" y="34"/>
                  </a:cubicBezTo>
                  <a:cubicBezTo>
                    <a:pt x="151" y="34"/>
                    <a:pt x="152" y="33"/>
                    <a:pt x="152" y="32"/>
                  </a:cubicBezTo>
                  <a:cubicBezTo>
                    <a:pt x="152" y="31"/>
                    <a:pt x="151" y="31"/>
                    <a:pt x="151" y="30"/>
                  </a:cubicBezTo>
                  <a:cubicBezTo>
                    <a:pt x="150" y="29"/>
                    <a:pt x="148" y="29"/>
                    <a:pt x="147" y="30"/>
                  </a:cubicBezTo>
                  <a:cubicBezTo>
                    <a:pt x="135" y="36"/>
                    <a:pt x="135" y="36"/>
                    <a:pt x="135" y="36"/>
                  </a:cubicBezTo>
                  <a:cubicBezTo>
                    <a:pt x="132" y="34"/>
                    <a:pt x="130" y="32"/>
                    <a:pt x="127" y="30"/>
                  </a:cubicBezTo>
                  <a:cubicBezTo>
                    <a:pt x="132" y="16"/>
                    <a:pt x="132" y="16"/>
                    <a:pt x="132" y="16"/>
                  </a:cubicBezTo>
                  <a:cubicBezTo>
                    <a:pt x="132" y="16"/>
                    <a:pt x="132" y="16"/>
                    <a:pt x="132" y="15"/>
                  </a:cubicBezTo>
                  <a:cubicBezTo>
                    <a:pt x="132" y="14"/>
                    <a:pt x="132" y="13"/>
                    <a:pt x="131" y="13"/>
                  </a:cubicBezTo>
                  <a:cubicBezTo>
                    <a:pt x="129" y="12"/>
                    <a:pt x="128" y="12"/>
                    <a:pt x="127" y="14"/>
                  </a:cubicBezTo>
                  <a:cubicBezTo>
                    <a:pt x="117" y="23"/>
                    <a:pt x="117" y="23"/>
                    <a:pt x="117" y="23"/>
                  </a:cubicBezTo>
                  <a:cubicBezTo>
                    <a:pt x="114" y="22"/>
                    <a:pt x="111" y="21"/>
                    <a:pt x="108" y="20"/>
                  </a:cubicBezTo>
                  <a:cubicBezTo>
                    <a:pt x="108" y="6"/>
                    <a:pt x="108" y="6"/>
                    <a:pt x="108" y="6"/>
                  </a:cubicBezTo>
                  <a:cubicBezTo>
                    <a:pt x="108" y="5"/>
                    <a:pt x="108" y="5"/>
                    <a:pt x="108" y="5"/>
                  </a:cubicBezTo>
                  <a:cubicBezTo>
                    <a:pt x="108" y="4"/>
                    <a:pt x="107" y="3"/>
                    <a:pt x="106" y="2"/>
                  </a:cubicBezTo>
                  <a:cubicBezTo>
                    <a:pt x="105" y="2"/>
                    <a:pt x="103" y="3"/>
                    <a:pt x="103" y="4"/>
                  </a:cubicBezTo>
                  <a:cubicBezTo>
                    <a:pt x="96" y="17"/>
                    <a:pt x="96" y="17"/>
                    <a:pt x="96" y="17"/>
                  </a:cubicBezTo>
                  <a:cubicBezTo>
                    <a:pt x="93" y="16"/>
                    <a:pt x="90" y="16"/>
                    <a:pt x="86" y="16"/>
                  </a:cubicBezTo>
                  <a:cubicBezTo>
                    <a:pt x="82" y="3"/>
                    <a:pt x="82" y="3"/>
                    <a:pt x="82" y="3"/>
                  </a:cubicBezTo>
                  <a:cubicBezTo>
                    <a:pt x="82" y="1"/>
                    <a:pt x="81" y="0"/>
                    <a:pt x="79" y="0"/>
                  </a:cubicBezTo>
                  <a:cubicBezTo>
                    <a:pt x="78" y="0"/>
                    <a:pt x="77" y="1"/>
                    <a:pt x="77" y="3"/>
                  </a:cubicBezTo>
                  <a:cubicBezTo>
                    <a:pt x="77" y="3"/>
                    <a:pt x="77" y="3"/>
                    <a:pt x="77" y="3"/>
                  </a:cubicBezTo>
                  <a:cubicBezTo>
                    <a:pt x="75" y="17"/>
                    <a:pt x="75" y="17"/>
                    <a:pt x="75" y="17"/>
                  </a:cubicBezTo>
                  <a:cubicBezTo>
                    <a:pt x="71" y="17"/>
                    <a:pt x="68" y="18"/>
                    <a:pt x="65" y="19"/>
                  </a:cubicBezTo>
                  <a:cubicBezTo>
                    <a:pt x="57" y="8"/>
                    <a:pt x="57" y="8"/>
                    <a:pt x="57" y="8"/>
                  </a:cubicBezTo>
                  <a:cubicBezTo>
                    <a:pt x="56" y="6"/>
                    <a:pt x="55" y="5"/>
                    <a:pt x="53" y="6"/>
                  </a:cubicBezTo>
                  <a:cubicBezTo>
                    <a:pt x="52" y="6"/>
                    <a:pt x="52" y="7"/>
                    <a:pt x="52" y="9"/>
                  </a:cubicBezTo>
                  <a:cubicBezTo>
                    <a:pt x="52" y="9"/>
                    <a:pt x="52" y="9"/>
                    <a:pt x="52" y="10"/>
                  </a:cubicBezTo>
                  <a:cubicBezTo>
                    <a:pt x="54" y="23"/>
                    <a:pt x="54" y="23"/>
                    <a:pt x="54" y="23"/>
                  </a:cubicBezTo>
                  <a:cubicBezTo>
                    <a:pt x="51" y="25"/>
                    <a:pt x="48" y="27"/>
                    <a:pt x="45" y="29"/>
                  </a:cubicBezTo>
                  <a:cubicBezTo>
                    <a:pt x="34" y="20"/>
                    <a:pt x="34" y="20"/>
                    <a:pt x="34" y="20"/>
                  </a:cubicBezTo>
                  <a:cubicBezTo>
                    <a:pt x="33" y="19"/>
                    <a:pt x="32" y="19"/>
                    <a:pt x="30" y="20"/>
                  </a:cubicBezTo>
                  <a:cubicBezTo>
                    <a:pt x="30" y="20"/>
                    <a:pt x="29" y="21"/>
                    <a:pt x="29" y="22"/>
                  </a:cubicBezTo>
                  <a:cubicBezTo>
                    <a:pt x="29" y="23"/>
                    <a:pt x="30" y="23"/>
                    <a:pt x="30" y="24"/>
                  </a:cubicBezTo>
                  <a:cubicBezTo>
                    <a:pt x="36" y="36"/>
                    <a:pt x="36" y="36"/>
                    <a:pt x="36" y="36"/>
                  </a:cubicBezTo>
                  <a:cubicBezTo>
                    <a:pt x="34" y="39"/>
                    <a:pt x="32" y="41"/>
                    <a:pt x="30" y="44"/>
                  </a:cubicBezTo>
                  <a:cubicBezTo>
                    <a:pt x="17" y="39"/>
                    <a:pt x="17" y="39"/>
                    <a:pt x="17" y="39"/>
                  </a:cubicBezTo>
                  <a:cubicBezTo>
                    <a:pt x="15" y="38"/>
                    <a:pt x="14" y="39"/>
                    <a:pt x="13" y="40"/>
                  </a:cubicBezTo>
                  <a:cubicBezTo>
                    <a:pt x="13" y="41"/>
                    <a:pt x="12" y="41"/>
                    <a:pt x="12" y="42"/>
                  </a:cubicBezTo>
                  <a:cubicBezTo>
                    <a:pt x="12" y="42"/>
                    <a:pt x="13" y="43"/>
                    <a:pt x="14" y="44"/>
                  </a:cubicBezTo>
                  <a:cubicBezTo>
                    <a:pt x="24" y="54"/>
                    <a:pt x="24" y="54"/>
                    <a:pt x="24" y="54"/>
                  </a:cubicBezTo>
                  <a:cubicBezTo>
                    <a:pt x="22" y="57"/>
                    <a:pt x="21" y="60"/>
                    <a:pt x="20" y="63"/>
                  </a:cubicBezTo>
                  <a:cubicBezTo>
                    <a:pt x="6" y="63"/>
                    <a:pt x="6" y="63"/>
                    <a:pt x="6" y="63"/>
                  </a:cubicBezTo>
                  <a:cubicBezTo>
                    <a:pt x="4" y="62"/>
                    <a:pt x="3" y="63"/>
                    <a:pt x="2" y="65"/>
                  </a:cubicBezTo>
                  <a:cubicBezTo>
                    <a:pt x="2" y="65"/>
                    <a:pt x="2" y="65"/>
                    <a:pt x="2" y="65"/>
                  </a:cubicBezTo>
                  <a:cubicBezTo>
                    <a:pt x="2" y="67"/>
                    <a:pt x="3" y="68"/>
                    <a:pt x="4" y="68"/>
                  </a:cubicBezTo>
                  <a:cubicBezTo>
                    <a:pt x="17" y="74"/>
                    <a:pt x="17" y="74"/>
                    <a:pt x="17" y="74"/>
                  </a:cubicBezTo>
                  <a:cubicBezTo>
                    <a:pt x="16" y="78"/>
                    <a:pt x="16" y="81"/>
                    <a:pt x="16" y="84"/>
                  </a:cubicBezTo>
                  <a:cubicBezTo>
                    <a:pt x="3" y="89"/>
                    <a:pt x="3" y="89"/>
                    <a:pt x="3" y="89"/>
                  </a:cubicBezTo>
                  <a:cubicBezTo>
                    <a:pt x="1" y="89"/>
                    <a:pt x="0" y="90"/>
                    <a:pt x="0" y="91"/>
                  </a:cubicBezTo>
                  <a:cubicBezTo>
                    <a:pt x="0" y="91"/>
                    <a:pt x="0" y="91"/>
                    <a:pt x="0" y="91"/>
                  </a:cubicBezTo>
                  <a:cubicBezTo>
                    <a:pt x="0" y="93"/>
                    <a:pt x="2" y="94"/>
                    <a:pt x="3" y="94"/>
                  </a:cubicBezTo>
                  <a:cubicBezTo>
                    <a:pt x="17" y="96"/>
                    <a:pt x="17" y="96"/>
                    <a:pt x="17" y="96"/>
                  </a:cubicBezTo>
                  <a:cubicBezTo>
                    <a:pt x="17" y="99"/>
                    <a:pt x="18" y="103"/>
                    <a:pt x="19" y="106"/>
                  </a:cubicBezTo>
                  <a:cubicBezTo>
                    <a:pt x="8" y="114"/>
                    <a:pt x="8" y="114"/>
                    <a:pt x="8" y="114"/>
                  </a:cubicBezTo>
                  <a:cubicBezTo>
                    <a:pt x="7" y="114"/>
                    <a:pt x="6" y="115"/>
                    <a:pt x="6" y="116"/>
                  </a:cubicBezTo>
                  <a:cubicBezTo>
                    <a:pt x="6" y="117"/>
                    <a:pt x="6" y="117"/>
                    <a:pt x="6" y="118"/>
                  </a:cubicBezTo>
                  <a:cubicBezTo>
                    <a:pt x="7" y="119"/>
                    <a:pt x="8" y="120"/>
                    <a:pt x="10" y="119"/>
                  </a:cubicBezTo>
                  <a:cubicBezTo>
                    <a:pt x="24" y="117"/>
                    <a:pt x="24" y="117"/>
                    <a:pt x="24" y="117"/>
                  </a:cubicBezTo>
                  <a:cubicBezTo>
                    <a:pt x="25" y="120"/>
                    <a:pt x="27" y="123"/>
                    <a:pt x="29" y="125"/>
                  </a:cubicBezTo>
                  <a:cubicBezTo>
                    <a:pt x="20" y="137"/>
                    <a:pt x="20" y="137"/>
                    <a:pt x="20" y="137"/>
                  </a:cubicBezTo>
                  <a:cubicBezTo>
                    <a:pt x="20" y="137"/>
                    <a:pt x="19" y="138"/>
                    <a:pt x="19" y="139"/>
                  </a:cubicBezTo>
                  <a:cubicBezTo>
                    <a:pt x="19" y="139"/>
                    <a:pt x="20" y="140"/>
                    <a:pt x="20" y="140"/>
                  </a:cubicBezTo>
                  <a:cubicBezTo>
                    <a:pt x="21" y="142"/>
                    <a:pt x="23" y="142"/>
                    <a:pt x="24" y="141"/>
                  </a:cubicBezTo>
                  <a:cubicBezTo>
                    <a:pt x="36" y="134"/>
                    <a:pt x="36" y="134"/>
                    <a:pt x="36" y="134"/>
                  </a:cubicBezTo>
                  <a:cubicBezTo>
                    <a:pt x="39" y="137"/>
                    <a:pt x="41" y="139"/>
                    <a:pt x="44" y="141"/>
                  </a:cubicBezTo>
                  <a:cubicBezTo>
                    <a:pt x="39" y="154"/>
                    <a:pt x="39" y="154"/>
                    <a:pt x="39" y="154"/>
                  </a:cubicBezTo>
                  <a:cubicBezTo>
                    <a:pt x="39" y="155"/>
                    <a:pt x="39" y="155"/>
                    <a:pt x="39" y="156"/>
                  </a:cubicBezTo>
                  <a:cubicBezTo>
                    <a:pt x="39" y="157"/>
                    <a:pt x="39" y="157"/>
                    <a:pt x="40" y="158"/>
                  </a:cubicBezTo>
                  <a:cubicBezTo>
                    <a:pt x="42" y="159"/>
                    <a:pt x="43" y="158"/>
                    <a:pt x="44" y="157"/>
                  </a:cubicBezTo>
                  <a:cubicBezTo>
                    <a:pt x="54" y="147"/>
                    <a:pt x="54" y="147"/>
                    <a:pt x="54" y="147"/>
                  </a:cubicBezTo>
                  <a:cubicBezTo>
                    <a:pt x="57" y="149"/>
                    <a:pt x="60" y="150"/>
                    <a:pt x="63" y="151"/>
                  </a:cubicBezTo>
                  <a:cubicBezTo>
                    <a:pt x="63" y="165"/>
                    <a:pt x="63" y="165"/>
                    <a:pt x="63" y="165"/>
                  </a:cubicBezTo>
                  <a:cubicBezTo>
                    <a:pt x="63" y="165"/>
                    <a:pt x="63" y="166"/>
                    <a:pt x="63" y="166"/>
                  </a:cubicBezTo>
                  <a:cubicBezTo>
                    <a:pt x="63" y="167"/>
                    <a:pt x="64" y="168"/>
                    <a:pt x="65" y="168"/>
                  </a:cubicBezTo>
                  <a:cubicBezTo>
                    <a:pt x="66" y="169"/>
                    <a:pt x="68" y="168"/>
                    <a:pt x="68" y="166"/>
                  </a:cubicBezTo>
                  <a:cubicBezTo>
                    <a:pt x="75" y="154"/>
                    <a:pt x="75" y="154"/>
                    <a:pt x="75" y="154"/>
                  </a:cubicBezTo>
                  <a:cubicBezTo>
                    <a:pt x="78" y="154"/>
                    <a:pt x="81" y="155"/>
                    <a:pt x="85" y="155"/>
                  </a:cubicBezTo>
                  <a:cubicBezTo>
                    <a:pt x="89" y="168"/>
                    <a:pt x="89" y="168"/>
                    <a:pt x="89" y="168"/>
                  </a:cubicBezTo>
                  <a:cubicBezTo>
                    <a:pt x="89" y="170"/>
                    <a:pt x="90" y="171"/>
                    <a:pt x="91" y="171"/>
                  </a:cubicBezTo>
                  <a:cubicBezTo>
                    <a:pt x="91" y="171"/>
                    <a:pt x="92" y="171"/>
                    <a:pt x="92" y="171"/>
                  </a:cubicBezTo>
                  <a:cubicBezTo>
                    <a:pt x="93" y="171"/>
                    <a:pt x="94" y="169"/>
                    <a:pt x="94" y="168"/>
                  </a:cubicBezTo>
                  <a:cubicBezTo>
                    <a:pt x="94" y="168"/>
                    <a:pt x="94" y="168"/>
                    <a:pt x="94" y="168"/>
                  </a:cubicBezTo>
                  <a:cubicBezTo>
                    <a:pt x="96" y="154"/>
                    <a:pt x="96" y="154"/>
                    <a:pt x="96" y="154"/>
                  </a:cubicBezTo>
                  <a:cubicBezTo>
                    <a:pt x="100" y="153"/>
                    <a:pt x="103" y="153"/>
                    <a:pt x="106" y="152"/>
                  </a:cubicBezTo>
                  <a:cubicBezTo>
                    <a:pt x="114" y="163"/>
                    <a:pt x="114" y="163"/>
                    <a:pt x="114" y="163"/>
                  </a:cubicBezTo>
                  <a:cubicBezTo>
                    <a:pt x="115" y="165"/>
                    <a:pt x="116" y="165"/>
                    <a:pt x="118" y="165"/>
                  </a:cubicBezTo>
                  <a:cubicBezTo>
                    <a:pt x="119" y="164"/>
                    <a:pt x="119" y="163"/>
                    <a:pt x="119" y="162"/>
                  </a:cubicBezTo>
                  <a:cubicBezTo>
                    <a:pt x="119" y="162"/>
                    <a:pt x="119" y="161"/>
                    <a:pt x="119" y="161"/>
                  </a:cubicBezTo>
                  <a:cubicBezTo>
                    <a:pt x="117" y="147"/>
                    <a:pt x="117" y="147"/>
                    <a:pt x="117" y="147"/>
                  </a:cubicBezTo>
                  <a:cubicBezTo>
                    <a:pt x="120" y="146"/>
                    <a:pt x="123" y="144"/>
                    <a:pt x="126" y="142"/>
                  </a:cubicBezTo>
                  <a:cubicBezTo>
                    <a:pt x="137" y="150"/>
                    <a:pt x="137" y="150"/>
                    <a:pt x="137" y="150"/>
                  </a:cubicBezTo>
                  <a:cubicBezTo>
                    <a:pt x="138" y="152"/>
                    <a:pt x="139" y="152"/>
                    <a:pt x="141" y="151"/>
                  </a:cubicBezTo>
                  <a:cubicBezTo>
                    <a:pt x="141" y="150"/>
                    <a:pt x="142" y="149"/>
                    <a:pt x="142" y="149"/>
                  </a:cubicBezTo>
                  <a:cubicBezTo>
                    <a:pt x="142" y="148"/>
                    <a:pt x="141" y="147"/>
                    <a:pt x="141" y="147"/>
                  </a:cubicBezTo>
                  <a:cubicBezTo>
                    <a:pt x="135" y="134"/>
                    <a:pt x="135" y="134"/>
                    <a:pt x="135" y="134"/>
                  </a:cubicBezTo>
                  <a:cubicBezTo>
                    <a:pt x="137" y="132"/>
                    <a:pt x="139" y="130"/>
                    <a:pt x="141" y="127"/>
                  </a:cubicBezTo>
                  <a:cubicBezTo>
                    <a:pt x="154" y="131"/>
                    <a:pt x="154" y="131"/>
                    <a:pt x="154" y="131"/>
                  </a:cubicBezTo>
                  <a:cubicBezTo>
                    <a:pt x="156" y="132"/>
                    <a:pt x="157" y="132"/>
                    <a:pt x="158" y="131"/>
                  </a:cubicBezTo>
                  <a:cubicBezTo>
                    <a:pt x="158" y="130"/>
                    <a:pt x="159" y="130"/>
                    <a:pt x="159" y="129"/>
                  </a:cubicBezTo>
                  <a:cubicBezTo>
                    <a:pt x="159" y="128"/>
                    <a:pt x="158" y="127"/>
                    <a:pt x="157" y="127"/>
                  </a:cubicBezTo>
                  <a:cubicBezTo>
                    <a:pt x="147" y="117"/>
                    <a:pt x="147" y="117"/>
                    <a:pt x="147" y="117"/>
                  </a:cubicBezTo>
                  <a:cubicBezTo>
                    <a:pt x="149" y="114"/>
                    <a:pt x="150" y="111"/>
                    <a:pt x="151" y="108"/>
                  </a:cubicBezTo>
                  <a:cubicBezTo>
                    <a:pt x="165" y="108"/>
                    <a:pt x="165" y="108"/>
                    <a:pt x="165" y="108"/>
                  </a:cubicBezTo>
                  <a:cubicBezTo>
                    <a:pt x="167" y="108"/>
                    <a:pt x="168" y="107"/>
                    <a:pt x="169" y="106"/>
                  </a:cubicBezTo>
                  <a:cubicBezTo>
                    <a:pt x="169" y="106"/>
                    <a:pt x="169" y="105"/>
                    <a:pt x="169" y="105"/>
                  </a:cubicBezTo>
                  <a:cubicBezTo>
                    <a:pt x="169" y="104"/>
                    <a:pt x="168" y="103"/>
                    <a:pt x="167" y="103"/>
                  </a:cubicBezTo>
                  <a:cubicBezTo>
                    <a:pt x="154" y="96"/>
                    <a:pt x="154" y="96"/>
                    <a:pt x="154" y="96"/>
                  </a:cubicBezTo>
                  <a:cubicBezTo>
                    <a:pt x="155" y="93"/>
                    <a:pt x="155" y="90"/>
                    <a:pt x="155" y="86"/>
                  </a:cubicBezTo>
                  <a:lnTo>
                    <a:pt x="168" y="82"/>
                  </a:lnTo>
                  <a:close/>
                  <a:moveTo>
                    <a:pt x="86" y="101"/>
                  </a:moveTo>
                  <a:cubicBezTo>
                    <a:pt x="77" y="101"/>
                    <a:pt x="70" y="94"/>
                    <a:pt x="70" y="85"/>
                  </a:cubicBezTo>
                  <a:cubicBezTo>
                    <a:pt x="70" y="77"/>
                    <a:pt x="77" y="70"/>
                    <a:pt x="86" y="70"/>
                  </a:cubicBezTo>
                  <a:cubicBezTo>
                    <a:pt x="94" y="70"/>
                    <a:pt x="101" y="77"/>
                    <a:pt x="101" y="85"/>
                  </a:cubicBezTo>
                  <a:cubicBezTo>
                    <a:pt x="101" y="94"/>
                    <a:pt x="94" y="101"/>
                    <a:pt x="86"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9" tIns="34294" rIns="68589" bIns="34294"/>
            <a:lstStyle/>
            <a:p>
              <a:pPr fontAlgn="auto">
                <a:spcBef>
                  <a:spcPts val="0"/>
                </a:spcBef>
                <a:spcAft>
                  <a:spcPts val="0"/>
                </a:spcAft>
                <a:defRPr/>
              </a:pPr>
              <a:endParaRPr lang="en-US" sz="1350" dirty="0">
                <a:latin typeface="+mn-lt"/>
                <a:ea typeface="+mn-ea"/>
              </a:endParaRPr>
            </a:p>
          </p:txBody>
        </p:sp>
        <p:sp>
          <p:nvSpPr>
            <p:cNvPr id="29" name="Freeform 20"/>
            <p:cNvSpPr>
              <a:spLocks noEditPoints="1"/>
            </p:cNvSpPr>
            <p:nvPr/>
          </p:nvSpPr>
          <p:spPr bwMode="auto">
            <a:xfrm>
              <a:off x="-1333500" y="1651000"/>
              <a:ext cx="454025" cy="454025"/>
            </a:xfrm>
            <a:custGeom>
              <a:avLst/>
              <a:gdLst>
                <a:gd name="T0" fmla="*/ 121 w 121"/>
                <a:gd name="T1" fmla="*/ 56 h 121"/>
                <a:gd name="T2" fmla="*/ 119 w 121"/>
                <a:gd name="T3" fmla="*/ 54 h 121"/>
                <a:gd name="T4" fmla="*/ 108 w 121"/>
                <a:gd name="T5" fmla="*/ 46 h 121"/>
                <a:gd name="T6" fmla="*/ 117 w 121"/>
                <a:gd name="T7" fmla="*/ 38 h 121"/>
                <a:gd name="T8" fmla="*/ 115 w 121"/>
                <a:gd name="T9" fmla="*/ 37 h 121"/>
                <a:gd name="T10" fmla="*/ 101 w 121"/>
                <a:gd name="T11" fmla="*/ 32 h 121"/>
                <a:gd name="T12" fmla="*/ 108 w 121"/>
                <a:gd name="T13" fmla="*/ 23 h 121"/>
                <a:gd name="T14" fmla="*/ 105 w 121"/>
                <a:gd name="T15" fmla="*/ 21 h 121"/>
                <a:gd name="T16" fmla="*/ 90 w 121"/>
                <a:gd name="T17" fmla="*/ 21 h 121"/>
                <a:gd name="T18" fmla="*/ 94 w 121"/>
                <a:gd name="T19" fmla="*/ 11 h 121"/>
                <a:gd name="T20" fmla="*/ 90 w 121"/>
                <a:gd name="T21" fmla="*/ 10 h 121"/>
                <a:gd name="T22" fmla="*/ 77 w 121"/>
                <a:gd name="T23" fmla="*/ 14 h 121"/>
                <a:gd name="T24" fmla="*/ 77 w 121"/>
                <a:gd name="T25" fmla="*/ 3 h 121"/>
                <a:gd name="T26" fmla="*/ 73 w 121"/>
                <a:gd name="T27" fmla="*/ 3 h 121"/>
                <a:gd name="T28" fmla="*/ 61 w 121"/>
                <a:gd name="T29" fmla="*/ 11 h 121"/>
                <a:gd name="T30" fmla="*/ 56 w 121"/>
                <a:gd name="T31" fmla="*/ 0 h 121"/>
                <a:gd name="T32" fmla="*/ 55 w 121"/>
                <a:gd name="T33" fmla="*/ 2 h 121"/>
                <a:gd name="T34" fmla="*/ 46 w 121"/>
                <a:gd name="T35" fmla="*/ 13 h 121"/>
                <a:gd name="T36" fmla="*/ 38 w 121"/>
                <a:gd name="T37" fmla="*/ 4 h 121"/>
                <a:gd name="T38" fmla="*/ 37 w 121"/>
                <a:gd name="T39" fmla="*/ 7 h 121"/>
                <a:gd name="T40" fmla="*/ 32 w 121"/>
                <a:gd name="T41" fmla="*/ 20 h 121"/>
                <a:gd name="T42" fmla="*/ 22 w 121"/>
                <a:gd name="T43" fmla="*/ 14 h 121"/>
                <a:gd name="T44" fmla="*/ 21 w 121"/>
                <a:gd name="T45" fmla="*/ 17 h 121"/>
                <a:gd name="T46" fmla="*/ 21 w 121"/>
                <a:gd name="T47" fmla="*/ 31 h 121"/>
                <a:gd name="T48" fmla="*/ 9 w 121"/>
                <a:gd name="T49" fmla="*/ 28 h 121"/>
                <a:gd name="T50" fmla="*/ 10 w 121"/>
                <a:gd name="T51" fmla="*/ 31 h 121"/>
                <a:gd name="T52" fmla="*/ 14 w 121"/>
                <a:gd name="T53" fmla="*/ 45 h 121"/>
                <a:gd name="T54" fmla="*/ 2 w 121"/>
                <a:gd name="T55" fmla="*/ 46 h 121"/>
                <a:gd name="T56" fmla="*/ 3 w 121"/>
                <a:gd name="T57" fmla="*/ 48 h 121"/>
                <a:gd name="T58" fmla="*/ 11 w 121"/>
                <a:gd name="T59" fmla="*/ 60 h 121"/>
                <a:gd name="T60" fmla="*/ 0 w 121"/>
                <a:gd name="T61" fmla="*/ 65 h 121"/>
                <a:gd name="T62" fmla="*/ 2 w 121"/>
                <a:gd name="T63" fmla="*/ 67 h 121"/>
                <a:gd name="T64" fmla="*/ 14 w 121"/>
                <a:gd name="T65" fmla="*/ 75 h 121"/>
                <a:gd name="T66" fmla="*/ 4 w 121"/>
                <a:gd name="T67" fmla="*/ 83 h 121"/>
                <a:gd name="T68" fmla="*/ 7 w 121"/>
                <a:gd name="T69" fmla="*/ 84 h 121"/>
                <a:gd name="T70" fmla="*/ 20 w 121"/>
                <a:gd name="T71" fmla="*/ 89 h 121"/>
                <a:gd name="T72" fmla="*/ 14 w 121"/>
                <a:gd name="T73" fmla="*/ 98 h 121"/>
                <a:gd name="T74" fmla="*/ 17 w 121"/>
                <a:gd name="T75" fmla="*/ 100 h 121"/>
                <a:gd name="T76" fmla="*/ 31 w 121"/>
                <a:gd name="T77" fmla="*/ 100 h 121"/>
                <a:gd name="T78" fmla="*/ 28 w 121"/>
                <a:gd name="T79" fmla="*/ 110 h 121"/>
                <a:gd name="T80" fmla="*/ 31 w 121"/>
                <a:gd name="T81" fmla="*/ 112 h 121"/>
                <a:gd name="T82" fmla="*/ 45 w 121"/>
                <a:gd name="T83" fmla="*/ 107 h 121"/>
                <a:gd name="T84" fmla="*/ 45 w 121"/>
                <a:gd name="T85" fmla="*/ 118 h 121"/>
                <a:gd name="T86" fmla="*/ 49 w 121"/>
                <a:gd name="T87" fmla="*/ 118 h 121"/>
                <a:gd name="T88" fmla="*/ 60 w 121"/>
                <a:gd name="T89" fmla="*/ 110 h 121"/>
                <a:gd name="T90" fmla="*/ 65 w 121"/>
                <a:gd name="T91" fmla="*/ 121 h 121"/>
                <a:gd name="T92" fmla="*/ 67 w 121"/>
                <a:gd name="T93" fmla="*/ 119 h 121"/>
                <a:gd name="T94" fmla="*/ 68 w 121"/>
                <a:gd name="T95" fmla="*/ 109 h 121"/>
                <a:gd name="T96" fmla="*/ 81 w 121"/>
                <a:gd name="T97" fmla="*/ 116 h 121"/>
                <a:gd name="T98" fmla="*/ 85 w 121"/>
                <a:gd name="T99" fmla="*/ 115 h 121"/>
                <a:gd name="T100" fmla="*/ 83 w 121"/>
                <a:gd name="T101" fmla="*/ 104 h 121"/>
                <a:gd name="T102" fmla="*/ 97 w 121"/>
                <a:gd name="T103" fmla="*/ 107 h 121"/>
                <a:gd name="T104" fmla="*/ 101 w 121"/>
                <a:gd name="T105" fmla="*/ 106 h 121"/>
                <a:gd name="T106" fmla="*/ 96 w 121"/>
                <a:gd name="T107" fmla="*/ 95 h 121"/>
                <a:gd name="T108" fmla="*/ 110 w 121"/>
                <a:gd name="T109" fmla="*/ 93 h 121"/>
                <a:gd name="T110" fmla="*/ 113 w 121"/>
                <a:gd name="T111" fmla="*/ 92 h 121"/>
                <a:gd name="T112" fmla="*/ 105 w 121"/>
                <a:gd name="T113" fmla="*/ 83 h 121"/>
                <a:gd name="T114" fmla="*/ 117 w 121"/>
                <a:gd name="T115" fmla="*/ 77 h 121"/>
                <a:gd name="T116" fmla="*/ 120 w 121"/>
                <a:gd name="T117" fmla="*/ 75 h 121"/>
                <a:gd name="T118" fmla="*/ 109 w 121"/>
                <a:gd name="T119" fmla="*/ 68 h 121"/>
                <a:gd name="T120" fmla="*/ 120 w 121"/>
                <a:gd name="T121" fmla="*/ 58 h 121"/>
                <a:gd name="T122" fmla="*/ 50 w 121"/>
                <a:gd name="T123" fmla="*/ 61 h 121"/>
                <a:gd name="T124" fmla="*/ 72 w 121"/>
                <a:gd name="T125" fmla="*/ 6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1" h="121">
                  <a:moveTo>
                    <a:pt x="120" y="58"/>
                  </a:moveTo>
                  <a:cubicBezTo>
                    <a:pt x="121" y="58"/>
                    <a:pt x="121" y="57"/>
                    <a:pt x="121" y="56"/>
                  </a:cubicBezTo>
                  <a:cubicBezTo>
                    <a:pt x="121" y="56"/>
                    <a:pt x="121" y="56"/>
                    <a:pt x="121" y="56"/>
                  </a:cubicBezTo>
                  <a:cubicBezTo>
                    <a:pt x="121" y="55"/>
                    <a:pt x="120" y="54"/>
                    <a:pt x="119" y="54"/>
                  </a:cubicBezTo>
                  <a:cubicBezTo>
                    <a:pt x="110" y="53"/>
                    <a:pt x="110" y="53"/>
                    <a:pt x="110" y="53"/>
                  </a:cubicBezTo>
                  <a:cubicBezTo>
                    <a:pt x="109" y="50"/>
                    <a:pt x="109" y="48"/>
                    <a:pt x="108" y="46"/>
                  </a:cubicBezTo>
                  <a:cubicBezTo>
                    <a:pt x="116" y="40"/>
                    <a:pt x="116" y="40"/>
                    <a:pt x="116" y="40"/>
                  </a:cubicBezTo>
                  <a:cubicBezTo>
                    <a:pt x="117" y="40"/>
                    <a:pt x="117" y="39"/>
                    <a:pt x="117" y="38"/>
                  </a:cubicBezTo>
                  <a:cubicBezTo>
                    <a:pt x="117" y="38"/>
                    <a:pt x="117" y="38"/>
                    <a:pt x="117" y="38"/>
                  </a:cubicBezTo>
                  <a:cubicBezTo>
                    <a:pt x="117" y="37"/>
                    <a:pt x="116" y="36"/>
                    <a:pt x="115" y="37"/>
                  </a:cubicBezTo>
                  <a:cubicBezTo>
                    <a:pt x="105" y="38"/>
                    <a:pt x="105" y="38"/>
                    <a:pt x="105" y="38"/>
                  </a:cubicBezTo>
                  <a:cubicBezTo>
                    <a:pt x="104" y="36"/>
                    <a:pt x="102" y="34"/>
                    <a:pt x="101" y="32"/>
                  </a:cubicBezTo>
                  <a:cubicBezTo>
                    <a:pt x="107" y="24"/>
                    <a:pt x="107" y="24"/>
                    <a:pt x="107" y="24"/>
                  </a:cubicBezTo>
                  <a:cubicBezTo>
                    <a:pt x="108" y="24"/>
                    <a:pt x="108" y="23"/>
                    <a:pt x="108" y="23"/>
                  </a:cubicBezTo>
                  <a:cubicBezTo>
                    <a:pt x="108" y="22"/>
                    <a:pt x="108" y="22"/>
                    <a:pt x="107" y="21"/>
                  </a:cubicBezTo>
                  <a:cubicBezTo>
                    <a:pt x="107" y="21"/>
                    <a:pt x="105" y="20"/>
                    <a:pt x="105" y="21"/>
                  </a:cubicBezTo>
                  <a:cubicBezTo>
                    <a:pt x="96" y="26"/>
                    <a:pt x="96" y="26"/>
                    <a:pt x="96" y="26"/>
                  </a:cubicBezTo>
                  <a:cubicBezTo>
                    <a:pt x="94" y="24"/>
                    <a:pt x="92" y="22"/>
                    <a:pt x="90" y="21"/>
                  </a:cubicBezTo>
                  <a:cubicBezTo>
                    <a:pt x="94" y="12"/>
                    <a:pt x="94" y="12"/>
                    <a:pt x="94" y="12"/>
                  </a:cubicBezTo>
                  <a:cubicBezTo>
                    <a:pt x="94" y="11"/>
                    <a:pt x="94" y="11"/>
                    <a:pt x="94" y="11"/>
                  </a:cubicBezTo>
                  <a:cubicBezTo>
                    <a:pt x="94" y="10"/>
                    <a:pt x="94" y="9"/>
                    <a:pt x="93" y="9"/>
                  </a:cubicBezTo>
                  <a:cubicBezTo>
                    <a:pt x="92" y="8"/>
                    <a:pt x="91" y="9"/>
                    <a:pt x="90" y="10"/>
                  </a:cubicBezTo>
                  <a:cubicBezTo>
                    <a:pt x="83" y="17"/>
                    <a:pt x="83" y="17"/>
                    <a:pt x="83" y="17"/>
                  </a:cubicBezTo>
                  <a:cubicBezTo>
                    <a:pt x="81" y="15"/>
                    <a:pt x="79" y="15"/>
                    <a:pt x="77" y="14"/>
                  </a:cubicBezTo>
                  <a:cubicBezTo>
                    <a:pt x="77" y="4"/>
                    <a:pt x="77" y="4"/>
                    <a:pt x="77" y="4"/>
                  </a:cubicBezTo>
                  <a:cubicBezTo>
                    <a:pt x="77" y="4"/>
                    <a:pt x="77" y="4"/>
                    <a:pt x="77" y="3"/>
                  </a:cubicBezTo>
                  <a:cubicBezTo>
                    <a:pt x="77" y="2"/>
                    <a:pt x="76" y="2"/>
                    <a:pt x="75" y="1"/>
                  </a:cubicBezTo>
                  <a:cubicBezTo>
                    <a:pt x="74" y="1"/>
                    <a:pt x="73" y="2"/>
                    <a:pt x="73" y="3"/>
                  </a:cubicBezTo>
                  <a:cubicBezTo>
                    <a:pt x="69" y="12"/>
                    <a:pt x="69" y="12"/>
                    <a:pt x="69" y="12"/>
                  </a:cubicBezTo>
                  <a:cubicBezTo>
                    <a:pt x="66" y="11"/>
                    <a:pt x="64" y="11"/>
                    <a:pt x="61" y="11"/>
                  </a:cubicBezTo>
                  <a:cubicBezTo>
                    <a:pt x="59" y="2"/>
                    <a:pt x="59" y="2"/>
                    <a:pt x="59" y="2"/>
                  </a:cubicBezTo>
                  <a:cubicBezTo>
                    <a:pt x="58" y="1"/>
                    <a:pt x="58" y="0"/>
                    <a:pt x="56" y="0"/>
                  </a:cubicBezTo>
                  <a:cubicBezTo>
                    <a:pt x="55" y="0"/>
                    <a:pt x="55" y="1"/>
                    <a:pt x="55" y="2"/>
                  </a:cubicBezTo>
                  <a:cubicBezTo>
                    <a:pt x="55" y="2"/>
                    <a:pt x="55" y="2"/>
                    <a:pt x="55" y="2"/>
                  </a:cubicBezTo>
                  <a:cubicBezTo>
                    <a:pt x="53" y="12"/>
                    <a:pt x="53" y="12"/>
                    <a:pt x="53" y="12"/>
                  </a:cubicBezTo>
                  <a:cubicBezTo>
                    <a:pt x="51" y="12"/>
                    <a:pt x="48" y="13"/>
                    <a:pt x="46" y="13"/>
                  </a:cubicBezTo>
                  <a:cubicBezTo>
                    <a:pt x="40" y="5"/>
                    <a:pt x="40" y="5"/>
                    <a:pt x="40" y="5"/>
                  </a:cubicBezTo>
                  <a:cubicBezTo>
                    <a:pt x="40" y="4"/>
                    <a:pt x="39" y="4"/>
                    <a:pt x="38" y="4"/>
                  </a:cubicBezTo>
                  <a:cubicBezTo>
                    <a:pt x="37" y="4"/>
                    <a:pt x="37" y="5"/>
                    <a:pt x="37" y="6"/>
                  </a:cubicBezTo>
                  <a:cubicBezTo>
                    <a:pt x="37" y="6"/>
                    <a:pt x="37" y="6"/>
                    <a:pt x="37" y="7"/>
                  </a:cubicBezTo>
                  <a:cubicBezTo>
                    <a:pt x="38" y="17"/>
                    <a:pt x="38" y="17"/>
                    <a:pt x="38" y="17"/>
                  </a:cubicBezTo>
                  <a:cubicBezTo>
                    <a:pt x="36" y="18"/>
                    <a:pt x="34" y="19"/>
                    <a:pt x="32" y="20"/>
                  </a:cubicBezTo>
                  <a:cubicBezTo>
                    <a:pt x="24" y="14"/>
                    <a:pt x="24" y="14"/>
                    <a:pt x="24" y="14"/>
                  </a:cubicBezTo>
                  <a:cubicBezTo>
                    <a:pt x="24" y="13"/>
                    <a:pt x="22" y="13"/>
                    <a:pt x="22" y="14"/>
                  </a:cubicBezTo>
                  <a:cubicBezTo>
                    <a:pt x="21" y="14"/>
                    <a:pt x="21" y="15"/>
                    <a:pt x="21" y="15"/>
                  </a:cubicBezTo>
                  <a:cubicBezTo>
                    <a:pt x="21" y="16"/>
                    <a:pt x="21" y="16"/>
                    <a:pt x="21" y="17"/>
                  </a:cubicBezTo>
                  <a:cubicBezTo>
                    <a:pt x="26" y="26"/>
                    <a:pt x="26" y="26"/>
                    <a:pt x="26" y="26"/>
                  </a:cubicBezTo>
                  <a:cubicBezTo>
                    <a:pt x="24" y="27"/>
                    <a:pt x="23" y="29"/>
                    <a:pt x="21" y="31"/>
                  </a:cubicBezTo>
                  <a:cubicBezTo>
                    <a:pt x="12" y="28"/>
                    <a:pt x="12" y="28"/>
                    <a:pt x="12" y="28"/>
                  </a:cubicBezTo>
                  <a:cubicBezTo>
                    <a:pt x="11" y="27"/>
                    <a:pt x="10" y="27"/>
                    <a:pt x="9" y="28"/>
                  </a:cubicBezTo>
                  <a:cubicBezTo>
                    <a:pt x="9" y="29"/>
                    <a:pt x="9" y="29"/>
                    <a:pt x="9" y="29"/>
                  </a:cubicBezTo>
                  <a:cubicBezTo>
                    <a:pt x="9" y="30"/>
                    <a:pt x="9" y="31"/>
                    <a:pt x="10" y="31"/>
                  </a:cubicBezTo>
                  <a:cubicBezTo>
                    <a:pt x="17" y="38"/>
                    <a:pt x="17" y="38"/>
                    <a:pt x="17" y="38"/>
                  </a:cubicBezTo>
                  <a:cubicBezTo>
                    <a:pt x="16" y="40"/>
                    <a:pt x="15" y="42"/>
                    <a:pt x="14" y="45"/>
                  </a:cubicBezTo>
                  <a:cubicBezTo>
                    <a:pt x="4" y="44"/>
                    <a:pt x="4" y="44"/>
                    <a:pt x="4" y="44"/>
                  </a:cubicBezTo>
                  <a:cubicBezTo>
                    <a:pt x="3" y="44"/>
                    <a:pt x="2" y="45"/>
                    <a:pt x="2" y="46"/>
                  </a:cubicBezTo>
                  <a:cubicBezTo>
                    <a:pt x="2" y="46"/>
                    <a:pt x="2" y="46"/>
                    <a:pt x="2" y="46"/>
                  </a:cubicBezTo>
                  <a:cubicBezTo>
                    <a:pt x="2" y="47"/>
                    <a:pt x="2" y="48"/>
                    <a:pt x="3" y="48"/>
                  </a:cubicBezTo>
                  <a:cubicBezTo>
                    <a:pt x="12" y="53"/>
                    <a:pt x="12" y="53"/>
                    <a:pt x="12" y="53"/>
                  </a:cubicBezTo>
                  <a:cubicBezTo>
                    <a:pt x="12" y="55"/>
                    <a:pt x="11" y="57"/>
                    <a:pt x="11" y="60"/>
                  </a:cubicBezTo>
                  <a:cubicBezTo>
                    <a:pt x="2" y="63"/>
                    <a:pt x="2" y="63"/>
                    <a:pt x="2" y="63"/>
                  </a:cubicBezTo>
                  <a:cubicBezTo>
                    <a:pt x="1" y="63"/>
                    <a:pt x="0" y="64"/>
                    <a:pt x="0" y="65"/>
                  </a:cubicBezTo>
                  <a:cubicBezTo>
                    <a:pt x="0" y="65"/>
                    <a:pt x="0" y="65"/>
                    <a:pt x="0" y="65"/>
                  </a:cubicBezTo>
                  <a:cubicBezTo>
                    <a:pt x="0" y="66"/>
                    <a:pt x="1" y="67"/>
                    <a:pt x="2" y="67"/>
                  </a:cubicBezTo>
                  <a:cubicBezTo>
                    <a:pt x="12" y="68"/>
                    <a:pt x="12" y="68"/>
                    <a:pt x="12" y="68"/>
                  </a:cubicBezTo>
                  <a:cubicBezTo>
                    <a:pt x="12" y="71"/>
                    <a:pt x="13" y="73"/>
                    <a:pt x="14" y="75"/>
                  </a:cubicBezTo>
                  <a:cubicBezTo>
                    <a:pt x="5" y="81"/>
                    <a:pt x="5" y="81"/>
                    <a:pt x="5" y="81"/>
                  </a:cubicBezTo>
                  <a:cubicBezTo>
                    <a:pt x="5" y="81"/>
                    <a:pt x="4" y="82"/>
                    <a:pt x="4" y="83"/>
                  </a:cubicBezTo>
                  <a:cubicBezTo>
                    <a:pt x="4" y="83"/>
                    <a:pt x="4" y="83"/>
                    <a:pt x="4" y="83"/>
                  </a:cubicBezTo>
                  <a:cubicBezTo>
                    <a:pt x="5" y="84"/>
                    <a:pt x="6" y="85"/>
                    <a:pt x="7" y="84"/>
                  </a:cubicBezTo>
                  <a:cubicBezTo>
                    <a:pt x="17" y="83"/>
                    <a:pt x="17" y="83"/>
                    <a:pt x="17" y="83"/>
                  </a:cubicBezTo>
                  <a:cubicBezTo>
                    <a:pt x="18" y="85"/>
                    <a:pt x="19" y="87"/>
                    <a:pt x="20" y="89"/>
                  </a:cubicBezTo>
                  <a:cubicBezTo>
                    <a:pt x="14" y="97"/>
                    <a:pt x="14" y="97"/>
                    <a:pt x="14" y="97"/>
                  </a:cubicBezTo>
                  <a:cubicBezTo>
                    <a:pt x="14" y="97"/>
                    <a:pt x="14" y="98"/>
                    <a:pt x="14" y="98"/>
                  </a:cubicBezTo>
                  <a:cubicBezTo>
                    <a:pt x="14" y="99"/>
                    <a:pt x="14" y="99"/>
                    <a:pt x="14" y="100"/>
                  </a:cubicBezTo>
                  <a:cubicBezTo>
                    <a:pt x="15" y="100"/>
                    <a:pt x="16" y="101"/>
                    <a:pt x="17" y="100"/>
                  </a:cubicBezTo>
                  <a:cubicBezTo>
                    <a:pt x="26" y="95"/>
                    <a:pt x="26" y="95"/>
                    <a:pt x="26" y="95"/>
                  </a:cubicBezTo>
                  <a:cubicBezTo>
                    <a:pt x="28" y="97"/>
                    <a:pt x="29" y="99"/>
                    <a:pt x="31" y="100"/>
                  </a:cubicBezTo>
                  <a:cubicBezTo>
                    <a:pt x="28" y="109"/>
                    <a:pt x="28" y="109"/>
                    <a:pt x="28" y="109"/>
                  </a:cubicBezTo>
                  <a:cubicBezTo>
                    <a:pt x="28" y="110"/>
                    <a:pt x="28" y="110"/>
                    <a:pt x="28" y="110"/>
                  </a:cubicBezTo>
                  <a:cubicBezTo>
                    <a:pt x="28" y="111"/>
                    <a:pt x="28" y="112"/>
                    <a:pt x="29" y="112"/>
                  </a:cubicBezTo>
                  <a:cubicBezTo>
                    <a:pt x="30" y="113"/>
                    <a:pt x="31" y="112"/>
                    <a:pt x="31" y="112"/>
                  </a:cubicBezTo>
                  <a:cubicBezTo>
                    <a:pt x="38" y="104"/>
                    <a:pt x="38" y="104"/>
                    <a:pt x="38" y="104"/>
                  </a:cubicBezTo>
                  <a:cubicBezTo>
                    <a:pt x="40" y="106"/>
                    <a:pt x="43" y="106"/>
                    <a:pt x="45" y="107"/>
                  </a:cubicBezTo>
                  <a:cubicBezTo>
                    <a:pt x="45" y="117"/>
                    <a:pt x="45" y="117"/>
                    <a:pt x="45" y="117"/>
                  </a:cubicBezTo>
                  <a:cubicBezTo>
                    <a:pt x="45" y="117"/>
                    <a:pt x="45" y="117"/>
                    <a:pt x="45" y="118"/>
                  </a:cubicBezTo>
                  <a:cubicBezTo>
                    <a:pt x="45" y="119"/>
                    <a:pt x="45" y="119"/>
                    <a:pt x="46" y="120"/>
                  </a:cubicBezTo>
                  <a:cubicBezTo>
                    <a:pt x="47" y="120"/>
                    <a:pt x="48" y="119"/>
                    <a:pt x="49" y="118"/>
                  </a:cubicBezTo>
                  <a:cubicBezTo>
                    <a:pt x="53" y="109"/>
                    <a:pt x="53" y="109"/>
                    <a:pt x="53" y="109"/>
                  </a:cubicBezTo>
                  <a:cubicBezTo>
                    <a:pt x="55" y="110"/>
                    <a:pt x="58" y="110"/>
                    <a:pt x="60" y="110"/>
                  </a:cubicBezTo>
                  <a:cubicBezTo>
                    <a:pt x="63" y="119"/>
                    <a:pt x="63" y="119"/>
                    <a:pt x="63" y="119"/>
                  </a:cubicBezTo>
                  <a:cubicBezTo>
                    <a:pt x="63" y="120"/>
                    <a:pt x="64" y="121"/>
                    <a:pt x="65" y="121"/>
                  </a:cubicBezTo>
                  <a:cubicBezTo>
                    <a:pt x="65" y="121"/>
                    <a:pt x="65" y="121"/>
                    <a:pt x="65" y="121"/>
                  </a:cubicBezTo>
                  <a:cubicBezTo>
                    <a:pt x="66" y="121"/>
                    <a:pt x="67" y="120"/>
                    <a:pt x="67" y="119"/>
                  </a:cubicBezTo>
                  <a:cubicBezTo>
                    <a:pt x="67" y="119"/>
                    <a:pt x="67" y="119"/>
                    <a:pt x="67" y="119"/>
                  </a:cubicBezTo>
                  <a:cubicBezTo>
                    <a:pt x="68" y="109"/>
                    <a:pt x="68" y="109"/>
                    <a:pt x="68" y="109"/>
                  </a:cubicBezTo>
                  <a:cubicBezTo>
                    <a:pt x="71" y="109"/>
                    <a:pt x="73" y="108"/>
                    <a:pt x="75" y="108"/>
                  </a:cubicBezTo>
                  <a:cubicBezTo>
                    <a:pt x="81" y="116"/>
                    <a:pt x="81" y="116"/>
                    <a:pt x="81" y="116"/>
                  </a:cubicBezTo>
                  <a:cubicBezTo>
                    <a:pt x="82" y="117"/>
                    <a:pt x="83" y="117"/>
                    <a:pt x="84" y="117"/>
                  </a:cubicBezTo>
                  <a:cubicBezTo>
                    <a:pt x="84" y="117"/>
                    <a:pt x="85" y="116"/>
                    <a:pt x="85" y="115"/>
                  </a:cubicBezTo>
                  <a:cubicBezTo>
                    <a:pt x="85" y="115"/>
                    <a:pt x="85" y="115"/>
                    <a:pt x="85" y="114"/>
                  </a:cubicBezTo>
                  <a:cubicBezTo>
                    <a:pt x="83" y="104"/>
                    <a:pt x="83" y="104"/>
                    <a:pt x="83" y="104"/>
                  </a:cubicBezTo>
                  <a:cubicBezTo>
                    <a:pt x="85" y="103"/>
                    <a:pt x="87" y="102"/>
                    <a:pt x="89" y="101"/>
                  </a:cubicBezTo>
                  <a:cubicBezTo>
                    <a:pt x="97" y="107"/>
                    <a:pt x="97" y="107"/>
                    <a:pt x="97" y="107"/>
                  </a:cubicBezTo>
                  <a:cubicBezTo>
                    <a:pt x="98" y="108"/>
                    <a:pt x="99" y="108"/>
                    <a:pt x="100" y="107"/>
                  </a:cubicBezTo>
                  <a:cubicBezTo>
                    <a:pt x="100" y="107"/>
                    <a:pt x="101" y="106"/>
                    <a:pt x="101" y="106"/>
                  </a:cubicBezTo>
                  <a:cubicBezTo>
                    <a:pt x="101" y="105"/>
                    <a:pt x="100" y="105"/>
                    <a:pt x="100" y="104"/>
                  </a:cubicBezTo>
                  <a:cubicBezTo>
                    <a:pt x="96" y="95"/>
                    <a:pt x="96" y="95"/>
                    <a:pt x="96" y="95"/>
                  </a:cubicBezTo>
                  <a:cubicBezTo>
                    <a:pt x="97" y="94"/>
                    <a:pt x="99" y="92"/>
                    <a:pt x="100" y="90"/>
                  </a:cubicBezTo>
                  <a:cubicBezTo>
                    <a:pt x="110" y="93"/>
                    <a:pt x="110" y="93"/>
                    <a:pt x="110" y="93"/>
                  </a:cubicBezTo>
                  <a:cubicBezTo>
                    <a:pt x="111" y="94"/>
                    <a:pt x="112" y="94"/>
                    <a:pt x="112" y="93"/>
                  </a:cubicBezTo>
                  <a:cubicBezTo>
                    <a:pt x="113" y="92"/>
                    <a:pt x="113" y="92"/>
                    <a:pt x="113" y="92"/>
                  </a:cubicBezTo>
                  <a:cubicBezTo>
                    <a:pt x="113" y="91"/>
                    <a:pt x="112" y="90"/>
                    <a:pt x="112" y="90"/>
                  </a:cubicBezTo>
                  <a:cubicBezTo>
                    <a:pt x="105" y="83"/>
                    <a:pt x="105" y="83"/>
                    <a:pt x="105" y="83"/>
                  </a:cubicBezTo>
                  <a:cubicBezTo>
                    <a:pt x="106" y="81"/>
                    <a:pt x="107" y="79"/>
                    <a:pt x="107" y="76"/>
                  </a:cubicBezTo>
                  <a:cubicBezTo>
                    <a:pt x="117" y="77"/>
                    <a:pt x="117" y="77"/>
                    <a:pt x="117" y="77"/>
                  </a:cubicBezTo>
                  <a:cubicBezTo>
                    <a:pt x="118" y="77"/>
                    <a:pt x="120" y="76"/>
                    <a:pt x="120" y="75"/>
                  </a:cubicBezTo>
                  <a:cubicBezTo>
                    <a:pt x="120" y="75"/>
                    <a:pt x="120" y="75"/>
                    <a:pt x="120" y="75"/>
                  </a:cubicBezTo>
                  <a:cubicBezTo>
                    <a:pt x="120" y="74"/>
                    <a:pt x="119" y="73"/>
                    <a:pt x="118" y="73"/>
                  </a:cubicBezTo>
                  <a:cubicBezTo>
                    <a:pt x="109" y="68"/>
                    <a:pt x="109" y="68"/>
                    <a:pt x="109" y="68"/>
                  </a:cubicBezTo>
                  <a:cubicBezTo>
                    <a:pt x="110" y="66"/>
                    <a:pt x="110" y="64"/>
                    <a:pt x="110" y="61"/>
                  </a:cubicBezTo>
                  <a:lnTo>
                    <a:pt x="120" y="58"/>
                  </a:lnTo>
                  <a:close/>
                  <a:moveTo>
                    <a:pt x="61" y="72"/>
                  </a:moveTo>
                  <a:cubicBezTo>
                    <a:pt x="55" y="72"/>
                    <a:pt x="50" y="67"/>
                    <a:pt x="50" y="61"/>
                  </a:cubicBezTo>
                  <a:cubicBezTo>
                    <a:pt x="50" y="54"/>
                    <a:pt x="55" y="49"/>
                    <a:pt x="61" y="49"/>
                  </a:cubicBezTo>
                  <a:cubicBezTo>
                    <a:pt x="67" y="49"/>
                    <a:pt x="72" y="54"/>
                    <a:pt x="72" y="61"/>
                  </a:cubicBezTo>
                  <a:cubicBezTo>
                    <a:pt x="72" y="67"/>
                    <a:pt x="67" y="72"/>
                    <a:pt x="61"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9" tIns="34294" rIns="68589" bIns="34294"/>
            <a:lstStyle/>
            <a:p>
              <a:pPr fontAlgn="auto">
                <a:spcBef>
                  <a:spcPts val="0"/>
                </a:spcBef>
                <a:spcAft>
                  <a:spcPts val="0"/>
                </a:spcAft>
                <a:defRPr/>
              </a:pPr>
              <a:endParaRPr lang="en-US" sz="1350" dirty="0">
                <a:latin typeface="+mn-lt"/>
                <a:ea typeface="+mn-ea"/>
              </a:endParaRPr>
            </a:p>
          </p:txBody>
        </p:sp>
        <p:sp>
          <p:nvSpPr>
            <p:cNvPr id="30" name="Oval 21"/>
            <p:cNvSpPr>
              <a:spLocks noChangeArrowheads="1"/>
            </p:cNvSpPr>
            <p:nvPr/>
          </p:nvSpPr>
          <p:spPr bwMode="auto">
            <a:xfrm>
              <a:off x="-1055688" y="2462213"/>
              <a:ext cx="171450" cy="1714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9" tIns="34294" rIns="68589" bIns="34294"/>
            <a:lstStyle/>
            <a:p>
              <a:pPr fontAlgn="auto">
                <a:spcBef>
                  <a:spcPts val="0"/>
                </a:spcBef>
                <a:spcAft>
                  <a:spcPts val="0"/>
                </a:spcAft>
                <a:defRPr/>
              </a:pPr>
              <a:endParaRPr lang="en-US" sz="1350" dirty="0">
                <a:latin typeface="+mn-lt"/>
                <a:ea typeface="+mn-ea"/>
              </a:endParaRPr>
            </a:p>
          </p:txBody>
        </p:sp>
        <p:sp>
          <p:nvSpPr>
            <p:cNvPr id="31" name="Oval 22"/>
            <p:cNvSpPr>
              <a:spLocks noChangeArrowheads="1"/>
            </p:cNvSpPr>
            <p:nvPr/>
          </p:nvSpPr>
          <p:spPr bwMode="auto">
            <a:xfrm>
              <a:off x="-1776413" y="2792413"/>
              <a:ext cx="115888" cy="1190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9" tIns="34294" rIns="68589" bIns="34294"/>
            <a:lstStyle/>
            <a:p>
              <a:pPr fontAlgn="auto">
                <a:spcBef>
                  <a:spcPts val="0"/>
                </a:spcBef>
                <a:spcAft>
                  <a:spcPts val="0"/>
                </a:spcAft>
                <a:defRPr/>
              </a:pPr>
              <a:endParaRPr lang="en-US" sz="1350" dirty="0">
                <a:latin typeface="+mn-lt"/>
                <a:ea typeface="+mn-ea"/>
              </a:endParaRPr>
            </a:p>
          </p:txBody>
        </p:sp>
        <p:sp>
          <p:nvSpPr>
            <p:cNvPr id="32" name="Freeform 23"/>
            <p:cNvSpPr>
              <a:spLocks noEditPoints="1"/>
            </p:cNvSpPr>
            <p:nvPr/>
          </p:nvSpPr>
          <p:spPr bwMode="auto">
            <a:xfrm>
              <a:off x="-2773363" y="2439988"/>
              <a:ext cx="2692401" cy="2659063"/>
            </a:xfrm>
            <a:custGeom>
              <a:avLst/>
              <a:gdLst>
                <a:gd name="T0" fmla="*/ 605 w 718"/>
                <a:gd name="T1" fmla="*/ 20 h 709"/>
                <a:gd name="T2" fmla="*/ 602 w 718"/>
                <a:gd name="T3" fmla="*/ 58 h 709"/>
                <a:gd name="T4" fmla="*/ 587 w 718"/>
                <a:gd name="T5" fmla="*/ 93 h 709"/>
                <a:gd name="T6" fmla="*/ 563 w 718"/>
                <a:gd name="T7" fmla="*/ 121 h 709"/>
                <a:gd name="T8" fmla="*/ 530 w 718"/>
                <a:gd name="T9" fmla="*/ 141 h 709"/>
                <a:gd name="T10" fmla="*/ 493 w 718"/>
                <a:gd name="T11" fmla="*/ 149 h 709"/>
                <a:gd name="T12" fmla="*/ 456 w 718"/>
                <a:gd name="T13" fmla="*/ 147 h 709"/>
                <a:gd name="T14" fmla="*/ 420 w 718"/>
                <a:gd name="T15" fmla="*/ 134 h 709"/>
                <a:gd name="T16" fmla="*/ 391 w 718"/>
                <a:gd name="T17" fmla="*/ 110 h 709"/>
                <a:gd name="T18" fmla="*/ 371 w 718"/>
                <a:gd name="T19" fmla="*/ 78 h 709"/>
                <a:gd name="T20" fmla="*/ 361 w 718"/>
                <a:gd name="T21" fmla="*/ 42 h 709"/>
                <a:gd name="T22" fmla="*/ 363 w 718"/>
                <a:gd name="T23" fmla="*/ 4 h 709"/>
                <a:gd name="T24" fmla="*/ 68 w 718"/>
                <a:gd name="T25" fmla="*/ 221 h 709"/>
                <a:gd name="T26" fmla="*/ 162 w 718"/>
                <a:gd name="T27" fmla="*/ 514 h 709"/>
                <a:gd name="T28" fmla="*/ 334 w 718"/>
                <a:gd name="T29" fmla="*/ 176 h 709"/>
                <a:gd name="T30" fmla="*/ 311 w 718"/>
                <a:gd name="T31" fmla="*/ 189 h 709"/>
                <a:gd name="T32" fmla="*/ 288 w 718"/>
                <a:gd name="T33" fmla="*/ 197 h 709"/>
                <a:gd name="T34" fmla="*/ 258 w 718"/>
                <a:gd name="T35" fmla="*/ 192 h 709"/>
                <a:gd name="T36" fmla="*/ 234 w 718"/>
                <a:gd name="T37" fmla="*/ 181 h 709"/>
                <a:gd name="T38" fmla="*/ 214 w 718"/>
                <a:gd name="T39" fmla="*/ 164 h 709"/>
                <a:gd name="T40" fmla="*/ 201 w 718"/>
                <a:gd name="T41" fmla="*/ 141 h 709"/>
                <a:gd name="T42" fmla="*/ 195 w 718"/>
                <a:gd name="T43" fmla="*/ 116 h 709"/>
                <a:gd name="T44" fmla="*/ 197 w 718"/>
                <a:gd name="T45" fmla="*/ 89 h 709"/>
                <a:gd name="T46" fmla="*/ 207 w 718"/>
                <a:gd name="T47" fmla="*/ 64 h 709"/>
                <a:gd name="T48" fmla="*/ 225 w 718"/>
                <a:gd name="T49" fmla="*/ 43 h 709"/>
                <a:gd name="T50" fmla="*/ 249 w 718"/>
                <a:gd name="T51" fmla="*/ 29 h 709"/>
                <a:gd name="T52" fmla="*/ 275 w 718"/>
                <a:gd name="T53" fmla="*/ 23 h 709"/>
                <a:gd name="T54" fmla="*/ 305 w 718"/>
                <a:gd name="T55" fmla="*/ 28 h 709"/>
                <a:gd name="T56" fmla="*/ 329 w 718"/>
                <a:gd name="T57" fmla="*/ 38 h 709"/>
                <a:gd name="T58" fmla="*/ 349 w 718"/>
                <a:gd name="T59" fmla="*/ 55 h 709"/>
                <a:gd name="T60" fmla="*/ 362 w 718"/>
                <a:gd name="T61" fmla="*/ 78 h 709"/>
                <a:gd name="T62" fmla="*/ 368 w 718"/>
                <a:gd name="T63" fmla="*/ 104 h 709"/>
                <a:gd name="T64" fmla="*/ 366 w 718"/>
                <a:gd name="T65" fmla="*/ 131 h 709"/>
                <a:gd name="T66" fmla="*/ 356 w 718"/>
                <a:gd name="T67" fmla="*/ 156 h 709"/>
                <a:gd name="T68" fmla="*/ 338 w 718"/>
                <a:gd name="T69" fmla="*/ 176 h 709"/>
                <a:gd name="T70" fmla="*/ 451 w 718"/>
                <a:gd name="T71" fmla="*/ 208 h 709"/>
                <a:gd name="T72" fmla="*/ 444 w 718"/>
                <a:gd name="T73" fmla="*/ 224 h 709"/>
                <a:gd name="T74" fmla="*/ 433 w 718"/>
                <a:gd name="T75" fmla="*/ 237 h 709"/>
                <a:gd name="T76" fmla="*/ 418 w 718"/>
                <a:gd name="T77" fmla="*/ 247 h 709"/>
                <a:gd name="T78" fmla="*/ 401 w 718"/>
                <a:gd name="T79" fmla="*/ 251 h 709"/>
                <a:gd name="T80" fmla="*/ 383 w 718"/>
                <a:gd name="T81" fmla="*/ 250 h 709"/>
                <a:gd name="T82" fmla="*/ 367 w 718"/>
                <a:gd name="T83" fmla="*/ 243 h 709"/>
                <a:gd name="T84" fmla="*/ 353 w 718"/>
                <a:gd name="T85" fmla="*/ 232 h 709"/>
                <a:gd name="T86" fmla="*/ 343 w 718"/>
                <a:gd name="T87" fmla="*/ 217 h 709"/>
                <a:gd name="T88" fmla="*/ 339 w 718"/>
                <a:gd name="T89" fmla="*/ 200 h 709"/>
                <a:gd name="T90" fmla="*/ 340 w 718"/>
                <a:gd name="T91" fmla="*/ 183 h 709"/>
                <a:gd name="T92" fmla="*/ 346 w 718"/>
                <a:gd name="T93" fmla="*/ 166 h 709"/>
                <a:gd name="T94" fmla="*/ 357 w 718"/>
                <a:gd name="T95" fmla="*/ 153 h 709"/>
                <a:gd name="T96" fmla="*/ 372 w 718"/>
                <a:gd name="T97" fmla="*/ 143 h 709"/>
                <a:gd name="T98" fmla="*/ 389 w 718"/>
                <a:gd name="T99" fmla="*/ 138 h 709"/>
                <a:gd name="T100" fmla="*/ 407 w 718"/>
                <a:gd name="T101" fmla="*/ 139 h 709"/>
                <a:gd name="T102" fmla="*/ 423 w 718"/>
                <a:gd name="T103" fmla="*/ 146 h 709"/>
                <a:gd name="T104" fmla="*/ 437 w 718"/>
                <a:gd name="T105" fmla="*/ 157 h 709"/>
                <a:gd name="T106" fmla="*/ 446 w 718"/>
                <a:gd name="T107" fmla="*/ 172 h 709"/>
                <a:gd name="T108" fmla="*/ 451 w 718"/>
                <a:gd name="T109" fmla="*/ 18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18" h="709">
                  <a:moveTo>
                    <a:pt x="606" y="330"/>
                  </a:moveTo>
                  <a:cubicBezTo>
                    <a:pt x="718" y="140"/>
                    <a:pt x="627" y="0"/>
                    <a:pt x="627" y="0"/>
                  </a:cubicBezTo>
                  <a:cubicBezTo>
                    <a:pt x="578" y="0"/>
                    <a:pt x="578" y="0"/>
                    <a:pt x="578" y="0"/>
                  </a:cubicBezTo>
                  <a:cubicBezTo>
                    <a:pt x="579" y="4"/>
                    <a:pt x="580" y="9"/>
                    <a:pt x="581" y="13"/>
                  </a:cubicBezTo>
                  <a:cubicBezTo>
                    <a:pt x="601" y="16"/>
                    <a:pt x="601" y="16"/>
                    <a:pt x="601" y="16"/>
                  </a:cubicBezTo>
                  <a:cubicBezTo>
                    <a:pt x="603" y="16"/>
                    <a:pt x="605" y="18"/>
                    <a:pt x="605" y="20"/>
                  </a:cubicBezTo>
                  <a:cubicBezTo>
                    <a:pt x="605" y="20"/>
                    <a:pt x="605" y="20"/>
                    <a:pt x="605" y="20"/>
                  </a:cubicBezTo>
                  <a:cubicBezTo>
                    <a:pt x="605" y="23"/>
                    <a:pt x="604" y="24"/>
                    <a:pt x="601" y="24"/>
                  </a:cubicBezTo>
                  <a:cubicBezTo>
                    <a:pt x="582" y="30"/>
                    <a:pt x="582" y="30"/>
                    <a:pt x="582" y="30"/>
                  </a:cubicBezTo>
                  <a:cubicBezTo>
                    <a:pt x="582" y="35"/>
                    <a:pt x="581" y="40"/>
                    <a:pt x="581" y="45"/>
                  </a:cubicBezTo>
                  <a:cubicBezTo>
                    <a:pt x="599" y="54"/>
                    <a:pt x="599" y="54"/>
                    <a:pt x="599" y="54"/>
                  </a:cubicBezTo>
                  <a:cubicBezTo>
                    <a:pt x="601" y="55"/>
                    <a:pt x="602" y="56"/>
                    <a:pt x="602" y="58"/>
                  </a:cubicBezTo>
                  <a:cubicBezTo>
                    <a:pt x="602" y="58"/>
                    <a:pt x="602" y="59"/>
                    <a:pt x="602" y="59"/>
                  </a:cubicBezTo>
                  <a:cubicBezTo>
                    <a:pt x="601" y="61"/>
                    <a:pt x="599" y="62"/>
                    <a:pt x="597" y="62"/>
                  </a:cubicBezTo>
                  <a:cubicBezTo>
                    <a:pt x="577" y="62"/>
                    <a:pt x="577" y="62"/>
                    <a:pt x="577" y="62"/>
                  </a:cubicBezTo>
                  <a:cubicBezTo>
                    <a:pt x="575" y="66"/>
                    <a:pt x="573" y="71"/>
                    <a:pt x="571" y="75"/>
                  </a:cubicBezTo>
                  <a:cubicBezTo>
                    <a:pt x="585" y="89"/>
                    <a:pt x="585" y="89"/>
                    <a:pt x="585" y="89"/>
                  </a:cubicBezTo>
                  <a:cubicBezTo>
                    <a:pt x="587" y="90"/>
                    <a:pt x="587" y="91"/>
                    <a:pt x="587" y="93"/>
                  </a:cubicBezTo>
                  <a:cubicBezTo>
                    <a:pt x="587" y="94"/>
                    <a:pt x="587" y="94"/>
                    <a:pt x="587" y="95"/>
                  </a:cubicBezTo>
                  <a:cubicBezTo>
                    <a:pt x="585" y="97"/>
                    <a:pt x="583" y="97"/>
                    <a:pt x="581" y="96"/>
                  </a:cubicBezTo>
                  <a:cubicBezTo>
                    <a:pt x="562" y="90"/>
                    <a:pt x="562" y="90"/>
                    <a:pt x="562" y="90"/>
                  </a:cubicBezTo>
                  <a:cubicBezTo>
                    <a:pt x="559" y="94"/>
                    <a:pt x="556" y="97"/>
                    <a:pt x="552" y="101"/>
                  </a:cubicBezTo>
                  <a:cubicBezTo>
                    <a:pt x="562" y="119"/>
                    <a:pt x="562" y="119"/>
                    <a:pt x="562" y="119"/>
                  </a:cubicBezTo>
                  <a:cubicBezTo>
                    <a:pt x="562" y="120"/>
                    <a:pt x="563" y="120"/>
                    <a:pt x="563" y="121"/>
                  </a:cubicBezTo>
                  <a:cubicBezTo>
                    <a:pt x="563" y="122"/>
                    <a:pt x="562" y="124"/>
                    <a:pt x="561" y="124"/>
                  </a:cubicBezTo>
                  <a:cubicBezTo>
                    <a:pt x="559" y="126"/>
                    <a:pt x="557" y="126"/>
                    <a:pt x="555" y="124"/>
                  </a:cubicBezTo>
                  <a:cubicBezTo>
                    <a:pt x="539" y="112"/>
                    <a:pt x="539" y="112"/>
                    <a:pt x="539" y="112"/>
                  </a:cubicBezTo>
                  <a:cubicBezTo>
                    <a:pt x="535" y="114"/>
                    <a:pt x="531" y="117"/>
                    <a:pt x="527" y="119"/>
                  </a:cubicBezTo>
                  <a:cubicBezTo>
                    <a:pt x="530" y="139"/>
                    <a:pt x="530" y="139"/>
                    <a:pt x="530" y="139"/>
                  </a:cubicBezTo>
                  <a:cubicBezTo>
                    <a:pt x="530" y="140"/>
                    <a:pt x="530" y="140"/>
                    <a:pt x="530" y="141"/>
                  </a:cubicBezTo>
                  <a:cubicBezTo>
                    <a:pt x="530" y="142"/>
                    <a:pt x="529" y="144"/>
                    <a:pt x="528" y="145"/>
                  </a:cubicBezTo>
                  <a:cubicBezTo>
                    <a:pt x="526" y="145"/>
                    <a:pt x="523" y="144"/>
                    <a:pt x="522" y="142"/>
                  </a:cubicBezTo>
                  <a:cubicBezTo>
                    <a:pt x="511" y="126"/>
                    <a:pt x="511" y="126"/>
                    <a:pt x="511" y="126"/>
                  </a:cubicBezTo>
                  <a:cubicBezTo>
                    <a:pt x="506" y="127"/>
                    <a:pt x="501" y="128"/>
                    <a:pt x="497" y="129"/>
                  </a:cubicBezTo>
                  <a:cubicBezTo>
                    <a:pt x="493" y="149"/>
                    <a:pt x="493" y="149"/>
                    <a:pt x="493" y="149"/>
                  </a:cubicBezTo>
                  <a:cubicBezTo>
                    <a:pt x="493" y="149"/>
                    <a:pt x="493" y="149"/>
                    <a:pt x="493" y="149"/>
                  </a:cubicBezTo>
                  <a:cubicBezTo>
                    <a:pt x="493" y="151"/>
                    <a:pt x="492" y="153"/>
                    <a:pt x="490" y="153"/>
                  </a:cubicBezTo>
                  <a:cubicBezTo>
                    <a:pt x="490" y="153"/>
                    <a:pt x="490" y="153"/>
                    <a:pt x="489" y="153"/>
                  </a:cubicBezTo>
                  <a:cubicBezTo>
                    <a:pt x="487" y="153"/>
                    <a:pt x="486" y="152"/>
                    <a:pt x="485" y="150"/>
                  </a:cubicBezTo>
                  <a:cubicBezTo>
                    <a:pt x="479" y="130"/>
                    <a:pt x="479" y="130"/>
                    <a:pt x="479" y="130"/>
                  </a:cubicBezTo>
                  <a:cubicBezTo>
                    <a:pt x="475" y="130"/>
                    <a:pt x="470" y="130"/>
                    <a:pt x="465" y="129"/>
                  </a:cubicBezTo>
                  <a:cubicBezTo>
                    <a:pt x="456" y="147"/>
                    <a:pt x="456" y="147"/>
                    <a:pt x="456" y="147"/>
                  </a:cubicBezTo>
                  <a:cubicBezTo>
                    <a:pt x="455" y="149"/>
                    <a:pt x="453" y="151"/>
                    <a:pt x="451" y="150"/>
                  </a:cubicBezTo>
                  <a:cubicBezTo>
                    <a:pt x="449" y="150"/>
                    <a:pt x="448" y="148"/>
                    <a:pt x="448" y="146"/>
                  </a:cubicBezTo>
                  <a:cubicBezTo>
                    <a:pt x="448" y="146"/>
                    <a:pt x="448" y="146"/>
                    <a:pt x="448" y="145"/>
                  </a:cubicBezTo>
                  <a:cubicBezTo>
                    <a:pt x="448" y="125"/>
                    <a:pt x="448" y="125"/>
                    <a:pt x="448" y="125"/>
                  </a:cubicBezTo>
                  <a:cubicBezTo>
                    <a:pt x="444" y="123"/>
                    <a:pt x="439" y="121"/>
                    <a:pt x="435" y="119"/>
                  </a:cubicBezTo>
                  <a:cubicBezTo>
                    <a:pt x="420" y="134"/>
                    <a:pt x="420" y="134"/>
                    <a:pt x="420" y="134"/>
                  </a:cubicBezTo>
                  <a:cubicBezTo>
                    <a:pt x="419" y="135"/>
                    <a:pt x="417" y="136"/>
                    <a:pt x="415" y="135"/>
                  </a:cubicBezTo>
                  <a:cubicBezTo>
                    <a:pt x="414" y="134"/>
                    <a:pt x="413" y="133"/>
                    <a:pt x="413" y="131"/>
                  </a:cubicBezTo>
                  <a:cubicBezTo>
                    <a:pt x="413" y="131"/>
                    <a:pt x="413" y="130"/>
                    <a:pt x="414" y="129"/>
                  </a:cubicBezTo>
                  <a:cubicBezTo>
                    <a:pt x="420" y="110"/>
                    <a:pt x="420" y="110"/>
                    <a:pt x="420" y="110"/>
                  </a:cubicBezTo>
                  <a:cubicBezTo>
                    <a:pt x="416" y="107"/>
                    <a:pt x="413" y="104"/>
                    <a:pt x="409" y="101"/>
                  </a:cubicBezTo>
                  <a:cubicBezTo>
                    <a:pt x="391" y="110"/>
                    <a:pt x="391" y="110"/>
                    <a:pt x="391" y="110"/>
                  </a:cubicBezTo>
                  <a:cubicBezTo>
                    <a:pt x="389" y="111"/>
                    <a:pt x="387" y="111"/>
                    <a:pt x="386" y="109"/>
                  </a:cubicBezTo>
                  <a:cubicBezTo>
                    <a:pt x="385" y="109"/>
                    <a:pt x="385" y="108"/>
                    <a:pt x="385" y="107"/>
                  </a:cubicBezTo>
                  <a:cubicBezTo>
                    <a:pt x="385" y="106"/>
                    <a:pt x="385" y="104"/>
                    <a:pt x="386" y="104"/>
                  </a:cubicBezTo>
                  <a:cubicBezTo>
                    <a:pt x="398" y="87"/>
                    <a:pt x="398" y="87"/>
                    <a:pt x="398" y="87"/>
                  </a:cubicBezTo>
                  <a:cubicBezTo>
                    <a:pt x="395" y="83"/>
                    <a:pt x="393" y="79"/>
                    <a:pt x="391" y="75"/>
                  </a:cubicBezTo>
                  <a:cubicBezTo>
                    <a:pt x="371" y="78"/>
                    <a:pt x="371" y="78"/>
                    <a:pt x="371" y="78"/>
                  </a:cubicBezTo>
                  <a:cubicBezTo>
                    <a:pt x="369" y="79"/>
                    <a:pt x="366" y="78"/>
                    <a:pt x="365" y="76"/>
                  </a:cubicBezTo>
                  <a:cubicBezTo>
                    <a:pt x="365" y="75"/>
                    <a:pt x="365" y="75"/>
                    <a:pt x="365" y="74"/>
                  </a:cubicBezTo>
                  <a:cubicBezTo>
                    <a:pt x="365" y="73"/>
                    <a:pt x="366" y="71"/>
                    <a:pt x="368" y="71"/>
                  </a:cubicBezTo>
                  <a:cubicBezTo>
                    <a:pt x="384" y="59"/>
                    <a:pt x="384" y="59"/>
                    <a:pt x="384" y="59"/>
                  </a:cubicBezTo>
                  <a:cubicBezTo>
                    <a:pt x="383" y="54"/>
                    <a:pt x="382" y="50"/>
                    <a:pt x="381" y="45"/>
                  </a:cubicBezTo>
                  <a:cubicBezTo>
                    <a:pt x="361" y="42"/>
                    <a:pt x="361" y="42"/>
                    <a:pt x="361" y="42"/>
                  </a:cubicBezTo>
                  <a:cubicBezTo>
                    <a:pt x="359" y="42"/>
                    <a:pt x="357" y="40"/>
                    <a:pt x="357" y="38"/>
                  </a:cubicBezTo>
                  <a:cubicBezTo>
                    <a:pt x="357" y="38"/>
                    <a:pt x="357" y="38"/>
                    <a:pt x="357" y="38"/>
                  </a:cubicBezTo>
                  <a:cubicBezTo>
                    <a:pt x="357" y="36"/>
                    <a:pt x="358" y="34"/>
                    <a:pt x="360" y="34"/>
                  </a:cubicBezTo>
                  <a:cubicBezTo>
                    <a:pt x="380" y="28"/>
                    <a:pt x="380" y="28"/>
                    <a:pt x="380" y="28"/>
                  </a:cubicBezTo>
                  <a:cubicBezTo>
                    <a:pt x="380" y="23"/>
                    <a:pt x="380" y="18"/>
                    <a:pt x="381" y="13"/>
                  </a:cubicBezTo>
                  <a:cubicBezTo>
                    <a:pt x="363" y="4"/>
                    <a:pt x="363" y="4"/>
                    <a:pt x="363" y="4"/>
                  </a:cubicBezTo>
                  <a:cubicBezTo>
                    <a:pt x="361" y="4"/>
                    <a:pt x="360" y="2"/>
                    <a:pt x="360" y="0"/>
                  </a:cubicBezTo>
                  <a:cubicBezTo>
                    <a:pt x="360" y="0"/>
                    <a:pt x="360" y="0"/>
                    <a:pt x="360" y="0"/>
                  </a:cubicBezTo>
                  <a:cubicBezTo>
                    <a:pt x="110" y="0"/>
                    <a:pt x="110" y="0"/>
                    <a:pt x="110" y="0"/>
                  </a:cubicBezTo>
                  <a:cubicBezTo>
                    <a:pt x="103" y="41"/>
                    <a:pt x="83" y="85"/>
                    <a:pt x="83" y="85"/>
                  </a:cubicBezTo>
                  <a:cubicBezTo>
                    <a:pt x="71" y="115"/>
                    <a:pt x="79" y="137"/>
                    <a:pt x="79" y="137"/>
                  </a:cubicBezTo>
                  <a:cubicBezTo>
                    <a:pt x="103" y="178"/>
                    <a:pt x="84" y="200"/>
                    <a:pt x="68" y="221"/>
                  </a:cubicBezTo>
                  <a:cubicBezTo>
                    <a:pt x="53" y="242"/>
                    <a:pt x="0" y="315"/>
                    <a:pt x="51" y="317"/>
                  </a:cubicBezTo>
                  <a:cubicBezTo>
                    <a:pt x="99" y="318"/>
                    <a:pt x="84" y="334"/>
                    <a:pt x="84" y="334"/>
                  </a:cubicBezTo>
                  <a:cubicBezTo>
                    <a:pt x="63" y="380"/>
                    <a:pt x="96" y="381"/>
                    <a:pt x="96" y="381"/>
                  </a:cubicBezTo>
                  <a:cubicBezTo>
                    <a:pt x="81" y="408"/>
                    <a:pt x="103" y="409"/>
                    <a:pt x="103" y="409"/>
                  </a:cubicBezTo>
                  <a:cubicBezTo>
                    <a:pt x="135" y="409"/>
                    <a:pt x="118" y="438"/>
                    <a:pt x="118" y="438"/>
                  </a:cubicBezTo>
                  <a:cubicBezTo>
                    <a:pt x="79" y="481"/>
                    <a:pt x="113" y="524"/>
                    <a:pt x="162" y="514"/>
                  </a:cubicBezTo>
                  <a:cubicBezTo>
                    <a:pt x="259" y="494"/>
                    <a:pt x="309" y="527"/>
                    <a:pt x="286" y="597"/>
                  </a:cubicBezTo>
                  <a:cubicBezTo>
                    <a:pt x="263" y="666"/>
                    <a:pt x="232" y="709"/>
                    <a:pt x="232" y="709"/>
                  </a:cubicBezTo>
                  <a:cubicBezTo>
                    <a:pt x="659" y="709"/>
                    <a:pt x="659" y="709"/>
                    <a:pt x="659" y="709"/>
                  </a:cubicBezTo>
                  <a:cubicBezTo>
                    <a:pt x="568" y="521"/>
                    <a:pt x="568" y="521"/>
                    <a:pt x="568" y="521"/>
                  </a:cubicBezTo>
                  <a:cubicBezTo>
                    <a:pt x="540" y="458"/>
                    <a:pt x="606" y="330"/>
                    <a:pt x="606" y="330"/>
                  </a:cubicBezTo>
                  <a:close/>
                  <a:moveTo>
                    <a:pt x="334" y="176"/>
                  </a:moveTo>
                  <a:cubicBezTo>
                    <a:pt x="322" y="168"/>
                    <a:pt x="322" y="168"/>
                    <a:pt x="322" y="168"/>
                  </a:cubicBezTo>
                  <a:cubicBezTo>
                    <a:pt x="320" y="169"/>
                    <a:pt x="317" y="171"/>
                    <a:pt x="314" y="173"/>
                  </a:cubicBezTo>
                  <a:cubicBezTo>
                    <a:pt x="316" y="187"/>
                    <a:pt x="316" y="187"/>
                    <a:pt x="316" y="187"/>
                  </a:cubicBezTo>
                  <a:cubicBezTo>
                    <a:pt x="316" y="187"/>
                    <a:pt x="316" y="188"/>
                    <a:pt x="316" y="188"/>
                  </a:cubicBezTo>
                  <a:cubicBezTo>
                    <a:pt x="316" y="189"/>
                    <a:pt x="315" y="190"/>
                    <a:pt x="314" y="191"/>
                  </a:cubicBezTo>
                  <a:cubicBezTo>
                    <a:pt x="313" y="191"/>
                    <a:pt x="311" y="190"/>
                    <a:pt x="311" y="189"/>
                  </a:cubicBezTo>
                  <a:cubicBezTo>
                    <a:pt x="302" y="177"/>
                    <a:pt x="302" y="177"/>
                    <a:pt x="302" y="177"/>
                  </a:cubicBezTo>
                  <a:cubicBezTo>
                    <a:pt x="299" y="178"/>
                    <a:pt x="296" y="179"/>
                    <a:pt x="293" y="180"/>
                  </a:cubicBezTo>
                  <a:cubicBezTo>
                    <a:pt x="290" y="194"/>
                    <a:pt x="290" y="194"/>
                    <a:pt x="290" y="194"/>
                  </a:cubicBezTo>
                  <a:cubicBezTo>
                    <a:pt x="290" y="194"/>
                    <a:pt x="290" y="194"/>
                    <a:pt x="290" y="194"/>
                  </a:cubicBezTo>
                  <a:cubicBezTo>
                    <a:pt x="290" y="195"/>
                    <a:pt x="289" y="197"/>
                    <a:pt x="288" y="197"/>
                  </a:cubicBezTo>
                  <a:cubicBezTo>
                    <a:pt x="288" y="197"/>
                    <a:pt x="288" y="197"/>
                    <a:pt x="288" y="197"/>
                  </a:cubicBezTo>
                  <a:cubicBezTo>
                    <a:pt x="286" y="197"/>
                    <a:pt x="285" y="196"/>
                    <a:pt x="285" y="194"/>
                  </a:cubicBezTo>
                  <a:cubicBezTo>
                    <a:pt x="281" y="180"/>
                    <a:pt x="281" y="180"/>
                    <a:pt x="281" y="180"/>
                  </a:cubicBezTo>
                  <a:cubicBezTo>
                    <a:pt x="277" y="180"/>
                    <a:pt x="274" y="180"/>
                    <a:pt x="270" y="180"/>
                  </a:cubicBezTo>
                  <a:cubicBezTo>
                    <a:pt x="264" y="192"/>
                    <a:pt x="264" y="192"/>
                    <a:pt x="264" y="192"/>
                  </a:cubicBezTo>
                  <a:cubicBezTo>
                    <a:pt x="264" y="194"/>
                    <a:pt x="262" y="195"/>
                    <a:pt x="261" y="194"/>
                  </a:cubicBezTo>
                  <a:cubicBezTo>
                    <a:pt x="259" y="194"/>
                    <a:pt x="258" y="193"/>
                    <a:pt x="258" y="192"/>
                  </a:cubicBezTo>
                  <a:cubicBezTo>
                    <a:pt x="258" y="191"/>
                    <a:pt x="258" y="191"/>
                    <a:pt x="259" y="191"/>
                  </a:cubicBezTo>
                  <a:cubicBezTo>
                    <a:pt x="259" y="177"/>
                    <a:pt x="259" y="177"/>
                    <a:pt x="259" y="177"/>
                  </a:cubicBezTo>
                  <a:cubicBezTo>
                    <a:pt x="255" y="176"/>
                    <a:pt x="252" y="174"/>
                    <a:pt x="249" y="173"/>
                  </a:cubicBezTo>
                  <a:cubicBezTo>
                    <a:pt x="239" y="183"/>
                    <a:pt x="239" y="183"/>
                    <a:pt x="239" y="183"/>
                  </a:cubicBezTo>
                  <a:cubicBezTo>
                    <a:pt x="238" y="184"/>
                    <a:pt x="237" y="185"/>
                    <a:pt x="235" y="184"/>
                  </a:cubicBezTo>
                  <a:cubicBezTo>
                    <a:pt x="235" y="183"/>
                    <a:pt x="234" y="182"/>
                    <a:pt x="234" y="181"/>
                  </a:cubicBezTo>
                  <a:cubicBezTo>
                    <a:pt x="234" y="181"/>
                    <a:pt x="234" y="180"/>
                    <a:pt x="235" y="180"/>
                  </a:cubicBezTo>
                  <a:cubicBezTo>
                    <a:pt x="239" y="166"/>
                    <a:pt x="239" y="166"/>
                    <a:pt x="239" y="166"/>
                  </a:cubicBezTo>
                  <a:cubicBezTo>
                    <a:pt x="236" y="164"/>
                    <a:pt x="234" y="162"/>
                    <a:pt x="231" y="160"/>
                  </a:cubicBezTo>
                  <a:cubicBezTo>
                    <a:pt x="219" y="166"/>
                    <a:pt x="219" y="166"/>
                    <a:pt x="219" y="166"/>
                  </a:cubicBezTo>
                  <a:cubicBezTo>
                    <a:pt x="218" y="167"/>
                    <a:pt x="216" y="167"/>
                    <a:pt x="215" y="166"/>
                  </a:cubicBezTo>
                  <a:cubicBezTo>
                    <a:pt x="214" y="165"/>
                    <a:pt x="214" y="165"/>
                    <a:pt x="214" y="164"/>
                  </a:cubicBezTo>
                  <a:cubicBezTo>
                    <a:pt x="214" y="163"/>
                    <a:pt x="214" y="163"/>
                    <a:pt x="215" y="162"/>
                  </a:cubicBezTo>
                  <a:cubicBezTo>
                    <a:pt x="224" y="151"/>
                    <a:pt x="224" y="151"/>
                    <a:pt x="224" y="151"/>
                  </a:cubicBezTo>
                  <a:cubicBezTo>
                    <a:pt x="222" y="148"/>
                    <a:pt x="220" y="145"/>
                    <a:pt x="218" y="142"/>
                  </a:cubicBezTo>
                  <a:cubicBezTo>
                    <a:pt x="204" y="144"/>
                    <a:pt x="204" y="144"/>
                    <a:pt x="204" y="144"/>
                  </a:cubicBezTo>
                  <a:cubicBezTo>
                    <a:pt x="203" y="145"/>
                    <a:pt x="201" y="144"/>
                    <a:pt x="201" y="143"/>
                  </a:cubicBezTo>
                  <a:cubicBezTo>
                    <a:pt x="201" y="142"/>
                    <a:pt x="201" y="142"/>
                    <a:pt x="201" y="141"/>
                  </a:cubicBezTo>
                  <a:cubicBezTo>
                    <a:pt x="201" y="140"/>
                    <a:pt x="201" y="139"/>
                    <a:pt x="202" y="139"/>
                  </a:cubicBezTo>
                  <a:cubicBezTo>
                    <a:pt x="214" y="131"/>
                    <a:pt x="214" y="131"/>
                    <a:pt x="214" y="131"/>
                  </a:cubicBezTo>
                  <a:cubicBezTo>
                    <a:pt x="213" y="127"/>
                    <a:pt x="212" y="124"/>
                    <a:pt x="212" y="121"/>
                  </a:cubicBezTo>
                  <a:cubicBezTo>
                    <a:pt x="198" y="119"/>
                    <a:pt x="198" y="119"/>
                    <a:pt x="198" y="119"/>
                  </a:cubicBezTo>
                  <a:cubicBezTo>
                    <a:pt x="196" y="119"/>
                    <a:pt x="195" y="118"/>
                    <a:pt x="195" y="116"/>
                  </a:cubicBezTo>
                  <a:cubicBezTo>
                    <a:pt x="195" y="116"/>
                    <a:pt x="195" y="116"/>
                    <a:pt x="195" y="116"/>
                  </a:cubicBezTo>
                  <a:cubicBezTo>
                    <a:pt x="195" y="114"/>
                    <a:pt x="196" y="113"/>
                    <a:pt x="197" y="113"/>
                  </a:cubicBezTo>
                  <a:cubicBezTo>
                    <a:pt x="211" y="109"/>
                    <a:pt x="211" y="109"/>
                    <a:pt x="211" y="109"/>
                  </a:cubicBezTo>
                  <a:cubicBezTo>
                    <a:pt x="211" y="105"/>
                    <a:pt x="211" y="102"/>
                    <a:pt x="212" y="99"/>
                  </a:cubicBezTo>
                  <a:cubicBezTo>
                    <a:pt x="199" y="92"/>
                    <a:pt x="199" y="92"/>
                    <a:pt x="199" y="92"/>
                  </a:cubicBezTo>
                  <a:cubicBezTo>
                    <a:pt x="198" y="92"/>
                    <a:pt x="197" y="91"/>
                    <a:pt x="197" y="89"/>
                  </a:cubicBezTo>
                  <a:cubicBezTo>
                    <a:pt x="197" y="89"/>
                    <a:pt x="197" y="89"/>
                    <a:pt x="197" y="89"/>
                  </a:cubicBezTo>
                  <a:cubicBezTo>
                    <a:pt x="197" y="87"/>
                    <a:pt x="199" y="86"/>
                    <a:pt x="200" y="87"/>
                  </a:cubicBezTo>
                  <a:cubicBezTo>
                    <a:pt x="215" y="87"/>
                    <a:pt x="215" y="87"/>
                    <a:pt x="215" y="87"/>
                  </a:cubicBezTo>
                  <a:cubicBezTo>
                    <a:pt x="216" y="84"/>
                    <a:pt x="217" y="81"/>
                    <a:pt x="218" y="78"/>
                  </a:cubicBezTo>
                  <a:cubicBezTo>
                    <a:pt x="208" y="68"/>
                    <a:pt x="208" y="68"/>
                    <a:pt x="208" y="68"/>
                  </a:cubicBezTo>
                  <a:cubicBezTo>
                    <a:pt x="208" y="67"/>
                    <a:pt x="207" y="66"/>
                    <a:pt x="207" y="65"/>
                  </a:cubicBezTo>
                  <a:cubicBezTo>
                    <a:pt x="207" y="65"/>
                    <a:pt x="207" y="64"/>
                    <a:pt x="207" y="64"/>
                  </a:cubicBezTo>
                  <a:cubicBezTo>
                    <a:pt x="208" y="62"/>
                    <a:pt x="210" y="62"/>
                    <a:pt x="211" y="63"/>
                  </a:cubicBezTo>
                  <a:cubicBezTo>
                    <a:pt x="225" y="67"/>
                    <a:pt x="225" y="67"/>
                    <a:pt x="225" y="67"/>
                  </a:cubicBezTo>
                  <a:cubicBezTo>
                    <a:pt x="227" y="65"/>
                    <a:pt x="229" y="62"/>
                    <a:pt x="232" y="60"/>
                  </a:cubicBezTo>
                  <a:cubicBezTo>
                    <a:pt x="225" y="47"/>
                    <a:pt x="225" y="47"/>
                    <a:pt x="225" y="47"/>
                  </a:cubicBezTo>
                  <a:cubicBezTo>
                    <a:pt x="225" y="46"/>
                    <a:pt x="224" y="46"/>
                    <a:pt x="224" y="45"/>
                  </a:cubicBezTo>
                  <a:cubicBezTo>
                    <a:pt x="224" y="44"/>
                    <a:pt x="225" y="44"/>
                    <a:pt x="225" y="43"/>
                  </a:cubicBezTo>
                  <a:cubicBezTo>
                    <a:pt x="227" y="42"/>
                    <a:pt x="228" y="42"/>
                    <a:pt x="229" y="43"/>
                  </a:cubicBezTo>
                  <a:cubicBezTo>
                    <a:pt x="241" y="52"/>
                    <a:pt x="241" y="52"/>
                    <a:pt x="241" y="52"/>
                  </a:cubicBezTo>
                  <a:cubicBezTo>
                    <a:pt x="243" y="50"/>
                    <a:pt x="246" y="48"/>
                    <a:pt x="249" y="47"/>
                  </a:cubicBezTo>
                  <a:cubicBezTo>
                    <a:pt x="247" y="33"/>
                    <a:pt x="247" y="33"/>
                    <a:pt x="247" y="33"/>
                  </a:cubicBezTo>
                  <a:cubicBezTo>
                    <a:pt x="247" y="32"/>
                    <a:pt x="247" y="32"/>
                    <a:pt x="247" y="32"/>
                  </a:cubicBezTo>
                  <a:cubicBezTo>
                    <a:pt x="247" y="30"/>
                    <a:pt x="248" y="29"/>
                    <a:pt x="249" y="29"/>
                  </a:cubicBezTo>
                  <a:cubicBezTo>
                    <a:pt x="250" y="28"/>
                    <a:pt x="252" y="29"/>
                    <a:pt x="252" y="31"/>
                  </a:cubicBezTo>
                  <a:cubicBezTo>
                    <a:pt x="261" y="42"/>
                    <a:pt x="261" y="42"/>
                    <a:pt x="261" y="42"/>
                  </a:cubicBezTo>
                  <a:cubicBezTo>
                    <a:pt x="264" y="41"/>
                    <a:pt x="267" y="40"/>
                    <a:pt x="270" y="40"/>
                  </a:cubicBezTo>
                  <a:cubicBezTo>
                    <a:pt x="273" y="26"/>
                    <a:pt x="273" y="26"/>
                    <a:pt x="273" y="26"/>
                  </a:cubicBezTo>
                  <a:cubicBezTo>
                    <a:pt x="273" y="26"/>
                    <a:pt x="273" y="26"/>
                    <a:pt x="273" y="26"/>
                  </a:cubicBezTo>
                  <a:cubicBezTo>
                    <a:pt x="273" y="24"/>
                    <a:pt x="274" y="23"/>
                    <a:pt x="275" y="23"/>
                  </a:cubicBezTo>
                  <a:cubicBezTo>
                    <a:pt x="277" y="23"/>
                    <a:pt x="278" y="24"/>
                    <a:pt x="278" y="25"/>
                  </a:cubicBezTo>
                  <a:cubicBezTo>
                    <a:pt x="282" y="39"/>
                    <a:pt x="282" y="39"/>
                    <a:pt x="282" y="39"/>
                  </a:cubicBezTo>
                  <a:cubicBezTo>
                    <a:pt x="286" y="39"/>
                    <a:pt x="289" y="39"/>
                    <a:pt x="293" y="40"/>
                  </a:cubicBezTo>
                  <a:cubicBezTo>
                    <a:pt x="299" y="27"/>
                    <a:pt x="299" y="27"/>
                    <a:pt x="299" y="27"/>
                  </a:cubicBezTo>
                  <a:cubicBezTo>
                    <a:pt x="299" y="26"/>
                    <a:pt x="301" y="25"/>
                    <a:pt x="302" y="25"/>
                  </a:cubicBezTo>
                  <a:cubicBezTo>
                    <a:pt x="304" y="25"/>
                    <a:pt x="305" y="27"/>
                    <a:pt x="305" y="28"/>
                  </a:cubicBezTo>
                  <a:cubicBezTo>
                    <a:pt x="305" y="28"/>
                    <a:pt x="305" y="28"/>
                    <a:pt x="304" y="29"/>
                  </a:cubicBezTo>
                  <a:cubicBezTo>
                    <a:pt x="304" y="43"/>
                    <a:pt x="304" y="43"/>
                    <a:pt x="304" y="43"/>
                  </a:cubicBezTo>
                  <a:cubicBezTo>
                    <a:pt x="308" y="44"/>
                    <a:pt x="311" y="45"/>
                    <a:pt x="314" y="47"/>
                  </a:cubicBezTo>
                  <a:cubicBezTo>
                    <a:pt x="324" y="37"/>
                    <a:pt x="324" y="37"/>
                    <a:pt x="324" y="37"/>
                  </a:cubicBezTo>
                  <a:cubicBezTo>
                    <a:pt x="325" y="35"/>
                    <a:pt x="326" y="35"/>
                    <a:pt x="328" y="36"/>
                  </a:cubicBezTo>
                  <a:cubicBezTo>
                    <a:pt x="328" y="36"/>
                    <a:pt x="329" y="37"/>
                    <a:pt x="329" y="38"/>
                  </a:cubicBezTo>
                  <a:cubicBezTo>
                    <a:pt x="329" y="39"/>
                    <a:pt x="329" y="39"/>
                    <a:pt x="328" y="40"/>
                  </a:cubicBezTo>
                  <a:cubicBezTo>
                    <a:pt x="324" y="53"/>
                    <a:pt x="324" y="53"/>
                    <a:pt x="324" y="53"/>
                  </a:cubicBezTo>
                  <a:cubicBezTo>
                    <a:pt x="327" y="55"/>
                    <a:pt x="329" y="57"/>
                    <a:pt x="332" y="60"/>
                  </a:cubicBezTo>
                  <a:cubicBezTo>
                    <a:pt x="344" y="53"/>
                    <a:pt x="344" y="53"/>
                    <a:pt x="344" y="53"/>
                  </a:cubicBezTo>
                  <a:cubicBezTo>
                    <a:pt x="345" y="52"/>
                    <a:pt x="347" y="52"/>
                    <a:pt x="348" y="54"/>
                  </a:cubicBezTo>
                  <a:cubicBezTo>
                    <a:pt x="349" y="54"/>
                    <a:pt x="349" y="55"/>
                    <a:pt x="349" y="55"/>
                  </a:cubicBezTo>
                  <a:cubicBezTo>
                    <a:pt x="349" y="56"/>
                    <a:pt x="349" y="57"/>
                    <a:pt x="348" y="58"/>
                  </a:cubicBezTo>
                  <a:cubicBezTo>
                    <a:pt x="339" y="69"/>
                    <a:pt x="339" y="69"/>
                    <a:pt x="339" y="69"/>
                  </a:cubicBezTo>
                  <a:cubicBezTo>
                    <a:pt x="341" y="72"/>
                    <a:pt x="343" y="75"/>
                    <a:pt x="345" y="78"/>
                  </a:cubicBezTo>
                  <a:cubicBezTo>
                    <a:pt x="359" y="75"/>
                    <a:pt x="359" y="75"/>
                    <a:pt x="359" y="75"/>
                  </a:cubicBezTo>
                  <a:cubicBezTo>
                    <a:pt x="360" y="75"/>
                    <a:pt x="362" y="76"/>
                    <a:pt x="362" y="77"/>
                  </a:cubicBezTo>
                  <a:cubicBezTo>
                    <a:pt x="362" y="77"/>
                    <a:pt x="362" y="78"/>
                    <a:pt x="362" y="78"/>
                  </a:cubicBezTo>
                  <a:cubicBezTo>
                    <a:pt x="362" y="79"/>
                    <a:pt x="362" y="80"/>
                    <a:pt x="361" y="81"/>
                  </a:cubicBezTo>
                  <a:cubicBezTo>
                    <a:pt x="349" y="89"/>
                    <a:pt x="349" y="89"/>
                    <a:pt x="349" y="89"/>
                  </a:cubicBezTo>
                  <a:cubicBezTo>
                    <a:pt x="350" y="92"/>
                    <a:pt x="351" y="95"/>
                    <a:pt x="351" y="99"/>
                  </a:cubicBezTo>
                  <a:cubicBezTo>
                    <a:pt x="365" y="101"/>
                    <a:pt x="365" y="101"/>
                    <a:pt x="365" y="101"/>
                  </a:cubicBezTo>
                  <a:cubicBezTo>
                    <a:pt x="367" y="101"/>
                    <a:pt x="368" y="102"/>
                    <a:pt x="368" y="104"/>
                  </a:cubicBezTo>
                  <a:cubicBezTo>
                    <a:pt x="368" y="104"/>
                    <a:pt x="368" y="104"/>
                    <a:pt x="368" y="104"/>
                  </a:cubicBezTo>
                  <a:cubicBezTo>
                    <a:pt x="368" y="105"/>
                    <a:pt x="367" y="106"/>
                    <a:pt x="366" y="107"/>
                  </a:cubicBezTo>
                  <a:cubicBezTo>
                    <a:pt x="352" y="111"/>
                    <a:pt x="352" y="111"/>
                    <a:pt x="352" y="111"/>
                  </a:cubicBezTo>
                  <a:cubicBezTo>
                    <a:pt x="352" y="114"/>
                    <a:pt x="352" y="118"/>
                    <a:pt x="351" y="121"/>
                  </a:cubicBezTo>
                  <a:cubicBezTo>
                    <a:pt x="364" y="127"/>
                    <a:pt x="364" y="127"/>
                    <a:pt x="364" y="127"/>
                  </a:cubicBezTo>
                  <a:cubicBezTo>
                    <a:pt x="365" y="128"/>
                    <a:pt x="366" y="129"/>
                    <a:pt x="366" y="130"/>
                  </a:cubicBezTo>
                  <a:cubicBezTo>
                    <a:pt x="366" y="130"/>
                    <a:pt x="366" y="130"/>
                    <a:pt x="366" y="131"/>
                  </a:cubicBezTo>
                  <a:cubicBezTo>
                    <a:pt x="366" y="132"/>
                    <a:pt x="364" y="133"/>
                    <a:pt x="363" y="133"/>
                  </a:cubicBezTo>
                  <a:cubicBezTo>
                    <a:pt x="348" y="133"/>
                    <a:pt x="348" y="133"/>
                    <a:pt x="348" y="133"/>
                  </a:cubicBezTo>
                  <a:cubicBezTo>
                    <a:pt x="347" y="136"/>
                    <a:pt x="346" y="139"/>
                    <a:pt x="345" y="142"/>
                  </a:cubicBezTo>
                  <a:cubicBezTo>
                    <a:pt x="355" y="152"/>
                    <a:pt x="355" y="152"/>
                    <a:pt x="355" y="152"/>
                  </a:cubicBezTo>
                  <a:cubicBezTo>
                    <a:pt x="355" y="153"/>
                    <a:pt x="356" y="153"/>
                    <a:pt x="356" y="154"/>
                  </a:cubicBezTo>
                  <a:cubicBezTo>
                    <a:pt x="356" y="155"/>
                    <a:pt x="356" y="155"/>
                    <a:pt x="356" y="156"/>
                  </a:cubicBezTo>
                  <a:cubicBezTo>
                    <a:pt x="355" y="157"/>
                    <a:pt x="353" y="158"/>
                    <a:pt x="352" y="157"/>
                  </a:cubicBezTo>
                  <a:cubicBezTo>
                    <a:pt x="338" y="152"/>
                    <a:pt x="338" y="152"/>
                    <a:pt x="338" y="152"/>
                  </a:cubicBezTo>
                  <a:cubicBezTo>
                    <a:pt x="336" y="155"/>
                    <a:pt x="334" y="157"/>
                    <a:pt x="331" y="160"/>
                  </a:cubicBezTo>
                  <a:cubicBezTo>
                    <a:pt x="338" y="173"/>
                    <a:pt x="338" y="173"/>
                    <a:pt x="338" y="173"/>
                  </a:cubicBezTo>
                  <a:cubicBezTo>
                    <a:pt x="338" y="173"/>
                    <a:pt x="339" y="174"/>
                    <a:pt x="339" y="174"/>
                  </a:cubicBezTo>
                  <a:cubicBezTo>
                    <a:pt x="339" y="175"/>
                    <a:pt x="338" y="176"/>
                    <a:pt x="338" y="176"/>
                  </a:cubicBezTo>
                  <a:cubicBezTo>
                    <a:pt x="336" y="177"/>
                    <a:pt x="335" y="177"/>
                    <a:pt x="334" y="176"/>
                  </a:cubicBezTo>
                  <a:close/>
                  <a:moveTo>
                    <a:pt x="451" y="192"/>
                  </a:moveTo>
                  <a:cubicBezTo>
                    <a:pt x="442" y="195"/>
                    <a:pt x="442" y="195"/>
                    <a:pt x="442" y="195"/>
                  </a:cubicBezTo>
                  <a:cubicBezTo>
                    <a:pt x="442" y="197"/>
                    <a:pt x="442" y="200"/>
                    <a:pt x="441" y="202"/>
                  </a:cubicBezTo>
                  <a:cubicBezTo>
                    <a:pt x="450" y="206"/>
                    <a:pt x="450" y="206"/>
                    <a:pt x="450" y="206"/>
                  </a:cubicBezTo>
                  <a:cubicBezTo>
                    <a:pt x="451" y="206"/>
                    <a:pt x="451" y="207"/>
                    <a:pt x="451" y="208"/>
                  </a:cubicBezTo>
                  <a:cubicBezTo>
                    <a:pt x="451" y="208"/>
                    <a:pt x="451" y="208"/>
                    <a:pt x="451" y="208"/>
                  </a:cubicBezTo>
                  <a:cubicBezTo>
                    <a:pt x="451" y="209"/>
                    <a:pt x="450" y="210"/>
                    <a:pt x="449" y="210"/>
                  </a:cubicBezTo>
                  <a:cubicBezTo>
                    <a:pt x="439" y="210"/>
                    <a:pt x="439" y="210"/>
                    <a:pt x="439" y="210"/>
                  </a:cubicBezTo>
                  <a:cubicBezTo>
                    <a:pt x="439" y="212"/>
                    <a:pt x="438" y="214"/>
                    <a:pt x="437" y="216"/>
                  </a:cubicBezTo>
                  <a:cubicBezTo>
                    <a:pt x="444" y="223"/>
                    <a:pt x="444" y="223"/>
                    <a:pt x="444" y="223"/>
                  </a:cubicBezTo>
                  <a:cubicBezTo>
                    <a:pt x="444" y="223"/>
                    <a:pt x="444" y="224"/>
                    <a:pt x="444" y="224"/>
                  </a:cubicBezTo>
                  <a:cubicBezTo>
                    <a:pt x="444" y="225"/>
                    <a:pt x="444" y="225"/>
                    <a:pt x="444" y="225"/>
                  </a:cubicBezTo>
                  <a:cubicBezTo>
                    <a:pt x="444" y="226"/>
                    <a:pt x="443" y="226"/>
                    <a:pt x="442" y="226"/>
                  </a:cubicBezTo>
                  <a:cubicBezTo>
                    <a:pt x="433" y="223"/>
                    <a:pt x="433" y="223"/>
                    <a:pt x="433" y="223"/>
                  </a:cubicBezTo>
                  <a:cubicBezTo>
                    <a:pt x="431" y="224"/>
                    <a:pt x="430" y="226"/>
                    <a:pt x="428" y="228"/>
                  </a:cubicBezTo>
                  <a:cubicBezTo>
                    <a:pt x="433" y="236"/>
                    <a:pt x="433" y="236"/>
                    <a:pt x="433" y="236"/>
                  </a:cubicBezTo>
                  <a:cubicBezTo>
                    <a:pt x="433" y="237"/>
                    <a:pt x="433" y="237"/>
                    <a:pt x="433" y="237"/>
                  </a:cubicBezTo>
                  <a:cubicBezTo>
                    <a:pt x="433" y="238"/>
                    <a:pt x="433" y="239"/>
                    <a:pt x="432" y="239"/>
                  </a:cubicBezTo>
                  <a:cubicBezTo>
                    <a:pt x="431" y="240"/>
                    <a:pt x="430" y="239"/>
                    <a:pt x="430" y="239"/>
                  </a:cubicBezTo>
                  <a:cubicBezTo>
                    <a:pt x="422" y="233"/>
                    <a:pt x="422" y="233"/>
                    <a:pt x="422" y="233"/>
                  </a:cubicBezTo>
                  <a:cubicBezTo>
                    <a:pt x="420" y="234"/>
                    <a:pt x="418" y="235"/>
                    <a:pt x="416" y="236"/>
                  </a:cubicBezTo>
                  <a:cubicBezTo>
                    <a:pt x="418" y="246"/>
                    <a:pt x="418" y="246"/>
                    <a:pt x="418" y="246"/>
                  </a:cubicBezTo>
                  <a:cubicBezTo>
                    <a:pt x="418" y="246"/>
                    <a:pt x="418" y="246"/>
                    <a:pt x="418" y="247"/>
                  </a:cubicBezTo>
                  <a:cubicBezTo>
                    <a:pt x="418" y="247"/>
                    <a:pt x="417" y="248"/>
                    <a:pt x="417" y="248"/>
                  </a:cubicBezTo>
                  <a:cubicBezTo>
                    <a:pt x="416" y="249"/>
                    <a:pt x="415" y="248"/>
                    <a:pt x="414" y="247"/>
                  </a:cubicBezTo>
                  <a:cubicBezTo>
                    <a:pt x="409" y="239"/>
                    <a:pt x="409" y="239"/>
                    <a:pt x="409" y="239"/>
                  </a:cubicBezTo>
                  <a:cubicBezTo>
                    <a:pt x="407" y="240"/>
                    <a:pt x="404" y="241"/>
                    <a:pt x="402" y="241"/>
                  </a:cubicBezTo>
                  <a:cubicBezTo>
                    <a:pt x="401" y="250"/>
                    <a:pt x="401" y="250"/>
                    <a:pt x="401" y="250"/>
                  </a:cubicBezTo>
                  <a:cubicBezTo>
                    <a:pt x="401" y="250"/>
                    <a:pt x="401" y="251"/>
                    <a:pt x="401" y="251"/>
                  </a:cubicBezTo>
                  <a:cubicBezTo>
                    <a:pt x="401" y="252"/>
                    <a:pt x="400" y="252"/>
                    <a:pt x="399" y="252"/>
                  </a:cubicBezTo>
                  <a:cubicBezTo>
                    <a:pt x="399" y="252"/>
                    <a:pt x="399" y="252"/>
                    <a:pt x="399" y="252"/>
                  </a:cubicBezTo>
                  <a:cubicBezTo>
                    <a:pt x="398" y="252"/>
                    <a:pt x="397" y="252"/>
                    <a:pt x="397" y="251"/>
                  </a:cubicBezTo>
                  <a:cubicBezTo>
                    <a:pt x="394" y="242"/>
                    <a:pt x="394" y="242"/>
                    <a:pt x="394" y="242"/>
                  </a:cubicBezTo>
                  <a:cubicBezTo>
                    <a:pt x="392" y="242"/>
                    <a:pt x="390" y="241"/>
                    <a:pt x="387" y="241"/>
                  </a:cubicBezTo>
                  <a:cubicBezTo>
                    <a:pt x="383" y="250"/>
                    <a:pt x="383" y="250"/>
                    <a:pt x="383" y="250"/>
                  </a:cubicBezTo>
                  <a:cubicBezTo>
                    <a:pt x="383" y="251"/>
                    <a:pt x="382" y="251"/>
                    <a:pt x="381" y="251"/>
                  </a:cubicBezTo>
                  <a:cubicBezTo>
                    <a:pt x="380" y="251"/>
                    <a:pt x="379" y="250"/>
                    <a:pt x="379" y="249"/>
                  </a:cubicBezTo>
                  <a:cubicBezTo>
                    <a:pt x="379" y="249"/>
                    <a:pt x="379" y="249"/>
                    <a:pt x="379" y="249"/>
                  </a:cubicBezTo>
                  <a:cubicBezTo>
                    <a:pt x="380" y="239"/>
                    <a:pt x="380" y="239"/>
                    <a:pt x="380" y="239"/>
                  </a:cubicBezTo>
                  <a:cubicBezTo>
                    <a:pt x="377" y="238"/>
                    <a:pt x="375" y="237"/>
                    <a:pt x="373" y="236"/>
                  </a:cubicBezTo>
                  <a:cubicBezTo>
                    <a:pt x="367" y="243"/>
                    <a:pt x="367" y="243"/>
                    <a:pt x="367" y="243"/>
                  </a:cubicBezTo>
                  <a:cubicBezTo>
                    <a:pt x="366" y="244"/>
                    <a:pt x="365" y="244"/>
                    <a:pt x="364" y="244"/>
                  </a:cubicBezTo>
                  <a:cubicBezTo>
                    <a:pt x="364" y="243"/>
                    <a:pt x="363" y="243"/>
                    <a:pt x="363" y="242"/>
                  </a:cubicBezTo>
                  <a:cubicBezTo>
                    <a:pt x="363" y="242"/>
                    <a:pt x="363" y="242"/>
                    <a:pt x="364" y="241"/>
                  </a:cubicBezTo>
                  <a:cubicBezTo>
                    <a:pt x="367" y="232"/>
                    <a:pt x="367" y="232"/>
                    <a:pt x="367" y="232"/>
                  </a:cubicBezTo>
                  <a:cubicBezTo>
                    <a:pt x="365" y="231"/>
                    <a:pt x="363" y="229"/>
                    <a:pt x="361" y="228"/>
                  </a:cubicBezTo>
                  <a:cubicBezTo>
                    <a:pt x="353" y="232"/>
                    <a:pt x="353" y="232"/>
                    <a:pt x="353" y="232"/>
                  </a:cubicBezTo>
                  <a:cubicBezTo>
                    <a:pt x="352" y="233"/>
                    <a:pt x="351" y="233"/>
                    <a:pt x="350" y="232"/>
                  </a:cubicBezTo>
                  <a:cubicBezTo>
                    <a:pt x="350" y="232"/>
                    <a:pt x="350" y="231"/>
                    <a:pt x="350" y="231"/>
                  </a:cubicBezTo>
                  <a:cubicBezTo>
                    <a:pt x="350" y="230"/>
                    <a:pt x="350" y="230"/>
                    <a:pt x="351" y="229"/>
                  </a:cubicBezTo>
                  <a:cubicBezTo>
                    <a:pt x="356" y="222"/>
                    <a:pt x="356" y="222"/>
                    <a:pt x="356" y="222"/>
                  </a:cubicBezTo>
                  <a:cubicBezTo>
                    <a:pt x="355" y="220"/>
                    <a:pt x="354" y="218"/>
                    <a:pt x="353" y="216"/>
                  </a:cubicBezTo>
                  <a:cubicBezTo>
                    <a:pt x="343" y="217"/>
                    <a:pt x="343" y="217"/>
                    <a:pt x="343" y="217"/>
                  </a:cubicBezTo>
                  <a:cubicBezTo>
                    <a:pt x="342" y="218"/>
                    <a:pt x="341" y="217"/>
                    <a:pt x="341" y="216"/>
                  </a:cubicBezTo>
                  <a:cubicBezTo>
                    <a:pt x="341" y="216"/>
                    <a:pt x="341" y="216"/>
                    <a:pt x="341" y="216"/>
                  </a:cubicBezTo>
                  <a:cubicBezTo>
                    <a:pt x="341" y="215"/>
                    <a:pt x="341" y="214"/>
                    <a:pt x="342" y="214"/>
                  </a:cubicBezTo>
                  <a:cubicBezTo>
                    <a:pt x="350" y="208"/>
                    <a:pt x="350" y="208"/>
                    <a:pt x="350" y="208"/>
                  </a:cubicBezTo>
                  <a:cubicBezTo>
                    <a:pt x="349" y="206"/>
                    <a:pt x="349" y="204"/>
                    <a:pt x="348" y="202"/>
                  </a:cubicBezTo>
                  <a:cubicBezTo>
                    <a:pt x="339" y="200"/>
                    <a:pt x="339" y="200"/>
                    <a:pt x="339" y="200"/>
                  </a:cubicBezTo>
                  <a:cubicBezTo>
                    <a:pt x="338" y="200"/>
                    <a:pt x="337" y="200"/>
                    <a:pt x="337" y="199"/>
                  </a:cubicBezTo>
                  <a:cubicBezTo>
                    <a:pt x="337" y="199"/>
                    <a:pt x="337" y="198"/>
                    <a:pt x="337" y="198"/>
                  </a:cubicBezTo>
                  <a:cubicBezTo>
                    <a:pt x="337" y="197"/>
                    <a:pt x="338" y="197"/>
                    <a:pt x="339" y="197"/>
                  </a:cubicBezTo>
                  <a:cubicBezTo>
                    <a:pt x="348" y="194"/>
                    <a:pt x="348" y="194"/>
                    <a:pt x="348" y="194"/>
                  </a:cubicBezTo>
                  <a:cubicBezTo>
                    <a:pt x="348" y="191"/>
                    <a:pt x="348" y="189"/>
                    <a:pt x="348" y="187"/>
                  </a:cubicBezTo>
                  <a:cubicBezTo>
                    <a:pt x="340" y="183"/>
                    <a:pt x="340" y="183"/>
                    <a:pt x="340" y="183"/>
                  </a:cubicBezTo>
                  <a:cubicBezTo>
                    <a:pt x="339" y="182"/>
                    <a:pt x="338" y="182"/>
                    <a:pt x="338" y="181"/>
                  </a:cubicBezTo>
                  <a:cubicBezTo>
                    <a:pt x="338" y="181"/>
                    <a:pt x="338" y="181"/>
                    <a:pt x="338" y="180"/>
                  </a:cubicBezTo>
                  <a:cubicBezTo>
                    <a:pt x="339" y="179"/>
                    <a:pt x="340" y="179"/>
                    <a:pt x="341" y="179"/>
                  </a:cubicBezTo>
                  <a:cubicBezTo>
                    <a:pt x="350" y="179"/>
                    <a:pt x="350" y="179"/>
                    <a:pt x="350" y="179"/>
                  </a:cubicBezTo>
                  <a:cubicBezTo>
                    <a:pt x="351" y="177"/>
                    <a:pt x="352" y="175"/>
                    <a:pt x="353" y="173"/>
                  </a:cubicBezTo>
                  <a:cubicBezTo>
                    <a:pt x="346" y="166"/>
                    <a:pt x="346" y="166"/>
                    <a:pt x="346" y="166"/>
                  </a:cubicBezTo>
                  <a:cubicBezTo>
                    <a:pt x="346" y="166"/>
                    <a:pt x="345" y="165"/>
                    <a:pt x="345" y="165"/>
                  </a:cubicBezTo>
                  <a:cubicBezTo>
                    <a:pt x="345" y="164"/>
                    <a:pt x="345" y="164"/>
                    <a:pt x="345" y="164"/>
                  </a:cubicBezTo>
                  <a:cubicBezTo>
                    <a:pt x="346" y="163"/>
                    <a:pt x="347" y="163"/>
                    <a:pt x="348" y="163"/>
                  </a:cubicBezTo>
                  <a:cubicBezTo>
                    <a:pt x="357" y="166"/>
                    <a:pt x="357" y="166"/>
                    <a:pt x="357" y="166"/>
                  </a:cubicBezTo>
                  <a:cubicBezTo>
                    <a:pt x="358" y="164"/>
                    <a:pt x="360" y="163"/>
                    <a:pt x="361" y="161"/>
                  </a:cubicBezTo>
                  <a:cubicBezTo>
                    <a:pt x="357" y="153"/>
                    <a:pt x="357" y="153"/>
                    <a:pt x="357" y="153"/>
                  </a:cubicBezTo>
                  <a:cubicBezTo>
                    <a:pt x="357" y="152"/>
                    <a:pt x="357" y="152"/>
                    <a:pt x="357" y="151"/>
                  </a:cubicBezTo>
                  <a:cubicBezTo>
                    <a:pt x="357" y="151"/>
                    <a:pt x="357" y="150"/>
                    <a:pt x="357" y="150"/>
                  </a:cubicBezTo>
                  <a:cubicBezTo>
                    <a:pt x="358" y="149"/>
                    <a:pt x="359" y="149"/>
                    <a:pt x="360" y="150"/>
                  </a:cubicBezTo>
                  <a:cubicBezTo>
                    <a:pt x="368" y="156"/>
                    <a:pt x="368" y="156"/>
                    <a:pt x="368" y="156"/>
                  </a:cubicBezTo>
                  <a:cubicBezTo>
                    <a:pt x="369" y="155"/>
                    <a:pt x="371" y="153"/>
                    <a:pt x="373" y="152"/>
                  </a:cubicBezTo>
                  <a:cubicBezTo>
                    <a:pt x="372" y="143"/>
                    <a:pt x="372" y="143"/>
                    <a:pt x="372" y="143"/>
                  </a:cubicBezTo>
                  <a:cubicBezTo>
                    <a:pt x="372" y="143"/>
                    <a:pt x="372" y="143"/>
                    <a:pt x="372" y="142"/>
                  </a:cubicBezTo>
                  <a:cubicBezTo>
                    <a:pt x="372" y="142"/>
                    <a:pt x="372" y="141"/>
                    <a:pt x="373" y="141"/>
                  </a:cubicBezTo>
                  <a:cubicBezTo>
                    <a:pt x="374" y="140"/>
                    <a:pt x="375" y="141"/>
                    <a:pt x="375" y="142"/>
                  </a:cubicBezTo>
                  <a:cubicBezTo>
                    <a:pt x="381" y="149"/>
                    <a:pt x="381" y="149"/>
                    <a:pt x="381" y="149"/>
                  </a:cubicBezTo>
                  <a:cubicBezTo>
                    <a:pt x="383" y="149"/>
                    <a:pt x="385" y="148"/>
                    <a:pt x="387" y="148"/>
                  </a:cubicBezTo>
                  <a:cubicBezTo>
                    <a:pt x="389" y="138"/>
                    <a:pt x="389" y="138"/>
                    <a:pt x="389" y="138"/>
                  </a:cubicBezTo>
                  <a:cubicBezTo>
                    <a:pt x="389" y="138"/>
                    <a:pt x="389" y="138"/>
                    <a:pt x="389" y="138"/>
                  </a:cubicBezTo>
                  <a:cubicBezTo>
                    <a:pt x="389" y="137"/>
                    <a:pt x="390" y="136"/>
                    <a:pt x="391" y="136"/>
                  </a:cubicBezTo>
                  <a:cubicBezTo>
                    <a:pt x="392" y="136"/>
                    <a:pt x="393" y="137"/>
                    <a:pt x="393" y="138"/>
                  </a:cubicBezTo>
                  <a:cubicBezTo>
                    <a:pt x="395" y="147"/>
                    <a:pt x="395" y="147"/>
                    <a:pt x="395" y="147"/>
                  </a:cubicBezTo>
                  <a:cubicBezTo>
                    <a:pt x="398" y="147"/>
                    <a:pt x="400" y="147"/>
                    <a:pt x="402" y="148"/>
                  </a:cubicBezTo>
                  <a:cubicBezTo>
                    <a:pt x="407" y="139"/>
                    <a:pt x="407" y="139"/>
                    <a:pt x="407" y="139"/>
                  </a:cubicBezTo>
                  <a:cubicBezTo>
                    <a:pt x="407" y="138"/>
                    <a:pt x="408" y="138"/>
                    <a:pt x="409" y="138"/>
                  </a:cubicBezTo>
                  <a:cubicBezTo>
                    <a:pt x="410" y="138"/>
                    <a:pt x="410" y="139"/>
                    <a:pt x="410" y="140"/>
                  </a:cubicBezTo>
                  <a:cubicBezTo>
                    <a:pt x="410" y="140"/>
                    <a:pt x="410" y="140"/>
                    <a:pt x="410" y="140"/>
                  </a:cubicBezTo>
                  <a:cubicBezTo>
                    <a:pt x="410" y="150"/>
                    <a:pt x="410" y="150"/>
                    <a:pt x="410" y="150"/>
                  </a:cubicBezTo>
                  <a:cubicBezTo>
                    <a:pt x="412" y="150"/>
                    <a:pt x="414" y="151"/>
                    <a:pt x="416" y="152"/>
                  </a:cubicBezTo>
                  <a:cubicBezTo>
                    <a:pt x="423" y="146"/>
                    <a:pt x="423" y="146"/>
                    <a:pt x="423" y="146"/>
                  </a:cubicBezTo>
                  <a:cubicBezTo>
                    <a:pt x="424" y="145"/>
                    <a:pt x="425" y="145"/>
                    <a:pt x="426" y="145"/>
                  </a:cubicBezTo>
                  <a:cubicBezTo>
                    <a:pt x="426" y="145"/>
                    <a:pt x="426" y="146"/>
                    <a:pt x="426" y="147"/>
                  </a:cubicBezTo>
                  <a:cubicBezTo>
                    <a:pt x="426" y="147"/>
                    <a:pt x="426" y="147"/>
                    <a:pt x="426" y="148"/>
                  </a:cubicBezTo>
                  <a:cubicBezTo>
                    <a:pt x="423" y="157"/>
                    <a:pt x="423" y="157"/>
                    <a:pt x="423" y="157"/>
                  </a:cubicBezTo>
                  <a:cubicBezTo>
                    <a:pt x="425" y="158"/>
                    <a:pt x="427" y="159"/>
                    <a:pt x="428" y="161"/>
                  </a:cubicBezTo>
                  <a:cubicBezTo>
                    <a:pt x="437" y="157"/>
                    <a:pt x="437" y="157"/>
                    <a:pt x="437" y="157"/>
                  </a:cubicBezTo>
                  <a:cubicBezTo>
                    <a:pt x="437" y="156"/>
                    <a:pt x="439" y="156"/>
                    <a:pt x="439" y="157"/>
                  </a:cubicBezTo>
                  <a:cubicBezTo>
                    <a:pt x="440" y="157"/>
                    <a:pt x="440" y="158"/>
                    <a:pt x="440" y="158"/>
                  </a:cubicBezTo>
                  <a:cubicBezTo>
                    <a:pt x="440" y="159"/>
                    <a:pt x="440" y="159"/>
                    <a:pt x="439" y="160"/>
                  </a:cubicBezTo>
                  <a:cubicBezTo>
                    <a:pt x="433" y="167"/>
                    <a:pt x="433" y="167"/>
                    <a:pt x="433" y="167"/>
                  </a:cubicBezTo>
                  <a:cubicBezTo>
                    <a:pt x="435" y="169"/>
                    <a:pt x="436" y="171"/>
                    <a:pt x="437" y="173"/>
                  </a:cubicBezTo>
                  <a:cubicBezTo>
                    <a:pt x="446" y="172"/>
                    <a:pt x="446" y="172"/>
                    <a:pt x="446" y="172"/>
                  </a:cubicBezTo>
                  <a:cubicBezTo>
                    <a:pt x="447" y="171"/>
                    <a:pt x="448" y="172"/>
                    <a:pt x="449" y="173"/>
                  </a:cubicBezTo>
                  <a:cubicBezTo>
                    <a:pt x="449" y="173"/>
                    <a:pt x="449" y="173"/>
                    <a:pt x="449" y="173"/>
                  </a:cubicBezTo>
                  <a:cubicBezTo>
                    <a:pt x="449" y="174"/>
                    <a:pt x="448" y="175"/>
                    <a:pt x="448" y="175"/>
                  </a:cubicBezTo>
                  <a:cubicBezTo>
                    <a:pt x="440" y="180"/>
                    <a:pt x="440" y="180"/>
                    <a:pt x="440" y="180"/>
                  </a:cubicBezTo>
                  <a:cubicBezTo>
                    <a:pt x="441" y="183"/>
                    <a:pt x="441" y="185"/>
                    <a:pt x="441" y="187"/>
                  </a:cubicBezTo>
                  <a:cubicBezTo>
                    <a:pt x="451" y="189"/>
                    <a:pt x="451" y="189"/>
                    <a:pt x="451" y="189"/>
                  </a:cubicBezTo>
                  <a:cubicBezTo>
                    <a:pt x="452" y="188"/>
                    <a:pt x="453" y="189"/>
                    <a:pt x="453" y="190"/>
                  </a:cubicBezTo>
                  <a:cubicBezTo>
                    <a:pt x="453" y="190"/>
                    <a:pt x="453" y="190"/>
                    <a:pt x="453" y="190"/>
                  </a:cubicBezTo>
                  <a:cubicBezTo>
                    <a:pt x="453" y="191"/>
                    <a:pt x="452" y="192"/>
                    <a:pt x="451"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9" tIns="34294" rIns="68589" bIns="34294"/>
            <a:lstStyle/>
            <a:p>
              <a:pPr fontAlgn="auto">
                <a:spcBef>
                  <a:spcPts val="0"/>
                </a:spcBef>
                <a:spcAft>
                  <a:spcPts val="0"/>
                </a:spcAft>
                <a:defRPr/>
              </a:pPr>
              <a:endParaRPr lang="en-US" sz="1350" dirty="0">
                <a:latin typeface="+mn-lt"/>
                <a:ea typeface="+mn-ea"/>
              </a:endParaRPr>
            </a:p>
          </p:txBody>
        </p:sp>
        <p:sp>
          <p:nvSpPr>
            <p:cNvPr id="33" name="Oval 24"/>
            <p:cNvSpPr>
              <a:spLocks noChangeArrowheads="1"/>
            </p:cNvSpPr>
            <p:nvPr/>
          </p:nvSpPr>
          <p:spPr bwMode="auto">
            <a:xfrm>
              <a:off x="-1333500" y="3128963"/>
              <a:ext cx="77788" cy="79375"/>
            </a:xfrm>
            <a:prstGeom prst="ellipse">
              <a:avLst/>
            </a:prstGeom>
            <a:grpFill/>
            <a:ln w="9525">
              <a:solidFill>
                <a:schemeClr val="tx1"/>
              </a:solidFill>
              <a:round/>
              <a:headEnd/>
              <a:tailEnd/>
            </a:ln>
            <a:extLst/>
          </p:spPr>
          <p:txBody>
            <a:bodyPr lIns="68589" tIns="34294" rIns="68589" bIns="34294"/>
            <a:lstStyle/>
            <a:p>
              <a:pPr fontAlgn="auto">
                <a:spcBef>
                  <a:spcPts val="0"/>
                </a:spcBef>
                <a:spcAft>
                  <a:spcPts val="0"/>
                </a:spcAft>
                <a:defRPr/>
              </a:pPr>
              <a:endParaRPr lang="en-US" sz="1350" dirty="0">
                <a:latin typeface="+mn-lt"/>
                <a:ea typeface="+mn-ea"/>
              </a:endParaRPr>
            </a:p>
          </p:txBody>
        </p:sp>
        <p:sp>
          <p:nvSpPr>
            <p:cNvPr id="34" name="Freeform 25"/>
            <p:cNvSpPr>
              <a:spLocks/>
            </p:cNvSpPr>
            <p:nvPr/>
          </p:nvSpPr>
          <p:spPr bwMode="auto">
            <a:xfrm>
              <a:off x="-1423988" y="2082800"/>
              <a:ext cx="889000" cy="357188"/>
            </a:xfrm>
            <a:custGeom>
              <a:avLst/>
              <a:gdLst>
                <a:gd name="T0" fmla="*/ 218 w 237"/>
                <a:gd name="T1" fmla="*/ 95 h 95"/>
                <a:gd name="T2" fmla="*/ 217 w 237"/>
                <a:gd name="T3" fmla="*/ 94 h 95"/>
                <a:gd name="T4" fmla="*/ 234 w 237"/>
                <a:gd name="T5" fmla="*/ 82 h 95"/>
                <a:gd name="T6" fmla="*/ 237 w 237"/>
                <a:gd name="T7" fmla="*/ 79 h 95"/>
                <a:gd name="T8" fmla="*/ 236 w 237"/>
                <a:gd name="T9" fmla="*/ 77 h 95"/>
                <a:gd name="T10" fmla="*/ 231 w 237"/>
                <a:gd name="T11" fmla="*/ 75 h 95"/>
                <a:gd name="T12" fmla="*/ 211 w 237"/>
                <a:gd name="T13" fmla="*/ 78 h 95"/>
                <a:gd name="T14" fmla="*/ 203 w 237"/>
                <a:gd name="T15" fmla="*/ 66 h 95"/>
                <a:gd name="T16" fmla="*/ 216 w 237"/>
                <a:gd name="T17" fmla="*/ 49 h 95"/>
                <a:gd name="T18" fmla="*/ 217 w 237"/>
                <a:gd name="T19" fmla="*/ 46 h 95"/>
                <a:gd name="T20" fmla="*/ 216 w 237"/>
                <a:gd name="T21" fmla="*/ 44 h 95"/>
                <a:gd name="T22" fmla="*/ 211 w 237"/>
                <a:gd name="T23" fmla="*/ 43 h 95"/>
                <a:gd name="T24" fmla="*/ 192 w 237"/>
                <a:gd name="T25" fmla="*/ 53 h 95"/>
                <a:gd name="T26" fmla="*/ 181 w 237"/>
                <a:gd name="T27" fmla="*/ 43 h 95"/>
                <a:gd name="T28" fmla="*/ 188 w 237"/>
                <a:gd name="T29" fmla="*/ 24 h 95"/>
                <a:gd name="T30" fmla="*/ 189 w 237"/>
                <a:gd name="T31" fmla="*/ 22 h 95"/>
                <a:gd name="T32" fmla="*/ 187 w 237"/>
                <a:gd name="T33" fmla="*/ 18 h 95"/>
                <a:gd name="T34" fmla="*/ 181 w 237"/>
                <a:gd name="T35" fmla="*/ 20 h 95"/>
                <a:gd name="T36" fmla="*/ 167 w 237"/>
                <a:gd name="T37" fmla="*/ 34 h 95"/>
                <a:gd name="T38" fmla="*/ 153 w 237"/>
                <a:gd name="T39" fmla="*/ 28 h 95"/>
                <a:gd name="T40" fmla="*/ 154 w 237"/>
                <a:gd name="T41" fmla="*/ 8 h 95"/>
                <a:gd name="T42" fmla="*/ 154 w 237"/>
                <a:gd name="T43" fmla="*/ 7 h 95"/>
                <a:gd name="T44" fmla="*/ 151 w 237"/>
                <a:gd name="T45" fmla="*/ 3 h 95"/>
                <a:gd name="T46" fmla="*/ 146 w 237"/>
                <a:gd name="T47" fmla="*/ 6 h 95"/>
                <a:gd name="T48" fmla="*/ 137 w 237"/>
                <a:gd name="T49" fmla="*/ 24 h 95"/>
                <a:gd name="T50" fmla="*/ 122 w 237"/>
                <a:gd name="T51" fmla="*/ 23 h 95"/>
                <a:gd name="T52" fmla="*/ 116 w 237"/>
                <a:gd name="T53" fmla="*/ 4 h 95"/>
                <a:gd name="T54" fmla="*/ 112 w 237"/>
                <a:gd name="T55" fmla="*/ 0 h 95"/>
                <a:gd name="T56" fmla="*/ 108 w 237"/>
                <a:gd name="T57" fmla="*/ 4 h 95"/>
                <a:gd name="T58" fmla="*/ 108 w 237"/>
                <a:gd name="T59" fmla="*/ 4 h 95"/>
                <a:gd name="T60" fmla="*/ 105 w 237"/>
                <a:gd name="T61" fmla="*/ 24 h 95"/>
                <a:gd name="T62" fmla="*/ 91 w 237"/>
                <a:gd name="T63" fmla="*/ 28 h 95"/>
                <a:gd name="T64" fmla="*/ 79 w 237"/>
                <a:gd name="T65" fmla="*/ 11 h 95"/>
                <a:gd name="T66" fmla="*/ 74 w 237"/>
                <a:gd name="T67" fmla="*/ 9 h 95"/>
                <a:gd name="T68" fmla="*/ 71 w 237"/>
                <a:gd name="T69" fmla="*/ 12 h 95"/>
                <a:gd name="T70" fmla="*/ 72 w 237"/>
                <a:gd name="T71" fmla="*/ 14 h 95"/>
                <a:gd name="T72" fmla="*/ 75 w 237"/>
                <a:gd name="T73" fmla="*/ 34 h 95"/>
                <a:gd name="T74" fmla="*/ 63 w 237"/>
                <a:gd name="T75" fmla="*/ 42 h 95"/>
                <a:gd name="T76" fmla="*/ 46 w 237"/>
                <a:gd name="T77" fmla="*/ 29 h 95"/>
                <a:gd name="T78" fmla="*/ 41 w 237"/>
                <a:gd name="T79" fmla="*/ 29 h 95"/>
                <a:gd name="T80" fmla="*/ 39 w 237"/>
                <a:gd name="T81" fmla="*/ 32 h 95"/>
                <a:gd name="T82" fmla="*/ 40 w 237"/>
                <a:gd name="T83" fmla="*/ 34 h 95"/>
                <a:gd name="T84" fmla="*/ 49 w 237"/>
                <a:gd name="T85" fmla="*/ 53 h 95"/>
                <a:gd name="T86" fmla="*/ 40 w 237"/>
                <a:gd name="T87" fmla="*/ 64 h 95"/>
                <a:gd name="T88" fmla="*/ 21 w 237"/>
                <a:gd name="T89" fmla="*/ 57 h 95"/>
                <a:gd name="T90" fmla="*/ 15 w 237"/>
                <a:gd name="T91" fmla="*/ 58 h 95"/>
                <a:gd name="T92" fmla="*/ 14 w 237"/>
                <a:gd name="T93" fmla="*/ 60 h 95"/>
                <a:gd name="T94" fmla="*/ 16 w 237"/>
                <a:gd name="T95" fmla="*/ 64 h 95"/>
                <a:gd name="T96" fmla="*/ 31 w 237"/>
                <a:gd name="T97" fmla="*/ 78 h 95"/>
                <a:gd name="T98" fmla="*/ 25 w 237"/>
                <a:gd name="T99" fmla="*/ 92 h 95"/>
                <a:gd name="T100" fmla="*/ 5 w 237"/>
                <a:gd name="T101" fmla="*/ 91 h 95"/>
                <a:gd name="T102" fmla="*/ 0 w 237"/>
                <a:gd name="T103" fmla="*/ 94 h 95"/>
                <a:gd name="T104" fmla="*/ 0 w 237"/>
                <a:gd name="T105" fmla="*/ 95 h 95"/>
                <a:gd name="T106" fmla="*/ 218 w 237"/>
                <a:gd name="T107"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37" h="95">
                  <a:moveTo>
                    <a:pt x="218" y="95"/>
                  </a:moveTo>
                  <a:cubicBezTo>
                    <a:pt x="218" y="95"/>
                    <a:pt x="217" y="94"/>
                    <a:pt x="217" y="94"/>
                  </a:cubicBezTo>
                  <a:cubicBezTo>
                    <a:pt x="234" y="82"/>
                    <a:pt x="234" y="82"/>
                    <a:pt x="234" y="82"/>
                  </a:cubicBezTo>
                  <a:cubicBezTo>
                    <a:pt x="236" y="82"/>
                    <a:pt x="237" y="80"/>
                    <a:pt x="237" y="79"/>
                  </a:cubicBezTo>
                  <a:cubicBezTo>
                    <a:pt x="237" y="78"/>
                    <a:pt x="236" y="78"/>
                    <a:pt x="236" y="77"/>
                  </a:cubicBezTo>
                  <a:cubicBezTo>
                    <a:pt x="235" y="75"/>
                    <a:pt x="233" y="74"/>
                    <a:pt x="231" y="75"/>
                  </a:cubicBezTo>
                  <a:cubicBezTo>
                    <a:pt x="211" y="78"/>
                    <a:pt x="211" y="78"/>
                    <a:pt x="211" y="78"/>
                  </a:cubicBezTo>
                  <a:cubicBezTo>
                    <a:pt x="209" y="74"/>
                    <a:pt x="206" y="70"/>
                    <a:pt x="203" y="66"/>
                  </a:cubicBezTo>
                  <a:cubicBezTo>
                    <a:pt x="216" y="49"/>
                    <a:pt x="216" y="49"/>
                    <a:pt x="216" y="49"/>
                  </a:cubicBezTo>
                  <a:cubicBezTo>
                    <a:pt x="217" y="49"/>
                    <a:pt x="217" y="48"/>
                    <a:pt x="217" y="46"/>
                  </a:cubicBezTo>
                  <a:cubicBezTo>
                    <a:pt x="217" y="46"/>
                    <a:pt x="217" y="45"/>
                    <a:pt x="216" y="44"/>
                  </a:cubicBezTo>
                  <a:cubicBezTo>
                    <a:pt x="215" y="42"/>
                    <a:pt x="212" y="42"/>
                    <a:pt x="211" y="43"/>
                  </a:cubicBezTo>
                  <a:cubicBezTo>
                    <a:pt x="192" y="53"/>
                    <a:pt x="192" y="53"/>
                    <a:pt x="192" y="53"/>
                  </a:cubicBezTo>
                  <a:cubicBezTo>
                    <a:pt x="189" y="49"/>
                    <a:pt x="185" y="46"/>
                    <a:pt x="181" y="43"/>
                  </a:cubicBezTo>
                  <a:cubicBezTo>
                    <a:pt x="188" y="24"/>
                    <a:pt x="188" y="24"/>
                    <a:pt x="188" y="24"/>
                  </a:cubicBezTo>
                  <a:cubicBezTo>
                    <a:pt x="188" y="23"/>
                    <a:pt x="189" y="22"/>
                    <a:pt x="189" y="22"/>
                  </a:cubicBezTo>
                  <a:cubicBezTo>
                    <a:pt x="189" y="20"/>
                    <a:pt x="188" y="19"/>
                    <a:pt x="187" y="18"/>
                  </a:cubicBezTo>
                  <a:cubicBezTo>
                    <a:pt x="185" y="17"/>
                    <a:pt x="182" y="18"/>
                    <a:pt x="181" y="20"/>
                  </a:cubicBezTo>
                  <a:cubicBezTo>
                    <a:pt x="167" y="34"/>
                    <a:pt x="167" y="34"/>
                    <a:pt x="167" y="34"/>
                  </a:cubicBezTo>
                  <a:cubicBezTo>
                    <a:pt x="162" y="32"/>
                    <a:pt x="158" y="30"/>
                    <a:pt x="153" y="28"/>
                  </a:cubicBezTo>
                  <a:cubicBezTo>
                    <a:pt x="154" y="8"/>
                    <a:pt x="154" y="8"/>
                    <a:pt x="154" y="8"/>
                  </a:cubicBezTo>
                  <a:cubicBezTo>
                    <a:pt x="154" y="8"/>
                    <a:pt x="154" y="7"/>
                    <a:pt x="154" y="7"/>
                  </a:cubicBezTo>
                  <a:cubicBezTo>
                    <a:pt x="154" y="5"/>
                    <a:pt x="153" y="4"/>
                    <a:pt x="151" y="3"/>
                  </a:cubicBezTo>
                  <a:cubicBezTo>
                    <a:pt x="149" y="3"/>
                    <a:pt x="146" y="4"/>
                    <a:pt x="146" y="6"/>
                  </a:cubicBezTo>
                  <a:cubicBezTo>
                    <a:pt x="137" y="24"/>
                    <a:pt x="137" y="24"/>
                    <a:pt x="137" y="24"/>
                  </a:cubicBezTo>
                  <a:cubicBezTo>
                    <a:pt x="132" y="24"/>
                    <a:pt x="127" y="23"/>
                    <a:pt x="122" y="23"/>
                  </a:cubicBezTo>
                  <a:cubicBezTo>
                    <a:pt x="116" y="4"/>
                    <a:pt x="116" y="4"/>
                    <a:pt x="116" y="4"/>
                  </a:cubicBezTo>
                  <a:cubicBezTo>
                    <a:pt x="116" y="1"/>
                    <a:pt x="114" y="0"/>
                    <a:pt x="112" y="0"/>
                  </a:cubicBezTo>
                  <a:cubicBezTo>
                    <a:pt x="110" y="0"/>
                    <a:pt x="108" y="2"/>
                    <a:pt x="108" y="4"/>
                  </a:cubicBezTo>
                  <a:cubicBezTo>
                    <a:pt x="108" y="4"/>
                    <a:pt x="108" y="4"/>
                    <a:pt x="108" y="4"/>
                  </a:cubicBezTo>
                  <a:cubicBezTo>
                    <a:pt x="105" y="24"/>
                    <a:pt x="105" y="24"/>
                    <a:pt x="105" y="24"/>
                  </a:cubicBezTo>
                  <a:cubicBezTo>
                    <a:pt x="100" y="25"/>
                    <a:pt x="95" y="26"/>
                    <a:pt x="91" y="28"/>
                  </a:cubicBezTo>
                  <a:cubicBezTo>
                    <a:pt x="79" y="11"/>
                    <a:pt x="79" y="11"/>
                    <a:pt x="79" y="11"/>
                  </a:cubicBezTo>
                  <a:cubicBezTo>
                    <a:pt x="78" y="9"/>
                    <a:pt x="76" y="8"/>
                    <a:pt x="74" y="9"/>
                  </a:cubicBezTo>
                  <a:cubicBezTo>
                    <a:pt x="72" y="9"/>
                    <a:pt x="71" y="11"/>
                    <a:pt x="71" y="12"/>
                  </a:cubicBezTo>
                  <a:cubicBezTo>
                    <a:pt x="71" y="13"/>
                    <a:pt x="72" y="13"/>
                    <a:pt x="72" y="14"/>
                  </a:cubicBezTo>
                  <a:cubicBezTo>
                    <a:pt x="75" y="34"/>
                    <a:pt x="75" y="34"/>
                    <a:pt x="75" y="34"/>
                  </a:cubicBezTo>
                  <a:cubicBezTo>
                    <a:pt x="71" y="36"/>
                    <a:pt x="66" y="39"/>
                    <a:pt x="63" y="42"/>
                  </a:cubicBezTo>
                  <a:cubicBezTo>
                    <a:pt x="46" y="29"/>
                    <a:pt x="46" y="29"/>
                    <a:pt x="46" y="29"/>
                  </a:cubicBezTo>
                  <a:cubicBezTo>
                    <a:pt x="45" y="28"/>
                    <a:pt x="42" y="27"/>
                    <a:pt x="41" y="29"/>
                  </a:cubicBezTo>
                  <a:cubicBezTo>
                    <a:pt x="40" y="30"/>
                    <a:pt x="39" y="31"/>
                    <a:pt x="39" y="32"/>
                  </a:cubicBezTo>
                  <a:cubicBezTo>
                    <a:pt x="39" y="33"/>
                    <a:pt x="39" y="34"/>
                    <a:pt x="40" y="34"/>
                  </a:cubicBezTo>
                  <a:cubicBezTo>
                    <a:pt x="49" y="53"/>
                    <a:pt x="49" y="53"/>
                    <a:pt x="49" y="53"/>
                  </a:cubicBezTo>
                  <a:cubicBezTo>
                    <a:pt x="46" y="56"/>
                    <a:pt x="43" y="60"/>
                    <a:pt x="40" y="64"/>
                  </a:cubicBezTo>
                  <a:cubicBezTo>
                    <a:pt x="21" y="57"/>
                    <a:pt x="21" y="57"/>
                    <a:pt x="21" y="57"/>
                  </a:cubicBezTo>
                  <a:cubicBezTo>
                    <a:pt x="19" y="56"/>
                    <a:pt x="16" y="56"/>
                    <a:pt x="15" y="58"/>
                  </a:cubicBezTo>
                  <a:cubicBezTo>
                    <a:pt x="15" y="59"/>
                    <a:pt x="14" y="60"/>
                    <a:pt x="14" y="60"/>
                  </a:cubicBezTo>
                  <a:cubicBezTo>
                    <a:pt x="14" y="62"/>
                    <a:pt x="15" y="63"/>
                    <a:pt x="16" y="64"/>
                  </a:cubicBezTo>
                  <a:cubicBezTo>
                    <a:pt x="31" y="78"/>
                    <a:pt x="31" y="78"/>
                    <a:pt x="31" y="78"/>
                  </a:cubicBezTo>
                  <a:cubicBezTo>
                    <a:pt x="29" y="82"/>
                    <a:pt x="27" y="87"/>
                    <a:pt x="25" y="92"/>
                  </a:cubicBezTo>
                  <a:cubicBezTo>
                    <a:pt x="5" y="91"/>
                    <a:pt x="5" y="91"/>
                    <a:pt x="5" y="91"/>
                  </a:cubicBezTo>
                  <a:cubicBezTo>
                    <a:pt x="3" y="91"/>
                    <a:pt x="0" y="92"/>
                    <a:pt x="0" y="94"/>
                  </a:cubicBezTo>
                  <a:cubicBezTo>
                    <a:pt x="0" y="94"/>
                    <a:pt x="0" y="95"/>
                    <a:pt x="0" y="95"/>
                  </a:cubicBezTo>
                  <a:lnTo>
                    <a:pt x="218"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9" tIns="34294" rIns="68589" bIns="34294"/>
            <a:lstStyle/>
            <a:p>
              <a:pPr fontAlgn="auto">
                <a:spcBef>
                  <a:spcPts val="0"/>
                </a:spcBef>
                <a:spcAft>
                  <a:spcPts val="0"/>
                </a:spcAft>
                <a:defRPr/>
              </a:pPr>
              <a:endParaRPr lang="en-US" sz="1350" dirty="0">
                <a:latin typeface="+mn-lt"/>
                <a:ea typeface="+mn-ea"/>
              </a:endParaRPr>
            </a:p>
          </p:txBody>
        </p:sp>
      </p:grpSp>
      <p:sp>
        <p:nvSpPr>
          <p:cNvPr id="35" name="i$liḋe-Freeform: Shape 52"/>
          <p:cNvSpPr>
            <a:spLocks/>
          </p:cNvSpPr>
          <p:nvPr/>
        </p:nvSpPr>
        <p:spPr bwMode="auto">
          <a:xfrm>
            <a:off x="3653332" y="1969233"/>
            <a:ext cx="350837" cy="350838"/>
          </a:xfrm>
          <a:custGeom>
            <a:avLst/>
            <a:gdLst>
              <a:gd name="T0" fmla="*/ 0 w 124"/>
              <a:gd name="T1" fmla="*/ 62 h 124"/>
              <a:gd name="T2" fmla="*/ 124 w 124"/>
              <a:gd name="T3" fmla="*/ 62 h 124"/>
              <a:gd name="T4" fmla="*/ 116 w 124"/>
              <a:gd name="T5" fmla="*/ 60 h 124"/>
              <a:gd name="T6" fmla="*/ 87 w 124"/>
              <a:gd name="T7" fmla="*/ 35 h 124"/>
              <a:gd name="T8" fmla="*/ 116 w 124"/>
              <a:gd name="T9" fmla="*/ 60 h 124"/>
              <a:gd name="T10" fmla="*/ 43 w 124"/>
              <a:gd name="T11" fmla="*/ 95 h 124"/>
              <a:gd name="T12" fmla="*/ 60 w 124"/>
              <a:gd name="T13" fmla="*/ 116 h 124"/>
              <a:gd name="T14" fmla="*/ 64 w 124"/>
              <a:gd name="T15" fmla="*/ 8 h 124"/>
              <a:gd name="T16" fmla="*/ 64 w 124"/>
              <a:gd name="T17" fmla="*/ 36 h 124"/>
              <a:gd name="T18" fmla="*/ 64 w 124"/>
              <a:gd name="T19" fmla="*/ 8 h 124"/>
              <a:gd name="T20" fmla="*/ 100 w 124"/>
              <a:gd name="T21" fmla="*/ 23 h 124"/>
              <a:gd name="T22" fmla="*/ 71 w 124"/>
              <a:gd name="T23" fmla="*/ 9 h 124"/>
              <a:gd name="T24" fmla="*/ 60 w 124"/>
              <a:gd name="T25" fmla="*/ 36 h 124"/>
              <a:gd name="T26" fmla="*/ 60 w 124"/>
              <a:gd name="T27" fmla="*/ 8 h 124"/>
              <a:gd name="T28" fmla="*/ 38 w 124"/>
              <a:gd name="T29" fmla="*/ 31 h 124"/>
              <a:gd name="T30" fmla="*/ 53 w 124"/>
              <a:gd name="T31" fmla="*/ 9 h 124"/>
              <a:gd name="T32" fmla="*/ 40 w 124"/>
              <a:gd name="T33" fmla="*/ 36 h 124"/>
              <a:gd name="T34" fmla="*/ 60 w 124"/>
              <a:gd name="T35" fmla="*/ 60 h 124"/>
              <a:gd name="T36" fmla="*/ 40 w 124"/>
              <a:gd name="T37" fmla="*/ 36 h 124"/>
              <a:gd name="T38" fmla="*/ 60 w 124"/>
              <a:gd name="T39" fmla="*/ 88 h 124"/>
              <a:gd name="T40" fmla="*/ 36 w 124"/>
              <a:gd name="T41" fmla="*/ 64 h 124"/>
              <a:gd name="T42" fmla="*/ 53 w 124"/>
              <a:gd name="T43" fmla="*/ 115 h 124"/>
              <a:gd name="T44" fmla="*/ 40 w 124"/>
              <a:gd name="T45" fmla="*/ 96 h 124"/>
              <a:gd name="T46" fmla="*/ 64 w 124"/>
              <a:gd name="T47" fmla="*/ 116 h 124"/>
              <a:gd name="T48" fmla="*/ 81 w 124"/>
              <a:gd name="T49" fmla="*/ 95 h 124"/>
              <a:gd name="T50" fmla="*/ 64 w 124"/>
              <a:gd name="T51" fmla="*/ 116 h 124"/>
              <a:gd name="T52" fmla="*/ 97 w 124"/>
              <a:gd name="T53" fmla="*/ 103 h 124"/>
              <a:gd name="T54" fmla="*/ 84 w 124"/>
              <a:gd name="T55" fmla="*/ 96 h 124"/>
              <a:gd name="T56" fmla="*/ 64 w 124"/>
              <a:gd name="T57" fmla="*/ 88 h 124"/>
              <a:gd name="T58" fmla="*/ 88 w 124"/>
              <a:gd name="T59" fmla="*/ 64 h 124"/>
              <a:gd name="T60" fmla="*/ 64 w 124"/>
              <a:gd name="T61" fmla="*/ 60 h 124"/>
              <a:gd name="T62" fmla="*/ 84 w 124"/>
              <a:gd name="T63" fmla="*/ 36 h 124"/>
              <a:gd name="T64" fmla="*/ 64 w 124"/>
              <a:gd name="T65" fmla="*/ 60 h 124"/>
              <a:gd name="T66" fmla="*/ 37 w 124"/>
              <a:gd name="T67" fmla="*/ 35 h 124"/>
              <a:gd name="T68" fmla="*/ 8 w 124"/>
              <a:gd name="T69" fmla="*/ 60 h 124"/>
              <a:gd name="T70" fmla="*/ 8 w 124"/>
              <a:gd name="T71" fmla="*/ 64 h 124"/>
              <a:gd name="T72" fmla="*/ 38 w 124"/>
              <a:gd name="T73" fmla="*/ 93 h 124"/>
              <a:gd name="T74" fmla="*/ 8 w 124"/>
              <a:gd name="T75" fmla="*/ 64 h 124"/>
              <a:gd name="T76" fmla="*/ 86 w 124"/>
              <a:gd name="T77" fmla="*/ 93 h 124"/>
              <a:gd name="T78" fmla="*/ 116 w 124"/>
              <a:gd name="T79" fmla="*/ 6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4" h="124">
                <a:moveTo>
                  <a:pt x="62" y="0"/>
                </a:moveTo>
                <a:cubicBezTo>
                  <a:pt x="28" y="0"/>
                  <a:pt x="0" y="28"/>
                  <a:pt x="0" y="62"/>
                </a:cubicBezTo>
                <a:cubicBezTo>
                  <a:pt x="0" y="96"/>
                  <a:pt x="28" y="124"/>
                  <a:pt x="62" y="124"/>
                </a:cubicBezTo>
                <a:cubicBezTo>
                  <a:pt x="96" y="124"/>
                  <a:pt x="124" y="96"/>
                  <a:pt x="124" y="62"/>
                </a:cubicBezTo>
                <a:cubicBezTo>
                  <a:pt x="124" y="28"/>
                  <a:pt x="96" y="0"/>
                  <a:pt x="62" y="0"/>
                </a:cubicBezTo>
                <a:close/>
                <a:moveTo>
                  <a:pt x="116" y="60"/>
                </a:moveTo>
                <a:cubicBezTo>
                  <a:pt x="92" y="60"/>
                  <a:pt x="92" y="60"/>
                  <a:pt x="92" y="60"/>
                </a:cubicBezTo>
                <a:cubicBezTo>
                  <a:pt x="92" y="51"/>
                  <a:pt x="90" y="43"/>
                  <a:pt x="87" y="35"/>
                </a:cubicBezTo>
                <a:cubicBezTo>
                  <a:pt x="93" y="33"/>
                  <a:pt x="98" y="30"/>
                  <a:pt x="102" y="26"/>
                </a:cubicBezTo>
                <a:cubicBezTo>
                  <a:pt x="110" y="35"/>
                  <a:pt x="115" y="47"/>
                  <a:pt x="116" y="60"/>
                </a:cubicBezTo>
                <a:close/>
                <a:moveTo>
                  <a:pt x="60" y="116"/>
                </a:moveTo>
                <a:cubicBezTo>
                  <a:pt x="53" y="110"/>
                  <a:pt x="48" y="103"/>
                  <a:pt x="43" y="95"/>
                </a:cubicBezTo>
                <a:cubicBezTo>
                  <a:pt x="49" y="93"/>
                  <a:pt x="54" y="92"/>
                  <a:pt x="60" y="92"/>
                </a:cubicBezTo>
                <a:cubicBezTo>
                  <a:pt x="60" y="116"/>
                  <a:pt x="60" y="116"/>
                  <a:pt x="60" y="116"/>
                </a:cubicBezTo>
                <a:cubicBezTo>
                  <a:pt x="60" y="116"/>
                  <a:pt x="60" y="116"/>
                  <a:pt x="60" y="116"/>
                </a:cubicBezTo>
                <a:close/>
                <a:moveTo>
                  <a:pt x="64" y="8"/>
                </a:moveTo>
                <a:cubicBezTo>
                  <a:pt x="72" y="14"/>
                  <a:pt x="78" y="23"/>
                  <a:pt x="82" y="33"/>
                </a:cubicBezTo>
                <a:cubicBezTo>
                  <a:pt x="76" y="35"/>
                  <a:pt x="70" y="36"/>
                  <a:pt x="64" y="36"/>
                </a:cubicBezTo>
                <a:cubicBezTo>
                  <a:pt x="64" y="8"/>
                  <a:pt x="64" y="8"/>
                  <a:pt x="64" y="8"/>
                </a:cubicBezTo>
                <a:cubicBezTo>
                  <a:pt x="64" y="8"/>
                  <a:pt x="64" y="8"/>
                  <a:pt x="64" y="8"/>
                </a:cubicBezTo>
                <a:close/>
                <a:moveTo>
                  <a:pt x="71" y="9"/>
                </a:moveTo>
                <a:cubicBezTo>
                  <a:pt x="82" y="11"/>
                  <a:pt x="92" y="16"/>
                  <a:pt x="100" y="23"/>
                </a:cubicBezTo>
                <a:cubicBezTo>
                  <a:pt x="95" y="26"/>
                  <a:pt x="91" y="29"/>
                  <a:pt x="86" y="31"/>
                </a:cubicBezTo>
                <a:cubicBezTo>
                  <a:pt x="82" y="23"/>
                  <a:pt x="77" y="15"/>
                  <a:pt x="71" y="9"/>
                </a:cubicBezTo>
                <a:close/>
                <a:moveTo>
                  <a:pt x="60" y="8"/>
                </a:moveTo>
                <a:cubicBezTo>
                  <a:pt x="60" y="36"/>
                  <a:pt x="60" y="36"/>
                  <a:pt x="60" y="36"/>
                </a:cubicBezTo>
                <a:cubicBezTo>
                  <a:pt x="54" y="36"/>
                  <a:pt x="48" y="35"/>
                  <a:pt x="42" y="33"/>
                </a:cubicBezTo>
                <a:cubicBezTo>
                  <a:pt x="46" y="23"/>
                  <a:pt x="52" y="14"/>
                  <a:pt x="60" y="8"/>
                </a:cubicBezTo>
                <a:cubicBezTo>
                  <a:pt x="60" y="8"/>
                  <a:pt x="60" y="8"/>
                  <a:pt x="60" y="8"/>
                </a:cubicBezTo>
                <a:close/>
                <a:moveTo>
                  <a:pt x="38" y="31"/>
                </a:moveTo>
                <a:cubicBezTo>
                  <a:pt x="33" y="29"/>
                  <a:pt x="29" y="26"/>
                  <a:pt x="24" y="23"/>
                </a:cubicBezTo>
                <a:cubicBezTo>
                  <a:pt x="32" y="16"/>
                  <a:pt x="42" y="11"/>
                  <a:pt x="53" y="9"/>
                </a:cubicBezTo>
                <a:cubicBezTo>
                  <a:pt x="47" y="15"/>
                  <a:pt x="42" y="23"/>
                  <a:pt x="38" y="31"/>
                </a:cubicBezTo>
                <a:close/>
                <a:moveTo>
                  <a:pt x="40" y="36"/>
                </a:moveTo>
                <a:cubicBezTo>
                  <a:pt x="47" y="38"/>
                  <a:pt x="53" y="40"/>
                  <a:pt x="60" y="40"/>
                </a:cubicBezTo>
                <a:cubicBezTo>
                  <a:pt x="60" y="60"/>
                  <a:pt x="60" y="60"/>
                  <a:pt x="60" y="60"/>
                </a:cubicBezTo>
                <a:cubicBezTo>
                  <a:pt x="36" y="60"/>
                  <a:pt x="36" y="60"/>
                  <a:pt x="36" y="60"/>
                </a:cubicBezTo>
                <a:cubicBezTo>
                  <a:pt x="36" y="52"/>
                  <a:pt x="38" y="44"/>
                  <a:pt x="40" y="36"/>
                </a:cubicBezTo>
                <a:close/>
                <a:moveTo>
                  <a:pt x="60" y="64"/>
                </a:moveTo>
                <a:cubicBezTo>
                  <a:pt x="60" y="88"/>
                  <a:pt x="60" y="88"/>
                  <a:pt x="60" y="88"/>
                </a:cubicBezTo>
                <a:cubicBezTo>
                  <a:pt x="54" y="88"/>
                  <a:pt x="48" y="89"/>
                  <a:pt x="42" y="91"/>
                </a:cubicBezTo>
                <a:cubicBezTo>
                  <a:pt x="38" y="83"/>
                  <a:pt x="36" y="74"/>
                  <a:pt x="36" y="64"/>
                </a:cubicBezTo>
                <a:lnTo>
                  <a:pt x="60" y="64"/>
                </a:lnTo>
                <a:close/>
                <a:moveTo>
                  <a:pt x="53" y="115"/>
                </a:moveTo>
                <a:cubicBezTo>
                  <a:pt x="43" y="114"/>
                  <a:pt x="34" y="109"/>
                  <a:pt x="27" y="103"/>
                </a:cubicBezTo>
                <a:cubicBezTo>
                  <a:pt x="31" y="100"/>
                  <a:pt x="35" y="98"/>
                  <a:pt x="40" y="96"/>
                </a:cubicBezTo>
                <a:cubicBezTo>
                  <a:pt x="43" y="103"/>
                  <a:pt x="48" y="110"/>
                  <a:pt x="53" y="115"/>
                </a:cubicBezTo>
                <a:close/>
                <a:moveTo>
                  <a:pt x="64" y="116"/>
                </a:moveTo>
                <a:cubicBezTo>
                  <a:pt x="64" y="92"/>
                  <a:pt x="64" y="92"/>
                  <a:pt x="64" y="92"/>
                </a:cubicBezTo>
                <a:cubicBezTo>
                  <a:pt x="70" y="92"/>
                  <a:pt x="75" y="93"/>
                  <a:pt x="81" y="95"/>
                </a:cubicBezTo>
                <a:cubicBezTo>
                  <a:pt x="76" y="103"/>
                  <a:pt x="71" y="110"/>
                  <a:pt x="64" y="116"/>
                </a:cubicBezTo>
                <a:cubicBezTo>
                  <a:pt x="64" y="116"/>
                  <a:pt x="64" y="116"/>
                  <a:pt x="64" y="116"/>
                </a:cubicBezTo>
                <a:close/>
                <a:moveTo>
                  <a:pt x="84" y="96"/>
                </a:moveTo>
                <a:cubicBezTo>
                  <a:pt x="89" y="98"/>
                  <a:pt x="93" y="100"/>
                  <a:pt x="97" y="103"/>
                </a:cubicBezTo>
                <a:cubicBezTo>
                  <a:pt x="90" y="109"/>
                  <a:pt x="81" y="114"/>
                  <a:pt x="71" y="115"/>
                </a:cubicBezTo>
                <a:cubicBezTo>
                  <a:pt x="76" y="110"/>
                  <a:pt x="81" y="103"/>
                  <a:pt x="84" y="96"/>
                </a:cubicBezTo>
                <a:close/>
                <a:moveTo>
                  <a:pt x="82" y="91"/>
                </a:moveTo>
                <a:cubicBezTo>
                  <a:pt x="76" y="89"/>
                  <a:pt x="70" y="88"/>
                  <a:pt x="64" y="88"/>
                </a:cubicBezTo>
                <a:cubicBezTo>
                  <a:pt x="64" y="64"/>
                  <a:pt x="64" y="64"/>
                  <a:pt x="64" y="64"/>
                </a:cubicBezTo>
                <a:cubicBezTo>
                  <a:pt x="88" y="64"/>
                  <a:pt x="88" y="64"/>
                  <a:pt x="88" y="64"/>
                </a:cubicBezTo>
                <a:cubicBezTo>
                  <a:pt x="88" y="74"/>
                  <a:pt x="86" y="83"/>
                  <a:pt x="82" y="91"/>
                </a:cubicBezTo>
                <a:close/>
                <a:moveTo>
                  <a:pt x="64" y="60"/>
                </a:moveTo>
                <a:cubicBezTo>
                  <a:pt x="64" y="40"/>
                  <a:pt x="64" y="40"/>
                  <a:pt x="64" y="40"/>
                </a:cubicBezTo>
                <a:cubicBezTo>
                  <a:pt x="71" y="40"/>
                  <a:pt x="77" y="38"/>
                  <a:pt x="84" y="36"/>
                </a:cubicBezTo>
                <a:cubicBezTo>
                  <a:pt x="86" y="44"/>
                  <a:pt x="88" y="52"/>
                  <a:pt x="88" y="60"/>
                </a:cubicBezTo>
                <a:lnTo>
                  <a:pt x="64" y="60"/>
                </a:lnTo>
                <a:close/>
                <a:moveTo>
                  <a:pt x="22" y="26"/>
                </a:moveTo>
                <a:cubicBezTo>
                  <a:pt x="26" y="30"/>
                  <a:pt x="31" y="33"/>
                  <a:pt x="37" y="35"/>
                </a:cubicBezTo>
                <a:cubicBezTo>
                  <a:pt x="34" y="43"/>
                  <a:pt x="32" y="51"/>
                  <a:pt x="32" y="60"/>
                </a:cubicBezTo>
                <a:cubicBezTo>
                  <a:pt x="8" y="60"/>
                  <a:pt x="8" y="60"/>
                  <a:pt x="8" y="60"/>
                </a:cubicBezTo>
                <a:cubicBezTo>
                  <a:pt x="9" y="47"/>
                  <a:pt x="14" y="35"/>
                  <a:pt x="22" y="26"/>
                </a:cubicBezTo>
                <a:close/>
                <a:moveTo>
                  <a:pt x="8" y="64"/>
                </a:moveTo>
                <a:cubicBezTo>
                  <a:pt x="32" y="64"/>
                  <a:pt x="32" y="64"/>
                  <a:pt x="32" y="64"/>
                </a:cubicBezTo>
                <a:cubicBezTo>
                  <a:pt x="32" y="74"/>
                  <a:pt x="34" y="84"/>
                  <a:pt x="38" y="93"/>
                </a:cubicBezTo>
                <a:cubicBezTo>
                  <a:pt x="33" y="95"/>
                  <a:pt x="28" y="97"/>
                  <a:pt x="24" y="100"/>
                </a:cubicBezTo>
                <a:cubicBezTo>
                  <a:pt x="15" y="91"/>
                  <a:pt x="9" y="78"/>
                  <a:pt x="8" y="64"/>
                </a:cubicBezTo>
                <a:close/>
                <a:moveTo>
                  <a:pt x="100" y="100"/>
                </a:moveTo>
                <a:cubicBezTo>
                  <a:pt x="96" y="97"/>
                  <a:pt x="91" y="95"/>
                  <a:pt x="86" y="93"/>
                </a:cubicBezTo>
                <a:cubicBezTo>
                  <a:pt x="90" y="84"/>
                  <a:pt x="92" y="74"/>
                  <a:pt x="92" y="64"/>
                </a:cubicBezTo>
                <a:cubicBezTo>
                  <a:pt x="116" y="64"/>
                  <a:pt x="116" y="64"/>
                  <a:pt x="116" y="64"/>
                </a:cubicBezTo>
                <a:cubicBezTo>
                  <a:pt x="115" y="78"/>
                  <a:pt x="109" y="91"/>
                  <a:pt x="100" y="100"/>
                </a:cubicBezTo>
                <a:close/>
              </a:path>
            </a:pathLst>
          </a:custGeom>
          <a:solidFill>
            <a:schemeClr val="bg1"/>
          </a:solidFill>
          <a:ln>
            <a:noFill/>
          </a:ln>
        </p:spPr>
        <p:txBody>
          <a:bodyPr anchor="ctr"/>
          <a:lstStyle/>
          <a:p>
            <a:pPr algn="ctr" fontAlgn="auto">
              <a:spcBef>
                <a:spcPts val="0"/>
              </a:spcBef>
              <a:spcAft>
                <a:spcPts val="0"/>
              </a:spcAft>
              <a:defRPr/>
            </a:pPr>
            <a:endParaRPr dirty="0">
              <a:solidFill>
                <a:schemeClr val="bg1"/>
              </a:solidFill>
              <a:latin typeface="+mn-lt"/>
              <a:ea typeface="微软雅黑 Light" panose="020B0502040204020203" pitchFamily="34" charset="-122"/>
              <a:cs typeface="+mn-ea"/>
              <a:sym typeface="+mn-lt"/>
            </a:endParaRPr>
          </a:p>
        </p:txBody>
      </p:sp>
      <p:grpSp>
        <p:nvGrpSpPr>
          <p:cNvPr id="36" name="组合 79"/>
          <p:cNvGrpSpPr/>
          <p:nvPr/>
        </p:nvGrpSpPr>
        <p:grpSpPr>
          <a:xfrm>
            <a:off x="3675586" y="3365691"/>
            <a:ext cx="328264" cy="335789"/>
            <a:chOff x="6703195" y="942077"/>
            <a:chExt cx="265554" cy="251300"/>
          </a:xfrm>
          <a:solidFill>
            <a:schemeClr val="bg1"/>
          </a:solidFill>
        </p:grpSpPr>
        <p:sp>
          <p:nvSpPr>
            <p:cNvPr id="37" name="Freeform 695"/>
            <p:cNvSpPr>
              <a:spLocks noEditPoints="1"/>
            </p:cNvSpPr>
            <p:nvPr/>
          </p:nvSpPr>
          <p:spPr bwMode="auto">
            <a:xfrm>
              <a:off x="6850880" y="1088568"/>
              <a:ext cx="103603" cy="104807"/>
            </a:xfrm>
            <a:custGeom>
              <a:avLst/>
              <a:gdLst>
                <a:gd name="T0" fmla="*/ 0 w 119"/>
                <a:gd name="T1" fmla="*/ 40 h 121"/>
                <a:gd name="T2" fmla="*/ 46 w 119"/>
                <a:gd name="T3" fmla="*/ 85 h 121"/>
                <a:gd name="T4" fmla="*/ 70 w 119"/>
                <a:gd name="T5" fmla="*/ 118 h 121"/>
                <a:gd name="T6" fmla="*/ 83 w 119"/>
                <a:gd name="T7" fmla="*/ 121 h 121"/>
                <a:gd name="T8" fmla="*/ 119 w 119"/>
                <a:gd name="T9" fmla="*/ 85 h 121"/>
                <a:gd name="T10" fmla="*/ 116 w 119"/>
                <a:gd name="T11" fmla="*/ 72 h 121"/>
                <a:gd name="T12" fmla="*/ 83 w 119"/>
                <a:gd name="T13" fmla="*/ 48 h 121"/>
                <a:gd name="T14" fmla="*/ 35 w 119"/>
                <a:gd name="T15" fmla="*/ 0 h 121"/>
                <a:gd name="T16" fmla="*/ 1 w 119"/>
                <a:gd name="T17" fmla="*/ 34 h 121"/>
                <a:gd name="T18" fmla="*/ 0 w 119"/>
                <a:gd name="T19" fmla="*/ 40 h 121"/>
                <a:gd name="T20" fmla="*/ 80 w 119"/>
                <a:gd name="T21" fmla="*/ 67 h 121"/>
                <a:gd name="T22" fmla="*/ 95 w 119"/>
                <a:gd name="T23" fmla="*/ 82 h 121"/>
                <a:gd name="T24" fmla="*/ 80 w 119"/>
                <a:gd name="T25" fmla="*/ 97 h 121"/>
                <a:gd name="T26" fmla="*/ 65 w 119"/>
                <a:gd name="T27" fmla="*/ 82 h 121"/>
                <a:gd name="T28" fmla="*/ 80 w 119"/>
                <a:gd name="T29" fmla="*/ 6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9" h="121">
                  <a:moveTo>
                    <a:pt x="0" y="40"/>
                  </a:moveTo>
                  <a:cubicBezTo>
                    <a:pt x="46" y="85"/>
                    <a:pt x="46" y="85"/>
                    <a:pt x="46" y="85"/>
                  </a:cubicBezTo>
                  <a:cubicBezTo>
                    <a:pt x="70" y="118"/>
                    <a:pt x="70" y="118"/>
                    <a:pt x="70" y="118"/>
                  </a:cubicBezTo>
                  <a:cubicBezTo>
                    <a:pt x="83" y="121"/>
                    <a:pt x="83" y="121"/>
                    <a:pt x="83" y="121"/>
                  </a:cubicBezTo>
                  <a:cubicBezTo>
                    <a:pt x="119" y="85"/>
                    <a:pt x="119" y="85"/>
                    <a:pt x="119" y="85"/>
                  </a:cubicBezTo>
                  <a:cubicBezTo>
                    <a:pt x="116" y="72"/>
                    <a:pt x="116" y="72"/>
                    <a:pt x="116" y="72"/>
                  </a:cubicBezTo>
                  <a:cubicBezTo>
                    <a:pt x="83" y="48"/>
                    <a:pt x="83" y="48"/>
                    <a:pt x="83" y="48"/>
                  </a:cubicBezTo>
                  <a:cubicBezTo>
                    <a:pt x="35" y="0"/>
                    <a:pt x="35" y="0"/>
                    <a:pt x="35" y="0"/>
                  </a:cubicBezTo>
                  <a:cubicBezTo>
                    <a:pt x="1" y="34"/>
                    <a:pt x="1" y="34"/>
                    <a:pt x="1" y="34"/>
                  </a:cubicBezTo>
                  <a:cubicBezTo>
                    <a:pt x="1" y="36"/>
                    <a:pt x="1" y="38"/>
                    <a:pt x="0" y="40"/>
                  </a:cubicBezTo>
                  <a:close/>
                  <a:moveTo>
                    <a:pt x="80" y="67"/>
                  </a:moveTo>
                  <a:cubicBezTo>
                    <a:pt x="88" y="67"/>
                    <a:pt x="95" y="73"/>
                    <a:pt x="95" y="82"/>
                  </a:cubicBezTo>
                  <a:cubicBezTo>
                    <a:pt x="95" y="90"/>
                    <a:pt x="88" y="97"/>
                    <a:pt x="80" y="97"/>
                  </a:cubicBezTo>
                  <a:cubicBezTo>
                    <a:pt x="71" y="97"/>
                    <a:pt x="65" y="90"/>
                    <a:pt x="65" y="82"/>
                  </a:cubicBezTo>
                  <a:cubicBezTo>
                    <a:pt x="65" y="73"/>
                    <a:pt x="71" y="67"/>
                    <a:pt x="80"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405" tIns="34203" rIns="68405" bIns="34203"/>
            <a:lstStyle/>
            <a:p>
              <a:pPr fontAlgn="auto">
                <a:spcBef>
                  <a:spcPts val="0"/>
                </a:spcBef>
                <a:spcAft>
                  <a:spcPts val="0"/>
                </a:spcAft>
                <a:defRPr/>
              </a:pPr>
              <a:endParaRPr lang="zh-CN" altLang="en-US">
                <a:latin typeface="+mn-lt"/>
                <a:ea typeface="+mn-ea"/>
              </a:endParaRPr>
            </a:p>
          </p:txBody>
        </p:sp>
        <p:sp>
          <p:nvSpPr>
            <p:cNvPr id="38" name="Freeform 696"/>
            <p:cNvSpPr>
              <a:spLocks/>
            </p:cNvSpPr>
            <p:nvPr/>
          </p:nvSpPr>
          <p:spPr bwMode="auto">
            <a:xfrm>
              <a:off x="6703195" y="942099"/>
              <a:ext cx="130991" cy="129819"/>
            </a:xfrm>
            <a:custGeom>
              <a:avLst/>
              <a:gdLst>
                <a:gd name="T0" fmla="*/ 151 w 151"/>
                <a:gd name="T1" fmla="*/ 114 h 149"/>
                <a:gd name="T2" fmla="*/ 124 w 151"/>
                <a:gd name="T3" fmla="*/ 87 h 149"/>
                <a:gd name="T4" fmla="*/ 130 w 151"/>
                <a:gd name="T5" fmla="*/ 67 h 149"/>
                <a:gd name="T6" fmla="*/ 62 w 151"/>
                <a:gd name="T7" fmla="*/ 0 h 149"/>
                <a:gd name="T8" fmla="*/ 56 w 151"/>
                <a:gd name="T9" fmla="*/ 6 h 149"/>
                <a:gd name="T10" fmla="*/ 82 w 151"/>
                <a:gd name="T11" fmla="*/ 46 h 149"/>
                <a:gd name="T12" fmla="*/ 46 w 151"/>
                <a:gd name="T13" fmla="*/ 81 h 149"/>
                <a:gd name="T14" fmla="*/ 6 w 151"/>
                <a:gd name="T15" fmla="*/ 56 h 149"/>
                <a:gd name="T16" fmla="*/ 0 w 151"/>
                <a:gd name="T17" fmla="*/ 62 h 149"/>
                <a:gd name="T18" fmla="*/ 67 w 151"/>
                <a:gd name="T19" fmla="*/ 130 h 149"/>
                <a:gd name="T20" fmla="*/ 87 w 151"/>
                <a:gd name="T21" fmla="*/ 124 h 149"/>
                <a:gd name="T22" fmla="*/ 111 w 151"/>
                <a:gd name="T23" fmla="*/ 149 h 149"/>
                <a:gd name="T24" fmla="*/ 117 w 151"/>
                <a:gd name="T25" fmla="*/ 148 h 149"/>
                <a:gd name="T26" fmla="*/ 151 w 151"/>
                <a:gd name="T27" fmla="*/ 11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149">
                  <a:moveTo>
                    <a:pt x="151" y="114"/>
                  </a:moveTo>
                  <a:cubicBezTo>
                    <a:pt x="124" y="87"/>
                    <a:pt x="124" y="87"/>
                    <a:pt x="124" y="87"/>
                  </a:cubicBezTo>
                  <a:cubicBezTo>
                    <a:pt x="128" y="80"/>
                    <a:pt x="130" y="74"/>
                    <a:pt x="130" y="67"/>
                  </a:cubicBezTo>
                  <a:cubicBezTo>
                    <a:pt x="130" y="33"/>
                    <a:pt x="97" y="0"/>
                    <a:pt x="62" y="0"/>
                  </a:cubicBezTo>
                  <a:cubicBezTo>
                    <a:pt x="62" y="0"/>
                    <a:pt x="58" y="4"/>
                    <a:pt x="56" y="6"/>
                  </a:cubicBezTo>
                  <a:cubicBezTo>
                    <a:pt x="84" y="34"/>
                    <a:pt x="82" y="29"/>
                    <a:pt x="82" y="46"/>
                  </a:cubicBezTo>
                  <a:cubicBezTo>
                    <a:pt x="82" y="60"/>
                    <a:pt x="60" y="81"/>
                    <a:pt x="46" y="81"/>
                  </a:cubicBezTo>
                  <a:cubicBezTo>
                    <a:pt x="29" y="81"/>
                    <a:pt x="34" y="84"/>
                    <a:pt x="6" y="56"/>
                  </a:cubicBezTo>
                  <a:cubicBezTo>
                    <a:pt x="4" y="58"/>
                    <a:pt x="0" y="62"/>
                    <a:pt x="0" y="62"/>
                  </a:cubicBezTo>
                  <a:cubicBezTo>
                    <a:pt x="1" y="97"/>
                    <a:pt x="33" y="130"/>
                    <a:pt x="67" y="130"/>
                  </a:cubicBezTo>
                  <a:cubicBezTo>
                    <a:pt x="74" y="130"/>
                    <a:pt x="80" y="128"/>
                    <a:pt x="87" y="124"/>
                  </a:cubicBezTo>
                  <a:cubicBezTo>
                    <a:pt x="111" y="149"/>
                    <a:pt x="111" y="149"/>
                    <a:pt x="111" y="149"/>
                  </a:cubicBezTo>
                  <a:cubicBezTo>
                    <a:pt x="113" y="148"/>
                    <a:pt x="115" y="148"/>
                    <a:pt x="117" y="148"/>
                  </a:cubicBezTo>
                  <a:lnTo>
                    <a:pt x="151" y="1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405" tIns="34203" rIns="68405" bIns="34203"/>
            <a:lstStyle/>
            <a:p>
              <a:pPr fontAlgn="auto">
                <a:spcBef>
                  <a:spcPts val="0"/>
                </a:spcBef>
                <a:spcAft>
                  <a:spcPts val="0"/>
                </a:spcAft>
                <a:defRPr/>
              </a:pPr>
              <a:endParaRPr lang="zh-CN" altLang="en-US">
                <a:latin typeface="+mn-lt"/>
                <a:ea typeface="+mn-ea"/>
              </a:endParaRPr>
            </a:p>
          </p:txBody>
        </p:sp>
        <p:sp>
          <p:nvSpPr>
            <p:cNvPr id="39" name="Freeform 697"/>
            <p:cNvSpPr>
              <a:spLocks/>
            </p:cNvSpPr>
            <p:nvPr/>
          </p:nvSpPr>
          <p:spPr bwMode="auto">
            <a:xfrm>
              <a:off x="6719865" y="942077"/>
              <a:ext cx="248884" cy="251300"/>
            </a:xfrm>
            <a:custGeom>
              <a:avLst/>
              <a:gdLst>
                <a:gd name="T0" fmla="*/ 240 w 285"/>
                <a:gd name="T1" fmla="*/ 172 h 289"/>
                <a:gd name="T2" fmla="*/ 259 w 285"/>
                <a:gd name="T3" fmla="*/ 190 h 289"/>
                <a:gd name="T4" fmla="*/ 254 w 285"/>
                <a:gd name="T5" fmla="*/ 86 h 289"/>
                <a:gd name="T6" fmla="*/ 213 w 285"/>
                <a:gd name="T7" fmla="*/ 45 h 289"/>
                <a:gd name="T8" fmla="*/ 200 w 285"/>
                <a:gd name="T9" fmla="*/ 42 h 289"/>
                <a:gd name="T10" fmla="*/ 191 w 285"/>
                <a:gd name="T11" fmla="*/ 26 h 289"/>
                <a:gd name="T12" fmla="*/ 178 w 285"/>
                <a:gd name="T13" fmla="*/ 9 h 289"/>
                <a:gd name="T14" fmla="*/ 177 w 285"/>
                <a:gd name="T15" fmla="*/ 7 h 289"/>
                <a:gd name="T16" fmla="*/ 167 w 285"/>
                <a:gd name="T17" fmla="*/ 0 h 289"/>
                <a:gd name="T18" fmla="*/ 159 w 285"/>
                <a:gd name="T19" fmla="*/ 6 h 289"/>
                <a:gd name="T20" fmla="*/ 133 w 285"/>
                <a:gd name="T21" fmla="*/ 31 h 289"/>
                <a:gd name="T22" fmla="*/ 134 w 285"/>
                <a:gd name="T23" fmla="*/ 49 h 289"/>
                <a:gd name="T24" fmla="*/ 136 w 285"/>
                <a:gd name="T25" fmla="*/ 51 h 289"/>
                <a:gd name="T26" fmla="*/ 155 w 285"/>
                <a:gd name="T27" fmla="*/ 64 h 289"/>
                <a:gd name="T28" fmla="*/ 156 w 285"/>
                <a:gd name="T29" fmla="*/ 64 h 289"/>
                <a:gd name="T30" fmla="*/ 177 w 285"/>
                <a:gd name="T31" fmla="*/ 77 h 289"/>
                <a:gd name="T32" fmla="*/ 171 w 285"/>
                <a:gd name="T33" fmla="*/ 102 h 289"/>
                <a:gd name="T34" fmla="*/ 104 w 285"/>
                <a:gd name="T35" fmla="*/ 169 h 289"/>
                <a:gd name="T36" fmla="*/ 98 w 285"/>
                <a:gd name="T37" fmla="*/ 168 h 289"/>
                <a:gd name="T38" fmla="*/ 88 w 285"/>
                <a:gd name="T39" fmla="*/ 172 h 289"/>
                <a:gd name="T40" fmla="*/ 86 w 285"/>
                <a:gd name="T41" fmla="*/ 174 h 289"/>
                <a:gd name="T42" fmla="*/ 16 w 285"/>
                <a:gd name="T43" fmla="*/ 244 h 289"/>
                <a:gd name="T44" fmla="*/ 14 w 285"/>
                <a:gd name="T45" fmla="*/ 246 h 289"/>
                <a:gd name="T46" fmla="*/ 43 w 285"/>
                <a:gd name="T47" fmla="*/ 289 h 289"/>
                <a:gd name="T48" fmla="*/ 53 w 285"/>
                <a:gd name="T49" fmla="*/ 285 h 289"/>
                <a:gd name="T50" fmla="*/ 55 w 285"/>
                <a:gd name="T51" fmla="*/ 283 h 289"/>
                <a:gd name="T52" fmla="*/ 125 w 285"/>
                <a:gd name="T53" fmla="*/ 213 h 289"/>
                <a:gd name="T54" fmla="*/ 127 w 285"/>
                <a:gd name="T55" fmla="*/ 211 h 289"/>
                <a:gd name="T56" fmla="*/ 130 w 285"/>
                <a:gd name="T57" fmla="*/ 195 h 289"/>
                <a:gd name="T58" fmla="*/ 205 w 285"/>
                <a:gd name="T59" fmla="*/ 120 h 289"/>
                <a:gd name="T60" fmla="*/ 217 w 285"/>
                <a:gd name="T61" fmla="*/ 112 h 289"/>
                <a:gd name="T62" fmla="*/ 218 w 285"/>
                <a:gd name="T63" fmla="*/ 112 h 289"/>
                <a:gd name="T64" fmla="*/ 240 w 285"/>
                <a:gd name="T65" fmla="*/ 172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5" h="289">
                  <a:moveTo>
                    <a:pt x="240" y="172"/>
                  </a:moveTo>
                  <a:cubicBezTo>
                    <a:pt x="259" y="190"/>
                    <a:pt x="259" y="190"/>
                    <a:pt x="259" y="190"/>
                  </a:cubicBezTo>
                  <a:cubicBezTo>
                    <a:pt x="259" y="190"/>
                    <a:pt x="285" y="117"/>
                    <a:pt x="254" y="86"/>
                  </a:cubicBezTo>
                  <a:cubicBezTo>
                    <a:pt x="242" y="74"/>
                    <a:pt x="226" y="58"/>
                    <a:pt x="213" y="45"/>
                  </a:cubicBezTo>
                  <a:cubicBezTo>
                    <a:pt x="210" y="42"/>
                    <a:pt x="202" y="44"/>
                    <a:pt x="200" y="42"/>
                  </a:cubicBezTo>
                  <a:cubicBezTo>
                    <a:pt x="194" y="34"/>
                    <a:pt x="192" y="27"/>
                    <a:pt x="191" y="26"/>
                  </a:cubicBezTo>
                  <a:cubicBezTo>
                    <a:pt x="190" y="20"/>
                    <a:pt x="184" y="14"/>
                    <a:pt x="178" y="9"/>
                  </a:cubicBezTo>
                  <a:cubicBezTo>
                    <a:pt x="177" y="7"/>
                    <a:pt x="177" y="7"/>
                    <a:pt x="177" y="7"/>
                  </a:cubicBezTo>
                  <a:cubicBezTo>
                    <a:pt x="172" y="2"/>
                    <a:pt x="170" y="0"/>
                    <a:pt x="167" y="0"/>
                  </a:cubicBezTo>
                  <a:cubicBezTo>
                    <a:pt x="165" y="0"/>
                    <a:pt x="163" y="2"/>
                    <a:pt x="159" y="6"/>
                  </a:cubicBezTo>
                  <a:cubicBezTo>
                    <a:pt x="133" y="31"/>
                    <a:pt x="133" y="31"/>
                    <a:pt x="133" y="31"/>
                  </a:cubicBezTo>
                  <a:cubicBezTo>
                    <a:pt x="124" y="40"/>
                    <a:pt x="126" y="41"/>
                    <a:pt x="134" y="49"/>
                  </a:cubicBezTo>
                  <a:cubicBezTo>
                    <a:pt x="136" y="51"/>
                    <a:pt x="136" y="51"/>
                    <a:pt x="136" y="51"/>
                  </a:cubicBezTo>
                  <a:cubicBezTo>
                    <a:pt x="142" y="57"/>
                    <a:pt x="149" y="64"/>
                    <a:pt x="155" y="64"/>
                  </a:cubicBezTo>
                  <a:cubicBezTo>
                    <a:pt x="156" y="64"/>
                    <a:pt x="156" y="64"/>
                    <a:pt x="156" y="64"/>
                  </a:cubicBezTo>
                  <a:cubicBezTo>
                    <a:pt x="161" y="65"/>
                    <a:pt x="172" y="68"/>
                    <a:pt x="177" y="77"/>
                  </a:cubicBezTo>
                  <a:cubicBezTo>
                    <a:pt x="182" y="89"/>
                    <a:pt x="174" y="97"/>
                    <a:pt x="171" y="102"/>
                  </a:cubicBezTo>
                  <a:cubicBezTo>
                    <a:pt x="104" y="169"/>
                    <a:pt x="104" y="169"/>
                    <a:pt x="104" y="169"/>
                  </a:cubicBezTo>
                  <a:cubicBezTo>
                    <a:pt x="102" y="168"/>
                    <a:pt x="100" y="168"/>
                    <a:pt x="98" y="168"/>
                  </a:cubicBezTo>
                  <a:cubicBezTo>
                    <a:pt x="94" y="168"/>
                    <a:pt x="91" y="169"/>
                    <a:pt x="88" y="172"/>
                  </a:cubicBezTo>
                  <a:cubicBezTo>
                    <a:pt x="87" y="172"/>
                    <a:pt x="87" y="173"/>
                    <a:pt x="86" y="174"/>
                  </a:cubicBezTo>
                  <a:cubicBezTo>
                    <a:pt x="86" y="174"/>
                    <a:pt x="30" y="229"/>
                    <a:pt x="16" y="244"/>
                  </a:cubicBezTo>
                  <a:cubicBezTo>
                    <a:pt x="15" y="245"/>
                    <a:pt x="14" y="245"/>
                    <a:pt x="14" y="246"/>
                  </a:cubicBezTo>
                  <a:cubicBezTo>
                    <a:pt x="0" y="259"/>
                    <a:pt x="25" y="289"/>
                    <a:pt x="43" y="289"/>
                  </a:cubicBezTo>
                  <a:cubicBezTo>
                    <a:pt x="47" y="289"/>
                    <a:pt x="50" y="288"/>
                    <a:pt x="53" y="285"/>
                  </a:cubicBezTo>
                  <a:cubicBezTo>
                    <a:pt x="54" y="285"/>
                    <a:pt x="54" y="284"/>
                    <a:pt x="55" y="283"/>
                  </a:cubicBezTo>
                  <a:cubicBezTo>
                    <a:pt x="70" y="268"/>
                    <a:pt x="125" y="213"/>
                    <a:pt x="125" y="213"/>
                  </a:cubicBezTo>
                  <a:cubicBezTo>
                    <a:pt x="126" y="212"/>
                    <a:pt x="127" y="212"/>
                    <a:pt x="127" y="211"/>
                  </a:cubicBezTo>
                  <a:cubicBezTo>
                    <a:pt x="131" y="207"/>
                    <a:pt x="132" y="201"/>
                    <a:pt x="130" y="195"/>
                  </a:cubicBezTo>
                  <a:cubicBezTo>
                    <a:pt x="205" y="120"/>
                    <a:pt x="205" y="120"/>
                    <a:pt x="205" y="120"/>
                  </a:cubicBezTo>
                  <a:cubicBezTo>
                    <a:pt x="210" y="116"/>
                    <a:pt x="215" y="112"/>
                    <a:pt x="217" y="112"/>
                  </a:cubicBezTo>
                  <a:cubicBezTo>
                    <a:pt x="218" y="112"/>
                    <a:pt x="218" y="112"/>
                    <a:pt x="218" y="112"/>
                  </a:cubicBezTo>
                  <a:cubicBezTo>
                    <a:pt x="246" y="128"/>
                    <a:pt x="240" y="172"/>
                    <a:pt x="240" y="1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405" tIns="34203" rIns="68405" bIns="34203"/>
            <a:lstStyle/>
            <a:p>
              <a:pPr fontAlgn="auto">
                <a:spcBef>
                  <a:spcPts val="0"/>
                </a:spcBef>
                <a:spcAft>
                  <a:spcPts val="0"/>
                </a:spcAft>
                <a:defRPr/>
              </a:pPr>
              <a:endParaRPr lang="zh-CN" altLang="en-US">
                <a:latin typeface="+mn-lt"/>
                <a:ea typeface="+mn-ea"/>
              </a:endParaRPr>
            </a:p>
          </p:txBody>
        </p:sp>
      </p:grpSp>
      <p:sp>
        <p:nvSpPr>
          <p:cNvPr id="40" name="îṣļîḑé-Freeform: Shape 15"/>
          <p:cNvSpPr>
            <a:spLocks noChangeAspect="1"/>
          </p:cNvSpPr>
          <p:nvPr/>
        </p:nvSpPr>
        <p:spPr bwMode="auto">
          <a:xfrm>
            <a:off x="3675557" y="4050446"/>
            <a:ext cx="336550" cy="381000"/>
          </a:xfrm>
          <a:custGeom>
            <a:avLst/>
            <a:gdLst>
              <a:gd name="connsiteX0" fmla="*/ 32079 w 449102"/>
              <a:gd name="connsiteY0" fmla="*/ 355245 h 508000"/>
              <a:gd name="connsiteX1" fmla="*/ 32079 w 449102"/>
              <a:gd name="connsiteY1" fmla="*/ 387217 h 508000"/>
              <a:gd name="connsiteX2" fmla="*/ 60593 w 449102"/>
              <a:gd name="connsiteY2" fmla="*/ 387217 h 508000"/>
              <a:gd name="connsiteX3" fmla="*/ 32079 w 449102"/>
              <a:gd name="connsiteY3" fmla="*/ 355245 h 508000"/>
              <a:gd name="connsiteX4" fmla="*/ 231680 w 449102"/>
              <a:gd name="connsiteY4" fmla="*/ 248672 h 508000"/>
              <a:gd name="connsiteX5" fmla="*/ 213858 w 449102"/>
              <a:gd name="connsiteY5" fmla="*/ 266434 h 508000"/>
              <a:gd name="connsiteX6" fmla="*/ 213858 w 449102"/>
              <a:gd name="connsiteY6" fmla="*/ 284196 h 508000"/>
              <a:gd name="connsiteX7" fmla="*/ 352866 w 449102"/>
              <a:gd name="connsiteY7" fmla="*/ 284196 h 508000"/>
              <a:gd name="connsiteX8" fmla="*/ 370688 w 449102"/>
              <a:gd name="connsiteY8" fmla="*/ 266434 h 508000"/>
              <a:gd name="connsiteX9" fmla="*/ 370688 w 449102"/>
              <a:gd name="connsiteY9" fmla="*/ 248672 h 508000"/>
              <a:gd name="connsiteX10" fmla="*/ 231680 w 449102"/>
              <a:gd name="connsiteY10" fmla="*/ 248672 h 508000"/>
              <a:gd name="connsiteX11" fmla="*/ 217107 w 449102"/>
              <a:gd name="connsiteY11" fmla="*/ 98655 h 508000"/>
              <a:gd name="connsiteX12" fmla="*/ 316580 w 449102"/>
              <a:gd name="connsiteY12" fmla="*/ 98655 h 508000"/>
              <a:gd name="connsiteX13" fmla="*/ 316580 w 449102"/>
              <a:gd name="connsiteY13" fmla="*/ 112934 h 508000"/>
              <a:gd name="connsiteX14" fmla="*/ 309475 w 449102"/>
              <a:gd name="connsiteY14" fmla="*/ 130782 h 508000"/>
              <a:gd name="connsiteX15" fmla="*/ 302370 w 449102"/>
              <a:gd name="connsiteY15" fmla="*/ 130782 h 508000"/>
              <a:gd name="connsiteX16" fmla="*/ 302370 w 449102"/>
              <a:gd name="connsiteY16" fmla="*/ 112934 h 508000"/>
              <a:gd name="connsiteX17" fmla="*/ 224212 w 449102"/>
              <a:gd name="connsiteY17" fmla="*/ 112934 h 508000"/>
              <a:gd name="connsiteX18" fmla="*/ 213554 w 449102"/>
              <a:gd name="connsiteY18" fmla="*/ 130782 h 508000"/>
              <a:gd name="connsiteX19" fmla="*/ 117633 w 449102"/>
              <a:gd name="connsiteY19" fmla="*/ 130782 h 508000"/>
              <a:gd name="connsiteX20" fmla="*/ 106976 w 449102"/>
              <a:gd name="connsiteY20" fmla="*/ 141491 h 508000"/>
              <a:gd name="connsiteX21" fmla="*/ 106976 w 449102"/>
              <a:gd name="connsiteY21" fmla="*/ 216452 h 508000"/>
              <a:gd name="connsiteX22" fmla="*/ 99870 w 449102"/>
              <a:gd name="connsiteY22" fmla="*/ 216452 h 508000"/>
              <a:gd name="connsiteX23" fmla="*/ 92765 w 449102"/>
              <a:gd name="connsiteY23" fmla="*/ 198604 h 508000"/>
              <a:gd name="connsiteX24" fmla="*/ 92765 w 449102"/>
              <a:gd name="connsiteY24" fmla="*/ 141491 h 508000"/>
              <a:gd name="connsiteX25" fmla="*/ 117633 w 449102"/>
              <a:gd name="connsiteY25" fmla="*/ 116503 h 508000"/>
              <a:gd name="connsiteX26" fmla="*/ 206449 w 449102"/>
              <a:gd name="connsiteY26" fmla="*/ 116503 h 508000"/>
              <a:gd name="connsiteX27" fmla="*/ 185531 w 449102"/>
              <a:gd name="connsiteY27" fmla="*/ 55954 h 508000"/>
              <a:gd name="connsiteX28" fmla="*/ 285658 w 449102"/>
              <a:gd name="connsiteY28" fmla="*/ 55954 h 508000"/>
              <a:gd name="connsiteX29" fmla="*/ 285658 w 449102"/>
              <a:gd name="connsiteY29" fmla="*/ 70159 h 508000"/>
              <a:gd name="connsiteX30" fmla="*/ 278506 w 449102"/>
              <a:gd name="connsiteY30" fmla="*/ 87915 h 508000"/>
              <a:gd name="connsiteX31" fmla="*/ 271354 w 449102"/>
              <a:gd name="connsiteY31" fmla="*/ 87915 h 508000"/>
              <a:gd name="connsiteX32" fmla="*/ 271354 w 449102"/>
              <a:gd name="connsiteY32" fmla="*/ 70159 h 508000"/>
              <a:gd name="connsiteX33" fmla="*/ 196258 w 449102"/>
              <a:gd name="connsiteY33" fmla="*/ 70159 h 508000"/>
              <a:gd name="connsiteX34" fmla="*/ 181955 w 449102"/>
              <a:gd name="connsiteY34" fmla="*/ 87915 h 508000"/>
              <a:gd name="connsiteX35" fmla="*/ 85403 w 449102"/>
              <a:gd name="connsiteY35" fmla="*/ 87915 h 508000"/>
              <a:gd name="connsiteX36" fmla="*/ 74675 w 449102"/>
              <a:gd name="connsiteY36" fmla="*/ 102120 h 508000"/>
              <a:gd name="connsiteX37" fmla="*/ 74675 w 449102"/>
              <a:gd name="connsiteY37" fmla="*/ 176696 h 508000"/>
              <a:gd name="connsiteX38" fmla="*/ 67523 w 449102"/>
              <a:gd name="connsiteY38" fmla="*/ 176696 h 508000"/>
              <a:gd name="connsiteX39" fmla="*/ 60371 w 449102"/>
              <a:gd name="connsiteY39" fmla="*/ 155389 h 508000"/>
              <a:gd name="connsiteX40" fmla="*/ 60371 w 449102"/>
              <a:gd name="connsiteY40" fmla="*/ 102120 h 508000"/>
              <a:gd name="connsiteX41" fmla="*/ 85403 w 449102"/>
              <a:gd name="connsiteY41" fmla="*/ 73710 h 508000"/>
              <a:gd name="connsiteX42" fmla="*/ 174803 w 449102"/>
              <a:gd name="connsiteY42" fmla="*/ 73710 h 508000"/>
              <a:gd name="connsiteX43" fmla="*/ 185531 w 449102"/>
              <a:gd name="connsiteY43" fmla="*/ 55954 h 508000"/>
              <a:gd name="connsiteX44" fmla="*/ 49900 w 449102"/>
              <a:gd name="connsiteY44" fmla="*/ 35525 h 508000"/>
              <a:gd name="connsiteX45" fmla="*/ 32079 w 449102"/>
              <a:gd name="connsiteY45" fmla="*/ 53287 h 508000"/>
              <a:gd name="connsiteX46" fmla="*/ 32079 w 449102"/>
              <a:gd name="connsiteY46" fmla="*/ 198937 h 508000"/>
              <a:gd name="connsiteX47" fmla="*/ 128315 w 449102"/>
              <a:gd name="connsiteY47" fmla="*/ 287748 h 508000"/>
              <a:gd name="connsiteX48" fmla="*/ 128315 w 449102"/>
              <a:gd name="connsiteY48" fmla="*/ 195385 h 508000"/>
              <a:gd name="connsiteX49" fmla="*/ 163958 w 449102"/>
              <a:gd name="connsiteY49" fmla="*/ 156308 h 508000"/>
              <a:gd name="connsiteX50" fmla="*/ 352866 w 449102"/>
              <a:gd name="connsiteY50" fmla="*/ 156308 h 508000"/>
              <a:gd name="connsiteX51" fmla="*/ 352866 w 449102"/>
              <a:gd name="connsiteY51" fmla="*/ 35525 h 508000"/>
              <a:gd name="connsiteX52" fmla="*/ 49900 w 449102"/>
              <a:gd name="connsiteY52" fmla="*/ 35525 h 508000"/>
              <a:gd name="connsiteX53" fmla="*/ 39207 w 449102"/>
              <a:gd name="connsiteY53" fmla="*/ 0 h 508000"/>
              <a:gd name="connsiteX54" fmla="*/ 377816 w 449102"/>
              <a:gd name="connsiteY54" fmla="*/ 0 h 508000"/>
              <a:gd name="connsiteX55" fmla="*/ 377816 w 449102"/>
              <a:gd name="connsiteY55" fmla="*/ 156308 h 508000"/>
              <a:gd name="connsiteX56" fmla="*/ 449102 w 449102"/>
              <a:gd name="connsiteY56" fmla="*/ 156308 h 508000"/>
              <a:gd name="connsiteX57" fmla="*/ 449102 w 449102"/>
              <a:gd name="connsiteY57" fmla="*/ 468923 h 508000"/>
              <a:gd name="connsiteX58" fmla="*/ 409895 w 449102"/>
              <a:gd name="connsiteY58" fmla="*/ 508000 h 508000"/>
              <a:gd name="connsiteX59" fmla="*/ 128315 w 449102"/>
              <a:gd name="connsiteY59" fmla="*/ 508000 h 508000"/>
              <a:gd name="connsiteX60" fmla="*/ 128315 w 449102"/>
              <a:gd name="connsiteY60" fmla="*/ 458266 h 508000"/>
              <a:gd name="connsiteX61" fmla="*/ 74850 w 449102"/>
              <a:gd name="connsiteY61" fmla="*/ 401427 h 508000"/>
              <a:gd name="connsiteX62" fmla="*/ 0 w 449102"/>
              <a:gd name="connsiteY62" fmla="*/ 401427 h 508000"/>
              <a:gd name="connsiteX63" fmla="*/ 0 w 449102"/>
              <a:gd name="connsiteY63" fmla="*/ 39077 h 508000"/>
              <a:gd name="connsiteX64" fmla="*/ 39207 w 449102"/>
              <a:gd name="connsiteY64" fmla="*/ 0 h 5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49102" h="508000">
                <a:moveTo>
                  <a:pt x="32079" y="355245"/>
                </a:moveTo>
                <a:cubicBezTo>
                  <a:pt x="32079" y="355245"/>
                  <a:pt x="32079" y="355245"/>
                  <a:pt x="32079" y="387217"/>
                </a:cubicBezTo>
                <a:lnTo>
                  <a:pt x="60593" y="387217"/>
                </a:lnTo>
                <a:cubicBezTo>
                  <a:pt x="60593" y="387217"/>
                  <a:pt x="60593" y="387217"/>
                  <a:pt x="32079" y="355245"/>
                </a:cubicBezTo>
                <a:close/>
                <a:moveTo>
                  <a:pt x="231680" y="248672"/>
                </a:moveTo>
                <a:cubicBezTo>
                  <a:pt x="220987" y="248672"/>
                  <a:pt x="213858" y="255776"/>
                  <a:pt x="213858" y="266434"/>
                </a:cubicBezTo>
                <a:cubicBezTo>
                  <a:pt x="213858" y="266434"/>
                  <a:pt x="213858" y="266434"/>
                  <a:pt x="213858" y="284196"/>
                </a:cubicBezTo>
                <a:cubicBezTo>
                  <a:pt x="213858" y="284196"/>
                  <a:pt x="213858" y="284196"/>
                  <a:pt x="352866" y="284196"/>
                </a:cubicBezTo>
                <a:cubicBezTo>
                  <a:pt x="363559" y="284196"/>
                  <a:pt x="370688" y="277091"/>
                  <a:pt x="370688" y="266434"/>
                </a:cubicBezTo>
                <a:cubicBezTo>
                  <a:pt x="370688" y="255776"/>
                  <a:pt x="370688" y="248672"/>
                  <a:pt x="370688" y="248672"/>
                </a:cubicBezTo>
                <a:cubicBezTo>
                  <a:pt x="370688" y="248672"/>
                  <a:pt x="370688" y="248672"/>
                  <a:pt x="231680" y="248672"/>
                </a:cubicBezTo>
                <a:close/>
                <a:moveTo>
                  <a:pt x="217107" y="98655"/>
                </a:moveTo>
                <a:cubicBezTo>
                  <a:pt x="217107" y="98655"/>
                  <a:pt x="217107" y="98655"/>
                  <a:pt x="316580" y="98655"/>
                </a:cubicBezTo>
                <a:cubicBezTo>
                  <a:pt x="316580" y="98655"/>
                  <a:pt x="316580" y="98655"/>
                  <a:pt x="316580" y="112934"/>
                </a:cubicBezTo>
                <a:cubicBezTo>
                  <a:pt x="316580" y="123642"/>
                  <a:pt x="313028" y="130782"/>
                  <a:pt x="309475" y="130782"/>
                </a:cubicBezTo>
                <a:cubicBezTo>
                  <a:pt x="309475" y="130782"/>
                  <a:pt x="309475" y="130782"/>
                  <a:pt x="302370" y="130782"/>
                </a:cubicBezTo>
                <a:cubicBezTo>
                  <a:pt x="302370" y="130782"/>
                  <a:pt x="302370" y="130782"/>
                  <a:pt x="302370" y="112934"/>
                </a:cubicBezTo>
                <a:cubicBezTo>
                  <a:pt x="302370" y="112934"/>
                  <a:pt x="302370" y="112934"/>
                  <a:pt x="224212" y="112934"/>
                </a:cubicBezTo>
                <a:cubicBezTo>
                  <a:pt x="224212" y="112934"/>
                  <a:pt x="224212" y="112934"/>
                  <a:pt x="213554" y="130782"/>
                </a:cubicBezTo>
                <a:cubicBezTo>
                  <a:pt x="213554" y="130782"/>
                  <a:pt x="213554" y="130782"/>
                  <a:pt x="117633" y="130782"/>
                </a:cubicBezTo>
                <a:cubicBezTo>
                  <a:pt x="110528" y="130782"/>
                  <a:pt x="106976" y="134351"/>
                  <a:pt x="106976" y="141491"/>
                </a:cubicBezTo>
                <a:cubicBezTo>
                  <a:pt x="106976" y="141491"/>
                  <a:pt x="106976" y="141491"/>
                  <a:pt x="106976" y="216452"/>
                </a:cubicBezTo>
                <a:cubicBezTo>
                  <a:pt x="106976" y="216452"/>
                  <a:pt x="106976" y="216452"/>
                  <a:pt x="99870" y="216452"/>
                </a:cubicBezTo>
                <a:cubicBezTo>
                  <a:pt x="92765" y="216452"/>
                  <a:pt x="92765" y="209313"/>
                  <a:pt x="92765" y="198604"/>
                </a:cubicBezTo>
                <a:cubicBezTo>
                  <a:pt x="92765" y="198604"/>
                  <a:pt x="92765" y="198604"/>
                  <a:pt x="92765" y="141491"/>
                </a:cubicBezTo>
                <a:cubicBezTo>
                  <a:pt x="92765" y="127212"/>
                  <a:pt x="103423" y="116503"/>
                  <a:pt x="117633" y="116503"/>
                </a:cubicBezTo>
                <a:cubicBezTo>
                  <a:pt x="117633" y="116503"/>
                  <a:pt x="117633" y="116503"/>
                  <a:pt x="206449" y="116503"/>
                </a:cubicBezTo>
                <a:close/>
                <a:moveTo>
                  <a:pt x="185531" y="55954"/>
                </a:moveTo>
                <a:cubicBezTo>
                  <a:pt x="185531" y="55954"/>
                  <a:pt x="185531" y="55954"/>
                  <a:pt x="285658" y="55954"/>
                </a:cubicBezTo>
                <a:cubicBezTo>
                  <a:pt x="285658" y="55954"/>
                  <a:pt x="285658" y="55954"/>
                  <a:pt x="285658" y="70159"/>
                </a:cubicBezTo>
                <a:cubicBezTo>
                  <a:pt x="285658" y="80813"/>
                  <a:pt x="282082" y="87915"/>
                  <a:pt x="278506" y="87915"/>
                </a:cubicBezTo>
                <a:cubicBezTo>
                  <a:pt x="278506" y="87915"/>
                  <a:pt x="278506" y="87915"/>
                  <a:pt x="271354" y="87915"/>
                </a:cubicBezTo>
                <a:cubicBezTo>
                  <a:pt x="271354" y="87915"/>
                  <a:pt x="271354" y="87915"/>
                  <a:pt x="271354" y="70159"/>
                </a:cubicBezTo>
                <a:cubicBezTo>
                  <a:pt x="271354" y="70159"/>
                  <a:pt x="271354" y="70159"/>
                  <a:pt x="196258" y="70159"/>
                </a:cubicBezTo>
                <a:lnTo>
                  <a:pt x="181955" y="87915"/>
                </a:lnTo>
                <a:cubicBezTo>
                  <a:pt x="181955" y="87915"/>
                  <a:pt x="181955" y="87915"/>
                  <a:pt x="85403" y="87915"/>
                </a:cubicBezTo>
                <a:cubicBezTo>
                  <a:pt x="78251" y="87915"/>
                  <a:pt x="74675" y="95018"/>
                  <a:pt x="74675" y="102120"/>
                </a:cubicBezTo>
                <a:cubicBezTo>
                  <a:pt x="74675" y="102120"/>
                  <a:pt x="74675" y="102120"/>
                  <a:pt x="74675" y="176696"/>
                </a:cubicBezTo>
                <a:cubicBezTo>
                  <a:pt x="74675" y="176696"/>
                  <a:pt x="74675" y="176696"/>
                  <a:pt x="67523" y="176696"/>
                </a:cubicBezTo>
                <a:cubicBezTo>
                  <a:pt x="63947" y="176696"/>
                  <a:pt x="60371" y="166043"/>
                  <a:pt x="60371" y="155389"/>
                </a:cubicBezTo>
                <a:cubicBezTo>
                  <a:pt x="60371" y="155389"/>
                  <a:pt x="60371" y="155389"/>
                  <a:pt x="60371" y="102120"/>
                </a:cubicBezTo>
                <a:cubicBezTo>
                  <a:pt x="60371" y="87915"/>
                  <a:pt x="71099" y="73710"/>
                  <a:pt x="85403" y="73710"/>
                </a:cubicBezTo>
                <a:cubicBezTo>
                  <a:pt x="85403" y="73710"/>
                  <a:pt x="85403" y="73710"/>
                  <a:pt x="174803" y="73710"/>
                </a:cubicBezTo>
                <a:cubicBezTo>
                  <a:pt x="174803" y="73710"/>
                  <a:pt x="174803" y="73710"/>
                  <a:pt x="185531" y="55954"/>
                </a:cubicBezTo>
                <a:close/>
                <a:moveTo>
                  <a:pt x="49900" y="35525"/>
                </a:moveTo>
                <a:cubicBezTo>
                  <a:pt x="39207" y="35525"/>
                  <a:pt x="32079" y="42630"/>
                  <a:pt x="32079" y="53287"/>
                </a:cubicBezTo>
                <a:cubicBezTo>
                  <a:pt x="32079" y="53287"/>
                  <a:pt x="32079" y="53287"/>
                  <a:pt x="32079" y="198937"/>
                </a:cubicBezTo>
                <a:cubicBezTo>
                  <a:pt x="32079" y="198937"/>
                  <a:pt x="32079" y="198937"/>
                  <a:pt x="128315" y="287748"/>
                </a:cubicBezTo>
                <a:cubicBezTo>
                  <a:pt x="128315" y="287748"/>
                  <a:pt x="128315" y="287748"/>
                  <a:pt x="128315" y="195385"/>
                </a:cubicBezTo>
                <a:cubicBezTo>
                  <a:pt x="128315" y="174070"/>
                  <a:pt x="142572" y="156308"/>
                  <a:pt x="163958" y="156308"/>
                </a:cubicBezTo>
                <a:cubicBezTo>
                  <a:pt x="163958" y="156308"/>
                  <a:pt x="163958" y="156308"/>
                  <a:pt x="352866" y="156308"/>
                </a:cubicBezTo>
                <a:cubicBezTo>
                  <a:pt x="352866" y="156308"/>
                  <a:pt x="352866" y="156308"/>
                  <a:pt x="352866" y="35525"/>
                </a:cubicBezTo>
                <a:cubicBezTo>
                  <a:pt x="352866" y="35525"/>
                  <a:pt x="352866" y="35525"/>
                  <a:pt x="49900" y="35525"/>
                </a:cubicBezTo>
                <a:close/>
                <a:moveTo>
                  <a:pt x="39207" y="0"/>
                </a:moveTo>
                <a:cubicBezTo>
                  <a:pt x="39207" y="0"/>
                  <a:pt x="39207" y="0"/>
                  <a:pt x="377816" y="0"/>
                </a:cubicBezTo>
                <a:lnTo>
                  <a:pt x="377816" y="156308"/>
                </a:lnTo>
                <a:cubicBezTo>
                  <a:pt x="377816" y="156308"/>
                  <a:pt x="377816" y="156308"/>
                  <a:pt x="449102" y="156308"/>
                </a:cubicBezTo>
                <a:cubicBezTo>
                  <a:pt x="449102" y="156308"/>
                  <a:pt x="449102" y="156308"/>
                  <a:pt x="449102" y="468923"/>
                </a:cubicBezTo>
                <a:cubicBezTo>
                  <a:pt x="449102" y="490238"/>
                  <a:pt x="431281" y="508000"/>
                  <a:pt x="409895" y="508000"/>
                </a:cubicBezTo>
                <a:cubicBezTo>
                  <a:pt x="409895" y="508000"/>
                  <a:pt x="409895" y="508000"/>
                  <a:pt x="128315" y="508000"/>
                </a:cubicBezTo>
                <a:cubicBezTo>
                  <a:pt x="128315" y="508000"/>
                  <a:pt x="128315" y="508000"/>
                  <a:pt x="128315" y="458266"/>
                </a:cubicBezTo>
                <a:cubicBezTo>
                  <a:pt x="128315" y="458266"/>
                  <a:pt x="128315" y="458266"/>
                  <a:pt x="74850" y="401427"/>
                </a:cubicBezTo>
                <a:cubicBezTo>
                  <a:pt x="74850" y="401427"/>
                  <a:pt x="74850" y="401427"/>
                  <a:pt x="0" y="401427"/>
                </a:cubicBezTo>
                <a:cubicBezTo>
                  <a:pt x="0" y="401427"/>
                  <a:pt x="0" y="401427"/>
                  <a:pt x="0" y="39077"/>
                </a:cubicBezTo>
                <a:cubicBezTo>
                  <a:pt x="0" y="17762"/>
                  <a:pt x="17822" y="0"/>
                  <a:pt x="39207" y="0"/>
                </a:cubicBezTo>
                <a:close/>
              </a:path>
            </a:pathLst>
          </a:custGeom>
          <a:solidFill>
            <a:schemeClr val="bg1"/>
          </a:solidFill>
          <a:ln>
            <a:noFill/>
          </a:ln>
          <a:extLst/>
        </p:spPr>
        <p:txBody>
          <a:bodyPr anchor="ctr"/>
          <a:lstStyle/>
          <a:p>
            <a:pPr algn="ctr" fontAlgn="auto">
              <a:spcBef>
                <a:spcPts val="0"/>
              </a:spcBef>
              <a:spcAft>
                <a:spcPts val="0"/>
              </a:spcAft>
              <a:defRPr/>
            </a:pPr>
            <a:endParaRPr dirty="0">
              <a:latin typeface="+mn-lt"/>
              <a:ea typeface="微软雅黑 Light" panose="020B0502040204020203" pitchFamily="34" charset="-122"/>
              <a:cs typeface="+mn-ea"/>
              <a:sym typeface="+mn-lt"/>
            </a:endParaRPr>
          </a:p>
        </p:txBody>
      </p:sp>
      <p:sp>
        <p:nvSpPr>
          <p:cNvPr id="41" name="TextBox 32"/>
          <p:cNvSpPr txBox="1"/>
          <p:nvPr/>
        </p:nvSpPr>
        <p:spPr>
          <a:xfrm>
            <a:off x="6697769" y="4358546"/>
            <a:ext cx="3890117" cy="652486"/>
          </a:xfrm>
          <a:prstGeom prst="rect">
            <a:avLst/>
          </a:prstGeom>
          <a:noFill/>
        </p:spPr>
        <p:txBody>
          <a:bodyPr>
            <a:spAutoFit/>
            <a:scene3d>
              <a:camera prst="orthographicFront"/>
              <a:lightRig rig="threePt" dir="t"/>
            </a:scene3d>
            <a:sp3d contourW="12700"/>
          </a:bodyPr>
          <a:lstStyle/>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基于大数据对特定</a:t>
            </a:r>
            <a:r>
              <a:rPr lang="zh-CN" altLang="en-US" sz="1400" dirty="0">
                <a:latin typeface="微软雅黑 Light" pitchFamily="34" charset="-122"/>
                <a:ea typeface="微软雅黑 Light" pitchFamily="34" charset="-122"/>
              </a:rPr>
              <a:t>场景</a:t>
            </a:r>
            <a:r>
              <a:rPr lang="zh-CN" altLang="en-US" sz="1400" dirty="0" smtClean="0">
                <a:latin typeface="微软雅黑 Light" pitchFamily="34" charset="-122"/>
                <a:ea typeface="微软雅黑 Light" pitchFamily="34" charset="-122"/>
              </a:rPr>
              <a:t>建模分析</a:t>
            </a:r>
            <a:endParaRPr lang="en-US" altLang="zh-CN" sz="1400" dirty="0" smtClean="0">
              <a:latin typeface="微软雅黑 Light" pitchFamily="34" charset="-122"/>
              <a:ea typeface="微软雅黑 Light" pitchFamily="34" charset="-122"/>
            </a:endParaRPr>
          </a:p>
          <a:p>
            <a:pPr fontAlgn="auto">
              <a:lnSpc>
                <a:spcPct val="130000"/>
              </a:lnSpc>
              <a:spcBef>
                <a:spcPts val="0"/>
              </a:spcBef>
              <a:spcAft>
                <a:spcPts val="0"/>
              </a:spcAft>
              <a:defRPr/>
            </a:pPr>
            <a:r>
              <a:rPr lang="zh-CN" altLang="en-US" sz="1400" dirty="0">
                <a:latin typeface="微软雅黑 Light" pitchFamily="34" charset="-122"/>
                <a:ea typeface="微软雅黑 Light" pitchFamily="34" charset="-122"/>
              </a:rPr>
              <a:t>对</a:t>
            </a:r>
            <a:r>
              <a:rPr lang="zh-CN" altLang="en-US" sz="1400" dirty="0" smtClean="0">
                <a:latin typeface="微软雅黑 Light" pitchFamily="34" charset="-122"/>
                <a:ea typeface="微软雅黑 Light" pitchFamily="34" charset="-122"/>
              </a:rPr>
              <a:t>网络进行提前规划</a:t>
            </a:r>
            <a:endParaRPr lang="en-US" altLang="zh-CN" sz="1400" dirty="0">
              <a:latin typeface="微软雅黑 Light" pitchFamily="34" charset="-122"/>
              <a:ea typeface="微软雅黑 Light"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功能规划</a:t>
            </a:r>
            <a:endParaRPr lang="zh-CN" altLang="en-US" dirty="0">
              <a:solidFill>
                <a:srgbClr val="333F50"/>
              </a:solidFill>
            </a:endParaRPr>
          </a:p>
        </p:txBody>
      </p:sp>
    </p:spTree>
    <p:extLst>
      <p:ext uri="{BB962C8B-B14F-4D97-AF65-F5344CB8AC3E}">
        <p14:creationId xmlns:p14="http://schemas.microsoft.com/office/powerpoint/2010/main" val="2468891010"/>
      </p:ext>
    </p:extLst>
  </p:cSld>
  <p:clrMapOvr>
    <a:masterClrMapping/>
  </p:clrMapOvr>
  <p:transition spd="med">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1. </a:t>
            </a:r>
            <a:r>
              <a:rPr lang="zh-CN" altLang="en-US" dirty="0" smtClean="0">
                <a:solidFill>
                  <a:srgbClr val="333F50"/>
                </a:solidFill>
              </a:rPr>
              <a:t>全景概览</a:t>
            </a:r>
            <a:endParaRPr lang="zh-CN" altLang="en-US" dirty="0">
              <a:solidFill>
                <a:srgbClr val="333F50"/>
              </a:solidFill>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43025"/>
            <a:ext cx="12192000" cy="3581400"/>
          </a:xfrm>
          <a:prstGeom prst="rect">
            <a:avLst/>
          </a:prstGeom>
        </p:spPr>
      </p:pic>
      <p:sp>
        <p:nvSpPr>
          <p:cNvPr id="44" name="矩形 43"/>
          <p:cNvSpPr/>
          <p:nvPr/>
        </p:nvSpPr>
        <p:spPr>
          <a:xfrm>
            <a:off x="6096000" y="1343025"/>
            <a:ext cx="6095999" cy="3581399"/>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1524000" y="5044508"/>
            <a:ext cx="1866900"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t>呈现内容</a:t>
            </a:r>
            <a:endParaRPr lang="zh-CN" altLang="en-US" sz="2000" b="1" dirty="0"/>
          </a:p>
        </p:txBody>
      </p:sp>
      <p:sp>
        <p:nvSpPr>
          <p:cNvPr id="46" name="矩形 45"/>
          <p:cNvSpPr/>
          <p:nvPr/>
        </p:nvSpPr>
        <p:spPr>
          <a:xfrm>
            <a:off x="5226848" y="5044508"/>
            <a:ext cx="1866900" cy="381000"/>
          </a:xfrm>
          <a:prstGeom prst="rect">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t>评价体系</a:t>
            </a:r>
            <a:endParaRPr lang="zh-CN" altLang="en-US" sz="2000" b="1" dirty="0"/>
          </a:p>
        </p:txBody>
      </p:sp>
      <p:sp>
        <p:nvSpPr>
          <p:cNvPr id="47" name="矩形 46"/>
          <p:cNvSpPr/>
          <p:nvPr/>
        </p:nvSpPr>
        <p:spPr>
          <a:xfrm>
            <a:off x="8929696" y="5044508"/>
            <a:ext cx="1866900" cy="381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t>呈现方式</a:t>
            </a:r>
            <a:endParaRPr lang="zh-CN" altLang="en-US" sz="2000" b="1" dirty="0"/>
          </a:p>
        </p:txBody>
      </p:sp>
      <p:sp>
        <p:nvSpPr>
          <p:cNvPr id="48" name="矩形 47"/>
          <p:cNvSpPr/>
          <p:nvPr/>
        </p:nvSpPr>
        <p:spPr>
          <a:xfrm>
            <a:off x="624114" y="5657864"/>
            <a:ext cx="3598370" cy="549379"/>
          </a:xfrm>
          <a:prstGeom prst="rect">
            <a:avLst/>
          </a:prstGeom>
        </p:spPr>
        <p:txBody>
          <a:bodyPr wrap="square" lIns="68570" tIns="34289" rIns="68570" bIns="34289">
            <a:spAutoFit/>
          </a:bodyPr>
          <a:lstStyle/>
          <a:p>
            <a:pPr algn="ctr" defTabSz="685681">
              <a:lnSpc>
                <a:spcPct val="130000"/>
              </a:lnSpc>
            </a:pPr>
            <a:r>
              <a:rPr lang="zh-CN" altLang="en-US" sz="1200" b="1" dirty="0" smtClean="0">
                <a:solidFill>
                  <a:prstClr val="black">
                    <a:lumMod val="75000"/>
                    <a:lumOff val="25000"/>
                  </a:prstClr>
                </a:solidFill>
                <a:latin typeface="微软雅黑" panose="020B0503020204020204" pitchFamily="34" charset="-122"/>
                <a:ea typeface="微软雅黑" panose="020B0503020204020204" pitchFamily="34" charset="-122"/>
              </a:rPr>
              <a:t>包括全网用户统计、业务统计、网络统计、设备统计，能反映出展示珠海网络的整体状态</a:t>
            </a: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rPr>
              <a:t>。</a:t>
            </a:r>
          </a:p>
        </p:txBody>
      </p:sp>
      <p:sp>
        <p:nvSpPr>
          <p:cNvPr id="49" name="矩形 48"/>
          <p:cNvSpPr/>
          <p:nvPr/>
        </p:nvSpPr>
        <p:spPr>
          <a:xfrm>
            <a:off x="4510314" y="5657864"/>
            <a:ext cx="3598370" cy="525976"/>
          </a:xfrm>
          <a:prstGeom prst="rect">
            <a:avLst/>
          </a:prstGeom>
        </p:spPr>
        <p:txBody>
          <a:bodyPr wrap="square" lIns="68570" tIns="34289" rIns="68570" bIns="34289">
            <a:spAutoFit/>
          </a:bodyPr>
          <a:lstStyle/>
          <a:p>
            <a:pPr algn="ctr" defTabSz="685681">
              <a:lnSpc>
                <a:spcPct val="130000"/>
              </a:lnSpc>
            </a:pPr>
            <a:r>
              <a:rPr lang="zh-CN" altLang="en-US" sz="1200" b="1" dirty="0" smtClean="0">
                <a:solidFill>
                  <a:prstClr val="black">
                    <a:lumMod val="75000"/>
                    <a:lumOff val="25000"/>
                  </a:prstClr>
                </a:solidFill>
                <a:latin typeface="微软雅黑" panose="020B0503020204020204" pitchFamily="34" charset="-122"/>
                <a:ea typeface="微软雅黑" panose="020B0503020204020204" pitchFamily="34" charset="-122"/>
              </a:rPr>
              <a:t>可以从多个方面进行综合评价，如业务健康、设备健康、用户体验性等。</a:t>
            </a:r>
            <a:endPar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55" name="矩形 54"/>
          <p:cNvSpPr/>
          <p:nvPr/>
        </p:nvSpPr>
        <p:spPr>
          <a:xfrm>
            <a:off x="8244114" y="5657863"/>
            <a:ext cx="3598370" cy="549379"/>
          </a:xfrm>
          <a:prstGeom prst="rect">
            <a:avLst/>
          </a:prstGeom>
        </p:spPr>
        <p:txBody>
          <a:bodyPr wrap="square" lIns="68570" tIns="34289" rIns="68570" bIns="34289">
            <a:spAutoFit/>
          </a:bodyPr>
          <a:lstStyle/>
          <a:p>
            <a:pPr algn="ctr" defTabSz="685681">
              <a:lnSpc>
                <a:spcPct val="130000"/>
              </a:lnSpc>
            </a:pPr>
            <a:r>
              <a:rPr lang="zh-CN" altLang="en-US" sz="1200" b="1" dirty="0" smtClean="0">
                <a:solidFill>
                  <a:prstClr val="black">
                    <a:lumMod val="75000"/>
                    <a:lumOff val="25000"/>
                  </a:prstClr>
                </a:solidFill>
                <a:latin typeface="微软雅黑" panose="020B0503020204020204" pitchFamily="34" charset="-122"/>
                <a:ea typeface="微软雅黑" panose="020B0503020204020204" pitchFamily="34" charset="-122"/>
              </a:rPr>
              <a:t>基于</a:t>
            </a:r>
            <a:r>
              <a:rPr lang="en-US" altLang="zh-CN" sz="1200" b="1" dirty="0" smtClean="0">
                <a:solidFill>
                  <a:prstClr val="black">
                    <a:lumMod val="75000"/>
                    <a:lumOff val="25000"/>
                  </a:prstClr>
                </a:solidFill>
                <a:latin typeface="微软雅黑" panose="020B0503020204020204" pitchFamily="34" charset="-122"/>
                <a:ea typeface="微软雅黑" panose="020B0503020204020204" pitchFamily="34" charset="-122"/>
              </a:rPr>
              <a:t>GIS</a:t>
            </a:r>
            <a:r>
              <a:rPr lang="zh-CN" altLang="en-US" sz="1200" b="1" dirty="0" smtClean="0">
                <a:solidFill>
                  <a:prstClr val="black">
                    <a:lumMod val="75000"/>
                    <a:lumOff val="25000"/>
                  </a:prstClr>
                </a:solidFill>
                <a:latin typeface="微软雅黑" panose="020B0503020204020204" pitchFamily="34" charset="-122"/>
                <a:ea typeface="微软雅黑" panose="020B0503020204020204" pitchFamily="34" charset="-122"/>
              </a:rPr>
              <a:t>拟合指标进行地图上的渲染呈现网络状况，对于其他的统计数据可用图表的方式进行呈现。</a:t>
            </a:r>
            <a:endPar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648450" y="2486431"/>
            <a:ext cx="5124450" cy="1294585"/>
          </a:xfrm>
          <a:prstGeom prst="rect">
            <a:avLst/>
          </a:prstGeom>
          <a:noFill/>
        </p:spPr>
        <p:txBody>
          <a:bodyPr wrap="square" rtlCol="0">
            <a:spAutoFit/>
          </a:bodyPr>
          <a:lstStyle/>
          <a:p>
            <a:pPr indent="457200">
              <a:lnSpc>
                <a:spcPct val="150000"/>
              </a:lnSpc>
            </a:pPr>
            <a:r>
              <a:rPr lang="zh-CN" altLang="en-US" dirty="0" smtClean="0">
                <a:solidFill>
                  <a:schemeClr val="bg1"/>
                </a:solidFill>
              </a:rPr>
              <a:t>由于网络规模大、业务系统复杂、设备种类繁多，因此对于全网情况有一个直观真实的呈现能让我们整体掌控网络的运行质量</a:t>
            </a:r>
            <a:endParaRPr lang="zh-CN" altLang="en-US" dirty="0">
              <a:solidFill>
                <a:schemeClr val="bg1"/>
              </a:solidFill>
            </a:endParaRPr>
          </a:p>
        </p:txBody>
      </p:sp>
    </p:spTree>
    <p:extLst>
      <p:ext uri="{BB962C8B-B14F-4D97-AF65-F5344CB8AC3E}">
        <p14:creationId xmlns:p14="http://schemas.microsoft.com/office/powerpoint/2010/main" val="1079075039"/>
      </p:ext>
    </p:extLst>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1. </a:t>
            </a:r>
            <a:r>
              <a:rPr lang="zh-CN" altLang="en-US" dirty="0" smtClean="0">
                <a:solidFill>
                  <a:srgbClr val="333F50"/>
                </a:solidFill>
              </a:rPr>
              <a:t>全景概览</a:t>
            </a:r>
            <a:r>
              <a:rPr lang="en-US" altLang="zh-CN" dirty="0" smtClean="0">
                <a:solidFill>
                  <a:srgbClr val="333F50"/>
                </a:solidFill>
              </a:rPr>
              <a:t>demo</a:t>
            </a:r>
            <a:endParaRPr lang="zh-CN" altLang="en-US" dirty="0">
              <a:solidFill>
                <a:srgbClr val="333F50"/>
              </a:solidFill>
            </a:endParaRPr>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73909"/>
            <a:ext cx="12192000" cy="5080000"/>
          </a:xfrm>
          <a:prstGeom prst="rect">
            <a:avLst/>
          </a:prstGeom>
        </p:spPr>
      </p:pic>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27" y="1358264"/>
            <a:ext cx="12025745" cy="5010727"/>
          </a:xfrm>
          <a:prstGeom prst="rect">
            <a:avLst/>
          </a:prstGeom>
        </p:spPr>
      </p:pic>
      <p:pic>
        <p:nvPicPr>
          <p:cNvPr id="15" name="图片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27" y="1508355"/>
            <a:ext cx="12192000" cy="5080000"/>
          </a:xfrm>
          <a:prstGeom prst="rect">
            <a:avLst/>
          </a:prstGeom>
        </p:spPr>
      </p:pic>
      <p:pic>
        <p:nvPicPr>
          <p:cNvPr id="16" name="图片 15"/>
          <p:cNvPicPr>
            <a:picLocks noChangeAspect="1"/>
          </p:cNvPicPr>
          <p:nvPr/>
        </p:nvPicPr>
        <p:blipFill>
          <a:blip r:embed="rId5"/>
          <a:stretch>
            <a:fillRect/>
          </a:stretch>
        </p:blipFill>
        <p:spPr>
          <a:xfrm>
            <a:off x="688667" y="1188870"/>
            <a:ext cx="11247619" cy="4695238"/>
          </a:xfrm>
          <a:prstGeom prst="rect">
            <a:avLst/>
          </a:prstGeom>
        </p:spPr>
      </p:pic>
      <p:pic>
        <p:nvPicPr>
          <p:cNvPr id="17" name="图片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6254" y="1148428"/>
            <a:ext cx="12192000" cy="5080000"/>
          </a:xfrm>
          <a:prstGeom prst="rect">
            <a:avLst/>
          </a:prstGeom>
        </p:spPr>
      </p:pic>
    </p:spTree>
    <p:extLst>
      <p:ext uri="{BB962C8B-B14F-4D97-AF65-F5344CB8AC3E}">
        <p14:creationId xmlns:p14="http://schemas.microsoft.com/office/powerpoint/2010/main" val="133308507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7391400" y="1474511"/>
            <a:ext cx="3733799" cy="4049989"/>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2. </a:t>
            </a:r>
            <a:r>
              <a:rPr lang="zh-CN" altLang="en-US" dirty="0" smtClean="0">
                <a:solidFill>
                  <a:srgbClr val="333F50"/>
                </a:solidFill>
              </a:rPr>
              <a:t>设备管理</a:t>
            </a:r>
            <a:endParaRPr lang="zh-CN" altLang="en-US" dirty="0">
              <a:solidFill>
                <a:srgbClr val="333F50"/>
              </a:solidFill>
            </a:endParaRPr>
          </a:p>
        </p:txBody>
      </p:sp>
      <p:pic>
        <p:nvPicPr>
          <p:cNvPr id="2" name="图片 1"/>
          <p:cNvPicPr>
            <a:picLocks noChangeAspect="1"/>
          </p:cNvPicPr>
          <p:nvPr/>
        </p:nvPicPr>
        <p:blipFill rotWithShape="1">
          <a:blip r:embed="rId2">
            <a:extLst>
              <a:ext uri="{28A0092B-C50C-407E-A947-70E740481C1C}">
                <a14:useLocalDpi xmlns:a14="http://schemas.microsoft.com/office/drawing/2010/main" val="0"/>
              </a:ext>
            </a:extLst>
          </a:blip>
          <a:srcRect l="15531" t="8250" r="3787" b="9090"/>
          <a:stretch/>
        </p:blipFill>
        <p:spPr>
          <a:xfrm>
            <a:off x="632655" y="1819275"/>
            <a:ext cx="6231096" cy="3590925"/>
          </a:xfrm>
          <a:prstGeom prst="rect">
            <a:avLst/>
          </a:prstGeom>
        </p:spPr>
      </p:pic>
      <p:sp>
        <p:nvSpPr>
          <p:cNvPr id="4" name="文本框 3"/>
          <p:cNvSpPr txBox="1"/>
          <p:nvPr/>
        </p:nvSpPr>
        <p:spPr>
          <a:xfrm>
            <a:off x="7524749" y="1828800"/>
            <a:ext cx="3600450" cy="3000821"/>
          </a:xfrm>
          <a:prstGeom prst="rect">
            <a:avLst/>
          </a:prstGeom>
          <a:noFill/>
        </p:spPr>
        <p:txBody>
          <a:bodyPr wrap="square" rtlCol="0">
            <a:spAutoFit/>
          </a:bodyPr>
          <a:lstStyle/>
          <a:p>
            <a:pPr indent="457200">
              <a:lnSpc>
                <a:spcPct val="150000"/>
              </a:lnSpc>
            </a:pPr>
            <a:r>
              <a:rPr lang="zh-CN" altLang="en-US" dirty="0">
                <a:solidFill>
                  <a:schemeClr val="bg1"/>
                </a:solidFill>
              </a:rPr>
              <a:t>采用先进的拓扑算法</a:t>
            </a:r>
            <a:r>
              <a:rPr lang="zh-CN" altLang="en-US" dirty="0" smtClean="0">
                <a:solidFill>
                  <a:schemeClr val="bg1"/>
                </a:solidFill>
              </a:rPr>
              <a:t>、搜索</a:t>
            </a:r>
            <a:r>
              <a:rPr lang="zh-CN" altLang="en-US" dirty="0">
                <a:solidFill>
                  <a:schemeClr val="bg1"/>
                </a:solidFill>
              </a:rPr>
              <a:t>整个网络内的所有网络资源</a:t>
            </a:r>
            <a:r>
              <a:rPr lang="zh-CN" altLang="en-US" dirty="0" smtClean="0">
                <a:solidFill>
                  <a:schemeClr val="bg1"/>
                </a:solidFill>
              </a:rPr>
              <a:t>并勾画出全市的设备拓扑</a:t>
            </a:r>
            <a:r>
              <a:rPr lang="zh-CN" altLang="en-US" dirty="0">
                <a:solidFill>
                  <a:schemeClr val="bg1"/>
                </a:solidFill>
              </a:rPr>
              <a:t>图，包括设备间的冗余连接、备份连接、均衡负载连接，</a:t>
            </a:r>
            <a:r>
              <a:rPr lang="zh-CN" altLang="en-US" dirty="0" smtClean="0">
                <a:solidFill>
                  <a:schemeClr val="bg1"/>
                </a:solidFill>
              </a:rPr>
              <a:t>同时辨别</a:t>
            </a:r>
            <a:r>
              <a:rPr lang="zh-CN" altLang="en-US" dirty="0">
                <a:solidFill>
                  <a:schemeClr val="bg1"/>
                </a:solidFill>
              </a:rPr>
              <a:t>链路的连接</a:t>
            </a:r>
            <a:r>
              <a:rPr lang="zh-CN" altLang="en-US" dirty="0" smtClean="0">
                <a:solidFill>
                  <a:schemeClr val="bg1"/>
                </a:solidFill>
              </a:rPr>
              <a:t>类型、业务类型以及设备工作情况。</a:t>
            </a:r>
            <a:endParaRPr lang="zh-CN" altLang="en-US" dirty="0">
              <a:solidFill>
                <a:schemeClr val="bg1"/>
              </a:solidFill>
            </a:endParaRPr>
          </a:p>
        </p:txBody>
      </p:sp>
      <p:sp>
        <p:nvSpPr>
          <p:cNvPr id="7" name="矩形 6"/>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83142599"/>
      </p:ext>
    </p:extLst>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2. </a:t>
            </a:r>
            <a:r>
              <a:rPr lang="zh-CN" altLang="en-US" dirty="0" smtClean="0">
                <a:solidFill>
                  <a:srgbClr val="333F50"/>
                </a:solidFill>
              </a:rPr>
              <a:t>设备管理</a:t>
            </a:r>
            <a:endParaRPr lang="zh-CN" altLang="en-US" dirty="0">
              <a:solidFill>
                <a:srgbClr val="333F50"/>
              </a:solidFill>
            </a:endParaRPr>
          </a:p>
        </p:txBody>
      </p:sp>
      <p:sp>
        <p:nvSpPr>
          <p:cNvPr id="5" name="文本框 4"/>
          <p:cNvSpPr txBox="1"/>
          <p:nvPr/>
        </p:nvSpPr>
        <p:spPr>
          <a:xfrm>
            <a:off x="1714500" y="2028825"/>
            <a:ext cx="8115300" cy="2585323"/>
          </a:xfrm>
          <a:prstGeom prst="rect">
            <a:avLst/>
          </a:prstGeom>
          <a:noFill/>
        </p:spPr>
        <p:txBody>
          <a:bodyPr wrap="square" rtlCol="0">
            <a:spAutoFit/>
          </a:bodyPr>
          <a:lstStyle/>
          <a:p>
            <a:pPr indent="457200">
              <a:lnSpc>
                <a:spcPct val="150000"/>
              </a:lnSpc>
            </a:pPr>
            <a:r>
              <a:rPr lang="zh-CN" altLang="en-US" dirty="0" smtClean="0"/>
              <a:t>除了拓扑结构的呈现，设备管理还包括：</a:t>
            </a:r>
            <a:endParaRPr lang="en-US" altLang="zh-CN" dirty="0" smtClean="0"/>
          </a:p>
          <a:p>
            <a:pPr marL="285750" indent="457200">
              <a:lnSpc>
                <a:spcPct val="150000"/>
              </a:lnSpc>
              <a:buFont typeface="Arial" panose="020B0604020202020204" pitchFamily="34" charset="0"/>
              <a:buChar char="•"/>
            </a:pPr>
            <a:r>
              <a:rPr lang="zh-CN" altLang="en-US" dirty="0" smtClean="0"/>
              <a:t>设备运行状态的监控：端口流量、链路利用率、</a:t>
            </a:r>
            <a:r>
              <a:rPr lang="en-US" altLang="zh-CN" dirty="0" smtClean="0"/>
              <a:t>CPU</a:t>
            </a:r>
            <a:r>
              <a:rPr lang="zh-CN" altLang="en-US" dirty="0" smtClean="0"/>
              <a:t>、内存使用情况、设备基础信息等</a:t>
            </a:r>
            <a:endParaRPr lang="en-US" altLang="zh-CN" dirty="0" smtClean="0"/>
          </a:p>
          <a:p>
            <a:pPr marL="285750" indent="457200">
              <a:lnSpc>
                <a:spcPct val="150000"/>
              </a:lnSpc>
              <a:buFont typeface="Arial" panose="020B0604020202020204" pitchFamily="34" charset="0"/>
              <a:buChar char="•"/>
            </a:pPr>
            <a:r>
              <a:rPr lang="zh-CN" altLang="en-US" dirty="0" smtClean="0"/>
              <a:t>智能维护如配置自动备份、健康检查容量</a:t>
            </a:r>
            <a:r>
              <a:rPr lang="zh-CN" altLang="en-US" dirty="0"/>
              <a:t>管</a:t>
            </a:r>
            <a:r>
              <a:rPr lang="zh-CN" altLang="en-US" dirty="0" smtClean="0"/>
              <a:t>控、用户签约数据核对等功能</a:t>
            </a:r>
            <a:endParaRPr lang="en-US" altLang="zh-CN" dirty="0" smtClean="0"/>
          </a:p>
          <a:p>
            <a:pPr marL="285750" indent="457200">
              <a:lnSpc>
                <a:spcPct val="150000"/>
              </a:lnSpc>
              <a:buFont typeface="Arial" panose="020B0604020202020204" pitchFamily="34" charset="0"/>
              <a:buChar char="•"/>
            </a:pPr>
            <a:r>
              <a:rPr lang="zh-CN" altLang="en-US" dirty="0" smtClean="0"/>
              <a:t>设备相关报表生成与导出（资源报表、性能报表、自定义报表）</a:t>
            </a:r>
            <a:endParaRPr lang="zh-CN" altLang="en-US" dirty="0"/>
          </a:p>
        </p:txBody>
      </p:sp>
    </p:spTree>
    <p:extLst>
      <p:ext uri="{BB962C8B-B14F-4D97-AF65-F5344CB8AC3E}">
        <p14:creationId xmlns:p14="http://schemas.microsoft.com/office/powerpoint/2010/main" val="1261304282"/>
      </p:ext>
    </p:extLst>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3. </a:t>
            </a:r>
            <a:r>
              <a:rPr lang="zh-CN" altLang="en-US" dirty="0" smtClean="0">
                <a:solidFill>
                  <a:srgbClr val="333F50"/>
                </a:solidFill>
              </a:rPr>
              <a:t>故障诊断</a:t>
            </a:r>
            <a:endParaRPr lang="zh-CN" altLang="en-US" dirty="0">
              <a:solidFill>
                <a:srgbClr val="333F50"/>
              </a:solidFill>
            </a:endParaRPr>
          </a:p>
        </p:txBody>
      </p:sp>
      <p:sp>
        <p:nvSpPr>
          <p:cNvPr id="6" name="文本框 5"/>
          <p:cNvSpPr txBox="1"/>
          <p:nvPr/>
        </p:nvSpPr>
        <p:spPr>
          <a:xfrm>
            <a:off x="1714500" y="2028825"/>
            <a:ext cx="8115300" cy="3000821"/>
          </a:xfrm>
          <a:prstGeom prst="rect">
            <a:avLst/>
          </a:prstGeom>
          <a:noFill/>
        </p:spPr>
        <p:txBody>
          <a:bodyPr wrap="square" rtlCol="0">
            <a:spAutoFit/>
          </a:bodyPr>
          <a:lstStyle/>
          <a:p>
            <a:pPr indent="457200">
              <a:lnSpc>
                <a:spcPct val="150000"/>
              </a:lnSpc>
            </a:pPr>
            <a:r>
              <a:rPr lang="zh-CN" altLang="en-US" dirty="0" smtClean="0"/>
              <a:t>建设平台后故障诊断功能包含：</a:t>
            </a:r>
            <a:endParaRPr lang="en-US" altLang="zh-CN" dirty="0" smtClean="0"/>
          </a:p>
          <a:p>
            <a:pPr marL="285750" indent="-285750">
              <a:lnSpc>
                <a:spcPct val="150000"/>
              </a:lnSpc>
              <a:buFont typeface="Arial" panose="020B0604020202020204" pitchFamily="34" charset="0"/>
              <a:buChar char="•"/>
            </a:pPr>
            <a:r>
              <a:rPr lang="zh-CN" altLang="en-US" dirty="0" smtClean="0"/>
              <a:t>对于投诉收到的被动故障通知，通过系统自动通知专业人员进行处理</a:t>
            </a:r>
            <a:endParaRPr lang="en-US" altLang="zh-CN" dirty="0" smtClean="0"/>
          </a:p>
          <a:p>
            <a:pPr marL="285750" indent="-285750">
              <a:lnSpc>
                <a:spcPct val="150000"/>
              </a:lnSpc>
              <a:buFont typeface="Arial" panose="020B0604020202020204" pitchFamily="34" charset="0"/>
              <a:buChar char="•"/>
            </a:pPr>
            <a:r>
              <a:rPr lang="zh-CN" altLang="en-US" dirty="0" smtClean="0"/>
              <a:t>运用大数据、机器学习等方法主动对网络状态进行分析预测，提前发出故障告警</a:t>
            </a:r>
            <a:endParaRPr lang="en-US" altLang="zh-CN" dirty="0" smtClean="0"/>
          </a:p>
          <a:p>
            <a:pPr marL="285750" indent="-285750">
              <a:lnSpc>
                <a:spcPct val="150000"/>
              </a:lnSpc>
              <a:buFont typeface="Arial" panose="020B0604020202020204" pitchFamily="34" charset="0"/>
              <a:buChar char="•"/>
            </a:pPr>
            <a:r>
              <a:rPr lang="zh-CN" altLang="en-US" dirty="0" smtClean="0"/>
              <a:t>网管工具平台集成化</a:t>
            </a:r>
            <a:endParaRPr lang="en-US" altLang="zh-CN" dirty="0" smtClean="0"/>
          </a:p>
          <a:p>
            <a:pPr marL="285750" indent="-285750">
              <a:lnSpc>
                <a:spcPct val="150000"/>
              </a:lnSpc>
              <a:buFont typeface="Arial" panose="020B0604020202020204" pitchFamily="34" charset="0"/>
              <a:buChar char="•"/>
            </a:pPr>
            <a:r>
              <a:rPr lang="zh-CN" altLang="en-US" dirty="0" smtClean="0"/>
              <a:t>不同专业人员直接通过系统进行交流</a:t>
            </a:r>
            <a:endParaRPr lang="en-US" altLang="zh-CN" dirty="0" smtClean="0"/>
          </a:p>
          <a:p>
            <a:pPr marL="285750" indent="-285750">
              <a:lnSpc>
                <a:spcPct val="150000"/>
              </a:lnSpc>
              <a:buFont typeface="Arial" panose="020B0604020202020204" pitchFamily="34" charset="0"/>
              <a:buChar char="•"/>
            </a:pPr>
            <a:r>
              <a:rPr lang="zh-CN" altLang="en-US" dirty="0" smtClean="0"/>
              <a:t>建立故障处理经验库</a:t>
            </a:r>
            <a:endParaRPr lang="zh-CN" altLang="en-US" dirty="0"/>
          </a:p>
        </p:txBody>
      </p:sp>
    </p:spTree>
    <p:extLst>
      <p:ext uri="{BB962C8B-B14F-4D97-AF65-F5344CB8AC3E}">
        <p14:creationId xmlns:p14="http://schemas.microsoft.com/office/powerpoint/2010/main" val="2735161756"/>
      </p:ext>
    </p:extLst>
  </p:cSld>
  <p:clrMapOvr>
    <a:masterClrMapping/>
  </p:clrMapOvr>
  <p:transition spd="med">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4. </a:t>
            </a:r>
            <a:r>
              <a:rPr lang="zh-CN" altLang="en-US" dirty="0" smtClean="0">
                <a:solidFill>
                  <a:srgbClr val="333F50"/>
                </a:solidFill>
              </a:rPr>
              <a:t>业务管理</a:t>
            </a:r>
            <a:endParaRPr lang="zh-CN" altLang="en-US" dirty="0">
              <a:solidFill>
                <a:srgbClr val="333F50"/>
              </a:solidFill>
            </a:endParaRPr>
          </a:p>
        </p:txBody>
      </p:sp>
      <p:grpSp>
        <p:nvGrpSpPr>
          <p:cNvPr id="5" name="组合 4"/>
          <p:cNvGrpSpPr/>
          <p:nvPr/>
        </p:nvGrpSpPr>
        <p:grpSpPr>
          <a:xfrm>
            <a:off x="632655" y="1108760"/>
            <a:ext cx="10627360" cy="4822190"/>
            <a:chOff x="678" y="2099"/>
            <a:chExt cx="18070" cy="8039"/>
          </a:xfrm>
        </p:grpSpPr>
        <p:grpSp>
          <p:nvGrpSpPr>
            <p:cNvPr id="6" name="组合 5"/>
            <p:cNvGrpSpPr/>
            <p:nvPr/>
          </p:nvGrpSpPr>
          <p:grpSpPr>
            <a:xfrm>
              <a:off x="7917" y="2099"/>
              <a:ext cx="1824" cy="2031"/>
              <a:chOff x="9581" y="668"/>
              <a:chExt cx="2765" cy="3012"/>
            </a:xfrm>
          </p:grpSpPr>
          <p:cxnSp>
            <p:nvCxnSpPr>
              <p:cNvPr id="93" name="直接连接符 92"/>
              <p:cNvCxnSpPr/>
              <p:nvPr>
                <p:custDataLst>
                  <p:tags r:id="rId72"/>
                </p:custDataLst>
              </p:nvPr>
            </p:nvCxnSpPr>
            <p:spPr>
              <a:xfrm flipH="1">
                <a:off x="10946" y="3242"/>
                <a:ext cx="10" cy="438"/>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94" name="空心弧 93"/>
              <p:cNvSpPr/>
              <p:nvPr>
                <p:custDataLst>
                  <p:tags r:id="rId73"/>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95" name="椭圆 94"/>
              <p:cNvSpPr/>
              <p:nvPr>
                <p:custDataLst>
                  <p:tags r:id="rId74"/>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96" name="文本框 95"/>
              <p:cNvSpPr txBox="1"/>
              <p:nvPr>
                <p:custDataLst>
                  <p:tags r:id="rId75"/>
                </p:custDataLst>
              </p:nvPr>
            </p:nvSpPr>
            <p:spPr>
              <a:xfrm>
                <a:off x="10095" y="1535"/>
                <a:ext cx="1722" cy="959"/>
              </a:xfrm>
              <a:prstGeom prst="rect">
                <a:avLst/>
              </a:prstGeom>
              <a:noFill/>
            </p:spPr>
            <p:txBody>
              <a:bodyPr wrap="square" rtlCol="0" anchor="ctr" anchorCtr="0">
                <a:normAutofit/>
              </a:bodyPr>
              <a:lstStyle/>
              <a:p>
                <a:pPr algn="ctr"/>
                <a:r>
                  <a:rPr lang="zh-CN" altLang="en-US" dirty="0"/>
                  <a:t>业务</a:t>
                </a:r>
              </a:p>
            </p:txBody>
          </p:sp>
        </p:grpSp>
        <p:grpSp>
          <p:nvGrpSpPr>
            <p:cNvPr id="7" name="组合 6"/>
            <p:cNvGrpSpPr/>
            <p:nvPr/>
          </p:nvGrpSpPr>
          <p:grpSpPr>
            <a:xfrm>
              <a:off x="678" y="4128"/>
              <a:ext cx="18070" cy="6011"/>
              <a:chOff x="693" y="2253"/>
              <a:chExt cx="18070" cy="6011"/>
            </a:xfrm>
          </p:grpSpPr>
          <p:sp>
            <p:nvSpPr>
              <p:cNvPr id="8" name="半闭框 7"/>
              <p:cNvSpPr/>
              <p:nvPr>
                <p:custDataLst>
                  <p:tags r:id="rId1"/>
                </p:custDataLst>
              </p:nvPr>
            </p:nvSpPr>
            <p:spPr>
              <a:xfrm flipH="1">
                <a:off x="14036" y="4398"/>
                <a:ext cx="2612"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9" name="半闭框 8"/>
              <p:cNvSpPr/>
              <p:nvPr>
                <p:custDataLst>
                  <p:tags r:id="rId2"/>
                </p:custDataLst>
              </p:nvPr>
            </p:nvSpPr>
            <p:spPr>
              <a:xfrm>
                <a:off x="10754" y="4398"/>
                <a:ext cx="3263"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10" name="半闭框 9"/>
              <p:cNvSpPr/>
              <p:nvPr>
                <p:custDataLst>
                  <p:tags r:id="rId3"/>
                </p:custDataLst>
              </p:nvPr>
            </p:nvSpPr>
            <p:spPr>
              <a:xfrm>
                <a:off x="2824" y="4398"/>
                <a:ext cx="2767"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12" name="半闭框 11"/>
              <p:cNvSpPr/>
              <p:nvPr>
                <p:custDataLst>
                  <p:tags r:id="rId4"/>
                </p:custDataLst>
              </p:nvPr>
            </p:nvSpPr>
            <p:spPr>
              <a:xfrm flipH="1">
                <a:off x="3619" y="4398"/>
                <a:ext cx="2612"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13" name="半闭框 12"/>
              <p:cNvSpPr/>
              <p:nvPr>
                <p:custDataLst>
                  <p:tags r:id="rId5"/>
                </p:custDataLst>
              </p:nvPr>
            </p:nvSpPr>
            <p:spPr>
              <a:xfrm>
                <a:off x="4494" y="2253"/>
                <a:ext cx="5107"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14" name="半闭框 13"/>
              <p:cNvSpPr/>
              <p:nvPr>
                <p:custDataLst>
                  <p:tags r:id="rId6"/>
                </p:custDataLst>
              </p:nvPr>
            </p:nvSpPr>
            <p:spPr>
              <a:xfrm flipH="1">
                <a:off x="9601" y="2253"/>
                <a:ext cx="4012"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grpSp>
            <p:nvGrpSpPr>
              <p:cNvPr id="15" name="组合 14"/>
              <p:cNvGrpSpPr/>
              <p:nvPr/>
            </p:nvGrpSpPr>
            <p:grpSpPr>
              <a:xfrm>
                <a:off x="3586" y="2387"/>
                <a:ext cx="1824" cy="2031"/>
                <a:chOff x="9581" y="668"/>
                <a:chExt cx="2765" cy="3012"/>
              </a:xfrm>
            </p:grpSpPr>
            <p:cxnSp>
              <p:nvCxnSpPr>
                <p:cNvPr id="89" name="直接连接符 88"/>
                <p:cNvCxnSpPr/>
                <p:nvPr>
                  <p:custDataLst>
                    <p:tags r:id="rId68"/>
                  </p:custDataLst>
                </p:nvPr>
              </p:nvCxnSpPr>
              <p:spPr>
                <a:xfrm flipH="1">
                  <a:off x="10946" y="3242"/>
                  <a:ext cx="10" cy="438"/>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90" name="空心弧 89"/>
                <p:cNvSpPr/>
                <p:nvPr>
                  <p:custDataLst>
                    <p:tags r:id="rId69"/>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91" name="椭圆 90"/>
                <p:cNvSpPr/>
                <p:nvPr>
                  <p:custDataLst>
                    <p:tags r:id="rId70"/>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92" name="文本框 91"/>
                <p:cNvSpPr txBox="1"/>
                <p:nvPr>
                  <p:custDataLst>
                    <p:tags r:id="rId71"/>
                  </p:custDataLst>
                </p:nvPr>
              </p:nvSpPr>
              <p:spPr>
                <a:xfrm>
                  <a:off x="10102" y="1161"/>
                  <a:ext cx="1722" cy="1708"/>
                </a:xfrm>
                <a:prstGeom prst="rect">
                  <a:avLst/>
                </a:prstGeom>
                <a:noFill/>
              </p:spPr>
              <p:txBody>
                <a:bodyPr wrap="square" rtlCol="0" anchor="ctr" anchorCtr="0">
                  <a:normAutofit/>
                </a:bodyPr>
                <a:lstStyle/>
                <a:p>
                  <a:pPr algn="ctr"/>
                  <a:r>
                    <a:rPr lang="zh-CN" altLang="en-US" dirty="0"/>
                    <a:t>语音</a:t>
                  </a:r>
                </a:p>
                <a:p>
                  <a:pPr algn="ctr"/>
                  <a:r>
                    <a:rPr lang="zh-CN" altLang="en-US" dirty="0"/>
                    <a:t>业务</a:t>
                  </a:r>
                </a:p>
              </p:txBody>
            </p:sp>
          </p:grpSp>
          <p:grpSp>
            <p:nvGrpSpPr>
              <p:cNvPr id="16" name="组合 15"/>
              <p:cNvGrpSpPr/>
              <p:nvPr/>
            </p:nvGrpSpPr>
            <p:grpSpPr>
              <a:xfrm>
                <a:off x="12736" y="2387"/>
                <a:ext cx="1824" cy="2031"/>
                <a:chOff x="9581" y="668"/>
                <a:chExt cx="2765" cy="3012"/>
              </a:xfrm>
            </p:grpSpPr>
            <p:cxnSp>
              <p:nvCxnSpPr>
                <p:cNvPr id="85" name="直接连接符 84"/>
                <p:cNvCxnSpPr/>
                <p:nvPr>
                  <p:custDataLst>
                    <p:tags r:id="rId64"/>
                  </p:custDataLst>
                </p:nvPr>
              </p:nvCxnSpPr>
              <p:spPr>
                <a:xfrm flipH="1">
                  <a:off x="10946" y="3242"/>
                  <a:ext cx="10" cy="438"/>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86" name="空心弧 85"/>
                <p:cNvSpPr/>
                <p:nvPr>
                  <p:custDataLst>
                    <p:tags r:id="rId65"/>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87" name="椭圆 86"/>
                <p:cNvSpPr/>
                <p:nvPr>
                  <p:custDataLst>
                    <p:tags r:id="rId66"/>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88" name="文本框 87"/>
                <p:cNvSpPr txBox="1"/>
                <p:nvPr>
                  <p:custDataLst>
                    <p:tags r:id="rId67"/>
                  </p:custDataLst>
                </p:nvPr>
              </p:nvSpPr>
              <p:spPr>
                <a:xfrm>
                  <a:off x="10102" y="1161"/>
                  <a:ext cx="1722" cy="1708"/>
                </a:xfrm>
                <a:prstGeom prst="rect">
                  <a:avLst/>
                </a:prstGeom>
                <a:noFill/>
              </p:spPr>
              <p:txBody>
                <a:bodyPr wrap="square" rtlCol="0" anchor="ctr" anchorCtr="0">
                  <a:normAutofit/>
                </a:bodyPr>
                <a:lstStyle/>
                <a:p>
                  <a:pPr algn="ctr"/>
                  <a:r>
                    <a:rPr lang="zh-CN" altLang="en-US" dirty="0"/>
                    <a:t>数据</a:t>
                  </a:r>
                </a:p>
                <a:p>
                  <a:pPr algn="ctr"/>
                  <a:r>
                    <a:rPr lang="zh-CN" altLang="en-US" dirty="0"/>
                    <a:t>业务</a:t>
                  </a:r>
                </a:p>
              </p:txBody>
            </p:sp>
          </p:grpSp>
          <p:grpSp>
            <p:nvGrpSpPr>
              <p:cNvPr id="17" name="组合 16"/>
              <p:cNvGrpSpPr/>
              <p:nvPr/>
            </p:nvGrpSpPr>
            <p:grpSpPr>
              <a:xfrm>
                <a:off x="1929" y="4516"/>
                <a:ext cx="1824" cy="2465"/>
                <a:chOff x="9581" y="668"/>
                <a:chExt cx="2765" cy="3656"/>
              </a:xfrm>
            </p:grpSpPr>
            <p:cxnSp>
              <p:nvCxnSpPr>
                <p:cNvPr id="81" name="直接连接符 80"/>
                <p:cNvCxnSpPr>
                  <a:endCxn id="72" idx="0"/>
                </p:cNvCxnSpPr>
                <p:nvPr>
                  <p:custDataLst>
                    <p:tags r:id="rId60"/>
                  </p:custDataLst>
                </p:nvPr>
              </p:nvCxnSpPr>
              <p:spPr>
                <a:xfrm>
                  <a:off x="10956" y="3243"/>
                  <a:ext cx="9" cy="1081"/>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82" name="空心弧 81"/>
                <p:cNvSpPr/>
                <p:nvPr>
                  <p:custDataLst>
                    <p:tags r:id="rId61"/>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83" name="椭圆 82"/>
                <p:cNvSpPr/>
                <p:nvPr>
                  <p:custDataLst>
                    <p:tags r:id="rId62"/>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84" name="文本框 83"/>
                <p:cNvSpPr txBox="1"/>
                <p:nvPr>
                  <p:custDataLst>
                    <p:tags r:id="rId63"/>
                  </p:custDataLst>
                </p:nvPr>
              </p:nvSpPr>
              <p:spPr>
                <a:xfrm>
                  <a:off x="10102" y="1161"/>
                  <a:ext cx="1722" cy="1708"/>
                </a:xfrm>
                <a:prstGeom prst="rect">
                  <a:avLst/>
                </a:prstGeom>
                <a:noFill/>
              </p:spPr>
              <p:txBody>
                <a:bodyPr wrap="square" rtlCol="0" anchor="ctr" anchorCtr="0">
                  <a:normAutofit/>
                </a:bodyPr>
                <a:lstStyle/>
                <a:p>
                  <a:pPr algn="ctr"/>
                  <a:r>
                    <a:rPr lang="zh-CN" altLang="en-US" dirty="0"/>
                    <a:t>无线语音</a:t>
                  </a:r>
                </a:p>
              </p:txBody>
            </p:sp>
          </p:grpSp>
          <p:grpSp>
            <p:nvGrpSpPr>
              <p:cNvPr id="18" name="组合 17"/>
              <p:cNvGrpSpPr/>
              <p:nvPr/>
            </p:nvGrpSpPr>
            <p:grpSpPr>
              <a:xfrm>
                <a:off x="5324" y="4516"/>
                <a:ext cx="1824" cy="2405"/>
                <a:chOff x="9581" y="668"/>
                <a:chExt cx="2765" cy="3567"/>
              </a:xfrm>
            </p:grpSpPr>
            <p:cxnSp>
              <p:nvCxnSpPr>
                <p:cNvPr id="77" name="直接连接符 76"/>
                <p:cNvCxnSpPr>
                  <a:endCxn id="66" idx="0"/>
                </p:cNvCxnSpPr>
                <p:nvPr>
                  <p:custDataLst>
                    <p:tags r:id="rId56"/>
                  </p:custDataLst>
                </p:nvPr>
              </p:nvCxnSpPr>
              <p:spPr>
                <a:xfrm>
                  <a:off x="10956" y="3243"/>
                  <a:ext cx="20" cy="992"/>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78" name="空心弧 77"/>
                <p:cNvSpPr/>
                <p:nvPr>
                  <p:custDataLst>
                    <p:tags r:id="rId57"/>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79" name="椭圆 78"/>
                <p:cNvSpPr/>
                <p:nvPr>
                  <p:custDataLst>
                    <p:tags r:id="rId58"/>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80" name="文本框 79"/>
                <p:cNvSpPr txBox="1"/>
                <p:nvPr>
                  <p:custDataLst>
                    <p:tags r:id="rId59"/>
                  </p:custDataLst>
                </p:nvPr>
              </p:nvSpPr>
              <p:spPr>
                <a:xfrm>
                  <a:off x="10102" y="1161"/>
                  <a:ext cx="1722" cy="1708"/>
                </a:xfrm>
                <a:prstGeom prst="rect">
                  <a:avLst/>
                </a:prstGeom>
                <a:noFill/>
              </p:spPr>
              <p:txBody>
                <a:bodyPr wrap="square" rtlCol="0" anchor="ctr" anchorCtr="0">
                  <a:normAutofit/>
                </a:bodyPr>
                <a:lstStyle/>
                <a:p>
                  <a:pPr algn="ctr"/>
                  <a:r>
                    <a:rPr lang="zh-CN" altLang="en-US" dirty="0"/>
                    <a:t>有线语音</a:t>
                  </a:r>
                </a:p>
              </p:txBody>
            </p:sp>
          </p:grpSp>
          <p:grpSp>
            <p:nvGrpSpPr>
              <p:cNvPr id="19" name="组合 18"/>
              <p:cNvGrpSpPr/>
              <p:nvPr/>
            </p:nvGrpSpPr>
            <p:grpSpPr>
              <a:xfrm>
                <a:off x="693" y="6798"/>
                <a:ext cx="4290" cy="1327"/>
                <a:chOff x="693" y="6798"/>
                <a:chExt cx="4290" cy="1327"/>
              </a:xfrm>
            </p:grpSpPr>
            <p:sp>
              <p:nvSpPr>
                <p:cNvPr id="68" name="空心弧 67"/>
                <p:cNvSpPr/>
                <p:nvPr>
                  <p:custDataLst>
                    <p:tags r:id="rId47"/>
                  </p:custDataLst>
                </p:nvPr>
              </p:nvSpPr>
              <p:spPr>
                <a:xfrm>
                  <a:off x="693" y="6799"/>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69" name="椭圆 68"/>
                <p:cNvSpPr/>
                <p:nvPr>
                  <p:custDataLst>
                    <p:tags r:id="rId48"/>
                  </p:custDataLst>
                </p:nvPr>
              </p:nvSpPr>
              <p:spPr>
                <a:xfrm>
                  <a:off x="887" y="6981"/>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70" name="文本框 69"/>
                <p:cNvSpPr txBox="1"/>
                <p:nvPr>
                  <p:custDataLst>
                    <p:tags r:id="rId49"/>
                  </p:custDataLst>
                </p:nvPr>
              </p:nvSpPr>
              <p:spPr>
                <a:xfrm>
                  <a:off x="943" y="7042"/>
                  <a:ext cx="825" cy="842"/>
                </a:xfrm>
                <a:prstGeom prst="rect">
                  <a:avLst/>
                </a:prstGeom>
                <a:noFill/>
              </p:spPr>
              <p:txBody>
                <a:bodyPr wrap="square" rtlCol="0" anchor="ctr" anchorCtr="0">
                  <a:normAutofit/>
                </a:bodyPr>
                <a:lstStyle/>
                <a:p>
                  <a:pPr algn="ctr"/>
                  <a:r>
                    <a:rPr lang="en-US" altLang="zh-CN" dirty="0"/>
                    <a:t>2G</a:t>
                  </a:r>
                </a:p>
              </p:txBody>
            </p:sp>
            <p:sp>
              <p:nvSpPr>
                <p:cNvPr id="71" name="空心弧 70"/>
                <p:cNvSpPr/>
                <p:nvPr>
                  <p:custDataLst>
                    <p:tags r:id="rId50"/>
                  </p:custDataLst>
                </p:nvPr>
              </p:nvSpPr>
              <p:spPr>
                <a:xfrm>
                  <a:off x="2179" y="6799"/>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72" name="椭圆 71"/>
                <p:cNvSpPr/>
                <p:nvPr>
                  <p:custDataLst>
                    <p:tags r:id="rId51"/>
                  </p:custDataLst>
                </p:nvPr>
              </p:nvSpPr>
              <p:spPr>
                <a:xfrm>
                  <a:off x="2373" y="6981"/>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73" name="文本框 72"/>
                <p:cNvSpPr txBox="1"/>
                <p:nvPr>
                  <p:custDataLst>
                    <p:tags r:id="rId52"/>
                  </p:custDataLst>
                </p:nvPr>
              </p:nvSpPr>
              <p:spPr>
                <a:xfrm>
                  <a:off x="2429" y="7042"/>
                  <a:ext cx="825" cy="842"/>
                </a:xfrm>
                <a:prstGeom prst="rect">
                  <a:avLst/>
                </a:prstGeom>
                <a:noFill/>
              </p:spPr>
              <p:txBody>
                <a:bodyPr wrap="square" rtlCol="0" anchor="ctr" anchorCtr="0">
                  <a:normAutofit/>
                </a:bodyPr>
                <a:lstStyle/>
                <a:p>
                  <a:pPr algn="ctr"/>
                  <a:r>
                    <a:rPr lang="en-US" altLang="zh-CN" dirty="0"/>
                    <a:t>3G</a:t>
                  </a:r>
                </a:p>
              </p:txBody>
            </p:sp>
            <p:sp>
              <p:nvSpPr>
                <p:cNvPr id="74" name="空心弧 73"/>
                <p:cNvSpPr/>
                <p:nvPr>
                  <p:custDataLst>
                    <p:tags r:id="rId53"/>
                  </p:custDataLst>
                </p:nvPr>
              </p:nvSpPr>
              <p:spPr>
                <a:xfrm>
                  <a:off x="3659" y="6798"/>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75" name="椭圆 74"/>
                <p:cNvSpPr/>
                <p:nvPr>
                  <p:custDataLst>
                    <p:tags r:id="rId54"/>
                  </p:custDataLst>
                </p:nvPr>
              </p:nvSpPr>
              <p:spPr>
                <a:xfrm>
                  <a:off x="3853" y="6980"/>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76" name="文本框 75"/>
                <p:cNvSpPr txBox="1"/>
                <p:nvPr>
                  <p:custDataLst>
                    <p:tags r:id="rId55"/>
                  </p:custDataLst>
                </p:nvPr>
              </p:nvSpPr>
              <p:spPr>
                <a:xfrm>
                  <a:off x="3782" y="7041"/>
                  <a:ext cx="1066" cy="842"/>
                </a:xfrm>
                <a:prstGeom prst="rect">
                  <a:avLst/>
                </a:prstGeom>
                <a:noFill/>
              </p:spPr>
              <p:txBody>
                <a:bodyPr wrap="square" rtlCol="0" anchor="ctr" anchorCtr="0">
                  <a:normAutofit fontScale="90000" lnSpcReduction="20000"/>
                </a:bodyPr>
                <a:lstStyle/>
                <a:p>
                  <a:pPr algn="ctr"/>
                  <a:r>
                    <a:rPr lang="en-US" altLang="zh-CN" dirty="0"/>
                    <a:t>VoLTE</a:t>
                  </a:r>
                </a:p>
              </p:txBody>
            </p:sp>
          </p:grpSp>
          <p:grpSp>
            <p:nvGrpSpPr>
              <p:cNvPr id="20" name="组合 19"/>
              <p:cNvGrpSpPr/>
              <p:nvPr/>
            </p:nvGrpSpPr>
            <p:grpSpPr>
              <a:xfrm>
                <a:off x="5476" y="6708"/>
                <a:ext cx="1534" cy="1557"/>
                <a:chOff x="5476" y="6708"/>
                <a:chExt cx="1534" cy="1557"/>
              </a:xfrm>
            </p:grpSpPr>
            <p:sp>
              <p:nvSpPr>
                <p:cNvPr id="65" name="空心弧 64"/>
                <p:cNvSpPr/>
                <p:nvPr>
                  <p:custDataLst>
                    <p:tags r:id="rId44"/>
                  </p:custDataLst>
                </p:nvPr>
              </p:nvSpPr>
              <p:spPr>
                <a:xfrm>
                  <a:off x="5476" y="6708"/>
                  <a:ext cx="1534" cy="155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66" name="椭圆 65"/>
                <p:cNvSpPr/>
                <p:nvPr>
                  <p:custDataLst>
                    <p:tags r:id="rId45"/>
                  </p:custDataLst>
                </p:nvPr>
              </p:nvSpPr>
              <p:spPr>
                <a:xfrm>
                  <a:off x="5701" y="6921"/>
                  <a:ext cx="1085" cy="1130"/>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67" name="文本框 66"/>
                <p:cNvSpPr txBox="1"/>
                <p:nvPr>
                  <p:custDataLst>
                    <p:tags r:id="rId46"/>
                  </p:custDataLst>
                </p:nvPr>
              </p:nvSpPr>
              <p:spPr>
                <a:xfrm>
                  <a:off x="5701" y="6850"/>
                  <a:ext cx="1087" cy="1270"/>
                </a:xfrm>
                <a:prstGeom prst="rect">
                  <a:avLst/>
                </a:prstGeom>
                <a:noFill/>
              </p:spPr>
              <p:txBody>
                <a:bodyPr wrap="square" rtlCol="0" anchor="ctr" anchorCtr="0">
                  <a:normAutofit/>
                </a:bodyPr>
                <a:lstStyle/>
                <a:p>
                  <a:pPr algn="ctr"/>
                  <a:r>
                    <a:rPr lang="zh-CN" altLang="en-US" sz="1400" dirty="0"/>
                    <a:t>集团</a:t>
                  </a:r>
                </a:p>
                <a:p>
                  <a:pPr algn="ctr"/>
                  <a:r>
                    <a:rPr lang="zh-CN" altLang="en-US" sz="1400" dirty="0"/>
                    <a:t>语音</a:t>
                  </a:r>
                </a:p>
                <a:p>
                  <a:pPr algn="ctr"/>
                  <a:r>
                    <a:rPr lang="zh-CN" altLang="en-US" sz="1400" dirty="0"/>
                    <a:t>专线</a:t>
                  </a:r>
                </a:p>
              </p:txBody>
            </p:sp>
          </p:grpSp>
          <p:cxnSp>
            <p:nvCxnSpPr>
              <p:cNvPr id="21" name="直接连接符 20"/>
              <p:cNvCxnSpPr>
                <a:stCxn id="69" idx="0"/>
              </p:cNvCxnSpPr>
              <p:nvPr/>
            </p:nvCxnSpPr>
            <p:spPr>
              <a:xfrm flipH="1" flipV="1">
                <a:off x="1353" y="6564"/>
                <a:ext cx="3" cy="417"/>
              </a:xfrm>
              <a:prstGeom prst="line">
                <a:avLst/>
              </a:prstGeom>
            </p:spPr>
            <p:style>
              <a:lnRef idx="1">
                <a:schemeClr val="dk1"/>
              </a:lnRef>
              <a:fillRef idx="0">
                <a:schemeClr val="dk1"/>
              </a:fillRef>
              <a:effectRef idx="0">
                <a:schemeClr val="dk1"/>
              </a:effectRef>
              <a:fontRef idx="minor">
                <a:schemeClr val="tx1"/>
              </a:fontRef>
            </p:style>
          </p:cxnSp>
          <p:sp>
            <p:nvSpPr>
              <p:cNvPr id="22" name="半闭框 21"/>
              <p:cNvSpPr/>
              <p:nvPr>
                <p:custDataLst>
                  <p:tags r:id="rId7"/>
                </p:custDataLst>
              </p:nvPr>
            </p:nvSpPr>
            <p:spPr>
              <a:xfrm flipH="1">
                <a:off x="1356" y="6548"/>
                <a:ext cx="2953" cy="398"/>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grpSp>
            <p:nvGrpSpPr>
              <p:cNvPr id="23" name="组合 22"/>
              <p:cNvGrpSpPr/>
              <p:nvPr/>
            </p:nvGrpSpPr>
            <p:grpSpPr>
              <a:xfrm>
                <a:off x="7309" y="4516"/>
                <a:ext cx="11455" cy="3637"/>
                <a:chOff x="7309" y="4516"/>
                <a:chExt cx="11455" cy="3637"/>
              </a:xfrm>
            </p:grpSpPr>
            <p:sp>
              <p:nvSpPr>
                <p:cNvPr id="24" name="半闭框 23"/>
                <p:cNvSpPr/>
                <p:nvPr>
                  <p:custDataLst>
                    <p:tags r:id="rId8"/>
                  </p:custDataLst>
                </p:nvPr>
              </p:nvSpPr>
              <p:spPr>
                <a:xfrm flipH="1">
                  <a:off x="16488" y="6617"/>
                  <a:ext cx="1607"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25" name="半闭框 24"/>
                <p:cNvSpPr/>
                <p:nvPr>
                  <p:custDataLst>
                    <p:tags r:id="rId9"/>
                  </p:custDataLst>
                </p:nvPr>
              </p:nvSpPr>
              <p:spPr>
                <a:xfrm>
                  <a:off x="15177" y="6617"/>
                  <a:ext cx="1560"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26" name="半闭框 25"/>
                <p:cNvSpPr/>
                <p:nvPr>
                  <p:custDataLst>
                    <p:tags r:id="rId10"/>
                  </p:custDataLst>
                </p:nvPr>
              </p:nvSpPr>
              <p:spPr>
                <a:xfrm flipH="1">
                  <a:off x="10754" y="6613"/>
                  <a:ext cx="2859"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grpSp>
              <p:nvGrpSpPr>
                <p:cNvPr id="27" name="组合 26"/>
                <p:cNvGrpSpPr/>
                <p:nvPr/>
              </p:nvGrpSpPr>
              <p:grpSpPr>
                <a:xfrm>
                  <a:off x="14560" y="6741"/>
                  <a:ext cx="4205" cy="1350"/>
                  <a:chOff x="14560" y="6741"/>
                  <a:chExt cx="4205" cy="1350"/>
                </a:xfrm>
              </p:grpSpPr>
              <p:sp>
                <p:nvSpPr>
                  <p:cNvPr id="56" name="空心弧 55"/>
                  <p:cNvSpPr/>
                  <p:nvPr>
                    <p:custDataLst>
                      <p:tags r:id="rId35"/>
                    </p:custDataLst>
                  </p:nvPr>
                </p:nvSpPr>
                <p:spPr>
                  <a:xfrm>
                    <a:off x="14560" y="6765"/>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57" name="椭圆 56"/>
                  <p:cNvSpPr/>
                  <p:nvPr>
                    <p:custDataLst>
                      <p:tags r:id="rId36"/>
                    </p:custDataLst>
                  </p:nvPr>
                </p:nvSpPr>
                <p:spPr>
                  <a:xfrm>
                    <a:off x="14754" y="6947"/>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58" name="文本框 57"/>
                  <p:cNvSpPr txBox="1"/>
                  <p:nvPr>
                    <p:custDataLst>
                      <p:tags r:id="rId37"/>
                    </p:custDataLst>
                  </p:nvPr>
                </p:nvSpPr>
                <p:spPr>
                  <a:xfrm>
                    <a:off x="14753" y="7008"/>
                    <a:ext cx="938" cy="842"/>
                  </a:xfrm>
                  <a:prstGeom prst="rect">
                    <a:avLst/>
                  </a:prstGeom>
                  <a:noFill/>
                </p:spPr>
                <p:txBody>
                  <a:bodyPr wrap="square" rtlCol="0" anchor="ctr" anchorCtr="0">
                    <a:normAutofit fontScale="90000" lnSpcReduction="20000"/>
                  </a:bodyPr>
                  <a:lstStyle/>
                  <a:p>
                    <a:pPr algn="ctr"/>
                    <a:r>
                      <a:rPr lang="zh-CN" altLang="en-US" dirty="0"/>
                      <a:t>家宽</a:t>
                    </a:r>
                  </a:p>
                </p:txBody>
              </p:sp>
              <p:sp>
                <p:nvSpPr>
                  <p:cNvPr id="59" name="空心弧 58"/>
                  <p:cNvSpPr/>
                  <p:nvPr>
                    <p:custDataLst>
                      <p:tags r:id="rId38"/>
                    </p:custDataLst>
                  </p:nvPr>
                </p:nvSpPr>
                <p:spPr>
                  <a:xfrm>
                    <a:off x="15990" y="6764"/>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60" name="椭圆 59"/>
                  <p:cNvSpPr/>
                  <p:nvPr>
                    <p:custDataLst>
                      <p:tags r:id="rId39"/>
                    </p:custDataLst>
                  </p:nvPr>
                </p:nvSpPr>
                <p:spPr>
                  <a:xfrm>
                    <a:off x="16184" y="6946"/>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61" name="文本框 60"/>
                  <p:cNvSpPr txBox="1"/>
                  <p:nvPr>
                    <p:custDataLst>
                      <p:tags r:id="rId40"/>
                    </p:custDataLst>
                  </p:nvPr>
                </p:nvSpPr>
                <p:spPr>
                  <a:xfrm>
                    <a:off x="16145" y="6947"/>
                    <a:ext cx="1016" cy="967"/>
                  </a:xfrm>
                  <a:prstGeom prst="rect">
                    <a:avLst/>
                  </a:prstGeom>
                  <a:noFill/>
                </p:spPr>
                <p:txBody>
                  <a:bodyPr wrap="square" rtlCol="0" anchor="ctr" anchorCtr="0">
                    <a:normAutofit/>
                  </a:bodyPr>
                  <a:lstStyle/>
                  <a:p>
                    <a:pPr algn="ctr"/>
                    <a:r>
                      <a:rPr lang="zh-CN" altLang="en-US" sz="1400" dirty="0"/>
                      <a:t>集团</a:t>
                    </a:r>
                  </a:p>
                  <a:p>
                    <a:pPr algn="ctr"/>
                    <a:r>
                      <a:rPr lang="zh-CN" altLang="en-US" sz="1400" dirty="0"/>
                      <a:t>专线</a:t>
                    </a:r>
                  </a:p>
                </p:txBody>
              </p:sp>
              <p:sp>
                <p:nvSpPr>
                  <p:cNvPr id="62" name="空心弧 61"/>
                  <p:cNvSpPr/>
                  <p:nvPr>
                    <p:custDataLst>
                      <p:tags r:id="rId41"/>
                    </p:custDataLst>
                  </p:nvPr>
                </p:nvSpPr>
                <p:spPr>
                  <a:xfrm>
                    <a:off x="17441" y="6741"/>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63" name="椭圆 62"/>
                  <p:cNvSpPr/>
                  <p:nvPr>
                    <p:custDataLst>
                      <p:tags r:id="rId42"/>
                    </p:custDataLst>
                  </p:nvPr>
                </p:nvSpPr>
                <p:spPr>
                  <a:xfrm>
                    <a:off x="17635" y="6923"/>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64" name="文本框 63"/>
                  <p:cNvSpPr txBox="1"/>
                  <p:nvPr>
                    <p:custDataLst>
                      <p:tags r:id="rId43"/>
                    </p:custDataLst>
                  </p:nvPr>
                </p:nvSpPr>
                <p:spPr>
                  <a:xfrm>
                    <a:off x="17560" y="6984"/>
                    <a:ext cx="1075" cy="842"/>
                  </a:xfrm>
                  <a:prstGeom prst="rect">
                    <a:avLst/>
                  </a:prstGeom>
                  <a:noFill/>
                </p:spPr>
                <p:txBody>
                  <a:bodyPr wrap="square" rtlCol="0" anchor="ctr" anchorCtr="0">
                    <a:normAutofit/>
                  </a:bodyPr>
                  <a:lstStyle/>
                  <a:p>
                    <a:pPr algn="ctr"/>
                    <a:r>
                      <a:rPr lang="en-US" altLang="zh-CN" dirty="0"/>
                      <a:t>IPTV</a:t>
                    </a:r>
                  </a:p>
                </p:txBody>
              </p:sp>
            </p:grpSp>
            <p:grpSp>
              <p:nvGrpSpPr>
                <p:cNvPr id="28" name="组合 27"/>
                <p:cNvGrpSpPr/>
                <p:nvPr/>
              </p:nvGrpSpPr>
              <p:grpSpPr>
                <a:xfrm>
                  <a:off x="7309" y="6799"/>
                  <a:ext cx="6959" cy="1354"/>
                  <a:chOff x="7309" y="6799"/>
                  <a:chExt cx="6959" cy="1354"/>
                </a:xfrm>
              </p:grpSpPr>
              <p:sp>
                <p:nvSpPr>
                  <p:cNvPr id="40" name="空心弧 39"/>
                  <p:cNvSpPr/>
                  <p:nvPr>
                    <p:custDataLst>
                      <p:tags r:id="rId20"/>
                    </p:custDataLst>
                  </p:nvPr>
                </p:nvSpPr>
                <p:spPr>
                  <a:xfrm>
                    <a:off x="7309" y="6826"/>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41" name="椭圆 40"/>
                  <p:cNvSpPr/>
                  <p:nvPr>
                    <p:custDataLst>
                      <p:tags r:id="rId21"/>
                    </p:custDataLst>
                  </p:nvPr>
                </p:nvSpPr>
                <p:spPr>
                  <a:xfrm>
                    <a:off x="7503" y="7008"/>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42" name="文本框 41"/>
                  <p:cNvSpPr txBox="1"/>
                  <p:nvPr>
                    <p:custDataLst>
                      <p:tags r:id="rId22"/>
                    </p:custDataLst>
                  </p:nvPr>
                </p:nvSpPr>
                <p:spPr>
                  <a:xfrm>
                    <a:off x="7359" y="7069"/>
                    <a:ext cx="1227" cy="842"/>
                  </a:xfrm>
                  <a:prstGeom prst="rect">
                    <a:avLst/>
                  </a:prstGeom>
                  <a:noFill/>
                </p:spPr>
                <p:txBody>
                  <a:bodyPr wrap="square" rtlCol="0" anchor="ctr" anchorCtr="0">
                    <a:normAutofit fontScale="87500" lnSpcReduction="20000"/>
                  </a:bodyPr>
                  <a:lstStyle/>
                  <a:p>
                    <a:pPr algn="ctr"/>
                    <a:r>
                      <a:rPr lang="zh-CN" altLang="en-US" dirty="0"/>
                      <a:t>物联网</a:t>
                    </a:r>
                  </a:p>
                </p:txBody>
              </p:sp>
              <p:sp>
                <p:nvSpPr>
                  <p:cNvPr id="44" name="空心弧 43"/>
                  <p:cNvSpPr/>
                  <p:nvPr>
                    <p:custDataLst>
                      <p:tags r:id="rId23"/>
                    </p:custDataLst>
                  </p:nvPr>
                </p:nvSpPr>
                <p:spPr>
                  <a:xfrm>
                    <a:off x="8681" y="6826"/>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45" name="椭圆 44"/>
                  <p:cNvSpPr/>
                  <p:nvPr>
                    <p:custDataLst>
                      <p:tags r:id="rId24"/>
                    </p:custDataLst>
                  </p:nvPr>
                </p:nvSpPr>
                <p:spPr>
                  <a:xfrm>
                    <a:off x="8875" y="7008"/>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46" name="文本框 45"/>
                  <p:cNvSpPr txBox="1"/>
                  <p:nvPr>
                    <p:custDataLst>
                      <p:tags r:id="rId25"/>
                    </p:custDataLst>
                  </p:nvPr>
                </p:nvSpPr>
                <p:spPr>
                  <a:xfrm>
                    <a:off x="8931" y="7069"/>
                    <a:ext cx="825" cy="842"/>
                  </a:xfrm>
                  <a:prstGeom prst="rect">
                    <a:avLst/>
                  </a:prstGeom>
                  <a:noFill/>
                </p:spPr>
                <p:txBody>
                  <a:bodyPr wrap="square" rtlCol="0" anchor="ctr" anchorCtr="0">
                    <a:normAutofit/>
                  </a:bodyPr>
                  <a:lstStyle/>
                  <a:p>
                    <a:pPr algn="ctr"/>
                    <a:r>
                      <a:rPr lang="en-US" altLang="zh-CN" dirty="0"/>
                      <a:t>2G</a:t>
                    </a:r>
                  </a:p>
                </p:txBody>
              </p:sp>
              <p:sp>
                <p:nvSpPr>
                  <p:cNvPr id="47" name="空心弧 46"/>
                  <p:cNvSpPr/>
                  <p:nvPr>
                    <p:custDataLst>
                      <p:tags r:id="rId26"/>
                    </p:custDataLst>
                  </p:nvPr>
                </p:nvSpPr>
                <p:spPr>
                  <a:xfrm>
                    <a:off x="10096" y="6826"/>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48" name="椭圆 47"/>
                  <p:cNvSpPr/>
                  <p:nvPr>
                    <p:custDataLst>
                      <p:tags r:id="rId27"/>
                    </p:custDataLst>
                  </p:nvPr>
                </p:nvSpPr>
                <p:spPr>
                  <a:xfrm>
                    <a:off x="10290" y="7008"/>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49" name="文本框 48"/>
                  <p:cNvSpPr txBox="1"/>
                  <p:nvPr>
                    <p:custDataLst>
                      <p:tags r:id="rId28"/>
                    </p:custDataLst>
                  </p:nvPr>
                </p:nvSpPr>
                <p:spPr>
                  <a:xfrm>
                    <a:off x="10346" y="7069"/>
                    <a:ext cx="825" cy="842"/>
                  </a:xfrm>
                  <a:prstGeom prst="rect">
                    <a:avLst/>
                  </a:prstGeom>
                  <a:noFill/>
                </p:spPr>
                <p:txBody>
                  <a:bodyPr wrap="square" rtlCol="0" anchor="ctr" anchorCtr="0">
                    <a:normAutofit/>
                  </a:bodyPr>
                  <a:lstStyle/>
                  <a:p>
                    <a:pPr algn="ctr"/>
                    <a:r>
                      <a:rPr lang="en-US" altLang="zh-CN" dirty="0"/>
                      <a:t>3G</a:t>
                    </a:r>
                  </a:p>
                </p:txBody>
              </p:sp>
              <p:sp>
                <p:nvSpPr>
                  <p:cNvPr id="50" name="空心弧 49"/>
                  <p:cNvSpPr/>
                  <p:nvPr>
                    <p:custDataLst>
                      <p:tags r:id="rId29"/>
                    </p:custDataLst>
                  </p:nvPr>
                </p:nvSpPr>
                <p:spPr>
                  <a:xfrm>
                    <a:off x="11547" y="6822"/>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51" name="椭圆 50"/>
                  <p:cNvSpPr/>
                  <p:nvPr>
                    <p:custDataLst>
                      <p:tags r:id="rId30"/>
                    </p:custDataLst>
                  </p:nvPr>
                </p:nvSpPr>
                <p:spPr>
                  <a:xfrm>
                    <a:off x="11741" y="7004"/>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52" name="文本框 51"/>
                  <p:cNvSpPr txBox="1"/>
                  <p:nvPr>
                    <p:custDataLst>
                      <p:tags r:id="rId31"/>
                    </p:custDataLst>
                  </p:nvPr>
                </p:nvSpPr>
                <p:spPr>
                  <a:xfrm>
                    <a:off x="11797" y="7065"/>
                    <a:ext cx="825" cy="842"/>
                  </a:xfrm>
                  <a:prstGeom prst="rect">
                    <a:avLst/>
                  </a:prstGeom>
                  <a:noFill/>
                </p:spPr>
                <p:txBody>
                  <a:bodyPr wrap="square" rtlCol="0" anchor="ctr" anchorCtr="0">
                    <a:normAutofit/>
                  </a:bodyPr>
                  <a:lstStyle/>
                  <a:p>
                    <a:pPr algn="ctr"/>
                    <a:r>
                      <a:rPr lang="en-US" altLang="zh-CN" dirty="0"/>
                      <a:t>4G</a:t>
                    </a:r>
                  </a:p>
                </p:txBody>
              </p:sp>
              <p:sp>
                <p:nvSpPr>
                  <p:cNvPr id="53" name="空心弧 52"/>
                  <p:cNvSpPr/>
                  <p:nvPr>
                    <p:custDataLst>
                      <p:tags r:id="rId32"/>
                    </p:custDataLst>
                  </p:nvPr>
                </p:nvSpPr>
                <p:spPr>
                  <a:xfrm>
                    <a:off x="12943" y="6799"/>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54" name="椭圆 53"/>
                  <p:cNvSpPr/>
                  <p:nvPr>
                    <p:custDataLst>
                      <p:tags r:id="rId33"/>
                    </p:custDataLst>
                  </p:nvPr>
                </p:nvSpPr>
                <p:spPr>
                  <a:xfrm>
                    <a:off x="13137" y="6981"/>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55" name="文本框 54"/>
                  <p:cNvSpPr txBox="1"/>
                  <p:nvPr>
                    <p:custDataLst>
                      <p:tags r:id="rId34"/>
                    </p:custDataLst>
                  </p:nvPr>
                </p:nvSpPr>
                <p:spPr>
                  <a:xfrm>
                    <a:off x="12976" y="7040"/>
                    <a:ext cx="1259" cy="842"/>
                  </a:xfrm>
                  <a:prstGeom prst="rect">
                    <a:avLst/>
                  </a:prstGeom>
                  <a:noFill/>
                </p:spPr>
                <p:txBody>
                  <a:bodyPr wrap="square" rtlCol="0" anchor="ctr" anchorCtr="0">
                    <a:normAutofit fontScale="92500"/>
                  </a:bodyPr>
                  <a:lstStyle/>
                  <a:p>
                    <a:pPr algn="ctr"/>
                    <a:r>
                      <a:rPr lang="en-US" altLang="zh-CN" dirty="0"/>
                      <a:t>WLAN</a:t>
                    </a:r>
                  </a:p>
                </p:txBody>
              </p:sp>
            </p:grpSp>
            <p:grpSp>
              <p:nvGrpSpPr>
                <p:cNvPr id="29" name="组合 28"/>
                <p:cNvGrpSpPr/>
                <p:nvPr/>
              </p:nvGrpSpPr>
              <p:grpSpPr>
                <a:xfrm>
                  <a:off x="9847" y="4516"/>
                  <a:ext cx="1824" cy="2492"/>
                  <a:chOff x="9581" y="668"/>
                  <a:chExt cx="2765" cy="3696"/>
                </a:xfrm>
              </p:grpSpPr>
              <p:cxnSp>
                <p:nvCxnSpPr>
                  <p:cNvPr id="36" name="直接连接符 35"/>
                  <p:cNvCxnSpPr>
                    <a:endCxn id="48" idx="0"/>
                  </p:cNvCxnSpPr>
                  <p:nvPr>
                    <p:custDataLst>
                      <p:tags r:id="rId16"/>
                    </p:custDataLst>
                  </p:nvPr>
                </p:nvCxnSpPr>
                <p:spPr>
                  <a:xfrm>
                    <a:off x="10956" y="3243"/>
                    <a:ext cx="8" cy="1121"/>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37" name="空心弧 36"/>
                  <p:cNvSpPr/>
                  <p:nvPr>
                    <p:custDataLst>
                      <p:tags r:id="rId17"/>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38" name="椭圆 37"/>
                  <p:cNvSpPr/>
                  <p:nvPr>
                    <p:custDataLst>
                      <p:tags r:id="rId18"/>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39" name="文本框 38"/>
                  <p:cNvSpPr txBox="1"/>
                  <p:nvPr>
                    <p:custDataLst>
                      <p:tags r:id="rId19"/>
                    </p:custDataLst>
                  </p:nvPr>
                </p:nvSpPr>
                <p:spPr>
                  <a:xfrm>
                    <a:off x="9984" y="1125"/>
                    <a:ext cx="1957" cy="1708"/>
                  </a:xfrm>
                  <a:prstGeom prst="rect">
                    <a:avLst/>
                  </a:prstGeom>
                  <a:noFill/>
                </p:spPr>
                <p:txBody>
                  <a:bodyPr wrap="square" rtlCol="0" anchor="ctr" anchorCtr="0">
                    <a:normAutofit fontScale="90000" lnSpcReduction="20000"/>
                  </a:bodyPr>
                  <a:lstStyle/>
                  <a:p>
                    <a:pPr algn="ctr"/>
                    <a:r>
                      <a:rPr lang="zh-CN" altLang="en-US" dirty="0"/>
                      <a:t>移动</a:t>
                    </a:r>
                  </a:p>
                  <a:p>
                    <a:pPr algn="ctr"/>
                    <a:r>
                      <a:rPr lang="zh-CN" altLang="en-US" dirty="0"/>
                      <a:t>互联网</a:t>
                    </a:r>
                  </a:p>
                </p:txBody>
              </p:sp>
            </p:grpSp>
            <p:grpSp>
              <p:nvGrpSpPr>
                <p:cNvPr id="30" name="组合 29"/>
                <p:cNvGrpSpPr/>
                <p:nvPr/>
              </p:nvGrpSpPr>
              <p:grpSpPr>
                <a:xfrm>
                  <a:off x="15741" y="4516"/>
                  <a:ext cx="1824" cy="2432"/>
                  <a:chOff x="9581" y="668"/>
                  <a:chExt cx="2765" cy="3606"/>
                </a:xfrm>
              </p:grpSpPr>
              <p:cxnSp>
                <p:nvCxnSpPr>
                  <p:cNvPr id="32" name="直接连接符 31"/>
                  <p:cNvCxnSpPr>
                    <a:endCxn id="61" idx="0"/>
                  </p:cNvCxnSpPr>
                  <p:nvPr>
                    <p:custDataLst>
                      <p:tags r:id="rId12"/>
                    </p:custDataLst>
                  </p:nvPr>
                </p:nvCxnSpPr>
                <p:spPr>
                  <a:xfrm>
                    <a:off x="10956" y="3243"/>
                    <a:ext cx="8" cy="1031"/>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33" name="空心弧 32"/>
                  <p:cNvSpPr/>
                  <p:nvPr>
                    <p:custDataLst>
                      <p:tags r:id="rId13"/>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34" name="椭圆 33"/>
                  <p:cNvSpPr/>
                  <p:nvPr>
                    <p:custDataLst>
                      <p:tags r:id="rId14"/>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35" name="文本框 34"/>
                  <p:cNvSpPr txBox="1"/>
                  <p:nvPr>
                    <p:custDataLst>
                      <p:tags r:id="rId15"/>
                    </p:custDataLst>
                  </p:nvPr>
                </p:nvSpPr>
                <p:spPr>
                  <a:xfrm>
                    <a:off x="9984" y="1125"/>
                    <a:ext cx="1957" cy="1708"/>
                  </a:xfrm>
                  <a:prstGeom prst="rect">
                    <a:avLst/>
                  </a:prstGeom>
                  <a:noFill/>
                </p:spPr>
                <p:txBody>
                  <a:bodyPr wrap="square" rtlCol="0" anchor="ctr" anchorCtr="0">
                    <a:normAutofit fontScale="90000" lnSpcReduction="20000"/>
                  </a:bodyPr>
                  <a:lstStyle/>
                  <a:p>
                    <a:pPr algn="ctr"/>
                    <a:r>
                      <a:rPr lang="zh-CN" altLang="en-US" dirty="0"/>
                      <a:t>有线</a:t>
                    </a:r>
                  </a:p>
                  <a:p>
                    <a:pPr algn="ctr"/>
                    <a:r>
                      <a:rPr lang="zh-CN" altLang="en-US" dirty="0"/>
                      <a:t>互联网</a:t>
                    </a:r>
                  </a:p>
                </p:txBody>
              </p:sp>
            </p:grpSp>
            <p:sp>
              <p:nvSpPr>
                <p:cNvPr id="31" name="半闭框 30"/>
                <p:cNvSpPr/>
                <p:nvPr>
                  <p:custDataLst>
                    <p:tags r:id="rId11"/>
                  </p:custDataLst>
                </p:nvPr>
              </p:nvSpPr>
              <p:spPr>
                <a:xfrm>
                  <a:off x="7960" y="6614"/>
                  <a:ext cx="2767"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grpSp>
        </p:grpSp>
      </p:grpSp>
    </p:spTree>
    <p:extLst>
      <p:ext uri="{BB962C8B-B14F-4D97-AF65-F5344CB8AC3E}">
        <p14:creationId xmlns:p14="http://schemas.microsoft.com/office/powerpoint/2010/main" val="688203633"/>
      </p:ext>
    </p:extLst>
  </p:cSld>
  <p:clrMapOvr>
    <a:masterClrMapping/>
  </p:clrMapOvr>
  <p:transition spd="med">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4. </a:t>
            </a:r>
            <a:r>
              <a:rPr lang="zh-CN" altLang="en-US" dirty="0" smtClean="0">
                <a:solidFill>
                  <a:srgbClr val="333F50"/>
                </a:solidFill>
              </a:rPr>
              <a:t>业务管理</a:t>
            </a:r>
            <a:endParaRPr lang="zh-CN" altLang="en-US" dirty="0">
              <a:solidFill>
                <a:srgbClr val="333F50"/>
              </a:solidFill>
            </a:endParaRPr>
          </a:p>
        </p:txBody>
      </p:sp>
      <p:sp>
        <p:nvSpPr>
          <p:cNvPr id="6" name="文本框 5"/>
          <p:cNvSpPr txBox="1"/>
          <p:nvPr/>
        </p:nvSpPr>
        <p:spPr>
          <a:xfrm>
            <a:off x="1714500" y="2028825"/>
            <a:ext cx="8115300" cy="3000821"/>
          </a:xfrm>
          <a:prstGeom prst="rect">
            <a:avLst/>
          </a:prstGeom>
          <a:noFill/>
        </p:spPr>
        <p:txBody>
          <a:bodyPr wrap="square" rtlCol="0">
            <a:spAutoFit/>
          </a:bodyPr>
          <a:lstStyle/>
          <a:p>
            <a:pPr indent="457200">
              <a:lnSpc>
                <a:spcPct val="150000"/>
              </a:lnSpc>
            </a:pPr>
            <a:r>
              <a:rPr lang="zh-CN" altLang="en-US" dirty="0" smtClean="0"/>
              <a:t>业务管理功能包含：</a:t>
            </a:r>
            <a:endParaRPr lang="en-US" altLang="zh-CN" dirty="0" smtClean="0"/>
          </a:p>
          <a:p>
            <a:pPr marL="285750" indent="-285750">
              <a:lnSpc>
                <a:spcPct val="150000"/>
              </a:lnSpc>
              <a:buFont typeface="Arial" panose="020B0604020202020204" pitchFamily="34" charset="0"/>
              <a:buChar char="•"/>
            </a:pPr>
            <a:r>
              <a:rPr lang="zh-CN" altLang="en-US" dirty="0" smtClean="0"/>
              <a:t>综合业务指标</a:t>
            </a:r>
            <a:r>
              <a:rPr lang="zh-CN" altLang="en-US" dirty="0"/>
              <a:t>管理：监控业务特别相关的网络关键质量指标</a:t>
            </a:r>
            <a:r>
              <a:rPr lang="en-US" altLang="zh-CN" dirty="0"/>
              <a:t>(KQI</a:t>
            </a:r>
            <a:r>
              <a:rPr lang="en-US" altLang="zh-CN" dirty="0" smtClean="0"/>
              <a:t>)</a:t>
            </a:r>
            <a:r>
              <a:rPr lang="zh-CN" altLang="en-US" dirty="0" smtClean="0"/>
              <a:t>（经典</a:t>
            </a:r>
            <a:r>
              <a:rPr lang="zh-CN" altLang="en-US" dirty="0"/>
              <a:t>业务</a:t>
            </a:r>
            <a:r>
              <a:rPr lang="zh-CN" altLang="en-US" dirty="0" smtClean="0"/>
              <a:t>管理</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smtClean="0"/>
              <a:t>用户实际体验管理：</a:t>
            </a:r>
            <a:r>
              <a:rPr lang="en-US" altLang="zh-CN" dirty="0" smtClean="0"/>
              <a:t>“</a:t>
            </a:r>
            <a:r>
              <a:rPr lang="zh-CN" altLang="en-US" dirty="0" smtClean="0"/>
              <a:t>主动式</a:t>
            </a:r>
            <a:r>
              <a:rPr lang="zh-CN" altLang="en-US" dirty="0"/>
              <a:t>：模拟用户环境，拨测验证业务性能。被动式：测量吞吐量、延迟、或者差错条件等单个用户实际体验到的各个因素，这些因素将直接影响到用户对服务质量的</a:t>
            </a:r>
            <a:r>
              <a:rPr lang="zh-CN" altLang="en-US" dirty="0" smtClean="0"/>
              <a:t>体验。</a:t>
            </a:r>
            <a:endParaRPr lang="en-US" altLang="zh-CN" dirty="0" smtClean="0"/>
          </a:p>
          <a:p>
            <a:pPr marL="285750" indent="-285750">
              <a:lnSpc>
                <a:spcPct val="150000"/>
              </a:lnSpc>
              <a:buFont typeface="Arial" panose="020B0604020202020204" pitchFamily="34" charset="0"/>
              <a:buChar char="•"/>
            </a:pPr>
            <a:r>
              <a:rPr lang="zh-CN" altLang="en-US" dirty="0" smtClean="0"/>
              <a:t>按照分类及周期导出相应报表</a:t>
            </a:r>
            <a:endParaRPr lang="zh-CN" altLang="en-US" dirty="0"/>
          </a:p>
        </p:txBody>
      </p:sp>
    </p:spTree>
    <p:extLst>
      <p:ext uri="{BB962C8B-B14F-4D97-AF65-F5344CB8AC3E}">
        <p14:creationId xmlns:p14="http://schemas.microsoft.com/office/powerpoint/2010/main" val="2038897115"/>
      </p:ext>
    </p:extLst>
  </p:cSld>
  <p:clrMapOvr>
    <a:masterClrMapping/>
  </p:clrMapOvr>
  <p:transition spd="med">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5. </a:t>
            </a:r>
            <a:r>
              <a:rPr lang="zh-CN" altLang="en-US" dirty="0" smtClean="0">
                <a:solidFill>
                  <a:srgbClr val="333F50"/>
                </a:solidFill>
              </a:rPr>
              <a:t>场景保障</a:t>
            </a:r>
            <a:endParaRPr lang="zh-CN" altLang="en-US" dirty="0">
              <a:solidFill>
                <a:srgbClr val="333F50"/>
              </a:solidFill>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8660" y="1236386"/>
            <a:ext cx="9076965" cy="499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4418321"/>
      </p:ext>
    </p:extLst>
  </p:cSld>
  <p:clrMapOvr>
    <a:masterClrMapping/>
  </p:clrMapOvr>
  <p:transition spd="med">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平台架构</a:t>
            </a:r>
            <a:endParaRPr lang="zh-CN" altLang="en-US" sz="32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数据类型</a:t>
            </a:r>
            <a:endParaRPr lang="zh-CN" altLang="en-US" dirty="0">
              <a:solidFill>
                <a:srgbClr val="333F50"/>
              </a:solidFill>
            </a:endParaRPr>
          </a:p>
        </p:txBody>
      </p:sp>
      <p:sp>
        <p:nvSpPr>
          <p:cNvPr id="6" name="等腰三角形 5"/>
          <p:cNvSpPr/>
          <p:nvPr/>
        </p:nvSpPr>
        <p:spPr>
          <a:xfrm>
            <a:off x="2000885" y="844550"/>
            <a:ext cx="5738495" cy="5350510"/>
          </a:xfrm>
          <a:prstGeom prst="triangle">
            <a:avLst/>
          </a:prstGeom>
          <a:solidFill>
            <a:srgbClr val="00B050"/>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7" name="流程图: 可选过程 6"/>
          <p:cNvSpPr/>
          <p:nvPr/>
        </p:nvSpPr>
        <p:spPr>
          <a:xfrm>
            <a:off x="4119245" y="2176145"/>
            <a:ext cx="1501140" cy="694690"/>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用户</a:t>
            </a:r>
          </a:p>
        </p:txBody>
      </p:sp>
      <p:sp>
        <p:nvSpPr>
          <p:cNvPr id="8" name="流程图: 可选过程 7"/>
          <p:cNvSpPr/>
          <p:nvPr/>
        </p:nvSpPr>
        <p:spPr>
          <a:xfrm>
            <a:off x="3874770" y="3172460"/>
            <a:ext cx="1991360" cy="694690"/>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业务</a:t>
            </a:r>
          </a:p>
        </p:txBody>
      </p:sp>
      <p:sp>
        <p:nvSpPr>
          <p:cNvPr id="9" name="流程图: 可选过程 8"/>
          <p:cNvSpPr/>
          <p:nvPr/>
        </p:nvSpPr>
        <p:spPr>
          <a:xfrm>
            <a:off x="3665855" y="4173220"/>
            <a:ext cx="2409825" cy="694690"/>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网络</a:t>
            </a:r>
          </a:p>
        </p:txBody>
      </p:sp>
      <p:sp>
        <p:nvSpPr>
          <p:cNvPr id="10" name="流程图: 可选过程 9"/>
          <p:cNvSpPr/>
          <p:nvPr/>
        </p:nvSpPr>
        <p:spPr>
          <a:xfrm>
            <a:off x="3246120" y="5174615"/>
            <a:ext cx="3247390" cy="694690"/>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设备</a:t>
            </a:r>
          </a:p>
        </p:txBody>
      </p:sp>
      <p:sp>
        <p:nvSpPr>
          <p:cNvPr id="12" name="左大括号 11"/>
          <p:cNvSpPr/>
          <p:nvPr/>
        </p:nvSpPr>
        <p:spPr>
          <a:xfrm rot="10800000">
            <a:off x="7345045" y="2176145"/>
            <a:ext cx="819785" cy="3693160"/>
          </a:xfrm>
          <a:prstGeom prst="lef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p>
        </p:txBody>
      </p:sp>
      <p:sp>
        <p:nvSpPr>
          <p:cNvPr id="13" name="文本框 12"/>
          <p:cNvSpPr txBox="1"/>
          <p:nvPr/>
        </p:nvSpPr>
        <p:spPr>
          <a:xfrm>
            <a:off x="8434070" y="3804920"/>
            <a:ext cx="3535680" cy="460375"/>
          </a:xfrm>
          <a:prstGeom prst="rect">
            <a:avLst/>
          </a:prstGeom>
          <a:noFill/>
        </p:spPr>
        <p:txBody>
          <a:bodyPr wrap="none" rtlCol="0">
            <a:spAutoFit/>
          </a:bodyPr>
          <a:lstStyle/>
          <a:p>
            <a:r>
              <a:rPr lang="zh-CN" altLang="en-US" sz="2400">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rPr>
              <a:t>围绕四种类型的数据展开</a:t>
            </a:r>
          </a:p>
        </p:txBody>
      </p:sp>
    </p:spTree>
    <p:extLst>
      <p:ext uri="{BB962C8B-B14F-4D97-AF65-F5344CB8AC3E}">
        <p14:creationId xmlns:p14="http://schemas.microsoft.com/office/powerpoint/2010/main" val="1235558823"/>
      </p:ext>
    </p:extLst>
  </p:cSld>
  <p:clrMapOvr>
    <a:masterClrMapping/>
  </p:clrMapOvr>
  <p:transition spd="med">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530639" y="3596923"/>
            <a:ext cx="5977695" cy="811459"/>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191375" y="1445290"/>
            <a:ext cx="4229100" cy="4411939"/>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平台架构</a:t>
            </a:r>
            <a:endParaRPr lang="zh-CN" altLang="en-US" sz="32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数据</a:t>
            </a:r>
            <a:r>
              <a:rPr lang="zh-CN" altLang="en-US" dirty="0">
                <a:solidFill>
                  <a:srgbClr val="333F50"/>
                </a:solidFill>
              </a:rPr>
              <a:t>管理</a:t>
            </a:r>
          </a:p>
        </p:txBody>
      </p:sp>
      <p:sp>
        <p:nvSpPr>
          <p:cNvPr id="14" name="文本框 13"/>
          <p:cNvSpPr txBox="1"/>
          <p:nvPr/>
        </p:nvSpPr>
        <p:spPr>
          <a:xfrm>
            <a:off x="7239000" y="1943100"/>
            <a:ext cx="4181475" cy="3416320"/>
          </a:xfrm>
          <a:prstGeom prst="rect">
            <a:avLst/>
          </a:prstGeom>
          <a:noFill/>
        </p:spPr>
        <p:txBody>
          <a:bodyPr wrap="square" rtlCol="0">
            <a:spAutoFit/>
          </a:bodyPr>
          <a:lstStyle/>
          <a:p>
            <a:pPr indent="457200">
              <a:lnSpc>
                <a:spcPct val="150000"/>
              </a:lnSpc>
            </a:pPr>
            <a:r>
              <a:rPr lang="zh-CN" altLang="en-US" dirty="0">
                <a:solidFill>
                  <a:schemeClr val="bg1"/>
                </a:solidFill>
              </a:rPr>
              <a:t>数据管理层的数据包括对网元拓扑关系数据、指令数据、告警数据、话统数据、指标数据、以及其他数据的存储、备份、与分析，为监控对象的可视化展现提供数据支持</a:t>
            </a:r>
            <a:r>
              <a:rPr lang="zh-CN" altLang="en-US" dirty="0" smtClean="0">
                <a:solidFill>
                  <a:schemeClr val="bg1"/>
                </a:solidFill>
              </a:rPr>
              <a:t>。同时还负责</a:t>
            </a:r>
            <a:r>
              <a:rPr lang="zh-CN" altLang="en-US" dirty="0">
                <a:solidFill>
                  <a:schemeClr val="bg1"/>
                </a:solidFill>
              </a:rPr>
              <a:t>对来源不同的告警信息进行过滤、压缩和关联，以及对不同来源的性能数据进行规范、汇聚、分析</a:t>
            </a:r>
            <a:r>
              <a:rPr lang="zh-CN" altLang="en-US" dirty="0" smtClean="0">
                <a:solidFill>
                  <a:schemeClr val="bg1"/>
                </a:solidFill>
              </a:rPr>
              <a:t>等。</a:t>
            </a:r>
            <a:endParaRPr lang="zh-CN" altLang="en-US" dirty="0">
              <a:solidFill>
                <a:schemeClr val="bg1"/>
              </a:solidFill>
            </a:endParaRPr>
          </a:p>
        </p:txBody>
      </p:sp>
      <p:sp>
        <p:nvSpPr>
          <p:cNvPr id="16" name="TextBox 27"/>
          <p:cNvSpPr txBox="1"/>
          <p:nvPr/>
        </p:nvSpPr>
        <p:spPr>
          <a:xfrm>
            <a:off x="0" y="5151090"/>
            <a:ext cx="8888909"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0" dirty="0" smtClean="0">
                <a:solidFill>
                  <a:schemeClr val="tx1"/>
                </a:solidFill>
                <a:effectLst/>
              </a:rPr>
              <a:t>   网元拓扑关系数据   指令数据    告警数据    指标数据    话统数据   其它数据</a:t>
            </a:r>
            <a:endParaRPr lang="zh-CN" altLang="en-US" b="0" dirty="0">
              <a:solidFill>
                <a:schemeClr val="tx1"/>
              </a:solidFill>
              <a:effectLst/>
            </a:endParaRPr>
          </a:p>
        </p:txBody>
      </p:sp>
      <p:cxnSp>
        <p:nvCxnSpPr>
          <p:cNvPr id="4" name="直接箭头连接符 3"/>
          <p:cNvCxnSpPr/>
          <p:nvPr/>
        </p:nvCxnSpPr>
        <p:spPr>
          <a:xfrm flipV="1">
            <a:off x="2324100" y="4509789"/>
            <a:ext cx="0" cy="528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V="1">
            <a:off x="3038475" y="4509789"/>
            <a:ext cx="0" cy="528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V="1">
            <a:off x="3752850" y="4509789"/>
            <a:ext cx="0" cy="528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4444454" y="4509789"/>
            <a:ext cx="0" cy="528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304798" y="3822872"/>
            <a:ext cx="6429375" cy="369332"/>
          </a:xfrm>
          <a:prstGeom prst="rect">
            <a:avLst/>
          </a:prstGeom>
          <a:noFill/>
        </p:spPr>
        <p:txBody>
          <a:bodyPr wrap="square" rtlCol="0">
            <a:spAutoFit/>
          </a:bodyPr>
          <a:lstStyle/>
          <a:p>
            <a:pPr algn="ctr"/>
            <a:r>
              <a:rPr lang="zh-CN" altLang="en-US" dirty="0" smtClean="0">
                <a:solidFill>
                  <a:schemeClr val="bg1"/>
                </a:solidFill>
              </a:rPr>
              <a:t>过滤、压缩、存储、分析</a:t>
            </a:r>
            <a:endParaRPr lang="zh-CN" altLang="en-US" dirty="0">
              <a:solidFill>
                <a:schemeClr val="bg1"/>
              </a:solidFill>
            </a:endParaRPr>
          </a:p>
        </p:txBody>
      </p:sp>
      <p:sp>
        <p:nvSpPr>
          <p:cNvPr id="23" name="下箭头 22"/>
          <p:cNvSpPr/>
          <p:nvPr/>
        </p:nvSpPr>
        <p:spPr>
          <a:xfrm flipV="1">
            <a:off x="3257547" y="2818370"/>
            <a:ext cx="523875" cy="5905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404934" y="2129917"/>
            <a:ext cx="4229100" cy="369332"/>
          </a:xfrm>
          <a:prstGeom prst="rect">
            <a:avLst/>
          </a:prstGeom>
          <a:noFill/>
        </p:spPr>
        <p:txBody>
          <a:bodyPr wrap="square" rtlCol="0">
            <a:spAutoFit/>
          </a:bodyPr>
          <a:lstStyle/>
          <a:p>
            <a:pPr algn="ctr"/>
            <a:r>
              <a:rPr lang="zh-CN" altLang="en-US" dirty="0" smtClean="0"/>
              <a:t>为上层可视化应用及配置提供数据支持</a:t>
            </a:r>
            <a:endParaRPr lang="zh-CN" altLang="en-US" dirty="0"/>
          </a:p>
        </p:txBody>
      </p:sp>
    </p:spTree>
    <p:extLst>
      <p:ext uri="{BB962C8B-B14F-4D97-AF65-F5344CB8AC3E}">
        <p14:creationId xmlns:p14="http://schemas.microsoft.com/office/powerpoint/2010/main" val="2224585660"/>
      </p:ext>
    </p:extLst>
  </p:cSld>
  <p:clrMapOvr>
    <a:masterClrMapping/>
  </p:clrMapOvr>
  <p:transition spd="med">
    <p:pull/>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平台架构</a:t>
            </a:r>
            <a:endParaRPr lang="zh-CN" altLang="en-US" sz="32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系统配置</a:t>
            </a:r>
            <a:endParaRPr lang="zh-CN" altLang="en-US" dirty="0">
              <a:solidFill>
                <a:srgbClr val="333F50"/>
              </a:solidFill>
            </a:endParaRPr>
          </a:p>
        </p:txBody>
      </p:sp>
      <p:sp>
        <p:nvSpPr>
          <p:cNvPr id="14" name="矩形 13"/>
          <p:cNvSpPr/>
          <p:nvPr/>
        </p:nvSpPr>
        <p:spPr>
          <a:xfrm>
            <a:off x="1847960" y="1795900"/>
            <a:ext cx="9051545" cy="576251"/>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847960" y="2498234"/>
            <a:ext cx="9051545" cy="558791"/>
          </a:xfrm>
          <a:prstGeom prst="rect">
            <a:avLst/>
          </a:prstGeom>
          <a:solidFill>
            <a:schemeClr val="accent6">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TextBox 27"/>
          <p:cNvSpPr txBox="1"/>
          <p:nvPr/>
        </p:nvSpPr>
        <p:spPr>
          <a:xfrm>
            <a:off x="2041698" y="2591154"/>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算法库</a:t>
            </a:r>
            <a:endParaRPr lang="zh-CN" altLang="en-US" b="0" dirty="0">
              <a:solidFill>
                <a:schemeClr val="tx1"/>
              </a:solidFill>
              <a:effectLst/>
            </a:endParaRPr>
          </a:p>
        </p:txBody>
      </p:sp>
      <p:sp>
        <p:nvSpPr>
          <p:cNvPr id="17" name="TextBox 28"/>
          <p:cNvSpPr txBox="1"/>
          <p:nvPr/>
        </p:nvSpPr>
        <p:spPr>
          <a:xfrm>
            <a:off x="4606217" y="2586168"/>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场景库</a:t>
            </a:r>
            <a:endParaRPr lang="zh-CN" altLang="en-US" b="0" dirty="0">
              <a:solidFill>
                <a:schemeClr val="tx1"/>
              </a:solidFill>
              <a:effectLst/>
            </a:endParaRPr>
          </a:p>
        </p:txBody>
      </p:sp>
      <p:sp>
        <p:nvSpPr>
          <p:cNvPr id="18" name="TextBox 29"/>
          <p:cNvSpPr txBox="1"/>
          <p:nvPr/>
        </p:nvSpPr>
        <p:spPr>
          <a:xfrm>
            <a:off x="3308187" y="2580907"/>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模型库</a:t>
            </a:r>
            <a:endParaRPr lang="zh-CN" altLang="en-US" b="0" dirty="0">
              <a:solidFill>
                <a:schemeClr val="tx1"/>
              </a:solidFill>
              <a:effectLst/>
            </a:endParaRPr>
          </a:p>
        </p:txBody>
      </p:sp>
      <p:sp>
        <p:nvSpPr>
          <p:cNvPr id="19" name="TextBox 47"/>
          <p:cNvSpPr txBox="1"/>
          <p:nvPr/>
        </p:nvSpPr>
        <p:spPr>
          <a:xfrm>
            <a:off x="5846438" y="2596946"/>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指令库</a:t>
            </a:r>
            <a:endParaRPr lang="zh-CN" altLang="en-US" b="0" dirty="0">
              <a:solidFill>
                <a:schemeClr val="tx1"/>
              </a:solidFill>
              <a:effectLst/>
            </a:endParaRPr>
          </a:p>
        </p:txBody>
      </p:sp>
      <p:sp>
        <p:nvSpPr>
          <p:cNvPr id="20" name="TextBox 73"/>
          <p:cNvSpPr txBox="1"/>
          <p:nvPr/>
        </p:nvSpPr>
        <p:spPr>
          <a:xfrm>
            <a:off x="7060799" y="2632780"/>
            <a:ext cx="1403131" cy="369332"/>
          </a:xfrm>
          <a:prstGeom prst="rect">
            <a:avLst/>
          </a:prstGeom>
          <a:noFill/>
        </p:spPr>
        <p:txBody>
          <a:bodyPr wrap="square" rtlCol="0">
            <a:spAutoFit/>
          </a:bodyPr>
          <a:lstStyle/>
          <a:p>
            <a:r>
              <a:rPr lang="en-US" altLang="zh-CN" dirty="0" smtClean="0"/>
              <a:t>…..</a:t>
            </a:r>
            <a:endParaRPr lang="zh-CN" altLang="en-US" dirty="0"/>
          </a:p>
        </p:txBody>
      </p:sp>
      <p:sp>
        <p:nvSpPr>
          <p:cNvPr id="21" name="TextBox 50"/>
          <p:cNvSpPr txBox="1"/>
          <p:nvPr/>
        </p:nvSpPr>
        <p:spPr>
          <a:xfrm>
            <a:off x="2041698" y="1882084"/>
            <a:ext cx="8475119"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0" dirty="0" smtClean="0">
                <a:solidFill>
                  <a:schemeClr val="tx1"/>
                </a:solidFill>
                <a:effectLst/>
              </a:rPr>
              <a:t>设备配置  报表配置  指标配置  经验配置  场景配置  任务配置  指令配置  消息配置  </a:t>
            </a:r>
            <a:r>
              <a:rPr lang="en-US" altLang="zh-CN" b="0" dirty="0" smtClean="0">
                <a:solidFill>
                  <a:schemeClr val="tx1"/>
                </a:solidFill>
                <a:effectLst/>
              </a:rPr>
              <a:t>…</a:t>
            </a:r>
          </a:p>
        </p:txBody>
      </p:sp>
      <p:sp>
        <p:nvSpPr>
          <p:cNvPr id="2" name="文本框 1"/>
          <p:cNvSpPr txBox="1"/>
          <p:nvPr/>
        </p:nvSpPr>
        <p:spPr>
          <a:xfrm>
            <a:off x="2451676" y="3387289"/>
            <a:ext cx="5919293"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场景库包括对无线</a:t>
            </a:r>
            <a:r>
              <a:rPr lang="en-US" altLang="zh-CN" dirty="0" smtClean="0"/>
              <a:t>/</a:t>
            </a:r>
            <a:r>
              <a:rPr lang="zh-CN" altLang="en-US" dirty="0" smtClean="0"/>
              <a:t>有线网络场景的划分</a:t>
            </a:r>
            <a:endParaRPr lang="en-US" altLang="zh-CN" dirty="0" smtClean="0"/>
          </a:p>
          <a:p>
            <a:pPr marL="285750" indent="285750">
              <a:lnSpc>
                <a:spcPct val="150000"/>
              </a:lnSpc>
              <a:buFont typeface="Arial" panose="020B0604020202020204" pitchFamily="34" charset="0"/>
              <a:buChar char="•"/>
            </a:pPr>
            <a:r>
              <a:rPr lang="zh-CN" altLang="en-US" dirty="0"/>
              <a:t>算法库：考核指标</a:t>
            </a:r>
            <a:r>
              <a:rPr lang="zh-CN" altLang="en-US" dirty="0" smtClean="0"/>
              <a:t>算法</a:t>
            </a:r>
            <a:endParaRPr lang="en-US" altLang="zh-CN" dirty="0"/>
          </a:p>
          <a:p>
            <a:pPr marL="285750" indent="285750">
              <a:lnSpc>
                <a:spcPct val="150000"/>
              </a:lnSpc>
              <a:buFont typeface="Arial" panose="020B0604020202020204" pitchFamily="34" charset="0"/>
              <a:buChar char="•"/>
            </a:pPr>
            <a:r>
              <a:rPr lang="zh-CN" altLang="en-US" dirty="0"/>
              <a:t>模型库：故障模型、投诉处理</a:t>
            </a:r>
            <a:r>
              <a:rPr lang="zh-CN" altLang="en-US" dirty="0" smtClean="0"/>
              <a:t>模型</a:t>
            </a:r>
            <a:endParaRPr lang="en-US" altLang="zh-CN" dirty="0"/>
          </a:p>
          <a:p>
            <a:pPr marL="285750" indent="285750">
              <a:lnSpc>
                <a:spcPct val="150000"/>
              </a:lnSpc>
              <a:buFont typeface="Arial" panose="020B0604020202020204" pitchFamily="34" charset="0"/>
              <a:buChar char="•"/>
            </a:pPr>
            <a:r>
              <a:rPr lang="zh-CN" altLang="en-US" dirty="0"/>
              <a:t>指令库：日常维护涉及的指令</a:t>
            </a:r>
          </a:p>
          <a:p>
            <a:pPr marL="285750" indent="285750">
              <a:lnSpc>
                <a:spcPct val="150000"/>
              </a:lnSpc>
              <a:buFont typeface="Arial" panose="020B0604020202020204" pitchFamily="34" charset="0"/>
              <a:buChar char="•"/>
            </a:pPr>
            <a:endParaRPr lang="en-US" altLang="zh-CN" dirty="0" smtClean="0"/>
          </a:p>
        </p:txBody>
      </p:sp>
    </p:spTree>
    <p:extLst>
      <p:ext uri="{BB962C8B-B14F-4D97-AF65-F5344CB8AC3E}">
        <p14:creationId xmlns:p14="http://schemas.microsoft.com/office/powerpoint/2010/main" val="3221408332"/>
      </p:ext>
    </p:extLst>
  </p:cSld>
  <p:clrMapOvr>
    <a:masterClrMapping/>
  </p:clrMapOvr>
  <p:transition spd="med">
    <p:pull/>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平台架构</a:t>
            </a:r>
            <a:endParaRPr lang="zh-CN" altLang="en-US" sz="3200" b="1" dirty="0">
              <a:latin typeface="微软雅黑" panose="020B0503020204020204" pitchFamily="34" charset="-122"/>
              <a:ea typeface="微软雅黑" panose="020B0503020204020204" pitchFamily="34" charset="-122"/>
            </a:endParaRPr>
          </a:p>
        </p:txBody>
      </p:sp>
      <p:sp>
        <p:nvSpPr>
          <p:cNvPr id="5" name="矩形 4"/>
          <p:cNvSpPr/>
          <p:nvPr/>
        </p:nvSpPr>
        <p:spPr>
          <a:xfrm>
            <a:off x="2934787" y="3266578"/>
            <a:ext cx="8896433" cy="51091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501070" y="5345098"/>
            <a:ext cx="1244534" cy="456925"/>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493343" y="2593085"/>
            <a:ext cx="1244534" cy="51051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493343" y="3265720"/>
            <a:ext cx="1243713" cy="1207069"/>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934786" y="1100545"/>
            <a:ext cx="8975879" cy="893524"/>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934787" y="2577105"/>
            <a:ext cx="8896433" cy="499513"/>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012609" y="1209349"/>
            <a:ext cx="4677733" cy="702682"/>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934787" y="3968912"/>
            <a:ext cx="8896433" cy="495435"/>
          </a:xfrm>
          <a:prstGeom prst="rect">
            <a:avLst/>
          </a:prstGeom>
          <a:solidFill>
            <a:schemeClr val="accent6">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TextBox 27"/>
          <p:cNvSpPr txBox="1"/>
          <p:nvPr/>
        </p:nvSpPr>
        <p:spPr>
          <a:xfrm>
            <a:off x="3128525" y="4061833"/>
            <a:ext cx="1069579"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算法库</a:t>
            </a:r>
            <a:endParaRPr lang="zh-CN" altLang="en-US" b="0" dirty="0">
              <a:solidFill>
                <a:schemeClr val="tx1"/>
              </a:solidFill>
              <a:effectLst/>
            </a:endParaRPr>
          </a:p>
        </p:txBody>
      </p:sp>
      <p:sp>
        <p:nvSpPr>
          <p:cNvPr id="15" name="TextBox 28"/>
          <p:cNvSpPr txBox="1"/>
          <p:nvPr/>
        </p:nvSpPr>
        <p:spPr>
          <a:xfrm>
            <a:off x="5693044" y="4056847"/>
            <a:ext cx="1069579"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场景库</a:t>
            </a:r>
            <a:endParaRPr lang="zh-CN" altLang="en-US" b="0" dirty="0">
              <a:solidFill>
                <a:schemeClr val="tx1"/>
              </a:solidFill>
              <a:effectLst/>
            </a:endParaRPr>
          </a:p>
        </p:txBody>
      </p:sp>
      <p:sp>
        <p:nvSpPr>
          <p:cNvPr id="16" name="TextBox 29"/>
          <p:cNvSpPr txBox="1"/>
          <p:nvPr/>
        </p:nvSpPr>
        <p:spPr>
          <a:xfrm>
            <a:off x="4395014" y="4051586"/>
            <a:ext cx="1069579"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模型库</a:t>
            </a:r>
            <a:endParaRPr lang="zh-CN" altLang="en-US" b="0" dirty="0">
              <a:solidFill>
                <a:schemeClr val="tx1"/>
              </a:solidFill>
              <a:effectLst/>
            </a:endParaRPr>
          </a:p>
        </p:txBody>
      </p:sp>
      <p:sp>
        <p:nvSpPr>
          <p:cNvPr id="17" name="矩形 16"/>
          <p:cNvSpPr/>
          <p:nvPr/>
        </p:nvSpPr>
        <p:spPr>
          <a:xfrm>
            <a:off x="2934786" y="4697455"/>
            <a:ext cx="8896433" cy="495435"/>
          </a:xfrm>
          <a:prstGeom prst="rect">
            <a:avLst/>
          </a:prstGeom>
          <a:solidFill>
            <a:schemeClr val="tx2">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2934786" y="5348037"/>
            <a:ext cx="8896433" cy="459558"/>
          </a:xfrm>
          <a:prstGeom prst="rect">
            <a:avLst/>
          </a:prstGeom>
          <a:solidFill>
            <a:schemeClr val="accent1">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40"/>
          <p:cNvSpPr txBox="1"/>
          <p:nvPr/>
        </p:nvSpPr>
        <p:spPr>
          <a:xfrm>
            <a:off x="3313150" y="5466970"/>
            <a:ext cx="1812957" cy="369332"/>
          </a:xfrm>
          <a:prstGeom prst="rect">
            <a:avLst/>
          </a:prstGeom>
          <a:noFill/>
        </p:spPr>
        <p:txBody>
          <a:bodyPr wrap="square" rtlCol="0">
            <a:spAutoFit/>
          </a:bodyPr>
          <a:lstStyle/>
          <a:p>
            <a:r>
              <a:rPr lang="en-US" altLang="zh-CN" dirty="0" smtClean="0"/>
              <a:t>Telnet</a:t>
            </a:r>
            <a:endParaRPr lang="zh-CN" altLang="en-US" dirty="0" smtClean="0"/>
          </a:p>
        </p:txBody>
      </p:sp>
      <p:sp>
        <p:nvSpPr>
          <p:cNvPr id="20" name="TextBox 41"/>
          <p:cNvSpPr txBox="1"/>
          <p:nvPr/>
        </p:nvSpPr>
        <p:spPr>
          <a:xfrm>
            <a:off x="5205011" y="5461716"/>
            <a:ext cx="5950215" cy="369332"/>
          </a:xfrm>
          <a:prstGeom prst="rect">
            <a:avLst/>
          </a:prstGeom>
          <a:noFill/>
        </p:spPr>
        <p:txBody>
          <a:bodyPr wrap="square" rtlCol="0">
            <a:spAutoFit/>
          </a:bodyPr>
          <a:lstStyle/>
          <a:p>
            <a:r>
              <a:rPr lang="en-US" altLang="zh-CN" b="1" dirty="0" err="1" smtClean="0"/>
              <a:t>WebServices</a:t>
            </a:r>
            <a:r>
              <a:rPr lang="en-US" altLang="zh-CN" b="1" dirty="0" smtClean="0"/>
              <a:t>/FTP/JDBC/ODBC/ESB/</a:t>
            </a:r>
            <a:r>
              <a:rPr lang="en-US" altLang="zh-CN" b="1" dirty="0" err="1" smtClean="0"/>
              <a:t>syslog</a:t>
            </a:r>
            <a:r>
              <a:rPr lang="en-US" altLang="zh-CN" b="1" dirty="0" smtClean="0"/>
              <a:t>/SNMP/</a:t>
            </a:r>
            <a:r>
              <a:rPr lang="en-US" altLang="zh-CN" b="1" dirty="0" err="1" smtClean="0"/>
              <a:t>Hadoop</a:t>
            </a:r>
            <a:r>
              <a:rPr lang="en-US" altLang="zh-CN" b="1" dirty="0" smtClean="0"/>
              <a:t>…</a:t>
            </a:r>
            <a:endParaRPr lang="zh-CN" altLang="en-US" dirty="0" smtClean="0"/>
          </a:p>
        </p:txBody>
      </p:sp>
      <p:sp>
        <p:nvSpPr>
          <p:cNvPr id="21" name="TextBox 47"/>
          <p:cNvSpPr txBox="1"/>
          <p:nvPr/>
        </p:nvSpPr>
        <p:spPr>
          <a:xfrm>
            <a:off x="6933265" y="4067625"/>
            <a:ext cx="1069579"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指令库</a:t>
            </a:r>
            <a:endParaRPr lang="zh-CN" altLang="en-US" b="0" dirty="0">
              <a:solidFill>
                <a:schemeClr val="tx1"/>
              </a:solidFill>
              <a:effectLst/>
            </a:endParaRPr>
          </a:p>
        </p:txBody>
      </p:sp>
      <p:sp>
        <p:nvSpPr>
          <p:cNvPr id="22" name="TextBox 52"/>
          <p:cNvSpPr txBox="1"/>
          <p:nvPr/>
        </p:nvSpPr>
        <p:spPr>
          <a:xfrm>
            <a:off x="1647946" y="5373053"/>
            <a:ext cx="945106"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接口层</a:t>
            </a:r>
            <a:endParaRPr lang="zh-CN" altLang="en-US" dirty="0">
              <a:latin typeface="微软雅黑" pitchFamily="34" charset="-122"/>
              <a:ea typeface="微软雅黑" pitchFamily="34" charset="-122"/>
            </a:endParaRPr>
          </a:p>
        </p:txBody>
      </p:sp>
      <p:sp>
        <p:nvSpPr>
          <p:cNvPr id="23" name="TextBox 73"/>
          <p:cNvSpPr txBox="1"/>
          <p:nvPr/>
        </p:nvSpPr>
        <p:spPr>
          <a:xfrm>
            <a:off x="8147627" y="4103458"/>
            <a:ext cx="1379086" cy="369332"/>
          </a:xfrm>
          <a:prstGeom prst="rect">
            <a:avLst/>
          </a:prstGeom>
          <a:noFill/>
        </p:spPr>
        <p:txBody>
          <a:bodyPr wrap="square" rtlCol="0">
            <a:spAutoFit/>
          </a:bodyPr>
          <a:lstStyle/>
          <a:p>
            <a:r>
              <a:rPr lang="en-US" altLang="zh-CN" dirty="0" smtClean="0"/>
              <a:t>…..</a:t>
            </a:r>
            <a:endParaRPr lang="zh-CN" altLang="en-US" dirty="0"/>
          </a:p>
        </p:txBody>
      </p:sp>
      <p:sp>
        <p:nvSpPr>
          <p:cNvPr id="24" name="TextBox 74"/>
          <p:cNvSpPr txBox="1"/>
          <p:nvPr/>
        </p:nvSpPr>
        <p:spPr>
          <a:xfrm>
            <a:off x="4082190" y="1368335"/>
            <a:ext cx="2619071"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实现网络智慧运维管理</a:t>
            </a:r>
            <a:endParaRPr lang="zh-CN" altLang="en-US" dirty="0">
              <a:latin typeface="微软雅黑" pitchFamily="34" charset="-122"/>
              <a:ea typeface="微软雅黑" pitchFamily="34" charset="-122"/>
            </a:endParaRPr>
          </a:p>
        </p:txBody>
      </p:sp>
      <p:sp>
        <p:nvSpPr>
          <p:cNvPr id="25" name="TextBox 76"/>
          <p:cNvSpPr txBox="1"/>
          <p:nvPr/>
        </p:nvSpPr>
        <p:spPr>
          <a:xfrm>
            <a:off x="3097274" y="2663632"/>
            <a:ext cx="1069579"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网络概览</a:t>
            </a:r>
            <a:endParaRPr lang="zh-CN" altLang="en-US" b="0" dirty="0">
              <a:solidFill>
                <a:schemeClr val="tx1"/>
              </a:solidFill>
              <a:effectLst/>
            </a:endParaRPr>
          </a:p>
        </p:txBody>
      </p:sp>
      <p:sp>
        <p:nvSpPr>
          <p:cNvPr id="26" name="TextBox 77"/>
          <p:cNvSpPr txBox="1"/>
          <p:nvPr/>
        </p:nvSpPr>
        <p:spPr>
          <a:xfrm>
            <a:off x="4206480" y="2648133"/>
            <a:ext cx="965936"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拓扑视图</a:t>
            </a:r>
            <a:endParaRPr lang="zh-CN" altLang="en-US" b="0" dirty="0">
              <a:solidFill>
                <a:schemeClr val="tx1"/>
              </a:solidFill>
              <a:effectLst/>
            </a:endParaRPr>
          </a:p>
        </p:txBody>
      </p:sp>
      <p:sp>
        <p:nvSpPr>
          <p:cNvPr id="27" name="TextBox 78"/>
          <p:cNvSpPr txBox="1"/>
          <p:nvPr/>
        </p:nvSpPr>
        <p:spPr>
          <a:xfrm>
            <a:off x="5236107" y="2642878"/>
            <a:ext cx="1038623"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统计报表</a:t>
            </a:r>
          </a:p>
        </p:txBody>
      </p:sp>
      <p:sp>
        <p:nvSpPr>
          <p:cNvPr id="28" name="TextBox 79"/>
          <p:cNvSpPr txBox="1"/>
          <p:nvPr/>
        </p:nvSpPr>
        <p:spPr>
          <a:xfrm>
            <a:off x="6350189" y="2653388"/>
            <a:ext cx="1012803"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监测视图</a:t>
            </a:r>
            <a:endParaRPr lang="zh-CN" altLang="en-US" b="0" dirty="0">
              <a:solidFill>
                <a:schemeClr val="tx1"/>
              </a:solidFill>
              <a:effectLst/>
            </a:endParaRPr>
          </a:p>
        </p:txBody>
      </p:sp>
      <p:sp>
        <p:nvSpPr>
          <p:cNvPr id="29" name="TextBox 82"/>
          <p:cNvSpPr txBox="1"/>
          <p:nvPr/>
        </p:nvSpPr>
        <p:spPr>
          <a:xfrm>
            <a:off x="7429613" y="2642879"/>
            <a:ext cx="883676"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智能定位</a:t>
            </a:r>
            <a:endParaRPr lang="zh-CN" altLang="en-US" b="0" dirty="0">
              <a:solidFill>
                <a:schemeClr val="tx1"/>
              </a:solidFill>
              <a:effectLst/>
            </a:endParaRPr>
          </a:p>
        </p:txBody>
      </p:sp>
      <p:sp>
        <p:nvSpPr>
          <p:cNvPr id="30" name="TextBox 83"/>
          <p:cNvSpPr txBox="1"/>
          <p:nvPr/>
        </p:nvSpPr>
        <p:spPr>
          <a:xfrm>
            <a:off x="8354524" y="2637622"/>
            <a:ext cx="883676"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a:solidFill>
                  <a:schemeClr val="tx1"/>
                </a:solidFill>
                <a:effectLst/>
              </a:rPr>
              <a:t>消息告警</a:t>
            </a:r>
          </a:p>
        </p:txBody>
      </p:sp>
      <p:sp>
        <p:nvSpPr>
          <p:cNvPr id="31" name="TextBox 84"/>
          <p:cNvSpPr txBox="1"/>
          <p:nvPr/>
        </p:nvSpPr>
        <p:spPr>
          <a:xfrm>
            <a:off x="9279432" y="2648132"/>
            <a:ext cx="883676"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即席查询</a:t>
            </a:r>
            <a:endParaRPr lang="zh-CN" altLang="en-US" b="0" dirty="0">
              <a:solidFill>
                <a:schemeClr val="tx1"/>
              </a:solidFill>
              <a:effectLst/>
            </a:endParaRPr>
          </a:p>
        </p:txBody>
      </p:sp>
      <p:sp>
        <p:nvSpPr>
          <p:cNvPr id="32" name="上箭头 31"/>
          <p:cNvSpPr/>
          <p:nvPr/>
        </p:nvSpPr>
        <p:spPr>
          <a:xfrm>
            <a:off x="7527577" y="2112434"/>
            <a:ext cx="314606" cy="33018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86"/>
          <p:cNvSpPr txBox="1"/>
          <p:nvPr/>
        </p:nvSpPr>
        <p:spPr>
          <a:xfrm>
            <a:off x="1646512" y="2655145"/>
            <a:ext cx="985084"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应用层</a:t>
            </a:r>
            <a:endParaRPr lang="zh-CN" altLang="en-US" dirty="0">
              <a:latin typeface="微软雅黑" pitchFamily="34" charset="-122"/>
              <a:ea typeface="微软雅黑" pitchFamily="34" charset="-122"/>
            </a:endParaRPr>
          </a:p>
        </p:txBody>
      </p:sp>
      <p:sp>
        <p:nvSpPr>
          <p:cNvPr id="34" name="TextBox 50"/>
          <p:cNvSpPr txBox="1"/>
          <p:nvPr/>
        </p:nvSpPr>
        <p:spPr>
          <a:xfrm>
            <a:off x="3128525" y="3352763"/>
            <a:ext cx="8329885"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0" dirty="0" smtClean="0">
                <a:solidFill>
                  <a:schemeClr val="tx1"/>
                </a:solidFill>
                <a:effectLst/>
              </a:rPr>
              <a:t>设备配置  报表配置  指标配置  经验配置  场景配置  任务配置  指令配置  消息配置  </a:t>
            </a:r>
            <a:r>
              <a:rPr lang="en-US" altLang="zh-CN" b="0" dirty="0" smtClean="0">
                <a:solidFill>
                  <a:schemeClr val="tx1"/>
                </a:solidFill>
                <a:effectLst/>
              </a:rPr>
              <a:t>…</a:t>
            </a:r>
          </a:p>
        </p:txBody>
      </p:sp>
      <p:sp>
        <p:nvSpPr>
          <p:cNvPr id="35" name="TextBox 86"/>
          <p:cNvSpPr txBox="1"/>
          <p:nvPr/>
        </p:nvSpPr>
        <p:spPr>
          <a:xfrm>
            <a:off x="1631458" y="3599580"/>
            <a:ext cx="908574" cy="369332"/>
          </a:xfrm>
          <a:prstGeom prst="rect">
            <a:avLst/>
          </a:prstGeom>
          <a:solidFill>
            <a:schemeClr val="accent1">
              <a:lumMod val="60000"/>
              <a:lumOff val="40000"/>
            </a:schemeClr>
          </a:solidFill>
        </p:spPr>
        <p:txBody>
          <a:bodyPr wrap="square" rtlCol="0">
            <a:spAutoFit/>
          </a:bodyPr>
          <a:lstStyle/>
          <a:p>
            <a:r>
              <a:rPr lang="zh-CN" altLang="en-US" dirty="0">
                <a:latin typeface="微软雅黑" pitchFamily="34" charset="-122"/>
                <a:ea typeface="微软雅黑" pitchFamily="34" charset="-122"/>
              </a:rPr>
              <a:t>配置</a:t>
            </a:r>
            <a:r>
              <a:rPr lang="zh-CN" altLang="en-US" dirty="0" smtClean="0">
                <a:latin typeface="微软雅黑" pitchFamily="34" charset="-122"/>
                <a:ea typeface="微软雅黑" pitchFamily="34" charset="-122"/>
              </a:rPr>
              <a:t>层</a:t>
            </a:r>
            <a:endParaRPr lang="zh-CN" altLang="en-US" dirty="0">
              <a:latin typeface="微软雅黑" pitchFamily="34" charset="-122"/>
              <a:ea typeface="微软雅黑" pitchFamily="34" charset="-122"/>
            </a:endParaRPr>
          </a:p>
        </p:txBody>
      </p:sp>
      <p:sp>
        <p:nvSpPr>
          <p:cNvPr id="36" name="TextBox 84"/>
          <p:cNvSpPr txBox="1"/>
          <p:nvPr/>
        </p:nvSpPr>
        <p:spPr>
          <a:xfrm>
            <a:off x="10206747" y="2645552"/>
            <a:ext cx="883676"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系统管理</a:t>
            </a:r>
            <a:endParaRPr lang="zh-CN" altLang="en-US" b="0" dirty="0">
              <a:solidFill>
                <a:schemeClr val="tx1"/>
              </a:solidFill>
              <a:effectLst/>
            </a:endParaRPr>
          </a:p>
        </p:txBody>
      </p:sp>
      <p:sp>
        <p:nvSpPr>
          <p:cNvPr id="37" name="矩形 36"/>
          <p:cNvSpPr/>
          <p:nvPr/>
        </p:nvSpPr>
        <p:spPr>
          <a:xfrm>
            <a:off x="7879154" y="1209348"/>
            <a:ext cx="3952196" cy="696831"/>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74"/>
          <p:cNvSpPr txBox="1"/>
          <p:nvPr/>
        </p:nvSpPr>
        <p:spPr>
          <a:xfrm>
            <a:off x="8495264" y="1402922"/>
            <a:ext cx="3011054"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展示珠海网络状态、能力</a:t>
            </a:r>
            <a:endParaRPr lang="zh-CN" altLang="en-US" dirty="0">
              <a:latin typeface="微软雅黑" pitchFamily="34" charset="-122"/>
              <a:ea typeface="微软雅黑" pitchFamily="34" charset="-122"/>
            </a:endParaRPr>
          </a:p>
        </p:txBody>
      </p:sp>
      <p:sp>
        <p:nvSpPr>
          <p:cNvPr id="39" name="矩形 38"/>
          <p:cNvSpPr/>
          <p:nvPr/>
        </p:nvSpPr>
        <p:spPr>
          <a:xfrm>
            <a:off x="2942441" y="5958124"/>
            <a:ext cx="8888910" cy="495435"/>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TextBox 33"/>
          <p:cNvSpPr txBox="1"/>
          <p:nvPr/>
        </p:nvSpPr>
        <p:spPr>
          <a:xfrm>
            <a:off x="3265431" y="6034149"/>
            <a:ext cx="1503474" cy="369418"/>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外部系统数据</a:t>
            </a:r>
            <a:endParaRPr lang="zh-CN" altLang="en-US" dirty="0"/>
          </a:p>
        </p:txBody>
      </p:sp>
      <p:sp>
        <p:nvSpPr>
          <p:cNvPr id="41" name="TextBox 34"/>
          <p:cNvSpPr txBox="1"/>
          <p:nvPr/>
        </p:nvSpPr>
        <p:spPr>
          <a:xfrm>
            <a:off x="4881524" y="6049915"/>
            <a:ext cx="1460263" cy="369418"/>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网管系统数据</a:t>
            </a:r>
            <a:endParaRPr lang="zh-CN" altLang="en-US" dirty="0"/>
          </a:p>
        </p:txBody>
      </p:sp>
      <p:sp>
        <p:nvSpPr>
          <p:cNvPr id="42" name="TextBox 35"/>
          <p:cNvSpPr txBox="1"/>
          <p:nvPr/>
        </p:nvSpPr>
        <p:spPr>
          <a:xfrm>
            <a:off x="6490492" y="6044659"/>
            <a:ext cx="1913161" cy="369418"/>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网元实时交互数据</a:t>
            </a:r>
            <a:endParaRPr lang="zh-CN" altLang="en-US" dirty="0"/>
          </a:p>
        </p:txBody>
      </p:sp>
      <p:sp>
        <p:nvSpPr>
          <p:cNvPr id="44" name="TextBox 45"/>
          <p:cNvSpPr txBox="1"/>
          <p:nvPr/>
        </p:nvSpPr>
        <p:spPr>
          <a:xfrm>
            <a:off x="8576023" y="6034148"/>
            <a:ext cx="1110860" cy="369418"/>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其它数据</a:t>
            </a:r>
            <a:endParaRPr lang="zh-CN" altLang="en-US" dirty="0"/>
          </a:p>
        </p:txBody>
      </p:sp>
      <p:sp>
        <p:nvSpPr>
          <p:cNvPr id="45" name="矩形 44"/>
          <p:cNvSpPr/>
          <p:nvPr/>
        </p:nvSpPr>
        <p:spPr>
          <a:xfrm>
            <a:off x="1492522" y="5921930"/>
            <a:ext cx="1244534" cy="495435"/>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TextBox 52"/>
          <p:cNvSpPr txBox="1"/>
          <p:nvPr/>
        </p:nvSpPr>
        <p:spPr>
          <a:xfrm>
            <a:off x="1674560" y="5984982"/>
            <a:ext cx="110341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数据源</a:t>
            </a:r>
            <a:endParaRPr lang="zh-CN" altLang="en-US" dirty="0">
              <a:latin typeface="微软雅黑" pitchFamily="34" charset="-122"/>
              <a:ea typeface="微软雅黑" pitchFamily="34" charset="-122"/>
            </a:endParaRPr>
          </a:p>
        </p:txBody>
      </p:sp>
      <p:sp>
        <p:nvSpPr>
          <p:cNvPr id="47" name="矩形 46"/>
          <p:cNvSpPr/>
          <p:nvPr/>
        </p:nvSpPr>
        <p:spPr>
          <a:xfrm>
            <a:off x="1492522" y="4729756"/>
            <a:ext cx="1244534" cy="495435"/>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TextBox 52"/>
          <p:cNvSpPr txBox="1"/>
          <p:nvPr/>
        </p:nvSpPr>
        <p:spPr>
          <a:xfrm>
            <a:off x="1470321" y="4768564"/>
            <a:ext cx="1526945"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数据管理层</a:t>
            </a:r>
            <a:endParaRPr lang="zh-CN" altLang="en-US" dirty="0">
              <a:latin typeface="微软雅黑" pitchFamily="34" charset="-122"/>
              <a:ea typeface="微软雅黑" pitchFamily="34" charset="-122"/>
            </a:endParaRPr>
          </a:p>
        </p:txBody>
      </p:sp>
      <p:sp>
        <p:nvSpPr>
          <p:cNvPr id="49" name="TextBox 27"/>
          <p:cNvSpPr txBox="1"/>
          <p:nvPr/>
        </p:nvSpPr>
        <p:spPr>
          <a:xfrm>
            <a:off x="2942441" y="4768521"/>
            <a:ext cx="8736584"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0" dirty="0" smtClean="0">
                <a:solidFill>
                  <a:schemeClr val="tx1"/>
                </a:solidFill>
                <a:effectLst/>
              </a:rPr>
              <a:t>   网元拓扑关系数据   指令数据    告警数据    指标数据    话统数据   其它数据</a:t>
            </a:r>
            <a:endParaRPr lang="zh-CN" altLang="en-US" b="0" dirty="0">
              <a:solidFill>
                <a:schemeClr val="tx1"/>
              </a:solidFill>
              <a:effectLst/>
            </a:endParaRPr>
          </a:p>
        </p:txBody>
      </p:sp>
      <p:sp>
        <p:nvSpPr>
          <p:cNvPr id="50" name="文本框 49"/>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整体架构</a:t>
            </a:r>
            <a:endParaRPr lang="zh-CN" altLang="en-US" dirty="0">
              <a:solidFill>
                <a:srgbClr val="333F50"/>
              </a:solidFill>
            </a:endParaRPr>
          </a:p>
        </p:txBody>
      </p:sp>
      <p:sp>
        <p:nvSpPr>
          <p:cNvPr id="2" name="文本框 1"/>
          <p:cNvSpPr txBox="1"/>
          <p:nvPr/>
        </p:nvSpPr>
        <p:spPr>
          <a:xfrm>
            <a:off x="425309" y="4729756"/>
            <a:ext cx="911292" cy="1569660"/>
          </a:xfrm>
          <a:prstGeom prst="rect">
            <a:avLst/>
          </a:prstGeom>
          <a:solidFill>
            <a:srgbClr val="00AC4E"/>
          </a:solidFill>
        </p:spPr>
        <p:txBody>
          <a:bodyPr wrap="square" rtlCol="0">
            <a:spAutoFit/>
          </a:bodyPr>
          <a:lstStyle/>
          <a:p>
            <a:r>
              <a:rPr lang="zh-CN" altLang="en-US" sz="3200" dirty="0" smtClean="0">
                <a:solidFill>
                  <a:schemeClr val="bg1"/>
                </a:solidFill>
              </a:rPr>
              <a:t>感</a:t>
            </a:r>
            <a:endParaRPr lang="en-US" altLang="zh-CN" sz="3200" dirty="0" smtClean="0">
              <a:solidFill>
                <a:schemeClr val="bg1"/>
              </a:solidFill>
            </a:endParaRPr>
          </a:p>
          <a:p>
            <a:endParaRPr lang="en-US" altLang="zh-CN" sz="3200" dirty="0">
              <a:solidFill>
                <a:schemeClr val="bg1"/>
              </a:solidFill>
            </a:endParaRPr>
          </a:p>
          <a:p>
            <a:r>
              <a:rPr lang="zh-CN" altLang="en-US" sz="3200" dirty="0" smtClean="0">
                <a:solidFill>
                  <a:schemeClr val="bg1"/>
                </a:solidFill>
              </a:rPr>
              <a:t>知</a:t>
            </a:r>
            <a:endParaRPr lang="zh-CN" altLang="en-US" sz="3200" dirty="0">
              <a:solidFill>
                <a:schemeClr val="bg1"/>
              </a:solidFill>
            </a:endParaRPr>
          </a:p>
        </p:txBody>
      </p:sp>
      <p:sp>
        <p:nvSpPr>
          <p:cNvPr id="4" name="文本框 3"/>
          <p:cNvSpPr txBox="1"/>
          <p:nvPr/>
        </p:nvSpPr>
        <p:spPr>
          <a:xfrm>
            <a:off x="954940" y="2593085"/>
            <a:ext cx="439592" cy="646331"/>
          </a:xfrm>
          <a:prstGeom prst="rect">
            <a:avLst/>
          </a:prstGeom>
          <a:solidFill>
            <a:srgbClr val="007A37"/>
          </a:solidFill>
        </p:spPr>
        <p:txBody>
          <a:bodyPr wrap="square" rtlCol="0">
            <a:spAutoFit/>
          </a:bodyPr>
          <a:lstStyle/>
          <a:p>
            <a:r>
              <a:rPr lang="zh-CN" altLang="en-US" dirty="0" smtClean="0">
                <a:solidFill>
                  <a:schemeClr val="bg1"/>
                </a:solidFill>
              </a:rPr>
              <a:t>控制</a:t>
            </a:r>
            <a:endParaRPr lang="zh-CN" altLang="en-US" dirty="0">
              <a:solidFill>
                <a:schemeClr val="bg1"/>
              </a:solidFill>
            </a:endParaRPr>
          </a:p>
        </p:txBody>
      </p:sp>
      <p:sp>
        <p:nvSpPr>
          <p:cNvPr id="11" name="文本框 10"/>
          <p:cNvSpPr txBox="1"/>
          <p:nvPr/>
        </p:nvSpPr>
        <p:spPr>
          <a:xfrm>
            <a:off x="-107120" y="2571595"/>
            <a:ext cx="1107996" cy="1892752"/>
          </a:xfrm>
          <a:prstGeom prst="rect">
            <a:avLst/>
          </a:prstGeom>
          <a:solidFill>
            <a:srgbClr val="92D050"/>
          </a:solidFill>
        </p:spPr>
        <p:txBody>
          <a:bodyPr vert="eaVert" wrap="square" rtlCol="0">
            <a:spAutoFit/>
          </a:bodyPr>
          <a:lstStyle/>
          <a:p>
            <a:r>
              <a:rPr lang="zh-CN" altLang="en-US" sz="6000" dirty="0" smtClean="0">
                <a:solidFill>
                  <a:schemeClr val="bg1"/>
                </a:solidFill>
              </a:rPr>
              <a:t>决策</a:t>
            </a:r>
            <a:endParaRPr lang="zh-CN" altLang="en-US" sz="6000" dirty="0">
              <a:solidFill>
                <a:schemeClr val="bg1"/>
              </a:solidFill>
            </a:endParaRPr>
          </a:p>
        </p:txBody>
      </p:sp>
    </p:spTree>
    <p:extLst>
      <p:ext uri="{BB962C8B-B14F-4D97-AF65-F5344CB8AC3E}">
        <p14:creationId xmlns:p14="http://schemas.microsoft.com/office/powerpoint/2010/main" val="1095092007"/>
      </p:ext>
    </p:extLst>
  </p:cSld>
  <p:clrMapOvr>
    <a:masterClrMapping/>
  </p:clrMapOvr>
  <p:transition spd="med">
    <p:pull/>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工作进展</a:t>
            </a:r>
            <a:endParaRPr lang="zh-CN" altLang="en-US" sz="32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实施步骤</a:t>
            </a:r>
            <a:endParaRPr lang="zh-CN" altLang="en-US" dirty="0">
              <a:solidFill>
                <a:srgbClr val="333F50"/>
              </a:solidFill>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2325" y="1051720"/>
            <a:ext cx="7681913" cy="475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4609129"/>
      </p:ext>
    </p:extLst>
  </p:cSld>
  <p:clrMapOvr>
    <a:masterClrMapping/>
  </p:clrMapOvr>
  <p:transition spd="med">
    <p:pull/>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工作进展</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50720466"/>
      </p:ext>
    </p:extLst>
  </p:cSld>
  <p:clrMapOvr>
    <a:masterClrMapping/>
  </p:clrMapOvr>
  <p:transition spd="med">
    <p:pull/>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工作进展</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73582532"/>
      </p:ext>
    </p:extLst>
  </p:cSld>
  <p:clrMapOvr>
    <a:masterClrMapping/>
  </p:clrMapOvr>
  <p:transition spd="med">
    <p:pull/>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工作进展</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71061862"/>
      </p:ext>
    </p:extLst>
  </p:cSld>
  <p:clrMapOvr>
    <a:masterClrMapping/>
  </p:clrMapOvr>
  <p:transition spd="med">
    <p:pull/>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工作进展</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79653310"/>
      </p:ext>
    </p:extLst>
  </p:cSld>
  <p:clrMapOvr>
    <a:masterClrMapping/>
  </p:clrMapOvr>
  <p:transition spd="med">
    <p:pull/>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460350" y="0"/>
            <a:ext cx="5565737" cy="4704365"/>
          </a:xfrm>
          <a:prstGeom prst="rect">
            <a:avLst/>
          </a:prstGeom>
          <a:noFill/>
        </p:spPr>
        <p:txBody>
          <a:bodyPr wrap="square" rtlCol="0">
            <a:spAutoFit/>
          </a:bodyPr>
          <a:lstStyle/>
          <a:p>
            <a:pPr algn="ctr">
              <a:lnSpc>
                <a:spcPct val="90000"/>
              </a:lnSpc>
            </a:pPr>
            <a:r>
              <a:rPr kumimoji="1" lang="en-US" altLang="zh-CN" sz="33300" dirty="0" smtClean="0"/>
              <a:t>02</a:t>
            </a:r>
            <a:endParaRPr kumimoji="1" lang="zh-CN" altLang="en-US" sz="33300" dirty="0"/>
          </a:p>
        </p:txBody>
      </p:sp>
      <p:sp>
        <p:nvSpPr>
          <p:cNvPr id="3" name="矩形 2"/>
          <p:cNvSpPr/>
          <p:nvPr/>
        </p:nvSpPr>
        <p:spPr>
          <a:xfrm>
            <a:off x="5818188" y="3330657"/>
            <a:ext cx="6850062" cy="113102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3600" dirty="0" smtClean="0">
                <a:solidFill>
                  <a:schemeClr val="tx1"/>
                </a:solidFill>
                <a:latin typeface="微软雅黑" panose="020B0503020204020204" pitchFamily="34" charset="-122"/>
                <a:ea typeface="微软雅黑" panose="020B0503020204020204" pitchFamily="34" charset="-122"/>
              </a:rPr>
              <a:t>点击此处添加标题</a:t>
            </a:r>
            <a:endParaRPr kumimoji="1" lang="zh-CN" altLang="en-US" sz="36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56299154"/>
      </p:ext>
    </p:extLst>
  </p:cSld>
  <p:clrMapOvr>
    <a:masterClrMapping/>
  </p:clrMapOvr>
  <p:transition spd="med">
    <p:pull/>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flipH="1">
            <a:off x="1962237" y="2511771"/>
            <a:ext cx="2599547" cy="2072335"/>
            <a:chOff x="1271166" y="2284597"/>
            <a:chExt cx="2599547" cy="2072335"/>
          </a:xfrm>
          <a:solidFill>
            <a:srgbClr val="88B40F"/>
          </a:solidFill>
        </p:grpSpPr>
        <p:sp>
          <p:nvSpPr>
            <p:cNvPr id="11" name="椭圆 10"/>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 9"/>
          <p:cNvGrpSpPr/>
          <p:nvPr/>
        </p:nvGrpSpPr>
        <p:grpSpPr>
          <a:xfrm>
            <a:off x="4143657" y="1469396"/>
            <a:ext cx="3671455" cy="3671455"/>
            <a:chOff x="2736273" y="748180"/>
            <a:chExt cx="3671455" cy="3671455"/>
          </a:xfrm>
        </p:grpSpPr>
        <p:sp>
          <p:nvSpPr>
            <p:cNvPr id="5" name="椭圆 4"/>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6" name="矩形 5"/>
            <p:cNvSpPr/>
            <p:nvPr/>
          </p:nvSpPr>
          <p:spPr>
            <a:xfrm>
              <a:off x="3738662" y="2008111"/>
              <a:ext cx="1691489" cy="1323439"/>
            </a:xfrm>
            <a:prstGeom prst="rect">
              <a:avLst/>
            </a:prstGeom>
          </p:spPr>
          <p:txBody>
            <a:bodyPr wrap="none">
              <a:spAutoFit/>
            </a:bodyPr>
            <a:lstStyle/>
            <a:p>
              <a:pPr algn="ctr"/>
              <a:r>
                <a:rPr kumimoji="1" lang="en-US" altLang="zh-CN" sz="4000" b="1" dirty="0" smtClean="0">
                  <a:solidFill>
                    <a:schemeClr val="bg1"/>
                  </a:solidFill>
                </a:rPr>
                <a:t>THANK</a:t>
              </a:r>
            </a:p>
            <a:p>
              <a:pPr algn="ctr"/>
              <a:r>
                <a:rPr kumimoji="1" lang="en-US" altLang="zh-CN" sz="4000" b="1" dirty="0" smtClean="0">
                  <a:solidFill>
                    <a:schemeClr val="bg1"/>
                  </a:solidFill>
                </a:rPr>
                <a:t>YOU</a:t>
              </a:r>
              <a:endParaRPr kumimoji="1" lang="en-US" altLang="zh-CN" sz="4000" b="1" dirty="0">
                <a:solidFill>
                  <a:schemeClr val="bg1"/>
                </a:solidFill>
              </a:endParaRPr>
            </a:p>
          </p:txBody>
        </p:sp>
      </p:grpSp>
    </p:spTree>
    <p:extLst>
      <p:ext uri="{BB962C8B-B14F-4D97-AF65-F5344CB8AC3E}">
        <p14:creationId xmlns:p14="http://schemas.microsoft.com/office/powerpoint/2010/main" val="3919709723"/>
      </p:ext>
    </p:extLst>
  </p:cSld>
  <p:clrMapOvr>
    <a:masterClrMapping/>
  </p:clrMapOvr>
  <p:transition spd="med">
    <p:pull/>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6"/>
  <p:tag name="KSO_WM_UNIT_ID" val="diagram20164482_1*p_i*1_16"/>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6"/>
  <p:tag name="KSO_WM_UNIT_ID" val="diagram20164482_1*p_i*1_16"/>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8"/>
  <p:tag name="KSO_WM_UNIT_ID" val="diagram20164482_1*p_i*1_18"/>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9"/>
  <p:tag name="KSO_WM_UNIT_ID" val="diagram20164482_1*p_i*1_19"/>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6"/>
  <p:tag name="KSO_WM_UNIT_ID" val="diagram20164482_1*p_i*1_16"/>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6"/>
  <p:tag name="KSO_WM_UNIT_ID" val="diagram20164482_1*p_i*1_16"/>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1405</TotalTime>
  <Words>1935</Words>
  <Application>Microsoft Office PowerPoint</Application>
  <PresentationFormat>宽屏</PresentationFormat>
  <Paragraphs>266</Paragraphs>
  <Slides>38</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38</vt:i4>
      </vt:variant>
    </vt:vector>
  </HeadingPairs>
  <TitlesOfParts>
    <vt:vector size="49" baseType="lpstr">
      <vt:lpstr>Agency FB</vt:lpstr>
      <vt:lpstr>Lato Light</vt:lpstr>
      <vt:lpstr>等线</vt:lpstr>
      <vt:lpstr>微软雅黑</vt:lpstr>
      <vt:lpstr>微软雅黑 Light</vt:lpstr>
      <vt:lpstr>Arial</vt:lpstr>
      <vt:lpstr>Calibri</vt:lpstr>
      <vt:lpstr>Calibri Light</vt:lpstr>
      <vt:lpstr>Century Gothic</vt:lpstr>
      <vt:lpstr>Segoe UI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cong x</cp:lastModifiedBy>
  <cp:revision>127</cp:revision>
  <dcterms:created xsi:type="dcterms:W3CDTF">2015-08-05T01:47:03Z</dcterms:created>
  <dcterms:modified xsi:type="dcterms:W3CDTF">2017-12-20T14:36:48Z</dcterms:modified>
</cp:coreProperties>
</file>