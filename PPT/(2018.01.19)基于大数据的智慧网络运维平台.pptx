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80" r:id="rId2"/>
    <p:sldId id="257" r:id="rId3"/>
    <p:sldId id="319" r:id="rId4"/>
    <p:sldId id="271" r:id="rId5"/>
    <p:sldId id="388" r:id="rId6"/>
    <p:sldId id="347" r:id="rId7"/>
    <p:sldId id="348" r:id="rId8"/>
    <p:sldId id="349" r:id="rId9"/>
    <p:sldId id="326" r:id="rId10"/>
    <p:sldId id="399" r:id="rId11"/>
    <p:sldId id="350" r:id="rId12"/>
    <p:sldId id="351" r:id="rId13"/>
    <p:sldId id="321" r:id="rId14"/>
    <p:sldId id="352" r:id="rId15"/>
    <p:sldId id="385" r:id="rId16"/>
    <p:sldId id="386" r:id="rId17"/>
    <p:sldId id="373" r:id="rId18"/>
    <p:sldId id="374" r:id="rId19"/>
    <p:sldId id="389" r:id="rId20"/>
    <p:sldId id="390" r:id="rId21"/>
    <p:sldId id="391" r:id="rId22"/>
    <p:sldId id="392" r:id="rId23"/>
    <p:sldId id="393" r:id="rId24"/>
    <p:sldId id="394" r:id="rId25"/>
    <p:sldId id="395" r:id="rId26"/>
    <p:sldId id="396" r:id="rId27"/>
    <p:sldId id="397" r:id="rId28"/>
    <p:sldId id="398" r:id="rId29"/>
    <p:sldId id="354" r:id="rId30"/>
    <p:sldId id="356" r:id="rId31"/>
    <p:sldId id="357" r:id="rId32"/>
    <p:sldId id="358" r:id="rId33"/>
    <p:sldId id="359" r:id="rId34"/>
    <p:sldId id="360" r:id="rId35"/>
    <p:sldId id="361" r:id="rId36"/>
    <p:sldId id="362" r:id="rId37"/>
    <p:sldId id="363" r:id="rId38"/>
    <p:sldId id="364" r:id="rId39"/>
    <p:sldId id="365" r:id="rId40"/>
    <p:sldId id="366" r:id="rId41"/>
    <p:sldId id="367" r:id="rId42"/>
    <p:sldId id="368" r:id="rId43"/>
    <p:sldId id="369" r:id="rId44"/>
    <p:sldId id="370" r:id="rId45"/>
    <p:sldId id="371" r:id="rId46"/>
    <p:sldId id="372" r:id="rId47"/>
    <p:sldId id="355" r:id="rId48"/>
    <p:sldId id="277"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3A1C"/>
    <a:srgbClr val="007A37"/>
    <a:srgbClr val="00DE64"/>
    <a:srgbClr val="00AC4E"/>
    <a:srgbClr val="B7B7B7"/>
    <a:srgbClr val="765A00"/>
    <a:srgbClr val="FFFFFF"/>
    <a:srgbClr val="00B050"/>
    <a:srgbClr val="33C073"/>
    <a:srgbClr val="5EF1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06" autoAdjust="0"/>
    <p:restoredTop sz="88084" autoAdjust="0"/>
  </p:normalViewPr>
  <p:slideViewPr>
    <p:cSldViewPr snapToGrid="0">
      <p:cViewPr varScale="1">
        <p:scale>
          <a:sx n="101" d="100"/>
          <a:sy n="101" d="100"/>
        </p:scale>
        <p:origin x="708" y="120"/>
      </p:cViewPr>
      <p:guideLst/>
    </p:cSldViewPr>
  </p:slideViewPr>
  <p:notesTextViewPr>
    <p:cViewPr>
      <p:scale>
        <a:sx n="1" d="1"/>
        <a:sy n="1" d="1"/>
      </p:scale>
      <p:origin x="0" y="-576"/>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31903694778500036"/>
          <c:y val="2.5026208549110487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系统问题原因</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0C28-4C13-8753-E0BB95EA0239}"/>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2-9C45-44FB-8E83-BCA8300560A9}"/>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5-0C28-4C13-8753-E0BB95EA0239}"/>
              </c:ext>
            </c:extLst>
          </c:dPt>
          <c:dLbls>
            <c:dLbl>
              <c:idx val="1"/>
              <c:tx>
                <c:rich>
                  <a:bodyPr/>
                  <a:lstStyle/>
                  <a:p>
                    <a:fld id="{0EC5AB0B-A94E-43BE-8023-523628AC3C90}" type="PERCENTAGE">
                      <a:rPr lang="en-US" altLang="zh-CN">
                        <a:solidFill>
                          <a:schemeClr val="bg1"/>
                        </a:solidFill>
                      </a:rPr>
                      <a:pPr/>
                      <a:t>[百分比]</a:t>
                    </a:fld>
                    <a:endParaRPr lang="zh-CN" altLang="en-US"/>
                  </a:p>
                </c:rich>
              </c:tx>
              <c:dLblPos val="inEnd"/>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9C45-44FB-8E83-BCA8300560A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zh-CN"/>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人员疏失</c:v>
                </c:pt>
                <c:pt idx="1">
                  <c:v>流程失误</c:v>
                </c:pt>
                <c:pt idx="2">
                  <c:v>技术或产品</c:v>
                </c:pt>
              </c:strCache>
            </c:strRef>
          </c:cat>
          <c:val>
            <c:numRef>
              <c:f>Sheet1!$B$2:$B$4</c:f>
              <c:numCache>
                <c:formatCode>General</c:formatCode>
                <c:ptCount val="3"/>
                <c:pt idx="0">
                  <c:v>4</c:v>
                </c:pt>
                <c:pt idx="1">
                  <c:v>4</c:v>
                </c:pt>
                <c:pt idx="2">
                  <c:v>2</c:v>
                </c:pt>
              </c:numCache>
            </c:numRef>
          </c:val>
          <c:extLst>
            <c:ext xmlns:c16="http://schemas.microsoft.com/office/drawing/2014/chart" uri="{C3380CC4-5D6E-409C-BE32-E72D297353CC}">
              <c16:uniqueId val="{00000000-9C45-44FB-8E83-BCA8300560A9}"/>
            </c:ext>
          </c:extLst>
        </c:ser>
        <c:dLbls>
          <c:dLblPos val="inEnd"/>
          <c:showLegendKey val="0"/>
          <c:showVal val="0"/>
          <c:showCatName val="0"/>
          <c:showSerName val="0"/>
          <c:showPercent val="1"/>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4">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type="parTrans" cxnId="{671C8065-B905-49CB-9A3F-F9361923BF7B}">
      <dgm:prSet/>
      <dgm:spPr/>
      <dgm:t>
        <a:bodyPr/>
        <a:lstStyle/>
        <a:p>
          <a:endParaRPr lang="zh-CN" altLang="en-US"/>
        </a:p>
      </dgm:t>
    </dgm:pt>
    <dgm:pt modelId="{D039EE51-F099-4BC0-8C91-621442C87746}" type="sibTrans" cxnId="{671C8065-B905-49CB-9A3F-F9361923BF7B}">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type="parTrans" cxnId="{02BE2E49-8BC8-438F-BA9B-C37D817B7CF6}">
      <dgm:prSet/>
      <dgm:spPr/>
      <dgm:t>
        <a:bodyPr/>
        <a:lstStyle/>
        <a:p>
          <a:endParaRPr lang="zh-CN" altLang="en-US"/>
        </a:p>
      </dgm:t>
    </dgm:pt>
    <dgm:pt modelId="{079726A9-4578-4641-BDDB-5E2939F9BDCD}" type="sibTrans" cxnId="{02BE2E49-8BC8-438F-BA9B-C37D817B7CF6}">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type="parTrans" cxnId="{BAC90E13-F48A-48CF-A420-071C5D07A534}">
      <dgm:prSet/>
      <dgm:spPr/>
      <dgm:t>
        <a:bodyPr/>
        <a:lstStyle/>
        <a:p>
          <a:endParaRPr lang="zh-CN" altLang="en-US"/>
        </a:p>
      </dgm:t>
    </dgm:pt>
    <dgm:pt modelId="{FD10F52E-B507-465D-BA7D-5459A098F4F1}" type="sibTrans" cxnId="{BAC90E13-F48A-48CF-A420-071C5D07A534}">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type="parTrans" cxnId="{0B5E6585-33CD-469C-A7C7-8FBDE5741FCF}">
      <dgm:prSet/>
      <dgm:spPr/>
      <dgm:t>
        <a:bodyPr/>
        <a:lstStyle/>
        <a:p>
          <a:endParaRPr lang="zh-CN" altLang="en-US"/>
        </a:p>
      </dgm:t>
    </dgm:pt>
    <dgm:pt modelId="{875CFE0F-86CA-4B23-8E3C-8C86881CF3CC}" type="sibTrans" cxnId="{0B5E6585-33CD-469C-A7C7-8FBDE5741FCF}">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type="parTrans" cxnId="{81487C04-C575-49A6-902B-140466AB0C1B}">
      <dgm:prSet/>
      <dgm:spPr/>
      <dgm:t>
        <a:bodyPr/>
        <a:lstStyle/>
        <a:p>
          <a:endParaRPr lang="zh-CN" altLang="en-US"/>
        </a:p>
      </dgm:t>
    </dgm:pt>
    <dgm:pt modelId="{AACA2ADD-C13C-4E67-AF5A-DD74F65BFA8F}" type="sibTrans" cxnId="{81487C04-C575-49A6-902B-140466AB0C1B}">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62944D7A-9AD4-4E9A-A6A5-9E71BD5CF091}" type="pres">
      <dgm:prSet presAssocID="{54D422F2-F17D-4D4E-80E0-8C18F67C64D0}" presName="hierRoot1" presStyleCnt="0"/>
      <dgm:spPr/>
    </dgm:pt>
    <dgm:pt modelId="{9B74E6EB-CE47-4FFD-AE37-D716C6777DD7}" type="pres">
      <dgm:prSet presAssocID="{54D422F2-F17D-4D4E-80E0-8C18F67C64D0}" presName="composite" presStyleCnt="0"/>
      <dgm:spPr/>
    </dgm:pt>
    <dgm:pt modelId="{EDD0FD23-6720-4EDC-A3D9-A1BABA175F4D}" type="pres">
      <dgm:prSet presAssocID="{54D422F2-F17D-4D4E-80E0-8C18F67C64D0}" presName="background" presStyleLbl="node0" presStyleIdx="0" presStyleCnt="1"/>
      <dgm:spPr/>
    </dgm:pt>
    <dgm:pt modelId="{46E6E380-FAB9-4EF4-866B-C1A662E1818F}" type="pres">
      <dgm:prSet presAssocID="{54D422F2-F17D-4D4E-80E0-8C18F67C64D0}" presName="text" presStyleLbl="fgAcc0" presStyleIdx="0" presStyleCnt="1">
        <dgm:presLayoutVars>
          <dgm:chPref val="3"/>
        </dgm:presLayoutVars>
      </dgm:prSet>
      <dgm:spPr/>
      <dgm:t>
        <a:bodyPr/>
        <a:lstStyle/>
        <a:p>
          <a:endParaRPr lang="zh-CN" altLang="en-US"/>
        </a:p>
      </dgm:t>
    </dgm:pt>
    <dgm:pt modelId="{4A308BB9-1E9D-471A-918F-F2D8254BDA8B}" type="pres">
      <dgm:prSet presAssocID="{54D422F2-F17D-4D4E-80E0-8C18F67C64D0}" presName="hierChild2" presStyleCnt="0"/>
      <dgm:spPr/>
    </dgm:pt>
    <dgm:pt modelId="{34C1C56C-3033-48A6-9371-A839986D10FC}" type="pres">
      <dgm:prSet presAssocID="{260A6818-D90B-4B1A-9901-B293B8F9007F}" presName="Name10" presStyleLbl="parChTrans1D2" presStyleIdx="0" presStyleCnt="5"/>
      <dgm:spPr/>
      <dgm:t>
        <a:bodyPr/>
        <a:lstStyle/>
        <a:p>
          <a:endParaRPr lang="zh-CN" altLang="en-US"/>
        </a:p>
      </dgm:t>
    </dgm:pt>
    <dgm:pt modelId="{30232340-2A19-4281-B331-FA21355E7E2E}" type="pres">
      <dgm:prSet presAssocID="{59488975-C35F-4A56-8D57-D65A00052A05}" presName="hierRoot2" presStyleCnt="0"/>
      <dgm:spPr/>
    </dgm:pt>
    <dgm:pt modelId="{712816EF-1D21-4F09-84CB-D3EE6F0B9099}" type="pres">
      <dgm:prSet presAssocID="{59488975-C35F-4A56-8D57-D65A00052A05}" presName="composite2" presStyleCnt="0"/>
      <dgm:spPr/>
    </dgm:pt>
    <dgm:pt modelId="{93FE9A8A-5886-4468-9679-FDEB306A0A2E}" type="pres">
      <dgm:prSet presAssocID="{59488975-C35F-4A56-8D57-D65A00052A05}" presName="background2" presStyleLbl="node2" presStyleIdx="0" presStyleCnt="5"/>
      <dgm:spPr/>
    </dgm:pt>
    <dgm:pt modelId="{3B4359FF-E5B6-487A-8858-CA6F184D974C}" type="pres">
      <dgm:prSet presAssocID="{59488975-C35F-4A56-8D57-D65A00052A05}" presName="text2" presStyleLbl="fgAcc2" presStyleIdx="0" presStyleCnt="5">
        <dgm:presLayoutVars>
          <dgm:chPref val="3"/>
        </dgm:presLayoutVars>
      </dgm:prSet>
      <dgm:spPr/>
      <dgm:t>
        <a:bodyPr/>
        <a:lstStyle/>
        <a:p>
          <a:endParaRPr lang="zh-CN" altLang="en-US"/>
        </a:p>
      </dgm:t>
    </dgm:pt>
    <dgm:pt modelId="{C936F337-503B-49BB-86D0-539F2F11CD3A}" type="pres">
      <dgm:prSet presAssocID="{59488975-C35F-4A56-8D57-D65A00052A05}" presName="hierChild3" presStyleCnt="0"/>
      <dgm:spPr/>
    </dgm:pt>
    <dgm:pt modelId="{3338A08B-D034-4D35-A565-C3CA1DB54B0F}" type="pres">
      <dgm:prSet presAssocID="{4F06052B-CDAA-415D-991E-B7976BF92601}" presName="Name10" presStyleLbl="parChTrans1D2" presStyleIdx="1" presStyleCnt="5"/>
      <dgm:spPr/>
      <dgm:t>
        <a:bodyPr/>
        <a:lstStyle/>
        <a:p>
          <a:endParaRPr lang="zh-CN" altLang="en-US"/>
        </a:p>
      </dgm:t>
    </dgm:pt>
    <dgm:pt modelId="{A8CEA8B2-28D6-4FCF-990C-0B449C8E8C19}" type="pres">
      <dgm:prSet presAssocID="{6470F6BC-00F7-4DA6-93A8-F97A9899CD78}" presName="hierRoot2" presStyleCnt="0"/>
      <dgm:spPr/>
    </dgm:pt>
    <dgm:pt modelId="{C2071BCF-45CE-47E4-B0F6-88D1029F2FC6}" type="pres">
      <dgm:prSet presAssocID="{6470F6BC-00F7-4DA6-93A8-F97A9899CD78}" presName="composite2" presStyleCnt="0"/>
      <dgm:spPr/>
    </dgm:pt>
    <dgm:pt modelId="{81AA59A7-E9DD-437D-AC87-9A5B54ADBF24}" type="pres">
      <dgm:prSet presAssocID="{6470F6BC-00F7-4DA6-93A8-F97A9899CD78}" presName="background2" presStyleLbl="node2" presStyleIdx="1" presStyleCnt="5"/>
      <dgm:spPr/>
    </dgm:pt>
    <dgm:pt modelId="{3A1C5B4D-D550-4959-B0F7-32B5BC73B5C7}" type="pres">
      <dgm:prSet presAssocID="{6470F6BC-00F7-4DA6-93A8-F97A9899CD78}" presName="text2" presStyleLbl="fgAcc2" presStyleIdx="1" presStyleCnt="5">
        <dgm:presLayoutVars>
          <dgm:chPref val="3"/>
        </dgm:presLayoutVars>
      </dgm:prSet>
      <dgm:spPr/>
      <dgm:t>
        <a:bodyPr/>
        <a:lstStyle/>
        <a:p>
          <a:endParaRPr lang="zh-CN" altLang="en-US"/>
        </a:p>
      </dgm:t>
    </dgm:pt>
    <dgm:pt modelId="{C45B5C83-C44E-4346-9548-729671792602}" type="pres">
      <dgm:prSet presAssocID="{6470F6BC-00F7-4DA6-93A8-F97A9899CD78}" presName="hierChild3" presStyleCnt="0"/>
      <dgm:spPr/>
    </dgm:pt>
    <dgm:pt modelId="{FF2F606B-53C2-44CA-B843-98A4ECEC3D80}" type="pres">
      <dgm:prSet presAssocID="{42A2902F-D992-426C-821C-A91B95BC4C18}" presName="Name10" presStyleLbl="parChTrans1D2" presStyleIdx="2" presStyleCnt="5"/>
      <dgm:spPr/>
      <dgm:t>
        <a:bodyPr/>
        <a:lstStyle/>
        <a:p>
          <a:endParaRPr lang="zh-CN" altLang="en-US"/>
        </a:p>
      </dgm:t>
    </dgm:pt>
    <dgm:pt modelId="{7A8098B8-B4B0-4AA5-A00A-505FFDD55CC8}" type="pres">
      <dgm:prSet presAssocID="{B32DF41B-8F31-4C07-870A-11CD9A0429C0}" presName="hierRoot2" presStyleCnt="0"/>
      <dgm:spPr/>
    </dgm:pt>
    <dgm:pt modelId="{D88A1F72-EF7D-47C5-AA37-0F6D5B58D342}" type="pres">
      <dgm:prSet presAssocID="{B32DF41B-8F31-4C07-870A-11CD9A0429C0}" presName="composite2" presStyleCnt="0"/>
      <dgm:spPr/>
    </dgm:pt>
    <dgm:pt modelId="{F472A550-9527-4A04-A7E3-6CB4F6E36BD5}" type="pres">
      <dgm:prSet presAssocID="{B32DF41B-8F31-4C07-870A-11CD9A0429C0}" presName="background2" presStyleLbl="node2" presStyleIdx="2" presStyleCnt="5"/>
      <dgm:spPr/>
    </dgm:pt>
    <dgm:pt modelId="{FCE0963C-B32B-4DA2-AC0C-8EFF3FFCFC9E}" type="pres">
      <dgm:prSet presAssocID="{B32DF41B-8F31-4C07-870A-11CD9A0429C0}" presName="text2" presStyleLbl="fgAcc2" presStyleIdx="2" presStyleCnt="5">
        <dgm:presLayoutVars>
          <dgm:chPref val="3"/>
        </dgm:presLayoutVars>
      </dgm:prSet>
      <dgm:spPr/>
      <dgm:t>
        <a:bodyPr/>
        <a:lstStyle/>
        <a:p>
          <a:endParaRPr lang="zh-CN" altLang="en-US"/>
        </a:p>
      </dgm:t>
    </dgm:pt>
    <dgm:pt modelId="{232F24BB-1F56-4A32-837A-0EC31B3CCAE4}" type="pres">
      <dgm:prSet presAssocID="{B32DF41B-8F31-4C07-870A-11CD9A0429C0}" presName="hierChild3" presStyleCnt="0"/>
      <dgm:spPr/>
    </dgm:pt>
    <dgm:pt modelId="{66075574-1233-4B9E-87CB-E8D573F906DD}" type="pres">
      <dgm:prSet presAssocID="{00E659BE-968E-48BA-A987-3BA81F7E2110}" presName="Name10" presStyleLbl="parChTrans1D2" presStyleIdx="3" presStyleCnt="5"/>
      <dgm:spPr/>
      <dgm:t>
        <a:bodyPr/>
        <a:lstStyle/>
        <a:p>
          <a:endParaRPr lang="zh-CN" altLang="en-US"/>
        </a:p>
      </dgm:t>
    </dgm:pt>
    <dgm:pt modelId="{FA9F2334-E0D3-4301-A0E5-ADB48FB77FF3}" type="pres">
      <dgm:prSet presAssocID="{FB68B7A5-5CBB-49C8-B3BA-60A574EFCADB}" presName="hierRoot2" presStyleCnt="0"/>
      <dgm:spPr/>
    </dgm:pt>
    <dgm:pt modelId="{596A62FD-96EC-4622-B36E-7FC74A222FCB}" type="pres">
      <dgm:prSet presAssocID="{FB68B7A5-5CBB-49C8-B3BA-60A574EFCADB}" presName="composite2" presStyleCnt="0"/>
      <dgm:spPr/>
    </dgm:pt>
    <dgm:pt modelId="{253D6062-0571-41FB-A25C-54B136C286CD}" type="pres">
      <dgm:prSet presAssocID="{FB68B7A5-5CBB-49C8-B3BA-60A574EFCADB}" presName="background2" presStyleLbl="node2" presStyleIdx="3" presStyleCnt="5"/>
      <dgm:spPr/>
    </dgm:pt>
    <dgm:pt modelId="{0DF74499-1465-4FD7-8AC5-2855BBF9EC7F}" type="pres">
      <dgm:prSet presAssocID="{FB68B7A5-5CBB-49C8-B3BA-60A574EFCADB}" presName="text2" presStyleLbl="fgAcc2" presStyleIdx="3" presStyleCnt="5">
        <dgm:presLayoutVars>
          <dgm:chPref val="3"/>
        </dgm:presLayoutVars>
      </dgm:prSet>
      <dgm:spPr/>
      <dgm:t>
        <a:bodyPr/>
        <a:lstStyle/>
        <a:p>
          <a:endParaRPr lang="zh-CN" altLang="en-US"/>
        </a:p>
      </dgm:t>
    </dgm:pt>
    <dgm:pt modelId="{41A3D0C4-AB73-4EDD-91BF-61AA0FEC59FC}" type="pres">
      <dgm:prSet presAssocID="{FB68B7A5-5CBB-49C8-B3BA-60A574EFCADB}" presName="hierChild3" presStyleCnt="0"/>
      <dgm:spPr/>
    </dgm:pt>
    <dgm:pt modelId="{094D701F-D945-4485-BB2A-CE040B57FD84}" type="pres">
      <dgm:prSet presAssocID="{DE24D44C-CBED-4534-BF57-6F972C3C130E}" presName="Name10" presStyleLbl="parChTrans1D2" presStyleIdx="4" presStyleCnt="5"/>
      <dgm:spPr/>
      <dgm:t>
        <a:bodyPr/>
        <a:lstStyle/>
        <a:p>
          <a:endParaRPr lang="zh-CN" altLang="en-US"/>
        </a:p>
      </dgm:t>
    </dgm:pt>
    <dgm:pt modelId="{1AF084A7-1961-4ABF-B807-AB4F6787ECB0}" type="pres">
      <dgm:prSet presAssocID="{D6D72EC6-91E5-41C9-92D4-0C26BAA838C2}" presName="hierRoot2" presStyleCnt="0"/>
      <dgm:spPr/>
    </dgm:pt>
    <dgm:pt modelId="{3554DF36-4D96-4619-895F-9D8E1E65B3C8}" type="pres">
      <dgm:prSet presAssocID="{D6D72EC6-91E5-41C9-92D4-0C26BAA838C2}" presName="composite2" presStyleCnt="0"/>
      <dgm:spPr/>
    </dgm:pt>
    <dgm:pt modelId="{5C479C67-1BA2-4ED1-BC32-7D9B283CEB17}" type="pres">
      <dgm:prSet presAssocID="{D6D72EC6-91E5-41C9-92D4-0C26BAA838C2}" presName="background2" presStyleLbl="node2" presStyleIdx="4" presStyleCnt="5"/>
      <dgm:spPr/>
    </dgm:pt>
    <dgm:pt modelId="{F48D5708-FD4C-42C9-8CBE-52D60EDA98D6}" type="pres">
      <dgm:prSet presAssocID="{D6D72EC6-91E5-41C9-92D4-0C26BAA838C2}" presName="text2" presStyleLbl="fgAcc2" presStyleIdx="4" presStyleCnt="5">
        <dgm:presLayoutVars>
          <dgm:chPref val="3"/>
        </dgm:presLayoutVars>
      </dgm:prSet>
      <dgm:spPr/>
      <dgm:t>
        <a:bodyPr/>
        <a:lstStyle/>
        <a:p>
          <a:endParaRPr lang="zh-CN" altLang="en-US"/>
        </a:p>
      </dgm:t>
    </dgm:pt>
    <dgm:pt modelId="{F8DDD478-B86F-474D-8D58-2FFCEAA37F80}" type="pres">
      <dgm:prSet presAssocID="{D6D72EC6-91E5-41C9-92D4-0C26BAA838C2}" presName="hierChild3" presStyleCnt="0"/>
      <dgm:spPr/>
    </dgm:pt>
  </dgm:ptLst>
  <dgm:cxnLst>
    <dgm:cxn modelId="{0B5E6585-33CD-469C-A7C7-8FBDE5741FCF}" srcId="{54D422F2-F17D-4D4E-80E0-8C18F67C64D0}" destId="{B32DF41B-8F31-4C07-870A-11CD9A0429C0}" srcOrd="2" destOrd="0" parTransId="{42A2902F-D992-426C-821C-A91B95BC4C18}" sibTransId="{875CFE0F-86CA-4B23-8E3C-8C86881CF3CC}"/>
    <dgm:cxn modelId="{A663B71B-0578-45A5-B1E7-C52475A4EB98}" type="presOf" srcId="{54D422F2-F17D-4D4E-80E0-8C18F67C64D0}" destId="{46E6E380-FAB9-4EF4-866B-C1A662E1818F}" srcOrd="0" destOrd="0" presId="urn:microsoft.com/office/officeart/2005/8/layout/hierarchy1"/>
    <dgm:cxn modelId="{27068875-2BEF-47A8-94AC-FB5A2222B308}" type="presOf" srcId="{42A2902F-D992-426C-821C-A91B95BC4C18}" destId="{FF2F606B-53C2-44CA-B843-98A4ECEC3D80}" srcOrd="0" destOrd="0" presId="urn:microsoft.com/office/officeart/2005/8/layout/hierarchy1"/>
    <dgm:cxn modelId="{6E6A5FA3-C4A8-4B4E-87B4-FBFE60964BBE}" type="presOf" srcId="{6470F6BC-00F7-4DA6-93A8-F97A9899CD78}" destId="{3A1C5B4D-D550-4959-B0F7-32B5BC73B5C7}"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671C8065-B905-49CB-9A3F-F9361923BF7B}" srcId="{AF681F9E-C3C3-466C-B322-5B6C411F1487}" destId="{54D422F2-F17D-4D4E-80E0-8C18F67C64D0}" srcOrd="0" destOrd="0" parTransId="{242E6669-9458-417B-8CE8-F213C9BE8E8F}" sibTransId="{D039EE51-F099-4BC0-8C91-621442C87746}"/>
    <dgm:cxn modelId="{562169D9-23D5-43E0-AEA0-C7823C851167}" type="presOf" srcId="{4F06052B-CDAA-415D-991E-B7976BF92601}" destId="{3338A08B-D034-4D35-A565-C3CA1DB54B0F}" srcOrd="0" destOrd="0" presId="urn:microsoft.com/office/officeart/2005/8/layout/hierarchy1"/>
    <dgm:cxn modelId="{1F668740-5AE1-4954-BCE7-4E215335BCF3}" type="presOf" srcId="{00E659BE-968E-48BA-A987-3BA81F7E2110}" destId="{66075574-1233-4B9E-87CB-E8D573F906DD}" srcOrd="0" destOrd="0" presId="urn:microsoft.com/office/officeart/2005/8/layout/hierarchy1"/>
    <dgm:cxn modelId="{02BE2E49-8BC8-438F-BA9B-C37D817B7CF6}" srcId="{54D422F2-F17D-4D4E-80E0-8C18F67C64D0}" destId="{59488975-C35F-4A56-8D57-D65A00052A05}" srcOrd="0" destOrd="0" parTransId="{260A6818-D90B-4B1A-9901-B293B8F9007F}" sibTransId="{079726A9-4578-4641-BDDB-5E2939F9BDCD}"/>
    <dgm:cxn modelId="{81487C04-C575-49A6-902B-140466AB0C1B}" srcId="{54D422F2-F17D-4D4E-80E0-8C18F67C64D0}" destId="{FB68B7A5-5CBB-49C8-B3BA-60A574EFCADB}" srcOrd="3" destOrd="0" parTransId="{00E659BE-968E-48BA-A987-3BA81F7E2110}" sibTransId="{AACA2ADD-C13C-4E67-AF5A-DD74F65BFA8F}"/>
    <dgm:cxn modelId="{936E1436-355E-45B7-94C9-A09E92767737}" srcId="{54D422F2-F17D-4D4E-80E0-8C18F67C64D0}" destId="{D6D72EC6-91E5-41C9-92D4-0C26BAA838C2}" srcOrd="4" destOrd="0" parTransId="{DE24D44C-CBED-4534-BF57-6F972C3C130E}" sibTransId="{AFB798E2-4F07-482E-AF24-DC3C2CE65CC6}"/>
    <dgm:cxn modelId="{0ED23AE3-6F75-4FC6-9795-7A21DF2B7615}" type="presOf" srcId="{D6D72EC6-91E5-41C9-92D4-0C26BAA838C2}" destId="{F48D5708-FD4C-42C9-8CBE-52D60EDA98D6}" srcOrd="0" destOrd="0" presId="urn:microsoft.com/office/officeart/2005/8/layout/hierarchy1"/>
    <dgm:cxn modelId="{C772A7E0-A07F-4BD3-9597-939BEBDB02CE}" type="presOf" srcId="{B32DF41B-8F31-4C07-870A-11CD9A0429C0}" destId="{FCE0963C-B32B-4DA2-AC0C-8EFF3FFCFC9E}" srcOrd="0" destOrd="0" presId="urn:microsoft.com/office/officeart/2005/8/layout/hierarchy1"/>
    <dgm:cxn modelId="{86AF8E3A-5C81-4E75-9CBD-003F2284FA8E}" type="presOf" srcId="{260A6818-D90B-4B1A-9901-B293B8F9007F}" destId="{34C1C56C-3033-48A6-9371-A839986D10FC}" srcOrd="0" destOrd="0" presId="urn:microsoft.com/office/officeart/2005/8/layout/hierarchy1"/>
    <dgm:cxn modelId="{99C8EBCF-BAFC-4B63-A3D8-F6DF81932341}" type="presOf" srcId="{DE24D44C-CBED-4534-BF57-6F972C3C130E}" destId="{094D701F-D945-4485-BB2A-CE040B57FD84}"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F996C807-0AAD-420E-AD8F-54C1921C6B77}" type="presOf" srcId="{59488975-C35F-4A56-8D57-D65A00052A05}" destId="{3B4359FF-E5B6-487A-8858-CA6F184D974C}" srcOrd="0" destOrd="0" presId="urn:microsoft.com/office/officeart/2005/8/layout/hierarchy1"/>
    <dgm:cxn modelId="{1C476D4E-EF99-4FA0-8063-0B7C9B78924D}" type="presOf" srcId="{FB68B7A5-5CBB-49C8-B3BA-60A574EFCADB}" destId="{0DF74499-1465-4FD7-8AC5-2855BBF9EC7F}" srcOrd="0" destOrd="0" presId="urn:microsoft.com/office/officeart/2005/8/layout/hierarchy1"/>
    <dgm:cxn modelId="{494CC0B6-B416-4E22-A4F5-FD07E6E6D613}" type="presParOf" srcId="{A385B7F1-B3C5-4B55-9DFF-F4B82890C0A8}" destId="{62944D7A-9AD4-4E9A-A6A5-9E71BD5CF091}" srcOrd="0" destOrd="0" presId="urn:microsoft.com/office/officeart/2005/8/layout/hierarchy1"/>
    <dgm:cxn modelId="{C3500E93-6CEB-452B-9681-ACBBEABD17D1}" type="presParOf" srcId="{62944D7A-9AD4-4E9A-A6A5-9E71BD5CF091}" destId="{9B74E6EB-CE47-4FFD-AE37-D716C6777DD7}" srcOrd="0" destOrd="0" presId="urn:microsoft.com/office/officeart/2005/8/layout/hierarchy1"/>
    <dgm:cxn modelId="{E98AF00B-A6D9-45DF-89CC-E525DF156B26}" type="presParOf" srcId="{9B74E6EB-CE47-4FFD-AE37-D716C6777DD7}" destId="{EDD0FD23-6720-4EDC-A3D9-A1BABA175F4D}" srcOrd="0" destOrd="0" presId="urn:microsoft.com/office/officeart/2005/8/layout/hierarchy1"/>
    <dgm:cxn modelId="{0C7A32B1-F2C9-4BDC-8F01-64DAED02F0A5}" type="presParOf" srcId="{9B74E6EB-CE47-4FFD-AE37-D716C6777DD7}" destId="{46E6E380-FAB9-4EF4-866B-C1A662E1818F}" srcOrd="1" destOrd="0" presId="urn:microsoft.com/office/officeart/2005/8/layout/hierarchy1"/>
    <dgm:cxn modelId="{6423074D-056B-4878-BA5D-8A9497484D53}" type="presParOf" srcId="{62944D7A-9AD4-4E9A-A6A5-9E71BD5CF091}" destId="{4A308BB9-1E9D-471A-918F-F2D8254BDA8B}" srcOrd="1" destOrd="0" presId="urn:microsoft.com/office/officeart/2005/8/layout/hierarchy1"/>
    <dgm:cxn modelId="{0074BDE5-99A2-432B-8F20-5C11E20398B9}" type="presParOf" srcId="{4A308BB9-1E9D-471A-918F-F2D8254BDA8B}" destId="{34C1C56C-3033-48A6-9371-A839986D10FC}" srcOrd="0" destOrd="0" presId="urn:microsoft.com/office/officeart/2005/8/layout/hierarchy1"/>
    <dgm:cxn modelId="{6CCE7337-5056-49E8-B851-B5C565B178BC}" type="presParOf" srcId="{4A308BB9-1E9D-471A-918F-F2D8254BDA8B}" destId="{30232340-2A19-4281-B331-FA21355E7E2E}" srcOrd="1" destOrd="0" presId="urn:microsoft.com/office/officeart/2005/8/layout/hierarchy1"/>
    <dgm:cxn modelId="{C4CFE0DD-4EF5-457A-A02A-6498D0444229}" type="presParOf" srcId="{30232340-2A19-4281-B331-FA21355E7E2E}" destId="{712816EF-1D21-4F09-84CB-D3EE6F0B9099}" srcOrd="0" destOrd="0" presId="urn:microsoft.com/office/officeart/2005/8/layout/hierarchy1"/>
    <dgm:cxn modelId="{0CB28C0C-B177-4E45-865B-96EBBE65A476}" type="presParOf" srcId="{712816EF-1D21-4F09-84CB-D3EE6F0B9099}" destId="{93FE9A8A-5886-4468-9679-FDEB306A0A2E}" srcOrd="0" destOrd="0" presId="urn:microsoft.com/office/officeart/2005/8/layout/hierarchy1"/>
    <dgm:cxn modelId="{D0E01980-E855-4814-B722-AB9766309604}" type="presParOf" srcId="{712816EF-1D21-4F09-84CB-D3EE6F0B9099}" destId="{3B4359FF-E5B6-487A-8858-CA6F184D974C}" srcOrd="1" destOrd="0" presId="urn:microsoft.com/office/officeart/2005/8/layout/hierarchy1"/>
    <dgm:cxn modelId="{5554B6C1-7F61-4644-B51D-075A9CFEE171}" type="presParOf" srcId="{30232340-2A19-4281-B331-FA21355E7E2E}" destId="{C936F337-503B-49BB-86D0-539F2F11CD3A}" srcOrd="1" destOrd="0" presId="urn:microsoft.com/office/officeart/2005/8/layout/hierarchy1"/>
    <dgm:cxn modelId="{82BB1B03-2634-4D30-BF37-865794689EDE}" type="presParOf" srcId="{4A308BB9-1E9D-471A-918F-F2D8254BDA8B}" destId="{3338A08B-D034-4D35-A565-C3CA1DB54B0F}" srcOrd="2" destOrd="0" presId="urn:microsoft.com/office/officeart/2005/8/layout/hierarchy1"/>
    <dgm:cxn modelId="{00C6C47E-A4E4-4DB1-9AA6-8AD91F1F2098}" type="presParOf" srcId="{4A308BB9-1E9D-471A-918F-F2D8254BDA8B}" destId="{A8CEA8B2-28D6-4FCF-990C-0B449C8E8C19}" srcOrd="3" destOrd="0" presId="urn:microsoft.com/office/officeart/2005/8/layout/hierarchy1"/>
    <dgm:cxn modelId="{9FDC901F-5D95-4128-82D9-EAEF2550D650}" type="presParOf" srcId="{A8CEA8B2-28D6-4FCF-990C-0B449C8E8C19}" destId="{C2071BCF-45CE-47E4-B0F6-88D1029F2FC6}" srcOrd="0" destOrd="0" presId="urn:microsoft.com/office/officeart/2005/8/layout/hierarchy1"/>
    <dgm:cxn modelId="{20541A56-0D85-4F5A-8BC1-5C0B390F5B89}" type="presParOf" srcId="{C2071BCF-45CE-47E4-B0F6-88D1029F2FC6}" destId="{81AA59A7-E9DD-437D-AC87-9A5B54ADBF24}" srcOrd="0" destOrd="0" presId="urn:microsoft.com/office/officeart/2005/8/layout/hierarchy1"/>
    <dgm:cxn modelId="{7D3F0714-EBD0-46AD-B350-E2A865055FD7}" type="presParOf" srcId="{C2071BCF-45CE-47E4-B0F6-88D1029F2FC6}" destId="{3A1C5B4D-D550-4959-B0F7-32B5BC73B5C7}" srcOrd="1" destOrd="0" presId="urn:microsoft.com/office/officeart/2005/8/layout/hierarchy1"/>
    <dgm:cxn modelId="{7B242CD7-A3A3-4639-A494-E3ABCF5FCC55}" type="presParOf" srcId="{A8CEA8B2-28D6-4FCF-990C-0B449C8E8C19}" destId="{C45B5C83-C44E-4346-9548-729671792602}" srcOrd="1" destOrd="0" presId="urn:microsoft.com/office/officeart/2005/8/layout/hierarchy1"/>
    <dgm:cxn modelId="{39B3C9C4-81A4-4371-90C2-5BF564B0C827}" type="presParOf" srcId="{4A308BB9-1E9D-471A-918F-F2D8254BDA8B}" destId="{FF2F606B-53C2-44CA-B843-98A4ECEC3D80}" srcOrd="4" destOrd="0" presId="urn:microsoft.com/office/officeart/2005/8/layout/hierarchy1"/>
    <dgm:cxn modelId="{7F10B1CC-BBCE-44C9-971C-DEB537885D0C}" type="presParOf" srcId="{4A308BB9-1E9D-471A-918F-F2D8254BDA8B}" destId="{7A8098B8-B4B0-4AA5-A00A-505FFDD55CC8}" srcOrd="5" destOrd="0" presId="urn:microsoft.com/office/officeart/2005/8/layout/hierarchy1"/>
    <dgm:cxn modelId="{E39A1486-2461-4211-B899-4477BEF01968}" type="presParOf" srcId="{7A8098B8-B4B0-4AA5-A00A-505FFDD55CC8}" destId="{D88A1F72-EF7D-47C5-AA37-0F6D5B58D342}" srcOrd="0" destOrd="0" presId="urn:microsoft.com/office/officeart/2005/8/layout/hierarchy1"/>
    <dgm:cxn modelId="{96856CE6-35B5-4E83-905B-062AB035A1F0}" type="presParOf" srcId="{D88A1F72-EF7D-47C5-AA37-0F6D5B58D342}" destId="{F472A550-9527-4A04-A7E3-6CB4F6E36BD5}" srcOrd="0" destOrd="0" presId="urn:microsoft.com/office/officeart/2005/8/layout/hierarchy1"/>
    <dgm:cxn modelId="{B7258E71-F76F-406F-86A5-22C1F9B990E5}" type="presParOf" srcId="{D88A1F72-EF7D-47C5-AA37-0F6D5B58D342}" destId="{FCE0963C-B32B-4DA2-AC0C-8EFF3FFCFC9E}" srcOrd="1" destOrd="0" presId="urn:microsoft.com/office/officeart/2005/8/layout/hierarchy1"/>
    <dgm:cxn modelId="{50E2B7EC-1FA9-486A-8395-2F7C67B7C470}" type="presParOf" srcId="{7A8098B8-B4B0-4AA5-A00A-505FFDD55CC8}" destId="{232F24BB-1F56-4A32-837A-0EC31B3CCAE4}" srcOrd="1" destOrd="0" presId="urn:microsoft.com/office/officeart/2005/8/layout/hierarchy1"/>
    <dgm:cxn modelId="{564D1AC1-971A-46C2-8FD7-BBECE9786D91}" type="presParOf" srcId="{4A308BB9-1E9D-471A-918F-F2D8254BDA8B}" destId="{66075574-1233-4B9E-87CB-E8D573F906DD}" srcOrd="6" destOrd="0" presId="urn:microsoft.com/office/officeart/2005/8/layout/hierarchy1"/>
    <dgm:cxn modelId="{90C1DD33-2619-4C06-94EB-7B9155A5CE3C}" type="presParOf" srcId="{4A308BB9-1E9D-471A-918F-F2D8254BDA8B}" destId="{FA9F2334-E0D3-4301-A0E5-ADB48FB77FF3}" srcOrd="7" destOrd="0" presId="urn:microsoft.com/office/officeart/2005/8/layout/hierarchy1"/>
    <dgm:cxn modelId="{9F091B44-5BBF-443C-99E4-779A70C9AC21}" type="presParOf" srcId="{FA9F2334-E0D3-4301-A0E5-ADB48FB77FF3}" destId="{596A62FD-96EC-4622-B36E-7FC74A222FCB}" srcOrd="0" destOrd="0" presId="urn:microsoft.com/office/officeart/2005/8/layout/hierarchy1"/>
    <dgm:cxn modelId="{7525ABD2-5700-4BC0-92D3-52F520B72174}" type="presParOf" srcId="{596A62FD-96EC-4622-B36E-7FC74A222FCB}" destId="{253D6062-0571-41FB-A25C-54B136C286CD}" srcOrd="0" destOrd="0" presId="urn:microsoft.com/office/officeart/2005/8/layout/hierarchy1"/>
    <dgm:cxn modelId="{B824A132-A772-4F8E-9248-431E1DE4342A}" type="presParOf" srcId="{596A62FD-96EC-4622-B36E-7FC74A222FCB}" destId="{0DF74499-1465-4FD7-8AC5-2855BBF9EC7F}" srcOrd="1" destOrd="0" presId="urn:microsoft.com/office/officeart/2005/8/layout/hierarchy1"/>
    <dgm:cxn modelId="{16623A88-DD3B-4576-86CE-CCA163E7244F}" type="presParOf" srcId="{FA9F2334-E0D3-4301-A0E5-ADB48FB77FF3}" destId="{41A3D0C4-AB73-4EDD-91BF-61AA0FEC59FC}" srcOrd="1" destOrd="0" presId="urn:microsoft.com/office/officeart/2005/8/layout/hierarchy1"/>
    <dgm:cxn modelId="{4BF6643A-9116-457B-86AB-ABBB7D8B7A15}" type="presParOf" srcId="{4A308BB9-1E9D-471A-918F-F2D8254BDA8B}" destId="{094D701F-D945-4485-BB2A-CE040B57FD84}" srcOrd="8" destOrd="0" presId="urn:microsoft.com/office/officeart/2005/8/layout/hierarchy1"/>
    <dgm:cxn modelId="{47332113-636C-4AB2-AC3F-9638893E57E2}" type="presParOf" srcId="{4A308BB9-1E9D-471A-918F-F2D8254BDA8B}" destId="{1AF084A7-1961-4ABF-B807-AB4F6787ECB0}" srcOrd="9" destOrd="0" presId="urn:microsoft.com/office/officeart/2005/8/layout/hierarchy1"/>
    <dgm:cxn modelId="{34D146DD-F43F-482D-9941-88134430B37C}" type="presParOf" srcId="{1AF084A7-1961-4ABF-B807-AB4F6787ECB0}" destId="{3554DF36-4D96-4619-895F-9D8E1E65B3C8}" srcOrd="0" destOrd="0" presId="urn:microsoft.com/office/officeart/2005/8/layout/hierarchy1"/>
    <dgm:cxn modelId="{C732D234-C5F2-4CE6-85C2-C7E5E7E979B4}" type="presParOf" srcId="{3554DF36-4D96-4619-895F-9D8E1E65B3C8}" destId="{5C479C67-1BA2-4ED1-BC32-7D9B283CEB17}" srcOrd="0" destOrd="0" presId="urn:microsoft.com/office/officeart/2005/8/layout/hierarchy1"/>
    <dgm:cxn modelId="{2C7CB2DD-6046-42D0-8F1D-80F71C9CC8C7}" type="presParOf" srcId="{3554DF36-4D96-4619-895F-9D8E1E65B3C8}" destId="{F48D5708-FD4C-42C9-8CBE-52D60EDA98D6}" srcOrd="1" destOrd="0" presId="urn:microsoft.com/office/officeart/2005/8/layout/hierarchy1"/>
    <dgm:cxn modelId="{C34E1AA9-7BB5-443A-B5BD-7F4A400FE1B5}" type="presParOf" srcId="{1AF084A7-1961-4ABF-B807-AB4F6787ECB0}" destId="{F8DDD478-B86F-474D-8D58-2FFCEAA37F8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54D422F2-F17D-4D4E-80E0-8C18F67C64D0}">
      <dgm:prSet/>
      <dgm:spPr/>
      <dgm:t>
        <a:bodyPr/>
        <a:lstStyle/>
        <a:p>
          <a:r>
            <a:rPr lang="zh-CN" altLang="en-US" dirty="0" smtClean="0"/>
            <a:t>故障传播树构建</a:t>
          </a:r>
          <a:endParaRPr lang="zh-CN" altLang="en-US" dirty="0"/>
        </a:p>
      </dgm:t>
    </dgm:pt>
    <dgm:pt modelId="{242E6669-9458-417B-8CE8-F213C9BE8E8F}" type="parTrans" cxnId="{671C8065-B905-49CB-9A3F-F9361923BF7B}">
      <dgm:prSet/>
      <dgm:spPr/>
      <dgm:t>
        <a:bodyPr/>
        <a:lstStyle/>
        <a:p>
          <a:endParaRPr lang="zh-CN" altLang="en-US"/>
        </a:p>
      </dgm:t>
    </dgm:pt>
    <dgm:pt modelId="{D039EE51-F099-4BC0-8C91-621442C87746}" type="sibTrans" cxnId="{671C8065-B905-49CB-9A3F-F9361923BF7B}">
      <dgm:prSet/>
      <dgm:spPr/>
      <dgm:t>
        <a:bodyPr/>
        <a:lstStyle/>
        <a:p>
          <a:endParaRPr lang="zh-CN" altLang="en-US"/>
        </a:p>
      </dgm:t>
    </dgm:pt>
    <dgm:pt modelId="{59488975-C35F-4A56-8D57-D65A00052A05}">
      <dgm:prSet/>
      <dgm:spPr/>
      <dgm:t>
        <a:bodyPr/>
        <a:lstStyle/>
        <a:p>
          <a:r>
            <a:rPr lang="zh-CN" altLang="en-US" dirty="0" smtClean="0"/>
            <a:t>异常事件关联挖掘</a:t>
          </a:r>
          <a:endParaRPr lang="zh-CN" altLang="en-US" dirty="0"/>
        </a:p>
      </dgm:t>
    </dgm:pt>
    <dgm:pt modelId="{260A6818-D90B-4B1A-9901-B293B8F9007F}" type="parTrans" cxnId="{02BE2E49-8BC8-438F-BA9B-C37D817B7CF6}">
      <dgm:prSet/>
      <dgm:spPr/>
      <dgm:t>
        <a:bodyPr/>
        <a:lstStyle/>
        <a:p>
          <a:endParaRPr lang="zh-CN" altLang="en-US"/>
        </a:p>
      </dgm:t>
    </dgm:pt>
    <dgm:pt modelId="{079726A9-4578-4641-BDDB-5E2939F9BDCD}" type="sibTrans" cxnId="{02BE2E49-8BC8-438F-BA9B-C37D817B7CF6}">
      <dgm:prSet/>
      <dgm:spPr/>
      <dgm:t>
        <a:bodyPr/>
        <a:lstStyle/>
        <a:p>
          <a:endParaRPr lang="zh-CN" altLang="en-US"/>
        </a:p>
      </dgm:t>
    </dgm:pt>
    <dgm:pt modelId="{6470F6BC-00F7-4DA6-93A8-F97A9899CD78}">
      <dgm:prSet/>
      <dgm:spPr/>
      <dgm:t>
        <a:bodyPr/>
        <a:lstStyle/>
        <a:p>
          <a:r>
            <a:rPr lang="zh-CN" altLang="en-US" dirty="0" smtClean="0"/>
            <a:t>事件</a:t>
          </a:r>
          <a:r>
            <a:rPr lang="en-US" altLang="zh-CN" dirty="0" smtClean="0"/>
            <a:t>-KPI</a:t>
          </a:r>
          <a:r>
            <a:rPr lang="zh-CN" altLang="en-US" dirty="0" smtClean="0"/>
            <a:t>关联挖掘</a:t>
          </a:r>
          <a:endParaRPr lang="zh-CN" altLang="en-US" dirty="0"/>
        </a:p>
      </dgm:t>
    </dgm:pt>
    <dgm:pt modelId="{4F06052B-CDAA-415D-991E-B7976BF92601}" type="parTrans" cxnId="{BAC90E13-F48A-48CF-A420-071C5D07A534}">
      <dgm:prSet/>
      <dgm:spPr/>
      <dgm:t>
        <a:bodyPr/>
        <a:lstStyle/>
        <a:p>
          <a:endParaRPr lang="zh-CN" altLang="en-US"/>
        </a:p>
      </dgm:t>
    </dgm:pt>
    <dgm:pt modelId="{FD10F52E-B507-465D-BA7D-5459A098F4F1}" type="sibTrans" cxnId="{BAC90E13-F48A-48CF-A420-071C5D07A534}">
      <dgm:prSet/>
      <dgm:spPr/>
      <dgm:t>
        <a:bodyPr/>
        <a:lstStyle/>
        <a:p>
          <a:endParaRPr lang="zh-CN" altLang="en-US"/>
        </a:p>
      </dgm:t>
    </dgm:pt>
    <dgm:pt modelId="{B32DF41B-8F31-4C07-870A-11CD9A0429C0}">
      <dgm:prSet/>
      <dgm:spPr/>
      <dgm:t>
        <a:bodyPr/>
        <a:lstStyle/>
        <a:p>
          <a:r>
            <a:rPr lang="en-US" altLang="zh-CN" dirty="0" smtClean="0"/>
            <a:t>KPI</a:t>
          </a:r>
          <a:r>
            <a:rPr lang="zh-CN" altLang="en-US" dirty="0" smtClean="0"/>
            <a:t>关联分析</a:t>
          </a:r>
          <a:endParaRPr lang="zh-CN" altLang="en-US" dirty="0"/>
        </a:p>
      </dgm:t>
    </dgm:pt>
    <dgm:pt modelId="{42A2902F-D992-426C-821C-A91B95BC4C18}" type="parTrans" cxnId="{0B5E6585-33CD-469C-A7C7-8FBDE5741FCF}">
      <dgm:prSet/>
      <dgm:spPr/>
      <dgm:t>
        <a:bodyPr/>
        <a:lstStyle/>
        <a:p>
          <a:endParaRPr lang="zh-CN" altLang="en-US"/>
        </a:p>
      </dgm:t>
    </dgm:pt>
    <dgm:pt modelId="{875CFE0F-86CA-4B23-8E3C-8C86881CF3CC}" type="sibTrans" cxnId="{0B5E6585-33CD-469C-A7C7-8FBDE5741FCF}">
      <dgm:prSet/>
      <dgm:spPr/>
      <dgm:t>
        <a:bodyPr/>
        <a:lstStyle/>
        <a:p>
          <a:endParaRPr lang="zh-CN" altLang="en-US"/>
        </a:p>
      </dgm:t>
    </dgm:pt>
    <dgm:pt modelId="{FB68B7A5-5CBB-49C8-B3BA-60A574EFCADB}">
      <dgm:prSet/>
      <dgm:spPr/>
      <dgm:t>
        <a:bodyPr/>
        <a:lstStyle/>
        <a:p>
          <a:r>
            <a:rPr lang="en-US" altLang="zh-CN" dirty="0" smtClean="0"/>
            <a:t>KPI</a:t>
          </a:r>
          <a:r>
            <a:rPr lang="zh-CN" altLang="en-US" dirty="0" smtClean="0"/>
            <a:t>聚类</a:t>
          </a:r>
          <a:endParaRPr lang="zh-CN" altLang="en-US" dirty="0"/>
        </a:p>
      </dgm:t>
    </dgm:pt>
    <dgm:pt modelId="{00E659BE-968E-48BA-A987-3BA81F7E2110}" type="parTrans" cxnId="{81487C04-C575-49A6-902B-140466AB0C1B}">
      <dgm:prSet/>
      <dgm:spPr/>
      <dgm:t>
        <a:bodyPr/>
        <a:lstStyle/>
        <a:p>
          <a:endParaRPr lang="zh-CN" altLang="en-US"/>
        </a:p>
      </dgm:t>
    </dgm:pt>
    <dgm:pt modelId="{AACA2ADD-C13C-4E67-AF5A-DD74F65BFA8F}" type="sibTrans" cxnId="{81487C04-C575-49A6-902B-140466AB0C1B}">
      <dgm:prSet/>
      <dgm:spPr/>
      <dgm:t>
        <a:bodyPr/>
        <a:lstStyle/>
        <a:p>
          <a:endParaRPr lang="zh-CN" altLang="en-US"/>
        </a:p>
      </dgm:t>
    </dgm:pt>
    <dgm:pt modelId="{D6D72EC6-91E5-41C9-92D4-0C26BAA838C2}">
      <dgm:prSet/>
      <dgm:spPr/>
      <dgm:t>
        <a:bodyPr/>
        <a:lstStyle/>
        <a:p>
          <a:r>
            <a:rPr lang="zh-CN" altLang="en-US" dirty="0" smtClean="0"/>
            <a:t>全链路模块调用分析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62944D7A-9AD4-4E9A-A6A5-9E71BD5CF091}" type="pres">
      <dgm:prSet presAssocID="{54D422F2-F17D-4D4E-80E0-8C18F67C64D0}" presName="hierRoot1" presStyleCnt="0"/>
      <dgm:spPr/>
    </dgm:pt>
    <dgm:pt modelId="{9B74E6EB-CE47-4FFD-AE37-D716C6777DD7}" type="pres">
      <dgm:prSet presAssocID="{54D422F2-F17D-4D4E-80E0-8C18F67C64D0}" presName="composite" presStyleCnt="0"/>
      <dgm:spPr/>
    </dgm:pt>
    <dgm:pt modelId="{EDD0FD23-6720-4EDC-A3D9-A1BABA175F4D}" type="pres">
      <dgm:prSet presAssocID="{54D422F2-F17D-4D4E-80E0-8C18F67C64D0}" presName="background" presStyleLbl="node0" presStyleIdx="0" presStyleCnt="1"/>
      <dgm:spPr/>
    </dgm:pt>
    <dgm:pt modelId="{46E6E380-FAB9-4EF4-866B-C1A662E1818F}" type="pres">
      <dgm:prSet presAssocID="{54D422F2-F17D-4D4E-80E0-8C18F67C64D0}" presName="text" presStyleLbl="fgAcc0" presStyleIdx="0" presStyleCnt="1">
        <dgm:presLayoutVars>
          <dgm:chPref val="3"/>
        </dgm:presLayoutVars>
      </dgm:prSet>
      <dgm:spPr/>
      <dgm:t>
        <a:bodyPr/>
        <a:lstStyle/>
        <a:p>
          <a:endParaRPr lang="zh-CN" altLang="en-US"/>
        </a:p>
      </dgm:t>
    </dgm:pt>
    <dgm:pt modelId="{4A308BB9-1E9D-471A-918F-F2D8254BDA8B}" type="pres">
      <dgm:prSet presAssocID="{54D422F2-F17D-4D4E-80E0-8C18F67C64D0}" presName="hierChild2" presStyleCnt="0"/>
      <dgm:spPr/>
    </dgm:pt>
    <dgm:pt modelId="{34C1C56C-3033-48A6-9371-A839986D10FC}" type="pres">
      <dgm:prSet presAssocID="{260A6818-D90B-4B1A-9901-B293B8F9007F}" presName="Name10" presStyleLbl="parChTrans1D2" presStyleIdx="0" presStyleCnt="5"/>
      <dgm:spPr/>
      <dgm:t>
        <a:bodyPr/>
        <a:lstStyle/>
        <a:p>
          <a:endParaRPr lang="zh-CN" altLang="en-US"/>
        </a:p>
      </dgm:t>
    </dgm:pt>
    <dgm:pt modelId="{30232340-2A19-4281-B331-FA21355E7E2E}" type="pres">
      <dgm:prSet presAssocID="{59488975-C35F-4A56-8D57-D65A00052A05}" presName="hierRoot2" presStyleCnt="0"/>
      <dgm:spPr/>
    </dgm:pt>
    <dgm:pt modelId="{712816EF-1D21-4F09-84CB-D3EE6F0B9099}" type="pres">
      <dgm:prSet presAssocID="{59488975-C35F-4A56-8D57-D65A00052A05}" presName="composite2" presStyleCnt="0"/>
      <dgm:spPr/>
    </dgm:pt>
    <dgm:pt modelId="{93FE9A8A-5886-4468-9679-FDEB306A0A2E}" type="pres">
      <dgm:prSet presAssocID="{59488975-C35F-4A56-8D57-D65A00052A05}" presName="background2" presStyleLbl="node2" presStyleIdx="0" presStyleCnt="5"/>
      <dgm:spPr/>
    </dgm:pt>
    <dgm:pt modelId="{3B4359FF-E5B6-487A-8858-CA6F184D974C}" type="pres">
      <dgm:prSet presAssocID="{59488975-C35F-4A56-8D57-D65A00052A05}" presName="text2" presStyleLbl="fgAcc2" presStyleIdx="0" presStyleCnt="5">
        <dgm:presLayoutVars>
          <dgm:chPref val="3"/>
        </dgm:presLayoutVars>
      </dgm:prSet>
      <dgm:spPr/>
      <dgm:t>
        <a:bodyPr/>
        <a:lstStyle/>
        <a:p>
          <a:endParaRPr lang="zh-CN" altLang="en-US"/>
        </a:p>
      </dgm:t>
    </dgm:pt>
    <dgm:pt modelId="{C936F337-503B-49BB-86D0-539F2F11CD3A}" type="pres">
      <dgm:prSet presAssocID="{59488975-C35F-4A56-8D57-D65A00052A05}" presName="hierChild3" presStyleCnt="0"/>
      <dgm:spPr/>
    </dgm:pt>
    <dgm:pt modelId="{3338A08B-D034-4D35-A565-C3CA1DB54B0F}" type="pres">
      <dgm:prSet presAssocID="{4F06052B-CDAA-415D-991E-B7976BF92601}" presName="Name10" presStyleLbl="parChTrans1D2" presStyleIdx="1" presStyleCnt="5"/>
      <dgm:spPr/>
      <dgm:t>
        <a:bodyPr/>
        <a:lstStyle/>
        <a:p>
          <a:endParaRPr lang="zh-CN" altLang="en-US"/>
        </a:p>
      </dgm:t>
    </dgm:pt>
    <dgm:pt modelId="{A8CEA8B2-28D6-4FCF-990C-0B449C8E8C19}" type="pres">
      <dgm:prSet presAssocID="{6470F6BC-00F7-4DA6-93A8-F97A9899CD78}" presName="hierRoot2" presStyleCnt="0"/>
      <dgm:spPr/>
    </dgm:pt>
    <dgm:pt modelId="{C2071BCF-45CE-47E4-B0F6-88D1029F2FC6}" type="pres">
      <dgm:prSet presAssocID="{6470F6BC-00F7-4DA6-93A8-F97A9899CD78}" presName="composite2" presStyleCnt="0"/>
      <dgm:spPr/>
    </dgm:pt>
    <dgm:pt modelId="{81AA59A7-E9DD-437D-AC87-9A5B54ADBF24}" type="pres">
      <dgm:prSet presAssocID="{6470F6BC-00F7-4DA6-93A8-F97A9899CD78}" presName="background2" presStyleLbl="node2" presStyleIdx="1" presStyleCnt="5"/>
      <dgm:spPr/>
    </dgm:pt>
    <dgm:pt modelId="{3A1C5B4D-D550-4959-B0F7-32B5BC73B5C7}" type="pres">
      <dgm:prSet presAssocID="{6470F6BC-00F7-4DA6-93A8-F97A9899CD78}" presName="text2" presStyleLbl="fgAcc2" presStyleIdx="1" presStyleCnt="5">
        <dgm:presLayoutVars>
          <dgm:chPref val="3"/>
        </dgm:presLayoutVars>
      </dgm:prSet>
      <dgm:spPr/>
      <dgm:t>
        <a:bodyPr/>
        <a:lstStyle/>
        <a:p>
          <a:endParaRPr lang="zh-CN" altLang="en-US"/>
        </a:p>
      </dgm:t>
    </dgm:pt>
    <dgm:pt modelId="{C45B5C83-C44E-4346-9548-729671792602}" type="pres">
      <dgm:prSet presAssocID="{6470F6BC-00F7-4DA6-93A8-F97A9899CD78}" presName="hierChild3" presStyleCnt="0"/>
      <dgm:spPr/>
    </dgm:pt>
    <dgm:pt modelId="{FF2F606B-53C2-44CA-B843-98A4ECEC3D80}" type="pres">
      <dgm:prSet presAssocID="{42A2902F-D992-426C-821C-A91B95BC4C18}" presName="Name10" presStyleLbl="parChTrans1D2" presStyleIdx="2" presStyleCnt="5"/>
      <dgm:spPr/>
      <dgm:t>
        <a:bodyPr/>
        <a:lstStyle/>
        <a:p>
          <a:endParaRPr lang="zh-CN" altLang="en-US"/>
        </a:p>
      </dgm:t>
    </dgm:pt>
    <dgm:pt modelId="{7A8098B8-B4B0-4AA5-A00A-505FFDD55CC8}" type="pres">
      <dgm:prSet presAssocID="{B32DF41B-8F31-4C07-870A-11CD9A0429C0}" presName="hierRoot2" presStyleCnt="0"/>
      <dgm:spPr/>
    </dgm:pt>
    <dgm:pt modelId="{D88A1F72-EF7D-47C5-AA37-0F6D5B58D342}" type="pres">
      <dgm:prSet presAssocID="{B32DF41B-8F31-4C07-870A-11CD9A0429C0}" presName="composite2" presStyleCnt="0"/>
      <dgm:spPr/>
    </dgm:pt>
    <dgm:pt modelId="{F472A550-9527-4A04-A7E3-6CB4F6E36BD5}" type="pres">
      <dgm:prSet presAssocID="{B32DF41B-8F31-4C07-870A-11CD9A0429C0}" presName="background2" presStyleLbl="node2" presStyleIdx="2" presStyleCnt="5"/>
      <dgm:spPr/>
    </dgm:pt>
    <dgm:pt modelId="{FCE0963C-B32B-4DA2-AC0C-8EFF3FFCFC9E}" type="pres">
      <dgm:prSet presAssocID="{B32DF41B-8F31-4C07-870A-11CD9A0429C0}" presName="text2" presStyleLbl="fgAcc2" presStyleIdx="2" presStyleCnt="5">
        <dgm:presLayoutVars>
          <dgm:chPref val="3"/>
        </dgm:presLayoutVars>
      </dgm:prSet>
      <dgm:spPr/>
      <dgm:t>
        <a:bodyPr/>
        <a:lstStyle/>
        <a:p>
          <a:endParaRPr lang="zh-CN" altLang="en-US"/>
        </a:p>
      </dgm:t>
    </dgm:pt>
    <dgm:pt modelId="{232F24BB-1F56-4A32-837A-0EC31B3CCAE4}" type="pres">
      <dgm:prSet presAssocID="{B32DF41B-8F31-4C07-870A-11CD9A0429C0}" presName="hierChild3" presStyleCnt="0"/>
      <dgm:spPr/>
    </dgm:pt>
    <dgm:pt modelId="{66075574-1233-4B9E-87CB-E8D573F906DD}" type="pres">
      <dgm:prSet presAssocID="{00E659BE-968E-48BA-A987-3BA81F7E2110}" presName="Name10" presStyleLbl="parChTrans1D2" presStyleIdx="3" presStyleCnt="5"/>
      <dgm:spPr/>
      <dgm:t>
        <a:bodyPr/>
        <a:lstStyle/>
        <a:p>
          <a:endParaRPr lang="zh-CN" altLang="en-US"/>
        </a:p>
      </dgm:t>
    </dgm:pt>
    <dgm:pt modelId="{FA9F2334-E0D3-4301-A0E5-ADB48FB77FF3}" type="pres">
      <dgm:prSet presAssocID="{FB68B7A5-5CBB-49C8-B3BA-60A574EFCADB}" presName="hierRoot2" presStyleCnt="0"/>
      <dgm:spPr/>
    </dgm:pt>
    <dgm:pt modelId="{596A62FD-96EC-4622-B36E-7FC74A222FCB}" type="pres">
      <dgm:prSet presAssocID="{FB68B7A5-5CBB-49C8-B3BA-60A574EFCADB}" presName="composite2" presStyleCnt="0"/>
      <dgm:spPr/>
    </dgm:pt>
    <dgm:pt modelId="{253D6062-0571-41FB-A25C-54B136C286CD}" type="pres">
      <dgm:prSet presAssocID="{FB68B7A5-5CBB-49C8-B3BA-60A574EFCADB}" presName="background2" presStyleLbl="node2" presStyleIdx="3" presStyleCnt="5"/>
      <dgm:spPr/>
    </dgm:pt>
    <dgm:pt modelId="{0DF74499-1465-4FD7-8AC5-2855BBF9EC7F}" type="pres">
      <dgm:prSet presAssocID="{FB68B7A5-5CBB-49C8-B3BA-60A574EFCADB}" presName="text2" presStyleLbl="fgAcc2" presStyleIdx="3" presStyleCnt="5">
        <dgm:presLayoutVars>
          <dgm:chPref val="3"/>
        </dgm:presLayoutVars>
      </dgm:prSet>
      <dgm:spPr/>
      <dgm:t>
        <a:bodyPr/>
        <a:lstStyle/>
        <a:p>
          <a:endParaRPr lang="zh-CN" altLang="en-US"/>
        </a:p>
      </dgm:t>
    </dgm:pt>
    <dgm:pt modelId="{41A3D0C4-AB73-4EDD-91BF-61AA0FEC59FC}" type="pres">
      <dgm:prSet presAssocID="{FB68B7A5-5CBB-49C8-B3BA-60A574EFCADB}" presName="hierChild3" presStyleCnt="0"/>
      <dgm:spPr/>
    </dgm:pt>
    <dgm:pt modelId="{094D701F-D945-4485-BB2A-CE040B57FD84}" type="pres">
      <dgm:prSet presAssocID="{DE24D44C-CBED-4534-BF57-6F972C3C130E}" presName="Name10" presStyleLbl="parChTrans1D2" presStyleIdx="4" presStyleCnt="5"/>
      <dgm:spPr/>
      <dgm:t>
        <a:bodyPr/>
        <a:lstStyle/>
        <a:p>
          <a:endParaRPr lang="zh-CN" altLang="en-US"/>
        </a:p>
      </dgm:t>
    </dgm:pt>
    <dgm:pt modelId="{1AF084A7-1961-4ABF-B807-AB4F6787ECB0}" type="pres">
      <dgm:prSet presAssocID="{D6D72EC6-91E5-41C9-92D4-0C26BAA838C2}" presName="hierRoot2" presStyleCnt="0"/>
      <dgm:spPr/>
    </dgm:pt>
    <dgm:pt modelId="{3554DF36-4D96-4619-895F-9D8E1E65B3C8}" type="pres">
      <dgm:prSet presAssocID="{D6D72EC6-91E5-41C9-92D4-0C26BAA838C2}" presName="composite2" presStyleCnt="0"/>
      <dgm:spPr/>
    </dgm:pt>
    <dgm:pt modelId="{5C479C67-1BA2-4ED1-BC32-7D9B283CEB17}" type="pres">
      <dgm:prSet presAssocID="{D6D72EC6-91E5-41C9-92D4-0C26BAA838C2}" presName="background2" presStyleLbl="node2" presStyleIdx="4" presStyleCnt="5"/>
      <dgm:spPr/>
    </dgm:pt>
    <dgm:pt modelId="{F48D5708-FD4C-42C9-8CBE-52D60EDA98D6}" type="pres">
      <dgm:prSet presAssocID="{D6D72EC6-91E5-41C9-92D4-0C26BAA838C2}" presName="text2" presStyleLbl="fgAcc2" presStyleIdx="4" presStyleCnt="5">
        <dgm:presLayoutVars>
          <dgm:chPref val="3"/>
        </dgm:presLayoutVars>
      </dgm:prSet>
      <dgm:spPr/>
      <dgm:t>
        <a:bodyPr/>
        <a:lstStyle/>
        <a:p>
          <a:endParaRPr lang="zh-CN" altLang="en-US"/>
        </a:p>
      </dgm:t>
    </dgm:pt>
    <dgm:pt modelId="{F8DDD478-B86F-474D-8D58-2FFCEAA37F80}" type="pres">
      <dgm:prSet presAssocID="{D6D72EC6-91E5-41C9-92D4-0C26BAA838C2}" presName="hierChild3" presStyleCnt="0"/>
      <dgm:spPr/>
    </dgm:pt>
  </dgm:ptLst>
  <dgm:cxnLst>
    <dgm:cxn modelId="{0B5E6585-33CD-469C-A7C7-8FBDE5741FCF}" srcId="{54D422F2-F17D-4D4E-80E0-8C18F67C64D0}" destId="{B32DF41B-8F31-4C07-870A-11CD9A0429C0}" srcOrd="2" destOrd="0" parTransId="{42A2902F-D992-426C-821C-A91B95BC4C18}" sibTransId="{875CFE0F-86CA-4B23-8E3C-8C86881CF3CC}"/>
    <dgm:cxn modelId="{A663B71B-0578-45A5-B1E7-C52475A4EB98}" type="presOf" srcId="{54D422F2-F17D-4D4E-80E0-8C18F67C64D0}" destId="{46E6E380-FAB9-4EF4-866B-C1A662E1818F}" srcOrd="0" destOrd="0" presId="urn:microsoft.com/office/officeart/2005/8/layout/hierarchy1"/>
    <dgm:cxn modelId="{27068875-2BEF-47A8-94AC-FB5A2222B308}" type="presOf" srcId="{42A2902F-D992-426C-821C-A91B95BC4C18}" destId="{FF2F606B-53C2-44CA-B843-98A4ECEC3D80}" srcOrd="0" destOrd="0" presId="urn:microsoft.com/office/officeart/2005/8/layout/hierarchy1"/>
    <dgm:cxn modelId="{6E6A5FA3-C4A8-4B4E-87B4-FBFE60964BBE}" type="presOf" srcId="{6470F6BC-00F7-4DA6-93A8-F97A9899CD78}" destId="{3A1C5B4D-D550-4959-B0F7-32B5BC73B5C7}" srcOrd="0" destOrd="0" presId="urn:microsoft.com/office/officeart/2005/8/layout/hierarchy1"/>
    <dgm:cxn modelId="{BAC90E13-F48A-48CF-A420-071C5D07A534}" srcId="{54D422F2-F17D-4D4E-80E0-8C18F67C64D0}" destId="{6470F6BC-00F7-4DA6-93A8-F97A9899CD78}" srcOrd="1" destOrd="0" parTransId="{4F06052B-CDAA-415D-991E-B7976BF92601}" sibTransId="{FD10F52E-B507-465D-BA7D-5459A098F4F1}"/>
    <dgm:cxn modelId="{671C8065-B905-49CB-9A3F-F9361923BF7B}" srcId="{AF681F9E-C3C3-466C-B322-5B6C411F1487}" destId="{54D422F2-F17D-4D4E-80E0-8C18F67C64D0}" srcOrd="0" destOrd="0" parTransId="{242E6669-9458-417B-8CE8-F213C9BE8E8F}" sibTransId="{D039EE51-F099-4BC0-8C91-621442C87746}"/>
    <dgm:cxn modelId="{562169D9-23D5-43E0-AEA0-C7823C851167}" type="presOf" srcId="{4F06052B-CDAA-415D-991E-B7976BF92601}" destId="{3338A08B-D034-4D35-A565-C3CA1DB54B0F}" srcOrd="0" destOrd="0" presId="urn:microsoft.com/office/officeart/2005/8/layout/hierarchy1"/>
    <dgm:cxn modelId="{1F668740-5AE1-4954-BCE7-4E215335BCF3}" type="presOf" srcId="{00E659BE-968E-48BA-A987-3BA81F7E2110}" destId="{66075574-1233-4B9E-87CB-E8D573F906DD}" srcOrd="0" destOrd="0" presId="urn:microsoft.com/office/officeart/2005/8/layout/hierarchy1"/>
    <dgm:cxn modelId="{02BE2E49-8BC8-438F-BA9B-C37D817B7CF6}" srcId="{54D422F2-F17D-4D4E-80E0-8C18F67C64D0}" destId="{59488975-C35F-4A56-8D57-D65A00052A05}" srcOrd="0" destOrd="0" parTransId="{260A6818-D90B-4B1A-9901-B293B8F9007F}" sibTransId="{079726A9-4578-4641-BDDB-5E2939F9BDCD}"/>
    <dgm:cxn modelId="{81487C04-C575-49A6-902B-140466AB0C1B}" srcId="{54D422F2-F17D-4D4E-80E0-8C18F67C64D0}" destId="{FB68B7A5-5CBB-49C8-B3BA-60A574EFCADB}" srcOrd="3" destOrd="0" parTransId="{00E659BE-968E-48BA-A987-3BA81F7E2110}" sibTransId="{AACA2ADD-C13C-4E67-AF5A-DD74F65BFA8F}"/>
    <dgm:cxn modelId="{936E1436-355E-45B7-94C9-A09E92767737}" srcId="{54D422F2-F17D-4D4E-80E0-8C18F67C64D0}" destId="{D6D72EC6-91E5-41C9-92D4-0C26BAA838C2}" srcOrd="4" destOrd="0" parTransId="{DE24D44C-CBED-4534-BF57-6F972C3C130E}" sibTransId="{AFB798E2-4F07-482E-AF24-DC3C2CE65CC6}"/>
    <dgm:cxn modelId="{0ED23AE3-6F75-4FC6-9795-7A21DF2B7615}" type="presOf" srcId="{D6D72EC6-91E5-41C9-92D4-0C26BAA838C2}" destId="{F48D5708-FD4C-42C9-8CBE-52D60EDA98D6}" srcOrd="0" destOrd="0" presId="urn:microsoft.com/office/officeart/2005/8/layout/hierarchy1"/>
    <dgm:cxn modelId="{C772A7E0-A07F-4BD3-9597-939BEBDB02CE}" type="presOf" srcId="{B32DF41B-8F31-4C07-870A-11CD9A0429C0}" destId="{FCE0963C-B32B-4DA2-AC0C-8EFF3FFCFC9E}" srcOrd="0" destOrd="0" presId="urn:microsoft.com/office/officeart/2005/8/layout/hierarchy1"/>
    <dgm:cxn modelId="{86AF8E3A-5C81-4E75-9CBD-003F2284FA8E}" type="presOf" srcId="{260A6818-D90B-4B1A-9901-B293B8F9007F}" destId="{34C1C56C-3033-48A6-9371-A839986D10FC}" srcOrd="0" destOrd="0" presId="urn:microsoft.com/office/officeart/2005/8/layout/hierarchy1"/>
    <dgm:cxn modelId="{99C8EBCF-BAFC-4B63-A3D8-F6DF81932341}" type="presOf" srcId="{DE24D44C-CBED-4534-BF57-6F972C3C130E}" destId="{094D701F-D945-4485-BB2A-CE040B57FD84}" srcOrd="0" destOrd="0" presId="urn:microsoft.com/office/officeart/2005/8/layout/hierarchy1"/>
    <dgm:cxn modelId="{06E4942E-2AAD-4F22-9A18-5721227B1A6F}" type="presOf" srcId="{AF681F9E-C3C3-466C-B322-5B6C411F1487}" destId="{A385B7F1-B3C5-4B55-9DFF-F4B82890C0A8}" srcOrd="0" destOrd="0" presId="urn:microsoft.com/office/officeart/2005/8/layout/hierarchy1"/>
    <dgm:cxn modelId="{F996C807-0AAD-420E-AD8F-54C1921C6B77}" type="presOf" srcId="{59488975-C35F-4A56-8D57-D65A00052A05}" destId="{3B4359FF-E5B6-487A-8858-CA6F184D974C}" srcOrd="0" destOrd="0" presId="urn:microsoft.com/office/officeart/2005/8/layout/hierarchy1"/>
    <dgm:cxn modelId="{1C476D4E-EF99-4FA0-8063-0B7C9B78924D}" type="presOf" srcId="{FB68B7A5-5CBB-49C8-B3BA-60A574EFCADB}" destId="{0DF74499-1465-4FD7-8AC5-2855BBF9EC7F}" srcOrd="0" destOrd="0" presId="urn:microsoft.com/office/officeart/2005/8/layout/hierarchy1"/>
    <dgm:cxn modelId="{494CC0B6-B416-4E22-A4F5-FD07E6E6D613}" type="presParOf" srcId="{A385B7F1-B3C5-4B55-9DFF-F4B82890C0A8}" destId="{62944D7A-9AD4-4E9A-A6A5-9E71BD5CF091}" srcOrd="0" destOrd="0" presId="urn:microsoft.com/office/officeart/2005/8/layout/hierarchy1"/>
    <dgm:cxn modelId="{C3500E93-6CEB-452B-9681-ACBBEABD17D1}" type="presParOf" srcId="{62944D7A-9AD4-4E9A-A6A5-9E71BD5CF091}" destId="{9B74E6EB-CE47-4FFD-AE37-D716C6777DD7}" srcOrd="0" destOrd="0" presId="urn:microsoft.com/office/officeart/2005/8/layout/hierarchy1"/>
    <dgm:cxn modelId="{E98AF00B-A6D9-45DF-89CC-E525DF156B26}" type="presParOf" srcId="{9B74E6EB-CE47-4FFD-AE37-D716C6777DD7}" destId="{EDD0FD23-6720-4EDC-A3D9-A1BABA175F4D}" srcOrd="0" destOrd="0" presId="urn:microsoft.com/office/officeart/2005/8/layout/hierarchy1"/>
    <dgm:cxn modelId="{0C7A32B1-F2C9-4BDC-8F01-64DAED02F0A5}" type="presParOf" srcId="{9B74E6EB-CE47-4FFD-AE37-D716C6777DD7}" destId="{46E6E380-FAB9-4EF4-866B-C1A662E1818F}" srcOrd="1" destOrd="0" presId="urn:microsoft.com/office/officeart/2005/8/layout/hierarchy1"/>
    <dgm:cxn modelId="{6423074D-056B-4878-BA5D-8A9497484D53}" type="presParOf" srcId="{62944D7A-9AD4-4E9A-A6A5-9E71BD5CF091}" destId="{4A308BB9-1E9D-471A-918F-F2D8254BDA8B}" srcOrd="1" destOrd="0" presId="urn:microsoft.com/office/officeart/2005/8/layout/hierarchy1"/>
    <dgm:cxn modelId="{0074BDE5-99A2-432B-8F20-5C11E20398B9}" type="presParOf" srcId="{4A308BB9-1E9D-471A-918F-F2D8254BDA8B}" destId="{34C1C56C-3033-48A6-9371-A839986D10FC}" srcOrd="0" destOrd="0" presId="urn:microsoft.com/office/officeart/2005/8/layout/hierarchy1"/>
    <dgm:cxn modelId="{6CCE7337-5056-49E8-B851-B5C565B178BC}" type="presParOf" srcId="{4A308BB9-1E9D-471A-918F-F2D8254BDA8B}" destId="{30232340-2A19-4281-B331-FA21355E7E2E}" srcOrd="1" destOrd="0" presId="urn:microsoft.com/office/officeart/2005/8/layout/hierarchy1"/>
    <dgm:cxn modelId="{C4CFE0DD-4EF5-457A-A02A-6498D0444229}" type="presParOf" srcId="{30232340-2A19-4281-B331-FA21355E7E2E}" destId="{712816EF-1D21-4F09-84CB-D3EE6F0B9099}" srcOrd="0" destOrd="0" presId="urn:microsoft.com/office/officeart/2005/8/layout/hierarchy1"/>
    <dgm:cxn modelId="{0CB28C0C-B177-4E45-865B-96EBBE65A476}" type="presParOf" srcId="{712816EF-1D21-4F09-84CB-D3EE6F0B9099}" destId="{93FE9A8A-5886-4468-9679-FDEB306A0A2E}" srcOrd="0" destOrd="0" presId="urn:microsoft.com/office/officeart/2005/8/layout/hierarchy1"/>
    <dgm:cxn modelId="{D0E01980-E855-4814-B722-AB9766309604}" type="presParOf" srcId="{712816EF-1D21-4F09-84CB-D3EE6F0B9099}" destId="{3B4359FF-E5B6-487A-8858-CA6F184D974C}" srcOrd="1" destOrd="0" presId="urn:microsoft.com/office/officeart/2005/8/layout/hierarchy1"/>
    <dgm:cxn modelId="{5554B6C1-7F61-4644-B51D-075A9CFEE171}" type="presParOf" srcId="{30232340-2A19-4281-B331-FA21355E7E2E}" destId="{C936F337-503B-49BB-86D0-539F2F11CD3A}" srcOrd="1" destOrd="0" presId="urn:microsoft.com/office/officeart/2005/8/layout/hierarchy1"/>
    <dgm:cxn modelId="{82BB1B03-2634-4D30-BF37-865794689EDE}" type="presParOf" srcId="{4A308BB9-1E9D-471A-918F-F2D8254BDA8B}" destId="{3338A08B-D034-4D35-A565-C3CA1DB54B0F}" srcOrd="2" destOrd="0" presId="urn:microsoft.com/office/officeart/2005/8/layout/hierarchy1"/>
    <dgm:cxn modelId="{00C6C47E-A4E4-4DB1-9AA6-8AD91F1F2098}" type="presParOf" srcId="{4A308BB9-1E9D-471A-918F-F2D8254BDA8B}" destId="{A8CEA8B2-28D6-4FCF-990C-0B449C8E8C19}" srcOrd="3" destOrd="0" presId="urn:microsoft.com/office/officeart/2005/8/layout/hierarchy1"/>
    <dgm:cxn modelId="{9FDC901F-5D95-4128-82D9-EAEF2550D650}" type="presParOf" srcId="{A8CEA8B2-28D6-4FCF-990C-0B449C8E8C19}" destId="{C2071BCF-45CE-47E4-B0F6-88D1029F2FC6}" srcOrd="0" destOrd="0" presId="urn:microsoft.com/office/officeart/2005/8/layout/hierarchy1"/>
    <dgm:cxn modelId="{20541A56-0D85-4F5A-8BC1-5C0B390F5B89}" type="presParOf" srcId="{C2071BCF-45CE-47E4-B0F6-88D1029F2FC6}" destId="{81AA59A7-E9DD-437D-AC87-9A5B54ADBF24}" srcOrd="0" destOrd="0" presId="urn:microsoft.com/office/officeart/2005/8/layout/hierarchy1"/>
    <dgm:cxn modelId="{7D3F0714-EBD0-46AD-B350-E2A865055FD7}" type="presParOf" srcId="{C2071BCF-45CE-47E4-B0F6-88D1029F2FC6}" destId="{3A1C5B4D-D550-4959-B0F7-32B5BC73B5C7}" srcOrd="1" destOrd="0" presId="urn:microsoft.com/office/officeart/2005/8/layout/hierarchy1"/>
    <dgm:cxn modelId="{7B242CD7-A3A3-4639-A494-E3ABCF5FCC55}" type="presParOf" srcId="{A8CEA8B2-28D6-4FCF-990C-0B449C8E8C19}" destId="{C45B5C83-C44E-4346-9548-729671792602}" srcOrd="1" destOrd="0" presId="urn:microsoft.com/office/officeart/2005/8/layout/hierarchy1"/>
    <dgm:cxn modelId="{39B3C9C4-81A4-4371-90C2-5BF564B0C827}" type="presParOf" srcId="{4A308BB9-1E9D-471A-918F-F2D8254BDA8B}" destId="{FF2F606B-53C2-44CA-B843-98A4ECEC3D80}" srcOrd="4" destOrd="0" presId="urn:microsoft.com/office/officeart/2005/8/layout/hierarchy1"/>
    <dgm:cxn modelId="{7F10B1CC-BBCE-44C9-971C-DEB537885D0C}" type="presParOf" srcId="{4A308BB9-1E9D-471A-918F-F2D8254BDA8B}" destId="{7A8098B8-B4B0-4AA5-A00A-505FFDD55CC8}" srcOrd="5" destOrd="0" presId="urn:microsoft.com/office/officeart/2005/8/layout/hierarchy1"/>
    <dgm:cxn modelId="{E39A1486-2461-4211-B899-4477BEF01968}" type="presParOf" srcId="{7A8098B8-B4B0-4AA5-A00A-505FFDD55CC8}" destId="{D88A1F72-EF7D-47C5-AA37-0F6D5B58D342}" srcOrd="0" destOrd="0" presId="urn:microsoft.com/office/officeart/2005/8/layout/hierarchy1"/>
    <dgm:cxn modelId="{96856CE6-35B5-4E83-905B-062AB035A1F0}" type="presParOf" srcId="{D88A1F72-EF7D-47C5-AA37-0F6D5B58D342}" destId="{F472A550-9527-4A04-A7E3-6CB4F6E36BD5}" srcOrd="0" destOrd="0" presId="urn:microsoft.com/office/officeart/2005/8/layout/hierarchy1"/>
    <dgm:cxn modelId="{B7258E71-F76F-406F-86A5-22C1F9B990E5}" type="presParOf" srcId="{D88A1F72-EF7D-47C5-AA37-0F6D5B58D342}" destId="{FCE0963C-B32B-4DA2-AC0C-8EFF3FFCFC9E}" srcOrd="1" destOrd="0" presId="urn:microsoft.com/office/officeart/2005/8/layout/hierarchy1"/>
    <dgm:cxn modelId="{50E2B7EC-1FA9-486A-8395-2F7C67B7C470}" type="presParOf" srcId="{7A8098B8-B4B0-4AA5-A00A-505FFDD55CC8}" destId="{232F24BB-1F56-4A32-837A-0EC31B3CCAE4}" srcOrd="1" destOrd="0" presId="urn:microsoft.com/office/officeart/2005/8/layout/hierarchy1"/>
    <dgm:cxn modelId="{564D1AC1-971A-46C2-8FD7-BBECE9786D91}" type="presParOf" srcId="{4A308BB9-1E9D-471A-918F-F2D8254BDA8B}" destId="{66075574-1233-4B9E-87CB-E8D573F906DD}" srcOrd="6" destOrd="0" presId="urn:microsoft.com/office/officeart/2005/8/layout/hierarchy1"/>
    <dgm:cxn modelId="{90C1DD33-2619-4C06-94EB-7B9155A5CE3C}" type="presParOf" srcId="{4A308BB9-1E9D-471A-918F-F2D8254BDA8B}" destId="{FA9F2334-E0D3-4301-A0E5-ADB48FB77FF3}" srcOrd="7" destOrd="0" presId="urn:microsoft.com/office/officeart/2005/8/layout/hierarchy1"/>
    <dgm:cxn modelId="{9F091B44-5BBF-443C-99E4-779A70C9AC21}" type="presParOf" srcId="{FA9F2334-E0D3-4301-A0E5-ADB48FB77FF3}" destId="{596A62FD-96EC-4622-B36E-7FC74A222FCB}" srcOrd="0" destOrd="0" presId="urn:microsoft.com/office/officeart/2005/8/layout/hierarchy1"/>
    <dgm:cxn modelId="{7525ABD2-5700-4BC0-92D3-52F520B72174}" type="presParOf" srcId="{596A62FD-96EC-4622-B36E-7FC74A222FCB}" destId="{253D6062-0571-41FB-A25C-54B136C286CD}" srcOrd="0" destOrd="0" presId="urn:microsoft.com/office/officeart/2005/8/layout/hierarchy1"/>
    <dgm:cxn modelId="{B824A132-A772-4F8E-9248-431E1DE4342A}" type="presParOf" srcId="{596A62FD-96EC-4622-B36E-7FC74A222FCB}" destId="{0DF74499-1465-4FD7-8AC5-2855BBF9EC7F}" srcOrd="1" destOrd="0" presId="urn:microsoft.com/office/officeart/2005/8/layout/hierarchy1"/>
    <dgm:cxn modelId="{16623A88-DD3B-4576-86CE-CCA163E7244F}" type="presParOf" srcId="{FA9F2334-E0D3-4301-A0E5-ADB48FB77FF3}" destId="{41A3D0C4-AB73-4EDD-91BF-61AA0FEC59FC}" srcOrd="1" destOrd="0" presId="urn:microsoft.com/office/officeart/2005/8/layout/hierarchy1"/>
    <dgm:cxn modelId="{4BF6643A-9116-457B-86AB-ABBB7D8B7A15}" type="presParOf" srcId="{4A308BB9-1E9D-471A-918F-F2D8254BDA8B}" destId="{094D701F-D945-4485-BB2A-CE040B57FD84}" srcOrd="8" destOrd="0" presId="urn:microsoft.com/office/officeart/2005/8/layout/hierarchy1"/>
    <dgm:cxn modelId="{47332113-636C-4AB2-AC3F-9638893E57E2}" type="presParOf" srcId="{4A308BB9-1E9D-471A-918F-F2D8254BDA8B}" destId="{1AF084A7-1961-4ABF-B807-AB4F6787ECB0}" srcOrd="9" destOrd="0" presId="urn:microsoft.com/office/officeart/2005/8/layout/hierarchy1"/>
    <dgm:cxn modelId="{34D146DD-F43F-482D-9941-88134430B37C}" type="presParOf" srcId="{1AF084A7-1961-4ABF-B807-AB4F6787ECB0}" destId="{3554DF36-4D96-4619-895F-9D8E1E65B3C8}" srcOrd="0" destOrd="0" presId="urn:microsoft.com/office/officeart/2005/8/layout/hierarchy1"/>
    <dgm:cxn modelId="{C732D234-C5F2-4CE6-85C2-C7E5E7E979B4}" type="presParOf" srcId="{3554DF36-4D96-4619-895F-9D8E1E65B3C8}" destId="{5C479C67-1BA2-4ED1-BC32-7D9B283CEB17}" srcOrd="0" destOrd="0" presId="urn:microsoft.com/office/officeart/2005/8/layout/hierarchy1"/>
    <dgm:cxn modelId="{2C7CB2DD-6046-42D0-8F1D-80F71C9CC8C7}" type="presParOf" srcId="{3554DF36-4D96-4619-895F-9D8E1E65B3C8}" destId="{F48D5708-FD4C-42C9-8CBE-52D60EDA98D6}" srcOrd="1" destOrd="0" presId="urn:microsoft.com/office/officeart/2005/8/layout/hierarchy1"/>
    <dgm:cxn modelId="{C34E1AA9-7BB5-443A-B5BD-7F4A400FE1B5}" type="presParOf" srcId="{1AF084A7-1961-4ABF-B807-AB4F6787ECB0}" destId="{F8DDD478-B86F-474D-8D58-2FFCEAA37F80}" srcOrd="1" destOrd="0" presId="urn:microsoft.com/office/officeart/2005/8/layout/hierarchy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6D72EC6-91E5-41C9-92D4-0C26BAA838C2}">
      <dgm:prSet/>
      <dgm:spPr/>
      <dgm:t>
        <a:bodyPr/>
        <a:lstStyle/>
        <a:p>
          <a:r>
            <a:rPr lang="zh-CN" altLang="en-US" dirty="0" smtClean="0"/>
            <a:t>异常检测</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B68FDE51-83CF-4646-AF2D-80D07ECF0DAB}" type="pres">
      <dgm:prSet presAssocID="{D6D72EC6-91E5-41C9-92D4-0C26BAA838C2}" presName="hierRoot1" presStyleCnt="0"/>
      <dgm:spPr/>
    </dgm:pt>
    <dgm:pt modelId="{7D1083B9-0A25-4789-BEA7-3D93890A9710}" type="pres">
      <dgm:prSet presAssocID="{D6D72EC6-91E5-41C9-92D4-0C26BAA838C2}" presName="composite" presStyleCnt="0"/>
      <dgm:spPr/>
    </dgm:pt>
    <dgm:pt modelId="{A6C56F0D-C5D7-4C89-A09F-F44A45A7ADC3}" type="pres">
      <dgm:prSet presAssocID="{D6D72EC6-91E5-41C9-92D4-0C26BAA838C2}" presName="background" presStyleLbl="node0" presStyleIdx="0" presStyleCnt="1"/>
      <dgm:spPr/>
    </dgm:pt>
    <dgm:pt modelId="{36CCC26C-17C2-4EC6-B8CC-63A002F9E0F8}" type="pres">
      <dgm:prSet presAssocID="{D6D72EC6-91E5-41C9-92D4-0C26BAA838C2}" presName="text" presStyleLbl="fgAcc0" presStyleIdx="0" presStyleCnt="1" custLinFactY="-58563" custLinFactNeighborX="-26621" custLinFactNeighborY="-100000">
        <dgm:presLayoutVars>
          <dgm:chPref val="3"/>
        </dgm:presLayoutVars>
      </dgm:prSet>
      <dgm:spPr/>
      <dgm:t>
        <a:bodyPr/>
        <a:lstStyle/>
        <a:p>
          <a:endParaRPr lang="zh-CN" altLang="en-US"/>
        </a:p>
      </dgm:t>
    </dgm:pt>
    <dgm:pt modelId="{8B69F82C-9620-441C-BB4B-85DD122DFD4D}" type="pres">
      <dgm:prSet presAssocID="{D6D72EC6-91E5-41C9-92D4-0C26BAA838C2}" presName="hierChild2" presStyleCnt="0"/>
      <dgm:spPr/>
    </dgm:pt>
  </dgm:ptLst>
  <dgm:cxnLst>
    <dgm:cxn modelId="{06E4942E-2AAD-4F22-9A18-5721227B1A6F}" type="presOf" srcId="{AF681F9E-C3C3-466C-B322-5B6C411F1487}" destId="{A385B7F1-B3C5-4B55-9DFF-F4B82890C0A8}" srcOrd="0" destOrd="0" presId="urn:microsoft.com/office/officeart/2005/8/layout/hierarchy1"/>
    <dgm:cxn modelId="{936E1436-355E-45B7-94C9-A09E92767737}" srcId="{AF681F9E-C3C3-466C-B322-5B6C411F1487}" destId="{D6D72EC6-91E5-41C9-92D4-0C26BAA838C2}" srcOrd="0" destOrd="0" parTransId="{DE24D44C-CBED-4534-BF57-6F972C3C130E}" sibTransId="{AFB798E2-4F07-482E-AF24-DC3C2CE65CC6}"/>
    <dgm:cxn modelId="{330AC1DC-955D-47D6-844C-A51EC7D85CA1}" type="presOf" srcId="{D6D72EC6-91E5-41C9-92D4-0C26BAA838C2}" destId="{36CCC26C-17C2-4EC6-B8CC-63A002F9E0F8}" srcOrd="0" destOrd="0" presId="urn:microsoft.com/office/officeart/2005/8/layout/hierarchy1"/>
    <dgm:cxn modelId="{C8C1C97F-708A-45E5-84D0-5123C5D1AEE8}" type="presParOf" srcId="{A385B7F1-B3C5-4B55-9DFF-F4B82890C0A8}" destId="{B68FDE51-83CF-4646-AF2D-80D07ECF0DAB}" srcOrd="0" destOrd="0" presId="urn:microsoft.com/office/officeart/2005/8/layout/hierarchy1"/>
    <dgm:cxn modelId="{BEFDDA5F-AFB6-491F-B567-075EECA3242F}" type="presParOf" srcId="{B68FDE51-83CF-4646-AF2D-80D07ECF0DAB}" destId="{7D1083B9-0A25-4789-BEA7-3D93890A9710}" srcOrd="0" destOrd="0" presId="urn:microsoft.com/office/officeart/2005/8/layout/hierarchy1"/>
    <dgm:cxn modelId="{41DDA5CB-769D-45D5-A144-9F499A56D236}" type="presParOf" srcId="{7D1083B9-0A25-4789-BEA7-3D93890A9710}" destId="{A6C56F0D-C5D7-4C89-A09F-F44A45A7ADC3}" srcOrd="0" destOrd="0" presId="urn:microsoft.com/office/officeart/2005/8/layout/hierarchy1"/>
    <dgm:cxn modelId="{593E33F7-0FBD-4527-8826-39C637D2A94F}" type="presParOf" srcId="{7D1083B9-0A25-4789-BEA7-3D93890A9710}" destId="{36CCC26C-17C2-4EC6-B8CC-63A002F9E0F8}" srcOrd="1" destOrd="0" presId="urn:microsoft.com/office/officeart/2005/8/layout/hierarchy1"/>
    <dgm:cxn modelId="{F46621F5-773B-4134-B42C-232BAEE78DDF}" type="presParOf" srcId="{B68FDE51-83CF-4646-AF2D-80D07ECF0DAB}" destId="{8B69F82C-9620-441C-BB4B-85DD122DFD4D}" srcOrd="1" destOrd="0" presId="urn:microsoft.com/office/officeart/2005/8/layout/hierarchy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681F9E-C3C3-466C-B322-5B6C411F148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zh-CN" altLang="en-US"/>
        </a:p>
      </dgm:t>
    </dgm:pt>
    <dgm:pt modelId="{D6D72EC6-91E5-41C9-92D4-0C26BAA838C2}">
      <dgm:prSet/>
      <dgm:spPr/>
      <dgm:t>
        <a:bodyPr/>
        <a:lstStyle/>
        <a:p>
          <a:r>
            <a:rPr lang="zh-CN" altLang="en-US" dirty="0" smtClean="0"/>
            <a:t>根因分析</a:t>
          </a:r>
          <a:endParaRPr lang="zh-CN" altLang="en-US" dirty="0"/>
        </a:p>
      </dgm:t>
    </dgm:pt>
    <dgm:pt modelId="{DE24D44C-CBED-4534-BF57-6F972C3C130E}" type="parTrans" cxnId="{936E1436-355E-45B7-94C9-A09E92767737}">
      <dgm:prSet/>
      <dgm:spPr/>
      <dgm:t>
        <a:bodyPr/>
        <a:lstStyle/>
        <a:p>
          <a:endParaRPr lang="zh-CN" altLang="en-US"/>
        </a:p>
      </dgm:t>
    </dgm:pt>
    <dgm:pt modelId="{AFB798E2-4F07-482E-AF24-DC3C2CE65CC6}" type="sibTrans" cxnId="{936E1436-355E-45B7-94C9-A09E92767737}">
      <dgm:prSet/>
      <dgm:spPr/>
      <dgm:t>
        <a:bodyPr/>
        <a:lstStyle/>
        <a:p>
          <a:endParaRPr lang="zh-CN" altLang="en-US"/>
        </a:p>
      </dgm:t>
    </dgm:pt>
    <dgm:pt modelId="{A385B7F1-B3C5-4B55-9DFF-F4B82890C0A8}" type="pres">
      <dgm:prSet presAssocID="{AF681F9E-C3C3-466C-B322-5B6C411F1487}" presName="hierChild1" presStyleCnt="0">
        <dgm:presLayoutVars>
          <dgm:chPref val="1"/>
          <dgm:dir/>
          <dgm:animOne val="branch"/>
          <dgm:animLvl val="lvl"/>
          <dgm:resizeHandles/>
        </dgm:presLayoutVars>
      </dgm:prSet>
      <dgm:spPr/>
      <dgm:t>
        <a:bodyPr/>
        <a:lstStyle/>
        <a:p>
          <a:endParaRPr lang="zh-CN" altLang="en-US"/>
        </a:p>
      </dgm:t>
    </dgm:pt>
    <dgm:pt modelId="{B68FDE51-83CF-4646-AF2D-80D07ECF0DAB}" type="pres">
      <dgm:prSet presAssocID="{D6D72EC6-91E5-41C9-92D4-0C26BAA838C2}" presName="hierRoot1" presStyleCnt="0"/>
      <dgm:spPr/>
    </dgm:pt>
    <dgm:pt modelId="{7D1083B9-0A25-4789-BEA7-3D93890A9710}" type="pres">
      <dgm:prSet presAssocID="{D6D72EC6-91E5-41C9-92D4-0C26BAA838C2}" presName="composite" presStyleCnt="0"/>
      <dgm:spPr/>
    </dgm:pt>
    <dgm:pt modelId="{A6C56F0D-C5D7-4C89-A09F-F44A45A7ADC3}" type="pres">
      <dgm:prSet presAssocID="{D6D72EC6-91E5-41C9-92D4-0C26BAA838C2}" presName="background" presStyleLbl="node0" presStyleIdx="0" presStyleCnt="1"/>
      <dgm:spPr/>
    </dgm:pt>
    <dgm:pt modelId="{36CCC26C-17C2-4EC6-B8CC-63A002F9E0F8}" type="pres">
      <dgm:prSet presAssocID="{D6D72EC6-91E5-41C9-92D4-0C26BAA838C2}" presName="text" presStyleLbl="fgAcc0" presStyleIdx="0" presStyleCnt="1" custLinFactY="-58563" custLinFactNeighborX="-26621" custLinFactNeighborY="-100000">
        <dgm:presLayoutVars>
          <dgm:chPref val="3"/>
        </dgm:presLayoutVars>
      </dgm:prSet>
      <dgm:spPr/>
      <dgm:t>
        <a:bodyPr/>
        <a:lstStyle/>
        <a:p>
          <a:endParaRPr lang="zh-CN" altLang="en-US"/>
        </a:p>
      </dgm:t>
    </dgm:pt>
    <dgm:pt modelId="{8B69F82C-9620-441C-BB4B-85DD122DFD4D}" type="pres">
      <dgm:prSet presAssocID="{D6D72EC6-91E5-41C9-92D4-0C26BAA838C2}" presName="hierChild2" presStyleCnt="0"/>
      <dgm:spPr/>
    </dgm:pt>
  </dgm:ptLst>
  <dgm:cxnLst>
    <dgm:cxn modelId="{06E4942E-2AAD-4F22-9A18-5721227B1A6F}" type="presOf" srcId="{AF681F9E-C3C3-466C-B322-5B6C411F1487}" destId="{A385B7F1-B3C5-4B55-9DFF-F4B82890C0A8}" srcOrd="0" destOrd="0" presId="urn:microsoft.com/office/officeart/2005/8/layout/hierarchy1"/>
    <dgm:cxn modelId="{936E1436-355E-45B7-94C9-A09E92767737}" srcId="{AF681F9E-C3C3-466C-B322-5B6C411F1487}" destId="{D6D72EC6-91E5-41C9-92D4-0C26BAA838C2}" srcOrd="0" destOrd="0" parTransId="{DE24D44C-CBED-4534-BF57-6F972C3C130E}" sibTransId="{AFB798E2-4F07-482E-AF24-DC3C2CE65CC6}"/>
    <dgm:cxn modelId="{330AC1DC-955D-47D6-844C-A51EC7D85CA1}" type="presOf" srcId="{D6D72EC6-91E5-41C9-92D4-0C26BAA838C2}" destId="{36CCC26C-17C2-4EC6-B8CC-63A002F9E0F8}" srcOrd="0" destOrd="0" presId="urn:microsoft.com/office/officeart/2005/8/layout/hierarchy1"/>
    <dgm:cxn modelId="{C8C1C97F-708A-45E5-84D0-5123C5D1AEE8}" type="presParOf" srcId="{A385B7F1-B3C5-4B55-9DFF-F4B82890C0A8}" destId="{B68FDE51-83CF-4646-AF2D-80D07ECF0DAB}" srcOrd="0" destOrd="0" presId="urn:microsoft.com/office/officeart/2005/8/layout/hierarchy1"/>
    <dgm:cxn modelId="{BEFDDA5F-AFB6-491F-B567-075EECA3242F}" type="presParOf" srcId="{B68FDE51-83CF-4646-AF2D-80D07ECF0DAB}" destId="{7D1083B9-0A25-4789-BEA7-3D93890A9710}" srcOrd="0" destOrd="0" presId="urn:microsoft.com/office/officeart/2005/8/layout/hierarchy1"/>
    <dgm:cxn modelId="{41DDA5CB-769D-45D5-A144-9F499A56D236}" type="presParOf" srcId="{7D1083B9-0A25-4789-BEA7-3D93890A9710}" destId="{A6C56F0D-C5D7-4C89-A09F-F44A45A7ADC3}" srcOrd="0" destOrd="0" presId="urn:microsoft.com/office/officeart/2005/8/layout/hierarchy1"/>
    <dgm:cxn modelId="{593E33F7-0FBD-4527-8826-39C637D2A94F}" type="presParOf" srcId="{7D1083B9-0A25-4789-BEA7-3D93890A9710}" destId="{36CCC26C-17C2-4EC6-B8CC-63A002F9E0F8}" srcOrd="1" destOrd="0" presId="urn:microsoft.com/office/officeart/2005/8/layout/hierarchy1"/>
    <dgm:cxn modelId="{F46621F5-773B-4134-B42C-232BAEE78DDF}" type="presParOf" srcId="{B68FDE51-83CF-4646-AF2D-80D07ECF0DAB}" destId="{8B69F82C-9620-441C-BB4B-85DD122DFD4D}" srcOrd="1" destOrd="0" presId="urn:microsoft.com/office/officeart/2005/8/layout/hierarchy1"/>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D701F-D945-4485-BB2A-CE040B57FD84}">
      <dsp:nvSpPr>
        <dsp:cNvPr id="0" name=""/>
        <dsp:cNvSpPr/>
      </dsp:nvSpPr>
      <dsp:spPr>
        <a:xfrm>
          <a:off x="3621075" y="1754110"/>
          <a:ext cx="3004082" cy="357417"/>
        </a:xfrm>
        <a:custGeom>
          <a:avLst/>
          <a:gdLst/>
          <a:ahLst/>
          <a:cxnLst/>
          <a:rect l="0" t="0" r="0" b="0"/>
          <a:pathLst>
            <a:path>
              <a:moveTo>
                <a:pt x="0" y="0"/>
              </a:moveTo>
              <a:lnTo>
                <a:pt x="0" y="243569"/>
              </a:lnTo>
              <a:lnTo>
                <a:pt x="3004082" y="243569"/>
              </a:lnTo>
              <a:lnTo>
                <a:pt x="3004082"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075574-1233-4B9E-87CB-E8D573F906DD}">
      <dsp:nvSpPr>
        <dsp:cNvPr id="0" name=""/>
        <dsp:cNvSpPr/>
      </dsp:nvSpPr>
      <dsp:spPr>
        <a:xfrm>
          <a:off x="3621075" y="1754110"/>
          <a:ext cx="1502041" cy="357417"/>
        </a:xfrm>
        <a:custGeom>
          <a:avLst/>
          <a:gdLst/>
          <a:ahLst/>
          <a:cxnLst/>
          <a:rect l="0" t="0" r="0" b="0"/>
          <a:pathLst>
            <a:path>
              <a:moveTo>
                <a:pt x="0" y="0"/>
              </a:moveTo>
              <a:lnTo>
                <a:pt x="0" y="243569"/>
              </a:lnTo>
              <a:lnTo>
                <a:pt x="1502041" y="243569"/>
              </a:lnTo>
              <a:lnTo>
                <a:pt x="1502041"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2F606B-53C2-44CA-B843-98A4ECEC3D80}">
      <dsp:nvSpPr>
        <dsp:cNvPr id="0" name=""/>
        <dsp:cNvSpPr/>
      </dsp:nvSpPr>
      <dsp:spPr>
        <a:xfrm>
          <a:off x="3575355" y="1754110"/>
          <a:ext cx="91440" cy="357417"/>
        </a:xfrm>
        <a:custGeom>
          <a:avLst/>
          <a:gdLst/>
          <a:ahLst/>
          <a:cxnLst/>
          <a:rect l="0" t="0" r="0" b="0"/>
          <a:pathLst>
            <a:path>
              <a:moveTo>
                <a:pt x="45720" y="0"/>
              </a:moveTo>
              <a:lnTo>
                <a:pt x="4572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38A08B-D034-4D35-A565-C3CA1DB54B0F}">
      <dsp:nvSpPr>
        <dsp:cNvPr id="0" name=""/>
        <dsp:cNvSpPr/>
      </dsp:nvSpPr>
      <dsp:spPr>
        <a:xfrm>
          <a:off x="2119034" y="1754110"/>
          <a:ext cx="1502041" cy="357417"/>
        </a:xfrm>
        <a:custGeom>
          <a:avLst/>
          <a:gdLst/>
          <a:ahLst/>
          <a:cxnLst/>
          <a:rect l="0" t="0" r="0" b="0"/>
          <a:pathLst>
            <a:path>
              <a:moveTo>
                <a:pt x="1502041" y="0"/>
              </a:moveTo>
              <a:lnTo>
                <a:pt x="1502041"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C1C56C-3033-48A6-9371-A839986D10FC}">
      <dsp:nvSpPr>
        <dsp:cNvPr id="0" name=""/>
        <dsp:cNvSpPr/>
      </dsp:nvSpPr>
      <dsp:spPr>
        <a:xfrm>
          <a:off x="616993" y="1754110"/>
          <a:ext cx="3004082" cy="357417"/>
        </a:xfrm>
        <a:custGeom>
          <a:avLst/>
          <a:gdLst/>
          <a:ahLst/>
          <a:cxnLst/>
          <a:rect l="0" t="0" r="0" b="0"/>
          <a:pathLst>
            <a:path>
              <a:moveTo>
                <a:pt x="3004082" y="0"/>
              </a:moveTo>
              <a:lnTo>
                <a:pt x="3004082"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0FD23-6720-4EDC-A3D9-A1BABA175F4D}">
      <dsp:nvSpPr>
        <dsp:cNvPr id="0" name=""/>
        <dsp:cNvSpPr/>
      </dsp:nvSpPr>
      <dsp:spPr>
        <a:xfrm>
          <a:off x="3006604" y="973731"/>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6E380-FAB9-4EF4-866B-C1A662E1818F}">
      <dsp:nvSpPr>
        <dsp:cNvPr id="0" name=""/>
        <dsp:cNvSpPr/>
      </dsp:nvSpPr>
      <dsp:spPr>
        <a:xfrm>
          <a:off x="3143153" y="1103453"/>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故障传播树构建</a:t>
          </a:r>
          <a:endParaRPr lang="zh-CN" altLang="en-US" sz="1500" kern="1200" dirty="0"/>
        </a:p>
      </dsp:txBody>
      <dsp:txXfrm>
        <a:off x="3166009" y="1126309"/>
        <a:ext cx="1183230" cy="734666"/>
      </dsp:txXfrm>
    </dsp:sp>
    <dsp:sp modelId="{93FE9A8A-5886-4468-9679-FDEB306A0A2E}">
      <dsp:nvSpPr>
        <dsp:cNvPr id="0" name=""/>
        <dsp:cNvSpPr/>
      </dsp:nvSpPr>
      <dsp:spPr>
        <a:xfrm>
          <a:off x="2522"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359FF-E5B6-487A-8858-CA6F184D974C}">
      <dsp:nvSpPr>
        <dsp:cNvPr id="0" name=""/>
        <dsp:cNvSpPr/>
      </dsp:nvSpPr>
      <dsp:spPr>
        <a:xfrm>
          <a:off x="139071"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异常事件关联挖掘</a:t>
          </a:r>
          <a:endParaRPr lang="zh-CN" altLang="en-US" sz="1500" kern="1200" dirty="0"/>
        </a:p>
      </dsp:txBody>
      <dsp:txXfrm>
        <a:off x="161927" y="2264105"/>
        <a:ext cx="1183230" cy="734666"/>
      </dsp:txXfrm>
    </dsp:sp>
    <dsp:sp modelId="{81AA59A7-E9DD-437D-AC87-9A5B54ADBF24}">
      <dsp:nvSpPr>
        <dsp:cNvPr id="0" name=""/>
        <dsp:cNvSpPr/>
      </dsp:nvSpPr>
      <dsp:spPr>
        <a:xfrm>
          <a:off x="1504563"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C5B4D-D550-4959-B0F7-32B5BC73B5C7}">
      <dsp:nvSpPr>
        <dsp:cNvPr id="0" name=""/>
        <dsp:cNvSpPr/>
      </dsp:nvSpPr>
      <dsp:spPr>
        <a:xfrm>
          <a:off x="1641112"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事件</a:t>
          </a:r>
          <a:r>
            <a:rPr lang="en-US" altLang="zh-CN" sz="1500" kern="1200" dirty="0" smtClean="0"/>
            <a:t>-KPI</a:t>
          </a:r>
          <a:r>
            <a:rPr lang="zh-CN" altLang="en-US" sz="1500" kern="1200" dirty="0" smtClean="0"/>
            <a:t>关联挖掘</a:t>
          </a:r>
          <a:endParaRPr lang="zh-CN" altLang="en-US" sz="1500" kern="1200" dirty="0"/>
        </a:p>
      </dsp:txBody>
      <dsp:txXfrm>
        <a:off x="1663968" y="2264105"/>
        <a:ext cx="1183230" cy="734666"/>
      </dsp:txXfrm>
    </dsp:sp>
    <dsp:sp modelId="{F472A550-9527-4A04-A7E3-6CB4F6E36BD5}">
      <dsp:nvSpPr>
        <dsp:cNvPr id="0" name=""/>
        <dsp:cNvSpPr/>
      </dsp:nvSpPr>
      <dsp:spPr>
        <a:xfrm>
          <a:off x="3006604"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E0963C-B32B-4DA2-AC0C-8EFF3FFCFC9E}">
      <dsp:nvSpPr>
        <dsp:cNvPr id="0" name=""/>
        <dsp:cNvSpPr/>
      </dsp:nvSpPr>
      <dsp:spPr>
        <a:xfrm>
          <a:off x="3143153"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关联分析</a:t>
          </a:r>
          <a:endParaRPr lang="zh-CN" altLang="en-US" sz="1500" kern="1200" dirty="0"/>
        </a:p>
      </dsp:txBody>
      <dsp:txXfrm>
        <a:off x="3166009" y="2264105"/>
        <a:ext cx="1183230" cy="734666"/>
      </dsp:txXfrm>
    </dsp:sp>
    <dsp:sp modelId="{253D6062-0571-41FB-A25C-54B136C286CD}">
      <dsp:nvSpPr>
        <dsp:cNvPr id="0" name=""/>
        <dsp:cNvSpPr/>
      </dsp:nvSpPr>
      <dsp:spPr>
        <a:xfrm>
          <a:off x="4508645"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74499-1465-4FD7-8AC5-2855BBF9EC7F}">
      <dsp:nvSpPr>
        <dsp:cNvPr id="0" name=""/>
        <dsp:cNvSpPr/>
      </dsp:nvSpPr>
      <dsp:spPr>
        <a:xfrm>
          <a:off x="4645194"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聚类</a:t>
          </a:r>
          <a:endParaRPr lang="zh-CN" altLang="en-US" sz="1500" kern="1200" dirty="0"/>
        </a:p>
      </dsp:txBody>
      <dsp:txXfrm>
        <a:off x="4668050" y="2264105"/>
        <a:ext cx="1183230" cy="734666"/>
      </dsp:txXfrm>
    </dsp:sp>
    <dsp:sp modelId="{5C479C67-1BA2-4ED1-BC32-7D9B283CEB17}">
      <dsp:nvSpPr>
        <dsp:cNvPr id="0" name=""/>
        <dsp:cNvSpPr/>
      </dsp:nvSpPr>
      <dsp:spPr>
        <a:xfrm>
          <a:off x="6010686"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D5708-FD4C-42C9-8CBE-52D60EDA98D6}">
      <dsp:nvSpPr>
        <dsp:cNvPr id="0" name=""/>
        <dsp:cNvSpPr/>
      </dsp:nvSpPr>
      <dsp:spPr>
        <a:xfrm>
          <a:off x="6147236"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全链路模块调用分析</a:t>
          </a:r>
          <a:endParaRPr lang="zh-CN" altLang="en-US" sz="1500" kern="1200" dirty="0"/>
        </a:p>
      </dsp:txBody>
      <dsp:txXfrm>
        <a:off x="6170092" y="2264105"/>
        <a:ext cx="1183230" cy="734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D701F-D945-4485-BB2A-CE040B57FD84}">
      <dsp:nvSpPr>
        <dsp:cNvPr id="0" name=""/>
        <dsp:cNvSpPr/>
      </dsp:nvSpPr>
      <dsp:spPr>
        <a:xfrm>
          <a:off x="3621075" y="1754110"/>
          <a:ext cx="3004082" cy="357417"/>
        </a:xfrm>
        <a:custGeom>
          <a:avLst/>
          <a:gdLst/>
          <a:ahLst/>
          <a:cxnLst/>
          <a:rect l="0" t="0" r="0" b="0"/>
          <a:pathLst>
            <a:path>
              <a:moveTo>
                <a:pt x="0" y="0"/>
              </a:moveTo>
              <a:lnTo>
                <a:pt x="0" y="243569"/>
              </a:lnTo>
              <a:lnTo>
                <a:pt x="3004082" y="243569"/>
              </a:lnTo>
              <a:lnTo>
                <a:pt x="3004082"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075574-1233-4B9E-87CB-E8D573F906DD}">
      <dsp:nvSpPr>
        <dsp:cNvPr id="0" name=""/>
        <dsp:cNvSpPr/>
      </dsp:nvSpPr>
      <dsp:spPr>
        <a:xfrm>
          <a:off x="3621075" y="1754110"/>
          <a:ext cx="1502041" cy="357417"/>
        </a:xfrm>
        <a:custGeom>
          <a:avLst/>
          <a:gdLst/>
          <a:ahLst/>
          <a:cxnLst/>
          <a:rect l="0" t="0" r="0" b="0"/>
          <a:pathLst>
            <a:path>
              <a:moveTo>
                <a:pt x="0" y="0"/>
              </a:moveTo>
              <a:lnTo>
                <a:pt x="0" y="243569"/>
              </a:lnTo>
              <a:lnTo>
                <a:pt x="1502041" y="243569"/>
              </a:lnTo>
              <a:lnTo>
                <a:pt x="1502041"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F2F606B-53C2-44CA-B843-98A4ECEC3D80}">
      <dsp:nvSpPr>
        <dsp:cNvPr id="0" name=""/>
        <dsp:cNvSpPr/>
      </dsp:nvSpPr>
      <dsp:spPr>
        <a:xfrm>
          <a:off x="3575355" y="1754110"/>
          <a:ext cx="91440" cy="357417"/>
        </a:xfrm>
        <a:custGeom>
          <a:avLst/>
          <a:gdLst/>
          <a:ahLst/>
          <a:cxnLst/>
          <a:rect l="0" t="0" r="0" b="0"/>
          <a:pathLst>
            <a:path>
              <a:moveTo>
                <a:pt x="45720" y="0"/>
              </a:moveTo>
              <a:lnTo>
                <a:pt x="4572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38A08B-D034-4D35-A565-C3CA1DB54B0F}">
      <dsp:nvSpPr>
        <dsp:cNvPr id="0" name=""/>
        <dsp:cNvSpPr/>
      </dsp:nvSpPr>
      <dsp:spPr>
        <a:xfrm>
          <a:off x="2119034" y="1754110"/>
          <a:ext cx="1502041" cy="357417"/>
        </a:xfrm>
        <a:custGeom>
          <a:avLst/>
          <a:gdLst/>
          <a:ahLst/>
          <a:cxnLst/>
          <a:rect l="0" t="0" r="0" b="0"/>
          <a:pathLst>
            <a:path>
              <a:moveTo>
                <a:pt x="1502041" y="0"/>
              </a:moveTo>
              <a:lnTo>
                <a:pt x="1502041"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C1C56C-3033-48A6-9371-A839986D10FC}">
      <dsp:nvSpPr>
        <dsp:cNvPr id="0" name=""/>
        <dsp:cNvSpPr/>
      </dsp:nvSpPr>
      <dsp:spPr>
        <a:xfrm>
          <a:off x="616993" y="1754110"/>
          <a:ext cx="3004082" cy="357417"/>
        </a:xfrm>
        <a:custGeom>
          <a:avLst/>
          <a:gdLst/>
          <a:ahLst/>
          <a:cxnLst/>
          <a:rect l="0" t="0" r="0" b="0"/>
          <a:pathLst>
            <a:path>
              <a:moveTo>
                <a:pt x="3004082" y="0"/>
              </a:moveTo>
              <a:lnTo>
                <a:pt x="3004082" y="243569"/>
              </a:lnTo>
              <a:lnTo>
                <a:pt x="0" y="243569"/>
              </a:lnTo>
              <a:lnTo>
                <a:pt x="0" y="35741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0FD23-6720-4EDC-A3D9-A1BABA175F4D}">
      <dsp:nvSpPr>
        <dsp:cNvPr id="0" name=""/>
        <dsp:cNvSpPr/>
      </dsp:nvSpPr>
      <dsp:spPr>
        <a:xfrm>
          <a:off x="3006604" y="973731"/>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E6E380-FAB9-4EF4-866B-C1A662E1818F}">
      <dsp:nvSpPr>
        <dsp:cNvPr id="0" name=""/>
        <dsp:cNvSpPr/>
      </dsp:nvSpPr>
      <dsp:spPr>
        <a:xfrm>
          <a:off x="3143153" y="1103453"/>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故障传播树构建</a:t>
          </a:r>
          <a:endParaRPr lang="zh-CN" altLang="en-US" sz="1500" kern="1200" dirty="0"/>
        </a:p>
      </dsp:txBody>
      <dsp:txXfrm>
        <a:off x="3166009" y="1126309"/>
        <a:ext cx="1183230" cy="734666"/>
      </dsp:txXfrm>
    </dsp:sp>
    <dsp:sp modelId="{93FE9A8A-5886-4468-9679-FDEB306A0A2E}">
      <dsp:nvSpPr>
        <dsp:cNvPr id="0" name=""/>
        <dsp:cNvSpPr/>
      </dsp:nvSpPr>
      <dsp:spPr>
        <a:xfrm>
          <a:off x="2522"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4359FF-E5B6-487A-8858-CA6F184D974C}">
      <dsp:nvSpPr>
        <dsp:cNvPr id="0" name=""/>
        <dsp:cNvSpPr/>
      </dsp:nvSpPr>
      <dsp:spPr>
        <a:xfrm>
          <a:off x="139071"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异常事件关联挖掘</a:t>
          </a:r>
          <a:endParaRPr lang="zh-CN" altLang="en-US" sz="1500" kern="1200" dirty="0"/>
        </a:p>
      </dsp:txBody>
      <dsp:txXfrm>
        <a:off x="161927" y="2264105"/>
        <a:ext cx="1183230" cy="734666"/>
      </dsp:txXfrm>
    </dsp:sp>
    <dsp:sp modelId="{81AA59A7-E9DD-437D-AC87-9A5B54ADBF24}">
      <dsp:nvSpPr>
        <dsp:cNvPr id="0" name=""/>
        <dsp:cNvSpPr/>
      </dsp:nvSpPr>
      <dsp:spPr>
        <a:xfrm>
          <a:off x="1504563"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1C5B4D-D550-4959-B0F7-32B5BC73B5C7}">
      <dsp:nvSpPr>
        <dsp:cNvPr id="0" name=""/>
        <dsp:cNvSpPr/>
      </dsp:nvSpPr>
      <dsp:spPr>
        <a:xfrm>
          <a:off x="1641112"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事件</a:t>
          </a:r>
          <a:r>
            <a:rPr lang="en-US" altLang="zh-CN" sz="1500" kern="1200" dirty="0" smtClean="0"/>
            <a:t>-KPI</a:t>
          </a:r>
          <a:r>
            <a:rPr lang="zh-CN" altLang="en-US" sz="1500" kern="1200" dirty="0" smtClean="0"/>
            <a:t>关联挖掘</a:t>
          </a:r>
          <a:endParaRPr lang="zh-CN" altLang="en-US" sz="1500" kern="1200" dirty="0"/>
        </a:p>
      </dsp:txBody>
      <dsp:txXfrm>
        <a:off x="1663968" y="2264105"/>
        <a:ext cx="1183230" cy="734666"/>
      </dsp:txXfrm>
    </dsp:sp>
    <dsp:sp modelId="{F472A550-9527-4A04-A7E3-6CB4F6E36BD5}">
      <dsp:nvSpPr>
        <dsp:cNvPr id="0" name=""/>
        <dsp:cNvSpPr/>
      </dsp:nvSpPr>
      <dsp:spPr>
        <a:xfrm>
          <a:off x="3006604"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E0963C-B32B-4DA2-AC0C-8EFF3FFCFC9E}">
      <dsp:nvSpPr>
        <dsp:cNvPr id="0" name=""/>
        <dsp:cNvSpPr/>
      </dsp:nvSpPr>
      <dsp:spPr>
        <a:xfrm>
          <a:off x="3143153"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关联分析</a:t>
          </a:r>
          <a:endParaRPr lang="zh-CN" altLang="en-US" sz="1500" kern="1200" dirty="0"/>
        </a:p>
      </dsp:txBody>
      <dsp:txXfrm>
        <a:off x="3166009" y="2264105"/>
        <a:ext cx="1183230" cy="734666"/>
      </dsp:txXfrm>
    </dsp:sp>
    <dsp:sp modelId="{253D6062-0571-41FB-A25C-54B136C286CD}">
      <dsp:nvSpPr>
        <dsp:cNvPr id="0" name=""/>
        <dsp:cNvSpPr/>
      </dsp:nvSpPr>
      <dsp:spPr>
        <a:xfrm>
          <a:off x="4508645"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F74499-1465-4FD7-8AC5-2855BBF9EC7F}">
      <dsp:nvSpPr>
        <dsp:cNvPr id="0" name=""/>
        <dsp:cNvSpPr/>
      </dsp:nvSpPr>
      <dsp:spPr>
        <a:xfrm>
          <a:off x="4645194"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altLang="zh-CN" sz="1500" kern="1200" dirty="0" smtClean="0"/>
            <a:t>KPI</a:t>
          </a:r>
          <a:r>
            <a:rPr lang="zh-CN" altLang="en-US" sz="1500" kern="1200" dirty="0" smtClean="0"/>
            <a:t>聚类</a:t>
          </a:r>
          <a:endParaRPr lang="zh-CN" altLang="en-US" sz="1500" kern="1200" dirty="0"/>
        </a:p>
      </dsp:txBody>
      <dsp:txXfrm>
        <a:off x="4668050" y="2264105"/>
        <a:ext cx="1183230" cy="734666"/>
      </dsp:txXfrm>
    </dsp:sp>
    <dsp:sp modelId="{5C479C67-1BA2-4ED1-BC32-7D9B283CEB17}">
      <dsp:nvSpPr>
        <dsp:cNvPr id="0" name=""/>
        <dsp:cNvSpPr/>
      </dsp:nvSpPr>
      <dsp:spPr>
        <a:xfrm>
          <a:off x="6010686" y="2111527"/>
          <a:ext cx="1228942" cy="78037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8D5708-FD4C-42C9-8CBE-52D60EDA98D6}">
      <dsp:nvSpPr>
        <dsp:cNvPr id="0" name=""/>
        <dsp:cNvSpPr/>
      </dsp:nvSpPr>
      <dsp:spPr>
        <a:xfrm>
          <a:off x="6147236" y="2241249"/>
          <a:ext cx="1228942" cy="78037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zh-CN" altLang="en-US" sz="1500" kern="1200" dirty="0" smtClean="0"/>
            <a:t>全链路模块调用分析</a:t>
          </a:r>
          <a:endParaRPr lang="zh-CN" altLang="en-US" sz="1500" kern="1200" dirty="0"/>
        </a:p>
      </dsp:txBody>
      <dsp:txXfrm>
        <a:off x="6170092" y="2264105"/>
        <a:ext cx="1183230" cy="7346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56F0D-C5D7-4C89-A09F-F44A45A7ADC3}">
      <dsp:nvSpPr>
        <dsp:cNvPr id="0" name=""/>
        <dsp:cNvSpPr/>
      </dsp:nvSpPr>
      <dsp:spPr>
        <a:xfrm>
          <a:off x="-140358" y="-133340"/>
          <a:ext cx="1263223" cy="8021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CC26C-17C2-4EC6-B8CC-63A002F9E0F8}">
      <dsp:nvSpPr>
        <dsp:cNvPr id="0" name=""/>
        <dsp:cNvSpPr/>
      </dsp:nvSpPr>
      <dsp:spPr>
        <a:xfrm>
          <a:off x="0" y="0"/>
          <a:ext cx="1263223" cy="8021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t>异常检测</a:t>
          </a:r>
          <a:endParaRPr lang="zh-CN" altLang="en-US" sz="2000" kern="1200" dirty="0"/>
        </a:p>
      </dsp:txBody>
      <dsp:txXfrm>
        <a:off x="23494" y="23494"/>
        <a:ext cx="1216235" cy="7551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56F0D-C5D7-4C89-A09F-F44A45A7ADC3}">
      <dsp:nvSpPr>
        <dsp:cNvPr id="0" name=""/>
        <dsp:cNvSpPr/>
      </dsp:nvSpPr>
      <dsp:spPr>
        <a:xfrm>
          <a:off x="-140358" y="-133340"/>
          <a:ext cx="1263223" cy="80214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CCC26C-17C2-4EC6-B8CC-63A002F9E0F8}">
      <dsp:nvSpPr>
        <dsp:cNvPr id="0" name=""/>
        <dsp:cNvSpPr/>
      </dsp:nvSpPr>
      <dsp:spPr>
        <a:xfrm>
          <a:off x="0" y="0"/>
          <a:ext cx="1263223" cy="80214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lvl="0" algn="ctr" defTabSz="889000">
            <a:lnSpc>
              <a:spcPct val="90000"/>
            </a:lnSpc>
            <a:spcBef>
              <a:spcPct val="0"/>
            </a:spcBef>
            <a:spcAft>
              <a:spcPct val="35000"/>
            </a:spcAft>
          </a:pPr>
          <a:r>
            <a:rPr lang="zh-CN" altLang="en-US" sz="2000" kern="1200" dirty="0" smtClean="0"/>
            <a:t>根因分析</a:t>
          </a:r>
          <a:endParaRPr lang="zh-CN" altLang="en-US" sz="2000" kern="1200" dirty="0"/>
        </a:p>
      </dsp:txBody>
      <dsp:txXfrm>
        <a:off x="23494" y="23494"/>
        <a:ext cx="1216235" cy="75515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2018/1/19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a:t>
            </a:fld>
            <a:endParaRPr lang="zh-CN" altLang="en-US"/>
          </a:p>
        </p:txBody>
      </p:sp>
    </p:spTree>
    <p:extLst>
      <p:ext uri="{BB962C8B-B14F-4D97-AF65-F5344CB8AC3E}">
        <p14:creationId xmlns:p14="http://schemas.microsoft.com/office/powerpoint/2010/main" val="3767944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代维人员的数量？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5</a:t>
            </a:fld>
            <a:endParaRPr lang="zh-CN" altLang="en-US"/>
          </a:p>
        </p:txBody>
      </p:sp>
    </p:spTree>
    <p:extLst>
      <p:ext uri="{BB962C8B-B14F-4D97-AF65-F5344CB8AC3E}">
        <p14:creationId xmlns:p14="http://schemas.microsoft.com/office/powerpoint/2010/main" val="40683813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Telnet</a:t>
            </a:r>
            <a:r>
              <a:rPr lang="zh-CN" altLang="en-US" dirty="0" smtClean="0"/>
              <a:t>指令具有专业性</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6</a:t>
            </a:fld>
            <a:endParaRPr lang="zh-CN" altLang="en-US"/>
          </a:p>
        </p:txBody>
      </p:sp>
    </p:spTree>
    <p:extLst>
      <p:ext uri="{BB962C8B-B14F-4D97-AF65-F5344CB8AC3E}">
        <p14:creationId xmlns:p14="http://schemas.microsoft.com/office/powerpoint/2010/main" val="2800291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7</a:t>
            </a:fld>
            <a:endParaRPr lang="zh-CN" altLang="en-US"/>
          </a:p>
        </p:txBody>
      </p:sp>
    </p:spTree>
    <p:extLst>
      <p:ext uri="{BB962C8B-B14F-4D97-AF65-F5344CB8AC3E}">
        <p14:creationId xmlns:p14="http://schemas.microsoft.com/office/powerpoint/2010/main" val="3880186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indent="457200">
              <a:lnSpc>
                <a:spcPct val="150000"/>
              </a:lnSpc>
            </a:pPr>
            <a:r>
              <a:rPr lang="zh-CN" altLang="en-US" dirty="0" smtClean="0"/>
              <a:t>城域网只是运维工作中的一部分，但是在其他业务的运维工作中也会有类似的有关系统实用性、工具繁多、操作复杂且重复等问题、以及不同运维工作分而治之，缺乏统一管理的情况，如同人体中的不同器官。</a:t>
            </a:r>
            <a:endParaRPr lang="en-US" altLang="zh-CN" dirty="0" smtClean="0"/>
          </a:p>
          <a:p>
            <a:pPr indent="457200">
              <a:lnSpc>
                <a:spcPct val="150000"/>
              </a:lnSpc>
            </a:pPr>
            <a:r>
              <a:rPr lang="zh-CN" altLang="en-US" dirty="0" smtClean="0"/>
              <a:t>通过构建的“网络大脑”，将各部分进行统一调控，全局管理。</a:t>
            </a:r>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9</a:t>
            </a:fld>
            <a:endParaRPr lang="zh-CN" altLang="en-US"/>
          </a:p>
        </p:txBody>
      </p:sp>
    </p:spTree>
    <p:extLst>
      <p:ext uri="{BB962C8B-B14F-4D97-AF65-F5344CB8AC3E}">
        <p14:creationId xmlns:p14="http://schemas.microsoft.com/office/powerpoint/2010/main" val="1411683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网络大脑：</a:t>
            </a:r>
            <a:endParaRPr lang="en-US" altLang="zh-CN" dirty="0" smtClean="0"/>
          </a:p>
          <a:p>
            <a:endParaRPr lang="en-US" altLang="zh-CN" dirty="0" smtClean="0"/>
          </a:p>
          <a:p>
            <a:endParaRPr lang="en-US" altLang="zh-CN" dirty="0" smtClean="0"/>
          </a:p>
          <a:p>
            <a:pPr marL="285750" indent="-285750">
              <a:buFont typeface="Arial" panose="020B0604020202020204" pitchFamily="34" charset="0"/>
              <a:buChar char="•"/>
            </a:pPr>
            <a:r>
              <a:rPr lang="zh-CN" altLang="en-US" dirty="0" smtClean="0"/>
              <a:t>数据驱动</a:t>
            </a:r>
            <a:endParaRPr lang="en-US" altLang="zh-CN" dirty="0" smtClean="0"/>
          </a:p>
          <a:p>
            <a:pPr marL="285750" indent="-285750">
              <a:buFont typeface="Arial" panose="020B0604020202020204" pitchFamily="34" charset="0"/>
              <a:buChar char="•"/>
            </a:pPr>
            <a:r>
              <a:rPr lang="zh-CN" altLang="en-US" dirty="0" smtClean="0"/>
              <a:t>自动化流程解放人力</a:t>
            </a:r>
            <a:endParaRPr lang="en-US" altLang="zh-CN" dirty="0" smtClean="0"/>
          </a:p>
          <a:p>
            <a:pPr marL="285750" indent="-285750">
              <a:buFont typeface="Arial" panose="020B0604020202020204" pitchFamily="34" charset="0"/>
              <a:buChar char="•"/>
            </a:pPr>
            <a:r>
              <a:rPr lang="zh-CN" altLang="en-US" dirty="0" smtClean="0"/>
              <a:t>利用数据产生价值</a:t>
            </a:r>
            <a:endParaRPr lang="en-US" altLang="zh-CN" dirty="0" smtClean="0"/>
          </a:p>
          <a:p>
            <a:pPr marL="285750" indent="-285750">
              <a:buFont typeface="Arial" panose="020B0604020202020204" pitchFamily="34" charset="0"/>
              <a:buChar char="•"/>
            </a:pPr>
            <a:r>
              <a:rPr lang="zh-CN" altLang="en-US" dirty="0" smtClean="0"/>
              <a:t>数据和智能是未来的趋势</a:t>
            </a:r>
            <a:endParaRPr lang="en-US" altLang="zh-CN" dirty="0" smtClean="0"/>
          </a:p>
          <a:p>
            <a:pPr marL="285750" indent="-285750">
              <a:buFont typeface="Arial" panose="020B0604020202020204" pitchFamily="34" charset="0"/>
              <a:buChar char="•"/>
            </a:pPr>
            <a:r>
              <a:rPr lang="zh-CN" altLang="en-US" dirty="0" smtClean="0"/>
              <a:t>通过大脑将各种数据统筹规划</a:t>
            </a:r>
            <a:endParaRPr lang="en-US" altLang="zh-CN" dirty="0" smtClean="0"/>
          </a:p>
          <a:p>
            <a:pPr marL="285750" indent="-285750">
              <a:buFont typeface="Arial" panose="020B0604020202020204" pitchFamily="34" charset="0"/>
              <a:buChar char="•"/>
            </a:pPr>
            <a:r>
              <a:rPr lang="zh-CN" altLang="en-US" dirty="0" smtClean="0"/>
              <a:t>自我协调、良性互动</a:t>
            </a:r>
            <a:endParaRPr lang="en-US" altLang="zh-CN" dirty="0" smtClean="0"/>
          </a:p>
          <a:p>
            <a:pPr marL="285750" indent="-285750">
              <a:buFont typeface="Arial" panose="020B0604020202020204" pitchFamily="34" charset="0"/>
              <a:buChar char="•"/>
            </a:pPr>
            <a:r>
              <a:rPr lang="zh-CN" altLang="en-US" dirty="0" smtClean="0"/>
              <a:t>改变网络运维模式</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10</a:t>
            </a:fld>
            <a:endParaRPr lang="zh-CN" altLang="en-US"/>
          </a:p>
        </p:txBody>
      </p:sp>
    </p:spTree>
    <p:extLst>
      <p:ext uri="{BB962C8B-B14F-4D97-AF65-F5344CB8AC3E}">
        <p14:creationId xmlns:p14="http://schemas.microsoft.com/office/powerpoint/2010/main" val="534183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人工智能最热年</a:t>
            </a:r>
            <a:endParaRPr lang="en-US" altLang="zh-CN" dirty="0" smtClean="0"/>
          </a:p>
          <a:p>
            <a:r>
              <a:rPr lang="zh-CN" altLang="en-US" dirty="0" smtClean="0"/>
              <a:t>自动化运维的推进实施使得人员和流程的问题的到了有效解决</a:t>
            </a:r>
            <a:endParaRPr lang="en-US" altLang="zh-CN" dirty="0" smtClean="0"/>
          </a:p>
          <a:p>
            <a:r>
              <a:rPr lang="zh-CN" altLang="en-US" dirty="0" smtClean="0"/>
              <a:t>新的问题是随着网络和业务的不断发展，运维人员要关注的问题也呈现了指数级增长，虽然自动化运维解决了效率，但是也出现了新的难题如繁杂的报警信息，故障定位等</a:t>
            </a:r>
            <a:endParaRPr lang="en-US" altLang="zh-CN" dirty="0" smtClean="0"/>
          </a:p>
          <a:p>
            <a:r>
              <a:rPr lang="zh-CN" altLang="en-US" dirty="0" smtClean="0"/>
              <a:t>恰好进入了人工智能时代，</a:t>
            </a:r>
            <a:r>
              <a:rPr lang="en-US" altLang="zh-CN" dirty="0" smtClean="0"/>
              <a:t>Gartner</a:t>
            </a:r>
            <a:r>
              <a:rPr lang="zh-CN" altLang="en-US" dirty="0" smtClean="0"/>
              <a:t>在</a:t>
            </a:r>
            <a:r>
              <a:rPr lang="en-US" altLang="zh-CN" dirty="0" smtClean="0"/>
              <a:t>2016</a:t>
            </a:r>
            <a:r>
              <a:rPr lang="zh-CN" altLang="en-US" dirty="0" smtClean="0"/>
              <a:t>年提出了</a:t>
            </a:r>
            <a:r>
              <a:rPr lang="en-US" altLang="zh-CN" dirty="0" err="1" smtClean="0"/>
              <a:t>AIOps</a:t>
            </a:r>
            <a:r>
              <a:rPr lang="zh-CN" altLang="en-US" dirty="0" smtClean="0"/>
              <a:t>的概念，预计在</a:t>
            </a:r>
            <a:r>
              <a:rPr lang="en-US" altLang="zh-CN" dirty="0" smtClean="0"/>
              <a:t>2019</a:t>
            </a:r>
            <a:r>
              <a:rPr lang="zh-CN" altLang="en-US" dirty="0" smtClean="0"/>
              <a:t>年</a:t>
            </a:r>
            <a:r>
              <a:rPr lang="en-US" altLang="zh-CN" dirty="0" err="1" smtClean="0"/>
              <a:t>AIOps</a:t>
            </a:r>
            <a:r>
              <a:rPr lang="zh-CN" altLang="en-US" dirty="0" smtClean="0"/>
              <a:t>会达到</a:t>
            </a:r>
            <a:r>
              <a:rPr lang="en-US" altLang="zh-CN" dirty="0" smtClean="0"/>
              <a:t>25%</a:t>
            </a:r>
            <a:r>
              <a:rPr lang="zh-CN" altLang="en-US" dirty="0" smtClean="0"/>
              <a:t>的部署率，到</a:t>
            </a:r>
            <a:r>
              <a:rPr lang="en-US" altLang="zh-CN" dirty="0" smtClean="0"/>
              <a:t>2020</a:t>
            </a:r>
            <a:r>
              <a:rPr lang="zh-CN" altLang="en-US" dirty="0" smtClean="0"/>
              <a:t>年会达到</a:t>
            </a:r>
            <a:r>
              <a:rPr lang="en-US" altLang="zh-CN" dirty="0" smtClean="0"/>
              <a:t>50%</a:t>
            </a:r>
            <a:r>
              <a:rPr lang="zh-CN" altLang="en-US" dirty="0" smtClean="0"/>
              <a:t>的部署率。</a:t>
            </a:r>
            <a:endParaRPr lang="en-US" altLang="zh-CN" dirty="0" smtClean="0"/>
          </a:p>
          <a:p>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12</a:t>
            </a:fld>
            <a:endParaRPr lang="zh-CN" altLang="en-US"/>
          </a:p>
        </p:txBody>
      </p:sp>
    </p:spTree>
    <p:extLst>
      <p:ext uri="{BB962C8B-B14F-4D97-AF65-F5344CB8AC3E}">
        <p14:creationId xmlns:p14="http://schemas.microsoft.com/office/powerpoint/2010/main" val="11808831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17</a:t>
            </a:fld>
            <a:endParaRPr lang="zh-CN" altLang="en-US"/>
          </a:p>
        </p:txBody>
      </p:sp>
    </p:spTree>
    <p:extLst>
      <p:ext uri="{BB962C8B-B14F-4D97-AF65-F5344CB8AC3E}">
        <p14:creationId xmlns:p14="http://schemas.microsoft.com/office/powerpoint/2010/main" val="34406903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18</a:t>
            </a:fld>
            <a:endParaRPr lang="zh-CN" altLang="en-US"/>
          </a:p>
        </p:txBody>
      </p:sp>
    </p:spTree>
    <p:extLst>
      <p:ext uri="{BB962C8B-B14F-4D97-AF65-F5344CB8AC3E}">
        <p14:creationId xmlns:p14="http://schemas.microsoft.com/office/powerpoint/2010/main" val="2225599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19</a:t>
            </a:fld>
            <a:endParaRPr lang="zh-CN" altLang="en-US"/>
          </a:p>
        </p:txBody>
      </p:sp>
    </p:spTree>
    <p:extLst>
      <p:ext uri="{BB962C8B-B14F-4D97-AF65-F5344CB8AC3E}">
        <p14:creationId xmlns:p14="http://schemas.microsoft.com/office/powerpoint/2010/main" val="3293404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20</a:t>
            </a:fld>
            <a:endParaRPr lang="zh-CN" altLang="en-US"/>
          </a:p>
        </p:txBody>
      </p:sp>
    </p:spTree>
    <p:extLst>
      <p:ext uri="{BB962C8B-B14F-4D97-AF65-F5344CB8AC3E}">
        <p14:creationId xmlns:p14="http://schemas.microsoft.com/office/powerpoint/2010/main" val="987648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21</a:t>
            </a:fld>
            <a:endParaRPr lang="zh-CN" altLang="en-US"/>
          </a:p>
        </p:txBody>
      </p:sp>
    </p:spTree>
    <p:extLst>
      <p:ext uri="{BB962C8B-B14F-4D97-AF65-F5344CB8AC3E}">
        <p14:creationId xmlns:p14="http://schemas.microsoft.com/office/powerpoint/2010/main" val="159989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4227754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23</a:t>
            </a:fld>
            <a:endParaRPr lang="zh-CN" altLang="en-US"/>
          </a:p>
        </p:txBody>
      </p:sp>
    </p:spTree>
    <p:extLst>
      <p:ext uri="{BB962C8B-B14F-4D97-AF65-F5344CB8AC3E}">
        <p14:creationId xmlns:p14="http://schemas.microsoft.com/office/powerpoint/2010/main" val="7098014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24</a:t>
            </a:fld>
            <a:endParaRPr lang="zh-CN" altLang="en-US"/>
          </a:p>
        </p:txBody>
      </p:sp>
    </p:spTree>
    <p:extLst>
      <p:ext uri="{BB962C8B-B14F-4D97-AF65-F5344CB8AC3E}">
        <p14:creationId xmlns:p14="http://schemas.microsoft.com/office/powerpoint/2010/main" val="15090639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81013" y="1279525"/>
            <a:ext cx="6140450" cy="34544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25</a:t>
            </a:fld>
            <a:endParaRPr lang="zh-CN" altLang="en-US"/>
          </a:p>
        </p:txBody>
      </p:sp>
    </p:spTree>
    <p:extLst>
      <p:ext uri="{BB962C8B-B14F-4D97-AF65-F5344CB8AC3E}">
        <p14:creationId xmlns:p14="http://schemas.microsoft.com/office/powerpoint/2010/main" val="25501582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26</a:t>
            </a:fld>
            <a:endParaRPr lang="zh-CN" altLang="en-US"/>
          </a:p>
        </p:txBody>
      </p:sp>
    </p:spTree>
    <p:extLst>
      <p:ext uri="{BB962C8B-B14F-4D97-AF65-F5344CB8AC3E}">
        <p14:creationId xmlns:p14="http://schemas.microsoft.com/office/powerpoint/2010/main" val="21253552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27</a:t>
            </a:fld>
            <a:endParaRPr lang="zh-CN" altLang="en-US"/>
          </a:p>
        </p:txBody>
      </p:sp>
    </p:spTree>
    <p:extLst>
      <p:ext uri="{BB962C8B-B14F-4D97-AF65-F5344CB8AC3E}">
        <p14:creationId xmlns:p14="http://schemas.microsoft.com/office/powerpoint/2010/main" val="17355294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28</a:t>
            </a:fld>
            <a:endParaRPr lang="zh-CN" altLang="en-US"/>
          </a:p>
        </p:txBody>
      </p:sp>
    </p:spTree>
    <p:extLst>
      <p:ext uri="{BB962C8B-B14F-4D97-AF65-F5344CB8AC3E}">
        <p14:creationId xmlns:p14="http://schemas.microsoft.com/office/powerpoint/2010/main" val="35946600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30</a:t>
            </a:fld>
            <a:endParaRPr lang="zh-CN" altLang="en-US"/>
          </a:p>
        </p:txBody>
      </p:sp>
    </p:spTree>
    <p:extLst>
      <p:ext uri="{BB962C8B-B14F-4D97-AF65-F5344CB8AC3E}">
        <p14:creationId xmlns:p14="http://schemas.microsoft.com/office/powerpoint/2010/main" val="2235173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31</a:t>
            </a:fld>
            <a:endParaRPr lang="zh-CN" altLang="en-US"/>
          </a:p>
        </p:txBody>
      </p:sp>
    </p:spTree>
    <p:extLst>
      <p:ext uri="{BB962C8B-B14F-4D97-AF65-F5344CB8AC3E}">
        <p14:creationId xmlns:p14="http://schemas.microsoft.com/office/powerpoint/2010/main" val="6381577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32</a:t>
            </a:fld>
            <a:endParaRPr lang="zh-CN" altLang="en-US"/>
          </a:p>
        </p:txBody>
      </p:sp>
    </p:spTree>
    <p:extLst>
      <p:ext uri="{BB962C8B-B14F-4D97-AF65-F5344CB8AC3E}">
        <p14:creationId xmlns:p14="http://schemas.microsoft.com/office/powerpoint/2010/main" val="10150148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33</a:t>
            </a:fld>
            <a:endParaRPr lang="zh-CN" altLang="en-US"/>
          </a:p>
        </p:txBody>
      </p:sp>
    </p:spTree>
    <p:extLst>
      <p:ext uri="{BB962C8B-B14F-4D97-AF65-F5344CB8AC3E}">
        <p14:creationId xmlns:p14="http://schemas.microsoft.com/office/powerpoint/2010/main" val="20038724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34</a:t>
            </a:fld>
            <a:endParaRPr lang="zh-CN" altLang="en-US"/>
          </a:p>
        </p:txBody>
      </p:sp>
    </p:spTree>
    <p:extLst>
      <p:ext uri="{BB962C8B-B14F-4D97-AF65-F5344CB8AC3E}">
        <p14:creationId xmlns:p14="http://schemas.microsoft.com/office/powerpoint/2010/main" val="13001943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35</a:t>
            </a:fld>
            <a:endParaRPr lang="zh-CN" altLang="en-US"/>
          </a:p>
        </p:txBody>
      </p:sp>
    </p:spTree>
    <p:extLst>
      <p:ext uri="{BB962C8B-B14F-4D97-AF65-F5344CB8AC3E}">
        <p14:creationId xmlns:p14="http://schemas.microsoft.com/office/powerpoint/2010/main" val="5757125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36</a:t>
            </a:fld>
            <a:endParaRPr lang="zh-CN" altLang="en-US"/>
          </a:p>
        </p:txBody>
      </p:sp>
    </p:spTree>
    <p:extLst>
      <p:ext uri="{BB962C8B-B14F-4D97-AF65-F5344CB8AC3E}">
        <p14:creationId xmlns:p14="http://schemas.microsoft.com/office/powerpoint/2010/main" val="28947919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37</a:t>
            </a:fld>
            <a:endParaRPr lang="zh-CN" altLang="en-US"/>
          </a:p>
        </p:txBody>
      </p:sp>
    </p:spTree>
    <p:extLst>
      <p:ext uri="{BB962C8B-B14F-4D97-AF65-F5344CB8AC3E}">
        <p14:creationId xmlns:p14="http://schemas.microsoft.com/office/powerpoint/2010/main" val="2755014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38</a:t>
            </a:fld>
            <a:endParaRPr lang="zh-CN" altLang="en-US"/>
          </a:p>
        </p:txBody>
      </p:sp>
    </p:spTree>
    <p:extLst>
      <p:ext uri="{BB962C8B-B14F-4D97-AF65-F5344CB8AC3E}">
        <p14:creationId xmlns:p14="http://schemas.microsoft.com/office/powerpoint/2010/main" val="8148571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39</a:t>
            </a:fld>
            <a:endParaRPr lang="zh-CN" altLang="en-US"/>
          </a:p>
        </p:txBody>
      </p:sp>
    </p:spTree>
    <p:extLst>
      <p:ext uri="{BB962C8B-B14F-4D97-AF65-F5344CB8AC3E}">
        <p14:creationId xmlns:p14="http://schemas.microsoft.com/office/powerpoint/2010/main" val="14617877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40</a:t>
            </a:fld>
            <a:endParaRPr lang="zh-CN" altLang="en-US"/>
          </a:p>
        </p:txBody>
      </p:sp>
    </p:spTree>
    <p:extLst>
      <p:ext uri="{BB962C8B-B14F-4D97-AF65-F5344CB8AC3E}">
        <p14:creationId xmlns:p14="http://schemas.microsoft.com/office/powerpoint/2010/main" val="15661838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41</a:t>
            </a:fld>
            <a:endParaRPr lang="zh-CN" altLang="en-US"/>
          </a:p>
        </p:txBody>
      </p:sp>
    </p:spTree>
    <p:extLst>
      <p:ext uri="{BB962C8B-B14F-4D97-AF65-F5344CB8AC3E}">
        <p14:creationId xmlns:p14="http://schemas.microsoft.com/office/powerpoint/2010/main" val="33949891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42</a:t>
            </a:fld>
            <a:endParaRPr lang="zh-CN" altLang="en-US"/>
          </a:p>
        </p:txBody>
      </p:sp>
    </p:spTree>
    <p:extLst>
      <p:ext uri="{BB962C8B-B14F-4D97-AF65-F5344CB8AC3E}">
        <p14:creationId xmlns:p14="http://schemas.microsoft.com/office/powerpoint/2010/main" val="1622292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43</a:t>
            </a:fld>
            <a:endParaRPr lang="zh-CN" altLang="en-US"/>
          </a:p>
        </p:txBody>
      </p:sp>
    </p:spTree>
    <p:extLst>
      <p:ext uri="{BB962C8B-B14F-4D97-AF65-F5344CB8AC3E}">
        <p14:creationId xmlns:p14="http://schemas.microsoft.com/office/powerpoint/2010/main" val="33634189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44</a:t>
            </a:fld>
            <a:endParaRPr lang="zh-CN" altLang="en-US"/>
          </a:p>
        </p:txBody>
      </p:sp>
    </p:spTree>
    <p:extLst>
      <p:ext uri="{BB962C8B-B14F-4D97-AF65-F5344CB8AC3E}">
        <p14:creationId xmlns:p14="http://schemas.microsoft.com/office/powerpoint/2010/main" val="29750187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45</a:t>
            </a:fld>
            <a:endParaRPr lang="zh-CN" altLang="en-US"/>
          </a:p>
        </p:txBody>
      </p:sp>
    </p:spTree>
    <p:extLst>
      <p:ext uri="{BB962C8B-B14F-4D97-AF65-F5344CB8AC3E}">
        <p14:creationId xmlns:p14="http://schemas.microsoft.com/office/powerpoint/2010/main" val="31039674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46</a:t>
            </a:fld>
            <a:endParaRPr lang="zh-CN" altLang="en-US"/>
          </a:p>
        </p:txBody>
      </p:sp>
    </p:spTree>
    <p:extLst>
      <p:ext uri="{BB962C8B-B14F-4D97-AF65-F5344CB8AC3E}">
        <p14:creationId xmlns:p14="http://schemas.microsoft.com/office/powerpoint/2010/main" val="2229118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28.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s>
</file>

<file path=ppt/slides/_rels/slide39.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项目提出</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平台建设思路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应用场景</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dirty="0">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0680556"/>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1173315" y="2247982"/>
            <a:ext cx="4676775" cy="1061829"/>
          </a:xfrm>
          <a:prstGeom prst="rect">
            <a:avLst/>
          </a:prstGeom>
          <a:noFill/>
        </p:spPr>
        <p:txBody>
          <a:bodyPr wrap="square" rtlCol="0">
            <a:spAutoFit/>
          </a:bodyPr>
          <a:lstStyle/>
          <a:p>
            <a:pPr indent="457200">
              <a:lnSpc>
                <a:spcPct val="150000"/>
              </a:lnSpc>
            </a:pPr>
            <a:r>
              <a:rPr lang="zh-CN" altLang="en-US" sz="1400" b="1" dirty="0" smtClean="0"/>
              <a:t>目的</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了解城域网运行</a:t>
            </a:r>
            <a:endParaRPr lang="en-US" altLang="zh-CN" sz="1400" dirty="0" smtClean="0"/>
          </a:p>
          <a:p>
            <a:pPr marL="285750" indent="457200">
              <a:lnSpc>
                <a:spcPct val="150000"/>
              </a:lnSpc>
              <a:buFont typeface="Arial" panose="020B0604020202020204" pitchFamily="34" charset="0"/>
              <a:buChar char="•"/>
            </a:pPr>
            <a:r>
              <a:rPr lang="zh-CN" altLang="en-US" sz="1400" dirty="0" smtClean="0"/>
              <a:t>获取城域网数据</a:t>
            </a:r>
            <a:endParaRPr lang="zh-CN" altLang="en-US" sz="1400" dirty="0"/>
          </a:p>
        </p:txBody>
      </p:sp>
      <p:sp>
        <p:nvSpPr>
          <p:cNvPr id="12" name="文本框 11"/>
          <p:cNvSpPr txBox="1"/>
          <p:nvPr/>
        </p:nvSpPr>
        <p:spPr>
          <a:xfrm>
            <a:off x="1173315" y="3806279"/>
            <a:ext cx="5675160" cy="2031325"/>
          </a:xfrm>
          <a:prstGeom prst="rect">
            <a:avLst/>
          </a:prstGeom>
          <a:noFill/>
        </p:spPr>
        <p:txBody>
          <a:bodyPr wrap="square" rtlCol="0">
            <a:spAutoFit/>
          </a:bodyPr>
          <a:lstStyle/>
          <a:p>
            <a:pPr indent="457200">
              <a:lnSpc>
                <a:spcPct val="150000"/>
              </a:lnSpc>
            </a:pPr>
            <a:r>
              <a:rPr lang="zh-CN" altLang="en-US" sz="1400" b="1" dirty="0" smtClean="0"/>
              <a:t>内容</a:t>
            </a:r>
            <a:r>
              <a:rPr lang="zh-CN" altLang="en-US" sz="1400" dirty="0" smtClean="0"/>
              <a:t>：</a:t>
            </a:r>
            <a:endParaRPr lang="en-US" altLang="zh-CN" sz="1400" dirty="0" smtClean="0"/>
          </a:p>
          <a:p>
            <a:pPr indent="457200">
              <a:lnSpc>
                <a:spcPct val="150000"/>
              </a:lnSpc>
            </a:pPr>
            <a:r>
              <a:rPr lang="zh-CN" altLang="en-US" sz="1400" dirty="0" smtClean="0"/>
              <a:t>日报：对网络一日内的总体情况介绍，包括网络总体情况、设备运行情况、其他事件（如工程切割情况）等；</a:t>
            </a:r>
            <a:endParaRPr lang="en-US" altLang="zh-CN" sz="1400" dirty="0" smtClean="0"/>
          </a:p>
          <a:p>
            <a:pPr indent="457200">
              <a:lnSpc>
                <a:spcPct val="150000"/>
              </a:lnSpc>
            </a:pPr>
            <a:r>
              <a:rPr lang="zh-CN" altLang="en-US" sz="1400" dirty="0" smtClean="0"/>
              <a:t>月报：对一个自然月内的城域网总体情况分析，包括网络基本情况、流量分析、容量分析、业务容量预测、链路扩容计划、设备性能优化等。</a:t>
            </a:r>
            <a:endParaRPr lang="zh-CN" altLang="en-US" sz="1400" dirty="0"/>
          </a:p>
        </p:txBody>
      </p:sp>
      <p:sp>
        <p:nvSpPr>
          <p:cNvPr id="11" name="文本框 10"/>
          <p:cNvSpPr txBox="1"/>
          <p:nvPr/>
        </p:nvSpPr>
        <p:spPr>
          <a:xfrm>
            <a:off x="6848475" y="2247981"/>
            <a:ext cx="4676775" cy="738664"/>
          </a:xfrm>
          <a:prstGeom prst="rect">
            <a:avLst/>
          </a:prstGeom>
          <a:noFill/>
        </p:spPr>
        <p:txBody>
          <a:bodyPr wrap="square" rtlCol="0">
            <a:spAutoFit/>
          </a:bodyPr>
          <a:lstStyle/>
          <a:p>
            <a:pPr indent="457200">
              <a:lnSpc>
                <a:spcPct val="150000"/>
              </a:lnSpc>
            </a:pPr>
            <a:r>
              <a:rPr lang="zh-CN" altLang="en-US" sz="1400" b="1" dirty="0"/>
              <a:t>人员</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城域网</a:t>
            </a:r>
            <a:r>
              <a:rPr lang="en-US" altLang="zh-CN" sz="1400" dirty="0" smtClean="0"/>
              <a:t>8</a:t>
            </a:r>
            <a:r>
              <a:rPr lang="zh-CN" altLang="en-US" sz="1400" dirty="0" smtClean="0"/>
              <a:t>人代维小组中一人</a:t>
            </a:r>
            <a:endParaRPr lang="zh-CN" altLang="en-US" sz="1400" dirty="0"/>
          </a:p>
        </p:txBody>
      </p:sp>
      <p:sp>
        <p:nvSpPr>
          <p:cNvPr id="13" name="文本框 12"/>
          <p:cNvSpPr txBox="1"/>
          <p:nvPr/>
        </p:nvSpPr>
        <p:spPr>
          <a:xfrm>
            <a:off x="6848475" y="3806279"/>
            <a:ext cx="4676775" cy="1061829"/>
          </a:xfrm>
          <a:prstGeom prst="rect">
            <a:avLst/>
          </a:prstGeom>
          <a:noFill/>
        </p:spPr>
        <p:txBody>
          <a:bodyPr wrap="square" rtlCol="0">
            <a:spAutoFit/>
          </a:bodyPr>
          <a:lstStyle/>
          <a:p>
            <a:pPr indent="457200">
              <a:lnSpc>
                <a:spcPct val="150000"/>
              </a:lnSpc>
            </a:pPr>
            <a:r>
              <a:rPr lang="zh-CN" altLang="en-US" sz="1400" b="1" dirty="0" smtClean="0"/>
              <a:t>耗时</a:t>
            </a:r>
            <a:r>
              <a:rPr lang="zh-CN" altLang="en-US" sz="1400" dirty="0" smtClean="0"/>
              <a:t>：</a:t>
            </a:r>
            <a:endParaRPr lang="en-US" altLang="zh-CN" sz="1400" dirty="0" smtClean="0"/>
          </a:p>
          <a:p>
            <a:pPr marL="285750" indent="457200">
              <a:lnSpc>
                <a:spcPct val="150000"/>
              </a:lnSpc>
              <a:buFont typeface="Arial" panose="020B0604020202020204" pitchFamily="34" charset="0"/>
              <a:buChar char="•"/>
            </a:pPr>
            <a:r>
              <a:rPr lang="zh-CN" altLang="en-US" sz="1400" dirty="0" smtClean="0"/>
              <a:t>日报：半小时</a:t>
            </a:r>
            <a:endParaRPr lang="en-US" altLang="zh-CN" sz="1400" dirty="0" smtClean="0"/>
          </a:p>
          <a:p>
            <a:pPr marL="285750" indent="457200">
              <a:lnSpc>
                <a:spcPct val="150000"/>
              </a:lnSpc>
              <a:buFont typeface="Arial" panose="020B0604020202020204" pitchFamily="34" charset="0"/>
              <a:buChar char="•"/>
            </a:pPr>
            <a:r>
              <a:rPr lang="zh-CN" altLang="en-US" sz="1400" dirty="0" smtClean="0"/>
              <a:t>月报：一整天</a:t>
            </a:r>
            <a:endParaRPr lang="zh-CN" altLang="en-US" sz="1400" dirty="0"/>
          </a:p>
        </p:txBody>
      </p: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721810" y="1405612"/>
            <a:ext cx="2177452" cy="307777"/>
          </a:xfrm>
          <a:prstGeom prst="rect">
            <a:avLst/>
          </a:prstGeom>
          <a:noFill/>
        </p:spPr>
        <p:txBody>
          <a:bodyPr wrap="square" rtlCol="0">
            <a:spAutoFit/>
          </a:bodyPr>
          <a:lstStyle/>
          <a:p>
            <a:r>
              <a:rPr lang="zh-CN" altLang="en-US" sz="1400" b="1" dirty="0" smtClean="0"/>
              <a:t>日报制作流程示意</a:t>
            </a:r>
            <a:endParaRPr lang="zh-CN" altLang="en-US" sz="1400" b="1" dirty="0"/>
          </a:p>
        </p:txBody>
      </p:sp>
      <p:pic>
        <p:nvPicPr>
          <p:cNvPr id="16" name="图片 15"/>
          <p:cNvPicPr>
            <a:picLocks noChangeAspect="1"/>
          </p:cNvPicPr>
          <p:nvPr/>
        </p:nvPicPr>
        <p:blipFill>
          <a:blip r:embed="rId3"/>
          <a:stretch>
            <a:fillRect/>
          </a:stretch>
        </p:blipFill>
        <p:spPr>
          <a:xfrm>
            <a:off x="1810536" y="2131286"/>
            <a:ext cx="8897251" cy="3889116"/>
          </a:xfrm>
          <a:prstGeom prst="rect">
            <a:avLst/>
          </a:prstGeom>
        </p:spPr>
      </p:pic>
      <p:sp>
        <p:nvSpPr>
          <p:cNvPr id="2" name="圆角矩形 1"/>
          <p:cNvSpPr/>
          <p:nvPr/>
        </p:nvSpPr>
        <p:spPr>
          <a:xfrm>
            <a:off x="1362075" y="1759810"/>
            <a:ext cx="3924300" cy="4365911"/>
          </a:xfrm>
          <a:prstGeom prst="roundRect">
            <a:avLst/>
          </a:prstGeom>
          <a:noFill/>
          <a:ln w="28575" cap="flat" cmpd="sng" algn="ctr">
            <a:solidFill>
              <a:srgbClr val="00AC4E"/>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4" name="圆角矩形 13"/>
          <p:cNvSpPr/>
          <p:nvPr/>
        </p:nvSpPr>
        <p:spPr>
          <a:xfrm>
            <a:off x="5286374" y="1759812"/>
            <a:ext cx="1876425" cy="4365910"/>
          </a:xfrm>
          <a:prstGeom prst="roundRect">
            <a:avLst/>
          </a:prstGeom>
          <a:noFill/>
          <a:ln w="28575" cap="flat" cmpd="sng" algn="ctr">
            <a:solidFill>
              <a:schemeClr val="accent5">
                <a:lumMod val="5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15" name="圆角矩形 14"/>
          <p:cNvSpPr/>
          <p:nvPr/>
        </p:nvSpPr>
        <p:spPr>
          <a:xfrm>
            <a:off x="7162799" y="1759810"/>
            <a:ext cx="3638551" cy="4365911"/>
          </a:xfrm>
          <a:prstGeom prst="roundRect">
            <a:avLst/>
          </a:prstGeom>
          <a:noFill/>
          <a:ln w="28575" cap="flat" cmpd="sng" algn="ctr">
            <a:solidFill>
              <a:srgbClr val="7030A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7" name="文本框 6"/>
          <p:cNvSpPr txBox="1"/>
          <p:nvPr/>
        </p:nvSpPr>
        <p:spPr>
          <a:xfrm>
            <a:off x="2003065"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数据获取</a:t>
            </a:r>
            <a:endParaRPr lang="zh-CN" altLang="en-US" dirty="0"/>
          </a:p>
        </p:txBody>
      </p:sp>
      <p:sp>
        <p:nvSpPr>
          <p:cNvPr id="17" name="文本框 16"/>
          <p:cNvSpPr txBox="1"/>
          <p:nvPr/>
        </p:nvSpPr>
        <p:spPr>
          <a:xfrm>
            <a:off x="5628822" y="1761954"/>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数据分析</a:t>
            </a:r>
            <a:endParaRPr lang="zh-CN" altLang="en-US" dirty="0"/>
          </a:p>
        </p:txBody>
      </p:sp>
      <p:sp>
        <p:nvSpPr>
          <p:cNvPr id="18" name="文本框 17"/>
          <p:cNvSpPr txBox="1"/>
          <p:nvPr/>
        </p:nvSpPr>
        <p:spPr>
          <a:xfrm>
            <a:off x="7609572" y="1823716"/>
            <a:ext cx="1191527" cy="36933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zh-CN" altLang="en-US" dirty="0" smtClean="0"/>
              <a:t>数据呈现</a:t>
            </a:r>
            <a:endParaRPr lang="zh-CN" altLang="en-US" dirty="0"/>
          </a:p>
        </p:txBody>
      </p:sp>
    </p:spTree>
    <p:extLst>
      <p:ext uri="{BB962C8B-B14F-4D97-AF65-F5344CB8AC3E}">
        <p14:creationId xmlns:p14="http://schemas.microsoft.com/office/powerpoint/2010/main" val="309517308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p:cTn id="24" dur="500" fill="hold"/>
                                        <p:tgtEl>
                                          <p:spTgt spid="17"/>
                                        </p:tgtEl>
                                        <p:attrNameLst>
                                          <p:attrName>ppt_w</p:attrName>
                                        </p:attrNameLst>
                                      </p:cBhvr>
                                      <p:tavLst>
                                        <p:tav tm="0">
                                          <p:val>
                                            <p:fltVal val="0"/>
                                          </p:val>
                                        </p:tav>
                                        <p:tav tm="100000">
                                          <p:val>
                                            <p:strVal val="#ppt_w"/>
                                          </p:val>
                                        </p:tav>
                                      </p:tavLst>
                                    </p:anim>
                                    <p:anim calcmode="lin" valueType="num">
                                      <p:cBhvr>
                                        <p:cTn id="25" dur="500" fill="hold"/>
                                        <p:tgtEl>
                                          <p:spTgt spid="17"/>
                                        </p:tgtEl>
                                        <p:attrNameLst>
                                          <p:attrName>ppt_h</p:attrName>
                                        </p:attrNameLst>
                                      </p:cBhvr>
                                      <p:tavLst>
                                        <p:tav tm="0">
                                          <p:val>
                                            <p:fltVal val="0"/>
                                          </p:val>
                                        </p:tav>
                                        <p:tav tm="100000">
                                          <p:val>
                                            <p:strVal val="#ppt_h"/>
                                          </p:val>
                                        </p:tav>
                                      </p:tavLst>
                                    </p:anim>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animEffect transition="in" filter="fade">
                                      <p:cBhvr>
                                        <p:cTn id="33" dur="500"/>
                                        <p:tgtEl>
                                          <p:spTgt spid="18"/>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p:cTn id="36" dur="500" fill="hold"/>
                                        <p:tgtEl>
                                          <p:spTgt spid="15"/>
                                        </p:tgtEl>
                                        <p:attrNameLst>
                                          <p:attrName>ppt_w</p:attrName>
                                        </p:attrNameLst>
                                      </p:cBhvr>
                                      <p:tavLst>
                                        <p:tav tm="0">
                                          <p:val>
                                            <p:fltVal val="0"/>
                                          </p:val>
                                        </p:tav>
                                        <p:tav tm="100000">
                                          <p:val>
                                            <p:strVal val="#ppt_w"/>
                                          </p:val>
                                        </p:tav>
                                      </p:tavLst>
                                    </p:anim>
                                    <p:anim calcmode="lin" valueType="num">
                                      <p:cBhvr>
                                        <p:cTn id="37" dur="500" fill="hold"/>
                                        <p:tgtEl>
                                          <p:spTgt spid="15"/>
                                        </p:tgtEl>
                                        <p:attrNameLst>
                                          <p:attrName>ppt_h</p:attrName>
                                        </p:attrNameLst>
                                      </p:cBhvr>
                                      <p:tavLst>
                                        <p:tav tm="0">
                                          <p:val>
                                            <p:fltVal val="0"/>
                                          </p:val>
                                        </p:tav>
                                        <p:tav tm="100000">
                                          <p:val>
                                            <p:strVal val="#ppt_h"/>
                                          </p:val>
                                        </p:tav>
                                      </p:tavLst>
                                    </p:anim>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P spid="15" grpId="0" animBg="1"/>
      <p:bldP spid="7" grpId="0" animBg="1"/>
      <p:bldP spid="17" grpId="0" animBg="1"/>
      <p:bldP spid="1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40607" y="2380800"/>
            <a:ext cx="2669268" cy="3029400"/>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数据来源</a:t>
            </a:r>
            <a:r>
              <a:rPr lang="zh-CN" altLang="en-US" sz="1400" dirty="0" smtClean="0">
                <a:solidFill>
                  <a:srgbClr val="FF0000"/>
                </a:solidFill>
              </a:rPr>
              <a:t>较分散</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获取方式</a:t>
            </a:r>
            <a:r>
              <a:rPr lang="zh-CN" altLang="en-US" sz="1400" dirty="0" smtClean="0">
                <a:solidFill>
                  <a:srgbClr val="FF0000"/>
                </a:solidFill>
              </a:rPr>
              <a:t>未统一</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沟通成本</a:t>
            </a:r>
            <a:r>
              <a:rPr lang="zh-CN" altLang="en-US" sz="1400" dirty="0" smtClean="0">
                <a:solidFill>
                  <a:srgbClr val="FF0000"/>
                </a:solidFill>
              </a:rPr>
              <a:t>代价高</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原始数据</a:t>
            </a:r>
            <a:r>
              <a:rPr lang="zh-CN" altLang="en-US" sz="1400" dirty="0" smtClean="0">
                <a:solidFill>
                  <a:srgbClr val="FF0000"/>
                </a:solidFill>
              </a:rPr>
              <a:t>无备份</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人力劳动</a:t>
            </a:r>
            <a:r>
              <a:rPr lang="zh-CN" altLang="en-US" sz="1400" dirty="0" smtClean="0">
                <a:solidFill>
                  <a:srgbClr val="FF0000"/>
                </a:solidFill>
              </a:rPr>
              <a:t>较重复</a:t>
            </a:r>
            <a:endParaRPr lang="en-US" altLang="zh-CN" sz="1400" dirty="0" smtClean="0">
              <a:solidFill>
                <a:srgbClr val="FF0000"/>
              </a:solidFill>
            </a:endParaRPr>
          </a:p>
          <a:p>
            <a:pPr>
              <a:lnSpc>
                <a:spcPct val="150000"/>
              </a:lnSpc>
            </a:pPr>
            <a:endParaRPr lang="en-US" altLang="zh-CN" sz="1400" dirty="0" smtClean="0"/>
          </a:p>
        </p:txBody>
      </p:sp>
      <p:pic>
        <p:nvPicPr>
          <p:cNvPr id="7" name="图片 6"/>
          <p:cNvPicPr>
            <a:picLocks noChangeAspect="1"/>
          </p:cNvPicPr>
          <p:nvPr/>
        </p:nvPicPr>
        <p:blipFill>
          <a:blip r:embed="rId3"/>
          <a:stretch>
            <a:fillRect/>
          </a:stretch>
        </p:blipFill>
        <p:spPr>
          <a:xfrm>
            <a:off x="2930664" y="1313281"/>
            <a:ext cx="9261336" cy="4888275"/>
          </a:xfrm>
          <a:prstGeom prst="rect">
            <a:avLst/>
          </a:prstGeom>
        </p:spPr>
      </p:pic>
      <p:sp>
        <p:nvSpPr>
          <p:cNvPr id="9" name="矩形 8"/>
          <p:cNvSpPr/>
          <p:nvPr/>
        </p:nvSpPr>
        <p:spPr>
          <a:xfrm>
            <a:off x="7762285" y="1237862"/>
            <a:ext cx="2088065" cy="5333025"/>
          </a:xfrm>
          <a:prstGeom prst="rect">
            <a:avLst/>
          </a:prstGeom>
          <a:noFill/>
          <a:ln w="38100" cap="flat" cmpd="sng" algn="ctr">
            <a:solidFill>
              <a:srgbClr val="007A37"/>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 name="矩形 11"/>
          <p:cNvSpPr/>
          <p:nvPr/>
        </p:nvSpPr>
        <p:spPr>
          <a:xfrm>
            <a:off x="3848100" y="1237861"/>
            <a:ext cx="1819275" cy="5334389"/>
          </a:xfrm>
          <a:prstGeom prst="rect">
            <a:avLst/>
          </a:prstGeom>
          <a:noFill/>
          <a:ln w="3810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solidFill>
                <a:srgbClr val="FF0000"/>
              </a:solidFill>
            </a:endParaRPr>
          </a:p>
        </p:txBody>
      </p:sp>
      <p:sp>
        <p:nvSpPr>
          <p:cNvPr id="13" name="矩形 12"/>
          <p:cNvSpPr/>
          <p:nvPr/>
        </p:nvSpPr>
        <p:spPr>
          <a:xfrm>
            <a:off x="5805192" y="1237862"/>
            <a:ext cx="1819275" cy="5333026"/>
          </a:xfrm>
          <a:prstGeom prst="rect">
            <a:avLst/>
          </a:prstGeom>
          <a:noFill/>
          <a:ln w="3810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0" name="文本框 9"/>
          <p:cNvSpPr txBox="1"/>
          <p:nvPr/>
        </p:nvSpPr>
        <p:spPr>
          <a:xfrm>
            <a:off x="4295774" y="6201555"/>
            <a:ext cx="923925" cy="369332"/>
          </a:xfrm>
          <a:prstGeom prst="rect">
            <a:avLst/>
          </a:prstGeom>
          <a:noFill/>
        </p:spPr>
        <p:txBody>
          <a:bodyPr wrap="square" rtlCol="0">
            <a:spAutoFit/>
          </a:bodyPr>
          <a:lstStyle/>
          <a:p>
            <a:r>
              <a:rPr lang="zh-CN" altLang="en-US" dirty="0" smtClean="0"/>
              <a:t>数据源</a:t>
            </a:r>
            <a:endParaRPr lang="zh-CN" altLang="en-US" dirty="0"/>
          </a:p>
        </p:txBody>
      </p:sp>
      <p:sp>
        <p:nvSpPr>
          <p:cNvPr id="11" name="文本框 10"/>
          <p:cNvSpPr txBox="1"/>
          <p:nvPr/>
        </p:nvSpPr>
        <p:spPr>
          <a:xfrm>
            <a:off x="6253556" y="6201555"/>
            <a:ext cx="1174997" cy="369332"/>
          </a:xfrm>
          <a:prstGeom prst="rect">
            <a:avLst/>
          </a:prstGeom>
          <a:noFill/>
        </p:spPr>
        <p:txBody>
          <a:bodyPr wrap="square" rtlCol="0">
            <a:spAutoFit/>
          </a:bodyPr>
          <a:lstStyle/>
          <a:p>
            <a:r>
              <a:rPr lang="zh-CN" altLang="en-US" dirty="0" smtClean="0"/>
              <a:t>数据内容</a:t>
            </a:r>
            <a:endParaRPr lang="zh-CN" altLang="en-US" dirty="0"/>
          </a:p>
        </p:txBody>
      </p:sp>
      <p:sp>
        <p:nvSpPr>
          <p:cNvPr id="14" name="文本框 13"/>
          <p:cNvSpPr txBox="1"/>
          <p:nvPr/>
        </p:nvSpPr>
        <p:spPr>
          <a:xfrm>
            <a:off x="8238306" y="6201555"/>
            <a:ext cx="1113971" cy="369332"/>
          </a:xfrm>
          <a:prstGeom prst="rect">
            <a:avLst/>
          </a:prstGeom>
          <a:noFill/>
        </p:spPr>
        <p:txBody>
          <a:bodyPr wrap="square" rtlCol="0">
            <a:spAutoFit/>
          </a:bodyPr>
          <a:lstStyle/>
          <a:p>
            <a:r>
              <a:rPr lang="zh-CN" altLang="en-US" dirty="0" smtClean="0"/>
              <a:t>获取频率</a:t>
            </a:r>
            <a:endParaRPr lang="zh-CN" altLang="en-US" dirty="0"/>
          </a:p>
        </p:txBody>
      </p:sp>
      <p:sp>
        <p:nvSpPr>
          <p:cNvPr id="15" name="文本框 14"/>
          <p:cNvSpPr txBox="1"/>
          <p:nvPr/>
        </p:nvSpPr>
        <p:spPr>
          <a:xfrm>
            <a:off x="2930664" y="1390223"/>
            <a:ext cx="755511" cy="646331"/>
          </a:xfrm>
          <a:prstGeom prst="rect">
            <a:avLst/>
          </a:prstGeom>
          <a:noFill/>
        </p:spPr>
        <p:txBody>
          <a:bodyPr wrap="square" rtlCol="0">
            <a:spAutoFit/>
          </a:bodyPr>
          <a:lstStyle/>
          <a:p>
            <a:r>
              <a:rPr lang="zh-CN" altLang="en-US" dirty="0" smtClean="0"/>
              <a:t>主动沟通</a:t>
            </a:r>
            <a:endParaRPr lang="zh-CN" altLang="en-US" dirty="0"/>
          </a:p>
        </p:txBody>
      </p:sp>
      <p:sp>
        <p:nvSpPr>
          <p:cNvPr id="18" name="文本框 17"/>
          <p:cNvSpPr txBox="1"/>
          <p:nvPr/>
        </p:nvSpPr>
        <p:spPr>
          <a:xfrm>
            <a:off x="3190431" y="2850160"/>
            <a:ext cx="755511" cy="646331"/>
          </a:xfrm>
          <a:prstGeom prst="rect">
            <a:avLst/>
          </a:prstGeom>
          <a:noFill/>
        </p:spPr>
        <p:txBody>
          <a:bodyPr wrap="square" rtlCol="0">
            <a:spAutoFit/>
          </a:bodyPr>
          <a:lstStyle/>
          <a:p>
            <a:r>
              <a:rPr lang="zh-CN" altLang="en-US" dirty="0" smtClean="0"/>
              <a:t>主动登录</a:t>
            </a:r>
            <a:endParaRPr lang="zh-CN" altLang="en-US" dirty="0"/>
          </a:p>
        </p:txBody>
      </p:sp>
      <p:sp>
        <p:nvSpPr>
          <p:cNvPr id="20" name="文本框 19"/>
          <p:cNvSpPr txBox="1"/>
          <p:nvPr/>
        </p:nvSpPr>
        <p:spPr>
          <a:xfrm>
            <a:off x="3190431" y="5344894"/>
            <a:ext cx="755511" cy="646331"/>
          </a:xfrm>
          <a:prstGeom prst="rect">
            <a:avLst/>
          </a:prstGeom>
          <a:noFill/>
        </p:spPr>
        <p:txBody>
          <a:bodyPr wrap="square" rtlCol="0">
            <a:spAutoFit/>
          </a:bodyPr>
          <a:lstStyle/>
          <a:p>
            <a:r>
              <a:rPr lang="zh-CN" altLang="en-US" dirty="0" smtClean="0"/>
              <a:t>被动获取</a:t>
            </a:r>
            <a:endParaRPr lang="zh-CN" altLang="en-US" dirty="0"/>
          </a:p>
        </p:txBody>
      </p:sp>
    </p:spTree>
    <p:extLst>
      <p:ext uri="{BB962C8B-B14F-4D97-AF65-F5344CB8AC3E}">
        <p14:creationId xmlns:p14="http://schemas.microsoft.com/office/powerpoint/2010/main" val="243608385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1" nodeType="clickEffect">
                                  <p:stCondLst>
                                    <p:cond delay="0"/>
                                  </p:stCondLst>
                                  <p:childTnLst>
                                    <p:anim calcmode="lin" valueType="num">
                                      <p:cBhvr additive="base">
                                        <p:cTn id="38" dur="500"/>
                                        <p:tgtEl>
                                          <p:spTgt spid="12"/>
                                        </p:tgtEl>
                                        <p:attrNameLst>
                                          <p:attrName>ppt_x</p:attrName>
                                        </p:attrNameLst>
                                      </p:cBhvr>
                                      <p:tavLst>
                                        <p:tav tm="0">
                                          <p:val>
                                            <p:strVal val="ppt_x"/>
                                          </p:val>
                                        </p:tav>
                                        <p:tav tm="100000">
                                          <p:val>
                                            <p:strVal val="ppt_x"/>
                                          </p:val>
                                        </p:tav>
                                      </p:tavLst>
                                    </p:anim>
                                    <p:anim calcmode="lin" valueType="num">
                                      <p:cBhvr additive="base">
                                        <p:cTn id="39" dur="500"/>
                                        <p:tgtEl>
                                          <p:spTgt spid="12"/>
                                        </p:tgtEl>
                                        <p:attrNameLst>
                                          <p:attrName>ppt_y</p:attrName>
                                        </p:attrNameLst>
                                      </p:cBhvr>
                                      <p:tavLst>
                                        <p:tav tm="0">
                                          <p:val>
                                            <p:strVal val="ppt_y"/>
                                          </p:val>
                                        </p:tav>
                                        <p:tav tm="100000">
                                          <p:val>
                                            <p:strVal val="1+ppt_h/2"/>
                                          </p:val>
                                        </p:tav>
                                      </p:tavLst>
                                    </p:anim>
                                    <p:set>
                                      <p:cBhvr>
                                        <p:cTn id="40" dur="1" fill="hold">
                                          <p:stCondLst>
                                            <p:cond delay="499"/>
                                          </p:stCondLst>
                                        </p:cTn>
                                        <p:tgtEl>
                                          <p:spTgt spid="12"/>
                                        </p:tgtEl>
                                        <p:attrNameLst>
                                          <p:attrName>style.visibility</p:attrName>
                                        </p:attrNameLst>
                                      </p:cBhvr>
                                      <p:to>
                                        <p:strVal val="hidden"/>
                                      </p:to>
                                    </p:set>
                                  </p:childTnLst>
                                </p:cTn>
                              </p:par>
                              <p:par>
                                <p:cTn id="41" presetID="2" presetClass="exit" presetSubtype="4" fill="hold" grpId="1" nodeType="withEffect">
                                  <p:stCondLst>
                                    <p:cond delay="0"/>
                                  </p:stCondLst>
                                  <p:childTnLst>
                                    <p:anim calcmode="lin" valueType="num">
                                      <p:cBhvr additive="base">
                                        <p:cTn id="42" dur="500"/>
                                        <p:tgtEl>
                                          <p:spTgt spid="10"/>
                                        </p:tgtEl>
                                        <p:attrNameLst>
                                          <p:attrName>ppt_x</p:attrName>
                                        </p:attrNameLst>
                                      </p:cBhvr>
                                      <p:tavLst>
                                        <p:tav tm="0">
                                          <p:val>
                                            <p:strVal val="ppt_x"/>
                                          </p:val>
                                        </p:tav>
                                        <p:tav tm="100000">
                                          <p:val>
                                            <p:strVal val="ppt_x"/>
                                          </p:val>
                                        </p:tav>
                                      </p:tavLst>
                                    </p:anim>
                                    <p:anim calcmode="lin" valueType="num">
                                      <p:cBhvr additive="base">
                                        <p:cTn id="43" dur="500"/>
                                        <p:tgtEl>
                                          <p:spTgt spid="10"/>
                                        </p:tgtEl>
                                        <p:attrNameLst>
                                          <p:attrName>ppt_y</p:attrName>
                                        </p:attrNameLst>
                                      </p:cBhvr>
                                      <p:tavLst>
                                        <p:tav tm="0">
                                          <p:val>
                                            <p:strVal val="ppt_y"/>
                                          </p:val>
                                        </p:tav>
                                        <p:tav tm="100000">
                                          <p:val>
                                            <p:strVal val="1+ppt_h/2"/>
                                          </p:val>
                                        </p:tav>
                                      </p:tavLst>
                                    </p:anim>
                                    <p:set>
                                      <p:cBhvr>
                                        <p:cTn id="44" dur="1" fill="hold">
                                          <p:stCondLst>
                                            <p:cond delay="499"/>
                                          </p:stCondLst>
                                        </p:cTn>
                                        <p:tgtEl>
                                          <p:spTgt spid="10"/>
                                        </p:tgtEl>
                                        <p:attrNameLst>
                                          <p:attrName>style.visibility</p:attrName>
                                        </p:attrNameLst>
                                      </p:cBhvr>
                                      <p:to>
                                        <p:strVal val="hidden"/>
                                      </p:to>
                                    </p:set>
                                  </p:childTnLst>
                                </p:cTn>
                              </p:par>
                              <p:par>
                                <p:cTn id="45" presetID="2" presetClass="exit" presetSubtype="4" fill="hold" grpId="1" nodeType="withEffect">
                                  <p:stCondLst>
                                    <p:cond delay="0"/>
                                  </p:stCondLst>
                                  <p:childTnLst>
                                    <p:anim calcmode="lin" valueType="num">
                                      <p:cBhvr additive="base">
                                        <p:cTn id="46" dur="500"/>
                                        <p:tgtEl>
                                          <p:spTgt spid="11"/>
                                        </p:tgtEl>
                                        <p:attrNameLst>
                                          <p:attrName>ppt_x</p:attrName>
                                        </p:attrNameLst>
                                      </p:cBhvr>
                                      <p:tavLst>
                                        <p:tav tm="0">
                                          <p:val>
                                            <p:strVal val="ppt_x"/>
                                          </p:val>
                                        </p:tav>
                                        <p:tav tm="100000">
                                          <p:val>
                                            <p:strVal val="ppt_x"/>
                                          </p:val>
                                        </p:tav>
                                      </p:tavLst>
                                    </p:anim>
                                    <p:anim calcmode="lin" valueType="num">
                                      <p:cBhvr additive="base">
                                        <p:cTn id="47" dur="500"/>
                                        <p:tgtEl>
                                          <p:spTgt spid="11"/>
                                        </p:tgtEl>
                                        <p:attrNameLst>
                                          <p:attrName>ppt_y</p:attrName>
                                        </p:attrNameLst>
                                      </p:cBhvr>
                                      <p:tavLst>
                                        <p:tav tm="0">
                                          <p:val>
                                            <p:strVal val="ppt_y"/>
                                          </p:val>
                                        </p:tav>
                                        <p:tav tm="100000">
                                          <p:val>
                                            <p:strVal val="1+ppt_h/2"/>
                                          </p:val>
                                        </p:tav>
                                      </p:tavLst>
                                    </p:anim>
                                    <p:set>
                                      <p:cBhvr>
                                        <p:cTn id="48" dur="1" fill="hold">
                                          <p:stCondLst>
                                            <p:cond delay="499"/>
                                          </p:stCondLst>
                                        </p:cTn>
                                        <p:tgtEl>
                                          <p:spTgt spid="11"/>
                                        </p:tgtEl>
                                        <p:attrNameLst>
                                          <p:attrName>style.visibility</p:attrName>
                                        </p:attrNameLst>
                                      </p:cBhvr>
                                      <p:to>
                                        <p:strVal val="hidden"/>
                                      </p:to>
                                    </p:set>
                                  </p:childTnLst>
                                </p:cTn>
                              </p:par>
                              <p:par>
                                <p:cTn id="49" presetID="2" presetClass="exit" presetSubtype="4" fill="hold" grpId="1" nodeType="withEffect">
                                  <p:stCondLst>
                                    <p:cond delay="0"/>
                                  </p:stCondLst>
                                  <p:childTnLst>
                                    <p:anim calcmode="lin" valueType="num">
                                      <p:cBhvr additive="base">
                                        <p:cTn id="50" dur="500"/>
                                        <p:tgtEl>
                                          <p:spTgt spid="13"/>
                                        </p:tgtEl>
                                        <p:attrNameLst>
                                          <p:attrName>ppt_x</p:attrName>
                                        </p:attrNameLst>
                                      </p:cBhvr>
                                      <p:tavLst>
                                        <p:tav tm="0">
                                          <p:val>
                                            <p:strVal val="ppt_x"/>
                                          </p:val>
                                        </p:tav>
                                        <p:tav tm="100000">
                                          <p:val>
                                            <p:strVal val="ppt_x"/>
                                          </p:val>
                                        </p:tav>
                                      </p:tavLst>
                                    </p:anim>
                                    <p:anim calcmode="lin" valueType="num">
                                      <p:cBhvr additive="base">
                                        <p:cTn id="51" dur="500"/>
                                        <p:tgtEl>
                                          <p:spTgt spid="13"/>
                                        </p:tgtEl>
                                        <p:attrNameLst>
                                          <p:attrName>ppt_y</p:attrName>
                                        </p:attrNameLst>
                                      </p:cBhvr>
                                      <p:tavLst>
                                        <p:tav tm="0">
                                          <p:val>
                                            <p:strVal val="ppt_y"/>
                                          </p:val>
                                        </p:tav>
                                        <p:tav tm="100000">
                                          <p:val>
                                            <p:strVal val="1+ppt_h/2"/>
                                          </p:val>
                                        </p:tav>
                                      </p:tavLst>
                                    </p:anim>
                                    <p:set>
                                      <p:cBhvr>
                                        <p:cTn id="52" dur="1" fill="hold">
                                          <p:stCondLst>
                                            <p:cond delay="499"/>
                                          </p:stCondLst>
                                        </p:cTn>
                                        <p:tgtEl>
                                          <p:spTgt spid="13"/>
                                        </p:tgtEl>
                                        <p:attrNameLst>
                                          <p:attrName>style.visibility</p:attrName>
                                        </p:attrNameLst>
                                      </p:cBhvr>
                                      <p:to>
                                        <p:strVal val="hidden"/>
                                      </p:to>
                                    </p:set>
                                  </p:childTnLst>
                                </p:cTn>
                              </p:par>
                              <p:par>
                                <p:cTn id="53" presetID="2" presetClass="exit" presetSubtype="4" fill="hold" grpId="1" nodeType="withEffect">
                                  <p:stCondLst>
                                    <p:cond delay="0"/>
                                  </p:stCondLst>
                                  <p:childTnLst>
                                    <p:anim calcmode="lin" valueType="num">
                                      <p:cBhvr additive="base">
                                        <p:cTn id="54" dur="500"/>
                                        <p:tgtEl>
                                          <p:spTgt spid="14"/>
                                        </p:tgtEl>
                                        <p:attrNameLst>
                                          <p:attrName>ppt_x</p:attrName>
                                        </p:attrNameLst>
                                      </p:cBhvr>
                                      <p:tavLst>
                                        <p:tav tm="0">
                                          <p:val>
                                            <p:strVal val="ppt_x"/>
                                          </p:val>
                                        </p:tav>
                                        <p:tav tm="100000">
                                          <p:val>
                                            <p:strVal val="ppt_x"/>
                                          </p:val>
                                        </p:tav>
                                      </p:tavLst>
                                    </p:anim>
                                    <p:anim calcmode="lin" valueType="num">
                                      <p:cBhvr additive="base">
                                        <p:cTn id="55" dur="500"/>
                                        <p:tgtEl>
                                          <p:spTgt spid="14"/>
                                        </p:tgtEl>
                                        <p:attrNameLst>
                                          <p:attrName>ppt_y</p:attrName>
                                        </p:attrNameLst>
                                      </p:cBhvr>
                                      <p:tavLst>
                                        <p:tav tm="0">
                                          <p:val>
                                            <p:strVal val="ppt_y"/>
                                          </p:val>
                                        </p:tav>
                                        <p:tav tm="100000">
                                          <p:val>
                                            <p:strVal val="1+ppt_h/2"/>
                                          </p:val>
                                        </p:tav>
                                      </p:tavLst>
                                    </p:anim>
                                    <p:set>
                                      <p:cBhvr>
                                        <p:cTn id="56" dur="1" fill="hold">
                                          <p:stCondLst>
                                            <p:cond delay="499"/>
                                          </p:stCondLst>
                                        </p:cTn>
                                        <p:tgtEl>
                                          <p:spTgt spid="14"/>
                                        </p:tgtEl>
                                        <p:attrNameLst>
                                          <p:attrName>style.visibility</p:attrName>
                                        </p:attrNameLst>
                                      </p:cBhvr>
                                      <p:to>
                                        <p:strVal val="hidden"/>
                                      </p:to>
                                    </p:set>
                                  </p:childTnLst>
                                </p:cTn>
                              </p:par>
                              <p:par>
                                <p:cTn id="57" presetID="2" presetClass="exit" presetSubtype="4" fill="hold" grpId="1" nodeType="withEffect">
                                  <p:stCondLst>
                                    <p:cond delay="0"/>
                                  </p:stCondLst>
                                  <p:childTnLst>
                                    <p:anim calcmode="lin" valueType="num">
                                      <p:cBhvr additive="base">
                                        <p:cTn id="58" dur="500"/>
                                        <p:tgtEl>
                                          <p:spTgt spid="9"/>
                                        </p:tgtEl>
                                        <p:attrNameLst>
                                          <p:attrName>ppt_x</p:attrName>
                                        </p:attrNameLst>
                                      </p:cBhvr>
                                      <p:tavLst>
                                        <p:tav tm="0">
                                          <p:val>
                                            <p:strVal val="ppt_x"/>
                                          </p:val>
                                        </p:tav>
                                        <p:tav tm="100000">
                                          <p:val>
                                            <p:strVal val="ppt_x"/>
                                          </p:val>
                                        </p:tav>
                                      </p:tavLst>
                                    </p:anim>
                                    <p:anim calcmode="lin" valueType="num">
                                      <p:cBhvr additive="base">
                                        <p:cTn id="59" dur="500"/>
                                        <p:tgtEl>
                                          <p:spTgt spid="9"/>
                                        </p:tgtEl>
                                        <p:attrNameLst>
                                          <p:attrName>ppt_y</p:attrName>
                                        </p:attrNameLst>
                                      </p:cBhvr>
                                      <p:tavLst>
                                        <p:tav tm="0">
                                          <p:val>
                                            <p:strVal val="ppt_y"/>
                                          </p:val>
                                        </p:tav>
                                        <p:tav tm="100000">
                                          <p:val>
                                            <p:strVal val="1+ppt_h/2"/>
                                          </p:val>
                                        </p:tav>
                                      </p:tavLst>
                                    </p:anim>
                                    <p:set>
                                      <p:cBhvr>
                                        <p:cTn id="60" dur="1" fill="hold">
                                          <p:stCondLst>
                                            <p:cond delay="499"/>
                                          </p:stCondLst>
                                        </p:cTn>
                                        <p:tgtEl>
                                          <p:spTgt spid="9"/>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fade">
                                      <p:cBhvr>
                                        <p:cTn id="68" dur="500"/>
                                        <p:tgtEl>
                                          <p:spTgt spid="1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500"/>
                                        <p:tgtEl>
                                          <p:spTgt spid="20"/>
                                        </p:tgtEl>
                                      </p:cBhvr>
                                    </p:animEffect>
                                  </p:childTnLst>
                                </p:cTn>
                              </p:par>
                            </p:childTnLst>
                          </p:cTn>
                        </p:par>
                      </p:childTnLst>
                    </p:cTn>
                  </p:par>
                  <p:par>
                    <p:cTn id="72" fill="hold">
                      <p:stCondLst>
                        <p:cond delay="indefinite"/>
                      </p:stCondLst>
                      <p:childTnLst>
                        <p:par>
                          <p:cTn id="73" fill="hold">
                            <p:stCondLst>
                              <p:cond delay="0"/>
                            </p:stCondLst>
                            <p:childTnLst>
                              <p:par>
                                <p:cTn id="74" presetID="14" presetClass="entr" presetSubtype="10" fill="hold" grpId="0" nodeType="clickEffect">
                                  <p:stCondLst>
                                    <p:cond delay="0"/>
                                  </p:stCondLst>
                                  <p:childTnLst>
                                    <p:set>
                                      <p:cBhvr>
                                        <p:cTn id="75" dur="1" fill="hold">
                                          <p:stCondLst>
                                            <p:cond delay="0"/>
                                          </p:stCondLst>
                                        </p:cTn>
                                        <p:tgtEl>
                                          <p:spTgt spid="2"/>
                                        </p:tgtEl>
                                        <p:attrNameLst>
                                          <p:attrName>style.visibility</p:attrName>
                                        </p:attrNameLst>
                                      </p:cBhvr>
                                      <p:to>
                                        <p:strVal val="visible"/>
                                      </p:to>
                                    </p:set>
                                    <p:animEffect transition="in" filter="randombar(horizontal)">
                                      <p:cBhvr>
                                        <p:cTn id="7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animBg="1"/>
      <p:bldP spid="9" grpId="1" animBg="1"/>
      <p:bldP spid="12" grpId="0" animBg="1"/>
      <p:bldP spid="12" grpId="1" animBg="1"/>
      <p:bldP spid="13" grpId="0" animBg="1"/>
      <p:bldP spid="13" grpId="1" animBg="1"/>
      <p:bldP spid="10" grpId="0"/>
      <p:bldP spid="10" grpId="1"/>
      <p:bldP spid="11" grpId="0"/>
      <p:bldP spid="11" grpId="1"/>
      <p:bldP spid="14" grpId="0"/>
      <p:bldP spid="14" grpId="1"/>
      <p:bldP spid="15" grpId="0"/>
      <p:bldP spid="18"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354491"/>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marL="285750" indent="-285750">
              <a:lnSpc>
                <a:spcPct val="150000"/>
              </a:lnSpc>
              <a:buFont typeface="Arial" panose="020B0604020202020204" pitchFamily="34" charset="0"/>
              <a:buChar char="•"/>
            </a:pPr>
            <a:endParaRPr lang="zh-CN" altLang="en-US" sz="1400" dirty="0"/>
          </a:p>
          <a:p>
            <a:pPr marL="285750" indent="-285750">
              <a:lnSpc>
                <a:spcPct val="150000"/>
              </a:lnSpc>
              <a:buFont typeface="Arial" panose="020B0604020202020204" pitchFamily="34" charset="0"/>
              <a:buChar char="•"/>
            </a:pPr>
            <a:r>
              <a:rPr lang="zh-CN" altLang="en-US" sz="1400" dirty="0" smtClean="0"/>
              <a:t>数据分析（主要依赖</a:t>
            </a:r>
            <a:r>
              <a:rPr lang="en-US" altLang="zh-CN" sz="1400" dirty="0" smtClean="0"/>
              <a:t>Excel</a:t>
            </a:r>
            <a:r>
              <a:rPr lang="zh-CN" altLang="en-US" sz="1400" dirty="0" smtClean="0"/>
              <a:t>表格工具）：</a:t>
            </a:r>
            <a:endParaRPr lang="en-US" altLang="zh-CN" sz="1400" dirty="0" smtClean="0"/>
          </a:p>
          <a:p>
            <a:pPr marL="742950" lvl="1" indent="-285750">
              <a:lnSpc>
                <a:spcPct val="150000"/>
              </a:lnSpc>
              <a:buFont typeface="Arial" panose="020B0604020202020204" pitchFamily="34" charset="0"/>
              <a:buChar char="•"/>
            </a:pPr>
            <a:r>
              <a:rPr lang="zh-CN" altLang="en-US" sz="1400" dirty="0"/>
              <a:t>原始</a:t>
            </a:r>
            <a:r>
              <a:rPr lang="zh-CN" altLang="en-US" sz="1400" dirty="0" smtClean="0"/>
              <a:t>表格</a:t>
            </a:r>
            <a:r>
              <a:rPr lang="zh-CN" altLang="en-US" sz="1400" dirty="0" smtClean="0">
                <a:solidFill>
                  <a:srgbClr val="FF0000"/>
                </a:solidFill>
              </a:rPr>
              <a:t>手动拆分</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数据子表</a:t>
            </a:r>
            <a:r>
              <a:rPr lang="zh-CN" altLang="en-US" sz="1400" dirty="0">
                <a:solidFill>
                  <a:srgbClr val="FF0000"/>
                </a:solidFill>
              </a:rPr>
              <a:t>手动合并</a:t>
            </a:r>
            <a:endParaRPr lang="en-US" altLang="zh-CN" sz="1400" dirty="0">
              <a:solidFill>
                <a:srgbClr val="FF0000"/>
              </a:solidFill>
            </a:endParaRPr>
          </a:p>
          <a:p>
            <a:pPr marL="742950" lvl="1" indent="-285750">
              <a:lnSpc>
                <a:spcPct val="150000"/>
              </a:lnSpc>
              <a:buFont typeface="Arial" panose="020B0604020202020204" pitchFamily="34" charset="0"/>
              <a:buChar char="•"/>
            </a:pPr>
            <a:r>
              <a:rPr lang="zh-CN" altLang="en-US" sz="1400" dirty="0" smtClean="0"/>
              <a:t>处理过程</a:t>
            </a:r>
            <a:r>
              <a:rPr lang="zh-CN" altLang="en-US" sz="1400" dirty="0">
                <a:solidFill>
                  <a:srgbClr val="FF0000"/>
                </a:solidFill>
              </a:rPr>
              <a:t>经验指导</a:t>
            </a:r>
            <a:endParaRPr lang="en-US" altLang="zh-CN" sz="1400" dirty="0">
              <a:solidFill>
                <a:srgbClr val="FF0000"/>
              </a:solidFill>
            </a:endParaRPr>
          </a:p>
          <a:p>
            <a:pPr marL="742950" lvl="1" indent="-285750">
              <a:lnSpc>
                <a:spcPct val="150000"/>
              </a:lnSpc>
              <a:buFont typeface="Arial" panose="020B0604020202020204" pitchFamily="34" charset="0"/>
              <a:buChar char="•"/>
            </a:pPr>
            <a:r>
              <a:rPr lang="zh-CN" altLang="en-US" sz="1400" dirty="0" smtClean="0"/>
              <a:t>数据分析</a:t>
            </a:r>
            <a:r>
              <a:rPr lang="zh-CN" altLang="en-US" sz="1400" dirty="0">
                <a:solidFill>
                  <a:srgbClr val="FF0000"/>
                </a:solidFill>
              </a:rPr>
              <a:t>缺乏深度</a:t>
            </a:r>
            <a:endParaRPr lang="en-US" altLang="zh-CN" sz="1400" dirty="0">
              <a:solidFill>
                <a:srgbClr val="FF0000"/>
              </a:solidFill>
            </a:endParaRPr>
          </a:p>
        </p:txBody>
      </p:sp>
      <p:sp>
        <p:nvSpPr>
          <p:cNvPr id="7" name="文本框 6"/>
          <p:cNvSpPr txBox="1"/>
          <p:nvPr/>
        </p:nvSpPr>
        <p:spPr>
          <a:xfrm>
            <a:off x="7267575" y="5395740"/>
            <a:ext cx="2247900" cy="1027397"/>
          </a:xfrm>
          <a:prstGeom prst="rect">
            <a:avLst/>
          </a:prstGeom>
          <a:noFill/>
        </p:spPr>
        <p:txBody>
          <a:bodyPr wrap="square" rtlCol="0">
            <a:spAutoFit/>
          </a:bodyPr>
          <a:lstStyle/>
          <a:p>
            <a:pPr indent="457200">
              <a:lnSpc>
                <a:spcPct val="150000"/>
              </a:lnSpc>
            </a:pPr>
            <a:r>
              <a:rPr lang="zh-CN" altLang="en-US" sz="1400" dirty="0" smtClean="0"/>
              <a:t>月报还需基于本月数据对业务容量作出预测以及扩容需求分析</a:t>
            </a:r>
            <a:endParaRPr lang="zh-CN" altLang="en-US" sz="1400" dirty="0"/>
          </a:p>
        </p:txBody>
      </p:sp>
      <p:pic>
        <p:nvPicPr>
          <p:cNvPr id="9" name="图片 8"/>
          <p:cNvPicPr>
            <a:picLocks noChangeAspect="1"/>
          </p:cNvPicPr>
          <p:nvPr/>
        </p:nvPicPr>
        <p:blipFill>
          <a:blip r:embed="rId3"/>
          <a:stretch>
            <a:fillRect/>
          </a:stretch>
        </p:blipFill>
        <p:spPr>
          <a:xfrm>
            <a:off x="5194424" y="447983"/>
            <a:ext cx="6997576" cy="5044088"/>
          </a:xfrm>
          <a:prstGeom prst="rect">
            <a:avLst/>
          </a:prstGeom>
        </p:spPr>
      </p:pic>
    </p:spTree>
    <p:extLst>
      <p:ext uri="{BB962C8B-B14F-4D97-AF65-F5344CB8AC3E}">
        <p14:creationId xmlns:p14="http://schemas.microsoft.com/office/powerpoint/2010/main" val="4020900888"/>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4945565" cy="369332"/>
          </a:xfrm>
          <a:prstGeom prst="rect">
            <a:avLst/>
          </a:prstGeom>
          <a:noFill/>
        </p:spPr>
        <p:txBody>
          <a:bodyPr wrap="square" rtlCol="0">
            <a:spAutoFit/>
          </a:bodyPr>
          <a:lstStyle/>
          <a:p>
            <a:r>
              <a:rPr lang="zh-CN" altLang="en-US" dirty="0" smtClean="0">
                <a:solidFill>
                  <a:srgbClr val="333F50"/>
                </a:solidFill>
              </a:rPr>
              <a:t>网维工作的现况</a:t>
            </a:r>
            <a:r>
              <a:rPr lang="en-US" altLang="zh-CN" dirty="0" smtClean="0">
                <a:solidFill>
                  <a:srgbClr val="333F50"/>
                </a:solidFill>
              </a:rPr>
              <a:t>-</a:t>
            </a:r>
            <a:r>
              <a:rPr lang="zh-CN" altLang="en-US" dirty="0" smtClean="0">
                <a:solidFill>
                  <a:srgbClr val="333F50"/>
                </a:solidFill>
              </a:rPr>
              <a:t>（以城域网维护报表制作为例）</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986064" y="2057400"/>
            <a:ext cx="3757386" cy="2031325"/>
          </a:xfrm>
          <a:prstGeom prst="rect">
            <a:avLst/>
          </a:prstGeom>
          <a:noFill/>
        </p:spPr>
        <p:txBody>
          <a:bodyPr wrap="square" rtlCol="0">
            <a:spAutoFit/>
          </a:bodyPr>
          <a:lstStyle/>
          <a:p>
            <a:pPr indent="457200">
              <a:lnSpc>
                <a:spcPct val="150000"/>
              </a:lnSpc>
            </a:pPr>
            <a:r>
              <a:rPr lang="zh-CN" altLang="en-US" sz="1400" b="1" dirty="0" smtClean="0"/>
              <a:t>现阶段工作流程中的不足</a:t>
            </a:r>
            <a:endParaRPr lang="en-US" altLang="zh-CN" sz="1400" b="1" dirty="0" smtClean="0"/>
          </a:p>
          <a:p>
            <a:pPr>
              <a:lnSpc>
                <a:spcPct val="150000"/>
              </a:lnSpc>
            </a:pPr>
            <a:endParaRPr lang="zh-CN" altLang="en-US" sz="1400" dirty="0"/>
          </a:p>
          <a:p>
            <a:pPr marL="285750" indent="-285750">
              <a:lnSpc>
                <a:spcPct val="150000"/>
              </a:lnSpc>
              <a:buFont typeface="Arial" panose="020B0604020202020204" pitchFamily="34" charset="0"/>
              <a:buChar char="•"/>
            </a:pPr>
            <a:r>
              <a:rPr lang="zh-CN" altLang="en-US" sz="1400" dirty="0"/>
              <a:t>数据呈现</a:t>
            </a:r>
            <a:r>
              <a:rPr lang="zh-CN" altLang="en-US" sz="1400" dirty="0" smtClean="0"/>
              <a:t>：</a:t>
            </a:r>
            <a:endParaRPr lang="en-US" altLang="zh-CN" sz="1400" dirty="0"/>
          </a:p>
          <a:p>
            <a:pPr marL="742950" lvl="1" indent="-285750">
              <a:lnSpc>
                <a:spcPct val="150000"/>
              </a:lnSpc>
              <a:buFont typeface="Arial" panose="020B0604020202020204" pitchFamily="34" charset="0"/>
              <a:buChar char="•"/>
            </a:pPr>
            <a:r>
              <a:rPr lang="zh-CN" altLang="en-US" sz="1400" dirty="0" smtClean="0"/>
              <a:t>呈现数据</a:t>
            </a:r>
            <a:r>
              <a:rPr lang="zh-CN" altLang="en-US" sz="1400" dirty="0" smtClean="0">
                <a:solidFill>
                  <a:srgbClr val="FF0000"/>
                </a:solidFill>
              </a:rPr>
              <a:t>手动整理</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a:t>呈现形式</a:t>
            </a:r>
            <a:r>
              <a:rPr lang="zh-CN" altLang="en-US" sz="1400" dirty="0" smtClean="0">
                <a:solidFill>
                  <a:srgbClr val="FF0000"/>
                </a:solidFill>
              </a:rPr>
              <a:t>单一固化</a:t>
            </a:r>
            <a:endParaRPr lang="en-US" altLang="zh-CN" sz="1400" dirty="0" smtClean="0">
              <a:solidFill>
                <a:srgbClr val="FF0000"/>
              </a:solidFill>
            </a:endParaRPr>
          </a:p>
          <a:p>
            <a:pPr marL="742950" lvl="1" indent="-285750">
              <a:lnSpc>
                <a:spcPct val="150000"/>
              </a:lnSpc>
              <a:buFont typeface="Arial" panose="020B0604020202020204" pitchFamily="34" charset="0"/>
              <a:buChar char="•"/>
            </a:pPr>
            <a:r>
              <a:rPr lang="zh-CN" altLang="en-US" sz="1400" dirty="0" smtClean="0"/>
              <a:t>通报途径</a:t>
            </a:r>
            <a:r>
              <a:rPr lang="zh-CN" altLang="en-US" sz="1400" dirty="0" smtClean="0">
                <a:solidFill>
                  <a:srgbClr val="FF0000"/>
                </a:solidFill>
              </a:rPr>
              <a:t>不够有效</a:t>
            </a:r>
            <a:endParaRPr lang="zh-CN" altLang="en-US" sz="1400" dirty="0">
              <a:solidFill>
                <a:srgbClr val="FF0000"/>
              </a:solidFill>
            </a:endParaRPr>
          </a:p>
        </p:txBody>
      </p:sp>
      <p:pic>
        <p:nvPicPr>
          <p:cNvPr id="9" name="图片 8"/>
          <p:cNvPicPr>
            <a:picLocks noChangeAspect="1"/>
          </p:cNvPicPr>
          <p:nvPr/>
        </p:nvPicPr>
        <p:blipFill>
          <a:blip r:embed="rId2"/>
          <a:stretch>
            <a:fillRect/>
          </a:stretch>
        </p:blipFill>
        <p:spPr>
          <a:xfrm>
            <a:off x="5980051" y="10310"/>
            <a:ext cx="5834577" cy="6885258"/>
          </a:xfrm>
          <a:prstGeom prst="rect">
            <a:avLst/>
          </a:prstGeom>
        </p:spPr>
      </p:pic>
      <p:pic>
        <p:nvPicPr>
          <p:cNvPr id="13" name="图片 12"/>
          <p:cNvPicPr>
            <a:picLocks noChangeAspect="1"/>
          </p:cNvPicPr>
          <p:nvPr/>
        </p:nvPicPr>
        <p:blipFill>
          <a:blip r:embed="rId3"/>
          <a:stretch>
            <a:fillRect/>
          </a:stretch>
        </p:blipFill>
        <p:spPr>
          <a:xfrm>
            <a:off x="7323076" y="247134"/>
            <a:ext cx="4476750" cy="2029431"/>
          </a:xfrm>
          <a:prstGeom prst="rect">
            <a:avLst/>
          </a:prstGeom>
        </p:spPr>
      </p:pic>
      <p:pic>
        <p:nvPicPr>
          <p:cNvPr id="10" name="图片 9"/>
          <p:cNvPicPr>
            <a:picLocks noChangeAspect="1"/>
          </p:cNvPicPr>
          <p:nvPr/>
        </p:nvPicPr>
        <p:blipFill>
          <a:blip r:embed="rId4"/>
          <a:stretch>
            <a:fillRect/>
          </a:stretch>
        </p:blipFill>
        <p:spPr>
          <a:xfrm>
            <a:off x="6651114" y="3452939"/>
            <a:ext cx="5476190" cy="2857143"/>
          </a:xfrm>
          <a:prstGeom prst="rect">
            <a:avLst/>
          </a:prstGeom>
        </p:spPr>
      </p:pic>
    </p:spTree>
    <p:extLst>
      <p:ext uri="{BB962C8B-B14F-4D97-AF65-F5344CB8AC3E}">
        <p14:creationId xmlns:p14="http://schemas.microsoft.com/office/powerpoint/2010/main" val="123090535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3"/>
                                        </p:tgtEl>
                                        <p:attrNameLst>
                                          <p:attrName>ppt_x</p:attrName>
                                        </p:attrNameLst>
                                      </p:cBhvr>
                                      <p:tavLst>
                                        <p:tav tm="0">
                                          <p:val>
                                            <p:strVal val="ppt_x"/>
                                          </p:val>
                                        </p:tav>
                                        <p:tav tm="100000">
                                          <p:val>
                                            <p:strVal val="ppt_x"/>
                                          </p:val>
                                        </p:tav>
                                      </p:tavLst>
                                    </p:anim>
                                    <p:anim calcmode="lin" valueType="num">
                                      <p:cBhvr additive="base">
                                        <p:cTn id="13" dur="500"/>
                                        <p:tgtEl>
                                          <p:spTgt spid="13"/>
                                        </p:tgtEl>
                                        <p:attrNameLst>
                                          <p:attrName>ppt_y</p:attrName>
                                        </p:attrNameLst>
                                      </p:cBhvr>
                                      <p:tavLst>
                                        <p:tav tm="0">
                                          <p:val>
                                            <p:strVal val="ppt_y"/>
                                          </p:val>
                                        </p:tav>
                                        <p:tav tm="100000">
                                          <p:val>
                                            <p:strVal val="1+ppt_h/2"/>
                                          </p:val>
                                        </p:tav>
                                      </p:tavLst>
                                    </p:anim>
                                    <p:set>
                                      <p:cBhvr>
                                        <p:cTn id="14" dur="1" fill="hold">
                                          <p:stCondLst>
                                            <p:cond delay="499"/>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10"/>
                                        </p:tgtEl>
                                        <p:attrNameLst>
                                          <p:attrName>ppt_x</p:attrName>
                                        </p:attrNameLst>
                                      </p:cBhvr>
                                      <p:tavLst>
                                        <p:tav tm="0">
                                          <p:val>
                                            <p:strVal val="ppt_x"/>
                                          </p:val>
                                        </p:tav>
                                        <p:tav tm="100000">
                                          <p:val>
                                            <p:strVal val="ppt_x"/>
                                          </p:val>
                                        </p:tav>
                                      </p:tavLst>
                                    </p:anim>
                                    <p:anim calcmode="lin" valueType="num">
                                      <p:cBhvr additive="base">
                                        <p:cTn id="25" dur="500"/>
                                        <p:tgtEl>
                                          <p:spTgt spid="10"/>
                                        </p:tgtEl>
                                        <p:attrNameLst>
                                          <p:attrName>ppt_y</p:attrName>
                                        </p:attrNameLst>
                                      </p:cBhvr>
                                      <p:tavLst>
                                        <p:tav tm="0">
                                          <p:val>
                                            <p:strVal val="ppt_y"/>
                                          </p:val>
                                        </p:tav>
                                        <p:tav tm="100000">
                                          <p:val>
                                            <p:strVal val="1+ppt_h/2"/>
                                          </p:val>
                                        </p:tav>
                                      </p:tavLst>
                                    </p:anim>
                                    <p:set>
                                      <p:cBhvr>
                                        <p:cTn id="26"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4390162" y="4152901"/>
            <a:ext cx="629513" cy="514350"/>
          </a:xfrm>
          <a:prstGeom prst="rect">
            <a:avLst/>
          </a:prstGeom>
          <a:noFill/>
          <a:ln w="571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pic>
        <p:nvPicPr>
          <p:cNvPr id="10" name="图片 9"/>
          <p:cNvPicPr>
            <a:picLocks noChangeAspect="1"/>
          </p:cNvPicPr>
          <p:nvPr/>
        </p:nvPicPr>
        <p:blipFill>
          <a:blip r:embed="rId3"/>
          <a:stretch>
            <a:fillRect/>
          </a:stretch>
        </p:blipFill>
        <p:spPr>
          <a:xfrm>
            <a:off x="0" y="1268263"/>
            <a:ext cx="12207375" cy="4103110"/>
          </a:xfrm>
          <a:prstGeom prst="rect">
            <a:avLst/>
          </a:prstGeom>
        </p:spPr>
      </p:pic>
      <p:sp>
        <p:nvSpPr>
          <p:cNvPr id="2" name="文本框 1"/>
          <p:cNvSpPr txBox="1"/>
          <p:nvPr/>
        </p:nvSpPr>
        <p:spPr>
          <a:xfrm>
            <a:off x="3705225" y="5802535"/>
            <a:ext cx="5734050" cy="338554"/>
          </a:xfrm>
          <a:prstGeom prst="rect">
            <a:avLst/>
          </a:prstGeom>
          <a:noFill/>
        </p:spPr>
        <p:txBody>
          <a:bodyPr wrap="square" rtlCol="0">
            <a:spAutoFit/>
          </a:bodyPr>
          <a:lstStyle/>
          <a:p>
            <a:r>
              <a:rPr lang="zh-CN" altLang="en-US" sz="1600" dirty="0" smtClean="0">
                <a:latin typeface="+mn-ea"/>
              </a:rPr>
              <a:t>维护报表制作只是所有</a:t>
            </a:r>
            <a:r>
              <a:rPr lang="en-US" altLang="zh-CN" sz="1600" dirty="0" smtClean="0">
                <a:latin typeface="+mn-ea"/>
              </a:rPr>
              <a:t>13</a:t>
            </a:r>
            <a:r>
              <a:rPr lang="zh-CN" altLang="en-US" sz="1600" dirty="0" smtClean="0">
                <a:latin typeface="+mn-ea"/>
              </a:rPr>
              <a:t>类网络中城域网工作中的一小部分</a:t>
            </a:r>
            <a:endParaRPr lang="zh-CN" altLang="en-US" sz="1600" dirty="0">
              <a:latin typeface="+mn-ea"/>
            </a:endParaRPr>
          </a:p>
        </p:txBody>
      </p:sp>
    </p:spTree>
    <p:extLst>
      <p:ext uri="{BB962C8B-B14F-4D97-AF65-F5344CB8AC3E}">
        <p14:creationId xmlns:p14="http://schemas.microsoft.com/office/powerpoint/2010/main" val="82617577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网络</a:t>
            </a:r>
            <a:r>
              <a:rPr lang="zh-CN" altLang="en-US" dirty="0" smtClean="0">
                <a:solidFill>
                  <a:srgbClr val="333F50"/>
                </a:solidFill>
              </a:rPr>
              <a:t>运维的现阶段情况</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922574" y="1662145"/>
            <a:ext cx="10335976" cy="4626139"/>
          </a:xfrm>
          <a:prstGeom prst="rect">
            <a:avLst/>
          </a:prstGeom>
        </p:spPr>
      </p:pic>
    </p:spTree>
    <p:extLst>
      <p:ext uri="{BB962C8B-B14F-4D97-AF65-F5344CB8AC3E}">
        <p14:creationId xmlns:p14="http://schemas.microsoft.com/office/powerpoint/2010/main" val="240024735"/>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410981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平台应用</a:t>
            </a:r>
            <a:r>
              <a:rPr lang="en-US" altLang="zh-CN" sz="3200" b="1" dirty="0" smtClean="0">
                <a:latin typeface="微软雅黑" panose="020B0503020204020204" pitchFamily="34" charset="-122"/>
                <a:ea typeface="微软雅黑" panose="020B0503020204020204" pitchFamily="34" charset="-122"/>
              </a:rPr>
              <a:t>-</a:t>
            </a:r>
            <a:r>
              <a:rPr lang="zh-CN" altLang="en-US" sz="3200" b="1" dirty="0" smtClean="0">
                <a:latin typeface="微软雅黑" panose="020B0503020204020204" pitchFamily="34" charset="-122"/>
                <a:ea typeface="微软雅黑" panose="020B0503020204020204" pitchFamily="34" charset="-122"/>
              </a:rPr>
              <a:t>网络全景图</a:t>
            </a:r>
            <a:r>
              <a:rPr lang="en-US" altLang="zh-CN" sz="3200" b="1" dirty="0" smtClean="0">
                <a:latin typeface="微软雅黑" panose="020B0503020204020204" pitchFamily="34" charset="-122"/>
                <a:ea typeface="微软雅黑" panose="020B0503020204020204" pitchFamily="34" charset="-122"/>
              </a:rPr>
              <a:t> </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624113" y="896821"/>
            <a:ext cx="8058150" cy="463588"/>
          </a:xfrm>
          <a:prstGeom prst="rect">
            <a:avLst/>
          </a:prstGeom>
          <a:noFill/>
        </p:spPr>
        <p:txBody>
          <a:bodyPr wrap="square" rtlCol="0">
            <a:spAutoFit/>
          </a:bodyPr>
          <a:lstStyle/>
          <a:p>
            <a:pPr indent="457200">
              <a:lnSpc>
                <a:spcPct val="150000"/>
              </a:lnSpc>
            </a:pPr>
            <a:r>
              <a:rPr lang="zh-CN" altLang="en-US" dirty="0" smtClean="0"/>
              <a:t>驾驶舱简介</a:t>
            </a:r>
            <a:endParaRPr lang="zh-CN" altLang="en-US" dirty="0"/>
          </a:p>
        </p:txBody>
      </p:sp>
      <p:sp>
        <p:nvSpPr>
          <p:cNvPr id="3" name="文本框 2"/>
          <p:cNvSpPr txBox="1"/>
          <p:nvPr/>
        </p:nvSpPr>
        <p:spPr>
          <a:xfrm>
            <a:off x="624113" y="1562100"/>
            <a:ext cx="4732019"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全局总览，整体把控</a:t>
            </a:r>
            <a:endParaRPr lang="en-US" altLang="zh-CN" dirty="0" smtClean="0"/>
          </a:p>
          <a:p>
            <a:pPr marL="285750" indent="285750">
              <a:lnSpc>
                <a:spcPct val="150000"/>
              </a:lnSpc>
              <a:buFont typeface="Arial" panose="020B0604020202020204" pitchFamily="34" charset="0"/>
              <a:buChar char="•"/>
            </a:pPr>
            <a:endParaRPr lang="zh-CN" altLang="en-US" dirty="0"/>
          </a:p>
        </p:txBody>
      </p:sp>
      <p:pic>
        <p:nvPicPr>
          <p:cNvPr id="7" name="图片 6"/>
          <p:cNvPicPr>
            <a:picLocks noChangeAspect="1"/>
          </p:cNvPicPr>
          <p:nvPr/>
        </p:nvPicPr>
        <p:blipFill>
          <a:blip r:embed="rId2"/>
          <a:stretch>
            <a:fillRect/>
          </a:stretch>
        </p:blipFill>
        <p:spPr>
          <a:xfrm>
            <a:off x="1570875" y="2023765"/>
            <a:ext cx="9459076" cy="4373346"/>
          </a:xfrm>
          <a:prstGeom prst="rect">
            <a:avLst/>
          </a:prstGeom>
        </p:spPr>
      </p:pic>
    </p:spTree>
    <p:extLst>
      <p:ext uri="{BB962C8B-B14F-4D97-AF65-F5344CB8AC3E}">
        <p14:creationId xmlns:p14="http://schemas.microsoft.com/office/powerpoint/2010/main" val="4224749760"/>
      </p:ext>
    </p:extLst>
  </p:cSld>
  <p:clrMapOvr>
    <a:masterClrMapping/>
  </p:clrMapOvr>
  <p:transition spd="med">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38197"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平台应用</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智慧化网络运维（</a:t>
            </a:r>
            <a:r>
              <a:rPr lang="en-US" altLang="zh-CN" sz="2400" b="1" dirty="0" err="1">
                <a:latin typeface="微软雅黑" panose="020B0503020204020204" pitchFamily="34" charset="-122"/>
                <a:ea typeface="微软雅黑" panose="020B0503020204020204" pitchFamily="34" charset="-122"/>
              </a:rPr>
              <a:t>AIOps</a:t>
            </a:r>
            <a:r>
              <a:rPr lang="zh-CN" altLang="en-US" sz="2400" b="1" dirty="0">
                <a:latin typeface="微软雅黑" panose="020B0503020204020204" pitchFamily="34" charset="-122"/>
                <a:ea typeface="微软雅黑" panose="020B0503020204020204" pitchFamily="34" charset="-122"/>
              </a:rPr>
              <a:t>）</a:t>
            </a: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流程图: 过程 2"/>
          <p:cNvSpPr/>
          <p:nvPr/>
        </p:nvSpPr>
        <p:spPr>
          <a:xfrm>
            <a:off x="1083452" y="1612098"/>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smtClean="0"/>
              <a:t>手工运维</a:t>
            </a:r>
            <a:endParaRPr lang="zh-CN" altLang="en-US" sz="2400" dirty="0"/>
          </a:p>
        </p:txBody>
      </p:sp>
      <p:sp>
        <p:nvSpPr>
          <p:cNvPr id="20" name="流程图: 过程 19"/>
          <p:cNvSpPr/>
          <p:nvPr/>
        </p:nvSpPr>
        <p:spPr>
          <a:xfrm>
            <a:off x="4715546"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自动</a:t>
            </a:r>
            <a:r>
              <a:rPr lang="zh-CN" altLang="en-US" sz="2400" dirty="0" smtClean="0"/>
              <a:t>运维</a:t>
            </a:r>
            <a:endParaRPr lang="zh-CN" altLang="en-US" sz="2400" dirty="0"/>
          </a:p>
        </p:txBody>
      </p:sp>
      <p:sp>
        <p:nvSpPr>
          <p:cNvPr id="21" name="流程图: 过程 20"/>
          <p:cNvSpPr/>
          <p:nvPr/>
        </p:nvSpPr>
        <p:spPr>
          <a:xfrm>
            <a:off x="8347640" y="1611155"/>
            <a:ext cx="2235881" cy="956905"/>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智慧</a:t>
            </a:r>
            <a:r>
              <a:rPr lang="zh-CN" altLang="en-US" sz="2400" dirty="0" smtClean="0"/>
              <a:t>运维（</a:t>
            </a:r>
            <a:r>
              <a:rPr lang="en-US" altLang="zh-CN" sz="2400" dirty="0" err="1" smtClean="0"/>
              <a:t>AIOps</a:t>
            </a:r>
            <a:r>
              <a:rPr lang="zh-CN" altLang="en-US" sz="2400" dirty="0" smtClean="0"/>
              <a:t>）</a:t>
            </a:r>
            <a:endParaRPr lang="en-US" altLang="zh-CN" sz="2400" dirty="0" smtClean="0"/>
          </a:p>
        </p:txBody>
      </p:sp>
      <p:sp>
        <p:nvSpPr>
          <p:cNvPr id="7" name="上箭头 6"/>
          <p:cNvSpPr/>
          <p:nvPr/>
        </p:nvSpPr>
        <p:spPr>
          <a:xfrm rot="5400000">
            <a:off x="3772056" y="1780216"/>
            <a:ext cx="490764" cy="614589"/>
          </a:xfrm>
          <a:prstGeom prst="upArrow">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sp>
        <p:nvSpPr>
          <p:cNvPr id="23" name="上箭头 22"/>
          <p:cNvSpPr/>
          <p:nvPr/>
        </p:nvSpPr>
        <p:spPr>
          <a:xfrm rot="5400000">
            <a:off x="7404153" y="1782312"/>
            <a:ext cx="490764" cy="614589"/>
          </a:xfrm>
          <a:prstGeom prst="up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graphicFrame>
        <p:nvGraphicFramePr>
          <p:cNvPr id="10" name="图表 9"/>
          <p:cNvGraphicFramePr/>
          <p:nvPr>
            <p:extLst/>
          </p:nvPr>
        </p:nvGraphicFramePr>
        <p:xfrm>
          <a:off x="3319333" y="3400841"/>
          <a:ext cx="4690836" cy="2537340"/>
        </p:xfrm>
        <a:graphic>
          <a:graphicData uri="http://schemas.openxmlformats.org/drawingml/2006/chart">
            <c:chart xmlns:c="http://schemas.openxmlformats.org/drawingml/2006/chart" xmlns:r="http://schemas.openxmlformats.org/officeDocument/2006/relationships" r:id="rId3"/>
          </a:graphicData>
        </a:graphic>
      </p:graphicFrame>
      <p:sp>
        <p:nvSpPr>
          <p:cNvPr id="32" name="文本框 31"/>
          <p:cNvSpPr txBox="1"/>
          <p:nvPr/>
        </p:nvSpPr>
        <p:spPr>
          <a:xfrm>
            <a:off x="7862311" y="3630237"/>
            <a:ext cx="4082039" cy="2031325"/>
          </a:xfrm>
          <a:prstGeom prst="rect">
            <a:avLst/>
          </a:prstGeom>
          <a:noFill/>
        </p:spPr>
        <p:txBody>
          <a:bodyPr wrap="square" rtlCol="0">
            <a:spAutoFit/>
          </a:bodyPr>
          <a:lstStyle/>
          <a:p>
            <a:pPr indent="457200">
              <a:lnSpc>
                <a:spcPct val="150000"/>
              </a:lnSpc>
            </a:pPr>
            <a:r>
              <a:rPr lang="zh-CN" altLang="en-US" sz="1400" dirty="0" smtClean="0"/>
              <a:t>新的挑战：</a:t>
            </a:r>
            <a:endParaRPr lang="en-US" altLang="zh-CN" sz="1400" dirty="0" smtClean="0"/>
          </a:p>
          <a:p>
            <a:pPr marL="285750" indent="-285750">
              <a:lnSpc>
                <a:spcPct val="150000"/>
              </a:lnSpc>
              <a:buFont typeface="Arial" panose="020B0604020202020204" pitchFamily="34" charset="0"/>
              <a:buChar char="•"/>
            </a:pPr>
            <a:r>
              <a:rPr lang="zh-CN" altLang="en-US" sz="1400" dirty="0" smtClean="0"/>
              <a:t>海量监测</a:t>
            </a:r>
            <a:r>
              <a:rPr lang="en-US" altLang="zh-CN" sz="1400" dirty="0" smtClean="0"/>
              <a:t>KPI</a:t>
            </a:r>
            <a:r>
              <a:rPr lang="zh-CN" altLang="en-US" sz="1400" dirty="0" smtClean="0"/>
              <a:t>如何快速发现异常（带宽利用率、</a:t>
            </a:r>
            <a:r>
              <a:rPr lang="en-US" altLang="zh-CN" sz="1400" dirty="0" smtClean="0"/>
              <a:t>CPU</a:t>
            </a:r>
            <a:r>
              <a:rPr lang="zh-CN" altLang="en-US" sz="1400" dirty="0" smtClean="0"/>
              <a:t>利用率、家宽用户数等）</a:t>
            </a:r>
            <a:endParaRPr lang="en-US" altLang="zh-CN" sz="1400" dirty="0" smtClean="0"/>
          </a:p>
          <a:p>
            <a:pPr marL="285750" indent="-285750">
              <a:lnSpc>
                <a:spcPct val="150000"/>
              </a:lnSpc>
              <a:buFont typeface="Arial" panose="020B0604020202020204" pitchFamily="34" charset="0"/>
              <a:buChar char="•"/>
            </a:pPr>
            <a:r>
              <a:rPr lang="zh-CN" altLang="en-US" sz="1400" dirty="0" smtClean="0"/>
              <a:t>繁杂的报警信息（硬件设备、传输、环境、性能）</a:t>
            </a:r>
            <a:endParaRPr lang="en-US" altLang="zh-CN" sz="1400" dirty="0" smtClean="0">
              <a:solidFill>
                <a:srgbClr val="FF0000"/>
              </a:solidFill>
            </a:endParaRPr>
          </a:p>
          <a:p>
            <a:pPr marL="285750" indent="-285750">
              <a:lnSpc>
                <a:spcPct val="150000"/>
              </a:lnSpc>
              <a:buFont typeface="Arial" panose="020B0604020202020204" pitchFamily="34" charset="0"/>
              <a:buChar char="•"/>
            </a:pPr>
            <a:r>
              <a:rPr lang="zh-CN" altLang="en-US" sz="1400" dirty="0" smtClean="0"/>
              <a:t>故障发生如何定位（线网组成复杂）</a:t>
            </a:r>
            <a:endParaRPr lang="en-US" altLang="zh-CN" sz="1400" dirty="0" smtClean="0">
              <a:solidFill>
                <a:srgbClr val="FF0000"/>
              </a:solidFill>
            </a:endParaRPr>
          </a:p>
        </p:txBody>
      </p:sp>
      <p:sp>
        <p:nvSpPr>
          <p:cNvPr id="2" name="右箭头 1"/>
          <p:cNvSpPr/>
          <p:nvPr/>
        </p:nvSpPr>
        <p:spPr>
          <a:xfrm rot="5400000">
            <a:off x="5493282" y="2850463"/>
            <a:ext cx="680407" cy="571916"/>
          </a:xfrm>
          <a:prstGeom prst="rightArrow">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971260" y="2832798"/>
            <a:ext cx="729031" cy="369332"/>
          </a:xfrm>
          <a:prstGeom prst="rect">
            <a:avLst/>
          </a:prstGeom>
          <a:noFill/>
        </p:spPr>
        <p:txBody>
          <a:bodyPr wrap="square" rtlCol="0">
            <a:spAutoFit/>
          </a:bodyPr>
          <a:lstStyle/>
          <a:p>
            <a:r>
              <a:rPr lang="zh-CN" altLang="en-US" dirty="0" smtClean="0"/>
              <a:t>解决</a:t>
            </a:r>
            <a:endParaRPr lang="zh-CN" altLang="en-US" dirty="0"/>
          </a:p>
        </p:txBody>
      </p:sp>
      <p:sp>
        <p:nvSpPr>
          <p:cNvPr id="9" name="下箭头 8"/>
          <p:cNvSpPr/>
          <p:nvPr/>
        </p:nvSpPr>
        <p:spPr>
          <a:xfrm rot="10800000">
            <a:off x="9326889" y="2758525"/>
            <a:ext cx="576441" cy="681246"/>
          </a:xfrm>
          <a:prstGeom prst="downArrow">
            <a:avLst/>
          </a:prstGeom>
          <a:solidFill>
            <a:srgbClr val="333F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9740190" y="3035382"/>
            <a:ext cx="729031" cy="369332"/>
          </a:xfrm>
          <a:prstGeom prst="rect">
            <a:avLst/>
          </a:prstGeom>
          <a:noFill/>
        </p:spPr>
        <p:txBody>
          <a:bodyPr wrap="square" rtlCol="0">
            <a:spAutoFit/>
          </a:bodyPr>
          <a:lstStyle/>
          <a:p>
            <a:r>
              <a:rPr lang="zh-CN" altLang="en-US" dirty="0" smtClean="0"/>
              <a:t>需要</a:t>
            </a:r>
            <a:endParaRPr lang="zh-CN" altLang="en-US" dirty="0"/>
          </a:p>
        </p:txBody>
      </p:sp>
      <p:sp>
        <p:nvSpPr>
          <p:cNvPr id="12" name="文本框 11"/>
          <p:cNvSpPr txBox="1"/>
          <p:nvPr/>
        </p:nvSpPr>
        <p:spPr>
          <a:xfrm>
            <a:off x="904793" y="3864304"/>
            <a:ext cx="2593198"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重复性劳动</a:t>
            </a:r>
            <a:endParaRPr lang="en-US" altLang="zh-CN" dirty="0" smtClean="0"/>
          </a:p>
          <a:p>
            <a:pPr marL="285750" indent="285750">
              <a:lnSpc>
                <a:spcPct val="150000"/>
              </a:lnSpc>
              <a:buFont typeface="Arial" panose="020B0604020202020204" pitchFamily="34" charset="0"/>
              <a:buChar char="•"/>
            </a:pPr>
            <a:r>
              <a:rPr lang="zh-CN" altLang="en-US" dirty="0" smtClean="0"/>
              <a:t>个人经验驱动</a:t>
            </a:r>
            <a:endParaRPr lang="en-US" altLang="zh-CN" dirty="0" smtClean="0"/>
          </a:p>
          <a:p>
            <a:pPr marL="285750" indent="285750">
              <a:lnSpc>
                <a:spcPct val="150000"/>
              </a:lnSpc>
              <a:buFont typeface="Arial" panose="020B0604020202020204" pitchFamily="34" charset="0"/>
              <a:buChar char="•"/>
            </a:pPr>
            <a:r>
              <a:rPr lang="zh-CN" altLang="en-US" dirty="0" smtClean="0"/>
              <a:t>人力资源耗费</a:t>
            </a:r>
            <a:endParaRPr lang="en-US" altLang="zh-CN" dirty="0" smtClean="0"/>
          </a:p>
        </p:txBody>
      </p:sp>
      <p:sp>
        <p:nvSpPr>
          <p:cNvPr id="22" name="矩形 21"/>
          <p:cNvSpPr/>
          <p:nvPr/>
        </p:nvSpPr>
        <p:spPr>
          <a:xfrm>
            <a:off x="0" y="2641226"/>
            <a:ext cx="12192000" cy="1594017"/>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r>
              <a:rPr lang="zh-CN" altLang="en-US" sz="2400" b="1" dirty="0">
                <a:solidFill>
                  <a:srgbClr val="FF0000"/>
                </a:solidFill>
              </a:rPr>
              <a:t>在自动化运维的基础上，</a:t>
            </a:r>
            <a:r>
              <a:rPr lang="zh-CN" altLang="zh-CN" sz="2400" b="1" dirty="0">
                <a:solidFill>
                  <a:srgbClr val="FF0000"/>
                </a:solidFill>
              </a:rPr>
              <a:t>通过人工智能的方式，进一步提升运维效率，包括运维决策、故障预测</a:t>
            </a:r>
            <a:r>
              <a:rPr lang="zh-CN" altLang="zh-CN" sz="2400" b="1" dirty="0" smtClean="0">
                <a:solidFill>
                  <a:srgbClr val="FF0000"/>
                </a:solidFill>
              </a:rPr>
              <a:t>和</a:t>
            </a:r>
            <a:r>
              <a:rPr lang="zh-CN" altLang="en-US" sz="2400" b="1" dirty="0" smtClean="0">
                <a:solidFill>
                  <a:srgbClr val="FF0000"/>
                </a:solidFill>
              </a:rPr>
              <a:t>数据</a:t>
            </a:r>
            <a:r>
              <a:rPr lang="zh-CN" altLang="zh-CN" sz="2400" b="1" dirty="0" smtClean="0">
                <a:solidFill>
                  <a:srgbClr val="FF0000"/>
                </a:solidFill>
              </a:rPr>
              <a:t>分析</a:t>
            </a:r>
            <a:r>
              <a:rPr lang="zh-CN" altLang="zh-CN" sz="2400" b="1" dirty="0">
                <a:solidFill>
                  <a:srgbClr val="FF0000"/>
                </a:solidFill>
              </a:rPr>
              <a:t>等</a:t>
            </a:r>
            <a:endParaRPr lang="zh-CN" altLang="en-US" sz="2400" b="1" dirty="0">
              <a:solidFill>
                <a:srgbClr val="FF0000"/>
              </a:solidFill>
            </a:endParaRPr>
          </a:p>
        </p:txBody>
      </p:sp>
    </p:spTree>
    <p:extLst>
      <p:ext uri="{BB962C8B-B14F-4D97-AF65-F5344CB8AC3E}">
        <p14:creationId xmlns:p14="http://schemas.microsoft.com/office/powerpoint/2010/main" val="38624499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arn(inVertical)">
                                      <p:cBhvr>
                                        <p:cTn id="29" dur="500"/>
                                        <p:tgtEl>
                                          <p:spTgt spid="10"/>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 calcmode="lin" valueType="num">
                                      <p:cBhvr additive="base">
                                        <p:cTn id="32" dur="500" fill="hold"/>
                                        <p:tgtEl>
                                          <p:spTgt spid="20"/>
                                        </p:tgtEl>
                                        <p:attrNameLst>
                                          <p:attrName>ppt_x</p:attrName>
                                        </p:attrNameLst>
                                      </p:cBhvr>
                                      <p:tavLst>
                                        <p:tav tm="0">
                                          <p:val>
                                            <p:strVal val="#ppt_x"/>
                                          </p:val>
                                        </p:tav>
                                        <p:tav tm="100000">
                                          <p:val>
                                            <p:strVal val="#ppt_x"/>
                                          </p:val>
                                        </p:tav>
                                      </p:tavLst>
                                    </p:anim>
                                    <p:anim calcmode="lin" valueType="num">
                                      <p:cBhvr additive="base">
                                        <p:cTn id="33"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barn(inVertical)">
                                      <p:cBhvr>
                                        <p:cTn id="38" dur="500"/>
                                        <p:tgtEl>
                                          <p:spTgt spid="3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22"/>
                                        </p:tgtEl>
                                        <p:attrNameLst>
                                          <p:attrName>style.visibility</p:attrName>
                                        </p:attrNameLst>
                                      </p:cBhvr>
                                      <p:to>
                                        <p:strVal val="visible"/>
                                      </p:to>
                                    </p:set>
                                    <p:anim calcmode="lin" valueType="num">
                                      <p:cBhvr additive="base">
                                        <p:cTn id="59" dur="500" fill="hold"/>
                                        <p:tgtEl>
                                          <p:spTgt spid="22"/>
                                        </p:tgtEl>
                                        <p:attrNameLst>
                                          <p:attrName>ppt_x</p:attrName>
                                        </p:attrNameLst>
                                      </p:cBhvr>
                                      <p:tavLst>
                                        <p:tav tm="0">
                                          <p:val>
                                            <p:strVal val="#ppt_x"/>
                                          </p:val>
                                        </p:tav>
                                        <p:tav tm="100000">
                                          <p:val>
                                            <p:strVal val="#ppt_x"/>
                                          </p:val>
                                        </p:tav>
                                      </p:tavLst>
                                    </p:anim>
                                    <p:anim calcmode="lin" valueType="num">
                                      <p:cBhvr additive="base">
                                        <p:cTn id="60"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P spid="21" grpId="0" animBg="1"/>
      <p:bldP spid="7" grpId="0" animBg="1"/>
      <p:bldP spid="23" grpId="0" animBg="1"/>
      <p:bldGraphic spid="10" grpId="0">
        <p:bldAsOne/>
      </p:bldGraphic>
      <p:bldP spid="32" grpId="0"/>
      <p:bldP spid="2" grpId="0" animBg="1"/>
      <p:bldP spid="8" grpId="0"/>
      <p:bldP spid="9" grpId="0" animBg="1"/>
      <p:bldP spid="19" grpId="0"/>
      <p:bldP spid="12" grpId="0"/>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72911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智慧化网络运维（</a:t>
            </a:r>
            <a:r>
              <a:rPr lang="en-US" altLang="zh-CN" sz="2400" b="1" dirty="0" err="1" smtClean="0">
                <a:latin typeface="微软雅黑" panose="020B0503020204020204" pitchFamily="34" charset="-122"/>
                <a:ea typeface="微软雅黑" panose="020B0503020204020204" pitchFamily="34" charset="-122"/>
              </a:rPr>
              <a:t>AIOps</a:t>
            </a:r>
            <a:r>
              <a:rPr lang="zh-CN" altLang="en-US" sz="2400" b="1" dirty="0" smtClean="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919389" y="1570146"/>
            <a:ext cx="9362135"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解决自动化运维中规则需要人为制定的缺点</a:t>
            </a:r>
            <a:endParaRPr lang="en-US" altLang="zh-CN" dirty="0" smtClean="0"/>
          </a:p>
          <a:p>
            <a:pPr marL="285750" indent="-285750">
              <a:lnSpc>
                <a:spcPct val="150000"/>
              </a:lnSpc>
              <a:buFont typeface="Arial" panose="020B0604020202020204" pitchFamily="34" charset="0"/>
              <a:buChar char="•"/>
            </a:pPr>
            <a:r>
              <a:rPr lang="zh-CN" altLang="en-US" dirty="0" smtClean="0"/>
              <a:t>通过机器学习等方式自动</a:t>
            </a:r>
            <a:r>
              <a:rPr lang="zh-CN" altLang="en-US" dirty="0"/>
              <a:t>地从海量运维数据中不断地学习，不断地提炼并总结</a:t>
            </a:r>
            <a:r>
              <a:rPr lang="zh-CN" altLang="en-US" dirty="0" smtClean="0"/>
              <a:t>规则</a:t>
            </a:r>
            <a:endParaRPr lang="en-US" altLang="zh-CN" dirty="0" smtClean="0"/>
          </a:p>
          <a:p>
            <a:pPr marL="285750" indent="-285750">
              <a:lnSpc>
                <a:spcPct val="150000"/>
              </a:lnSpc>
              <a:buFont typeface="Arial" panose="020B0604020202020204" pitchFamily="34" charset="0"/>
              <a:buChar char="•"/>
            </a:pPr>
            <a:r>
              <a:rPr lang="zh-CN" altLang="en-US" dirty="0" smtClean="0"/>
              <a:t>能够更好更快的适应新的业务挑战</a:t>
            </a:r>
            <a:endParaRPr lang="zh-CN" altLang="en-US" dirty="0"/>
          </a:p>
        </p:txBody>
      </p:sp>
      <p:sp>
        <p:nvSpPr>
          <p:cNvPr id="25" name="矩形 24"/>
          <p:cNvSpPr/>
          <p:nvPr/>
        </p:nvSpPr>
        <p:spPr>
          <a:xfrm>
            <a:off x="919388" y="3782826"/>
            <a:ext cx="3722563" cy="2291759"/>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6" name="文本框 25"/>
          <p:cNvSpPr txBox="1"/>
          <p:nvPr/>
        </p:nvSpPr>
        <p:spPr>
          <a:xfrm>
            <a:off x="944002" y="3843843"/>
            <a:ext cx="3556786"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海量的数据</a:t>
            </a:r>
            <a:endParaRPr lang="en-US" altLang="zh-CN" dirty="0" smtClean="0"/>
          </a:p>
          <a:p>
            <a:pPr marL="285750" indent="285750">
              <a:lnSpc>
                <a:spcPct val="150000"/>
              </a:lnSpc>
              <a:buFont typeface="Arial" panose="020B0604020202020204" pitchFamily="34" charset="0"/>
              <a:buChar char="•"/>
            </a:pPr>
            <a:r>
              <a:rPr lang="zh-CN" altLang="en-US" dirty="0" smtClean="0"/>
              <a:t>适合的运维问题</a:t>
            </a:r>
            <a:endParaRPr lang="en-US" altLang="zh-CN" dirty="0" smtClean="0"/>
          </a:p>
          <a:p>
            <a:pPr marL="285750" indent="285750">
              <a:lnSpc>
                <a:spcPct val="150000"/>
              </a:lnSpc>
              <a:buFont typeface="Arial" panose="020B0604020202020204" pitchFamily="34" charset="0"/>
              <a:buChar char="•"/>
            </a:pPr>
            <a:r>
              <a:rPr lang="zh-CN" altLang="en-US" dirty="0" smtClean="0"/>
              <a:t>较为先进的算法</a:t>
            </a:r>
            <a:endParaRPr lang="en-US" altLang="zh-CN" dirty="0" smtClean="0"/>
          </a:p>
          <a:p>
            <a:pPr marL="285750" indent="285750">
              <a:lnSpc>
                <a:spcPct val="150000"/>
              </a:lnSpc>
              <a:buFont typeface="Arial" panose="020B0604020202020204" pitchFamily="34" charset="0"/>
              <a:buChar char="•"/>
            </a:pPr>
            <a:r>
              <a:rPr lang="zh-CN" altLang="en-US" dirty="0" smtClean="0"/>
              <a:t>高速的计算能力</a:t>
            </a:r>
            <a:endParaRPr lang="en-US" altLang="zh-CN" dirty="0" smtClean="0"/>
          </a:p>
          <a:p>
            <a:pPr marL="285750" indent="285750">
              <a:lnSpc>
                <a:spcPct val="150000"/>
              </a:lnSpc>
              <a:buFont typeface="Arial" panose="020B0604020202020204" pitchFamily="34" charset="0"/>
              <a:buChar char="•"/>
            </a:pPr>
            <a:r>
              <a:rPr lang="zh-CN" altLang="en-US" dirty="0" smtClean="0"/>
              <a:t>高度完善的自动化运维体系</a:t>
            </a:r>
            <a:endParaRPr lang="zh-CN" altLang="en-US" dirty="0"/>
          </a:p>
        </p:txBody>
      </p:sp>
      <p:sp>
        <p:nvSpPr>
          <p:cNvPr id="27" name="矩形 26"/>
          <p:cNvSpPr/>
          <p:nvPr/>
        </p:nvSpPr>
        <p:spPr>
          <a:xfrm>
            <a:off x="6908364" y="3782725"/>
            <a:ext cx="3500211" cy="2291860"/>
          </a:xfrm>
          <a:prstGeom prst="rect">
            <a:avLst/>
          </a:prstGeom>
          <a:noFill/>
          <a:ln w="28575" cap="flat" cmpd="sng" algn="ctr">
            <a:solidFill>
              <a:schemeClr val="tx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
        <p:nvSpPr>
          <p:cNvPr id="28" name="圆角矩形 27"/>
          <p:cNvSpPr/>
          <p:nvPr/>
        </p:nvSpPr>
        <p:spPr>
          <a:xfrm>
            <a:off x="7181849" y="4011410"/>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smtClean="0"/>
              <a:t>海量运维</a:t>
            </a:r>
            <a:r>
              <a:rPr lang="zh-CN" altLang="en-US" sz="1100" dirty="0"/>
              <a:t>数</a:t>
            </a:r>
            <a:r>
              <a:rPr lang="zh-CN" altLang="en-US" sz="1100" dirty="0" smtClean="0"/>
              <a:t>据（事件、性能、资源、事件等）</a:t>
            </a:r>
            <a:endParaRPr lang="zh-CN" altLang="en-US" sz="1100" dirty="0"/>
          </a:p>
        </p:txBody>
      </p:sp>
      <p:sp>
        <p:nvSpPr>
          <p:cNvPr id="29" name="圆角矩形 28"/>
          <p:cNvSpPr/>
          <p:nvPr/>
        </p:nvSpPr>
        <p:spPr>
          <a:xfrm>
            <a:off x="7181849" y="4391733"/>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异常检测、故障定位、智能规划</a:t>
            </a:r>
            <a:endParaRPr lang="zh-CN" altLang="en-US" sz="1200" dirty="0"/>
          </a:p>
        </p:txBody>
      </p:sp>
      <p:sp>
        <p:nvSpPr>
          <p:cNvPr id="30" name="圆角矩形 29"/>
          <p:cNvSpPr/>
          <p:nvPr/>
        </p:nvSpPr>
        <p:spPr>
          <a:xfrm>
            <a:off x="7181849" y="4837126"/>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存在大量成熟的</a:t>
            </a:r>
            <a:r>
              <a:rPr lang="en-US" altLang="zh-CN" sz="1200" dirty="0" smtClean="0"/>
              <a:t>AI</a:t>
            </a:r>
            <a:r>
              <a:rPr lang="zh-CN" altLang="en-US" sz="1200" dirty="0" smtClean="0"/>
              <a:t>算法可以使用</a:t>
            </a:r>
            <a:endParaRPr lang="zh-CN" altLang="en-US" sz="1200" dirty="0"/>
          </a:p>
        </p:txBody>
      </p:sp>
      <p:sp>
        <p:nvSpPr>
          <p:cNvPr id="32" name="圆角矩形 31"/>
          <p:cNvSpPr/>
          <p:nvPr/>
        </p:nvSpPr>
        <p:spPr>
          <a:xfrm>
            <a:off x="7181849" y="5232019"/>
            <a:ext cx="3004424" cy="2762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高速的服务器集群</a:t>
            </a:r>
            <a:endParaRPr lang="zh-CN" altLang="en-US" sz="1200" dirty="0"/>
          </a:p>
        </p:txBody>
      </p:sp>
      <p:sp>
        <p:nvSpPr>
          <p:cNvPr id="33" name="圆角矩形 32"/>
          <p:cNvSpPr/>
          <p:nvPr/>
        </p:nvSpPr>
        <p:spPr>
          <a:xfrm>
            <a:off x="7181849" y="5618543"/>
            <a:ext cx="3004424" cy="27622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smtClean="0"/>
              <a:t>目前自动化运维还未完善</a:t>
            </a:r>
            <a:endParaRPr lang="zh-CN" altLang="en-US" sz="1200" dirty="0"/>
          </a:p>
        </p:txBody>
      </p:sp>
      <p:sp>
        <p:nvSpPr>
          <p:cNvPr id="34" name="右箭头 33"/>
          <p:cNvSpPr/>
          <p:nvPr/>
        </p:nvSpPr>
        <p:spPr>
          <a:xfrm>
            <a:off x="4864253" y="4529845"/>
            <a:ext cx="1631796" cy="702174"/>
          </a:xfrm>
          <a:prstGeom prst="rightArrow">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919388" y="3155332"/>
            <a:ext cx="3944865" cy="369332"/>
          </a:xfrm>
          <a:prstGeom prst="rect">
            <a:avLst/>
          </a:prstGeom>
          <a:noFill/>
        </p:spPr>
        <p:txBody>
          <a:bodyPr wrap="square" rtlCol="0">
            <a:spAutoFit/>
          </a:bodyPr>
          <a:lstStyle/>
          <a:p>
            <a:r>
              <a:rPr lang="zh-CN" altLang="en-US" dirty="0" smtClean="0">
                <a:solidFill>
                  <a:srgbClr val="333F50"/>
                </a:solidFill>
              </a:rPr>
              <a:t>构建</a:t>
            </a:r>
            <a:r>
              <a:rPr lang="en-US" altLang="zh-CN" dirty="0" err="1" smtClean="0">
                <a:solidFill>
                  <a:srgbClr val="333F50"/>
                </a:solidFill>
              </a:rPr>
              <a:t>AIOps</a:t>
            </a:r>
            <a:r>
              <a:rPr lang="zh-CN" altLang="en-US" dirty="0" smtClean="0">
                <a:solidFill>
                  <a:srgbClr val="333F50"/>
                </a:solidFill>
              </a:rPr>
              <a:t>的前提条件</a:t>
            </a:r>
            <a:endParaRPr lang="zh-CN" altLang="en-US" dirty="0">
              <a:solidFill>
                <a:srgbClr val="333F50"/>
              </a:solidFill>
            </a:endParaRPr>
          </a:p>
        </p:txBody>
      </p:sp>
      <p:sp>
        <p:nvSpPr>
          <p:cNvPr id="36" name="文本框 35"/>
          <p:cNvSpPr txBox="1"/>
          <p:nvPr/>
        </p:nvSpPr>
        <p:spPr>
          <a:xfrm>
            <a:off x="919388" y="1092750"/>
            <a:ext cx="3944865" cy="369332"/>
          </a:xfrm>
          <a:prstGeom prst="rect">
            <a:avLst/>
          </a:prstGeom>
          <a:noFill/>
        </p:spPr>
        <p:txBody>
          <a:bodyPr wrap="square" rtlCol="0">
            <a:spAutoFit/>
          </a:bodyPr>
          <a:lstStyle/>
          <a:p>
            <a:r>
              <a:rPr lang="zh-CN" altLang="en-US" dirty="0" smtClean="0">
                <a:solidFill>
                  <a:srgbClr val="333F50"/>
                </a:solidFill>
              </a:rPr>
              <a:t>目标</a:t>
            </a:r>
            <a:endParaRPr lang="zh-CN" altLang="en-US" dirty="0">
              <a:solidFill>
                <a:srgbClr val="333F50"/>
              </a:solidFill>
            </a:endParaRPr>
          </a:p>
        </p:txBody>
      </p:sp>
    </p:spTree>
    <p:extLst>
      <p:ext uri="{BB962C8B-B14F-4D97-AF65-F5344CB8AC3E}">
        <p14:creationId xmlns:p14="http://schemas.microsoft.com/office/powerpoint/2010/main" val="1846210321"/>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wipe(down)">
                                      <p:cBhvr>
                                        <p:cTn id="10" dur="500"/>
                                        <p:tgtEl>
                                          <p:spTgt spid="3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wipe(down)">
                                      <p:cBhvr>
                                        <p:cTn id="13" dur="500"/>
                                        <p:tgtEl>
                                          <p:spTgt spid="36"/>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9"/>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0"/>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animBg="1"/>
      <p:bldP spid="28" grpId="0" animBg="1"/>
      <p:bldP spid="29" grpId="0" animBg="1"/>
      <p:bldP spid="30" grpId="0" animBg="1"/>
      <p:bldP spid="32" grpId="0" animBg="1"/>
      <p:bldP spid="33" grpId="0" animBg="1"/>
      <p:bldP spid="34" grpId="0" animBg="1"/>
      <p:bldP spid="35" grpId="0"/>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a:ln>
            <a:noFill/>
          </a:ln>
        </p:spPr>
        <p:style>
          <a:lnRef idx="0">
            <a:scrgbClr r="0" g="0" b="0"/>
          </a:lnRef>
          <a:fillRef idx="0">
            <a:scrgbClr r="0" g="0" b="0"/>
          </a:fillRef>
          <a:effectRef idx="0">
            <a:scrgbClr r="0" g="0" b="0"/>
          </a:effectRef>
          <a:fontRef idx="minor">
            <a:schemeClr val="accent5"/>
          </a:fontRef>
        </p:style>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708160"/>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数据获取：</a:t>
            </a:r>
            <a:endParaRPr lang="en-US" altLang="zh-CN" sz="1400" dirty="0"/>
          </a:p>
          <a:p>
            <a:pPr marL="742950" lvl="1" indent="-285750">
              <a:lnSpc>
                <a:spcPct val="150000"/>
              </a:lnSpc>
              <a:buFont typeface="Arial" panose="020B0604020202020204" pitchFamily="34" charset="0"/>
              <a:buChar char="•"/>
            </a:pPr>
            <a:r>
              <a:rPr lang="zh-CN" altLang="en-US" sz="1400" dirty="0" smtClean="0"/>
              <a:t>数据统一获取</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结构化存储和调用</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一键调用导出</a:t>
            </a:r>
            <a:endParaRPr lang="en-US" altLang="zh-CN" sz="1400" dirty="0" smtClean="0"/>
          </a:p>
        </p:txBody>
      </p:sp>
      <p:sp>
        <p:nvSpPr>
          <p:cNvPr id="10" name="矩形 9"/>
          <p:cNvSpPr/>
          <p:nvPr/>
        </p:nvSpPr>
        <p:spPr>
          <a:xfrm>
            <a:off x="4495801" y="3814384"/>
            <a:ext cx="6743699" cy="488265"/>
          </a:xfrm>
          <a:prstGeom prst="rect">
            <a:avLst/>
          </a:prstGeom>
          <a:solidFill>
            <a:schemeClr val="accent1">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40"/>
          <p:cNvSpPr txBox="1"/>
          <p:nvPr/>
        </p:nvSpPr>
        <p:spPr>
          <a:xfrm>
            <a:off x="4735812" y="3933317"/>
            <a:ext cx="1776060" cy="369332"/>
          </a:xfrm>
          <a:prstGeom prst="rect">
            <a:avLst/>
          </a:prstGeom>
          <a:noFill/>
        </p:spPr>
        <p:txBody>
          <a:bodyPr wrap="square" rtlCol="0">
            <a:spAutoFit/>
          </a:bodyPr>
          <a:lstStyle/>
          <a:p>
            <a:r>
              <a:rPr lang="en-US" altLang="zh-CN" dirty="0" smtClean="0"/>
              <a:t>Telnet</a:t>
            </a:r>
            <a:endParaRPr lang="zh-CN" altLang="en-US" dirty="0" smtClean="0"/>
          </a:p>
        </p:txBody>
      </p:sp>
      <p:sp>
        <p:nvSpPr>
          <p:cNvPr id="12" name="TextBox 41"/>
          <p:cNvSpPr txBox="1"/>
          <p:nvPr/>
        </p:nvSpPr>
        <p:spPr>
          <a:xfrm>
            <a:off x="6708481" y="3928063"/>
            <a:ext cx="4835819" cy="307777"/>
          </a:xfrm>
          <a:prstGeom prst="rect">
            <a:avLst/>
          </a:prstGeom>
          <a:noFill/>
        </p:spPr>
        <p:txBody>
          <a:bodyPr wrap="square" rtlCol="0">
            <a:spAutoFit/>
          </a:bodyPr>
          <a:lstStyle/>
          <a:p>
            <a:r>
              <a:rPr lang="en-US" altLang="zh-CN" sz="1400" b="1" dirty="0" err="1" smtClean="0"/>
              <a:t>WebServices</a:t>
            </a:r>
            <a:r>
              <a:rPr lang="en-US" altLang="zh-CN" sz="1400" b="1" dirty="0" smtClean="0"/>
              <a:t>/FTP/JDBC/ODBC/ESB/</a:t>
            </a:r>
            <a:r>
              <a:rPr lang="en-US" altLang="zh-CN" sz="1400" b="1" dirty="0" err="1" smtClean="0"/>
              <a:t>syslog</a:t>
            </a:r>
            <a:r>
              <a:rPr lang="en-US" altLang="zh-CN" sz="1400" b="1" dirty="0" smtClean="0"/>
              <a:t>/SNMP/</a:t>
            </a:r>
            <a:r>
              <a:rPr lang="en-US" altLang="zh-CN" sz="1400" b="1" dirty="0" err="1" smtClean="0"/>
              <a:t>Hadoop</a:t>
            </a:r>
            <a:r>
              <a:rPr lang="en-US" altLang="zh-CN" sz="1400" b="1" dirty="0" smtClean="0"/>
              <a:t>…</a:t>
            </a:r>
            <a:endParaRPr lang="zh-CN" altLang="en-US" sz="1400" dirty="0" smtClean="0"/>
          </a:p>
        </p:txBody>
      </p:sp>
      <p:sp>
        <p:nvSpPr>
          <p:cNvPr id="13" name="矩形 12"/>
          <p:cNvSpPr/>
          <p:nvPr/>
        </p:nvSpPr>
        <p:spPr>
          <a:xfrm>
            <a:off x="4495801" y="4970289"/>
            <a:ext cx="6736192" cy="492682"/>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33"/>
          <p:cNvSpPr txBox="1"/>
          <p:nvPr/>
        </p:nvSpPr>
        <p:spPr>
          <a:xfrm>
            <a:off x="4674541" y="5046312"/>
            <a:ext cx="1472876"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外部系统数据</a:t>
            </a:r>
            <a:endParaRPr lang="zh-CN" altLang="en-US" dirty="0"/>
          </a:p>
        </p:txBody>
      </p:sp>
      <p:sp>
        <p:nvSpPr>
          <p:cNvPr id="15" name="TextBox 34"/>
          <p:cNvSpPr txBox="1"/>
          <p:nvPr/>
        </p:nvSpPr>
        <p:spPr>
          <a:xfrm>
            <a:off x="6289790" y="5062078"/>
            <a:ext cx="1430544"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网管系统数据</a:t>
            </a:r>
            <a:endParaRPr lang="zh-CN" altLang="en-US" dirty="0"/>
          </a:p>
        </p:txBody>
      </p:sp>
      <p:sp>
        <p:nvSpPr>
          <p:cNvPr id="16" name="TextBox 35"/>
          <p:cNvSpPr txBox="1"/>
          <p:nvPr/>
        </p:nvSpPr>
        <p:spPr>
          <a:xfrm>
            <a:off x="7907603" y="5056822"/>
            <a:ext cx="1874225"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网元实时交互数据</a:t>
            </a:r>
            <a:endParaRPr lang="zh-CN" altLang="en-US" dirty="0"/>
          </a:p>
        </p:txBody>
      </p:sp>
      <p:sp>
        <p:nvSpPr>
          <p:cNvPr id="17" name="TextBox 45"/>
          <p:cNvSpPr txBox="1"/>
          <p:nvPr/>
        </p:nvSpPr>
        <p:spPr>
          <a:xfrm>
            <a:off x="9977465" y="5046311"/>
            <a:ext cx="1088252"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其它数据</a:t>
            </a:r>
            <a:endParaRPr lang="zh-CN" altLang="en-US" dirty="0"/>
          </a:p>
        </p:txBody>
      </p:sp>
      <p:sp>
        <p:nvSpPr>
          <p:cNvPr id="3" name="上箭头 2"/>
          <p:cNvSpPr/>
          <p:nvPr/>
        </p:nvSpPr>
        <p:spPr>
          <a:xfrm>
            <a:off x="6664251" y="4345317"/>
            <a:ext cx="2399291" cy="5581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上箭头 20"/>
          <p:cNvSpPr/>
          <p:nvPr/>
        </p:nvSpPr>
        <p:spPr>
          <a:xfrm>
            <a:off x="6664250" y="3189412"/>
            <a:ext cx="2399291" cy="558163"/>
          </a:xfrm>
          <a:prstGeom prst="up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2" name="矩形 21"/>
          <p:cNvSpPr/>
          <p:nvPr/>
        </p:nvSpPr>
        <p:spPr>
          <a:xfrm>
            <a:off x="4495802" y="2539387"/>
            <a:ext cx="6736192" cy="558791"/>
          </a:xfrm>
          <a:prstGeom prst="rect">
            <a:avLst/>
          </a:prstGeom>
          <a:solidFill>
            <a:schemeClr val="tx2">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7"/>
          <p:cNvSpPr txBox="1"/>
          <p:nvPr/>
        </p:nvSpPr>
        <p:spPr>
          <a:xfrm>
            <a:off x="4503455" y="2610452"/>
            <a:ext cx="6459820"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sz="1400" b="0" dirty="0" smtClean="0">
                <a:solidFill>
                  <a:schemeClr val="tx1"/>
                </a:solidFill>
                <a:effectLst/>
              </a:rPr>
              <a:t>   网元拓扑关系数据   指令数据    告警数据    指标数据    话统数据   其它数据</a:t>
            </a:r>
            <a:endParaRPr lang="zh-CN" altLang="en-US" sz="1400" b="0" dirty="0">
              <a:solidFill>
                <a:schemeClr val="tx1"/>
              </a:solidFill>
              <a:effectLst/>
            </a:endParaRPr>
          </a:p>
        </p:txBody>
      </p:sp>
      <p:sp>
        <p:nvSpPr>
          <p:cNvPr id="7" name="文本框 6"/>
          <p:cNvSpPr txBox="1"/>
          <p:nvPr/>
        </p:nvSpPr>
        <p:spPr>
          <a:xfrm>
            <a:off x="3775720" y="3897285"/>
            <a:ext cx="653405" cy="369332"/>
          </a:xfrm>
          <a:prstGeom prst="rect">
            <a:avLst/>
          </a:prstGeom>
          <a:noFill/>
        </p:spPr>
        <p:txBody>
          <a:bodyPr wrap="square" rtlCol="0">
            <a:spAutoFit/>
          </a:bodyPr>
          <a:lstStyle/>
          <a:p>
            <a:r>
              <a:rPr lang="zh-CN" altLang="en-US" dirty="0" smtClean="0"/>
              <a:t>采集</a:t>
            </a:r>
            <a:endParaRPr lang="zh-CN" altLang="en-US" dirty="0"/>
          </a:p>
        </p:txBody>
      </p:sp>
      <p:sp>
        <p:nvSpPr>
          <p:cNvPr id="25" name="文本框 24"/>
          <p:cNvSpPr txBox="1"/>
          <p:nvPr/>
        </p:nvSpPr>
        <p:spPr>
          <a:xfrm>
            <a:off x="3775719" y="2614120"/>
            <a:ext cx="653405" cy="369332"/>
          </a:xfrm>
          <a:prstGeom prst="rect">
            <a:avLst/>
          </a:prstGeom>
          <a:noFill/>
        </p:spPr>
        <p:txBody>
          <a:bodyPr wrap="square" rtlCol="0">
            <a:spAutoFit/>
          </a:bodyPr>
          <a:lstStyle/>
          <a:p>
            <a:r>
              <a:rPr lang="zh-CN" altLang="en-US" dirty="0" smtClean="0"/>
              <a:t>存储</a:t>
            </a:r>
            <a:endParaRPr lang="zh-CN" altLang="en-US" dirty="0"/>
          </a:p>
        </p:txBody>
      </p:sp>
      <p:pic>
        <p:nvPicPr>
          <p:cNvPr id="2050" name="Picture 2" descr="“one button icon”的图片搜索结果"/>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1690" y="549798"/>
            <a:ext cx="1157288" cy="1157288"/>
          </a:xfrm>
          <a:prstGeom prst="rect">
            <a:avLst/>
          </a:prstGeom>
          <a:noFill/>
          <a:extLst>
            <a:ext uri="{909E8E84-426E-40DD-AFC4-6F175D3DCCD1}">
              <a14:hiddenFill xmlns:a14="http://schemas.microsoft.com/office/drawing/2010/main">
                <a:solidFill>
                  <a:srgbClr val="FFFFFF"/>
                </a:solidFill>
              </a14:hiddenFill>
            </a:ext>
          </a:extLst>
        </p:spPr>
      </p:pic>
      <p:sp>
        <p:nvSpPr>
          <p:cNvPr id="27" name="上箭头 26"/>
          <p:cNvSpPr/>
          <p:nvPr/>
        </p:nvSpPr>
        <p:spPr>
          <a:xfrm>
            <a:off x="6533719" y="1903745"/>
            <a:ext cx="2399291" cy="55816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3709044" y="1812933"/>
            <a:ext cx="8020057" cy="4006842"/>
          </a:xfrm>
          <a:prstGeom prst="roundRect">
            <a:avLst/>
          </a:prstGeom>
          <a:noFill/>
          <a:ln w="19050"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zh-CN" altLang="en-US"/>
          </a:p>
        </p:txBody>
      </p:sp>
    </p:spTree>
    <p:extLst>
      <p:ext uri="{BB962C8B-B14F-4D97-AF65-F5344CB8AC3E}">
        <p14:creationId xmlns:p14="http://schemas.microsoft.com/office/powerpoint/2010/main" val="132907872"/>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708160"/>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数据分析：</a:t>
            </a:r>
            <a:endParaRPr lang="en-US" altLang="zh-CN" sz="1400" dirty="0"/>
          </a:p>
          <a:p>
            <a:pPr marL="742950" lvl="1" indent="-285750">
              <a:lnSpc>
                <a:spcPct val="150000"/>
              </a:lnSpc>
              <a:buFont typeface="Arial" panose="020B0604020202020204" pitchFamily="34" charset="0"/>
              <a:buChar char="•"/>
            </a:pPr>
            <a:r>
              <a:rPr lang="zh-CN" altLang="en-US" sz="1400" dirty="0" smtClean="0"/>
              <a:t>常用</a:t>
            </a:r>
            <a:r>
              <a:rPr lang="zh-CN" altLang="en-US" sz="1400" dirty="0"/>
              <a:t>分析</a:t>
            </a:r>
            <a:r>
              <a:rPr lang="zh-CN" altLang="en-US" sz="1400" dirty="0" smtClean="0"/>
              <a:t>自动完成</a:t>
            </a:r>
            <a:endParaRPr lang="en-US" altLang="zh-CN" sz="1400" dirty="0" smtClean="0"/>
          </a:p>
          <a:p>
            <a:pPr marL="742950" lvl="1" indent="-285750">
              <a:lnSpc>
                <a:spcPct val="150000"/>
              </a:lnSpc>
              <a:buFont typeface="Arial" panose="020B0604020202020204" pitchFamily="34" charset="0"/>
              <a:buChar char="•"/>
            </a:pPr>
            <a:r>
              <a:rPr lang="zh-CN" altLang="en-US" sz="1400" dirty="0"/>
              <a:t>自动</a:t>
            </a:r>
            <a:r>
              <a:rPr lang="zh-CN" altLang="en-US" sz="1400" dirty="0" smtClean="0"/>
              <a:t>调整门限阈值</a:t>
            </a:r>
            <a:endParaRPr lang="en-US" altLang="zh-CN" sz="1400" dirty="0" smtClean="0"/>
          </a:p>
          <a:p>
            <a:pPr marL="742950" lvl="1" indent="-285750">
              <a:lnSpc>
                <a:spcPct val="150000"/>
              </a:lnSpc>
              <a:buFont typeface="Arial" panose="020B0604020202020204" pitchFamily="34" charset="0"/>
              <a:buChar char="•"/>
            </a:pPr>
            <a:endParaRPr lang="en-US" altLang="zh-CN" sz="1400" dirty="0" smtClean="0"/>
          </a:p>
        </p:txBody>
      </p:sp>
      <p:sp>
        <p:nvSpPr>
          <p:cNvPr id="2" name="文本框 1"/>
          <p:cNvSpPr txBox="1"/>
          <p:nvPr/>
        </p:nvSpPr>
        <p:spPr>
          <a:xfrm>
            <a:off x="7620000" y="3638550"/>
            <a:ext cx="1895475" cy="369332"/>
          </a:xfrm>
          <a:prstGeom prst="rect">
            <a:avLst/>
          </a:prstGeom>
          <a:noFill/>
        </p:spPr>
        <p:txBody>
          <a:bodyPr wrap="square" rtlCol="0">
            <a:spAutoFit/>
          </a:bodyPr>
          <a:lstStyle/>
          <a:p>
            <a:r>
              <a:rPr lang="zh-CN" altLang="en-US" dirty="0" smtClean="0"/>
              <a:t>图</a:t>
            </a:r>
            <a:endParaRPr lang="zh-CN" altLang="en-US" dirty="0"/>
          </a:p>
        </p:txBody>
      </p:sp>
    </p:spTree>
    <p:extLst>
      <p:ext uri="{BB962C8B-B14F-4D97-AF65-F5344CB8AC3E}">
        <p14:creationId xmlns:p14="http://schemas.microsoft.com/office/powerpoint/2010/main" val="1363911426"/>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平台应用</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应用场景</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133475" y="876300"/>
            <a:ext cx="2162175" cy="369332"/>
          </a:xfrm>
          <a:prstGeom prst="rect">
            <a:avLst/>
          </a:prstGeom>
          <a:noFill/>
        </p:spPr>
        <p:txBody>
          <a:bodyPr wrap="square" rtlCol="0">
            <a:spAutoFit/>
          </a:bodyPr>
          <a:lstStyle/>
          <a:p>
            <a:r>
              <a:rPr lang="zh-CN" altLang="en-US" dirty="0" smtClean="0"/>
              <a:t>平台投入使用之后</a:t>
            </a:r>
            <a:endParaRPr lang="zh-CN" altLang="en-US" dirty="0"/>
          </a:p>
        </p:txBody>
      </p:sp>
      <p:sp>
        <p:nvSpPr>
          <p:cNvPr id="9" name="文本框 8"/>
          <p:cNvSpPr txBox="1"/>
          <p:nvPr/>
        </p:nvSpPr>
        <p:spPr>
          <a:xfrm>
            <a:off x="1000125" y="2703966"/>
            <a:ext cx="3757386" cy="1061829"/>
          </a:xfrm>
          <a:prstGeom prst="rect">
            <a:avLst/>
          </a:prstGeom>
          <a:noFill/>
        </p:spPr>
        <p:txBody>
          <a:bodyPr wrap="square" rtlCol="0">
            <a:spAutoFit/>
          </a:bodyPr>
          <a:lstStyle/>
          <a:p>
            <a:pPr indent="457200">
              <a:lnSpc>
                <a:spcPct val="150000"/>
              </a:lnSpc>
            </a:pPr>
            <a:endParaRPr lang="en-US" altLang="zh-CN" sz="1400" b="1" dirty="0" smtClean="0"/>
          </a:p>
          <a:p>
            <a:pPr marL="285750" indent="-285750">
              <a:lnSpc>
                <a:spcPct val="150000"/>
              </a:lnSpc>
              <a:buFont typeface="Arial" panose="020B0604020202020204" pitchFamily="34" charset="0"/>
              <a:buChar char="•"/>
            </a:pPr>
            <a:r>
              <a:rPr lang="zh-CN" altLang="en-US" sz="1400" dirty="0" smtClean="0"/>
              <a:t>呈现：</a:t>
            </a:r>
            <a:endParaRPr lang="en-US" altLang="zh-CN" sz="1400" dirty="0" smtClean="0"/>
          </a:p>
          <a:p>
            <a:pPr marL="742950" lvl="1" indent="-285750">
              <a:lnSpc>
                <a:spcPct val="150000"/>
              </a:lnSpc>
              <a:buFont typeface="Arial" panose="020B0604020202020204" pitchFamily="34" charset="0"/>
              <a:buChar char="•"/>
            </a:pPr>
            <a:r>
              <a:rPr lang="zh-CN" altLang="en-US" sz="1400" dirty="0" smtClean="0"/>
              <a:t>通过全景图直观全面呈现</a:t>
            </a:r>
            <a:endParaRPr lang="en-US" altLang="zh-CN" sz="1400" dirty="0"/>
          </a:p>
        </p:txBody>
      </p:sp>
      <p:sp>
        <p:nvSpPr>
          <p:cNvPr id="2" name="文本框 1"/>
          <p:cNvSpPr txBox="1"/>
          <p:nvPr/>
        </p:nvSpPr>
        <p:spPr>
          <a:xfrm>
            <a:off x="6429375" y="3373380"/>
            <a:ext cx="1838325" cy="369332"/>
          </a:xfrm>
          <a:prstGeom prst="rect">
            <a:avLst/>
          </a:prstGeom>
          <a:noFill/>
        </p:spPr>
        <p:txBody>
          <a:bodyPr wrap="square" rtlCol="0">
            <a:spAutoFit/>
          </a:bodyPr>
          <a:lstStyle/>
          <a:p>
            <a:r>
              <a:rPr lang="zh-CN" altLang="en-US" dirty="0" smtClean="0"/>
              <a:t>驾驶舱演示视频</a:t>
            </a:r>
            <a:endParaRPr lang="zh-CN" altLang="en-US" dirty="0"/>
          </a:p>
        </p:txBody>
      </p:sp>
    </p:spTree>
    <p:extLst>
      <p:ext uri="{BB962C8B-B14F-4D97-AF65-F5344CB8AC3E}">
        <p14:creationId xmlns:p14="http://schemas.microsoft.com/office/powerpoint/2010/main" val="924282353"/>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平台整体框架</a:t>
            </a:r>
            <a:endParaRPr lang="zh-CN" altLang="en-US" dirty="0">
              <a:solidFill>
                <a:srgbClr val="333F50"/>
              </a:solidFill>
            </a:endParaRPr>
          </a:p>
        </p:txBody>
      </p:sp>
      <p:sp>
        <p:nvSpPr>
          <p:cNvPr id="3" name="文本框 2"/>
          <p:cNvSpPr txBox="1"/>
          <p:nvPr/>
        </p:nvSpPr>
        <p:spPr>
          <a:xfrm>
            <a:off x="4237799" y="1874903"/>
            <a:ext cx="2653452" cy="341632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数据采集模块</a:t>
            </a:r>
          </a:p>
          <a:p>
            <a:pPr marL="285750" indent="-285750">
              <a:lnSpc>
                <a:spcPct val="150000"/>
              </a:lnSpc>
              <a:buFont typeface="Arial" panose="020B0604020202020204" pitchFamily="34" charset="0"/>
              <a:buChar char="•"/>
            </a:pPr>
            <a:r>
              <a:rPr lang="zh-CN" altLang="en-US" dirty="0"/>
              <a:t>数据解码模块</a:t>
            </a:r>
          </a:p>
          <a:p>
            <a:pPr marL="285750" indent="-285750">
              <a:lnSpc>
                <a:spcPct val="150000"/>
              </a:lnSpc>
              <a:buFont typeface="Arial" panose="020B0604020202020204" pitchFamily="34" charset="0"/>
              <a:buChar char="•"/>
            </a:pPr>
            <a:r>
              <a:rPr lang="zh-CN" altLang="en-US" dirty="0"/>
              <a:t>数据存储模块</a:t>
            </a:r>
          </a:p>
          <a:p>
            <a:pPr marL="285750" indent="-285750">
              <a:lnSpc>
                <a:spcPct val="150000"/>
              </a:lnSpc>
              <a:buFont typeface="Arial" panose="020B0604020202020204" pitchFamily="34" charset="0"/>
              <a:buChar char="•"/>
            </a:pPr>
            <a:r>
              <a:rPr lang="zh-CN" altLang="en-US" dirty="0" smtClean="0"/>
              <a:t>自主学习模块</a:t>
            </a:r>
            <a:endParaRPr lang="zh-CN" altLang="en-US" dirty="0"/>
          </a:p>
          <a:p>
            <a:pPr marL="285750" indent="-285750">
              <a:lnSpc>
                <a:spcPct val="150000"/>
              </a:lnSpc>
              <a:buFont typeface="Arial" panose="020B0604020202020204" pitchFamily="34" charset="0"/>
              <a:buChar char="•"/>
            </a:pPr>
            <a:r>
              <a:rPr lang="zh-CN" altLang="en-US" dirty="0"/>
              <a:t>业务管理模块</a:t>
            </a:r>
          </a:p>
          <a:p>
            <a:pPr marL="285750" indent="-285750">
              <a:lnSpc>
                <a:spcPct val="150000"/>
              </a:lnSpc>
              <a:buFont typeface="Arial" panose="020B0604020202020204" pitchFamily="34" charset="0"/>
              <a:buChar char="•"/>
            </a:pPr>
            <a:r>
              <a:rPr lang="zh-CN" altLang="en-US" dirty="0"/>
              <a:t>场景保障模块</a:t>
            </a:r>
          </a:p>
          <a:p>
            <a:pPr marL="285750" indent="-285750">
              <a:lnSpc>
                <a:spcPct val="150000"/>
              </a:lnSpc>
              <a:buFont typeface="Arial" panose="020B0604020202020204" pitchFamily="34" charset="0"/>
              <a:buChar char="•"/>
            </a:pPr>
            <a:r>
              <a:rPr lang="zh-CN" altLang="en-US" dirty="0"/>
              <a:t>故障处理模块</a:t>
            </a:r>
          </a:p>
          <a:p>
            <a:pPr marL="285750" indent="-285750">
              <a:lnSpc>
                <a:spcPct val="150000"/>
              </a:lnSpc>
              <a:buFont typeface="Arial" panose="020B0604020202020204" pitchFamily="34" charset="0"/>
              <a:buChar char="•"/>
            </a:pPr>
            <a:r>
              <a:rPr lang="zh-CN" altLang="en-US" dirty="0"/>
              <a:t>用户呈现模块</a:t>
            </a:r>
          </a:p>
        </p:txBody>
      </p:sp>
      <p:sp>
        <p:nvSpPr>
          <p:cNvPr id="2" name="文本框 1"/>
          <p:cNvSpPr txBox="1"/>
          <p:nvPr/>
        </p:nvSpPr>
        <p:spPr>
          <a:xfrm>
            <a:off x="7162800" y="3362325"/>
            <a:ext cx="2152650" cy="369332"/>
          </a:xfrm>
          <a:prstGeom prst="rect">
            <a:avLst/>
          </a:prstGeom>
          <a:noFill/>
        </p:spPr>
        <p:txBody>
          <a:bodyPr wrap="square" rtlCol="0">
            <a:spAutoFit/>
          </a:bodyPr>
          <a:lstStyle/>
          <a:p>
            <a:r>
              <a:rPr lang="zh-CN" altLang="en-US" dirty="0" smtClean="0">
                <a:solidFill>
                  <a:srgbClr val="FF0000"/>
                </a:solidFill>
              </a:rPr>
              <a:t>（待完善）</a:t>
            </a:r>
            <a:endParaRPr lang="zh-CN" altLang="en-US" dirty="0">
              <a:solidFill>
                <a:srgbClr val="FF0000"/>
              </a:solidFill>
            </a:endParaRPr>
          </a:p>
        </p:txBody>
      </p:sp>
      <p:sp>
        <p:nvSpPr>
          <p:cNvPr id="5" name="文本框 4"/>
          <p:cNvSpPr txBox="1"/>
          <p:nvPr/>
        </p:nvSpPr>
        <p:spPr>
          <a:xfrm>
            <a:off x="2629535" y="2390140"/>
            <a:ext cx="1097280" cy="368300"/>
          </a:xfrm>
          <a:prstGeom prst="rect">
            <a:avLst/>
          </a:prstGeom>
          <a:noFill/>
        </p:spPr>
        <p:txBody>
          <a:bodyPr wrap="none" rtlCol="0">
            <a:spAutoFit/>
          </a:bodyPr>
          <a:lstStyle/>
          <a:p>
            <a:r>
              <a:rPr lang="zh-CN" altLang="en-US"/>
              <a:t>感知系统</a:t>
            </a:r>
          </a:p>
        </p:txBody>
      </p:sp>
      <p:sp>
        <p:nvSpPr>
          <p:cNvPr id="9" name="文本框 8"/>
          <p:cNvSpPr txBox="1"/>
          <p:nvPr/>
        </p:nvSpPr>
        <p:spPr>
          <a:xfrm>
            <a:off x="2629535" y="3434080"/>
            <a:ext cx="1097280" cy="368300"/>
          </a:xfrm>
          <a:prstGeom prst="rect">
            <a:avLst/>
          </a:prstGeom>
          <a:noFill/>
        </p:spPr>
        <p:txBody>
          <a:bodyPr wrap="none" rtlCol="0">
            <a:spAutoFit/>
          </a:bodyPr>
          <a:lstStyle/>
          <a:p>
            <a:r>
              <a:rPr lang="zh-CN" altLang="en-US"/>
              <a:t>决策系统</a:t>
            </a:r>
          </a:p>
        </p:txBody>
      </p:sp>
      <p:sp>
        <p:nvSpPr>
          <p:cNvPr id="10" name="文本框 9"/>
          <p:cNvSpPr txBox="1"/>
          <p:nvPr/>
        </p:nvSpPr>
        <p:spPr>
          <a:xfrm>
            <a:off x="2629535" y="4465955"/>
            <a:ext cx="1097280" cy="368300"/>
          </a:xfrm>
          <a:prstGeom prst="rect">
            <a:avLst/>
          </a:prstGeom>
          <a:noFill/>
        </p:spPr>
        <p:txBody>
          <a:bodyPr wrap="none" rtlCol="0">
            <a:spAutoFit/>
          </a:bodyPr>
          <a:lstStyle/>
          <a:p>
            <a:r>
              <a:rPr lang="zh-CN" altLang="en-US"/>
              <a:t>控制系统</a:t>
            </a:r>
          </a:p>
        </p:txBody>
      </p:sp>
      <p:sp>
        <p:nvSpPr>
          <p:cNvPr id="18" name="左大括号 17"/>
          <p:cNvSpPr/>
          <p:nvPr/>
        </p:nvSpPr>
        <p:spPr>
          <a:xfrm>
            <a:off x="4003040" y="2138680"/>
            <a:ext cx="234950" cy="87122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1" name="左大括号 10"/>
          <p:cNvSpPr/>
          <p:nvPr/>
        </p:nvSpPr>
        <p:spPr>
          <a:xfrm>
            <a:off x="4003040" y="3399155"/>
            <a:ext cx="234950" cy="43815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2" name="左大括号 11"/>
          <p:cNvSpPr/>
          <p:nvPr/>
        </p:nvSpPr>
        <p:spPr>
          <a:xfrm>
            <a:off x="4003040" y="4214495"/>
            <a:ext cx="234950" cy="87122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5" name="文本框 1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5259614"/>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2437765" y="894080"/>
            <a:ext cx="2364105" cy="5107305"/>
          </a:xfrm>
          <a:prstGeom prst="roundRect">
            <a:avLst/>
          </a:prstGeom>
          <a:ln w="28575">
            <a:prstDash val="dash"/>
          </a:ln>
          <a:extLst>
            <a:ext uri="{909E8E84-426E-40DD-AFC4-6F175D3DCCD1}">
              <a14:hiddenFill xmlns:a14="http://schemas.microsoft.com/office/drawing/2010/main">
                <a:solidFill>
                  <a:schemeClr val="lt1"/>
                </a:solidFill>
              </a14:hiddenFill>
            </a:ext>
          </a:extLst>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感知系统</a:t>
            </a:r>
            <a:endParaRPr lang="zh-CN" altLang="en-US" dirty="0">
              <a:solidFill>
                <a:srgbClr val="333F50"/>
              </a:solidFill>
            </a:endParaRPr>
          </a:p>
        </p:txBody>
      </p:sp>
      <p:grpSp>
        <p:nvGrpSpPr>
          <p:cNvPr id="5" name="组合 4"/>
          <p:cNvGrpSpPr/>
          <p:nvPr/>
        </p:nvGrpSpPr>
        <p:grpSpPr>
          <a:xfrm>
            <a:off x="446405" y="812165"/>
            <a:ext cx="11278870" cy="4902200"/>
            <a:chOff x="263" y="2075"/>
            <a:chExt cx="17762" cy="7720"/>
          </a:xfrm>
        </p:grpSpPr>
        <p:sp>
          <p:nvSpPr>
            <p:cNvPr id="10" name="文本框 9"/>
            <p:cNvSpPr txBox="1"/>
            <p:nvPr/>
          </p:nvSpPr>
          <p:spPr>
            <a:xfrm>
              <a:off x="263" y="5717"/>
              <a:ext cx="2088" cy="1016"/>
            </a:xfrm>
            <a:prstGeom prst="rect">
              <a:avLst/>
            </a:prstGeom>
            <a:noFill/>
          </p:spPr>
          <p:txBody>
            <a:bodyPr wrap="none" rtlCol="0">
              <a:spAutoFit/>
            </a:bodyPr>
            <a:lstStyle/>
            <a:p>
              <a:r>
                <a:rPr lang="zh-CN" altLang="en-US"/>
                <a:t>感知对象：</a:t>
              </a:r>
            </a:p>
            <a:p>
              <a:r>
                <a:rPr lang="zh-CN" altLang="en-US"/>
                <a:t>各类数据源</a:t>
              </a:r>
            </a:p>
          </p:txBody>
        </p:sp>
        <p:sp>
          <p:nvSpPr>
            <p:cNvPr id="11" name="KSO_Shape"/>
            <p:cNvSpPr/>
            <p:nvPr/>
          </p:nvSpPr>
          <p:spPr bwMode="auto">
            <a:xfrm>
              <a:off x="3763" y="2654"/>
              <a:ext cx="1457" cy="1115"/>
            </a:xfrm>
            <a:custGeom>
              <a:avLst/>
              <a:gdLst>
                <a:gd name="T0" fmla="*/ 2147483646 w 112"/>
                <a:gd name="T1" fmla="*/ 2147483646 h 77"/>
                <a:gd name="T2" fmla="*/ 2147483646 w 112"/>
                <a:gd name="T3" fmla="*/ 2147483646 h 77"/>
                <a:gd name="T4" fmla="*/ 2147483646 w 112"/>
                <a:gd name="T5" fmla="*/ 2147483646 h 77"/>
                <a:gd name="T6" fmla="*/ 2147483646 w 112"/>
                <a:gd name="T7" fmla="*/ 2147483646 h 77"/>
                <a:gd name="T8" fmla="*/ 2147483646 w 112"/>
                <a:gd name="T9" fmla="*/ 2147483646 h 77"/>
                <a:gd name="T10" fmla="*/ 0 w 112"/>
                <a:gd name="T11" fmla="*/ 2147483646 h 77"/>
                <a:gd name="T12" fmla="*/ 2147483646 w 112"/>
                <a:gd name="T13" fmla="*/ 2147483646 h 77"/>
                <a:gd name="T14" fmla="*/ 2147483646 w 112"/>
                <a:gd name="T15" fmla="*/ 2147483646 h 77"/>
                <a:gd name="T16" fmla="*/ 2147483646 w 112"/>
                <a:gd name="T17" fmla="*/ 2147483646 h 77"/>
                <a:gd name="T18" fmla="*/ 2147483646 w 112"/>
                <a:gd name="T19" fmla="*/ 2147483646 h 77"/>
                <a:gd name="T20" fmla="*/ 2147483646 w 112"/>
                <a:gd name="T21" fmla="*/ 2147483646 h 77"/>
                <a:gd name="T22" fmla="*/ 2147483646 w 112"/>
                <a:gd name="T23" fmla="*/ 2147483646 h 77"/>
                <a:gd name="T24" fmla="*/ 2147483646 w 112"/>
                <a:gd name="T25" fmla="*/ 2147483646 h 77"/>
                <a:gd name="T26" fmla="*/ 2147483646 w 112"/>
                <a:gd name="T27" fmla="*/ 2147483646 h 77"/>
                <a:gd name="T28" fmla="*/ 2147483646 w 112"/>
                <a:gd name="T29" fmla="*/ 2147483646 h 77"/>
                <a:gd name="T30" fmla="*/ 2147483646 w 112"/>
                <a:gd name="T31" fmla="*/ 2147483646 h 77"/>
                <a:gd name="T32" fmla="*/ 2147483646 w 112"/>
                <a:gd name="T33" fmla="*/ 2147483646 h 77"/>
                <a:gd name="T34" fmla="*/ 2147483646 w 112"/>
                <a:gd name="T35" fmla="*/ 2147483646 h 77"/>
                <a:gd name="T36" fmla="*/ 2147483646 w 112"/>
                <a:gd name="T37" fmla="*/ 2147483646 h 77"/>
                <a:gd name="T38" fmla="*/ 2147483646 w 112"/>
                <a:gd name="T39" fmla="*/ 2147483646 h 77"/>
                <a:gd name="T40" fmla="*/ 2147483646 w 112"/>
                <a:gd name="T41" fmla="*/ 2147483646 h 77"/>
                <a:gd name="T42" fmla="*/ 2147483646 w 112"/>
                <a:gd name="T43" fmla="*/ 2147483646 h 77"/>
                <a:gd name="T44" fmla="*/ 2147483646 w 112"/>
                <a:gd name="T45" fmla="*/ 2147483646 h 77"/>
                <a:gd name="T46" fmla="*/ 2147483646 w 112"/>
                <a:gd name="T47" fmla="*/ 2147483646 h 77"/>
                <a:gd name="T48" fmla="*/ 2147483646 w 112"/>
                <a:gd name="T49" fmla="*/ 2147483646 h 77"/>
                <a:gd name="T50" fmla="*/ 2147483646 w 112"/>
                <a:gd name="T51" fmla="*/ 2147483646 h 77"/>
                <a:gd name="T52" fmla="*/ 2147483646 w 112"/>
                <a:gd name="T53" fmla="*/ 2147483646 h 77"/>
                <a:gd name="T54" fmla="*/ 2147483646 w 112"/>
                <a:gd name="T55" fmla="*/ 2147483646 h 77"/>
                <a:gd name="T56" fmla="*/ 2147483646 w 112"/>
                <a:gd name="T57" fmla="*/ 2147483646 h 77"/>
                <a:gd name="T58" fmla="*/ 2147483646 w 112"/>
                <a:gd name="T59" fmla="*/ 2147483646 h 77"/>
                <a:gd name="T60" fmla="*/ 2147483646 w 112"/>
                <a:gd name="T61" fmla="*/ 2147483646 h 77"/>
                <a:gd name="T62" fmla="*/ 2147483646 w 112"/>
                <a:gd name="T63" fmla="*/ 2147483646 h 77"/>
                <a:gd name="T64" fmla="*/ 2147483646 w 112"/>
                <a:gd name="T65" fmla="*/ 2147483646 h 77"/>
                <a:gd name="T66" fmla="*/ 2147483646 w 112"/>
                <a:gd name="T67" fmla="*/ 2147483646 h 77"/>
                <a:gd name="T68" fmla="*/ 2147483646 w 112"/>
                <a:gd name="T69" fmla="*/ 2147483646 h 77"/>
                <a:gd name="T70" fmla="*/ 2147483646 w 112"/>
                <a:gd name="T71" fmla="*/ 2147483646 h 77"/>
                <a:gd name="T72" fmla="*/ 2147483646 w 112"/>
                <a:gd name="T73" fmla="*/ 2147483646 h 77"/>
                <a:gd name="T74" fmla="*/ 2147483646 w 112"/>
                <a:gd name="T75" fmla="*/ 2147483646 h 77"/>
                <a:gd name="T76" fmla="*/ 2147483646 w 112"/>
                <a:gd name="T77" fmla="*/ 2147483646 h 77"/>
                <a:gd name="T78" fmla="*/ 2147483646 w 112"/>
                <a:gd name="T79" fmla="*/ 2147483646 h 77"/>
                <a:gd name="T80" fmla="*/ 2147483646 w 112"/>
                <a:gd name="T81" fmla="*/ 2147483646 h 77"/>
                <a:gd name="T82" fmla="*/ 2147483646 w 112"/>
                <a:gd name="T83" fmla="*/ 2147483646 h 77"/>
                <a:gd name="T84" fmla="*/ 2147483646 w 112"/>
                <a:gd name="T85" fmla="*/ 2147483646 h 77"/>
                <a:gd name="T86" fmla="*/ 2147483646 w 112"/>
                <a:gd name="T87" fmla="*/ 2147483646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12" h="77">
                  <a:moveTo>
                    <a:pt x="56" y="0"/>
                  </a:moveTo>
                  <a:cubicBezTo>
                    <a:pt x="62" y="0"/>
                    <a:pt x="66" y="4"/>
                    <a:pt x="66" y="10"/>
                  </a:cubicBezTo>
                  <a:cubicBezTo>
                    <a:pt x="66" y="15"/>
                    <a:pt x="62" y="20"/>
                    <a:pt x="56" y="20"/>
                  </a:cubicBezTo>
                  <a:cubicBezTo>
                    <a:pt x="51" y="20"/>
                    <a:pt x="46" y="15"/>
                    <a:pt x="46" y="10"/>
                  </a:cubicBezTo>
                  <a:cubicBezTo>
                    <a:pt x="46" y="4"/>
                    <a:pt x="51" y="0"/>
                    <a:pt x="56" y="0"/>
                  </a:cubicBezTo>
                  <a:close/>
                  <a:moveTo>
                    <a:pt x="15" y="49"/>
                  </a:moveTo>
                  <a:cubicBezTo>
                    <a:pt x="15" y="66"/>
                    <a:pt x="15" y="66"/>
                    <a:pt x="15" y="66"/>
                  </a:cubicBezTo>
                  <a:cubicBezTo>
                    <a:pt x="10" y="66"/>
                    <a:pt x="10" y="66"/>
                    <a:pt x="10" y="66"/>
                  </a:cubicBezTo>
                  <a:cubicBezTo>
                    <a:pt x="10" y="52"/>
                    <a:pt x="10" y="52"/>
                    <a:pt x="10" y="52"/>
                  </a:cubicBezTo>
                  <a:cubicBezTo>
                    <a:pt x="9" y="52"/>
                    <a:pt x="9" y="52"/>
                    <a:pt x="9" y="52"/>
                  </a:cubicBezTo>
                  <a:cubicBezTo>
                    <a:pt x="9" y="66"/>
                    <a:pt x="9" y="66"/>
                    <a:pt x="9" y="66"/>
                  </a:cubicBezTo>
                  <a:cubicBezTo>
                    <a:pt x="4" y="66"/>
                    <a:pt x="4" y="66"/>
                    <a:pt x="4" y="66"/>
                  </a:cubicBezTo>
                  <a:cubicBezTo>
                    <a:pt x="4" y="49"/>
                    <a:pt x="4" y="49"/>
                    <a:pt x="4" y="49"/>
                  </a:cubicBezTo>
                  <a:cubicBezTo>
                    <a:pt x="4" y="46"/>
                    <a:pt x="4" y="46"/>
                    <a:pt x="4" y="46"/>
                  </a:cubicBezTo>
                  <a:cubicBezTo>
                    <a:pt x="4" y="37"/>
                    <a:pt x="4" y="37"/>
                    <a:pt x="4" y="37"/>
                  </a:cubicBezTo>
                  <a:cubicBezTo>
                    <a:pt x="4" y="37"/>
                    <a:pt x="4" y="37"/>
                    <a:pt x="4" y="37"/>
                  </a:cubicBezTo>
                  <a:cubicBezTo>
                    <a:pt x="4" y="46"/>
                    <a:pt x="4" y="46"/>
                    <a:pt x="4" y="46"/>
                  </a:cubicBezTo>
                  <a:cubicBezTo>
                    <a:pt x="0" y="46"/>
                    <a:pt x="0" y="46"/>
                    <a:pt x="0" y="46"/>
                  </a:cubicBezTo>
                  <a:cubicBezTo>
                    <a:pt x="0" y="33"/>
                    <a:pt x="0" y="33"/>
                    <a:pt x="0" y="33"/>
                  </a:cubicBezTo>
                  <a:cubicBezTo>
                    <a:pt x="0" y="31"/>
                    <a:pt x="1" y="29"/>
                    <a:pt x="4" y="29"/>
                  </a:cubicBezTo>
                  <a:cubicBezTo>
                    <a:pt x="13" y="29"/>
                    <a:pt x="13" y="29"/>
                    <a:pt x="13" y="29"/>
                  </a:cubicBezTo>
                  <a:cubicBezTo>
                    <a:pt x="13" y="30"/>
                    <a:pt x="13" y="30"/>
                    <a:pt x="13" y="31"/>
                  </a:cubicBezTo>
                  <a:cubicBezTo>
                    <a:pt x="13" y="49"/>
                    <a:pt x="13" y="49"/>
                    <a:pt x="13" y="49"/>
                  </a:cubicBezTo>
                  <a:cubicBezTo>
                    <a:pt x="15" y="49"/>
                    <a:pt x="15" y="49"/>
                    <a:pt x="15" y="49"/>
                  </a:cubicBezTo>
                  <a:close/>
                  <a:moveTo>
                    <a:pt x="10" y="15"/>
                  </a:moveTo>
                  <a:cubicBezTo>
                    <a:pt x="13" y="15"/>
                    <a:pt x="16" y="18"/>
                    <a:pt x="16" y="22"/>
                  </a:cubicBezTo>
                  <a:cubicBezTo>
                    <a:pt x="16" y="23"/>
                    <a:pt x="16" y="24"/>
                    <a:pt x="15" y="25"/>
                  </a:cubicBezTo>
                  <a:cubicBezTo>
                    <a:pt x="15" y="26"/>
                    <a:pt x="15" y="26"/>
                    <a:pt x="14" y="26"/>
                  </a:cubicBezTo>
                  <a:cubicBezTo>
                    <a:pt x="13" y="27"/>
                    <a:pt x="12" y="28"/>
                    <a:pt x="10" y="28"/>
                  </a:cubicBezTo>
                  <a:cubicBezTo>
                    <a:pt x="6" y="28"/>
                    <a:pt x="3" y="25"/>
                    <a:pt x="3" y="22"/>
                  </a:cubicBezTo>
                  <a:cubicBezTo>
                    <a:pt x="3" y="18"/>
                    <a:pt x="6" y="15"/>
                    <a:pt x="10" y="15"/>
                  </a:cubicBezTo>
                  <a:close/>
                  <a:moveTo>
                    <a:pt x="96" y="49"/>
                  </a:moveTo>
                  <a:cubicBezTo>
                    <a:pt x="96" y="66"/>
                    <a:pt x="96" y="66"/>
                    <a:pt x="96" y="66"/>
                  </a:cubicBezTo>
                  <a:cubicBezTo>
                    <a:pt x="101" y="66"/>
                    <a:pt x="101" y="66"/>
                    <a:pt x="101" y="66"/>
                  </a:cubicBezTo>
                  <a:cubicBezTo>
                    <a:pt x="101" y="52"/>
                    <a:pt x="101" y="52"/>
                    <a:pt x="101" y="52"/>
                  </a:cubicBezTo>
                  <a:cubicBezTo>
                    <a:pt x="102" y="52"/>
                    <a:pt x="102" y="52"/>
                    <a:pt x="102" y="52"/>
                  </a:cubicBezTo>
                  <a:cubicBezTo>
                    <a:pt x="102" y="66"/>
                    <a:pt x="102" y="66"/>
                    <a:pt x="102" y="66"/>
                  </a:cubicBezTo>
                  <a:cubicBezTo>
                    <a:pt x="107" y="66"/>
                    <a:pt x="107" y="66"/>
                    <a:pt x="107" y="66"/>
                  </a:cubicBezTo>
                  <a:cubicBezTo>
                    <a:pt x="107" y="49"/>
                    <a:pt x="107" y="49"/>
                    <a:pt x="107" y="49"/>
                  </a:cubicBezTo>
                  <a:cubicBezTo>
                    <a:pt x="107" y="46"/>
                    <a:pt x="107" y="46"/>
                    <a:pt x="107" y="46"/>
                  </a:cubicBezTo>
                  <a:cubicBezTo>
                    <a:pt x="107" y="37"/>
                    <a:pt x="107" y="37"/>
                    <a:pt x="107" y="37"/>
                  </a:cubicBezTo>
                  <a:cubicBezTo>
                    <a:pt x="107" y="37"/>
                    <a:pt x="107" y="37"/>
                    <a:pt x="107" y="37"/>
                  </a:cubicBezTo>
                  <a:cubicBezTo>
                    <a:pt x="107" y="46"/>
                    <a:pt x="107" y="46"/>
                    <a:pt x="107" y="46"/>
                  </a:cubicBezTo>
                  <a:cubicBezTo>
                    <a:pt x="112" y="46"/>
                    <a:pt x="112" y="46"/>
                    <a:pt x="112" y="46"/>
                  </a:cubicBezTo>
                  <a:cubicBezTo>
                    <a:pt x="112" y="33"/>
                    <a:pt x="112" y="33"/>
                    <a:pt x="112" y="33"/>
                  </a:cubicBezTo>
                  <a:cubicBezTo>
                    <a:pt x="112" y="31"/>
                    <a:pt x="110" y="29"/>
                    <a:pt x="107" y="29"/>
                  </a:cubicBezTo>
                  <a:cubicBezTo>
                    <a:pt x="98" y="29"/>
                    <a:pt x="98" y="29"/>
                    <a:pt x="98" y="29"/>
                  </a:cubicBezTo>
                  <a:cubicBezTo>
                    <a:pt x="98" y="30"/>
                    <a:pt x="98" y="30"/>
                    <a:pt x="98" y="31"/>
                  </a:cubicBezTo>
                  <a:cubicBezTo>
                    <a:pt x="98" y="49"/>
                    <a:pt x="98" y="49"/>
                    <a:pt x="98" y="49"/>
                  </a:cubicBezTo>
                  <a:cubicBezTo>
                    <a:pt x="96" y="49"/>
                    <a:pt x="96" y="49"/>
                    <a:pt x="96" y="49"/>
                  </a:cubicBezTo>
                  <a:close/>
                  <a:moveTo>
                    <a:pt x="101" y="15"/>
                  </a:moveTo>
                  <a:cubicBezTo>
                    <a:pt x="98" y="15"/>
                    <a:pt x="95" y="18"/>
                    <a:pt x="95" y="22"/>
                  </a:cubicBezTo>
                  <a:cubicBezTo>
                    <a:pt x="95" y="23"/>
                    <a:pt x="95" y="24"/>
                    <a:pt x="96" y="25"/>
                  </a:cubicBezTo>
                  <a:cubicBezTo>
                    <a:pt x="96" y="26"/>
                    <a:pt x="97" y="26"/>
                    <a:pt x="97" y="26"/>
                  </a:cubicBezTo>
                  <a:cubicBezTo>
                    <a:pt x="98" y="27"/>
                    <a:pt x="100" y="28"/>
                    <a:pt x="101" y="28"/>
                  </a:cubicBezTo>
                  <a:cubicBezTo>
                    <a:pt x="105" y="28"/>
                    <a:pt x="108" y="25"/>
                    <a:pt x="108" y="22"/>
                  </a:cubicBezTo>
                  <a:cubicBezTo>
                    <a:pt x="108" y="18"/>
                    <a:pt x="105" y="15"/>
                    <a:pt x="101" y="15"/>
                  </a:cubicBezTo>
                  <a:close/>
                  <a:moveTo>
                    <a:pt x="75" y="51"/>
                  </a:moveTo>
                  <a:cubicBezTo>
                    <a:pt x="75" y="72"/>
                    <a:pt x="75" y="72"/>
                    <a:pt x="75" y="72"/>
                  </a:cubicBezTo>
                  <a:cubicBezTo>
                    <a:pt x="80" y="72"/>
                    <a:pt x="80" y="72"/>
                    <a:pt x="80" y="72"/>
                  </a:cubicBezTo>
                  <a:cubicBezTo>
                    <a:pt x="80" y="54"/>
                    <a:pt x="80" y="54"/>
                    <a:pt x="80" y="54"/>
                  </a:cubicBezTo>
                  <a:cubicBezTo>
                    <a:pt x="82" y="54"/>
                    <a:pt x="82" y="54"/>
                    <a:pt x="82" y="54"/>
                  </a:cubicBezTo>
                  <a:cubicBezTo>
                    <a:pt x="82" y="72"/>
                    <a:pt x="82" y="72"/>
                    <a:pt x="82" y="72"/>
                  </a:cubicBezTo>
                  <a:cubicBezTo>
                    <a:pt x="87" y="72"/>
                    <a:pt x="87" y="72"/>
                    <a:pt x="87" y="72"/>
                  </a:cubicBezTo>
                  <a:cubicBezTo>
                    <a:pt x="87" y="51"/>
                    <a:pt x="87" y="51"/>
                    <a:pt x="87" y="51"/>
                  </a:cubicBezTo>
                  <a:cubicBezTo>
                    <a:pt x="87" y="47"/>
                    <a:pt x="87" y="47"/>
                    <a:pt x="87" y="47"/>
                  </a:cubicBezTo>
                  <a:cubicBezTo>
                    <a:pt x="87" y="36"/>
                    <a:pt x="87" y="36"/>
                    <a:pt x="87" y="36"/>
                  </a:cubicBezTo>
                  <a:cubicBezTo>
                    <a:pt x="88" y="36"/>
                    <a:pt x="88" y="36"/>
                    <a:pt x="88" y="36"/>
                  </a:cubicBezTo>
                  <a:cubicBezTo>
                    <a:pt x="88" y="47"/>
                    <a:pt x="88" y="47"/>
                    <a:pt x="88" y="47"/>
                  </a:cubicBezTo>
                  <a:cubicBezTo>
                    <a:pt x="94" y="47"/>
                    <a:pt x="94" y="47"/>
                    <a:pt x="94" y="47"/>
                  </a:cubicBezTo>
                  <a:cubicBezTo>
                    <a:pt x="94" y="31"/>
                    <a:pt x="94" y="31"/>
                    <a:pt x="94" y="31"/>
                  </a:cubicBezTo>
                  <a:cubicBezTo>
                    <a:pt x="94" y="28"/>
                    <a:pt x="91" y="26"/>
                    <a:pt x="88" y="26"/>
                  </a:cubicBezTo>
                  <a:cubicBezTo>
                    <a:pt x="77" y="26"/>
                    <a:pt x="77" y="26"/>
                    <a:pt x="77" y="26"/>
                  </a:cubicBezTo>
                  <a:cubicBezTo>
                    <a:pt x="77" y="27"/>
                    <a:pt x="77" y="28"/>
                    <a:pt x="77" y="28"/>
                  </a:cubicBezTo>
                  <a:cubicBezTo>
                    <a:pt x="77" y="51"/>
                    <a:pt x="77" y="51"/>
                    <a:pt x="77" y="51"/>
                  </a:cubicBezTo>
                  <a:cubicBezTo>
                    <a:pt x="75" y="51"/>
                    <a:pt x="75" y="51"/>
                    <a:pt x="75" y="51"/>
                  </a:cubicBezTo>
                  <a:close/>
                  <a:moveTo>
                    <a:pt x="65" y="47"/>
                  </a:moveTo>
                  <a:cubicBezTo>
                    <a:pt x="65" y="32"/>
                    <a:pt x="65" y="32"/>
                    <a:pt x="65" y="32"/>
                  </a:cubicBezTo>
                  <a:cubicBezTo>
                    <a:pt x="64" y="32"/>
                    <a:pt x="64" y="32"/>
                    <a:pt x="64" y="32"/>
                  </a:cubicBezTo>
                  <a:cubicBezTo>
                    <a:pt x="64" y="47"/>
                    <a:pt x="64" y="47"/>
                    <a:pt x="64" y="47"/>
                  </a:cubicBezTo>
                  <a:cubicBezTo>
                    <a:pt x="64" y="50"/>
                    <a:pt x="64" y="50"/>
                    <a:pt x="64" y="50"/>
                  </a:cubicBezTo>
                  <a:cubicBezTo>
                    <a:pt x="64" y="77"/>
                    <a:pt x="64" y="77"/>
                    <a:pt x="64" y="77"/>
                  </a:cubicBezTo>
                  <a:cubicBezTo>
                    <a:pt x="57" y="77"/>
                    <a:pt x="57" y="77"/>
                    <a:pt x="57" y="77"/>
                  </a:cubicBezTo>
                  <a:cubicBezTo>
                    <a:pt x="57" y="55"/>
                    <a:pt x="57" y="55"/>
                    <a:pt x="57" y="55"/>
                  </a:cubicBezTo>
                  <a:cubicBezTo>
                    <a:pt x="55" y="55"/>
                    <a:pt x="55" y="55"/>
                    <a:pt x="55" y="55"/>
                  </a:cubicBezTo>
                  <a:cubicBezTo>
                    <a:pt x="55" y="77"/>
                    <a:pt x="55" y="77"/>
                    <a:pt x="55" y="77"/>
                  </a:cubicBezTo>
                  <a:cubicBezTo>
                    <a:pt x="48" y="77"/>
                    <a:pt x="48" y="77"/>
                    <a:pt x="48" y="77"/>
                  </a:cubicBezTo>
                  <a:cubicBezTo>
                    <a:pt x="48" y="50"/>
                    <a:pt x="48" y="50"/>
                    <a:pt x="48" y="50"/>
                  </a:cubicBezTo>
                  <a:cubicBezTo>
                    <a:pt x="48" y="47"/>
                    <a:pt x="48" y="47"/>
                    <a:pt x="48" y="47"/>
                  </a:cubicBezTo>
                  <a:cubicBezTo>
                    <a:pt x="48" y="32"/>
                    <a:pt x="48" y="32"/>
                    <a:pt x="48" y="32"/>
                  </a:cubicBezTo>
                  <a:cubicBezTo>
                    <a:pt x="47" y="32"/>
                    <a:pt x="47" y="32"/>
                    <a:pt x="47" y="32"/>
                  </a:cubicBezTo>
                  <a:cubicBezTo>
                    <a:pt x="47" y="47"/>
                    <a:pt x="47" y="47"/>
                    <a:pt x="47" y="47"/>
                  </a:cubicBezTo>
                  <a:cubicBezTo>
                    <a:pt x="41" y="47"/>
                    <a:pt x="41" y="47"/>
                    <a:pt x="41" y="47"/>
                  </a:cubicBezTo>
                  <a:cubicBezTo>
                    <a:pt x="41" y="27"/>
                    <a:pt x="41" y="27"/>
                    <a:pt x="41" y="27"/>
                  </a:cubicBezTo>
                  <a:cubicBezTo>
                    <a:pt x="41" y="24"/>
                    <a:pt x="44" y="21"/>
                    <a:pt x="47" y="21"/>
                  </a:cubicBezTo>
                  <a:cubicBezTo>
                    <a:pt x="66" y="21"/>
                    <a:pt x="46" y="21"/>
                    <a:pt x="65" y="21"/>
                  </a:cubicBezTo>
                  <a:cubicBezTo>
                    <a:pt x="69" y="21"/>
                    <a:pt x="71" y="24"/>
                    <a:pt x="71" y="27"/>
                  </a:cubicBezTo>
                  <a:cubicBezTo>
                    <a:pt x="71" y="47"/>
                    <a:pt x="71" y="47"/>
                    <a:pt x="71" y="47"/>
                  </a:cubicBezTo>
                  <a:cubicBezTo>
                    <a:pt x="70" y="47"/>
                    <a:pt x="68" y="47"/>
                    <a:pt x="65" y="47"/>
                  </a:cubicBezTo>
                  <a:close/>
                  <a:moveTo>
                    <a:pt x="37" y="51"/>
                  </a:moveTo>
                  <a:cubicBezTo>
                    <a:pt x="37" y="72"/>
                    <a:pt x="37" y="72"/>
                    <a:pt x="37" y="72"/>
                  </a:cubicBezTo>
                  <a:cubicBezTo>
                    <a:pt x="31" y="72"/>
                    <a:pt x="31" y="72"/>
                    <a:pt x="31" y="72"/>
                  </a:cubicBezTo>
                  <a:cubicBezTo>
                    <a:pt x="31" y="54"/>
                    <a:pt x="31" y="54"/>
                    <a:pt x="31" y="54"/>
                  </a:cubicBezTo>
                  <a:cubicBezTo>
                    <a:pt x="30" y="54"/>
                    <a:pt x="30" y="54"/>
                    <a:pt x="30" y="54"/>
                  </a:cubicBezTo>
                  <a:cubicBezTo>
                    <a:pt x="30" y="72"/>
                    <a:pt x="30" y="72"/>
                    <a:pt x="30" y="72"/>
                  </a:cubicBezTo>
                  <a:cubicBezTo>
                    <a:pt x="24" y="72"/>
                    <a:pt x="24" y="72"/>
                    <a:pt x="24" y="72"/>
                  </a:cubicBezTo>
                  <a:cubicBezTo>
                    <a:pt x="24" y="51"/>
                    <a:pt x="24" y="51"/>
                    <a:pt x="24" y="51"/>
                  </a:cubicBezTo>
                  <a:cubicBezTo>
                    <a:pt x="24" y="47"/>
                    <a:pt x="24" y="47"/>
                    <a:pt x="24" y="47"/>
                  </a:cubicBezTo>
                  <a:cubicBezTo>
                    <a:pt x="24" y="36"/>
                    <a:pt x="24" y="36"/>
                    <a:pt x="24" y="36"/>
                  </a:cubicBezTo>
                  <a:cubicBezTo>
                    <a:pt x="23" y="36"/>
                    <a:pt x="23" y="36"/>
                    <a:pt x="23" y="36"/>
                  </a:cubicBezTo>
                  <a:cubicBezTo>
                    <a:pt x="23" y="47"/>
                    <a:pt x="23" y="47"/>
                    <a:pt x="23" y="47"/>
                  </a:cubicBezTo>
                  <a:cubicBezTo>
                    <a:pt x="18" y="47"/>
                    <a:pt x="18" y="47"/>
                    <a:pt x="18" y="47"/>
                  </a:cubicBezTo>
                  <a:cubicBezTo>
                    <a:pt x="18" y="31"/>
                    <a:pt x="18" y="31"/>
                    <a:pt x="18" y="31"/>
                  </a:cubicBezTo>
                  <a:cubicBezTo>
                    <a:pt x="18" y="28"/>
                    <a:pt x="20" y="26"/>
                    <a:pt x="23" y="26"/>
                  </a:cubicBezTo>
                  <a:cubicBezTo>
                    <a:pt x="35" y="26"/>
                    <a:pt x="35" y="26"/>
                    <a:pt x="35" y="26"/>
                  </a:cubicBezTo>
                  <a:cubicBezTo>
                    <a:pt x="35" y="27"/>
                    <a:pt x="35" y="28"/>
                    <a:pt x="35" y="28"/>
                  </a:cubicBezTo>
                  <a:cubicBezTo>
                    <a:pt x="35" y="51"/>
                    <a:pt x="35" y="51"/>
                    <a:pt x="35" y="51"/>
                  </a:cubicBezTo>
                  <a:cubicBezTo>
                    <a:pt x="37" y="51"/>
                    <a:pt x="37" y="51"/>
                    <a:pt x="37" y="51"/>
                  </a:cubicBezTo>
                  <a:close/>
                  <a:moveTo>
                    <a:pt x="31" y="9"/>
                  </a:moveTo>
                  <a:cubicBezTo>
                    <a:pt x="35" y="9"/>
                    <a:pt x="39" y="12"/>
                    <a:pt x="39" y="17"/>
                  </a:cubicBezTo>
                  <a:cubicBezTo>
                    <a:pt x="39" y="19"/>
                    <a:pt x="38" y="20"/>
                    <a:pt x="37" y="22"/>
                  </a:cubicBezTo>
                  <a:cubicBezTo>
                    <a:pt x="37" y="22"/>
                    <a:pt x="37" y="22"/>
                    <a:pt x="37" y="23"/>
                  </a:cubicBezTo>
                  <a:cubicBezTo>
                    <a:pt x="35" y="24"/>
                    <a:pt x="33" y="25"/>
                    <a:pt x="31" y="25"/>
                  </a:cubicBezTo>
                  <a:cubicBezTo>
                    <a:pt x="26" y="25"/>
                    <a:pt x="22" y="21"/>
                    <a:pt x="22" y="17"/>
                  </a:cubicBezTo>
                  <a:cubicBezTo>
                    <a:pt x="22" y="12"/>
                    <a:pt x="26" y="9"/>
                    <a:pt x="31" y="9"/>
                  </a:cubicBezTo>
                  <a:close/>
                  <a:moveTo>
                    <a:pt x="81" y="9"/>
                  </a:moveTo>
                  <a:cubicBezTo>
                    <a:pt x="76" y="9"/>
                    <a:pt x="73" y="12"/>
                    <a:pt x="73" y="17"/>
                  </a:cubicBezTo>
                  <a:cubicBezTo>
                    <a:pt x="73" y="19"/>
                    <a:pt x="73" y="20"/>
                    <a:pt x="74" y="22"/>
                  </a:cubicBezTo>
                  <a:cubicBezTo>
                    <a:pt x="75" y="22"/>
                    <a:pt x="75" y="22"/>
                    <a:pt x="75" y="23"/>
                  </a:cubicBezTo>
                  <a:cubicBezTo>
                    <a:pt x="77" y="24"/>
                    <a:pt x="79" y="25"/>
                    <a:pt x="81" y="25"/>
                  </a:cubicBezTo>
                  <a:cubicBezTo>
                    <a:pt x="85" y="25"/>
                    <a:pt x="89" y="21"/>
                    <a:pt x="89" y="17"/>
                  </a:cubicBezTo>
                  <a:cubicBezTo>
                    <a:pt x="89" y="12"/>
                    <a:pt x="85" y="9"/>
                    <a:pt x="81" y="9"/>
                  </a:cubicBezTo>
                  <a:close/>
                </a:path>
              </a:pathLst>
            </a:custGeom>
          </p:spPr>
          <p:style>
            <a:lnRef idx="0">
              <a:schemeClr val="dk1"/>
            </a:lnRef>
            <a:fillRef idx="3">
              <a:schemeClr val="dk1"/>
            </a:fillRef>
            <a:effectRef idx="3">
              <a:schemeClr val="dk1"/>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sp>
          <p:nvSpPr>
            <p:cNvPr id="12" name="文本框 11"/>
            <p:cNvSpPr txBox="1"/>
            <p:nvPr/>
          </p:nvSpPr>
          <p:spPr>
            <a:xfrm>
              <a:off x="5394" y="2922"/>
              <a:ext cx="1728" cy="580"/>
            </a:xfrm>
            <a:prstGeom prst="rect">
              <a:avLst/>
            </a:prstGeom>
            <a:noFill/>
          </p:spPr>
          <p:txBody>
            <a:bodyPr wrap="none" rtlCol="0">
              <a:spAutoFit/>
            </a:bodyPr>
            <a:lstStyle/>
            <a:p>
              <a:r>
                <a:rPr lang="zh-CN" altLang="en-US"/>
                <a:t>用户数据</a:t>
              </a:r>
            </a:p>
          </p:txBody>
        </p:sp>
        <p:pic>
          <p:nvPicPr>
            <p:cNvPr id="13" name="图片 12" descr="business_Card_47.481081081081px_1197727_easyicon.net"/>
            <p:cNvPicPr>
              <a:picLocks noChangeAspect="1"/>
            </p:cNvPicPr>
            <p:nvPr/>
          </p:nvPicPr>
          <p:blipFill>
            <a:blip r:embed="rId3"/>
            <a:stretch>
              <a:fillRect/>
            </a:stretch>
          </p:blipFill>
          <p:spPr>
            <a:xfrm>
              <a:off x="3875" y="4340"/>
              <a:ext cx="1233" cy="1259"/>
            </a:xfrm>
            <a:prstGeom prst="rect">
              <a:avLst/>
            </a:prstGeom>
          </p:spPr>
        </p:pic>
        <p:sp>
          <p:nvSpPr>
            <p:cNvPr id="14" name="文本框 13"/>
            <p:cNvSpPr txBox="1"/>
            <p:nvPr/>
          </p:nvSpPr>
          <p:spPr>
            <a:xfrm>
              <a:off x="5394" y="4680"/>
              <a:ext cx="1728" cy="580"/>
            </a:xfrm>
            <a:prstGeom prst="rect">
              <a:avLst/>
            </a:prstGeom>
            <a:noFill/>
          </p:spPr>
          <p:txBody>
            <a:bodyPr wrap="none" rtlCol="0">
              <a:spAutoFit/>
            </a:bodyPr>
            <a:lstStyle/>
            <a:p>
              <a:r>
                <a:rPr lang="zh-CN" altLang="en-US"/>
                <a:t>业务数据</a:t>
              </a:r>
            </a:p>
          </p:txBody>
        </p:sp>
        <p:pic>
          <p:nvPicPr>
            <p:cNvPr id="15" name="图片 14" descr="electronic_132.97691373026px_1156647_easyicon.net"/>
            <p:cNvPicPr>
              <a:picLocks noChangeAspect="1"/>
            </p:cNvPicPr>
            <p:nvPr/>
          </p:nvPicPr>
          <p:blipFill>
            <a:blip r:embed="rId4"/>
            <a:stretch>
              <a:fillRect/>
            </a:stretch>
          </p:blipFill>
          <p:spPr>
            <a:xfrm>
              <a:off x="3699" y="8271"/>
              <a:ext cx="1584" cy="1524"/>
            </a:xfrm>
            <a:prstGeom prst="rect">
              <a:avLst/>
            </a:prstGeom>
          </p:spPr>
        </p:pic>
        <p:sp>
          <p:nvSpPr>
            <p:cNvPr id="16" name="文本框 15"/>
            <p:cNvSpPr txBox="1"/>
            <p:nvPr/>
          </p:nvSpPr>
          <p:spPr>
            <a:xfrm>
              <a:off x="5394" y="8561"/>
              <a:ext cx="1728" cy="580"/>
            </a:xfrm>
            <a:prstGeom prst="rect">
              <a:avLst/>
            </a:prstGeom>
            <a:noFill/>
          </p:spPr>
          <p:txBody>
            <a:bodyPr wrap="none" rtlCol="0">
              <a:spAutoFit/>
            </a:bodyPr>
            <a:lstStyle/>
            <a:p>
              <a:r>
                <a:rPr lang="zh-CN" altLang="en-US"/>
                <a:t>设备数据</a:t>
              </a:r>
            </a:p>
          </p:txBody>
        </p:sp>
        <p:pic>
          <p:nvPicPr>
            <p:cNvPr id="17" name="图片 16" descr="Network_Disconnected_128px_1104178_easyicon.net"/>
            <p:cNvPicPr>
              <a:picLocks noChangeAspect="1"/>
            </p:cNvPicPr>
            <p:nvPr/>
          </p:nvPicPr>
          <p:blipFill>
            <a:blip r:embed="rId5"/>
            <a:stretch>
              <a:fillRect/>
            </a:stretch>
          </p:blipFill>
          <p:spPr>
            <a:xfrm>
              <a:off x="3724" y="6167"/>
              <a:ext cx="1536" cy="1536"/>
            </a:xfrm>
            <a:prstGeom prst="rect">
              <a:avLst/>
            </a:prstGeom>
          </p:spPr>
        </p:pic>
        <p:sp>
          <p:nvSpPr>
            <p:cNvPr id="19" name="文本框 18"/>
            <p:cNvSpPr txBox="1"/>
            <p:nvPr/>
          </p:nvSpPr>
          <p:spPr>
            <a:xfrm>
              <a:off x="5394" y="6645"/>
              <a:ext cx="1728" cy="580"/>
            </a:xfrm>
            <a:prstGeom prst="rect">
              <a:avLst/>
            </a:prstGeom>
            <a:noFill/>
          </p:spPr>
          <p:txBody>
            <a:bodyPr wrap="none" rtlCol="0">
              <a:spAutoFit/>
            </a:bodyPr>
            <a:lstStyle/>
            <a:p>
              <a:r>
                <a:rPr lang="zh-CN" altLang="en-US"/>
                <a:t>网络数据</a:t>
              </a:r>
            </a:p>
          </p:txBody>
        </p:sp>
        <p:sp>
          <p:nvSpPr>
            <p:cNvPr id="20" name="左大括号 19"/>
            <p:cNvSpPr/>
            <p:nvPr/>
          </p:nvSpPr>
          <p:spPr>
            <a:xfrm>
              <a:off x="2453" y="2654"/>
              <a:ext cx="568" cy="7141"/>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21" name="燕尾形箭头 20"/>
            <p:cNvSpPr/>
            <p:nvPr/>
          </p:nvSpPr>
          <p:spPr>
            <a:xfrm rot="840000">
              <a:off x="7533" y="3357"/>
              <a:ext cx="2270"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2" name="燕尾形箭头 21"/>
            <p:cNvSpPr/>
            <p:nvPr/>
          </p:nvSpPr>
          <p:spPr>
            <a:xfrm rot="240000">
              <a:off x="7383" y="4689"/>
              <a:ext cx="1986"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3" name="燕尾形箭头 22"/>
            <p:cNvSpPr/>
            <p:nvPr/>
          </p:nvSpPr>
          <p:spPr>
            <a:xfrm rot="20340000">
              <a:off x="7390" y="6113"/>
              <a:ext cx="2313"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4" name="燕尾形箭头 23"/>
            <p:cNvSpPr/>
            <p:nvPr/>
          </p:nvSpPr>
          <p:spPr>
            <a:xfrm rot="19440000">
              <a:off x="7374" y="7481"/>
              <a:ext cx="3065"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6" name="文本框 25"/>
            <p:cNvSpPr txBox="1"/>
            <p:nvPr/>
          </p:nvSpPr>
          <p:spPr>
            <a:xfrm>
              <a:off x="8196" y="2075"/>
              <a:ext cx="2808" cy="1016"/>
            </a:xfrm>
            <a:prstGeom prst="rect">
              <a:avLst/>
            </a:prstGeom>
            <a:noFill/>
          </p:spPr>
          <p:txBody>
            <a:bodyPr wrap="none" rtlCol="0">
              <a:spAutoFit/>
            </a:bodyPr>
            <a:lstStyle/>
            <a:p>
              <a:r>
                <a:rPr lang="zh-CN" altLang="en-US"/>
                <a:t>感知渠道：</a:t>
              </a:r>
            </a:p>
            <a:p>
              <a:r>
                <a:rPr lang="zh-CN" altLang="en-US"/>
                <a:t>丰富的数据接口</a:t>
              </a:r>
            </a:p>
          </p:txBody>
        </p:sp>
        <p:sp>
          <p:nvSpPr>
            <p:cNvPr id="27" name="文本框 26"/>
            <p:cNvSpPr txBox="1"/>
            <p:nvPr/>
          </p:nvSpPr>
          <p:spPr>
            <a:xfrm>
              <a:off x="14857" y="3091"/>
              <a:ext cx="3168" cy="1016"/>
            </a:xfrm>
            <a:prstGeom prst="rect">
              <a:avLst/>
            </a:prstGeom>
            <a:noFill/>
          </p:spPr>
          <p:txBody>
            <a:bodyPr wrap="none" rtlCol="0">
              <a:spAutoFit/>
            </a:bodyPr>
            <a:lstStyle/>
            <a:p>
              <a:r>
                <a:rPr lang="zh-CN" altLang="en-US"/>
                <a:t>网络大脑的记忆：</a:t>
              </a:r>
            </a:p>
            <a:p>
              <a:r>
                <a:rPr lang="zh-CN" altLang="en-US"/>
                <a:t>结构化数据仓库</a:t>
              </a:r>
            </a:p>
          </p:txBody>
        </p:sp>
        <p:pic>
          <p:nvPicPr>
            <p:cNvPr id="28" name="图片 27" descr="STORAGE_135.26977687627px_1199104_easyicon.net"/>
            <p:cNvPicPr>
              <a:picLocks noChangeAspect="1"/>
            </p:cNvPicPr>
            <p:nvPr/>
          </p:nvPicPr>
          <p:blipFill>
            <a:blip r:embed="rId6"/>
            <a:stretch>
              <a:fillRect/>
            </a:stretch>
          </p:blipFill>
          <p:spPr>
            <a:xfrm>
              <a:off x="15857" y="4186"/>
              <a:ext cx="2168" cy="2056"/>
            </a:xfrm>
            <a:prstGeom prst="rect">
              <a:avLst/>
            </a:prstGeom>
          </p:spPr>
        </p:pic>
        <p:sp>
          <p:nvSpPr>
            <p:cNvPr id="29" name="燕尾形箭头 28"/>
            <p:cNvSpPr/>
            <p:nvPr/>
          </p:nvSpPr>
          <p:spPr>
            <a:xfrm>
              <a:off x="13825" y="5036"/>
              <a:ext cx="1562" cy="563"/>
            </a:xfrm>
            <a:prstGeom prst="notched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sp>
        <p:nvSpPr>
          <p:cNvPr id="30" name="文本框 29"/>
          <p:cNvSpPr txBox="1"/>
          <p:nvPr/>
        </p:nvSpPr>
        <p:spPr>
          <a:xfrm>
            <a:off x="2820035" y="6108065"/>
            <a:ext cx="1554480" cy="368300"/>
          </a:xfrm>
          <a:prstGeom prst="rect">
            <a:avLst/>
          </a:prstGeom>
          <a:noFill/>
        </p:spPr>
        <p:txBody>
          <a:bodyPr wrap="none" rtlCol="0">
            <a:spAutoFit/>
          </a:bodyPr>
          <a:lstStyle/>
          <a:p>
            <a:r>
              <a:rPr lang="zh-CN" altLang="en-US" b="1">
                <a:ln/>
                <a:solidFill>
                  <a:schemeClr val="accent1"/>
                </a:solidFill>
                <a:effectLst>
                  <a:outerShdw blurRad="38100" dist="25400" dir="5400000" algn="ctr" rotWithShape="0">
                    <a:srgbClr val="6E747A">
                      <a:alpha val="43000"/>
                    </a:srgbClr>
                  </a:outerShdw>
                </a:effectLst>
              </a:rPr>
              <a:t>数据采集模块</a:t>
            </a:r>
          </a:p>
        </p:txBody>
      </p:sp>
      <p:sp>
        <p:nvSpPr>
          <p:cNvPr id="32" name="文本框 31"/>
          <p:cNvSpPr txBox="1"/>
          <p:nvPr/>
        </p:nvSpPr>
        <p:spPr>
          <a:xfrm>
            <a:off x="6979920" y="4224655"/>
            <a:ext cx="15544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数据解码模块</a:t>
            </a:r>
          </a:p>
        </p:txBody>
      </p:sp>
      <p:sp>
        <p:nvSpPr>
          <p:cNvPr id="33" name="文本框 32"/>
          <p:cNvSpPr txBox="1"/>
          <p:nvPr/>
        </p:nvSpPr>
        <p:spPr>
          <a:xfrm>
            <a:off x="10259695" y="4224655"/>
            <a:ext cx="15544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数据存储模块</a:t>
            </a:r>
          </a:p>
        </p:txBody>
      </p:sp>
      <p:sp>
        <p:nvSpPr>
          <p:cNvPr id="34" name="文本框 33"/>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6714172" y="2074636"/>
            <a:ext cx="2085975" cy="1561465"/>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8" name="等腰三角形 7"/>
          <p:cNvSpPr/>
          <p:nvPr/>
        </p:nvSpPr>
        <p:spPr>
          <a:xfrm>
            <a:off x="6996570" y="2342198"/>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等腰三角形 34"/>
          <p:cNvSpPr/>
          <p:nvPr/>
        </p:nvSpPr>
        <p:spPr>
          <a:xfrm>
            <a:off x="7614603" y="2347277"/>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等腰三角形 35"/>
          <p:cNvSpPr/>
          <p:nvPr/>
        </p:nvSpPr>
        <p:spPr>
          <a:xfrm>
            <a:off x="8232636" y="2346325"/>
            <a:ext cx="287020" cy="2095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032060" y="2803049"/>
            <a:ext cx="216040" cy="244475"/>
          </a:xfrm>
          <a:prstGeom prst="rect">
            <a:avLst/>
          </a:prstGeom>
          <a:solidFill>
            <a:srgbClr val="FF0000"/>
          </a:solidFill>
          <a:ln>
            <a:solidFill>
              <a:srgbClr val="E73A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7650093" y="2803049"/>
            <a:ext cx="216040" cy="244475"/>
          </a:xfrm>
          <a:prstGeom prst="rect">
            <a:avLst/>
          </a:prstGeom>
          <a:solidFill>
            <a:srgbClr val="FF0000"/>
          </a:solidFill>
          <a:ln>
            <a:solidFill>
              <a:srgbClr val="E73A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8268126" y="2803049"/>
            <a:ext cx="216040" cy="244475"/>
          </a:xfrm>
          <a:prstGeom prst="rect">
            <a:avLst/>
          </a:prstGeom>
          <a:solidFill>
            <a:srgbClr val="FF0000"/>
          </a:solidFill>
          <a:ln>
            <a:solidFill>
              <a:srgbClr val="E73A1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7032060" y="3249300"/>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7641220" y="3249301"/>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8250381" y="3254574"/>
            <a:ext cx="251530" cy="259397"/>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0771269"/>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感知系统</a:t>
            </a:r>
            <a:r>
              <a:rPr lang="en-US" altLang="zh-CN" dirty="0" smtClean="0">
                <a:solidFill>
                  <a:srgbClr val="333F50"/>
                </a:solidFill>
              </a:rPr>
              <a:t>--&gt;</a:t>
            </a:r>
            <a:r>
              <a:rPr lang="zh-CN" altLang="en-US" dirty="0" smtClean="0">
                <a:solidFill>
                  <a:srgbClr val="333F50"/>
                </a:solidFill>
              </a:rPr>
              <a:t>数据采集模块</a:t>
            </a:r>
            <a:endParaRPr lang="zh-CN" altLang="en-US" dirty="0">
              <a:solidFill>
                <a:srgbClr val="333F50"/>
              </a:solidFill>
            </a:endParaRPr>
          </a:p>
        </p:txBody>
      </p:sp>
      <p:sp>
        <p:nvSpPr>
          <p:cNvPr id="2" name="文本框 1"/>
          <p:cNvSpPr txBox="1"/>
          <p:nvPr/>
        </p:nvSpPr>
        <p:spPr>
          <a:xfrm>
            <a:off x="1245235" y="1542415"/>
            <a:ext cx="9309735" cy="1753235"/>
          </a:xfrm>
          <a:prstGeom prst="rect">
            <a:avLst/>
          </a:prstGeom>
          <a:noFill/>
        </p:spPr>
        <p:txBody>
          <a:bodyPr wrap="square" rtlCol="0">
            <a:spAutoFit/>
          </a:bodyPr>
          <a:lstStyle/>
          <a:p>
            <a:pPr indent="457200" algn="l">
              <a:lnSpc>
                <a:spcPct val="150000"/>
              </a:lnSpc>
            </a:pPr>
            <a:r>
              <a:rPr lang="zh-CN" altLang="en-US" b="1" dirty="0"/>
              <a:t>模块简介</a:t>
            </a:r>
          </a:p>
          <a:p>
            <a:pPr indent="457200" algn="l">
              <a:lnSpc>
                <a:spcPct val="150000"/>
              </a:lnSpc>
            </a:pPr>
            <a:r>
              <a:rPr lang="zh-CN" altLang="en-US" dirty="0">
                <a:latin typeface="微软雅黑" panose="020B0503020204020204" pitchFamily="34" charset="-122"/>
                <a:ea typeface="微软雅黑" panose="020B0503020204020204" pitchFamily="34" charset="-122"/>
              </a:rPr>
              <a:t>    </a:t>
            </a:r>
            <a:r>
              <a:rPr lang="zh-CN" altLang="en-US" dirty="0">
                <a:effectLst/>
                <a:latin typeface="微软雅黑" panose="020B0503020204020204" pitchFamily="34" charset="-122"/>
                <a:ea typeface="微软雅黑" panose="020B0503020204020204" pitchFamily="34" charset="-122"/>
                <a:sym typeface="+mn-ea"/>
              </a:rPr>
              <a:t>网络运维</a:t>
            </a:r>
            <a:r>
              <a:rPr lang="zh-CN" dirty="0">
                <a:effectLst/>
                <a:latin typeface="微软雅黑" panose="020B0503020204020204" pitchFamily="34" charset="-122"/>
                <a:ea typeface="微软雅黑" panose="020B0503020204020204" pitchFamily="34" charset="-122"/>
                <a:sym typeface="+mn-ea"/>
              </a:rPr>
              <a:t>日常工作中数据获取</a:t>
            </a:r>
            <a:r>
              <a:rPr lang="zh-CN" altLang="en-US" dirty="0">
                <a:effectLst/>
                <a:latin typeface="微软雅黑" panose="020B0503020204020204" pitchFamily="34" charset="-122"/>
                <a:ea typeface="微软雅黑" panose="020B0503020204020204" pitchFamily="34" charset="-122"/>
                <a:sym typeface="+mn-ea"/>
              </a:rPr>
              <a:t>需要手工选定，管理繁杂。</a:t>
            </a:r>
          </a:p>
          <a:p>
            <a:pPr indent="457200" algn="l">
              <a:lnSpc>
                <a:spcPct val="150000"/>
              </a:lnSpc>
            </a:pPr>
            <a:r>
              <a:rPr lang="zh-CN" altLang="en-US" dirty="0">
                <a:effectLst/>
                <a:latin typeface="微软雅黑" panose="020B0503020204020204" pitchFamily="34" charset="-122"/>
                <a:ea typeface="微软雅黑" panose="020B0503020204020204" pitchFamily="34" charset="-122"/>
                <a:sym typeface="+mn-ea"/>
              </a:rPr>
              <a:t>    采集系统可由用户自定义目标源，实现多个源同时自动实时上传下载文件，解决数据异源端口，手工下载不统一等繁杂问题。</a:t>
            </a:r>
            <a:endParaRPr lang="zh-CN" altLang="en-US" dirty="0">
              <a:latin typeface="微软雅黑" panose="020B0503020204020204" pitchFamily="34" charset="-122"/>
              <a:ea typeface="微软雅黑" panose="020B0503020204020204" pitchFamily="34" charset="-122"/>
            </a:endParaRPr>
          </a:p>
        </p:txBody>
      </p:sp>
      <p:sp>
        <p:nvSpPr>
          <p:cNvPr id="5" name="文本框 4"/>
          <p:cNvSpPr txBox="1"/>
          <p:nvPr/>
        </p:nvSpPr>
        <p:spPr>
          <a:xfrm>
            <a:off x="1245235" y="4195764"/>
            <a:ext cx="9309735" cy="1338828"/>
          </a:xfrm>
          <a:prstGeom prst="rect">
            <a:avLst/>
          </a:prstGeom>
          <a:noFill/>
        </p:spPr>
        <p:txBody>
          <a:bodyPr wrap="square" rtlCol="0">
            <a:spAutoFit/>
          </a:bodyPr>
          <a:lstStyle/>
          <a:p>
            <a:pPr indent="457200" algn="l">
              <a:lnSpc>
                <a:spcPct val="150000"/>
              </a:lnSpc>
            </a:pPr>
            <a:r>
              <a:rPr lang="zh-CN" altLang="en-US" b="1" dirty="0"/>
              <a:t>模块功能</a:t>
            </a:r>
          </a:p>
          <a:p>
            <a:pPr indent="457200" algn="l">
              <a:lnSpc>
                <a:spcPct val="150000"/>
              </a:lnSpc>
            </a:pPr>
            <a:r>
              <a:rPr lang="zh-CN" altLang="en-US" dirty="0">
                <a:latin typeface="宋体" panose="02010600030101010101" pitchFamily="2" charset="-122"/>
                <a:ea typeface="宋体" panose="02010600030101010101" pitchFamily="2" charset="-122"/>
              </a:rPr>
              <a:t>    </a:t>
            </a:r>
            <a:r>
              <a:rPr lang="zh-CN" altLang="en-US" dirty="0">
                <a:latin typeface="微软雅黑" panose="020B0503020204020204" pitchFamily="34" charset="-122"/>
                <a:ea typeface="微软雅黑" panose="020B0503020204020204" pitchFamily="34" charset="-122"/>
                <a:sym typeface="+mn-ea"/>
              </a:rPr>
              <a:t>自定义任务数据源</a:t>
            </a:r>
          </a:p>
          <a:p>
            <a:pPr indent="457200" algn="l">
              <a:lnSpc>
                <a:spcPct val="150000"/>
              </a:lnSpc>
            </a:pPr>
            <a:r>
              <a:rPr lang="zh-CN" altLang="en-US" dirty="0">
                <a:latin typeface="微软雅黑" panose="020B0503020204020204" pitchFamily="34" charset="-122"/>
                <a:ea typeface="微软雅黑" panose="020B0503020204020204" pitchFamily="34" charset="-122"/>
                <a:sym typeface="+mn-ea"/>
              </a:rPr>
              <a:t>    </a:t>
            </a:r>
            <a:r>
              <a:rPr lang="en-US" altLang="zh-CN" dirty="0" smtClean="0">
                <a:latin typeface="微软雅黑" panose="020B0503020204020204" pitchFamily="34" charset="-122"/>
                <a:ea typeface="微软雅黑" panose="020B0503020204020204" pitchFamily="34" charset="-122"/>
                <a:sym typeface="+mn-ea"/>
              </a:rPr>
              <a:t>	</a:t>
            </a:r>
            <a:r>
              <a:rPr lang="zh-CN" altLang="en-US" dirty="0" smtClean="0">
                <a:latin typeface="微软雅黑" panose="020B0503020204020204" pitchFamily="34" charset="-122"/>
                <a:ea typeface="微软雅黑" panose="020B0503020204020204" pitchFamily="34" charset="-122"/>
                <a:sym typeface="+mn-ea"/>
              </a:rPr>
              <a:t>自主</a:t>
            </a:r>
            <a:r>
              <a:rPr lang="zh-CN" altLang="en-US" dirty="0">
                <a:latin typeface="微软雅黑" panose="020B0503020204020204" pitchFamily="34" charset="-122"/>
                <a:ea typeface="微软雅黑" panose="020B0503020204020204" pitchFamily="34" charset="-122"/>
                <a:sym typeface="+mn-ea"/>
              </a:rPr>
              <a:t>实时采集上传。</a:t>
            </a:r>
            <a:endParaRPr lang="zh-CN" altLang="en-US" dirty="0">
              <a:latin typeface="微软雅黑" panose="020B0503020204020204" pitchFamily="34" charset="-122"/>
              <a:ea typeface="微软雅黑" panose="020B0503020204020204" pitchFamily="34" charset="-122"/>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圆角矩形 2"/>
          <p:cNvSpPr/>
          <p:nvPr/>
        </p:nvSpPr>
        <p:spPr>
          <a:xfrm>
            <a:off x="6456045" y="3295650"/>
            <a:ext cx="920115" cy="21780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用户</a:t>
            </a:r>
          </a:p>
          <a:p>
            <a:pPr algn="ctr"/>
            <a:endParaRPr lang="zh-CN" altLang="en-US"/>
          </a:p>
          <a:p>
            <a:pPr algn="ctr"/>
            <a:r>
              <a:rPr lang="zh-CN" altLang="en-US"/>
              <a:t>业务</a:t>
            </a:r>
          </a:p>
          <a:p>
            <a:pPr algn="ctr"/>
            <a:endParaRPr lang="zh-CN" altLang="en-US"/>
          </a:p>
          <a:p>
            <a:pPr algn="ctr"/>
            <a:r>
              <a:rPr lang="zh-CN" altLang="en-US"/>
              <a:t>网络</a:t>
            </a:r>
          </a:p>
          <a:p>
            <a:pPr algn="ctr"/>
            <a:endParaRPr lang="zh-CN" altLang="en-US"/>
          </a:p>
          <a:p>
            <a:pPr algn="ctr"/>
            <a:r>
              <a:rPr lang="zh-CN" altLang="en-US"/>
              <a:t>设备</a:t>
            </a:r>
          </a:p>
        </p:txBody>
      </p:sp>
      <p:sp>
        <p:nvSpPr>
          <p:cNvPr id="8" name="右箭头 7"/>
          <p:cNvSpPr/>
          <p:nvPr/>
        </p:nvSpPr>
        <p:spPr>
          <a:xfrm>
            <a:off x="7475855" y="3418840"/>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右箭头 9"/>
          <p:cNvSpPr/>
          <p:nvPr/>
        </p:nvSpPr>
        <p:spPr>
          <a:xfrm>
            <a:off x="7475855" y="3970655"/>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右箭头 10"/>
          <p:cNvSpPr/>
          <p:nvPr/>
        </p:nvSpPr>
        <p:spPr>
          <a:xfrm>
            <a:off x="7475855" y="4519930"/>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右箭头 11"/>
          <p:cNvSpPr/>
          <p:nvPr/>
        </p:nvSpPr>
        <p:spPr>
          <a:xfrm>
            <a:off x="7475855" y="5071110"/>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507480" y="5534660"/>
            <a:ext cx="868680" cy="368300"/>
          </a:xfrm>
          <a:prstGeom prst="rect">
            <a:avLst/>
          </a:prstGeom>
          <a:noFill/>
        </p:spPr>
        <p:txBody>
          <a:bodyPr wrap="none" rtlCol="0">
            <a:spAutoFit/>
          </a:bodyPr>
          <a:lstStyle/>
          <a:p>
            <a:r>
              <a:rPr lang="zh-CN" altLang="en-US"/>
              <a:t>数据源</a:t>
            </a:r>
          </a:p>
        </p:txBody>
      </p:sp>
      <p:sp>
        <p:nvSpPr>
          <p:cNvPr id="20" name="左大括号 19"/>
          <p:cNvSpPr/>
          <p:nvPr/>
        </p:nvSpPr>
        <p:spPr>
          <a:xfrm flipH="1">
            <a:off x="8280400" y="3418205"/>
            <a:ext cx="360680" cy="1932940"/>
          </a:xfrm>
          <a:prstGeom prst="leftBrace">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zh-CN" altLang="en-US"/>
          </a:p>
        </p:txBody>
      </p:sp>
      <p:sp>
        <p:nvSpPr>
          <p:cNvPr id="14" name="右箭头 13"/>
          <p:cNvSpPr/>
          <p:nvPr/>
        </p:nvSpPr>
        <p:spPr>
          <a:xfrm>
            <a:off x="8811895" y="4250690"/>
            <a:ext cx="71183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9624060" y="4104640"/>
            <a:ext cx="1217930" cy="55943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解码模块</a:t>
            </a:r>
          </a:p>
        </p:txBody>
      </p:sp>
    </p:spTree>
    <p:extLst>
      <p:ext uri="{BB962C8B-B14F-4D97-AF65-F5344CB8AC3E}">
        <p14:creationId xmlns:p14="http://schemas.microsoft.com/office/powerpoint/2010/main" val="494447007"/>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感知系统</a:t>
            </a:r>
            <a:r>
              <a:rPr lang="en-US" altLang="zh-CN" dirty="0">
                <a:solidFill>
                  <a:srgbClr val="333F50"/>
                </a:solidFill>
              </a:rPr>
              <a:t>--&gt;</a:t>
            </a:r>
            <a:r>
              <a:rPr lang="zh-CN" altLang="en-US" dirty="0" smtClean="0">
                <a:solidFill>
                  <a:srgbClr val="333F50"/>
                </a:solidFill>
              </a:rPr>
              <a:t>数据解码模块</a:t>
            </a:r>
            <a:endParaRPr lang="zh-CN" altLang="en-US" dirty="0">
              <a:solidFill>
                <a:srgbClr val="333F50"/>
              </a:solidFill>
            </a:endParaRPr>
          </a:p>
        </p:txBody>
      </p:sp>
      <p:sp>
        <p:nvSpPr>
          <p:cNvPr id="2" name="文本框 1"/>
          <p:cNvSpPr txBox="1"/>
          <p:nvPr/>
        </p:nvSpPr>
        <p:spPr>
          <a:xfrm>
            <a:off x="1245235" y="1533525"/>
            <a:ext cx="9309735" cy="133794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altLang="en-US" dirty="0">
                <a:effectLst/>
                <a:latin typeface="+mn-ea"/>
                <a:sym typeface="+mn-ea"/>
              </a:rPr>
              <a:t>通过采集系统采集到的相关数据保留着网管侧的源格式，不具备良好的数据交互接口。需要通过解码模块变成结构化的可读数据，再上传至数据仓库。</a:t>
            </a:r>
            <a:endParaRPr lang="zh-CN" altLang="en-US" dirty="0">
              <a:latin typeface="+mn-ea"/>
            </a:endParaRPr>
          </a:p>
        </p:txBody>
      </p:sp>
      <p:sp>
        <p:nvSpPr>
          <p:cNvPr id="5" name="文本框 4"/>
          <p:cNvSpPr txBox="1"/>
          <p:nvPr/>
        </p:nvSpPr>
        <p:spPr>
          <a:xfrm>
            <a:off x="1245235" y="4096965"/>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文件归类</a:t>
            </a:r>
          </a:p>
          <a:p>
            <a:pPr indent="457200" algn="l">
              <a:lnSpc>
                <a:spcPct val="150000"/>
              </a:lnSpc>
            </a:pPr>
            <a:r>
              <a:rPr lang="zh-CN" altLang="en-US" dirty="0">
                <a:effectLst/>
                <a:latin typeface="+mn-ea"/>
                <a:sym typeface="+mn-ea"/>
              </a:rPr>
              <a:t>    汇总解析</a:t>
            </a:r>
          </a:p>
          <a:p>
            <a:pPr indent="457200" algn="l">
              <a:lnSpc>
                <a:spcPct val="150000"/>
              </a:lnSpc>
            </a:pPr>
            <a:r>
              <a:rPr lang="zh-CN" altLang="en-US" dirty="0">
                <a:effectLst/>
                <a:latin typeface="+mn-ea"/>
                <a:sym typeface="+mn-ea"/>
              </a:rPr>
              <a:t>    数据入库。</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圆角矩形 2"/>
          <p:cNvSpPr/>
          <p:nvPr/>
        </p:nvSpPr>
        <p:spPr>
          <a:xfrm>
            <a:off x="2098675" y="3209290"/>
            <a:ext cx="1325880" cy="550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异源数据</a:t>
            </a:r>
          </a:p>
        </p:txBody>
      </p:sp>
      <p:sp>
        <p:nvSpPr>
          <p:cNvPr id="8" name="矩形 7"/>
          <p:cNvSpPr/>
          <p:nvPr/>
        </p:nvSpPr>
        <p:spPr>
          <a:xfrm>
            <a:off x="4107180" y="3209290"/>
            <a:ext cx="132588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规则解析</a:t>
            </a:r>
          </a:p>
        </p:txBody>
      </p:sp>
      <p:sp>
        <p:nvSpPr>
          <p:cNvPr id="10" name="圆角矩形 9"/>
          <p:cNvSpPr/>
          <p:nvPr/>
        </p:nvSpPr>
        <p:spPr>
          <a:xfrm>
            <a:off x="6124575" y="3209290"/>
            <a:ext cx="1397635" cy="550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结构化数据</a:t>
            </a:r>
          </a:p>
        </p:txBody>
      </p:sp>
      <p:sp>
        <p:nvSpPr>
          <p:cNvPr id="11" name="圆角矩形 10"/>
          <p:cNvSpPr/>
          <p:nvPr/>
        </p:nvSpPr>
        <p:spPr>
          <a:xfrm>
            <a:off x="8216900" y="3209290"/>
            <a:ext cx="1325880" cy="5505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数据仓库</a:t>
            </a:r>
          </a:p>
        </p:txBody>
      </p:sp>
      <p:sp>
        <p:nvSpPr>
          <p:cNvPr id="12" name="右箭头 11"/>
          <p:cNvSpPr/>
          <p:nvPr/>
        </p:nvSpPr>
        <p:spPr>
          <a:xfrm>
            <a:off x="3476625" y="3344545"/>
            <a:ext cx="57848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右箭头 12"/>
          <p:cNvSpPr/>
          <p:nvPr/>
        </p:nvSpPr>
        <p:spPr>
          <a:xfrm>
            <a:off x="5489575" y="3344545"/>
            <a:ext cx="57848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7522210" y="2976245"/>
            <a:ext cx="640080" cy="368300"/>
          </a:xfrm>
          <a:prstGeom prst="rect">
            <a:avLst/>
          </a:prstGeom>
          <a:noFill/>
        </p:spPr>
        <p:txBody>
          <a:bodyPr wrap="none" rtlCol="0">
            <a:spAutoFit/>
          </a:bodyPr>
          <a:lstStyle/>
          <a:p>
            <a:r>
              <a:rPr lang="zh-CN" altLang="en-US"/>
              <a:t>上传</a:t>
            </a:r>
          </a:p>
        </p:txBody>
      </p:sp>
      <p:sp>
        <p:nvSpPr>
          <p:cNvPr id="16" name="文本框 15"/>
          <p:cNvSpPr txBox="1"/>
          <p:nvPr/>
        </p:nvSpPr>
        <p:spPr>
          <a:xfrm>
            <a:off x="3424555" y="2976245"/>
            <a:ext cx="640080" cy="368300"/>
          </a:xfrm>
          <a:prstGeom prst="rect">
            <a:avLst/>
          </a:prstGeom>
          <a:noFill/>
        </p:spPr>
        <p:txBody>
          <a:bodyPr wrap="none" rtlCol="0">
            <a:spAutoFit/>
          </a:bodyPr>
          <a:lstStyle/>
          <a:p>
            <a:r>
              <a:rPr lang="zh-CN" altLang="en-US"/>
              <a:t>输入</a:t>
            </a:r>
          </a:p>
        </p:txBody>
      </p:sp>
      <p:sp>
        <p:nvSpPr>
          <p:cNvPr id="17" name="文本框 16"/>
          <p:cNvSpPr txBox="1"/>
          <p:nvPr/>
        </p:nvSpPr>
        <p:spPr>
          <a:xfrm>
            <a:off x="5458460" y="2976245"/>
            <a:ext cx="640080" cy="368300"/>
          </a:xfrm>
          <a:prstGeom prst="rect">
            <a:avLst/>
          </a:prstGeom>
          <a:noFill/>
        </p:spPr>
        <p:txBody>
          <a:bodyPr wrap="none" rtlCol="0">
            <a:spAutoFit/>
          </a:bodyPr>
          <a:lstStyle/>
          <a:p>
            <a:r>
              <a:rPr lang="zh-CN" altLang="en-US"/>
              <a:t>输出</a:t>
            </a:r>
          </a:p>
        </p:txBody>
      </p:sp>
      <p:sp>
        <p:nvSpPr>
          <p:cNvPr id="18" name="右箭头 17"/>
          <p:cNvSpPr/>
          <p:nvPr/>
        </p:nvSpPr>
        <p:spPr>
          <a:xfrm>
            <a:off x="7583805" y="3344545"/>
            <a:ext cx="578485" cy="2800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18336135"/>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感知系统</a:t>
            </a:r>
            <a:r>
              <a:rPr lang="en-US" altLang="zh-CN" dirty="0">
                <a:solidFill>
                  <a:srgbClr val="333F50"/>
                </a:solidFill>
              </a:rPr>
              <a:t>--&gt;</a:t>
            </a:r>
            <a:r>
              <a:rPr lang="zh-CN" altLang="en-US" dirty="0" smtClean="0">
                <a:solidFill>
                  <a:srgbClr val="333F50"/>
                </a:solidFill>
              </a:rPr>
              <a:t>数据存储模块</a:t>
            </a:r>
            <a:endParaRPr lang="zh-CN" altLang="en-US" dirty="0">
              <a:solidFill>
                <a:srgbClr val="333F50"/>
              </a:solidFill>
            </a:endParaRPr>
          </a:p>
        </p:txBody>
      </p:sp>
      <p:sp>
        <p:nvSpPr>
          <p:cNvPr id="2" name="文本框 1"/>
          <p:cNvSpPr txBox="1"/>
          <p:nvPr/>
        </p:nvSpPr>
        <p:spPr>
          <a:xfrm>
            <a:off x="1245235" y="1542415"/>
            <a:ext cx="9309735" cy="922020"/>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该模块是网络大脑的记忆区，存放上传后的汇总数据，用于支撑上层决策等应用。</a:t>
            </a:r>
            <a:endParaRPr lang="zh-CN" dirty="0">
              <a:latin typeface="+mn-ea"/>
            </a:endParaRPr>
          </a:p>
        </p:txBody>
      </p:sp>
      <p:sp>
        <p:nvSpPr>
          <p:cNvPr id="5" name="文本框 4"/>
          <p:cNvSpPr txBox="1"/>
          <p:nvPr/>
        </p:nvSpPr>
        <p:spPr>
          <a:xfrm>
            <a:off x="1245234" y="4208626"/>
            <a:ext cx="9309735" cy="1337945"/>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基础数据库：用于存放未加工的所有类型结构化底层数据</a:t>
            </a:r>
          </a:p>
          <a:p>
            <a:pPr indent="457200" algn="l">
              <a:lnSpc>
                <a:spcPct val="150000"/>
              </a:lnSpc>
            </a:pPr>
            <a:r>
              <a:rPr lang="zh-CN" altLang="en-US" dirty="0">
                <a:latin typeface="+mn-ea"/>
              </a:rPr>
              <a:t>    </a:t>
            </a:r>
            <a:r>
              <a:rPr lang="zh-CN" altLang="en-US" dirty="0">
                <a:effectLst/>
                <a:latin typeface="+mn-ea"/>
                <a:sym typeface="+mn-ea"/>
              </a:rPr>
              <a:t>经验库：通过人工干预和自主学习进行不断丰富完善。</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1960880" y="2552700"/>
            <a:ext cx="6346190" cy="1207135"/>
            <a:chOff x="2608" y="3992"/>
            <a:chExt cx="9994" cy="1901"/>
          </a:xfrm>
        </p:grpSpPr>
        <p:sp>
          <p:nvSpPr>
            <p:cNvPr id="3" name="文本框 2"/>
            <p:cNvSpPr txBox="1"/>
            <p:nvPr/>
          </p:nvSpPr>
          <p:spPr>
            <a:xfrm>
              <a:off x="4754" y="4307"/>
              <a:ext cx="2448" cy="580"/>
            </a:xfrm>
            <a:prstGeom prst="rect">
              <a:avLst/>
            </a:prstGeom>
            <a:noFill/>
          </p:spPr>
          <p:txBody>
            <a:bodyPr wrap="none" rtlCol="0">
              <a:spAutoFit/>
            </a:bodyPr>
            <a:lstStyle/>
            <a:p>
              <a:r>
                <a:rPr lang="zh-CN" altLang="en-US"/>
                <a:t>网络基础数据</a:t>
              </a:r>
            </a:p>
          </p:txBody>
        </p:sp>
        <p:sp>
          <p:nvSpPr>
            <p:cNvPr id="8" name="文本框 7"/>
            <p:cNvSpPr txBox="1"/>
            <p:nvPr/>
          </p:nvSpPr>
          <p:spPr>
            <a:xfrm>
              <a:off x="4754" y="5313"/>
              <a:ext cx="7848" cy="580"/>
            </a:xfrm>
            <a:prstGeom prst="rect">
              <a:avLst/>
            </a:prstGeom>
            <a:noFill/>
          </p:spPr>
          <p:txBody>
            <a:bodyPr wrap="none" rtlCol="0">
              <a:spAutoFit/>
            </a:bodyPr>
            <a:lstStyle/>
            <a:p>
              <a:r>
                <a:rPr lang="zh-CN" altLang="en-US"/>
                <a:t>经验模型：算法库、模型库、场景库、指令库等</a:t>
              </a:r>
            </a:p>
          </p:txBody>
        </p:sp>
        <p:grpSp>
          <p:nvGrpSpPr>
            <p:cNvPr id="12" name="组合 11"/>
            <p:cNvGrpSpPr/>
            <p:nvPr/>
          </p:nvGrpSpPr>
          <p:grpSpPr>
            <a:xfrm>
              <a:off x="7524" y="3992"/>
              <a:ext cx="4907" cy="1160"/>
              <a:chOff x="7680" y="3992"/>
              <a:chExt cx="4907" cy="1160"/>
            </a:xfrm>
          </p:grpSpPr>
          <p:sp>
            <p:nvSpPr>
              <p:cNvPr id="10" name="文本框 9"/>
              <p:cNvSpPr txBox="1"/>
              <p:nvPr/>
            </p:nvSpPr>
            <p:spPr>
              <a:xfrm>
                <a:off x="7979" y="3992"/>
                <a:ext cx="4608" cy="580"/>
              </a:xfrm>
              <a:prstGeom prst="rect">
                <a:avLst/>
              </a:prstGeom>
              <a:noFill/>
            </p:spPr>
            <p:txBody>
              <a:bodyPr wrap="none" rtlCol="0">
                <a:spAutoFit/>
              </a:bodyPr>
              <a:lstStyle/>
              <a:p>
                <a:r>
                  <a:rPr lang="zh-CN" altLang="en-US"/>
                  <a:t>静态数据：网络设备参数等</a:t>
                </a:r>
              </a:p>
            </p:txBody>
          </p:sp>
          <p:sp>
            <p:nvSpPr>
              <p:cNvPr id="11" name="文本框 10"/>
              <p:cNvSpPr txBox="1"/>
              <p:nvPr/>
            </p:nvSpPr>
            <p:spPr>
              <a:xfrm>
                <a:off x="7979" y="4572"/>
                <a:ext cx="4248" cy="580"/>
              </a:xfrm>
              <a:prstGeom prst="rect">
                <a:avLst/>
              </a:prstGeom>
              <a:noFill/>
            </p:spPr>
            <p:txBody>
              <a:bodyPr wrap="none" rtlCol="0">
                <a:spAutoFit/>
              </a:bodyPr>
              <a:lstStyle/>
              <a:p>
                <a:r>
                  <a:rPr lang="zh-CN" altLang="en-US"/>
                  <a:t>动态数据：动态业务数据</a:t>
                </a:r>
              </a:p>
            </p:txBody>
          </p:sp>
          <p:sp>
            <p:nvSpPr>
              <p:cNvPr id="20" name="左大括号 19"/>
              <p:cNvSpPr/>
              <p:nvPr/>
            </p:nvSpPr>
            <p:spPr>
              <a:xfrm>
                <a:off x="7680" y="4162"/>
                <a:ext cx="299" cy="870"/>
              </a:xfrm>
              <a:prstGeom prst="leftBrace">
                <a:avLst>
                  <a:gd name="adj1" fmla="val 8361"/>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grpSp>
        <p:sp>
          <p:nvSpPr>
            <p:cNvPr id="13" name="左大括号 12"/>
            <p:cNvSpPr/>
            <p:nvPr/>
          </p:nvSpPr>
          <p:spPr>
            <a:xfrm>
              <a:off x="4455" y="4443"/>
              <a:ext cx="299" cy="1365"/>
            </a:xfrm>
            <a:prstGeom prst="leftBrace">
              <a:avLst>
                <a:gd name="adj1" fmla="val 8361"/>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4" name="文本框 13"/>
            <p:cNvSpPr txBox="1"/>
            <p:nvPr/>
          </p:nvSpPr>
          <p:spPr>
            <a:xfrm>
              <a:off x="2608" y="4836"/>
              <a:ext cx="1728" cy="580"/>
            </a:xfrm>
            <a:prstGeom prst="rect">
              <a:avLst/>
            </a:prstGeom>
            <a:noFill/>
          </p:spPr>
          <p:txBody>
            <a:bodyPr wrap="none" rtlCol="0">
              <a:spAutoFit/>
            </a:bodyPr>
            <a:lstStyle/>
            <a:p>
              <a:r>
                <a:rPr lang="zh-CN" altLang="en-US"/>
                <a:t>汇总数据</a:t>
              </a:r>
            </a:p>
          </p:txBody>
        </p:sp>
      </p:grpSp>
    </p:spTree>
    <p:extLst>
      <p:ext uri="{BB962C8B-B14F-4D97-AF65-F5344CB8AC3E}">
        <p14:creationId xmlns:p14="http://schemas.microsoft.com/office/powerpoint/2010/main" val="4132256175"/>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决策系统</a:t>
            </a:r>
            <a:endParaRPr lang="zh-CN" altLang="en-US" dirty="0">
              <a:solidFill>
                <a:srgbClr val="333F50"/>
              </a:solidFill>
            </a:endParaRPr>
          </a:p>
        </p:txBody>
      </p:sp>
      <p:sp>
        <p:nvSpPr>
          <p:cNvPr id="37" name="文本框 36"/>
          <p:cNvSpPr txBox="1"/>
          <p:nvPr/>
        </p:nvSpPr>
        <p:spPr>
          <a:xfrm>
            <a:off x="624205" y="3399790"/>
            <a:ext cx="1554480" cy="368300"/>
          </a:xfrm>
          <a:prstGeom prst="rect">
            <a:avLst/>
          </a:prstGeom>
          <a:noFill/>
        </p:spPr>
        <p:txBody>
          <a:bodyPr wrap="none" rtlCol="0">
            <a:spAutoFit/>
          </a:bodyPr>
          <a:lstStyle/>
          <a:p>
            <a:pPr algn="ctr"/>
            <a:r>
              <a:rPr lang="zh-CN" altLang="en-US"/>
              <a:t>数据存储模块</a:t>
            </a:r>
          </a:p>
        </p:txBody>
      </p:sp>
      <p:grpSp>
        <p:nvGrpSpPr>
          <p:cNvPr id="9" name="组合 8"/>
          <p:cNvGrpSpPr/>
          <p:nvPr/>
        </p:nvGrpSpPr>
        <p:grpSpPr>
          <a:xfrm>
            <a:off x="5866765" y="1781810"/>
            <a:ext cx="1554480" cy="1528445"/>
            <a:chOff x="7847" y="1740"/>
            <a:chExt cx="2448" cy="2407"/>
          </a:xfrm>
        </p:grpSpPr>
        <p:sp>
          <p:nvSpPr>
            <p:cNvPr id="30" name="文本框 29"/>
            <p:cNvSpPr txBox="1"/>
            <p:nvPr/>
          </p:nvSpPr>
          <p:spPr>
            <a:xfrm>
              <a:off x="7847" y="3567"/>
              <a:ext cx="2448" cy="58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自主学习模块</a:t>
              </a:r>
            </a:p>
          </p:txBody>
        </p:sp>
        <p:sp>
          <p:nvSpPr>
            <p:cNvPr id="2" name="KSO_Shape"/>
            <p:cNvSpPr/>
            <p:nvPr/>
          </p:nvSpPr>
          <p:spPr bwMode="auto">
            <a:xfrm>
              <a:off x="8111" y="1740"/>
              <a:ext cx="2056" cy="1640"/>
            </a:xfrm>
            <a:custGeom>
              <a:avLst/>
              <a:gdLst>
                <a:gd name="T0" fmla="*/ 1221908 w 2276475"/>
                <a:gd name="T1" fmla="*/ 1328927 h 1936751"/>
                <a:gd name="T2" fmla="*/ 1196654 w 2276475"/>
                <a:gd name="T3" fmla="*/ 1388292 h 1936751"/>
                <a:gd name="T4" fmla="*/ 691864 w 2276475"/>
                <a:gd name="T5" fmla="*/ 1376845 h 1936751"/>
                <a:gd name="T6" fmla="*/ 695585 w 2276475"/>
                <a:gd name="T7" fmla="*/ 1314285 h 1936751"/>
                <a:gd name="T8" fmla="*/ 1104489 w 2276475"/>
                <a:gd name="T9" fmla="*/ 1115137 h 1936751"/>
                <a:gd name="T10" fmla="*/ 1117497 w 2276475"/>
                <a:gd name="T11" fmla="*/ 1168850 h 1936751"/>
                <a:gd name="T12" fmla="*/ 811396 w 2276475"/>
                <a:gd name="T13" fmla="*/ 1188695 h 1936751"/>
                <a:gd name="T14" fmla="*/ 783254 w 2276475"/>
                <a:gd name="T15" fmla="*/ 1141068 h 1936751"/>
                <a:gd name="T16" fmla="*/ 309026 w 2276475"/>
                <a:gd name="T17" fmla="*/ 898551 h 1936751"/>
                <a:gd name="T18" fmla="*/ 798665 w 2276475"/>
                <a:gd name="T19" fmla="*/ 935449 h 1936751"/>
                <a:gd name="T20" fmla="*/ 759855 w 2276475"/>
                <a:gd name="T21" fmla="*/ 989335 h 1936751"/>
                <a:gd name="T22" fmla="*/ 259317 w 2276475"/>
                <a:gd name="T23" fmla="*/ 967303 h 1936751"/>
                <a:gd name="T24" fmla="*/ 277393 w 2276475"/>
                <a:gd name="T25" fmla="*/ 906514 h 1936751"/>
                <a:gd name="T26" fmla="*/ 1086287 w 2276475"/>
                <a:gd name="T27" fmla="*/ 817903 h 1936751"/>
                <a:gd name="T28" fmla="*/ 1028372 w 2276475"/>
                <a:gd name="T29" fmla="*/ 919230 h 1936751"/>
                <a:gd name="T30" fmla="*/ 999280 w 2276475"/>
                <a:gd name="T31" fmla="*/ 917630 h 1936751"/>
                <a:gd name="T32" fmla="*/ 289574 w 2276475"/>
                <a:gd name="T33" fmla="*/ 706099 h 1936751"/>
                <a:gd name="T34" fmla="*/ 590631 w 2276475"/>
                <a:gd name="T35" fmla="*/ 735033 h 1936751"/>
                <a:gd name="T36" fmla="*/ 567535 w 2276475"/>
                <a:gd name="T37" fmla="*/ 784938 h 1936751"/>
                <a:gd name="T38" fmla="*/ 259309 w 2276475"/>
                <a:gd name="T39" fmla="*/ 770073 h 1936751"/>
                <a:gd name="T40" fmla="*/ 267273 w 2276475"/>
                <a:gd name="T41" fmla="*/ 715124 h 1936751"/>
                <a:gd name="T42" fmla="*/ 836933 w 2276475"/>
                <a:gd name="T43" fmla="*/ 505684 h 1936751"/>
                <a:gd name="T44" fmla="*/ 846494 w 2276475"/>
                <a:gd name="T45" fmla="*/ 574170 h 1936751"/>
                <a:gd name="T46" fmla="*/ 268069 w 2276475"/>
                <a:gd name="T47" fmla="*/ 592752 h 1936751"/>
                <a:gd name="T48" fmla="*/ 238855 w 2276475"/>
                <a:gd name="T49" fmla="*/ 530105 h 1936751"/>
                <a:gd name="T50" fmla="*/ 1467818 w 2276475"/>
                <a:gd name="T51" fmla="*/ 344025 h 1936751"/>
                <a:gd name="T52" fmla="*/ 1566759 w 2276475"/>
                <a:gd name="T53" fmla="*/ 428438 h 1936751"/>
                <a:gd name="T54" fmla="*/ 1578461 w 2276475"/>
                <a:gd name="T55" fmla="*/ 479936 h 1936751"/>
                <a:gd name="T56" fmla="*/ 1197862 w 2276475"/>
                <a:gd name="T57" fmla="*/ 846789 h 1936751"/>
                <a:gd name="T58" fmla="*/ 1138817 w 2276475"/>
                <a:gd name="T59" fmla="*/ 842806 h 1936751"/>
                <a:gd name="T60" fmla="*/ 1093869 w 2276475"/>
                <a:gd name="T61" fmla="*/ 799538 h 1936751"/>
                <a:gd name="T62" fmla="*/ 1075782 w 2276475"/>
                <a:gd name="T63" fmla="*/ 737423 h 1936751"/>
                <a:gd name="T64" fmla="*/ 1456382 w 2276475"/>
                <a:gd name="T65" fmla="*/ 344821 h 1936751"/>
                <a:gd name="T66" fmla="*/ 199469 w 2276475"/>
                <a:gd name="T67" fmla="*/ 367345 h 1936751"/>
                <a:gd name="T68" fmla="*/ 114475 w 2276475"/>
                <a:gd name="T69" fmla="*/ 448541 h 1936751"/>
                <a:gd name="T70" fmla="*/ 103321 w 2276475"/>
                <a:gd name="T71" fmla="*/ 1407238 h 1936751"/>
                <a:gd name="T72" fmla="*/ 171315 w 2276475"/>
                <a:gd name="T73" fmla="*/ 1503559 h 1936751"/>
                <a:gd name="T74" fmla="*/ 1382734 w 2276475"/>
                <a:gd name="T75" fmla="*/ 1530890 h 1936751"/>
                <a:gd name="T76" fmla="*/ 1488975 w 2276475"/>
                <a:gd name="T77" fmla="*/ 1477289 h 1936751"/>
                <a:gd name="T78" fmla="*/ 1531737 w 2276475"/>
                <a:gd name="T79" fmla="*/ 1365845 h 1936751"/>
                <a:gd name="T80" fmla="*/ 1605841 w 2276475"/>
                <a:gd name="T81" fmla="*/ 1539381 h 1936751"/>
                <a:gd name="T82" fmla="*/ 1513146 w 2276475"/>
                <a:gd name="T83" fmla="*/ 1611821 h 1936751"/>
                <a:gd name="T84" fmla="*/ 101461 w 2276475"/>
                <a:gd name="T85" fmla="*/ 1605982 h 1936751"/>
                <a:gd name="T86" fmla="*/ 16468 w 2276475"/>
                <a:gd name="T87" fmla="*/ 1525317 h 1936751"/>
                <a:gd name="T88" fmla="*/ 5312 w 2276475"/>
                <a:gd name="T89" fmla="*/ 391226 h 1936751"/>
                <a:gd name="T90" fmla="*/ 73307 w 2276475"/>
                <a:gd name="T91" fmla="*/ 295170 h 1936751"/>
                <a:gd name="T92" fmla="*/ 1746529 w 2276475"/>
                <a:gd name="T93" fmla="*/ 88926 h 1936751"/>
                <a:gd name="T94" fmla="*/ 1805153 w 2276475"/>
                <a:gd name="T95" fmla="*/ 114614 h 1936751"/>
                <a:gd name="T96" fmla="*/ 1838312 w 2276475"/>
                <a:gd name="T97" fmla="*/ 176846 h 1936751"/>
                <a:gd name="T98" fmla="*/ 1821600 w 2276475"/>
                <a:gd name="T99" fmla="*/ 237490 h 1936751"/>
                <a:gd name="T100" fmla="*/ 1620792 w 2276475"/>
                <a:gd name="T101" fmla="*/ 421806 h 1936751"/>
                <a:gd name="T102" fmla="*/ 1543068 w 2276475"/>
                <a:gd name="T103" fmla="*/ 339447 h 1936751"/>
                <a:gd name="T104" fmla="*/ 1506460 w 2276475"/>
                <a:gd name="T105" fmla="*/ 289925 h 1936751"/>
                <a:gd name="T106" fmla="*/ 1716818 w 2276475"/>
                <a:gd name="T107" fmla="*/ 92634 h 1936751"/>
                <a:gd name="T108" fmla="*/ 1893521 w 2276475"/>
                <a:gd name="T109" fmla="*/ 35131 h 1936751"/>
                <a:gd name="T110" fmla="*/ 1889783 w 2276475"/>
                <a:gd name="T111" fmla="*/ 106078 h 1936751"/>
                <a:gd name="T112" fmla="*/ 1844400 w 2276475"/>
                <a:gd name="T113" fmla="*/ 105545 h 1936751"/>
                <a:gd name="T114" fmla="*/ 1793944 w 2276475"/>
                <a:gd name="T115" fmla="*/ 59669 h 1936751"/>
                <a:gd name="T116" fmla="*/ 1847069 w 2276475"/>
                <a:gd name="T117" fmla="*/ 16194 h 1936751"/>
                <a:gd name="T118" fmla="*/ 1697756 w 2276475"/>
                <a:gd name="T119" fmla="*/ 22017 h 1936751"/>
                <a:gd name="T120" fmla="*/ 1364698 w 2276475"/>
                <a:gd name="T121" fmla="*/ 383050 h 1936751"/>
                <a:gd name="T122" fmla="*/ 1317840 w 2276475"/>
                <a:gd name="T123" fmla="*/ 375887 h 1936751"/>
                <a:gd name="T124" fmla="*/ 1320237 w 2276475"/>
                <a:gd name="T125" fmla="*/ 329200 h 1936751"/>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276475" h="1936751">
                  <a:moveTo>
                    <a:pt x="872202" y="1555750"/>
                  </a:moveTo>
                  <a:lnTo>
                    <a:pt x="879190" y="1555750"/>
                  </a:lnTo>
                  <a:lnTo>
                    <a:pt x="1397284" y="1555750"/>
                  </a:lnTo>
                  <a:lnTo>
                    <a:pt x="1404272" y="1555750"/>
                  </a:lnTo>
                  <a:lnTo>
                    <a:pt x="1410943" y="1557024"/>
                  </a:lnTo>
                  <a:lnTo>
                    <a:pt x="1417614" y="1557979"/>
                  </a:lnTo>
                  <a:lnTo>
                    <a:pt x="1423649" y="1560208"/>
                  </a:lnTo>
                  <a:lnTo>
                    <a:pt x="1430002" y="1562437"/>
                  </a:lnTo>
                  <a:lnTo>
                    <a:pt x="1435403" y="1565303"/>
                  </a:lnTo>
                  <a:lnTo>
                    <a:pt x="1440485" y="1568168"/>
                  </a:lnTo>
                  <a:lnTo>
                    <a:pt x="1445567" y="1571989"/>
                  </a:lnTo>
                  <a:lnTo>
                    <a:pt x="1450015" y="1576128"/>
                  </a:lnTo>
                  <a:lnTo>
                    <a:pt x="1453509" y="1580268"/>
                  </a:lnTo>
                  <a:lnTo>
                    <a:pt x="1457321" y="1584726"/>
                  </a:lnTo>
                  <a:lnTo>
                    <a:pt x="1460180" y="1589502"/>
                  </a:lnTo>
                  <a:lnTo>
                    <a:pt x="1462403" y="1594915"/>
                  </a:lnTo>
                  <a:lnTo>
                    <a:pt x="1463674" y="1600009"/>
                  </a:lnTo>
                  <a:lnTo>
                    <a:pt x="1464944" y="1605741"/>
                  </a:lnTo>
                  <a:lnTo>
                    <a:pt x="1465262" y="1611472"/>
                  </a:lnTo>
                  <a:lnTo>
                    <a:pt x="1464944" y="1617203"/>
                  </a:lnTo>
                  <a:lnTo>
                    <a:pt x="1463674" y="1622935"/>
                  </a:lnTo>
                  <a:lnTo>
                    <a:pt x="1462403" y="1628029"/>
                  </a:lnTo>
                  <a:lnTo>
                    <a:pt x="1460180" y="1633124"/>
                  </a:lnTo>
                  <a:lnTo>
                    <a:pt x="1457321" y="1638218"/>
                  </a:lnTo>
                  <a:lnTo>
                    <a:pt x="1453509" y="1642358"/>
                  </a:lnTo>
                  <a:lnTo>
                    <a:pt x="1450015" y="1646815"/>
                  </a:lnTo>
                  <a:lnTo>
                    <a:pt x="1445567" y="1650955"/>
                  </a:lnTo>
                  <a:lnTo>
                    <a:pt x="1440485" y="1654457"/>
                  </a:lnTo>
                  <a:lnTo>
                    <a:pt x="1435403" y="1657641"/>
                  </a:lnTo>
                  <a:lnTo>
                    <a:pt x="1430002" y="1660507"/>
                  </a:lnTo>
                  <a:lnTo>
                    <a:pt x="1423649" y="1662736"/>
                  </a:lnTo>
                  <a:lnTo>
                    <a:pt x="1417614" y="1664328"/>
                  </a:lnTo>
                  <a:lnTo>
                    <a:pt x="1410943" y="1665920"/>
                  </a:lnTo>
                  <a:lnTo>
                    <a:pt x="1404272" y="1666875"/>
                  </a:lnTo>
                  <a:lnTo>
                    <a:pt x="1397284" y="1666875"/>
                  </a:lnTo>
                  <a:lnTo>
                    <a:pt x="879190" y="1666875"/>
                  </a:lnTo>
                  <a:lnTo>
                    <a:pt x="872202" y="1666875"/>
                  </a:lnTo>
                  <a:lnTo>
                    <a:pt x="865531" y="1665920"/>
                  </a:lnTo>
                  <a:lnTo>
                    <a:pt x="858860" y="1664328"/>
                  </a:lnTo>
                  <a:lnTo>
                    <a:pt x="852507" y="1662736"/>
                  </a:lnTo>
                  <a:lnTo>
                    <a:pt x="846790" y="1660507"/>
                  </a:lnTo>
                  <a:lnTo>
                    <a:pt x="841389" y="1657641"/>
                  </a:lnTo>
                  <a:lnTo>
                    <a:pt x="835989" y="1654139"/>
                  </a:lnTo>
                  <a:lnTo>
                    <a:pt x="831224" y="1650955"/>
                  </a:lnTo>
                  <a:lnTo>
                    <a:pt x="826777" y="1646815"/>
                  </a:lnTo>
                  <a:lnTo>
                    <a:pt x="822648" y="1642358"/>
                  </a:lnTo>
                  <a:lnTo>
                    <a:pt x="819471" y="1637900"/>
                  </a:lnTo>
                  <a:lnTo>
                    <a:pt x="816612" y="1633124"/>
                  </a:lnTo>
                  <a:lnTo>
                    <a:pt x="814389" y="1628029"/>
                  </a:lnTo>
                  <a:lnTo>
                    <a:pt x="812483" y="1622935"/>
                  </a:lnTo>
                  <a:lnTo>
                    <a:pt x="811530" y="1617203"/>
                  </a:lnTo>
                  <a:lnTo>
                    <a:pt x="811212" y="1611472"/>
                  </a:lnTo>
                  <a:lnTo>
                    <a:pt x="811530" y="1605741"/>
                  </a:lnTo>
                  <a:lnTo>
                    <a:pt x="812483" y="1600009"/>
                  </a:lnTo>
                  <a:lnTo>
                    <a:pt x="814389" y="1594915"/>
                  </a:lnTo>
                  <a:lnTo>
                    <a:pt x="816612" y="1589820"/>
                  </a:lnTo>
                  <a:lnTo>
                    <a:pt x="819471" y="1584726"/>
                  </a:lnTo>
                  <a:lnTo>
                    <a:pt x="822648" y="1580268"/>
                  </a:lnTo>
                  <a:lnTo>
                    <a:pt x="826777" y="1576128"/>
                  </a:lnTo>
                  <a:lnTo>
                    <a:pt x="831224" y="1571989"/>
                  </a:lnTo>
                  <a:lnTo>
                    <a:pt x="835989" y="1568168"/>
                  </a:lnTo>
                  <a:lnTo>
                    <a:pt x="841389" y="1565303"/>
                  </a:lnTo>
                  <a:lnTo>
                    <a:pt x="846790" y="1562437"/>
                  </a:lnTo>
                  <a:lnTo>
                    <a:pt x="852507" y="1560208"/>
                  </a:lnTo>
                  <a:lnTo>
                    <a:pt x="858860" y="1558298"/>
                  </a:lnTo>
                  <a:lnTo>
                    <a:pt x="865531" y="1557024"/>
                  </a:lnTo>
                  <a:lnTo>
                    <a:pt x="872202" y="1555750"/>
                  </a:lnTo>
                  <a:close/>
                  <a:moveTo>
                    <a:pt x="984211" y="1325563"/>
                  </a:moveTo>
                  <a:lnTo>
                    <a:pt x="1292263" y="1325563"/>
                  </a:lnTo>
                  <a:lnTo>
                    <a:pt x="1297339" y="1325880"/>
                  </a:lnTo>
                  <a:lnTo>
                    <a:pt x="1302415" y="1326513"/>
                  </a:lnTo>
                  <a:lnTo>
                    <a:pt x="1307174" y="1327779"/>
                  </a:lnTo>
                  <a:lnTo>
                    <a:pt x="1311615" y="1329361"/>
                  </a:lnTo>
                  <a:lnTo>
                    <a:pt x="1315740" y="1331260"/>
                  </a:lnTo>
                  <a:lnTo>
                    <a:pt x="1319864" y="1333792"/>
                  </a:lnTo>
                  <a:lnTo>
                    <a:pt x="1323671" y="1336640"/>
                  </a:lnTo>
                  <a:lnTo>
                    <a:pt x="1327161" y="1340121"/>
                  </a:lnTo>
                  <a:lnTo>
                    <a:pt x="1330333" y="1343286"/>
                  </a:lnTo>
                  <a:lnTo>
                    <a:pt x="1332871" y="1347400"/>
                  </a:lnTo>
                  <a:lnTo>
                    <a:pt x="1335409" y="1351198"/>
                  </a:lnTo>
                  <a:lnTo>
                    <a:pt x="1337630" y="1355629"/>
                  </a:lnTo>
                  <a:lnTo>
                    <a:pt x="1339216" y="1360059"/>
                  </a:lnTo>
                  <a:lnTo>
                    <a:pt x="1340485" y="1364807"/>
                  </a:lnTo>
                  <a:lnTo>
                    <a:pt x="1341437" y="1369870"/>
                  </a:lnTo>
                  <a:lnTo>
                    <a:pt x="1341437" y="1374934"/>
                  </a:lnTo>
                  <a:lnTo>
                    <a:pt x="1341437" y="1379681"/>
                  </a:lnTo>
                  <a:lnTo>
                    <a:pt x="1340485" y="1384745"/>
                  </a:lnTo>
                  <a:lnTo>
                    <a:pt x="1339216" y="1389492"/>
                  </a:lnTo>
                  <a:lnTo>
                    <a:pt x="1337630" y="1393923"/>
                  </a:lnTo>
                  <a:lnTo>
                    <a:pt x="1335409" y="1398037"/>
                  </a:lnTo>
                  <a:lnTo>
                    <a:pt x="1332871" y="1402151"/>
                  </a:lnTo>
                  <a:lnTo>
                    <a:pt x="1330016" y="1405632"/>
                  </a:lnTo>
                  <a:lnTo>
                    <a:pt x="1327161" y="1409430"/>
                  </a:lnTo>
                  <a:lnTo>
                    <a:pt x="1323671" y="1412595"/>
                  </a:lnTo>
                  <a:lnTo>
                    <a:pt x="1319864" y="1415443"/>
                  </a:lnTo>
                  <a:lnTo>
                    <a:pt x="1315740" y="1417659"/>
                  </a:lnTo>
                  <a:lnTo>
                    <a:pt x="1311615" y="1419874"/>
                  </a:lnTo>
                  <a:lnTo>
                    <a:pt x="1306857" y="1421773"/>
                  </a:lnTo>
                  <a:lnTo>
                    <a:pt x="1302415" y="1422722"/>
                  </a:lnTo>
                  <a:lnTo>
                    <a:pt x="1297339" y="1423672"/>
                  </a:lnTo>
                  <a:lnTo>
                    <a:pt x="1292263" y="1423988"/>
                  </a:lnTo>
                  <a:lnTo>
                    <a:pt x="984211" y="1423988"/>
                  </a:lnTo>
                  <a:lnTo>
                    <a:pt x="979453" y="1423672"/>
                  </a:lnTo>
                  <a:lnTo>
                    <a:pt x="974377" y="1422722"/>
                  </a:lnTo>
                  <a:lnTo>
                    <a:pt x="969618" y="1421773"/>
                  </a:lnTo>
                  <a:lnTo>
                    <a:pt x="965176" y="1419874"/>
                  </a:lnTo>
                  <a:lnTo>
                    <a:pt x="960735" y="1417659"/>
                  </a:lnTo>
                  <a:lnTo>
                    <a:pt x="956928" y="1415443"/>
                  </a:lnTo>
                  <a:lnTo>
                    <a:pt x="952803" y="1412595"/>
                  </a:lnTo>
                  <a:lnTo>
                    <a:pt x="949631" y="1409430"/>
                  </a:lnTo>
                  <a:lnTo>
                    <a:pt x="946141" y="1405632"/>
                  </a:lnTo>
                  <a:lnTo>
                    <a:pt x="943286" y="1402151"/>
                  </a:lnTo>
                  <a:lnTo>
                    <a:pt x="941065" y="1398037"/>
                  </a:lnTo>
                  <a:lnTo>
                    <a:pt x="938844" y="1393923"/>
                  </a:lnTo>
                  <a:lnTo>
                    <a:pt x="937258" y="1389492"/>
                  </a:lnTo>
                  <a:lnTo>
                    <a:pt x="935989" y="1384745"/>
                  </a:lnTo>
                  <a:lnTo>
                    <a:pt x="935355" y="1379681"/>
                  </a:lnTo>
                  <a:lnTo>
                    <a:pt x="935037" y="1374934"/>
                  </a:lnTo>
                  <a:lnTo>
                    <a:pt x="935355" y="1369870"/>
                  </a:lnTo>
                  <a:lnTo>
                    <a:pt x="935989" y="1364807"/>
                  </a:lnTo>
                  <a:lnTo>
                    <a:pt x="937258" y="1360059"/>
                  </a:lnTo>
                  <a:lnTo>
                    <a:pt x="938844" y="1355629"/>
                  </a:lnTo>
                  <a:lnTo>
                    <a:pt x="940748" y="1351198"/>
                  </a:lnTo>
                  <a:lnTo>
                    <a:pt x="943286" y="1347400"/>
                  </a:lnTo>
                  <a:lnTo>
                    <a:pt x="946141" y="1343286"/>
                  </a:lnTo>
                  <a:lnTo>
                    <a:pt x="949631" y="1340121"/>
                  </a:lnTo>
                  <a:lnTo>
                    <a:pt x="952803" y="1336640"/>
                  </a:lnTo>
                  <a:lnTo>
                    <a:pt x="956928" y="1333792"/>
                  </a:lnTo>
                  <a:lnTo>
                    <a:pt x="960735" y="1331260"/>
                  </a:lnTo>
                  <a:lnTo>
                    <a:pt x="965176" y="1329361"/>
                  </a:lnTo>
                  <a:lnTo>
                    <a:pt x="969618" y="1327779"/>
                  </a:lnTo>
                  <a:lnTo>
                    <a:pt x="974377" y="1326513"/>
                  </a:lnTo>
                  <a:lnTo>
                    <a:pt x="979453" y="1325880"/>
                  </a:lnTo>
                  <a:lnTo>
                    <a:pt x="984211" y="1325563"/>
                  </a:lnTo>
                  <a:close/>
                  <a:moveTo>
                    <a:pt x="369286" y="1074738"/>
                  </a:moveTo>
                  <a:lnTo>
                    <a:pt x="887697" y="1074738"/>
                  </a:lnTo>
                  <a:lnTo>
                    <a:pt x="894368" y="1075056"/>
                  </a:lnTo>
                  <a:lnTo>
                    <a:pt x="901356" y="1076008"/>
                  </a:lnTo>
                  <a:lnTo>
                    <a:pt x="908027" y="1077278"/>
                  </a:lnTo>
                  <a:lnTo>
                    <a:pt x="914063" y="1079183"/>
                  </a:lnTo>
                  <a:lnTo>
                    <a:pt x="920098" y="1081406"/>
                  </a:lnTo>
                  <a:lnTo>
                    <a:pt x="925816" y="1084263"/>
                  </a:lnTo>
                  <a:lnTo>
                    <a:pt x="930898" y="1087438"/>
                  </a:lnTo>
                  <a:lnTo>
                    <a:pt x="935663" y="1090931"/>
                  </a:lnTo>
                  <a:lnTo>
                    <a:pt x="940110" y="1094741"/>
                  </a:lnTo>
                  <a:lnTo>
                    <a:pt x="944240" y="1099186"/>
                  </a:lnTo>
                  <a:lnTo>
                    <a:pt x="947416" y="1103948"/>
                  </a:lnTo>
                  <a:lnTo>
                    <a:pt x="950275" y="1108711"/>
                  </a:lnTo>
                  <a:lnTo>
                    <a:pt x="952499" y="1113791"/>
                  </a:lnTo>
                  <a:lnTo>
                    <a:pt x="954405" y="1118871"/>
                  </a:lnTo>
                  <a:lnTo>
                    <a:pt x="955358" y="1124903"/>
                  </a:lnTo>
                  <a:lnTo>
                    <a:pt x="955675" y="1130301"/>
                  </a:lnTo>
                  <a:lnTo>
                    <a:pt x="955358" y="1136016"/>
                  </a:lnTo>
                  <a:lnTo>
                    <a:pt x="954405" y="1141413"/>
                  </a:lnTo>
                  <a:lnTo>
                    <a:pt x="952499" y="1147128"/>
                  </a:lnTo>
                  <a:lnTo>
                    <a:pt x="950275" y="1152208"/>
                  </a:lnTo>
                  <a:lnTo>
                    <a:pt x="947416" y="1156971"/>
                  </a:lnTo>
                  <a:lnTo>
                    <a:pt x="944240" y="1161098"/>
                  </a:lnTo>
                  <a:lnTo>
                    <a:pt x="940110" y="1165543"/>
                  </a:lnTo>
                  <a:lnTo>
                    <a:pt x="935663" y="1169671"/>
                  </a:lnTo>
                  <a:lnTo>
                    <a:pt x="930898" y="1173163"/>
                  </a:lnTo>
                  <a:lnTo>
                    <a:pt x="925816" y="1176656"/>
                  </a:lnTo>
                  <a:lnTo>
                    <a:pt x="920098" y="1179196"/>
                  </a:lnTo>
                  <a:lnTo>
                    <a:pt x="914063" y="1181736"/>
                  </a:lnTo>
                  <a:lnTo>
                    <a:pt x="908027" y="1183323"/>
                  </a:lnTo>
                  <a:lnTo>
                    <a:pt x="901356" y="1184593"/>
                  </a:lnTo>
                  <a:lnTo>
                    <a:pt x="894368" y="1185546"/>
                  </a:lnTo>
                  <a:lnTo>
                    <a:pt x="887697" y="1185863"/>
                  </a:lnTo>
                  <a:lnTo>
                    <a:pt x="369286" y="1185863"/>
                  </a:lnTo>
                  <a:lnTo>
                    <a:pt x="362615" y="1185546"/>
                  </a:lnTo>
                  <a:lnTo>
                    <a:pt x="355944" y="1184593"/>
                  </a:lnTo>
                  <a:lnTo>
                    <a:pt x="349273" y="1183323"/>
                  </a:lnTo>
                  <a:lnTo>
                    <a:pt x="343238" y="1181736"/>
                  </a:lnTo>
                  <a:lnTo>
                    <a:pt x="337203" y="1179196"/>
                  </a:lnTo>
                  <a:lnTo>
                    <a:pt x="331485" y="1176656"/>
                  </a:lnTo>
                  <a:lnTo>
                    <a:pt x="326402" y="1173163"/>
                  </a:lnTo>
                  <a:lnTo>
                    <a:pt x="321637" y="1169671"/>
                  </a:lnTo>
                  <a:lnTo>
                    <a:pt x="317190" y="1165543"/>
                  </a:lnTo>
                  <a:lnTo>
                    <a:pt x="313378" y="1161098"/>
                  </a:lnTo>
                  <a:lnTo>
                    <a:pt x="309884" y="1156971"/>
                  </a:lnTo>
                  <a:lnTo>
                    <a:pt x="307025" y="1152208"/>
                  </a:lnTo>
                  <a:lnTo>
                    <a:pt x="304802" y="1147128"/>
                  </a:lnTo>
                  <a:lnTo>
                    <a:pt x="302896" y="1141413"/>
                  </a:lnTo>
                  <a:lnTo>
                    <a:pt x="301943" y="1136016"/>
                  </a:lnTo>
                  <a:lnTo>
                    <a:pt x="301625" y="1130301"/>
                  </a:lnTo>
                  <a:lnTo>
                    <a:pt x="301943" y="1124903"/>
                  </a:lnTo>
                  <a:lnTo>
                    <a:pt x="302896" y="1119188"/>
                  </a:lnTo>
                  <a:lnTo>
                    <a:pt x="304802" y="1113791"/>
                  </a:lnTo>
                  <a:lnTo>
                    <a:pt x="307025" y="1108711"/>
                  </a:lnTo>
                  <a:lnTo>
                    <a:pt x="309884" y="1103948"/>
                  </a:lnTo>
                  <a:lnTo>
                    <a:pt x="313378" y="1099186"/>
                  </a:lnTo>
                  <a:lnTo>
                    <a:pt x="317190" y="1094741"/>
                  </a:lnTo>
                  <a:lnTo>
                    <a:pt x="321637" y="1091248"/>
                  </a:lnTo>
                  <a:lnTo>
                    <a:pt x="326402" y="1087438"/>
                  </a:lnTo>
                  <a:lnTo>
                    <a:pt x="331485" y="1084263"/>
                  </a:lnTo>
                  <a:lnTo>
                    <a:pt x="337203" y="1081406"/>
                  </a:lnTo>
                  <a:lnTo>
                    <a:pt x="343238" y="1079183"/>
                  </a:lnTo>
                  <a:lnTo>
                    <a:pt x="349273" y="1077278"/>
                  </a:lnTo>
                  <a:lnTo>
                    <a:pt x="355944" y="1076008"/>
                  </a:lnTo>
                  <a:lnTo>
                    <a:pt x="362615" y="1075056"/>
                  </a:lnTo>
                  <a:lnTo>
                    <a:pt x="369286" y="1074738"/>
                  </a:lnTo>
                  <a:close/>
                  <a:moveTo>
                    <a:pt x="1261435" y="965200"/>
                  </a:moveTo>
                  <a:lnTo>
                    <a:pt x="1264624" y="965200"/>
                  </a:lnTo>
                  <a:lnTo>
                    <a:pt x="1267814" y="965200"/>
                  </a:lnTo>
                  <a:lnTo>
                    <a:pt x="1271322" y="965838"/>
                  </a:lnTo>
                  <a:lnTo>
                    <a:pt x="1275149" y="967114"/>
                  </a:lnTo>
                  <a:lnTo>
                    <a:pt x="1278977" y="968390"/>
                  </a:lnTo>
                  <a:lnTo>
                    <a:pt x="1282804" y="969984"/>
                  </a:lnTo>
                  <a:lnTo>
                    <a:pt x="1290777" y="973811"/>
                  </a:lnTo>
                  <a:lnTo>
                    <a:pt x="1298113" y="978277"/>
                  </a:lnTo>
                  <a:lnTo>
                    <a:pt x="1304491" y="982742"/>
                  </a:lnTo>
                  <a:lnTo>
                    <a:pt x="1308637" y="986250"/>
                  </a:lnTo>
                  <a:lnTo>
                    <a:pt x="1312784" y="990715"/>
                  </a:lnTo>
                  <a:lnTo>
                    <a:pt x="1317249" y="997094"/>
                  </a:lnTo>
                  <a:lnTo>
                    <a:pt x="1321395" y="1004429"/>
                  </a:lnTo>
                  <a:lnTo>
                    <a:pt x="1325222" y="1012403"/>
                  </a:lnTo>
                  <a:lnTo>
                    <a:pt x="1326817" y="1016549"/>
                  </a:lnTo>
                  <a:lnTo>
                    <a:pt x="1328092" y="1020057"/>
                  </a:lnTo>
                  <a:lnTo>
                    <a:pt x="1329368" y="1024203"/>
                  </a:lnTo>
                  <a:lnTo>
                    <a:pt x="1330006" y="1027711"/>
                  </a:lnTo>
                  <a:lnTo>
                    <a:pt x="1330325" y="1030901"/>
                  </a:lnTo>
                  <a:lnTo>
                    <a:pt x="1330006" y="1034090"/>
                  </a:lnTo>
                  <a:lnTo>
                    <a:pt x="1329368" y="1036004"/>
                  </a:lnTo>
                  <a:lnTo>
                    <a:pt x="1327774" y="1038236"/>
                  </a:lnTo>
                  <a:lnTo>
                    <a:pt x="1228904" y="1099472"/>
                  </a:lnTo>
                  <a:lnTo>
                    <a:pt x="1226990" y="1101066"/>
                  </a:lnTo>
                  <a:lnTo>
                    <a:pt x="1225396" y="1102342"/>
                  </a:lnTo>
                  <a:lnTo>
                    <a:pt x="1223163" y="1103618"/>
                  </a:lnTo>
                  <a:lnTo>
                    <a:pt x="1220930" y="1104575"/>
                  </a:lnTo>
                  <a:lnTo>
                    <a:pt x="1219017" y="1105213"/>
                  </a:lnTo>
                  <a:lnTo>
                    <a:pt x="1216784" y="1105850"/>
                  </a:lnTo>
                  <a:lnTo>
                    <a:pt x="1212000" y="1106488"/>
                  </a:lnTo>
                  <a:lnTo>
                    <a:pt x="1207854" y="1105850"/>
                  </a:lnTo>
                  <a:lnTo>
                    <a:pt x="1205622" y="1105213"/>
                  </a:lnTo>
                  <a:lnTo>
                    <a:pt x="1203389" y="1104575"/>
                  </a:lnTo>
                  <a:lnTo>
                    <a:pt x="1201475" y="1103618"/>
                  </a:lnTo>
                  <a:lnTo>
                    <a:pt x="1199243" y="1102342"/>
                  </a:lnTo>
                  <a:lnTo>
                    <a:pt x="1197329" y="1101066"/>
                  </a:lnTo>
                  <a:lnTo>
                    <a:pt x="1195735" y="1099472"/>
                  </a:lnTo>
                  <a:lnTo>
                    <a:pt x="1194140" y="1097558"/>
                  </a:lnTo>
                  <a:lnTo>
                    <a:pt x="1192864" y="1095963"/>
                  </a:lnTo>
                  <a:lnTo>
                    <a:pt x="1191588" y="1093731"/>
                  </a:lnTo>
                  <a:lnTo>
                    <a:pt x="1190632" y="1091817"/>
                  </a:lnTo>
                  <a:lnTo>
                    <a:pt x="1189356" y="1087352"/>
                  </a:lnTo>
                  <a:lnTo>
                    <a:pt x="1189037" y="1082887"/>
                  </a:lnTo>
                  <a:lnTo>
                    <a:pt x="1189356" y="1078741"/>
                  </a:lnTo>
                  <a:lnTo>
                    <a:pt x="1190632" y="1074276"/>
                  </a:lnTo>
                  <a:lnTo>
                    <a:pt x="1191588" y="1072043"/>
                  </a:lnTo>
                  <a:lnTo>
                    <a:pt x="1192864" y="1070130"/>
                  </a:lnTo>
                  <a:lnTo>
                    <a:pt x="1194140" y="1068535"/>
                  </a:lnTo>
                  <a:lnTo>
                    <a:pt x="1195735" y="1066621"/>
                  </a:lnTo>
                  <a:lnTo>
                    <a:pt x="1257289" y="967433"/>
                  </a:lnTo>
                  <a:lnTo>
                    <a:pt x="1258884" y="965838"/>
                  </a:lnTo>
                  <a:lnTo>
                    <a:pt x="1261435" y="965200"/>
                  </a:lnTo>
                  <a:close/>
                  <a:moveTo>
                    <a:pt x="346041" y="844550"/>
                  </a:moveTo>
                  <a:lnTo>
                    <a:pt x="350799" y="844550"/>
                  </a:lnTo>
                  <a:lnTo>
                    <a:pt x="658851" y="844550"/>
                  </a:lnTo>
                  <a:lnTo>
                    <a:pt x="663927" y="844550"/>
                  </a:lnTo>
                  <a:lnTo>
                    <a:pt x="669003" y="845185"/>
                  </a:lnTo>
                  <a:lnTo>
                    <a:pt x="673762" y="846773"/>
                  </a:lnTo>
                  <a:lnTo>
                    <a:pt x="678204" y="848043"/>
                  </a:lnTo>
                  <a:lnTo>
                    <a:pt x="682645" y="850265"/>
                  </a:lnTo>
                  <a:lnTo>
                    <a:pt x="686452" y="852805"/>
                  </a:lnTo>
                  <a:lnTo>
                    <a:pt x="690259" y="855345"/>
                  </a:lnTo>
                  <a:lnTo>
                    <a:pt x="693749" y="858838"/>
                  </a:lnTo>
                  <a:lnTo>
                    <a:pt x="697239" y="862330"/>
                  </a:lnTo>
                  <a:lnTo>
                    <a:pt x="699777" y="865823"/>
                  </a:lnTo>
                  <a:lnTo>
                    <a:pt x="702315" y="869950"/>
                  </a:lnTo>
                  <a:lnTo>
                    <a:pt x="704218" y="874395"/>
                  </a:lnTo>
                  <a:lnTo>
                    <a:pt x="705804" y="879158"/>
                  </a:lnTo>
                  <a:lnTo>
                    <a:pt x="707391" y="883920"/>
                  </a:lnTo>
                  <a:lnTo>
                    <a:pt x="708025" y="888683"/>
                  </a:lnTo>
                  <a:lnTo>
                    <a:pt x="708025" y="893763"/>
                  </a:lnTo>
                  <a:lnTo>
                    <a:pt x="708025" y="898843"/>
                  </a:lnTo>
                  <a:lnTo>
                    <a:pt x="707391" y="903605"/>
                  </a:lnTo>
                  <a:lnTo>
                    <a:pt x="705804" y="908368"/>
                  </a:lnTo>
                  <a:lnTo>
                    <a:pt x="704218" y="912495"/>
                  </a:lnTo>
                  <a:lnTo>
                    <a:pt x="702315" y="916940"/>
                  </a:lnTo>
                  <a:lnTo>
                    <a:pt x="699777" y="921068"/>
                  </a:lnTo>
                  <a:lnTo>
                    <a:pt x="697239" y="924878"/>
                  </a:lnTo>
                  <a:lnTo>
                    <a:pt x="693749" y="928370"/>
                  </a:lnTo>
                  <a:lnTo>
                    <a:pt x="690259" y="931545"/>
                  </a:lnTo>
                  <a:lnTo>
                    <a:pt x="686452" y="934403"/>
                  </a:lnTo>
                  <a:lnTo>
                    <a:pt x="682645" y="936943"/>
                  </a:lnTo>
                  <a:lnTo>
                    <a:pt x="678204" y="938848"/>
                  </a:lnTo>
                  <a:lnTo>
                    <a:pt x="673762" y="940753"/>
                  </a:lnTo>
                  <a:lnTo>
                    <a:pt x="669003" y="941705"/>
                  </a:lnTo>
                  <a:lnTo>
                    <a:pt x="663927" y="942658"/>
                  </a:lnTo>
                  <a:lnTo>
                    <a:pt x="658851" y="942975"/>
                  </a:lnTo>
                  <a:lnTo>
                    <a:pt x="350799" y="942975"/>
                  </a:lnTo>
                  <a:lnTo>
                    <a:pt x="346041" y="942658"/>
                  </a:lnTo>
                  <a:lnTo>
                    <a:pt x="340965" y="941705"/>
                  </a:lnTo>
                  <a:lnTo>
                    <a:pt x="336206" y="940753"/>
                  </a:lnTo>
                  <a:lnTo>
                    <a:pt x="331764" y="938848"/>
                  </a:lnTo>
                  <a:lnTo>
                    <a:pt x="327323" y="936943"/>
                  </a:lnTo>
                  <a:lnTo>
                    <a:pt x="323516" y="934403"/>
                  </a:lnTo>
                  <a:lnTo>
                    <a:pt x="319391" y="931545"/>
                  </a:lnTo>
                  <a:lnTo>
                    <a:pt x="316219" y="928370"/>
                  </a:lnTo>
                  <a:lnTo>
                    <a:pt x="312729" y="924878"/>
                  </a:lnTo>
                  <a:lnTo>
                    <a:pt x="309874" y="921068"/>
                  </a:lnTo>
                  <a:lnTo>
                    <a:pt x="307653" y="916940"/>
                  </a:lnTo>
                  <a:lnTo>
                    <a:pt x="305432" y="912495"/>
                  </a:lnTo>
                  <a:lnTo>
                    <a:pt x="303846" y="908368"/>
                  </a:lnTo>
                  <a:lnTo>
                    <a:pt x="302577" y="903605"/>
                  </a:lnTo>
                  <a:lnTo>
                    <a:pt x="301943" y="898843"/>
                  </a:lnTo>
                  <a:lnTo>
                    <a:pt x="301625" y="893763"/>
                  </a:lnTo>
                  <a:lnTo>
                    <a:pt x="301943" y="888683"/>
                  </a:lnTo>
                  <a:lnTo>
                    <a:pt x="302577" y="883920"/>
                  </a:lnTo>
                  <a:lnTo>
                    <a:pt x="303846" y="879158"/>
                  </a:lnTo>
                  <a:lnTo>
                    <a:pt x="305432" y="874395"/>
                  </a:lnTo>
                  <a:lnTo>
                    <a:pt x="307336" y="869950"/>
                  </a:lnTo>
                  <a:lnTo>
                    <a:pt x="309874" y="865823"/>
                  </a:lnTo>
                  <a:lnTo>
                    <a:pt x="312729" y="862330"/>
                  </a:lnTo>
                  <a:lnTo>
                    <a:pt x="316219" y="858838"/>
                  </a:lnTo>
                  <a:lnTo>
                    <a:pt x="319391" y="855345"/>
                  </a:lnTo>
                  <a:lnTo>
                    <a:pt x="323516" y="852805"/>
                  </a:lnTo>
                  <a:lnTo>
                    <a:pt x="327323" y="850265"/>
                  </a:lnTo>
                  <a:lnTo>
                    <a:pt x="331764" y="848043"/>
                  </a:lnTo>
                  <a:lnTo>
                    <a:pt x="336206" y="846773"/>
                  </a:lnTo>
                  <a:lnTo>
                    <a:pt x="340965" y="845185"/>
                  </a:lnTo>
                  <a:lnTo>
                    <a:pt x="346041" y="844550"/>
                  </a:lnTo>
                  <a:close/>
                  <a:moveTo>
                    <a:pt x="344144" y="590550"/>
                  </a:moveTo>
                  <a:lnTo>
                    <a:pt x="960782" y="590550"/>
                  </a:lnTo>
                  <a:lnTo>
                    <a:pt x="966812" y="591185"/>
                  </a:lnTo>
                  <a:lnTo>
                    <a:pt x="973159" y="592138"/>
                  </a:lnTo>
                  <a:lnTo>
                    <a:pt x="978871" y="593725"/>
                  </a:lnTo>
                  <a:lnTo>
                    <a:pt x="984584" y="595630"/>
                  </a:lnTo>
                  <a:lnTo>
                    <a:pt x="990296" y="598488"/>
                  </a:lnTo>
                  <a:lnTo>
                    <a:pt x="995374" y="601345"/>
                  </a:lnTo>
                  <a:lnTo>
                    <a:pt x="1000135" y="604838"/>
                  </a:lnTo>
                  <a:lnTo>
                    <a:pt x="1004260" y="608965"/>
                  </a:lnTo>
                  <a:lnTo>
                    <a:pt x="1008386" y="613410"/>
                  </a:lnTo>
                  <a:lnTo>
                    <a:pt x="1011560" y="617855"/>
                  </a:lnTo>
                  <a:lnTo>
                    <a:pt x="1015051" y="623253"/>
                  </a:lnTo>
                  <a:lnTo>
                    <a:pt x="1017590" y="628650"/>
                  </a:lnTo>
                  <a:lnTo>
                    <a:pt x="1019811" y="634048"/>
                  </a:lnTo>
                  <a:lnTo>
                    <a:pt x="1021081" y="639763"/>
                  </a:lnTo>
                  <a:lnTo>
                    <a:pt x="1021715" y="646113"/>
                  </a:lnTo>
                  <a:lnTo>
                    <a:pt x="1022350" y="652145"/>
                  </a:lnTo>
                  <a:lnTo>
                    <a:pt x="1021715" y="658813"/>
                  </a:lnTo>
                  <a:lnTo>
                    <a:pt x="1021081" y="664528"/>
                  </a:lnTo>
                  <a:lnTo>
                    <a:pt x="1019811" y="670878"/>
                  </a:lnTo>
                  <a:lnTo>
                    <a:pt x="1017590" y="676275"/>
                  </a:lnTo>
                  <a:lnTo>
                    <a:pt x="1015051" y="681673"/>
                  </a:lnTo>
                  <a:lnTo>
                    <a:pt x="1011560" y="686753"/>
                  </a:lnTo>
                  <a:lnTo>
                    <a:pt x="1008386" y="691515"/>
                  </a:lnTo>
                  <a:lnTo>
                    <a:pt x="1004260" y="695960"/>
                  </a:lnTo>
                  <a:lnTo>
                    <a:pt x="1000135" y="700088"/>
                  </a:lnTo>
                  <a:lnTo>
                    <a:pt x="995374" y="703580"/>
                  </a:lnTo>
                  <a:lnTo>
                    <a:pt x="990296" y="706438"/>
                  </a:lnTo>
                  <a:lnTo>
                    <a:pt x="984584" y="708978"/>
                  </a:lnTo>
                  <a:lnTo>
                    <a:pt x="978871" y="711200"/>
                  </a:lnTo>
                  <a:lnTo>
                    <a:pt x="973159" y="712788"/>
                  </a:lnTo>
                  <a:lnTo>
                    <a:pt x="966812" y="713740"/>
                  </a:lnTo>
                  <a:lnTo>
                    <a:pt x="960782" y="714375"/>
                  </a:lnTo>
                  <a:lnTo>
                    <a:pt x="344144" y="714375"/>
                  </a:lnTo>
                  <a:lnTo>
                    <a:pt x="338114" y="713740"/>
                  </a:lnTo>
                  <a:lnTo>
                    <a:pt x="331767" y="712788"/>
                  </a:lnTo>
                  <a:lnTo>
                    <a:pt x="326054" y="711200"/>
                  </a:lnTo>
                  <a:lnTo>
                    <a:pt x="320342" y="708978"/>
                  </a:lnTo>
                  <a:lnTo>
                    <a:pt x="314946" y="706438"/>
                  </a:lnTo>
                  <a:lnTo>
                    <a:pt x="309869" y="703580"/>
                  </a:lnTo>
                  <a:lnTo>
                    <a:pt x="305108" y="700088"/>
                  </a:lnTo>
                  <a:lnTo>
                    <a:pt x="300982" y="695960"/>
                  </a:lnTo>
                  <a:lnTo>
                    <a:pt x="296857" y="691515"/>
                  </a:lnTo>
                  <a:lnTo>
                    <a:pt x="293366" y="686753"/>
                  </a:lnTo>
                  <a:lnTo>
                    <a:pt x="290192" y="681673"/>
                  </a:lnTo>
                  <a:lnTo>
                    <a:pt x="287653" y="676275"/>
                  </a:lnTo>
                  <a:lnTo>
                    <a:pt x="285432" y="670878"/>
                  </a:lnTo>
                  <a:lnTo>
                    <a:pt x="284162" y="664528"/>
                  </a:lnTo>
                  <a:lnTo>
                    <a:pt x="282893" y="658813"/>
                  </a:lnTo>
                  <a:lnTo>
                    <a:pt x="282575" y="652145"/>
                  </a:lnTo>
                  <a:lnTo>
                    <a:pt x="282893" y="646113"/>
                  </a:lnTo>
                  <a:lnTo>
                    <a:pt x="284162" y="639763"/>
                  </a:lnTo>
                  <a:lnTo>
                    <a:pt x="285432" y="634048"/>
                  </a:lnTo>
                  <a:lnTo>
                    <a:pt x="287653" y="628650"/>
                  </a:lnTo>
                  <a:lnTo>
                    <a:pt x="290192" y="623253"/>
                  </a:lnTo>
                  <a:lnTo>
                    <a:pt x="293366" y="617855"/>
                  </a:lnTo>
                  <a:lnTo>
                    <a:pt x="296857" y="613410"/>
                  </a:lnTo>
                  <a:lnTo>
                    <a:pt x="300982" y="608965"/>
                  </a:lnTo>
                  <a:lnTo>
                    <a:pt x="305108" y="604838"/>
                  </a:lnTo>
                  <a:lnTo>
                    <a:pt x="309869" y="601345"/>
                  </a:lnTo>
                  <a:lnTo>
                    <a:pt x="314946" y="598488"/>
                  </a:lnTo>
                  <a:lnTo>
                    <a:pt x="320342" y="595630"/>
                  </a:lnTo>
                  <a:lnTo>
                    <a:pt x="326054" y="593725"/>
                  </a:lnTo>
                  <a:lnTo>
                    <a:pt x="331767" y="592138"/>
                  </a:lnTo>
                  <a:lnTo>
                    <a:pt x="338114" y="591185"/>
                  </a:lnTo>
                  <a:lnTo>
                    <a:pt x="344144" y="590550"/>
                  </a:lnTo>
                  <a:close/>
                  <a:moveTo>
                    <a:pt x="1750865" y="411163"/>
                  </a:moveTo>
                  <a:lnTo>
                    <a:pt x="1754043" y="411481"/>
                  </a:lnTo>
                  <a:lnTo>
                    <a:pt x="1757540" y="411798"/>
                  </a:lnTo>
                  <a:lnTo>
                    <a:pt x="1760718" y="413068"/>
                  </a:lnTo>
                  <a:lnTo>
                    <a:pt x="1764214" y="414021"/>
                  </a:lnTo>
                  <a:lnTo>
                    <a:pt x="1767710" y="414973"/>
                  </a:lnTo>
                  <a:lnTo>
                    <a:pt x="1770889" y="416878"/>
                  </a:lnTo>
                  <a:lnTo>
                    <a:pt x="1777563" y="421006"/>
                  </a:lnTo>
                  <a:lnTo>
                    <a:pt x="1784555" y="425768"/>
                  </a:lnTo>
                  <a:lnTo>
                    <a:pt x="1790912" y="431166"/>
                  </a:lnTo>
                  <a:lnTo>
                    <a:pt x="1797904" y="437198"/>
                  </a:lnTo>
                  <a:lnTo>
                    <a:pt x="1812207" y="451486"/>
                  </a:lnTo>
                  <a:lnTo>
                    <a:pt x="1827145" y="466408"/>
                  </a:lnTo>
                  <a:lnTo>
                    <a:pt x="1836680" y="476251"/>
                  </a:lnTo>
                  <a:lnTo>
                    <a:pt x="1851935" y="491173"/>
                  </a:lnTo>
                  <a:lnTo>
                    <a:pt x="1865920" y="505461"/>
                  </a:lnTo>
                  <a:lnTo>
                    <a:pt x="1872277" y="512446"/>
                  </a:lnTo>
                  <a:lnTo>
                    <a:pt x="1877680" y="519431"/>
                  </a:lnTo>
                  <a:lnTo>
                    <a:pt x="1882447" y="525781"/>
                  </a:lnTo>
                  <a:lnTo>
                    <a:pt x="1886579" y="532766"/>
                  </a:lnTo>
                  <a:lnTo>
                    <a:pt x="1888486" y="536258"/>
                  </a:lnTo>
                  <a:lnTo>
                    <a:pt x="1889439" y="539433"/>
                  </a:lnTo>
                  <a:lnTo>
                    <a:pt x="1891029" y="542608"/>
                  </a:lnTo>
                  <a:lnTo>
                    <a:pt x="1891664" y="546101"/>
                  </a:lnTo>
                  <a:lnTo>
                    <a:pt x="1891982" y="549593"/>
                  </a:lnTo>
                  <a:lnTo>
                    <a:pt x="1892300" y="552768"/>
                  </a:lnTo>
                  <a:lnTo>
                    <a:pt x="1892300" y="556261"/>
                  </a:lnTo>
                  <a:lnTo>
                    <a:pt x="1891664" y="559753"/>
                  </a:lnTo>
                  <a:lnTo>
                    <a:pt x="1891029" y="562928"/>
                  </a:lnTo>
                  <a:lnTo>
                    <a:pt x="1889757" y="566738"/>
                  </a:lnTo>
                  <a:lnTo>
                    <a:pt x="1888486" y="570231"/>
                  </a:lnTo>
                  <a:lnTo>
                    <a:pt x="1886261" y="574041"/>
                  </a:lnTo>
                  <a:lnTo>
                    <a:pt x="1884036" y="577533"/>
                  </a:lnTo>
                  <a:lnTo>
                    <a:pt x="1881176" y="581343"/>
                  </a:lnTo>
                  <a:lnTo>
                    <a:pt x="1877680" y="585153"/>
                  </a:lnTo>
                  <a:lnTo>
                    <a:pt x="1874184" y="588963"/>
                  </a:lnTo>
                  <a:lnTo>
                    <a:pt x="1476895" y="985838"/>
                  </a:lnTo>
                  <a:lnTo>
                    <a:pt x="1472763" y="989966"/>
                  </a:lnTo>
                  <a:lnTo>
                    <a:pt x="1468313" y="993458"/>
                  </a:lnTo>
                  <a:lnTo>
                    <a:pt x="1464182" y="996633"/>
                  </a:lnTo>
                  <a:lnTo>
                    <a:pt x="1459732" y="999808"/>
                  </a:lnTo>
                  <a:lnTo>
                    <a:pt x="1455282" y="1002348"/>
                  </a:lnTo>
                  <a:lnTo>
                    <a:pt x="1450515" y="1004888"/>
                  </a:lnTo>
                  <a:lnTo>
                    <a:pt x="1446065" y="1007111"/>
                  </a:lnTo>
                  <a:lnTo>
                    <a:pt x="1440980" y="1009016"/>
                  </a:lnTo>
                  <a:lnTo>
                    <a:pt x="1436212" y="1010921"/>
                  </a:lnTo>
                  <a:lnTo>
                    <a:pt x="1431445" y="1012826"/>
                  </a:lnTo>
                  <a:lnTo>
                    <a:pt x="1426360" y="1013778"/>
                  </a:lnTo>
                  <a:lnTo>
                    <a:pt x="1421274" y="1015366"/>
                  </a:lnTo>
                  <a:lnTo>
                    <a:pt x="1416507" y="1016001"/>
                  </a:lnTo>
                  <a:lnTo>
                    <a:pt x="1411422" y="1016953"/>
                  </a:lnTo>
                  <a:lnTo>
                    <a:pt x="1406336" y="1017271"/>
                  </a:lnTo>
                  <a:lnTo>
                    <a:pt x="1401569" y="1017588"/>
                  </a:lnTo>
                  <a:lnTo>
                    <a:pt x="1396484" y="1017588"/>
                  </a:lnTo>
                  <a:lnTo>
                    <a:pt x="1391716" y="1017271"/>
                  </a:lnTo>
                  <a:lnTo>
                    <a:pt x="1386949" y="1016953"/>
                  </a:lnTo>
                  <a:lnTo>
                    <a:pt x="1382499" y="1015683"/>
                  </a:lnTo>
                  <a:lnTo>
                    <a:pt x="1377731" y="1015048"/>
                  </a:lnTo>
                  <a:lnTo>
                    <a:pt x="1373282" y="1013461"/>
                  </a:lnTo>
                  <a:lnTo>
                    <a:pt x="1368832" y="1012191"/>
                  </a:lnTo>
                  <a:lnTo>
                    <a:pt x="1364700" y="1010286"/>
                  </a:lnTo>
                  <a:lnTo>
                    <a:pt x="1360886" y="1008063"/>
                  </a:lnTo>
                  <a:lnTo>
                    <a:pt x="1357072" y="1005523"/>
                  </a:lnTo>
                  <a:lnTo>
                    <a:pt x="1353576" y="1002983"/>
                  </a:lnTo>
                  <a:lnTo>
                    <a:pt x="1350080" y="1000126"/>
                  </a:lnTo>
                  <a:lnTo>
                    <a:pt x="1347220" y="996633"/>
                  </a:lnTo>
                  <a:lnTo>
                    <a:pt x="1344359" y="993458"/>
                  </a:lnTo>
                  <a:lnTo>
                    <a:pt x="1341817" y="989331"/>
                  </a:lnTo>
                  <a:lnTo>
                    <a:pt x="1339274" y="985521"/>
                  </a:lnTo>
                  <a:lnTo>
                    <a:pt x="1337367" y="981076"/>
                  </a:lnTo>
                  <a:lnTo>
                    <a:pt x="1335778" y="976313"/>
                  </a:lnTo>
                  <a:lnTo>
                    <a:pt x="1326561" y="967106"/>
                  </a:lnTo>
                  <a:lnTo>
                    <a:pt x="1322111" y="965518"/>
                  </a:lnTo>
                  <a:lnTo>
                    <a:pt x="1317979" y="963296"/>
                  </a:lnTo>
                  <a:lnTo>
                    <a:pt x="1314165" y="961073"/>
                  </a:lnTo>
                  <a:lnTo>
                    <a:pt x="1310351" y="958851"/>
                  </a:lnTo>
                  <a:lnTo>
                    <a:pt x="1307173" y="956311"/>
                  </a:lnTo>
                  <a:lnTo>
                    <a:pt x="1303995" y="953453"/>
                  </a:lnTo>
                  <a:lnTo>
                    <a:pt x="1301134" y="950913"/>
                  </a:lnTo>
                  <a:lnTo>
                    <a:pt x="1298274" y="948056"/>
                  </a:lnTo>
                  <a:lnTo>
                    <a:pt x="1295731" y="944563"/>
                  </a:lnTo>
                  <a:lnTo>
                    <a:pt x="1293824" y="941706"/>
                  </a:lnTo>
                  <a:lnTo>
                    <a:pt x="1291599" y="938531"/>
                  </a:lnTo>
                  <a:lnTo>
                    <a:pt x="1289692" y="935038"/>
                  </a:lnTo>
                  <a:lnTo>
                    <a:pt x="1288103" y="931546"/>
                  </a:lnTo>
                  <a:lnTo>
                    <a:pt x="1286832" y="928371"/>
                  </a:lnTo>
                  <a:lnTo>
                    <a:pt x="1284607" y="921068"/>
                  </a:lnTo>
                  <a:lnTo>
                    <a:pt x="1283336" y="913448"/>
                  </a:lnTo>
                  <a:lnTo>
                    <a:pt x="1282700" y="905511"/>
                  </a:lnTo>
                  <a:lnTo>
                    <a:pt x="1283018" y="897573"/>
                  </a:lnTo>
                  <a:lnTo>
                    <a:pt x="1283971" y="889953"/>
                  </a:lnTo>
                  <a:lnTo>
                    <a:pt x="1285560" y="882016"/>
                  </a:lnTo>
                  <a:lnTo>
                    <a:pt x="1287785" y="874078"/>
                  </a:lnTo>
                  <a:lnTo>
                    <a:pt x="1290646" y="866141"/>
                  </a:lnTo>
                  <a:lnTo>
                    <a:pt x="1294142" y="858521"/>
                  </a:lnTo>
                  <a:lnTo>
                    <a:pt x="1298909" y="849948"/>
                  </a:lnTo>
                  <a:lnTo>
                    <a:pt x="1304313" y="841376"/>
                  </a:lnTo>
                  <a:lnTo>
                    <a:pt x="1310351" y="833756"/>
                  </a:lnTo>
                  <a:lnTo>
                    <a:pt x="1317026" y="826136"/>
                  </a:lnTo>
                  <a:lnTo>
                    <a:pt x="1714315" y="429261"/>
                  </a:lnTo>
                  <a:lnTo>
                    <a:pt x="1718446" y="425768"/>
                  </a:lnTo>
                  <a:lnTo>
                    <a:pt x="1721943" y="422276"/>
                  </a:lnTo>
                  <a:lnTo>
                    <a:pt x="1726074" y="419736"/>
                  </a:lnTo>
                  <a:lnTo>
                    <a:pt x="1729571" y="417196"/>
                  </a:lnTo>
                  <a:lnTo>
                    <a:pt x="1733384" y="415608"/>
                  </a:lnTo>
                  <a:lnTo>
                    <a:pt x="1736881" y="414021"/>
                  </a:lnTo>
                  <a:lnTo>
                    <a:pt x="1740377" y="412433"/>
                  </a:lnTo>
                  <a:lnTo>
                    <a:pt x="1743873" y="411798"/>
                  </a:lnTo>
                  <a:lnTo>
                    <a:pt x="1747051" y="411481"/>
                  </a:lnTo>
                  <a:lnTo>
                    <a:pt x="1750865" y="411163"/>
                  </a:lnTo>
                  <a:close/>
                  <a:moveTo>
                    <a:pt x="198373" y="319088"/>
                  </a:moveTo>
                  <a:lnTo>
                    <a:pt x="1557783" y="319088"/>
                  </a:lnTo>
                  <a:lnTo>
                    <a:pt x="1453042" y="423822"/>
                  </a:lnTo>
                  <a:lnTo>
                    <a:pt x="315492" y="423822"/>
                  </a:lnTo>
                  <a:lnTo>
                    <a:pt x="305336" y="424140"/>
                  </a:lnTo>
                  <a:lnTo>
                    <a:pt x="295179" y="424774"/>
                  </a:lnTo>
                  <a:lnTo>
                    <a:pt x="285340" y="426361"/>
                  </a:lnTo>
                  <a:lnTo>
                    <a:pt x="275500" y="427631"/>
                  </a:lnTo>
                  <a:lnTo>
                    <a:pt x="265979" y="429852"/>
                  </a:lnTo>
                  <a:lnTo>
                    <a:pt x="256457" y="433026"/>
                  </a:lnTo>
                  <a:lnTo>
                    <a:pt x="247570" y="435882"/>
                  </a:lnTo>
                  <a:lnTo>
                    <a:pt x="238365" y="439374"/>
                  </a:lnTo>
                  <a:lnTo>
                    <a:pt x="229478" y="443499"/>
                  </a:lnTo>
                  <a:lnTo>
                    <a:pt x="221226" y="447943"/>
                  </a:lnTo>
                  <a:lnTo>
                    <a:pt x="212973" y="452703"/>
                  </a:lnTo>
                  <a:lnTo>
                    <a:pt x="204721" y="457781"/>
                  </a:lnTo>
                  <a:lnTo>
                    <a:pt x="196786" y="463494"/>
                  </a:lnTo>
                  <a:lnTo>
                    <a:pt x="189486" y="469207"/>
                  </a:lnTo>
                  <a:lnTo>
                    <a:pt x="182186" y="475554"/>
                  </a:lnTo>
                  <a:lnTo>
                    <a:pt x="175203" y="481902"/>
                  </a:lnTo>
                  <a:lnTo>
                    <a:pt x="168855" y="488884"/>
                  </a:lnTo>
                  <a:lnTo>
                    <a:pt x="162507" y="496184"/>
                  </a:lnTo>
                  <a:lnTo>
                    <a:pt x="156794" y="503483"/>
                  </a:lnTo>
                  <a:lnTo>
                    <a:pt x="151398" y="511100"/>
                  </a:lnTo>
                  <a:lnTo>
                    <a:pt x="145685" y="519670"/>
                  </a:lnTo>
                  <a:lnTo>
                    <a:pt x="140924" y="527604"/>
                  </a:lnTo>
                  <a:lnTo>
                    <a:pt x="136798" y="536490"/>
                  </a:lnTo>
                  <a:lnTo>
                    <a:pt x="132672" y="545060"/>
                  </a:lnTo>
                  <a:lnTo>
                    <a:pt x="129498" y="554263"/>
                  </a:lnTo>
                  <a:lnTo>
                    <a:pt x="126007" y="563150"/>
                  </a:lnTo>
                  <a:lnTo>
                    <a:pt x="123468" y="572671"/>
                  </a:lnTo>
                  <a:lnTo>
                    <a:pt x="121246" y="582193"/>
                  </a:lnTo>
                  <a:lnTo>
                    <a:pt x="119659" y="592031"/>
                  </a:lnTo>
                  <a:lnTo>
                    <a:pt x="118072" y="601870"/>
                  </a:lnTo>
                  <a:lnTo>
                    <a:pt x="117437" y="612026"/>
                  </a:lnTo>
                  <a:lnTo>
                    <a:pt x="117437" y="622182"/>
                  </a:lnTo>
                  <a:lnTo>
                    <a:pt x="117437" y="1633658"/>
                  </a:lnTo>
                  <a:lnTo>
                    <a:pt x="117437" y="1643814"/>
                  </a:lnTo>
                  <a:lnTo>
                    <a:pt x="118072" y="1653970"/>
                  </a:lnTo>
                  <a:lnTo>
                    <a:pt x="119659" y="1663808"/>
                  </a:lnTo>
                  <a:lnTo>
                    <a:pt x="121246" y="1673647"/>
                  </a:lnTo>
                  <a:lnTo>
                    <a:pt x="123468" y="1683168"/>
                  </a:lnTo>
                  <a:lnTo>
                    <a:pt x="126007" y="1692689"/>
                  </a:lnTo>
                  <a:lnTo>
                    <a:pt x="129498" y="1701576"/>
                  </a:lnTo>
                  <a:lnTo>
                    <a:pt x="132672" y="1710780"/>
                  </a:lnTo>
                  <a:lnTo>
                    <a:pt x="136798" y="1719666"/>
                  </a:lnTo>
                  <a:lnTo>
                    <a:pt x="140924" y="1728235"/>
                  </a:lnTo>
                  <a:lnTo>
                    <a:pt x="145685" y="1736170"/>
                  </a:lnTo>
                  <a:lnTo>
                    <a:pt x="151398" y="1744739"/>
                  </a:lnTo>
                  <a:lnTo>
                    <a:pt x="156794" y="1752356"/>
                  </a:lnTo>
                  <a:lnTo>
                    <a:pt x="162507" y="1759656"/>
                  </a:lnTo>
                  <a:lnTo>
                    <a:pt x="168855" y="1766955"/>
                  </a:lnTo>
                  <a:lnTo>
                    <a:pt x="175203" y="1773938"/>
                  </a:lnTo>
                  <a:lnTo>
                    <a:pt x="182186" y="1780285"/>
                  </a:lnTo>
                  <a:lnTo>
                    <a:pt x="189486" y="1786633"/>
                  </a:lnTo>
                  <a:lnTo>
                    <a:pt x="196786" y="1792345"/>
                  </a:lnTo>
                  <a:lnTo>
                    <a:pt x="204721" y="1798375"/>
                  </a:lnTo>
                  <a:lnTo>
                    <a:pt x="212973" y="1803453"/>
                  </a:lnTo>
                  <a:lnTo>
                    <a:pt x="221226" y="1808214"/>
                  </a:lnTo>
                  <a:lnTo>
                    <a:pt x="229478" y="1812340"/>
                  </a:lnTo>
                  <a:lnTo>
                    <a:pt x="238365" y="1816466"/>
                  </a:lnTo>
                  <a:lnTo>
                    <a:pt x="247570" y="1819640"/>
                  </a:lnTo>
                  <a:lnTo>
                    <a:pt x="256457" y="1823131"/>
                  </a:lnTo>
                  <a:lnTo>
                    <a:pt x="265979" y="1825670"/>
                  </a:lnTo>
                  <a:lnTo>
                    <a:pt x="275500" y="1827891"/>
                  </a:lnTo>
                  <a:lnTo>
                    <a:pt x="285340" y="1829478"/>
                  </a:lnTo>
                  <a:lnTo>
                    <a:pt x="295179" y="1831065"/>
                  </a:lnTo>
                  <a:lnTo>
                    <a:pt x="305336" y="1831700"/>
                  </a:lnTo>
                  <a:lnTo>
                    <a:pt x="315492" y="1831700"/>
                  </a:lnTo>
                  <a:lnTo>
                    <a:pt x="1632371" y="1831700"/>
                  </a:lnTo>
                  <a:lnTo>
                    <a:pt x="1642527" y="1831700"/>
                  </a:lnTo>
                  <a:lnTo>
                    <a:pt x="1652367" y="1831065"/>
                  </a:lnTo>
                  <a:lnTo>
                    <a:pt x="1662523" y="1829478"/>
                  </a:lnTo>
                  <a:lnTo>
                    <a:pt x="1672045" y="1827891"/>
                  </a:lnTo>
                  <a:lnTo>
                    <a:pt x="1681885" y="1825670"/>
                  </a:lnTo>
                  <a:lnTo>
                    <a:pt x="1691089" y="1823131"/>
                  </a:lnTo>
                  <a:lnTo>
                    <a:pt x="1700611" y="1819640"/>
                  </a:lnTo>
                  <a:lnTo>
                    <a:pt x="1709181" y="1816466"/>
                  </a:lnTo>
                  <a:lnTo>
                    <a:pt x="1718385" y="1812340"/>
                  </a:lnTo>
                  <a:lnTo>
                    <a:pt x="1726637" y="1808214"/>
                  </a:lnTo>
                  <a:lnTo>
                    <a:pt x="1735207" y="1803453"/>
                  </a:lnTo>
                  <a:lnTo>
                    <a:pt x="1743142" y="1798375"/>
                  </a:lnTo>
                  <a:lnTo>
                    <a:pt x="1750760" y="1792345"/>
                  </a:lnTo>
                  <a:lnTo>
                    <a:pt x="1758377" y="1786633"/>
                  </a:lnTo>
                  <a:lnTo>
                    <a:pt x="1765677" y="1780285"/>
                  </a:lnTo>
                  <a:lnTo>
                    <a:pt x="1772660" y="1773938"/>
                  </a:lnTo>
                  <a:lnTo>
                    <a:pt x="1779325" y="1766955"/>
                  </a:lnTo>
                  <a:lnTo>
                    <a:pt x="1785356" y="1759973"/>
                  </a:lnTo>
                  <a:lnTo>
                    <a:pt x="1791069" y="1752356"/>
                  </a:lnTo>
                  <a:lnTo>
                    <a:pt x="1796782" y="1744739"/>
                  </a:lnTo>
                  <a:lnTo>
                    <a:pt x="1801861" y="1736805"/>
                  </a:lnTo>
                  <a:lnTo>
                    <a:pt x="1806621" y="1728235"/>
                  </a:lnTo>
                  <a:lnTo>
                    <a:pt x="1810748" y="1719666"/>
                  </a:lnTo>
                  <a:lnTo>
                    <a:pt x="1814874" y="1710780"/>
                  </a:lnTo>
                  <a:lnTo>
                    <a:pt x="1818683" y="1702211"/>
                  </a:lnTo>
                  <a:lnTo>
                    <a:pt x="1821857" y="1692689"/>
                  </a:lnTo>
                  <a:lnTo>
                    <a:pt x="1824396" y="1683168"/>
                  </a:lnTo>
                  <a:lnTo>
                    <a:pt x="1826617" y="1673647"/>
                  </a:lnTo>
                  <a:lnTo>
                    <a:pt x="1828522" y="1663808"/>
                  </a:lnTo>
                  <a:lnTo>
                    <a:pt x="1829474" y="1653970"/>
                  </a:lnTo>
                  <a:lnTo>
                    <a:pt x="1830109" y="1643814"/>
                  </a:lnTo>
                  <a:lnTo>
                    <a:pt x="1830426" y="1633658"/>
                  </a:lnTo>
                  <a:lnTo>
                    <a:pt x="1830426" y="1113162"/>
                  </a:lnTo>
                  <a:lnTo>
                    <a:pt x="1830426" y="773570"/>
                  </a:lnTo>
                  <a:lnTo>
                    <a:pt x="1947863" y="656458"/>
                  </a:lnTo>
                  <a:lnTo>
                    <a:pt x="1947863" y="1738391"/>
                  </a:lnTo>
                  <a:lnTo>
                    <a:pt x="1947546" y="1748865"/>
                  </a:lnTo>
                  <a:lnTo>
                    <a:pt x="1946911" y="1758704"/>
                  </a:lnTo>
                  <a:lnTo>
                    <a:pt x="1945324" y="1768860"/>
                  </a:lnTo>
                  <a:lnTo>
                    <a:pt x="1943419" y="1778063"/>
                  </a:lnTo>
                  <a:lnTo>
                    <a:pt x="1941198" y="1787902"/>
                  </a:lnTo>
                  <a:lnTo>
                    <a:pt x="1938659" y="1797423"/>
                  </a:lnTo>
                  <a:lnTo>
                    <a:pt x="1935802" y="1806627"/>
                  </a:lnTo>
                  <a:lnTo>
                    <a:pt x="1932311" y="1815831"/>
                  </a:lnTo>
                  <a:lnTo>
                    <a:pt x="1928184" y="1824400"/>
                  </a:lnTo>
                  <a:lnTo>
                    <a:pt x="1923741" y="1832969"/>
                  </a:lnTo>
                  <a:lnTo>
                    <a:pt x="1918980" y="1841221"/>
                  </a:lnTo>
                  <a:lnTo>
                    <a:pt x="1913902" y="1849156"/>
                  </a:lnTo>
                  <a:lnTo>
                    <a:pt x="1908188" y="1856773"/>
                  </a:lnTo>
                  <a:lnTo>
                    <a:pt x="1902475" y="1864707"/>
                  </a:lnTo>
                  <a:lnTo>
                    <a:pt x="1896127" y="1871689"/>
                  </a:lnTo>
                  <a:lnTo>
                    <a:pt x="1889462" y="1878671"/>
                  </a:lnTo>
                  <a:lnTo>
                    <a:pt x="1882797" y="1885336"/>
                  </a:lnTo>
                  <a:lnTo>
                    <a:pt x="1875497" y="1891366"/>
                  </a:lnTo>
                  <a:lnTo>
                    <a:pt x="1868197" y="1897397"/>
                  </a:lnTo>
                  <a:lnTo>
                    <a:pt x="1860579" y="1902792"/>
                  </a:lnTo>
                  <a:lnTo>
                    <a:pt x="1852327" y="1907870"/>
                  </a:lnTo>
                  <a:lnTo>
                    <a:pt x="1844074" y="1912631"/>
                  </a:lnTo>
                  <a:lnTo>
                    <a:pt x="1835187" y="1917074"/>
                  </a:lnTo>
                  <a:lnTo>
                    <a:pt x="1826617" y="1920882"/>
                  </a:lnTo>
                  <a:lnTo>
                    <a:pt x="1817413" y="1924691"/>
                  </a:lnTo>
                  <a:lnTo>
                    <a:pt x="1808209" y="1927865"/>
                  </a:lnTo>
                  <a:lnTo>
                    <a:pt x="1799004" y="1930404"/>
                  </a:lnTo>
                  <a:lnTo>
                    <a:pt x="1789482" y="1932625"/>
                  </a:lnTo>
                  <a:lnTo>
                    <a:pt x="1779643" y="1934530"/>
                  </a:lnTo>
                  <a:lnTo>
                    <a:pt x="1769803" y="1935482"/>
                  </a:lnTo>
                  <a:lnTo>
                    <a:pt x="1759647" y="1936434"/>
                  </a:lnTo>
                  <a:lnTo>
                    <a:pt x="1749173" y="1936751"/>
                  </a:lnTo>
                  <a:lnTo>
                    <a:pt x="198373" y="1936751"/>
                  </a:lnTo>
                  <a:lnTo>
                    <a:pt x="188216" y="1936434"/>
                  </a:lnTo>
                  <a:lnTo>
                    <a:pt x="178377" y="1935482"/>
                  </a:lnTo>
                  <a:lnTo>
                    <a:pt x="168538" y="1934530"/>
                  </a:lnTo>
                  <a:lnTo>
                    <a:pt x="158699" y="1932625"/>
                  </a:lnTo>
                  <a:lnTo>
                    <a:pt x="148859" y="1930404"/>
                  </a:lnTo>
                  <a:lnTo>
                    <a:pt x="139655" y="1927865"/>
                  </a:lnTo>
                  <a:lnTo>
                    <a:pt x="130133" y="1924691"/>
                  </a:lnTo>
                  <a:lnTo>
                    <a:pt x="121246" y="1920882"/>
                  </a:lnTo>
                  <a:lnTo>
                    <a:pt x="112359" y="1917074"/>
                  </a:lnTo>
                  <a:lnTo>
                    <a:pt x="103789" y="1912631"/>
                  </a:lnTo>
                  <a:lnTo>
                    <a:pt x="95537" y="1907870"/>
                  </a:lnTo>
                  <a:lnTo>
                    <a:pt x="87602" y="1902792"/>
                  </a:lnTo>
                  <a:lnTo>
                    <a:pt x="79984" y="1897397"/>
                  </a:lnTo>
                  <a:lnTo>
                    <a:pt x="72049" y="1891366"/>
                  </a:lnTo>
                  <a:lnTo>
                    <a:pt x="65067" y="1885336"/>
                  </a:lnTo>
                  <a:lnTo>
                    <a:pt x="58084" y="1878671"/>
                  </a:lnTo>
                  <a:lnTo>
                    <a:pt x="51418" y="1871689"/>
                  </a:lnTo>
                  <a:lnTo>
                    <a:pt x="45388" y="1864707"/>
                  </a:lnTo>
                  <a:lnTo>
                    <a:pt x="39357" y="1856773"/>
                  </a:lnTo>
                  <a:lnTo>
                    <a:pt x="33962" y="1849156"/>
                  </a:lnTo>
                  <a:lnTo>
                    <a:pt x="28883" y="1841221"/>
                  </a:lnTo>
                  <a:lnTo>
                    <a:pt x="24122" y="1832969"/>
                  </a:lnTo>
                  <a:lnTo>
                    <a:pt x="19679" y="1824400"/>
                  </a:lnTo>
                  <a:lnTo>
                    <a:pt x="15870" y="1815831"/>
                  </a:lnTo>
                  <a:lnTo>
                    <a:pt x="12061" y="1806627"/>
                  </a:lnTo>
                  <a:lnTo>
                    <a:pt x="8887" y="1797423"/>
                  </a:lnTo>
                  <a:lnTo>
                    <a:pt x="6348" y="1787902"/>
                  </a:lnTo>
                  <a:lnTo>
                    <a:pt x="4126" y="1778063"/>
                  </a:lnTo>
                  <a:lnTo>
                    <a:pt x="2222" y="1768860"/>
                  </a:lnTo>
                  <a:lnTo>
                    <a:pt x="1270" y="1758704"/>
                  </a:lnTo>
                  <a:lnTo>
                    <a:pt x="318" y="1748865"/>
                  </a:lnTo>
                  <a:lnTo>
                    <a:pt x="0" y="1738391"/>
                  </a:lnTo>
                  <a:lnTo>
                    <a:pt x="0" y="517448"/>
                  </a:lnTo>
                  <a:lnTo>
                    <a:pt x="318" y="507292"/>
                  </a:lnTo>
                  <a:lnTo>
                    <a:pt x="1270" y="497453"/>
                  </a:lnTo>
                  <a:lnTo>
                    <a:pt x="2222" y="487297"/>
                  </a:lnTo>
                  <a:lnTo>
                    <a:pt x="4126" y="477776"/>
                  </a:lnTo>
                  <a:lnTo>
                    <a:pt x="6348" y="467937"/>
                  </a:lnTo>
                  <a:lnTo>
                    <a:pt x="8887" y="458416"/>
                  </a:lnTo>
                  <a:lnTo>
                    <a:pt x="12061" y="449212"/>
                  </a:lnTo>
                  <a:lnTo>
                    <a:pt x="15870" y="440008"/>
                  </a:lnTo>
                  <a:lnTo>
                    <a:pt x="19679" y="431439"/>
                  </a:lnTo>
                  <a:lnTo>
                    <a:pt x="24122" y="423187"/>
                  </a:lnTo>
                  <a:lnTo>
                    <a:pt x="28883" y="414618"/>
                  </a:lnTo>
                  <a:lnTo>
                    <a:pt x="33962" y="406684"/>
                  </a:lnTo>
                  <a:lnTo>
                    <a:pt x="39357" y="399067"/>
                  </a:lnTo>
                  <a:lnTo>
                    <a:pt x="45388" y="391450"/>
                  </a:lnTo>
                  <a:lnTo>
                    <a:pt x="51418" y="384150"/>
                  </a:lnTo>
                  <a:lnTo>
                    <a:pt x="58084" y="377168"/>
                  </a:lnTo>
                  <a:lnTo>
                    <a:pt x="65067" y="370503"/>
                  </a:lnTo>
                  <a:lnTo>
                    <a:pt x="72049" y="364473"/>
                  </a:lnTo>
                  <a:lnTo>
                    <a:pt x="79984" y="358443"/>
                  </a:lnTo>
                  <a:lnTo>
                    <a:pt x="87602" y="353047"/>
                  </a:lnTo>
                  <a:lnTo>
                    <a:pt x="95537" y="347969"/>
                  </a:lnTo>
                  <a:lnTo>
                    <a:pt x="103789" y="343209"/>
                  </a:lnTo>
                  <a:lnTo>
                    <a:pt x="112359" y="338766"/>
                  </a:lnTo>
                  <a:lnTo>
                    <a:pt x="121246" y="334957"/>
                  </a:lnTo>
                  <a:lnTo>
                    <a:pt x="130133" y="331149"/>
                  </a:lnTo>
                  <a:lnTo>
                    <a:pt x="139655" y="328292"/>
                  </a:lnTo>
                  <a:lnTo>
                    <a:pt x="148859" y="325436"/>
                  </a:lnTo>
                  <a:lnTo>
                    <a:pt x="158699" y="323214"/>
                  </a:lnTo>
                  <a:lnTo>
                    <a:pt x="168538" y="321310"/>
                  </a:lnTo>
                  <a:lnTo>
                    <a:pt x="178377" y="320358"/>
                  </a:lnTo>
                  <a:lnTo>
                    <a:pt x="188216" y="319723"/>
                  </a:lnTo>
                  <a:lnTo>
                    <a:pt x="198373" y="319088"/>
                  </a:lnTo>
                  <a:close/>
                  <a:moveTo>
                    <a:pt x="2076641" y="106363"/>
                  </a:moveTo>
                  <a:lnTo>
                    <a:pt x="2082030" y="106363"/>
                  </a:lnTo>
                  <a:lnTo>
                    <a:pt x="2087102" y="106363"/>
                  </a:lnTo>
                  <a:lnTo>
                    <a:pt x="2092174" y="106679"/>
                  </a:lnTo>
                  <a:lnTo>
                    <a:pt x="2097246" y="107313"/>
                  </a:lnTo>
                  <a:lnTo>
                    <a:pt x="2102318" y="108263"/>
                  </a:lnTo>
                  <a:lnTo>
                    <a:pt x="2107390" y="109213"/>
                  </a:lnTo>
                  <a:lnTo>
                    <a:pt x="2112145" y="110797"/>
                  </a:lnTo>
                  <a:lnTo>
                    <a:pt x="2117217" y="112064"/>
                  </a:lnTo>
                  <a:lnTo>
                    <a:pt x="2121972" y="113965"/>
                  </a:lnTo>
                  <a:lnTo>
                    <a:pt x="2126727" y="116182"/>
                  </a:lnTo>
                  <a:lnTo>
                    <a:pt x="2131482" y="118399"/>
                  </a:lnTo>
                  <a:lnTo>
                    <a:pt x="2136237" y="120933"/>
                  </a:lnTo>
                  <a:lnTo>
                    <a:pt x="2140358" y="123784"/>
                  </a:lnTo>
                  <a:lnTo>
                    <a:pt x="2144796" y="126634"/>
                  </a:lnTo>
                  <a:lnTo>
                    <a:pt x="2148916" y="130119"/>
                  </a:lnTo>
                  <a:lnTo>
                    <a:pt x="2153354" y="133603"/>
                  </a:lnTo>
                  <a:lnTo>
                    <a:pt x="2157158" y="137087"/>
                  </a:lnTo>
                  <a:lnTo>
                    <a:pt x="2166351" y="146589"/>
                  </a:lnTo>
                  <a:lnTo>
                    <a:pt x="2169838" y="150707"/>
                  </a:lnTo>
                  <a:lnTo>
                    <a:pt x="2173642" y="154825"/>
                  </a:lnTo>
                  <a:lnTo>
                    <a:pt x="2176812" y="158626"/>
                  </a:lnTo>
                  <a:lnTo>
                    <a:pt x="2179665" y="163060"/>
                  </a:lnTo>
                  <a:lnTo>
                    <a:pt x="2182835" y="167811"/>
                  </a:lnTo>
                  <a:lnTo>
                    <a:pt x="2185371" y="172246"/>
                  </a:lnTo>
                  <a:lnTo>
                    <a:pt x="2187273" y="176997"/>
                  </a:lnTo>
                  <a:lnTo>
                    <a:pt x="2189492" y="181748"/>
                  </a:lnTo>
                  <a:lnTo>
                    <a:pt x="2191394" y="186183"/>
                  </a:lnTo>
                  <a:lnTo>
                    <a:pt x="2192979" y="191567"/>
                  </a:lnTo>
                  <a:lnTo>
                    <a:pt x="2194247" y="196002"/>
                  </a:lnTo>
                  <a:lnTo>
                    <a:pt x="2195515" y="201387"/>
                  </a:lnTo>
                  <a:lnTo>
                    <a:pt x="2196149" y="206454"/>
                  </a:lnTo>
                  <a:lnTo>
                    <a:pt x="2196783" y="211522"/>
                  </a:lnTo>
                  <a:lnTo>
                    <a:pt x="2197100" y="216590"/>
                  </a:lnTo>
                  <a:lnTo>
                    <a:pt x="2197100" y="221658"/>
                  </a:lnTo>
                  <a:lnTo>
                    <a:pt x="2197100" y="226726"/>
                  </a:lnTo>
                  <a:lnTo>
                    <a:pt x="2196783" y="231794"/>
                  </a:lnTo>
                  <a:lnTo>
                    <a:pt x="2196149" y="236862"/>
                  </a:lnTo>
                  <a:lnTo>
                    <a:pt x="2195515" y="241613"/>
                  </a:lnTo>
                  <a:lnTo>
                    <a:pt x="2194247" y="246681"/>
                  </a:lnTo>
                  <a:lnTo>
                    <a:pt x="2192979" y="251749"/>
                  </a:lnTo>
                  <a:lnTo>
                    <a:pt x="2191394" y="256500"/>
                  </a:lnTo>
                  <a:lnTo>
                    <a:pt x="2189492" y="261251"/>
                  </a:lnTo>
                  <a:lnTo>
                    <a:pt x="2187273" y="266319"/>
                  </a:lnTo>
                  <a:lnTo>
                    <a:pt x="2185371" y="270754"/>
                  </a:lnTo>
                  <a:lnTo>
                    <a:pt x="2182835" y="275505"/>
                  </a:lnTo>
                  <a:lnTo>
                    <a:pt x="2179665" y="279623"/>
                  </a:lnTo>
                  <a:lnTo>
                    <a:pt x="2176812" y="284057"/>
                  </a:lnTo>
                  <a:lnTo>
                    <a:pt x="2173642" y="288492"/>
                  </a:lnTo>
                  <a:lnTo>
                    <a:pt x="2169838" y="292609"/>
                  </a:lnTo>
                  <a:lnTo>
                    <a:pt x="2166351" y="296410"/>
                  </a:lnTo>
                  <a:lnTo>
                    <a:pt x="1970764" y="491843"/>
                  </a:lnTo>
                  <a:lnTo>
                    <a:pt x="1967277" y="495010"/>
                  </a:lnTo>
                  <a:lnTo>
                    <a:pt x="1963473" y="498178"/>
                  </a:lnTo>
                  <a:lnTo>
                    <a:pt x="1959986" y="500712"/>
                  </a:lnTo>
                  <a:lnTo>
                    <a:pt x="1956816" y="502612"/>
                  </a:lnTo>
                  <a:lnTo>
                    <a:pt x="1953329" y="504513"/>
                  </a:lnTo>
                  <a:lnTo>
                    <a:pt x="1950476" y="505463"/>
                  </a:lnTo>
                  <a:lnTo>
                    <a:pt x="1947623" y="505780"/>
                  </a:lnTo>
                  <a:lnTo>
                    <a:pt x="1944771" y="506413"/>
                  </a:lnTo>
                  <a:lnTo>
                    <a:pt x="1941918" y="505780"/>
                  </a:lnTo>
                  <a:lnTo>
                    <a:pt x="1939382" y="505463"/>
                  </a:lnTo>
                  <a:lnTo>
                    <a:pt x="1936846" y="504513"/>
                  </a:lnTo>
                  <a:lnTo>
                    <a:pt x="1933993" y="502929"/>
                  </a:lnTo>
                  <a:lnTo>
                    <a:pt x="1931457" y="501662"/>
                  </a:lnTo>
                  <a:lnTo>
                    <a:pt x="1928921" y="499445"/>
                  </a:lnTo>
                  <a:lnTo>
                    <a:pt x="1924166" y="494694"/>
                  </a:lnTo>
                  <a:lnTo>
                    <a:pt x="1919094" y="489309"/>
                  </a:lnTo>
                  <a:lnTo>
                    <a:pt x="1914022" y="482657"/>
                  </a:lnTo>
                  <a:lnTo>
                    <a:pt x="1903561" y="467770"/>
                  </a:lnTo>
                  <a:lnTo>
                    <a:pt x="1897855" y="459852"/>
                  </a:lnTo>
                  <a:lnTo>
                    <a:pt x="1891515" y="451616"/>
                  </a:lnTo>
                  <a:lnTo>
                    <a:pt x="1884541" y="443698"/>
                  </a:lnTo>
                  <a:lnTo>
                    <a:pt x="1877250" y="435779"/>
                  </a:lnTo>
                  <a:lnTo>
                    <a:pt x="1868057" y="426277"/>
                  </a:lnTo>
                  <a:lnTo>
                    <a:pt x="1859815" y="418991"/>
                  </a:lnTo>
                  <a:lnTo>
                    <a:pt x="1851890" y="412023"/>
                  </a:lnTo>
                  <a:lnTo>
                    <a:pt x="1843966" y="406005"/>
                  </a:lnTo>
                  <a:lnTo>
                    <a:pt x="1836041" y="399987"/>
                  </a:lnTo>
                  <a:lnTo>
                    <a:pt x="1820825" y="389217"/>
                  </a:lnTo>
                  <a:lnTo>
                    <a:pt x="1814485" y="384466"/>
                  </a:lnTo>
                  <a:lnTo>
                    <a:pt x="1808462" y="379398"/>
                  </a:lnTo>
                  <a:lnTo>
                    <a:pt x="1804024" y="374647"/>
                  </a:lnTo>
                  <a:lnTo>
                    <a:pt x="1802122" y="372113"/>
                  </a:lnTo>
                  <a:lnTo>
                    <a:pt x="1800220" y="369579"/>
                  </a:lnTo>
                  <a:lnTo>
                    <a:pt x="1798635" y="367045"/>
                  </a:lnTo>
                  <a:lnTo>
                    <a:pt x="1798001" y="364511"/>
                  </a:lnTo>
                  <a:lnTo>
                    <a:pt x="1797367" y="361660"/>
                  </a:lnTo>
                  <a:lnTo>
                    <a:pt x="1797050" y="359126"/>
                  </a:lnTo>
                  <a:lnTo>
                    <a:pt x="1797367" y="355959"/>
                  </a:lnTo>
                  <a:lnTo>
                    <a:pt x="1797684" y="353108"/>
                  </a:lnTo>
                  <a:lnTo>
                    <a:pt x="1798635" y="349941"/>
                  </a:lnTo>
                  <a:lnTo>
                    <a:pt x="1800220" y="346773"/>
                  </a:lnTo>
                  <a:lnTo>
                    <a:pt x="1802439" y="343289"/>
                  </a:lnTo>
                  <a:lnTo>
                    <a:pt x="1804975" y="340122"/>
                  </a:lnTo>
                  <a:lnTo>
                    <a:pt x="1807828" y="336637"/>
                  </a:lnTo>
                  <a:lnTo>
                    <a:pt x="1811632" y="332520"/>
                  </a:lnTo>
                  <a:lnTo>
                    <a:pt x="2006902" y="137087"/>
                  </a:lnTo>
                  <a:lnTo>
                    <a:pt x="2011023" y="133603"/>
                  </a:lnTo>
                  <a:lnTo>
                    <a:pt x="2014827" y="130119"/>
                  </a:lnTo>
                  <a:lnTo>
                    <a:pt x="2019265" y="126634"/>
                  </a:lnTo>
                  <a:lnTo>
                    <a:pt x="2023703" y="123784"/>
                  </a:lnTo>
                  <a:lnTo>
                    <a:pt x="2028141" y="120933"/>
                  </a:lnTo>
                  <a:lnTo>
                    <a:pt x="2032896" y="118399"/>
                  </a:lnTo>
                  <a:lnTo>
                    <a:pt x="2037017" y="116182"/>
                  </a:lnTo>
                  <a:lnTo>
                    <a:pt x="2041772" y="113965"/>
                  </a:lnTo>
                  <a:lnTo>
                    <a:pt x="2046843" y="112064"/>
                  </a:lnTo>
                  <a:lnTo>
                    <a:pt x="2051598" y="110797"/>
                  </a:lnTo>
                  <a:lnTo>
                    <a:pt x="2056670" y="109213"/>
                  </a:lnTo>
                  <a:lnTo>
                    <a:pt x="2061425" y="108263"/>
                  </a:lnTo>
                  <a:lnTo>
                    <a:pt x="2066497" y="107313"/>
                  </a:lnTo>
                  <a:lnTo>
                    <a:pt x="2071569" y="106679"/>
                  </a:lnTo>
                  <a:lnTo>
                    <a:pt x="2076641" y="106363"/>
                  </a:lnTo>
                  <a:close/>
                  <a:moveTo>
                    <a:pt x="2213628" y="19050"/>
                  </a:moveTo>
                  <a:lnTo>
                    <a:pt x="2219371" y="19369"/>
                  </a:lnTo>
                  <a:lnTo>
                    <a:pt x="2225751" y="20007"/>
                  </a:lnTo>
                  <a:lnTo>
                    <a:pt x="2231493" y="21602"/>
                  </a:lnTo>
                  <a:lnTo>
                    <a:pt x="2237236" y="23516"/>
                  </a:lnTo>
                  <a:lnTo>
                    <a:pt x="2242978" y="26387"/>
                  </a:lnTo>
                  <a:lnTo>
                    <a:pt x="2248401" y="29258"/>
                  </a:lnTo>
                  <a:lnTo>
                    <a:pt x="2253506" y="33087"/>
                  </a:lnTo>
                  <a:lnTo>
                    <a:pt x="2258291" y="37234"/>
                  </a:lnTo>
                  <a:lnTo>
                    <a:pt x="2262757" y="42019"/>
                  </a:lnTo>
                  <a:lnTo>
                    <a:pt x="2266266" y="47123"/>
                  </a:lnTo>
                  <a:lnTo>
                    <a:pt x="2269457" y="52547"/>
                  </a:lnTo>
                  <a:lnTo>
                    <a:pt x="2272009" y="58608"/>
                  </a:lnTo>
                  <a:lnTo>
                    <a:pt x="2273923" y="64350"/>
                  </a:lnTo>
                  <a:lnTo>
                    <a:pt x="2275518" y="70412"/>
                  </a:lnTo>
                  <a:lnTo>
                    <a:pt x="2276475" y="76154"/>
                  </a:lnTo>
                  <a:lnTo>
                    <a:pt x="2276475" y="82216"/>
                  </a:lnTo>
                  <a:lnTo>
                    <a:pt x="2276475" y="88277"/>
                  </a:lnTo>
                  <a:lnTo>
                    <a:pt x="2275518" y="94338"/>
                  </a:lnTo>
                  <a:lnTo>
                    <a:pt x="2273923" y="100400"/>
                  </a:lnTo>
                  <a:lnTo>
                    <a:pt x="2272009" y="106142"/>
                  </a:lnTo>
                  <a:lnTo>
                    <a:pt x="2269457" y="111565"/>
                  </a:lnTo>
                  <a:lnTo>
                    <a:pt x="2266266" y="117308"/>
                  </a:lnTo>
                  <a:lnTo>
                    <a:pt x="2262757" y="122412"/>
                  </a:lnTo>
                  <a:lnTo>
                    <a:pt x="2258291" y="126878"/>
                  </a:lnTo>
                  <a:lnTo>
                    <a:pt x="2241064" y="144105"/>
                  </a:lnTo>
                  <a:lnTo>
                    <a:pt x="2236598" y="148253"/>
                  </a:lnTo>
                  <a:lnTo>
                    <a:pt x="2232769" y="150805"/>
                  </a:lnTo>
                  <a:lnTo>
                    <a:pt x="2230855" y="151443"/>
                  </a:lnTo>
                  <a:lnTo>
                    <a:pt x="2228941" y="152400"/>
                  </a:lnTo>
                  <a:lnTo>
                    <a:pt x="2227346" y="152400"/>
                  </a:lnTo>
                  <a:lnTo>
                    <a:pt x="2225751" y="152400"/>
                  </a:lnTo>
                  <a:lnTo>
                    <a:pt x="2224156" y="152081"/>
                  </a:lnTo>
                  <a:lnTo>
                    <a:pt x="2222880" y="151443"/>
                  </a:lnTo>
                  <a:lnTo>
                    <a:pt x="2220009" y="149848"/>
                  </a:lnTo>
                  <a:lnTo>
                    <a:pt x="2217456" y="147295"/>
                  </a:lnTo>
                  <a:lnTo>
                    <a:pt x="2214904" y="143786"/>
                  </a:lnTo>
                  <a:lnTo>
                    <a:pt x="2212352" y="140277"/>
                  </a:lnTo>
                  <a:lnTo>
                    <a:pt x="2209800" y="135811"/>
                  </a:lnTo>
                  <a:lnTo>
                    <a:pt x="2204058" y="126240"/>
                  </a:lnTo>
                  <a:lnTo>
                    <a:pt x="2201186" y="121455"/>
                  </a:lnTo>
                  <a:lnTo>
                    <a:pt x="2197358" y="116351"/>
                  </a:lnTo>
                  <a:lnTo>
                    <a:pt x="2193530" y="111246"/>
                  </a:lnTo>
                  <a:lnTo>
                    <a:pt x="2189064" y="106461"/>
                  </a:lnTo>
                  <a:lnTo>
                    <a:pt x="2184278" y="101995"/>
                  </a:lnTo>
                  <a:lnTo>
                    <a:pt x="2179493" y="98167"/>
                  </a:lnTo>
                  <a:lnTo>
                    <a:pt x="2174389" y="94657"/>
                  </a:lnTo>
                  <a:lnTo>
                    <a:pt x="2169285" y="91467"/>
                  </a:lnTo>
                  <a:lnTo>
                    <a:pt x="2159714" y="85725"/>
                  </a:lnTo>
                  <a:lnTo>
                    <a:pt x="2155248" y="83173"/>
                  </a:lnTo>
                  <a:lnTo>
                    <a:pt x="2151739" y="80620"/>
                  </a:lnTo>
                  <a:lnTo>
                    <a:pt x="2148229" y="78068"/>
                  </a:lnTo>
                  <a:lnTo>
                    <a:pt x="2145677" y="75516"/>
                  </a:lnTo>
                  <a:lnTo>
                    <a:pt x="2144082" y="72964"/>
                  </a:lnTo>
                  <a:lnTo>
                    <a:pt x="2143763" y="71369"/>
                  </a:lnTo>
                  <a:lnTo>
                    <a:pt x="2143125" y="69774"/>
                  </a:lnTo>
                  <a:lnTo>
                    <a:pt x="2143125" y="68179"/>
                  </a:lnTo>
                  <a:lnTo>
                    <a:pt x="2143763" y="66584"/>
                  </a:lnTo>
                  <a:lnTo>
                    <a:pt x="2144082" y="64669"/>
                  </a:lnTo>
                  <a:lnTo>
                    <a:pt x="2144720" y="63074"/>
                  </a:lnTo>
                  <a:lnTo>
                    <a:pt x="2147591" y="59246"/>
                  </a:lnTo>
                  <a:lnTo>
                    <a:pt x="2151419" y="54780"/>
                  </a:lnTo>
                  <a:lnTo>
                    <a:pt x="2168647" y="37234"/>
                  </a:lnTo>
                  <a:lnTo>
                    <a:pt x="2173751" y="33087"/>
                  </a:lnTo>
                  <a:lnTo>
                    <a:pt x="2178855" y="29258"/>
                  </a:lnTo>
                  <a:lnTo>
                    <a:pt x="2183959" y="26387"/>
                  </a:lnTo>
                  <a:lnTo>
                    <a:pt x="2189702" y="23516"/>
                  </a:lnTo>
                  <a:lnTo>
                    <a:pt x="2195125" y="21602"/>
                  </a:lnTo>
                  <a:lnTo>
                    <a:pt x="2201506" y="20007"/>
                  </a:lnTo>
                  <a:lnTo>
                    <a:pt x="2207248" y="19369"/>
                  </a:lnTo>
                  <a:lnTo>
                    <a:pt x="2213628" y="19050"/>
                  </a:lnTo>
                  <a:close/>
                  <a:moveTo>
                    <a:pt x="1985550" y="0"/>
                  </a:moveTo>
                  <a:lnTo>
                    <a:pt x="1989686" y="0"/>
                  </a:lnTo>
                  <a:lnTo>
                    <a:pt x="1993822" y="0"/>
                  </a:lnTo>
                  <a:lnTo>
                    <a:pt x="1997640" y="634"/>
                  </a:lnTo>
                  <a:lnTo>
                    <a:pt x="2001776" y="1903"/>
                  </a:lnTo>
                  <a:lnTo>
                    <a:pt x="2005594" y="2855"/>
                  </a:lnTo>
                  <a:lnTo>
                    <a:pt x="2009411" y="4759"/>
                  </a:lnTo>
                  <a:lnTo>
                    <a:pt x="2012911" y="6980"/>
                  </a:lnTo>
                  <a:lnTo>
                    <a:pt x="2016411" y="9518"/>
                  </a:lnTo>
                  <a:lnTo>
                    <a:pt x="2019592" y="12374"/>
                  </a:lnTo>
                  <a:lnTo>
                    <a:pt x="2022456" y="15229"/>
                  </a:lnTo>
                  <a:lnTo>
                    <a:pt x="2025001" y="19037"/>
                  </a:lnTo>
                  <a:lnTo>
                    <a:pt x="2026910" y="22210"/>
                  </a:lnTo>
                  <a:lnTo>
                    <a:pt x="2028819" y="26334"/>
                  </a:lnTo>
                  <a:lnTo>
                    <a:pt x="2030091" y="29824"/>
                  </a:lnTo>
                  <a:lnTo>
                    <a:pt x="2031364" y="33949"/>
                  </a:lnTo>
                  <a:lnTo>
                    <a:pt x="2031682" y="37757"/>
                  </a:lnTo>
                  <a:lnTo>
                    <a:pt x="2032000" y="41881"/>
                  </a:lnTo>
                  <a:lnTo>
                    <a:pt x="2031682" y="46006"/>
                  </a:lnTo>
                  <a:lnTo>
                    <a:pt x="2031046" y="49813"/>
                  </a:lnTo>
                  <a:lnTo>
                    <a:pt x="2030091" y="53938"/>
                  </a:lnTo>
                  <a:lnTo>
                    <a:pt x="2028819" y="57745"/>
                  </a:lnTo>
                  <a:lnTo>
                    <a:pt x="2026910" y="61553"/>
                  </a:lnTo>
                  <a:lnTo>
                    <a:pt x="2025001" y="65043"/>
                  </a:lnTo>
                  <a:lnTo>
                    <a:pt x="2022456" y="68533"/>
                  </a:lnTo>
                  <a:lnTo>
                    <a:pt x="2019592" y="71706"/>
                  </a:lnTo>
                  <a:lnTo>
                    <a:pt x="1637177" y="453081"/>
                  </a:lnTo>
                  <a:lnTo>
                    <a:pt x="1633995" y="455937"/>
                  </a:lnTo>
                  <a:lnTo>
                    <a:pt x="1630814" y="458158"/>
                  </a:lnTo>
                  <a:lnTo>
                    <a:pt x="1626996" y="460379"/>
                  </a:lnTo>
                  <a:lnTo>
                    <a:pt x="1623496" y="462283"/>
                  </a:lnTo>
                  <a:lnTo>
                    <a:pt x="1619360" y="463552"/>
                  </a:lnTo>
                  <a:lnTo>
                    <a:pt x="1615224" y="464186"/>
                  </a:lnTo>
                  <a:lnTo>
                    <a:pt x="1611407" y="465138"/>
                  </a:lnTo>
                  <a:lnTo>
                    <a:pt x="1607271" y="465138"/>
                  </a:lnTo>
                  <a:lnTo>
                    <a:pt x="1603135" y="465138"/>
                  </a:lnTo>
                  <a:lnTo>
                    <a:pt x="1599317" y="464186"/>
                  </a:lnTo>
                  <a:lnTo>
                    <a:pt x="1595181" y="463552"/>
                  </a:lnTo>
                  <a:lnTo>
                    <a:pt x="1591681" y="462283"/>
                  </a:lnTo>
                  <a:lnTo>
                    <a:pt x="1587864" y="460379"/>
                  </a:lnTo>
                  <a:lnTo>
                    <a:pt x="1584364" y="458158"/>
                  </a:lnTo>
                  <a:lnTo>
                    <a:pt x="1580864" y="455937"/>
                  </a:lnTo>
                  <a:lnTo>
                    <a:pt x="1577683" y="453081"/>
                  </a:lnTo>
                  <a:lnTo>
                    <a:pt x="1574819" y="449591"/>
                  </a:lnTo>
                  <a:lnTo>
                    <a:pt x="1572274" y="446418"/>
                  </a:lnTo>
                  <a:lnTo>
                    <a:pt x="1570047" y="442928"/>
                  </a:lnTo>
                  <a:lnTo>
                    <a:pt x="1568138" y="439121"/>
                  </a:lnTo>
                  <a:lnTo>
                    <a:pt x="1567184" y="435314"/>
                  </a:lnTo>
                  <a:lnTo>
                    <a:pt x="1565911" y="431189"/>
                  </a:lnTo>
                  <a:lnTo>
                    <a:pt x="1565275" y="427381"/>
                  </a:lnTo>
                  <a:lnTo>
                    <a:pt x="1565275" y="423257"/>
                  </a:lnTo>
                  <a:lnTo>
                    <a:pt x="1565275" y="419132"/>
                  </a:lnTo>
                  <a:lnTo>
                    <a:pt x="1565911" y="415007"/>
                  </a:lnTo>
                  <a:lnTo>
                    <a:pt x="1567184" y="411517"/>
                  </a:lnTo>
                  <a:lnTo>
                    <a:pt x="1568138" y="407393"/>
                  </a:lnTo>
                  <a:lnTo>
                    <a:pt x="1570047" y="403902"/>
                  </a:lnTo>
                  <a:lnTo>
                    <a:pt x="1572274" y="400095"/>
                  </a:lnTo>
                  <a:lnTo>
                    <a:pt x="1574819" y="396922"/>
                  </a:lnTo>
                  <a:lnTo>
                    <a:pt x="1577683" y="393749"/>
                  </a:lnTo>
                  <a:lnTo>
                    <a:pt x="1960098" y="12374"/>
                  </a:lnTo>
                  <a:lnTo>
                    <a:pt x="1962962" y="9518"/>
                  </a:lnTo>
                  <a:lnTo>
                    <a:pt x="1966779" y="6980"/>
                  </a:lnTo>
                  <a:lnTo>
                    <a:pt x="1970279" y="4759"/>
                  </a:lnTo>
                  <a:lnTo>
                    <a:pt x="1974097" y="2855"/>
                  </a:lnTo>
                  <a:lnTo>
                    <a:pt x="1977596" y="1903"/>
                  </a:lnTo>
                  <a:lnTo>
                    <a:pt x="1981732" y="634"/>
                  </a:lnTo>
                  <a:lnTo>
                    <a:pt x="1985550" y="0"/>
                  </a:lnTo>
                  <a:close/>
                </a:path>
              </a:pathLst>
            </a:custGeom>
          </p:spPr>
          <p:style>
            <a:lnRef idx="2">
              <a:schemeClr val="accent2">
                <a:shade val="50000"/>
              </a:schemeClr>
            </a:lnRef>
            <a:fillRef idx="1">
              <a:schemeClr val="accent2"/>
            </a:fillRef>
            <a:effectRef idx="0">
              <a:schemeClr val="accent2"/>
            </a:effectRef>
            <a:fontRef idx="minor">
              <a:schemeClr val="lt1"/>
            </a:fontRef>
          </p:style>
          <p:txBody>
            <a:bodyPr anchor="ctr">
              <a:scene3d>
                <a:camera prst="orthographicFront"/>
                <a:lightRig rig="threePt" dir="t"/>
              </a:scene3d>
              <a:sp3d contourW="12700">
                <a:contourClr>
                  <a:srgbClr val="FFFFFF"/>
                </a:contourClr>
              </a:sp3d>
            </a:bodyPr>
            <a:lstStyle/>
            <a:p>
              <a:pPr algn="ctr">
                <a:defRPr/>
              </a:pPr>
              <a:endParaRPr lang="zh-CN" altLang="en-US">
                <a:solidFill>
                  <a:srgbClr val="FFFFFF"/>
                </a:solidFill>
                <a:ea typeface="宋体" panose="02010600030101010101" pitchFamily="2" charset="-122"/>
              </a:endParaRPr>
            </a:p>
          </p:txBody>
        </p:sp>
      </p:grpSp>
      <p:grpSp>
        <p:nvGrpSpPr>
          <p:cNvPr id="10" name="组合 9"/>
          <p:cNvGrpSpPr/>
          <p:nvPr/>
        </p:nvGrpSpPr>
        <p:grpSpPr>
          <a:xfrm>
            <a:off x="5866765" y="4056380"/>
            <a:ext cx="1554480" cy="1587500"/>
            <a:chOff x="8210" y="6203"/>
            <a:chExt cx="2448" cy="2500"/>
          </a:xfrm>
        </p:grpSpPr>
        <p:sp>
          <p:nvSpPr>
            <p:cNvPr id="51" name="文本框 50"/>
            <p:cNvSpPr txBox="1"/>
            <p:nvPr/>
          </p:nvSpPr>
          <p:spPr>
            <a:xfrm>
              <a:off x="8210" y="8123"/>
              <a:ext cx="2448" cy="58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业务管理模块</a:t>
              </a:r>
            </a:p>
          </p:txBody>
        </p:sp>
        <p:pic>
          <p:nvPicPr>
            <p:cNvPr id="5" name="图片 4" descr="Monitor_128px_1178229_easyicon.net"/>
            <p:cNvPicPr>
              <a:picLocks noChangeAspect="1"/>
            </p:cNvPicPr>
            <p:nvPr/>
          </p:nvPicPr>
          <p:blipFill>
            <a:blip r:embed="rId3"/>
            <a:stretch>
              <a:fillRect/>
            </a:stretch>
          </p:blipFill>
          <p:spPr>
            <a:xfrm>
              <a:off x="8474" y="6203"/>
              <a:ext cx="1920" cy="1920"/>
            </a:xfrm>
            <a:prstGeom prst="rect">
              <a:avLst/>
            </a:prstGeom>
          </p:spPr>
        </p:pic>
      </p:grpSp>
      <p:grpSp>
        <p:nvGrpSpPr>
          <p:cNvPr id="13" name="组合 12"/>
          <p:cNvGrpSpPr/>
          <p:nvPr/>
        </p:nvGrpSpPr>
        <p:grpSpPr>
          <a:xfrm>
            <a:off x="4425950" y="1839595"/>
            <a:ext cx="1441450" cy="782320"/>
            <a:chOff x="5236" y="1874"/>
            <a:chExt cx="2270" cy="1232"/>
          </a:xfrm>
        </p:grpSpPr>
        <p:sp>
          <p:nvSpPr>
            <p:cNvPr id="11" name="右箭头 10"/>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2" name="文本框 11"/>
            <p:cNvSpPr txBox="1"/>
            <p:nvPr/>
          </p:nvSpPr>
          <p:spPr>
            <a:xfrm>
              <a:off x="5237" y="1874"/>
              <a:ext cx="2088" cy="580"/>
            </a:xfrm>
            <a:prstGeom prst="rect">
              <a:avLst/>
            </a:prstGeom>
            <a:noFill/>
          </p:spPr>
          <p:txBody>
            <a:bodyPr wrap="none" rtlCol="0">
              <a:spAutoFit/>
            </a:bodyPr>
            <a:lstStyle/>
            <a:p>
              <a:r>
                <a:rPr lang="zh-CN" altLang="en-US"/>
                <a:t>建立经验库</a:t>
              </a:r>
            </a:p>
          </p:txBody>
        </p:sp>
      </p:grpSp>
      <p:grpSp>
        <p:nvGrpSpPr>
          <p:cNvPr id="14" name="组合 13"/>
          <p:cNvGrpSpPr/>
          <p:nvPr/>
        </p:nvGrpSpPr>
        <p:grpSpPr>
          <a:xfrm>
            <a:off x="4425315" y="4056380"/>
            <a:ext cx="1441450" cy="803275"/>
            <a:chOff x="5236" y="1842"/>
            <a:chExt cx="2270" cy="1265"/>
          </a:xfrm>
        </p:grpSpPr>
        <p:sp>
          <p:nvSpPr>
            <p:cNvPr id="15" name="左右箭头 14"/>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16" name="文本框 15"/>
            <p:cNvSpPr txBox="1"/>
            <p:nvPr/>
          </p:nvSpPr>
          <p:spPr>
            <a:xfrm>
              <a:off x="5507" y="1842"/>
              <a:ext cx="1728" cy="580"/>
            </a:xfrm>
            <a:prstGeom prst="rect">
              <a:avLst/>
            </a:prstGeom>
            <a:noFill/>
          </p:spPr>
          <p:txBody>
            <a:bodyPr wrap="none" rtlCol="0">
              <a:spAutoFit/>
            </a:bodyPr>
            <a:lstStyle/>
            <a:p>
              <a:r>
                <a:rPr lang="zh-CN" altLang="en-US"/>
                <a:t>实时监测</a:t>
              </a:r>
            </a:p>
          </p:txBody>
        </p:sp>
      </p:grpSp>
      <p:grpSp>
        <p:nvGrpSpPr>
          <p:cNvPr id="17" name="组合 16"/>
          <p:cNvGrpSpPr/>
          <p:nvPr/>
        </p:nvGrpSpPr>
        <p:grpSpPr>
          <a:xfrm>
            <a:off x="7582535" y="1413510"/>
            <a:ext cx="1554480" cy="755015"/>
            <a:chOff x="5147" y="1918"/>
            <a:chExt cx="2448" cy="1189"/>
          </a:xfrm>
        </p:grpSpPr>
        <p:sp>
          <p:nvSpPr>
            <p:cNvPr id="19" name="左右箭头 18"/>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0" name="文本框 19"/>
            <p:cNvSpPr txBox="1"/>
            <p:nvPr/>
          </p:nvSpPr>
          <p:spPr>
            <a:xfrm>
              <a:off x="5147" y="1918"/>
              <a:ext cx="2448" cy="580"/>
            </a:xfrm>
            <a:prstGeom prst="rect">
              <a:avLst/>
            </a:prstGeom>
            <a:noFill/>
          </p:spPr>
          <p:txBody>
            <a:bodyPr wrap="none" rtlCol="0">
              <a:spAutoFit/>
            </a:bodyPr>
            <a:lstStyle/>
            <a:p>
              <a:r>
                <a:rPr lang="zh-CN" altLang="en-US"/>
                <a:t>历史数据建模</a:t>
              </a:r>
            </a:p>
          </p:txBody>
        </p:sp>
      </p:grpSp>
      <p:grpSp>
        <p:nvGrpSpPr>
          <p:cNvPr id="22" name="组合 21"/>
          <p:cNvGrpSpPr/>
          <p:nvPr/>
        </p:nvGrpSpPr>
        <p:grpSpPr>
          <a:xfrm>
            <a:off x="7582535" y="2644775"/>
            <a:ext cx="1554480" cy="755015"/>
            <a:chOff x="5147" y="1918"/>
            <a:chExt cx="2448" cy="1189"/>
          </a:xfrm>
        </p:grpSpPr>
        <p:sp>
          <p:nvSpPr>
            <p:cNvPr id="23" name="左右箭头 22"/>
            <p:cNvSpPr/>
            <p:nvPr/>
          </p:nvSpPr>
          <p:spPr>
            <a:xfrm>
              <a:off x="5236" y="2498"/>
              <a:ext cx="2270" cy="609"/>
            </a:xfrm>
            <a:prstGeom prst="lef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24" name="文本框 23"/>
            <p:cNvSpPr txBox="1"/>
            <p:nvPr/>
          </p:nvSpPr>
          <p:spPr>
            <a:xfrm>
              <a:off x="5147" y="1918"/>
              <a:ext cx="2448" cy="580"/>
            </a:xfrm>
            <a:prstGeom prst="rect">
              <a:avLst/>
            </a:prstGeom>
            <a:noFill/>
          </p:spPr>
          <p:txBody>
            <a:bodyPr wrap="none" rtlCol="0">
              <a:spAutoFit/>
            </a:bodyPr>
            <a:lstStyle/>
            <a:p>
              <a:r>
                <a:rPr lang="zh-CN" altLang="en-US"/>
                <a:t>故障处理指令</a:t>
              </a:r>
            </a:p>
          </p:txBody>
        </p:sp>
      </p:grpSp>
      <p:grpSp>
        <p:nvGrpSpPr>
          <p:cNvPr id="29" name="组合 28"/>
          <p:cNvGrpSpPr/>
          <p:nvPr/>
        </p:nvGrpSpPr>
        <p:grpSpPr>
          <a:xfrm>
            <a:off x="7639050" y="4056380"/>
            <a:ext cx="1441450" cy="803275"/>
            <a:chOff x="5236" y="1842"/>
            <a:chExt cx="2270" cy="1265"/>
          </a:xfrm>
        </p:grpSpPr>
        <p:sp>
          <p:nvSpPr>
            <p:cNvPr id="32" name="右箭头 31"/>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3" name="文本框 32"/>
            <p:cNvSpPr txBox="1"/>
            <p:nvPr/>
          </p:nvSpPr>
          <p:spPr>
            <a:xfrm>
              <a:off x="5507" y="1842"/>
              <a:ext cx="1728" cy="580"/>
            </a:xfrm>
            <a:prstGeom prst="rect">
              <a:avLst/>
            </a:prstGeom>
            <a:noFill/>
          </p:spPr>
          <p:txBody>
            <a:bodyPr wrap="none" rtlCol="0">
              <a:spAutoFit/>
            </a:bodyPr>
            <a:lstStyle/>
            <a:p>
              <a:r>
                <a:rPr lang="zh-CN" altLang="en-US"/>
                <a:t>异常上报</a:t>
              </a:r>
            </a:p>
          </p:txBody>
        </p:sp>
      </p:grpSp>
      <p:sp>
        <p:nvSpPr>
          <p:cNvPr id="52" name="圆角矩形 51"/>
          <p:cNvSpPr/>
          <p:nvPr/>
        </p:nvSpPr>
        <p:spPr>
          <a:xfrm>
            <a:off x="9450705" y="3013075"/>
            <a:ext cx="1017270" cy="1918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故障</a:t>
            </a:r>
          </a:p>
          <a:p>
            <a:pPr algn="ctr"/>
            <a:r>
              <a:rPr lang="zh-CN" altLang="en-US"/>
              <a:t>处理</a:t>
            </a:r>
          </a:p>
          <a:p>
            <a:pPr algn="ctr"/>
            <a:r>
              <a:rPr lang="zh-CN" altLang="en-US"/>
              <a:t>模块</a:t>
            </a:r>
          </a:p>
        </p:txBody>
      </p:sp>
      <p:pic>
        <p:nvPicPr>
          <p:cNvPr id="53" name="图片 52" descr="model_vrml_72px_1078125_easyicon.net"/>
          <p:cNvPicPr>
            <a:picLocks noChangeAspect="1"/>
          </p:cNvPicPr>
          <p:nvPr/>
        </p:nvPicPr>
        <p:blipFill>
          <a:blip r:embed="rId4"/>
          <a:stretch>
            <a:fillRect/>
          </a:stretch>
        </p:blipFill>
        <p:spPr>
          <a:xfrm>
            <a:off x="3046095" y="1791335"/>
            <a:ext cx="914400" cy="914400"/>
          </a:xfrm>
          <a:prstGeom prst="rect">
            <a:avLst/>
          </a:prstGeom>
        </p:spPr>
      </p:pic>
      <p:sp>
        <p:nvSpPr>
          <p:cNvPr id="54" name="文本框 53"/>
          <p:cNvSpPr txBox="1"/>
          <p:nvPr/>
        </p:nvSpPr>
        <p:spPr>
          <a:xfrm>
            <a:off x="2954020" y="2941955"/>
            <a:ext cx="1097280" cy="368300"/>
          </a:xfrm>
          <a:prstGeom prst="rect">
            <a:avLst/>
          </a:prstGeom>
          <a:noFill/>
        </p:spPr>
        <p:txBody>
          <a:bodyPr wrap="none" rtlCol="0">
            <a:spAutoFit/>
          </a:bodyPr>
          <a:lstStyle/>
          <a:p>
            <a:r>
              <a:rPr lang="zh-CN" altLang="en-US"/>
              <a:t>经验模型</a:t>
            </a:r>
          </a:p>
        </p:txBody>
      </p:sp>
      <p:pic>
        <p:nvPicPr>
          <p:cNvPr id="55" name="图片 54" descr="cogs_153.32620320856px_1185588_easyicon.net"/>
          <p:cNvPicPr>
            <a:picLocks noChangeAspect="1"/>
          </p:cNvPicPr>
          <p:nvPr/>
        </p:nvPicPr>
        <p:blipFill>
          <a:blip r:embed="rId5"/>
          <a:stretch>
            <a:fillRect/>
          </a:stretch>
        </p:blipFill>
        <p:spPr>
          <a:xfrm>
            <a:off x="2920365" y="3956050"/>
            <a:ext cx="1165860" cy="975360"/>
          </a:xfrm>
          <a:prstGeom prst="rect">
            <a:avLst/>
          </a:prstGeom>
        </p:spPr>
      </p:pic>
      <p:sp>
        <p:nvSpPr>
          <p:cNvPr id="56" name="文本框 55"/>
          <p:cNvSpPr txBox="1"/>
          <p:nvPr/>
        </p:nvSpPr>
        <p:spPr>
          <a:xfrm>
            <a:off x="2954655" y="5142865"/>
            <a:ext cx="1097280" cy="368300"/>
          </a:xfrm>
          <a:prstGeom prst="rect">
            <a:avLst/>
          </a:prstGeom>
          <a:noFill/>
        </p:spPr>
        <p:txBody>
          <a:bodyPr wrap="none" rtlCol="0">
            <a:spAutoFit/>
          </a:bodyPr>
          <a:lstStyle/>
          <a:p>
            <a:r>
              <a:rPr lang="zh-CN" altLang="en-US"/>
              <a:t>基础数据</a:t>
            </a:r>
          </a:p>
        </p:txBody>
      </p:sp>
      <p:sp>
        <p:nvSpPr>
          <p:cNvPr id="57" name="圆角矩形 56"/>
          <p:cNvSpPr/>
          <p:nvPr/>
        </p:nvSpPr>
        <p:spPr>
          <a:xfrm>
            <a:off x="9450705" y="1560830"/>
            <a:ext cx="1313815" cy="84518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场景保障模块</a:t>
            </a:r>
          </a:p>
        </p:txBody>
      </p:sp>
      <p:sp>
        <p:nvSpPr>
          <p:cNvPr id="58" name="左大括号 57"/>
          <p:cNvSpPr/>
          <p:nvPr/>
        </p:nvSpPr>
        <p:spPr>
          <a:xfrm>
            <a:off x="2450465" y="1843405"/>
            <a:ext cx="234950" cy="3478530"/>
          </a:xfrm>
          <a:prstGeom prst="leftBrace">
            <a:avLst>
              <a:gd name="adj1" fmla="val 19729"/>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59" name="圆角矩形 58"/>
          <p:cNvSpPr/>
          <p:nvPr/>
        </p:nvSpPr>
        <p:spPr>
          <a:xfrm>
            <a:off x="5728335" y="1412875"/>
            <a:ext cx="1830705" cy="4495800"/>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0" name="文本框 59"/>
          <p:cNvSpPr txBox="1"/>
          <p:nvPr/>
        </p:nvSpPr>
        <p:spPr>
          <a:xfrm>
            <a:off x="5638165" y="6055995"/>
            <a:ext cx="20116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决策系统核心模块</a:t>
            </a:r>
          </a:p>
        </p:txBody>
      </p:sp>
      <p:sp>
        <p:nvSpPr>
          <p:cNvPr id="38" name="文本框 37"/>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80543896"/>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决策</a:t>
            </a:r>
            <a:r>
              <a:rPr lang="zh-CN" altLang="en-US" dirty="0" smtClean="0">
                <a:solidFill>
                  <a:srgbClr val="333F50"/>
                </a:solidFill>
              </a:rPr>
              <a:t>系统</a:t>
            </a:r>
            <a:r>
              <a:rPr lang="en-US" altLang="zh-CN" dirty="0">
                <a:solidFill>
                  <a:srgbClr val="333F50"/>
                </a:solidFill>
              </a:rPr>
              <a:t>--&gt;</a:t>
            </a:r>
            <a:r>
              <a:rPr lang="zh-CN" altLang="en-US" dirty="0" smtClean="0">
                <a:solidFill>
                  <a:srgbClr val="333F50"/>
                </a:solidFill>
              </a:rPr>
              <a:t>自主学习模块</a:t>
            </a:r>
            <a:endParaRPr lang="zh-CN" altLang="en-US" dirty="0">
              <a:solidFill>
                <a:srgbClr val="333F50"/>
              </a:solidFill>
            </a:endParaRPr>
          </a:p>
        </p:txBody>
      </p:sp>
      <p:sp>
        <p:nvSpPr>
          <p:cNvPr id="2" name="文本框 1"/>
          <p:cNvSpPr txBox="1"/>
          <p:nvPr/>
        </p:nvSpPr>
        <p:spPr>
          <a:xfrm>
            <a:off x="1245235" y="1542415"/>
            <a:ext cx="9309735" cy="175323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algn="l">
              <a:lnSpc>
                <a:spcPct val="150000"/>
              </a:lnSpc>
            </a:pPr>
            <a:r>
              <a:rPr lang="zh-CN" altLang="en-US" dirty="0">
                <a:latin typeface="+mn-ea"/>
              </a:rPr>
              <a:t>    </a:t>
            </a:r>
            <a:r>
              <a:rPr lang="zh-CN" dirty="0">
                <a:effectLst/>
                <a:latin typeface="+mn-ea"/>
                <a:sym typeface="+mn-ea"/>
              </a:rPr>
              <a:t>该模块是网络大脑执行决策的控制核心，以现有经验库为依据</a:t>
            </a:r>
            <a:r>
              <a:rPr lang="zh-CN" dirty="0" smtClean="0">
                <a:effectLst/>
                <a:latin typeface="+mn-ea"/>
                <a:sym typeface="+mn-ea"/>
              </a:rPr>
              <a:t>，</a:t>
            </a:r>
            <a:r>
              <a:rPr lang="zh-CN" altLang="en-US" dirty="0" smtClean="0">
                <a:effectLst/>
                <a:latin typeface="+mn-ea"/>
                <a:sym typeface="+mn-ea"/>
              </a:rPr>
              <a:t>包含大量成熟的机器学习相关算法，</a:t>
            </a:r>
            <a:r>
              <a:rPr lang="zh-CN" altLang="en-US" dirty="0" smtClean="0">
                <a:latin typeface="+mn-ea"/>
                <a:sym typeface="+mn-ea"/>
              </a:rPr>
              <a:t>生成的学习模型为上层模块的数据在线分析、异常检测等应用场景提供支撑。</a:t>
            </a:r>
            <a:endParaRPr lang="zh-CN" dirty="0">
              <a:latin typeface="+mn-ea"/>
            </a:endParaRPr>
          </a:p>
        </p:txBody>
      </p:sp>
      <p:sp>
        <p:nvSpPr>
          <p:cNvPr id="5" name="文本框 4"/>
          <p:cNvSpPr txBox="1"/>
          <p:nvPr/>
        </p:nvSpPr>
        <p:spPr>
          <a:xfrm>
            <a:off x="1245235" y="3711575"/>
            <a:ext cx="3282315" cy="2168525"/>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数据挖掘</a:t>
            </a:r>
          </a:p>
          <a:p>
            <a:pPr indent="457200" algn="l">
              <a:lnSpc>
                <a:spcPct val="150000"/>
              </a:lnSpc>
            </a:pPr>
            <a:r>
              <a:rPr lang="zh-CN" altLang="en-US" dirty="0">
                <a:latin typeface="+mn-ea"/>
              </a:rPr>
              <a:t>    </a:t>
            </a:r>
            <a:r>
              <a:rPr lang="zh-CN" altLang="en-US" dirty="0">
                <a:effectLst/>
                <a:latin typeface="+mn-ea"/>
                <a:sym typeface="+mn-ea"/>
              </a:rPr>
              <a:t>规则制定</a:t>
            </a:r>
          </a:p>
          <a:p>
            <a:pPr indent="457200" algn="l">
              <a:lnSpc>
                <a:spcPct val="150000"/>
              </a:lnSpc>
            </a:pPr>
            <a:r>
              <a:rPr lang="zh-CN" altLang="en-US" dirty="0">
                <a:effectLst/>
                <a:latin typeface="+mn-ea"/>
                <a:sym typeface="+mn-ea"/>
              </a:rPr>
              <a:t>    风险评估</a:t>
            </a:r>
          </a:p>
          <a:p>
            <a:pPr indent="457200" algn="l">
              <a:lnSpc>
                <a:spcPct val="150000"/>
              </a:lnSpc>
            </a:pPr>
            <a:r>
              <a:rPr lang="zh-CN" altLang="en-US" dirty="0">
                <a:effectLst/>
                <a:latin typeface="+mn-ea"/>
                <a:sym typeface="+mn-ea"/>
              </a:rPr>
              <a:t>    行为选择。</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
        <p:nvSpPr>
          <p:cNvPr id="3" name="圆角矩形 2"/>
          <p:cNvSpPr/>
          <p:nvPr/>
        </p:nvSpPr>
        <p:spPr>
          <a:xfrm>
            <a:off x="6790690" y="5061585"/>
            <a:ext cx="1659890" cy="60452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历史经验数据</a:t>
            </a:r>
          </a:p>
        </p:txBody>
      </p:sp>
      <p:sp>
        <p:nvSpPr>
          <p:cNvPr id="8" name="圆角矩形 7"/>
          <p:cNvSpPr/>
          <p:nvPr/>
        </p:nvSpPr>
        <p:spPr>
          <a:xfrm>
            <a:off x="6930390" y="3554730"/>
            <a:ext cx="1380490" cy="7035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处理中心</a:t>
            </a:r>
          </a:p>
        </p:txBody>
      </p:sp>
      <p:sp>
        <p:nvSpPr>
          <p:cNvPr id="10" name="上箭头 9"/>
          <p:cNvSpPr/>
          <p:nvPr/>
        </p:nvSpPr>
        <p:spPr>
          <a:xfrm>
            <a:off x="7444740" y="4344035"/>
            <a:ext cx="351790" cy="63182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7742555" y="4538345"/>
            <a:ext cx="640080" cy="368300"/>
          </a:xfrm>
          <a:prstGeom prst="rect">
            <a:avLst/>
          </a:prstGeom>
          <a:noFill/>
        </p:spPr>
        <p:txBody>
          <a:bodyPr wrap="none" rtlCol="0">
            <a:spAutoFit/>
          </a:bodyPr>
          <a:lstStyle/>
          <a:p>
            <a:r>
              <a:rPr lang="zh-CN" altLang="en-US"/>
              <a:t>依据</a:t>
            </a:r>
          </a:p>
        </p:txBody>
      </p:sp>
      <p:sp>
        <p:nvSpPr>
          <p:cNvPr id="13" name="圆角矩形 12"/>
          <p:cNvSpPr/>
          <p:nvPr/>
        </p:nvSpPr>
        <p:spPr>
          <a:xfrm>
            <a:off x="4603115" y="3554730"/>
            <a:ext cx="1380490" cy="7035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场景保障</a:t>
            </a:r>
          </a:p>
        </p:txBody>
      </p:sp>
      <p:sp>
        <p:nvSpPr>
          <p:cNvPr id="14" name="左箭头 13"/>
          <p:cNvSpPr/>
          <p:nvPr/>
        </p:nvSpPr>
        <p:spPr>
          <a:xfrm>
            <a:off x="6069330" y="3743960"/>
            <a:ext cx="775970" cy="3251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6249035" y="3419475"/>
            <a:ext cx="640080" cy="368300"/>
          </a:xfrm>
          <a:prstGeom prst="rect">
            <a:avLst/>
          </a:prstGeom>
          <a:noFill/>
        </p:spPr>
        <p:txBody>
          <a:bodyPr wrap="none" rtlCol="0">
            <a:spAutoFit/>
          </a:bodyPr>
          <a:lstStyle/>
          <a:p>
            <a:r>
              <a:rPr lang="zh-CN" altLang="en-US"/>
              <a:t>建模</a:t>
            </a:r>
          </a:p>
        </p:txBody>
      </p:sp>
      <p:sp>
        <p:nvSpPr>
          <p:cNvPr id="16" name="圆角矩形 15"/>
          <p:cNvSpPr/>
          <p:nvPr/>
        </p:nvSpPr>
        <p:spPr>
          <a:xfrm>
            <a:off x="9584055" y="3554730"/>
            <a:ext cx="1380490" cy="70358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故障处理模块</a:t>
            </a:r>
          </a:p>
        </p:txBody>
      </p:sp>
      <p:sp>
        <p:nvSpPr>
          <p:cNvPr id="17" name="左箭头 16"/>
          <p:cNvSpPr/>
          <p:nvPr/>
        </p:nvSpPr>
        <p:spPr>
          <a:xfrm>
            <a:off x="8382635" y="3554730"/>
            <a:ext cx="1129665" cy="3251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8486775" y="3244850"/>
            <a:ext cx="1097280" cy="368300"/>
          </a:xfrm>
          <a:prstGeom prst="rect">
            <a:avLst/>
          </a:prstGeom>
          <a:noFill/>
        </p:spPr>
        <p:txBody>
          <a:bodyPr wrap="none" rtlCol="0">
            <a:spAutoFit/>
          </a:bodyPr>
          <a:lstStyle/>
          <a:p>
            <a:r>
              <a:rPr lang="zh-CN" altLang="en-US"/>
              <a:t>故障类型</a:t>
            </a:r>
          </a:p>
        </p:txBody>
      </p:sp>
      <p:sp>
        <p:nvSpPr>
          <p:cNvPr id="19" name="左箭头 18"/>
          <p:cNvSpPr/>
          <p:nvPr/>
        </p:nvSpPr>
        <p:spPr>
          <a:xfrm flipH="1">
            <a:off x="8382635" y="3933190"/>
            <a:ext cx="1129665" cy="32512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8310880" y="4170045"/>
            <a:ext cx="1097280" cy="368300"/>
          </a:xfrm>
          <a:prstGeom prst="rect">
            <a:avLst/>
          </a:prstGeom>
          <a:noFill/>
        </p:spPr>
        <p:txBody>
          <a:bodyPr wrap="none" rtlCol="0">
            <a:spAutoFit/>
          </a:bodyPr>
          <a:lstStyle/>
          <a:p>
            <a:r>
              <a:rPr lang="zh-CN" altLang="en-US"/>
              <a:t>解决方案</a:t>
            </a:r>
          </a:p>
        </p:txBody>
      </p:sp>
    </p:spTree>
    <p:extLst>
      <p:ext uri="{BB962C8B-B14F-4D97-AF65-F5344CB8AC3E}">
        <p14:creationId xmlns:p14="http://schemas.microsoft.com/office/powerpoint/2010/main" val="1708478983"/>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决策系统</a:t>
            </a:r>
            <a:r>
              <a:rPr lang="en-US" altLang="zh-CN" dirty="0">
                <a:solidFill>
                  <a:srgbClr val="333F50"/>
                </a:solidFill>
              </a:rPr>
              <a:t>--&gt;</a:t>
            </a:r>
            <a:r>
              <a:rPr lang="zh-CN" altLang="en-US" dirty="0" smtClean="0">
                <a:solidFill>
                  <a:srgbClr val="333F50"/>
                </a:solidFill>
              </a:rPr>
              <a:t>业务管理模块</a:t>
            </a:r>
            <a:endParaRPr lang="zh-CN" altLang="en-US" dirty="0">
              <a:solidFill>
                <a:srgbClr val="333F50"/>
              </a:solidFill>
            </a:endParaRPr>
          </a:p>
        </p:txBody>
      </p:sp>
      <p:sp>
        <p:nvSpPr>
          <p:cNvPr id="2" name="文本框 1"/>
          <p:cNvSpPr txBox="1"/>
          <p:nvPr/>
        </p:nvSpPr>
        <p:spPr>
          <a:xfrm>
            <a:off x="1245235" y="1542415"/>
            <a:ext cx="9309735" cy="216852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网维中心各部门数据的格式、类型等不同，数据无法有效的被整合、归类。数据存储、管理、利用与分析工作效率低下。</a:t>
            </a:r>
          </a:p>
          <a:p>
            <a:pPr indent="457200" fontAlgn="auto">
              <a:lnSpc>
                <a:spcPct val="150000"/>
              </a:lnSpc>
              <a:spcBef>
                <a:spcPts val="0"/>
              </a:spcBef>
              <a:spcAft>
                <a:spcPts val="0"/>
              </a:spcAft>
              <a:defRPr/>
            </a:pPr>
            <a:r>
              <a:rPr lang="zh-CN" altLang="en-US" dirty="0">
                <a:latin typeface="+mn-ea"/>
                <a:sym typeface="+mn-ea"/>
              </a:rPr>
              <a:t>    业务查询模块为各部门提供开放的数据接口，</a:t>
            </a:r>
            <a:r>
              <a:rPr lang="zh-CN" altLang="en-US" dirty="0" smtClean="0">
                <a:latin typeface="+mn-ea"/>
                <a:sym typeface="+mn-ea"/>
              </a:rPr>
              <a:t>对</a:t>
            </a:r>
            <a:r>
              <a:rPr lang="zh-CN" altLang="en-US" dirty="0">
                <a:latin typeface="+mn-ea"/>
                <a:sym typeface="+mn-ea"/>
              </a:rPr>
              <a:t>业务</a:t>
            </a:r>
            <a:r>
              <a:rPr lang="zh-CN" altLang="en-US" dirty="0" smtClean="0">
                <a:latin typeface="+mn-ea"/>
                <a:sym typeface="+mn-ea"/>
              </a:rPr>
              <a:t>流量及用户体验情况</a:t>
            </a:r>
            <a:r>
              <a:rPr lang="zh-CN" altLang="en-US" dirty="0">
                <a:latin typeface="+mn-ea"/>
                <a:sym typeface="+mn-ea"/>
              </a:rPr>
              <a:t>进行实时主动的监控</a:t>
            </a:r>
            <a:r>
              <a:rPr lang="zh-CN" altLang="en-US" dirty="0" smtClean="0">
                <a:latin typeface="+mn-ea"/>
                <a:sym typeface="+mn-ea"/>
              </a:rPr>
              <a:t>管理，提高工作效率</a:t>
            </a:r>
            <a:r>
              <a:rPr lang="zh-CN" altLang="en-US" dirty="0">
                <a:latin typeface="+mn-ea"/>
                <a:sym typeface="+mn-ea"/>
              </a:rPr>
              <a:t>。</a:t>
            </a:r>
            <a:endParaRPr lang="zh-CN" dirty="0">
              <a:latin typeface="+mn-ea"/>
            </a:endParaRPr>
          </a:p>
        </p:txBody>
      </p:sp>
      <p:sp>
        <p:nvSpPr>
          <p:cNvPr id="5" name="文本框 4"/>
          <p:cNvSpPr txBox="1"/>
          <p:nvPr/>
        </p:nvSpPr>
        <p:spPr>
          <a:xfrm>
            <a:off x="1245235" y="4221480"/>
            <a:ext cx="2921635" cy="1753235"/>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指标归类整合</a:t>
            </a:r>
          </a:p>
          <a:p>
            <a:pPr indent="457200" algn="l">
              <a:lnSpc>
                <a:spcPct val="150000"/>
              </a:lnSpc>
            </a:pPr>
            <a:r>
              <a:rPr lang="zh-CN" altLang="en-US" dirty="0">
                <a:effectLst/>
                <a:latin typeface="+mn-ea"/>
                <a:sym typeface="+mn-ea"/>
              </a:rPr>
              <a:t>    实时自主监控</a:t>
            </a:r>
          </a:p>
          <a:p>
            <a:pPr indent="457200" algn="l">
              <a:lnSpc>
                <a:spcPct val="150000"/>
              </a:lnSpc>
            </a:pPr>
            <a:r>
              <a:rPr lang="zh-CN" altLang="en-US" dirty="0">
                <a:effectLst/>
                <a:latin typeface="+mn-ea"/>
                <a:sym typeface="+mn-ea"/>
              </a:rPr>
              <a:t>    报表自动生成。</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71" name="组合 70"/>
          <p:cNvGrpSpPr/>
          <p:nvPr/>
        </p:nvGrpSpPr>
        <p:grpSpPr>
          <a:xfrm>
            <a:off x="4684395" y="3622040"/>
            <a:ext cx="7423150" cy="2290445"/>
            <a:chOff x="6837" y="6027"/>
            <a:chExt cx="11690" cy="3607"/>
          </a:xfrm>
        </p:grpSpPr>
        <p:sp>
          <p:nvSpPr>
            <p:cNvPr id="45" name="圆角矩形 44"/>
            <p:cNvSpPr/>
            <p:nvPr/>
          </p:nvSpPr>
          <p:spPr>
            <a:xfrm>
              <a:off x="10836" y="8682"/>
              <a:ext cx="2614" cy="9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网络基础数据</a:t>
              </a:r>
            </a:p>
          </p:txBody>
        </p:sp>
        <p:sp>
          <p:nvSpPr>
            <p:cNvPr id="46" name="圆角矩形 45"/>
            <p:cNvSpPr/>
            <p:nvPr/>
          </p:nvSpPr>
          <p:spPr>
            <a:xfrm>
              <a:off x="11056" y="6309"/>
              <a:ext cx="2174" cy="11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处理中心</a:t>
              </a:r>
            </a:p>
          </p:txBody>
        </p:sp>
        <p:sp>
          <p:nvSpPr>
            <p:cNvPr id="47" name="上箭头 46"/>
            <p:cNvSpPr/>
            <p:nvPr/>
          </p:nvSpPr>
          <p:spPr>
            <a:xfrm>
              <a:off x="11866" y="7552"/>
              <a:ext cx="554" cy="99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12335" y="7858"/>
              <a:ext cx="1008" cy="580"/>
            </a:xfrm>
            <a:prstGeom prst="rect">
              <a:avLst/>
            </a:prstGeom>
            <a:noFill/>
          </p:spPr>
          <p:txBody>
            <a:bodyPr wrap="none" rtlCol="0">
              <a:spAutoFit/>
            </a:bodyPr>
            <a:lstStyle/>
            <a:p>
              <a:r>
                <a:rPr lang="zh-CN" altLang="en-US"/>
                <a:t>监控</a:t>
              </a:r>
            </a:p>
          </p:txBody>
        </p:sp>
        <p:sp>
          <p:nvSpPr>
            <p:cNvPr id="49" name="圆角矩形 48"/>
            <p:cNvSpPr/>
            <p:nvPr/>
          </p:nvSpPr>
          <p:spPr>
            <a:xfrm>
              <a:off x="6837" y="6309"/>
              <a:ext cx="2174" cy="11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数据报表</a:t>
              </a:r>
            </a:p>
          </p:txBody>
        </p:sp>
        <p:sp>
          <p:nvSpPr>
            <p:cNvPr id="52" name="圆角矩形 51"/>
            <p:cNvSpPr/>
            <p:nvPr/>
          </p:nvSpPr>
          <p:spPr>
            <a:xfrm>
              <a:off x="15235" y="6309"/>
              <a:ext cx="2174" cy="110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故障处理模块</a:t>
              </a:r>
            </a:p>
          </p:txBody>
        </p:sp>
        <p:sp>
          <p:nvSpPr>
            <p:cNvPr id="53" name="左箭头 52"/>
            <p:cNvSpPr/>
            <p:nvPr/>
          </p:nvSpPr>
          <p:spPr>
            <a:xfrm flipH="1">
              <a:off x="13343" y="6607"/>
              <a:ext cx="1779" cy="51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13230" y="6972"/>
              <a:ext cx="1728" cy="580"/>
            </a:xfrm>
            <a:prstGeom prst="rect">
              <a:avLst/>
            </a:prstGeom>
            <a:noFill/>
          </p:spPr>
          <p:txBody>
            <a:bodyPr wrap="none" rtlCol="0">
              <a:spAutoFit/>
            </a:bodyPr>
            <a:lstStyle/>
            <a:p>
              <a:r>
                <a:rPr lang="zh-CN" altLang="en-US"/>
                <a:t>发现异常</a:t>
              </a:r>
            </a:p>
          </p:txBody>
        </p:sp>
        <p:sp>
          <p:nvSpPr>
            <p:cNvPr id="55" name="文本框 54"/>
            <p:cNvSpPr txBox="1"/>
            <p:nvPr/>
          </p:nvSpPr>
          <p:spPr>
            <a:xfrm>
              <a:off x="13590" y="6027"/>
              <a:ext cx="1008" cy="580"/>
            </a:xfrm>
            <a:prstGeom prst="rect">
              <a:avLst/>
            </a:prstGeom>
            <a:noFill/>
          </p:spPr>
          <p:txBody>
            <a:bodyPr wrap="none" rtlCol="0">
              <a:spAutoFit/>
            </a:bodyPr>
            <a:lstStyle/>
            <a:p>
              <a:r>
                <a:rPr lang="zh-CN" altLang="en-US"/>
                <a:t>上报</a:t>
              </a:r>
            </a:p>
          </p:txBody>
        </p:sp>
        <p:sp>
          <p:nvSpPr>
            <p:cNvPr id="56" name="圆角右箭头 55"/>
            <p:cNvSpPr/>
            <p:nvPr/>
          </p:nvSpPr>
          <p:spPr>
            <a:xfrm rot="10800000">
              <a:off x="13590" y="7682"/>
              <a:ext cx="2290" cy="1727"/>
            </a:xfrm>
            <a:prstGeom prst="bentArrow">
              <a:avLst>
                <a:gd name="adj1" fmla="val 14457"/>
                <a:gd name="adj2" fmla="val 14048"/>
                <a:gd name="adj3" fmla="val 21565"/>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7" name="文本框 56"/>
            <p:cNvSpPr txBox="1"/>
            <p:nvPr/>
          </p:nvSpPr>
          <p:spPr>
            <a:xfrm>
              <a:off x="16079" y="8138"/>
              <a:ext cx="2448" cy="1016"/>
            </a:xfrm>
            <a:prstGeom prst="rect">
              <a:avLst/>
            </a:prstGeom>
            <a:noFill/>
          </p:spPr>
          <p:txBody>
            <a:bodyPr wrap="none" rtlCol="0">
              <a:spAutoFit/>
            </a:bodyPr>
            <a:lstStyle/>
            <a:p>
              <a:r>
                <a:rPr lang="zh-CN" altLang="en-US"/>
                <a:t>处理完成</a:t>
              </a:r>
            </a:p>
            <a:p>
              <a:r>
                <a:rPr lang="zh-CN" altLang="en-US"/>
                <a:t>数据恢复正常</a:t>
              </a:r>
            </a:p>
          </p:txBody>
        </p:sp>
        <p:sp>
          <p:nvSpPr>
            <p:cNvPr id="69" name="左箭头 68"/>
            <p:cNvSpPr/>
            <p:nvPr/>
          </p:nvSpPr>
          <p:spPr>
            <a:xfrm>
              <a:off x="9144" y="6607"/>
              <a:ext cx="1779" cy="51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9011" y="6027"/>
              <a:ext cx="2088" cy="580"/>
            </a:xfrm>
            <a:prstGeom prst="rect">
              <a:avLst/>
            </a:prstGeom>
            <a:noFill/>
          </p:spPr>
          <p:txBody>
            <a:bodyPr wrap="none" rtlCol="0">
              <a:spAutoFit/>
            </a:bodyPr>
            <a:lstStyle/>
            <a:p>
              <a:r>
                <a:rPr lang="zh-CN" altLang="en-US"/>
                <a:t>周期性导出</a:t>
              </a:r>
            </a:p>
          </p:txBody>
        </p:sp>
      </p:grpSp>
      <p:sp>
        <p:nvSpPr>
          <p:cNvPr id="72" name="文本框 71"/>
          <p:cNvSpPr txBox="1"/>
          <p:nvPr/>
        </p:nvSpPr>
        <p:spPr>
          <a:xfrm>
            <a:off x="6279515" y="4222115"/>
            <a:ext cx="868680" cy="368300"/>
          </a:xfrm>
          <a:prstGeom prst="rect">
            <a:avLst/>
          </a:prstGeom>
          <a:noFill/>
        </p:spPr>
        <p:txBody>
          <a:bodyPr wrap="none" rtlCol="0">
            <a:spAutoFit/>
          </a:bodyPr>
          <a:lstStyle/>
          <a:p>
            <a:r>
              <a:rPr lang="zh-CN" altLang="en-US"/>
              <a:t>无异常</a:t>
            </a:r>
          </a:p>
        </p:txBody>
      </p:sp>
    </p:spTree>
    <p:extLst>
      <p:ext uri="{BB962C8B-B14F-4D97-AF65-F5344CB8AC3E}">
        <p14:creationId xmlns:p14="http://schemas.microsoft.com/office/powerpoint/2010/main" val="4012698520"/>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smtClean="0">
                <a:solidFill>
                  <a:srgbClr val="333F50"/>
                </a:solidFill>
              </a:rPr>
              <a:t>控制系统</a:t>
            </a:r>
            <a:endParaRPr lang="zh-CN" altLang="en-US" dirty="0">
              <a:solidFill>
                <a:srgbClr val="333F50"/>
              </a:solidFill>
            </a:endParaRPr>
          </a:p>
        </p:txBody>
      </p:sp>
      <p:grpSp>
        <p:nvGrpSpPr>
          <p:cNvPr id="59" name="组合 58"/>
          <p:cNvGrpSpPr/>
          <p:nvPr/>
        </p:nvGrpSpPr>
        <p:grpSpPr>
          <a:xfrm>
            <a:off x="1684020" y="1809750"/>
            <a:ext cx="7820025" cy="3445510"/>
            <a:chOff x="2580" y="2211"/>
            <a:chExt cx="12315" cy="5426"/>
          </a:xfrm>
        </p:grpSpPr>
        <p:grpSp>
          <p:nvGrpSpPr>
            <p:cNvPr id="28" name="组合 27"/>
            <p:cNvGrpSpPr/>
            <p:nvPr/>
          </p:nvGrpSpPr>
          <p:grpSpPr>
            <a:xfrm>
              <a:off x="5155" y="2211"/>
              <a:ext cx="2270" cy="1189"/>
              <a:chOff x="5236" y="1918"/>
              <a:chExt cx="2270" cy="1189"/>
            </a:xfrm>
          </p:grpSpPr>
          <p:sp>
            <p:nvSpPr>
              <p:cNvPr id="34" name="右箭头 33"/>
              <p:cNvSpPr/>
              <p:nvPr/>
            </p:nvSpPr>
            <p:spPr>
              <a:xfrm>
                <a:off x="5236" y="2498"/>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35" name="文本框 34"/>
              <p:cNvSpPr txBox="1"/>
              <p:nvPr/>
            </p:nvSpPr>
            <p:spPr>
              <a:xfrm>
                <a:off x="5403" y="1918"/>
                <a:ext cx="1728" cy="580"/>
              </a:xfrm>
              <a:prstGeom prst="rect">
                <a:avLst/>
              </a:prstGeom>
              <a:noFill/>
            </p:spPr>
            <p:txBody>
              <a:bodyPr wrap="none" rtlCol="0">
                <a:spAutoFit/>
              </a:bodyPr>
              <a:lstStyle/>
              <a:p>
                <a:r>
                  <a:rPr lang="zh-CN" altLang="en-US"/>
                  <a:t>决策指令</a:t>
                </a:r>
              </a:p>
            </p:txBody>
          </p:sp>
        </p:grpSp>
        <p:sp>
          <p:nvSpPr>
            <p:cNvPr id="38" name="右箭头 37"/>
            <p:cNvSpPr/>
            <p:nvPr/>
          </p:nvSpPr>
          <p:spPr>
            <a:xfrm>
              <a:off x="5155" y="4730"/>
              <a:ext cx="2270"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1" name="右箭头 40"/>
            <p:cNvSpPr/>
            <p:nvPr/>
          </p:nvSpPr>
          <p:spPr>
            <a:xfrm>
              <a:off x="5133" y="6666"/>
              <a:ext cx="7315"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3" name="圆角矩形 42"/>
            <p:cNvSpPr/>
            <p:nvPr/>
          </p:nvSpPr>
          <p:spPr>
            <a:xfrm>
              <a:off x="7681" y="4367"/>
              <a:ext cx="2069" cy="1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故障处理</a:t>
              </a:r>
            </a:p>
            <a:p>
              <a:pPr algn="ctr"/>
              <a:r>
                <a:rPr lang="zh-CN" altLang="en-US"/>
                <a:t>模块</a:t>
              </a:r>
            </a:p>
          </p:txBody>
        </p:sp>
        <p:sp>
          <p:nvSpPr>
            <p:cNvPr id="44" name="圆角矩形 43"/>
            <p:cNvSpPr/>
            <p:nvPr/>
          </p:nvSpPr>
          <p:spPr>
            <a:xfrm>
              <a:off x="7681" y="2430"/>
              <a:ext cx="2069" cy="1331"/>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场景保障模块</a:t>
              </a:r>
            </a:p>
          </p:txBody>
        </p:sp>
        <p:sp>
          <p:nvSpPr>
            <p:cNvPr id="45" name="圆角矩形 44"/>
            <p:cNvSpPr/>
            <p:nvPr/>
          </p:nvSpPr>
          <p:spPr>
            <a:xfrm>
              <a:off x="2580" y="6303"/>
              <a:ext cx="2069" cy="133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业务管理</a:t>
              </a:r>
            </a:p>
            <a:p>
              <a:pPr algn="ctr"/>
              <a:r>
                <a:rPr lang="zh-CN" altLang="en-US"/>
                <a:t>模块</a:t>
              </a:r>
            </a:p>
          </p:txBody>
        </p:sp>
        <p:sp>
          <p:nvSpPr>
            <p:cNvPr id="46" name="圆角矩形 45"/>
            <p:cNvSpPr/>
            <p:nvPr/>
          </p:nvSpPr>
          <p:spPr>
            <a:xfrm>
              <a:off x="2580" y="2430"/>
              <a:ext cx="2069" cy="3272"/>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决策系统</a:t>
              </a:r>
            </a:p>
          </p:txBody>
        </p:sp>
        <p:sp>
          <p:nvSpPr>
            <p:cNvPr id="47" name="右箭头 46"/>
            <p:cNvSpPr/>
            <p:nvPr/>
          </p:nvSpPr>
          <p:spPr>
            <a:xfrm>
              <a:off x="10050" y="2791"/>
              <a:ext cx="239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8" name="右箭头 47"/>
            <p:cNvSpPr/>
            <p:nvPr/>
          </p:nvSpPr>
          <p:spPr>
            <a:xfrm>
              <a:off x="10050" y="4730"/>
              <a:ext cx="2398" cy="609"/>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sp>
          <p:nvSpPr>
            <p:cNvPr id="49" name="文本框 48"/>
            <p:cNvSpPr txBox="1"/>
            <p:nvPr/>
          </p:nvSpPr>
          <p:spPr>
            <a:xfrm>
              <a:off x="10141" y="2211"/>
              <a:ext cx="2088" cy="580"/>
            </a:xfrm>
            <a:prstGeom prst="rect">
              <a:avLst/>
            </a:prstGeom>
            <a:noFill/>
          </p:spPr>
          <p:txBody>
            <a:bodyPr wrap="none" rtlCol="0">
              <a:spAutoFit/>
            </a:bodyPr>
            <a:lstStyle/>
            <a:p>
              <a:r>
                <a:rPr lang="zh-CN" altLang="en-US"/>
                <a:t>可视化呈现</a:t>
              </a:r>
            </a:p>
          </p:txBody>
        </p:sp>
        <p:sp>
          <p:nvSpPr>
            <p:cNvPr id="50" name="圆角矩形 49"/>
            <p:cNvSpPr/>
            <p:nvPr/>
          </p:nvSpPr>
          <p:spPr>
            <a:xfrm>
              <a:off x="12827" y="2430"/>
              <a:ext cx="2069" cy="520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用户</a:t>
              </a:r>
            </a:p>
            <a:p>
              <a:pPr algn="ctr"/>
              <a:r>
                <a:rPr lang="zh-CN" altLang="en-US"/>
                <a:t>呈现</a:t>
              </a:r>
            </a:p>
            <a:p>
              <a:pPr algn="ctr"/>
              <a:r>
                <a:rPr lang="zh-CN" altLang="en-US"/>
                <a:t>模块</a:t>
              </a:r>
            </a:p>
          </p:txBody>
        </p:sp>
      </p:grpSp>
      <p:sp>
        <p:nvSpPr>
          <p:cNvPr id="60" name="圆角矩形 59"/>
          <p:cNvSpPr/>
          <p:nvPr/>
        </p:nvSpPr>
        <p:spPr>
          <a:xfrm>
            <a:off x="4760595" y="1503680"/>
            <a:ext cx="5026025" cy="4158615"/>
          </a:xfrm>
          <a:prstGeom prst="roundRect">
            <a:avLst/>
          </a:prstGeom>
          <a:noFill/>
          <a:ln w="28575">
            <a:prstDash val="lgDash"/>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1" name="文本框 60"/>
          <p:cNvSpPr txBox="1"/>
          <p:nvPr/>
        </p:nvSpPr>
        <p:spPr>
          <a:xfrm>
            <a:off x="6268085" y="5932805"/>
            <a:ext cx="2011680" cy="368300"/>
          </a:xfrm>
          <a:prstGeom prst="rect">
            <a:avLst/>
          </a:prstGeom>
          <a:noFill/>
        </p:spPr>
        <p:txBody>
          <a:bodyPr wrap="none" rtlCol="0">
            <a:spAutoFit/>
          </a:bodyPr>
          <a:lstStyle/>
          <a:p>
            <a:r>
              <a:rPr lang="zh-CN" altLang="en-US" b="1">
                <a:solidFill>
                  <a:schemeClr val="accent1"/>
                </a:solidFill>
                <a:effectLst>
                  <a:outerShdw blurRad="38100" dist="25400" dir="5400000" algn="ctr" rotWithShape="0">
                    <a:srgbClr val="6E747A">
                      <a:alpha val="43000"/>
                    </a:srgbClr>
                  </a:outerShdw>
                </a:effectLst>
              </a:rPr>
              <a:t>控制系统核心模块</a:t>
            </a:r>
          </a:p>
        </p:txBody>
      </p:sp>
      <p:sp>
        <p:nvSpPr>
          <p:cNvPr id="23" name="文本框 22"/>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75670304"/>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控制</a:t>
            </a:r>
            <a:r>
              <a:rPr lang="zh-CN" altLang="en-US" dirty="0" smtClean="0">
                <a:solidFill>
                  <a:srgbClr val="333F50"/>
                </a:solidFill>
              </a:rPr>
              <a:t>系统</a:t>
            </a:r>
            <a:r>
              <a:rPr lang="en-US" altLang="zh-CN" dirty="0">
                <a:solidFill>
                  <a:srgbClr val="333F50"/>
                </a:solidFill>
              </a:rPr>
              <a:t>--&gt;</a:t>
            </a:r>
            <a:r>
              <a:rPr lang="zh-CN" altLang="en-US" dirty="0" smtClean="0">
                <a:solidFill>
                  <a:srgbClr val="333F50"/>
                </a:solidFill>
              </a:rPr>
              <a:t>场景保障模块</a:t>
            </a:r>
            <a:endParaRPr lang="zh-CN" altLang="en-US" dirty="0">
              <a:solidFill>
                <a:srgbClr val="333F50"/>
              </a:solidFill>
            </a:endParaRPr>
          </a:p>
        </p:txBody>
      </p:sp>
      <p:sp>
        <p:nvSpPr>
          <p:cNvPr id="2" name="文本框 1"/>
          <p:cNvSpPr txBox="1"/>
          <p:nvPr/>
        </p:nvSpPr>
        <p:spPr>
          <a:xfrm>
            <a:off x="1245235" y="1542415"/>
            <a:ext cx="9309735" cy="1705403"/>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该模块通过对历史数据建模分析，预测场景话务，评估资源瓶颈，主动优化调整，扭转传统场景保障只能被动监控应急处理的局面，可基于样本点的网络质量指标，自动统计问题小区与弱覆盖区域。</a:t>
            </a:r>
            <a:endParaRPr lang="zh-CN" dirty="0">
              <a:latin typeface="+mn-ea"/>
            </a:endParaRPr>
          </a:p>
        </p:txBody>
      </p:sp>
      <p:sp>
        <p:nvSpPr>
          <p:cNvPr id="5" name="文本框 4"/>
          <p:cNvSpPr txBox="1"/>
          <p:nvPr/>
        </p:nvSpPr>
        <p:spPr>
          <a:xfrm>
            <a:off x="1245235" y="3804285"/>
            <a:ext cx="3255010" cy="2168525"/>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场景预测</a:t>
            </a:r>
          </a:p>
          <a:p>
            <a:pPr indent="457200" algn="l">
              <a:lnSpc>
                <a:spcPct val="150000"/>
              </a:lnSpc>
            </a:pPr>
            <a:r>
              <a:rPr lang="zh-CN" altLang="en-US" dirty="0">
                <a:effectLst/>
                <a:latin typeface="+mn-ea"/>
                <a:sym typeface="+mn-ea"/>
              </a:rPr>
              <a:t>    网络结构优化</a:t>
            </a:r>
          </a:p>
          <a:p>
            <a:pPr indent="457200" algn="l">
              <a:lnSpc>
                <a:spcPct val="150000"/>
              </a:lnSpc>
            </a:pPr>
            <a:r>
              <a:rPr lang="zh-CN" altLang="en-US" dirty="0">
                <a:effectLst/>
                <a:latin typeface="+mn-ea"/>
                <a:sym typeface="+mn-ea"/>
              </a:rPr>
              <a:t>    投诉预警与回溯分析</a:t>
            </a:r>
          </a:p>
          <a:p>
            <a:pPr indent="457200" algn="l">
              <a:lnSpc>
                <a:spcPct val="150000"/>
              </a:lnSpc>
            </a:pPr>
            <a:r>
              <a:rPr lang="zh-CN" altLang="en-US" dirty="0">
                <a:effectLst/>
                <a:latin typeface="+mn-ea"/>
                <a:sym typeface="+mn-ea"/>
              </a:rPr>
              <a:t>    重要场景应用。</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grpSp>
        <p:nvGrpSpPr>
          <p:cNvPr id="22" name="组合 21"/>
          <p:cNvGrpSpPr/>
          <p:nvPr/>
        </p:nvGrpSpPr>
        <p:grpSpPr>
          <a:xfrm>
            <a:off x="5272405" y="2985770"/>
            <a:ext cx="6251575" cy="3129915"/>
            <a:chOff x="6924" y="4844"/>
            <a:chExt cx="9845" cy="4929"/>
          </a:xfrm>
        </p:grpSpPr>
        <p:sp>
          <p:nvSpPr>
            <p:cNvPr id="8" name="矩形 7"/>
            <p:cNvSpPr/>
            <p:nvPr/>
          </p:nvSpPr>
          <p:spPr>
            <a:xfrm>
              <a:off x="6924" y="4844"/>
              <a:ext cx="2826"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全网样本数据</a:t>
              </a:r>
            </a:p>
          </p:txBody>
        </p:sp>
        <p:sp>
          <p:nvSpPr>
            <p:cNvPr id="10" name="矩形 9"/>
            <p:cNvSpPr/>
            <p:nvPr/>
          </p:nvSpPr>
          <p:spPr>
            <a:xfrm>
              <a:off x="6924" y="6210"/>
              <a:ext cx="2826"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精准位置定位</a:t>
              </a:r>
            </a:p>
          </p:txBody>
        </p:sp>
        <p:sp>
          <p:nvSpPr>
            <p:cNvPr id="11" name="矩形 10"/>
            <p:cNvSpPr/>
            <p:nvPr/>
          </p:nvSpPr>
          <p:spPr>
            <a:xfrm>
              <a:off x="6924" y="7505"/>
              <a:ext cx="2826"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RSRP</a:t>
              </a:r>
              <a:r>
                <a:rPr lang="zh-CN" altLang="en-US"/>
                <a:t>等网络参数</a:t>
              </a:r>
            </a:p>
          </p:txBody>
        </p:sp>
        <p:sp>
          <p:nvSpPr>
            <p:cNvPr id="12" name="矩形 11"/>
            <p:cNvSpPr/>
            <p:nvPr/>
          </p:nvSpPr>
          <p:spPr>
            <a:xfrm>
              <a:off x="6924" y="8835"/>
              <a:ext cx="2826"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小区工参信息</a:t>
              </a:r>
            </a:p>
          </p:txBody>
        </p:sp>
        <p:sp>
          <p:nvSpPr>
            <p:cNvPr id="13" name="矩形 12"/>
            <p:cNvSpPr/>
            <p:nvPr/>
          </p:nvSpPr>
          <p:spPr>
            <a:xfrm>
              <a:off x="10836" y="6876"/>
              <a:ext cx="2245" cy="9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样本特征集</a:t>
              </a:r>
            </a:p>
          </p:txBody>
        </p:sp>
        <p:cxnSp>
          <p:nvCxnSpPr>
            <p:cNvPr id="14" name="直接连接符 13"/>
            <p:cNvCxnSpPr>
              <a:stCxn id="8" idx="3"/>
              <a:endCxn id="13" idx="1"/>
            </p:cNvCxnSpPr>
            <p:nvPr/>
          </p:nvCxnSpPr>
          <p:spPr>
            <a:xfrm>
              <a:off x="9750" y="5313"/>
              <a:ext cx="1086" cy="203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0" idx="3"/>
              <a:endCxn id="13" idx="1"/>
            </p:cNvCxnSpPr>
            <p:nvPr/>
          </p:nvCxnSpPr>
          <p:spPr>
            <a:xfrm>
              <a:off x="9750" y="6679"/>
              <a:ext cx="1086" cy="666"/>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11" idx="3"/>
            </p:cNvCxnSpPr>
            <p:nvPr/>
          </p:nvCxnSpPr>
          <p:spPr>
            <a:xfrm flipV="1">
              <a:off x="9750" y="7374"/>
              <a:ext cx="1028" cy="60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12" idx="3"/>
              <a:endCxn id="13" idx="1"/>
            </p:cNvCxnSpPr>
            <p:nvPr/>
          </p:nvCxnSpPr>
          <p:spPr>
            <a:xfrm flipV="1">
              <a:off x="9750" y="7345"/>
              <a:ext cx="1086" cy="195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流程图: 决策 17"/>
            <p:cNvSpPr/>
            <p:nvPr/>
          </p:nvSpPr>
          <p:spPr>
            <a:xfrm>
              <a:off x="13990" y="6825"/>
              <a:ext cx="2732" cy="104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逻辑</a:t>
              </a:r>
            </a:p>
            <a:p>
              <a:pPr algn="ctr"/>
              <a:r>
                <a:rPr lang="zh-CN" altLang="en-US"/>
                <a:t>判断</a:t>
              </a:r>
            </a:p>
          </p:txBody>
        </p:sp>
        <p:sp>
          <p:nvSpPr>
            <p:cNvPr id="19" name="矩形 18"/>
            <p:cNvSpPr/>
            <p:nvPr/>
          </p:nvSpPr>
          <p:spPr>
            <a:xfrm>
              <a:off x="13943" y="8638"/>
              <a:ext cx="2826" cy="113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自动化分析</a:t>
              </a:r>
            </a:p>
            <a:p>
              <a:pPr algn="ctr"/>
              <a:r>
                <a:rPr lang="zh-CN" altLang="en-US"/>
                <a:t>问题小区</a:t>
              </a:r>
            </a:p>
          </p:txBody>
        </p:sp>
        <p:cxnSp>
          <p:nvCxnSpPr>
            <p:cNvPr id="20" name="直接箭头连接符 19"/>
            <p:cNvCxnSpPr>
              <a:stCxn id="13" idx="3"/>
              <a:endCxn id="18" idx="1"/>
            </p:cNvCxnSpPr>
            <p:nvPr/>
          </p:nvCxnSpPr>
          <p:spPr>
            <a:xfrm>
              <a:off x="13081" y="7345"/>
              <a:ext cx="90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8" idx="2"/>
              <a:endCxn id="19" idx="0"/>
            </p:cNvCxnSpPr>
            <p:nvPr/>
          </p:nvCxnSpPr>
          <p:spPr>
            <a:xfrm>
              <a:off x="15356" y="7865"/>
              <a:ext cx="0" cy="773"/>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33164725"/>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控制系统</a:t>
            </a:r>
            <a:r>
              <a:rPr lang="en-US" altLang="zh-CN" dirty="0">
                <a:solidFill>
                  <a:srgbClr val="333F50"/>
                </a:solidFill>
              </a:rPr>
              <a:t>--&gt;</a:t>
            </a:r>
            <a:r>
              <a:rPr lang="zh-CN" altLang="en-US" dirty="0" smtClean="0">
                <a:solidFill>
                  <a:srgbClr val="333F50"/>
                </a:solidFill>
              </a:rPr>
              <a:t>故障处理模块</a:t>
            </a:r>
            <a:endParaRPr lang="zh-CN" altLang="en-US" dirty="0">
              <a:solidFill>
                <a:srgbClr val="333F50"/>
              </a:solidFill>
            </a:endParaRPr>
          </a:p>
        </p:txBody>
      </p:sp>
      <p:sp>
        <p:nvSpPr>
          <p:cNvPr id="2" name="文本框 1"/>
          <p:cNvSpPr txBox="1"/>
          <p:nvPr/>
        </p:nvSpPr>
        <p:spPr>
          <a:xfrm>
            <a:off x="1245235" y="1542415"/>
            <a:ext cx="5258435" cy="1753235"/>
          </a:xfrm>
          <a:prstGeom prst="rect">
            <a:avLst/>
          </a:prstGeom>
          <a:noFill/>
        </p:spPr>
        <p:txBody>
          <a:bodyPr wrap="square" rtlCol="0">
            <a:spAutoFit/>
          </a:bodyPr>
          <a:lstStyle/>
          <a:p>
            <a:pPr indent="457200" algn="l">
              <a:lnSpc>
                <a:spcPct val="150000"/>
              </a:lnSpc>
            </a:pPr>
            <a:r>
              <a:rPr lang="zh-CN" altLang="en-US" b="1" dirty="0">
                <a:latin typeface="+mn-ea"/>
              </a:rPr>
              <a:t>模块简介</a:t>
            </a:r>
          </a:p>
          <a:p>
            <a:pPr indent="457200" fontAlgn="auto">
              <a:lnSpc>
                <a:spcPct val="150000"/>
              </a:lnSpc>
              <a:spcBef>
                <a:spcPts val="0"/>
              </a:spcBef>
              <a:spcAft>
                <a:spcPts val="0"/>
              </a:spcAft>
              <a:defRPr/>
            </a:pPr>
            <a:r>
              <a:rPr lang="zh-CN" altLang="en-US" dirty="0">
                <a:latin typeface="+mn-ea"/>
              </a:rPr>
              <a:t>    </a:t>
            </a:r>
            <a:r>
              <a:rPr lang="zh-CN" altLang="en-US" dirty="0">
                <a:latin typeface="+mn-ea"/>
                <a:sym typeface="+mn-ea"/>
              </a:rPr>
              <a:t>该模块目的是实现智能化故障处理，</a:t>
            </a:r>
          </a:p>
          <a:p>
            <a:pPr indent="457200" fontAlgn="auto">
              <a:lnSpc>
                <a:spcPct val="150000"/>
              </a:lnSpc>
              <a:spcBef>
                <a:spcPts val="0"/>
              </a:spcBef>
              <a:spcAft>
                <a:spcPts val="0"/>
              </a:spcAft>
              <a:defRPr/>
            </a:pPr>
            <a:r>
              <a:rPr lang="zh-CN" altLang="en-US" dirty="0">
                <a:latin typeface="+mn-ea"/>
                <a:sym typeface="+mn-ea"/>
              </a:rPr>
              <a:t>具体流程如图。</a:t>
            </a:r>
          </a:p>
          <a:p>
            <a:pPr indent="457200" fontAlgn="auto">
              <a:lnSpc>
                <a:spcPct val="150000"/>
              </a:lnSpc>
              <a:spcBef>
                <a:spcPts val="0"/>
              </a:spcBef>
              <a:spcAft>
                <a:spcPts val="0"/>
              </a:spcAft>
              <a:defRPr/>
            </a:pPr>
            <a:r>
              <a:rPr lang="zh-CN" altLang="en-US" dirty="0">
                <a:latin typeface="+mn-ea"/>
                <a:sym typeface="+mn-ea"/>
              </a:rPr>
              <a:t>    </a:t>
            </a:r>
            <a:endParaRPr lang="zh-CN" dirty="0">
              <a:latin typeface="+mn-ea"/>
            </a:endParaRPr>
          </a:p>
        </p:txBody>
      </p:sp>
      <p:sp>
        <p:nvSpPr>
          <p:cNvPr id="5" name="文本框 4"/>
          <p:cNvSpPr txBox="1"/>
          <p:nvPr/>
        </p:nvSpPr>
        <p:spPr>
          <a:xfrm>
            <a:off x="1245234" y="3897396"/>
            <a:ext cx="9309735" cy="212237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智能告警识别</a:t>
            </a:r>
          </a:p>
          <a:p>
            <a:pPr indent="457200" algn="l">
              <a:lnSpc>
                <a:spcPct val="150000"/>
              </a:lnSpc>
            </a:pPr>
            <a:r>
              <a:rPr lang="zh-CN" altLang="en-US" dirty="0">
                <a:effectLst/>
                <a:latin typeface="+mn-ea"/>
                <a:sym typeface="+mn-ea"/>
              </a:rPr>
              <a:t>    异常根因分析与故障定位</a:t>
            </a:r>
          </a:p>
          <a:p>
            <a:pPr indent="457200" algn="l">
              <a:lnSpc>
                <a:spcPct val="150000"/>
              </a:lnSpc>
            </a:pPr>
            <a:r>
              <a:rPr lang="zh-CN" altLang="en-US" dirty="0">
                <a:effectLst/>
                <a:latin typeface="+mn-ea"/>
                <a:sym typeface="+mn-ea"/>
              </a:rPr>
              <a:t>    自主故障处理</a:t>
            </a:r>
          </a:p>
          <a:p>
            <a:pPr indent="457200" algn="l">
              <a:lnSpc>
                <a:spcPct val="150000"/>
              </a:lnSpc>
            </a:pPr>
            <a:r>
              <a:rPr lang="zh-CN" altLang="en-US" dirty="0">
                <a:effectLst/>
                <a:latin typeface="+mn-ea"/>
                <a:sym typeface="+mn-ea"/>
              </a:rPr>
              <a:t>    故障告警上报。</a:t>
            </a:r>
            <a:endParaRPr lang="zh-CN" altLang="en-US" dirty="0">
              <a:latin typeface="+mn-ea"/>
            </a:endParaRPr>
          </a:p>
        </p:txBody>
      </p:sp>
      <p:sp>
        <p:nvSpPr>
          <p:cNvPr id="3" name="矩形 2"/>
          <p:cNvSpPr/>
          <p:nvPr/>
        </p:nvSpPr>
        <p:spPr>
          <a:xfrm>
            <a:off x="8477885" y="775335"/>
            <a:ext cx="145288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异常检测</a:t>
            </a:r>
          </a:p>
        </p:txBody>
      </p:sp>
      <p:sp>
        <p:nvSpPr>
          <p:cNvPr id="9" name="矩形 8"/>
          <p:cNvSpPr/>
          <p:nvPr/>
        </p:nvSpPr>
        <p:spPr>
          <a:xfrm>
            <a:off x="8364855" y="2256155"/>
            <a:ext cx="167894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故障定位</a:t>
            </a:r>
          </a:p>
        </p:txBody>
      </p:sp>
      <p:sp>
        <p:nvSpPr>
          <p:cNvPr id="10" name="文本框 9"/>
          <p:cNvSpPr txBox="1"/>
          <p:nvPr/>
        </p:nvSpPr>
        <p:spPr>
          <a:xfrm>
            <a:off x="9516110" y="1443355"/>
            <a:ext cx="1554480" cy="645160"/>
          </a:xfrm>
          <a:prstGeom prst="rect">
            <a:avLst/>
          </a:prstGeom>
          <a:noFill/>
        </p:spPr>
        <p:txBody>
          <a:bodyPr wrap="none" rtlCol="0">
            <a:spAutoFit/>
          </a:bodyPr>
          <a:lstStyle/>
          <a:p>
            <a:r>
              <a:rPr lang="zh-CN" altLang="en-US"/>
              <a:t>按故障传播链</a:t>
            </a:r>
          </a:p>
          <a:p>
            <a:r>
              <a:rPr lang="zh-CN" altLang="en-US"/>
              <a:t>依次查找</a:t>
            </a:r>
          </a:p>
        </p:txBody>
      </p:sp>
      <p:sp>
        <p:nvSpPr>
          <p:cNvPr id="11" name="矩形 10"/>
          <p:cNvSpPr/>
          <p:nvPr/>
        </p:nvSpPr>
        <p:spPr>
          <a:xfrm>
            <a:off x="5676900" y="775335"/>
            <a:ext cx="163322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业务管理模块</a:t>
            </a:r>
          </a:p>
        </p:txBody>
      </p:sp>
      <p:sp>
        <p:nvSpPr>
          <p:cNvPr id="12" name="矩形 11"/>
          <p:cNvSpPr/>
          <p:nvPr/>
        </p:nvSpPr>
        <p:spPr>
          <a:xfrm>
            <a:off x="5676900" y="3614420"/>
            <a:ext cx="1633220" cy="5505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自主学习模块</a:t>
            </a:r>
          </a:p>
        </p:txBody>
      </p:sp>
      <p:sp>
        <p:nvSpPr>
          <p:cNvPr id="13" name="矩形 12"/>
          <p:cNvSpPr/>
          <p:nvPr/>
        </p:nvSpPr>
        <p:spPr>
          <a:xfrm>
            <a:off x="8328660" y="352425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查找预设经验库</a:t>
            </a:r>
          </a:p>
          <a:p>
            <a:pPr algn="ctr"/>
            <a:r>
              <a:rPr lang="zh-CN" altLang="en-US"/>
              <a:t>解决方案</a:t>
            </a:r>
          </a:p>
        </p:txBody>
      </p:sp>
      <p:sp>
        <p:nvSpPr>
          <p:cNvPr id="15" name="矩形 14"/>
          <p:cNvSpPr/>
          <p:nvPr/>
        </p:nvSpPr>
        <p:spPr>
          <a:xfrm>
            <a:off x="6523990" y="518033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自动化脚本</a:t>
            </a:r>
          </a:p>
          <a:p>
            <a:pPr algn="ctr"/>
            <a:r>
              <a:rPr lang="zh-CN" altLang="en-US"/>
              <a:t>止损处理</a:t>
            </a:r>
          </a:p>
        </p:txBody>
      </p:sp>
      <p:sp>
        <p:nvSpPr>
          <p:cNvPr id="16" name="矩形 15"/>
          <p:cNvSpPr/>
          <p:nvPr/>
        </p:nvSpPr>
        <p:spPr>
          <a:xfrm>
            <a:off x="10043795" y="5180330"/>
            <a:ext cx="1804670" cy="7308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上报至相关运维</a:t>
            </a:r>
          </a:p>
          <a:p>
            <a:pPr algn="ctr"/>
            <a:r>
              <a:rPr lang="zh-CN" altLang="en-US"/>
              <a:t>责任人员</a:t>
            </a:r>
          </a:p>
        </p:txBody>
      </p:sp>
      <p:sp>
        <p:nvSpPr>
          <p:cNvPr id="17" name="下箭头 16"/>
          <p:cNvSpPr/>
          <p:nvPr/>
        </p:nvSpPr>
        <p:spPr>
          <a:xfrm>
            <a:off x="9055735" y="1443355"/>
            <a:ext cx="297815" cy="7302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下箭头 17"/>
          <p:cNvSpPr/>
          <p:nvPr/>
        </p:nvSpPr>
        <p:spPr>
          <a:xfrm>
            <a:off x="9055100" y="2880360"/>
            <a:ext cx="297815" cy="5676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下箭头 18"/>
          <p:cNvSpPr/>
          <p:nvPr/>
        </p:nvSpPr>
        <p:spPr>
          <a:xfrm rot="1740000">
            <a:off x="8204835" y="4359275"/>
            <a:ext cx="297815" cy="726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7593330" y="4519930"/>
            <a:ext cx="640080" cy="368300"/>
          </a:xfrm>
          <a:prstGeom prst="rect">
            <a:avLst/>
          </a:prstGeom>
          <a:noFill/>
        </p:spPr>
        <p:txBody>
          <a:bodyPr wrap="none" rtlCol="0">
            <a:spAutoFit/>
          </a:bodyPr>
          <a:lstStyle/>
          <a:p>
            <a:r>
              <a:rPr lang="zh-CN" altLang="en-US"/>
              <a:t>存在</a:t>
            </a:r>
          </a:p>
        </p:txBody>
      </p:sp>
      <p:sp>
        <p:nvSpPr>
          <p:cNvPr id="21" name="下箭头 20"/>
          <p:cNvSpPr/>
          <p:nvPr/>
        </p:nvSpPr>
        <p:spPr>
          <a:xfrm rot="19860000" flipH="1">
            <a:off x="10003155" y="4359275"/>
            <a:ext cx="297815" cy="72644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336530" y="4519930"/>
            <a:ext cx="868680" cy="368300"/>
          </a:xfrm>
          <a:prstGeom prst="rect">
            <a:avLst/>
          </a:prstGeom>
          <a:noFill/>
        </p:spPr>
        <p:txBody>
          <a:bodyPr wrap="none" rtlCol="0">
            <a:spAutoFit/>
          </a:bodyPr>
          <a:lstStyle/>
          <a:p>
            <a:r>
              <a:rPr lang="zh-CN" altLang="en-US"/>
              <a:t>不存在</a:t>
            </a:r>
          </a:p>
        </p:txBody>
      </p:sp>
      <p:sp>
        <p:nvSpPr>
          <p:cNvPr id="23" name="左右箭头 22"/>
          <p:cNvSpPr/>
          <p:nvPr/>
        </p:nvSpPr>
        <p:spPr>
          <a:xfrm>
            <a:off x="7403465" y="915035"/>
            <a:ext cx="972820" cy="27114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左右箭头 23"/>
          <p:cNvSpPr/>
          <p:nvPr/>
        </p:nvSpPr>
        <p:spPr>
          <a:xfrm>
            <a:off x="7403465" y="3754120"/>
            <a:ext cx="829945" cy="27114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1386644"/>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8300"/>
          </a:xfrm>
          <a:prstGeom prst="rect">
            <a:avLst/>
          </a:prstGeom>
          <a:noFill/>
        </p:spPr>
        <p:txBody>
          <a:bodyPr wrap="square" rtlCol="0">
            <a:spAutoFit/>
          </a:bodyPr>
          <a:lstStyle/>
          <a:p>
            <a:r>
              <a:rPr lang="zh-CN" altLang="en-US" dirty="0">
                <a:solidFill>
                  <a:srgbClr val="333F50"/>
                </a:solidFill>
              </a:rPr>
              <a:t>控制系统</a:t>
            </a:r>
            <a:r>
              <a:rPr lang="en-US" altLang="zh-CN" dirty="0">
                <a:solidFill>
                  <a:srgbClr val="333F50"/>
                </a:solidFill>
              </a:rPr>
              <a:t>--&gt;</a:t>
            </a:r>
            <a:r>
              <a:rPr lang="zh-CN" altLang="en-US" dirty="0" smtClean="0">
                <a:solidFill>
                  <a:srgbClr val="333F50"/>
                </a:solidFill>
              </a:rPr>
              <a:t>用户呈现模块</a:t>
            </a:r>
            <a:endParaRPr lang="zh-CN" altLang="en-US" dirty="0">
              <a:solidFill>
                <a:srgbClr val="333F50"/>
              </a:solidFill>
            </a:endParaRPr>
          </a:p>
        </p:txBody>
      </p:sp>
      <p:sp>
        <p:nvSpPr>
          <p:cNvPr id="2" name="文本框 1"/>
          <p:cNvSpPr txBox="1"/>
          <p:nvPr/>
        </p:nvSpPr>
        <p:spPr>
          <a:xfrm>
            <a:off x="1245235" y="1542415"/>
            <a:ext cx="9309735" cy="1337945"/>
          </a:xfrm>
          <a:prstGeom prst="rect">
            <a:avLst/>
          </a:prstGeom>
          <a:noFill/>
        </p:spPr>
        <p:txBody>
          <a:bodyPr wrap="square" rtlCol="0">
            <a:spAutoFit/>
          </a:bodyPr>
          <a:lstStyle/>
          <a:p>
            <a:pPr indent="457200" algn="l">
              <a:lnSpc>
                <a:spcPct val="150000"/>
              </a:lnSpc>
            </a:pPr>
            <a:r>
              <a:rPr lang="zh-CN" altLang="en-US" b="1" dirty="0">
                <a:latin typeface="+mn-ea"/>
              </a:rPr>
              <a:t>模块简介</a:t>
            </a:r>
            <a:endParaRPr lang="zh-CN" altLang="en-US" dirty="0">
              <a:effectLst/>
              <a:latin typeface="+mn-ea"/>
              <a:sym typeface="+mn-ea"/>
            </a:endParaRPr>
          </a:p>
          <a:p>
            <a:pPr indent="457200" fontAlgn="auto">
              <a:lnSpc>
                <a:spcPct val="150000"/>
              </a:lnSpc>
              <a:spcBef>
                <a:spcPts val="0"/>
              </a:spcBef>
              <a:spcAft>
                <a:spcPts val="0"/>
              </a:spcAft>
              <a:defRPr/>
            </a:pPr>
            <a:r>
              <a:rPr lang="zh-CN" altLang="en-US" dirty="0">
                <a:effectLst/>
                <a:latin typeface="+mn-ea"/>
                <a:sym typeface="+mn-ea"/>
              </a:rPr>
              <a:t>    该模块利用数据可视化技术，实时呈现网络整体情况，为当下决策提供数据支撑，为运维工作提供强有力的指导作用，实现全网综合全面评价分析，科学高效运维管理</a:t>
            </a:r>
            <a:r>
              <a:rPr lang="zh-CN" altLang="en-US" dirty="0">
                <a:latin typeface="+mn-ea"/>
                <a:sym typeface="+mn-ea"/>
              </a:rPr>
              <a:t>。</a:t>
            </a:r>
            <a:endParaRPr lang="zh-CN" dirty="0">
              <a:latin typeface="+mn-ea"/>
            </a:endParaRPr>
          </a:p>
        </p:txBody>
      </p:sp>
      <p:sp>
        <p:nvSpPr>
          <p:cNvPr id="5" name="文本框 4"/>
          <p:cNvSpPr txBox="1"/>
          <p:nvPr/>
        </p:nvSpPr>
        <p:spPr>
          <a:xfrm>
            <a:off x="1245235" y="3626180"/>
            <a:ext cx="9309735" cy="1754326"/>
          </a:xfrm>
          <a:prstGeom prst="rect">
            <a:avLst/>
          </a:prstGeom>
          <a:noFill/>
        </p:spPr>
        <p:txBody>
          <a:bodyPr wrap="square" rtlCol="0">
            <a:spAutoFit/>
          </a:bodyPr>
          <a:lstStyle/>
          <a:p>
            <a:pPr indent="457200" algn="l">
              <a:lnSpc>
                <a:spcPct val="150000"/>
              </a:lnSpc>
            </a:pPr>
            <a:r>
              <a:rPr lang="zh-CN" altLang="en-US" b="1" dirty="0">
                <a:latin typeface="+mn-ea"/>
              </a:rPr>
              <a:t>模块功能</a:t>
            </a:r>
          </a:p>
          <a:p>
            <a:pPr indent="457200" algn="l">
              <a:lnSpc>
                <a:spcPct val="150000"/>
              </a:lnSpc>
            </a:pPr>
            <a:r>
              <a:rPr lang="zh-CN" altLang="en-US" dirty="0">
                <a:latin typeface="+mn-ea"/>
              </a:rPr>
              <a:t>    </a:t>
            </a:r>
            <a:r>
              <a:rPr lang="zh-CN" altLang="en-US" dirty="0">
                <a:effectLst/>
                <a:latin typeface="+mn-ea"/>
                <a:sym typeface="+mn-ea"/>
              </a:rPr>
              <a:t>网络全景概览</a:t>
            </a:r>
          </a:p>
          <a:p>
            <a:pPr indent="457200" algn="l">
              <a:lnSpc>
                <a:spcPct val="150000"/>
              </a:lnSpc>
            </a:pPr>
            <a:r>
              <a:rPr lang="zh-CN" altLang="en-US" dirty="0">
                <a:effectLst/>
                <a:latin typeface="+mn-ea"/>
                <a:sym typeface="+mn-ea"/>
              </a:rPr>
              <a:t>    指标量化评估与统计呈现</a:t>
            </a:r>
          </a:p>
          <a:p>
            <a:pPr indent="457200" algn="l">
              <a:lnSpc>
                <a:spcPct val="150000"/>
              </a:lnSpc>
            </a:pPr>
            <a:r>
              <a:rPr lang="zh-CN" altLang="en-US" dirty="0">
                <a:effectLst/>
                <a:latin typeface="+mn-ea"/>
                <a:sym typeface="+mn-ea"/>
              </a:rPr>
              <a:t>    设备拓扑结构呈现。</a:t>
            </a:r>
            <a:endParaRPr lang="zh-CN" altLang="en-US" dirty="0">
              <a:latin typeface="+mn-ea"/>
            </a:endParaRPr>
          </a:p>
        </p:txBody>
      </p:sp>
      <p:sp>
        <p:nvSpPr>
          <p:cNvPr id="9" name="文本框 8"/>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平台框图</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27127892"/>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71792117"/>
      </p:ext>
    </p:extLst>
  </p:cSld>
  <p:clrMapOvr>
    <a:masterClrMapping/>
  </p:clrMapOvr>
  <p:transition spd="med">
    <p:pull/>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83621" y="3332696"/>
            <a:ext cx="2030979" cy="507831"/>
          </a:xfrm>
          <a:prstGeom prst="rect">
            <a:avLst/>
          </a:prstGeom>
          <a:solidFill>
            <a:schemeClr val="tx2">
              <a:lumMod val="75000"/>
            </a:schemeClr>
          </a:solidFill>
        </p:spPr>
        <p:txBody>
          <a:bodyPr wrap="square" rtlCol="0">
            <a:spAutoFit/>
          </a:bodyPr>
          <a:lstStyle/>
          <a:p>
            <a:pPr marL="285750" algn="ctr">
              <a:lnSpc>
                <a:spcPct val="150000"/>
              </a:lnSpc>
            </a:pPr>
            <a:r>
              <a:rPr lang="zh-CN" altLang="en-US" dirty="0" smtClean="0">
                <a:solidFill>
                  <a:schemeClr val="bg1"/>
                </a:solidFill>
              </a:rPr>
              <a:t>故障管理</a:t>
            </a:r>
            <a:endParaRPr lang="en-US" altLang="zh-CN" dirty="0" smtClean="0">
              <a:solidFill>
                <a:schemeClr val="bg1"/>
              </a:solidFill>
            </a:endParaRPr>
          </a:p>
        </p:txBody>
      </p:sp>
      <p:sp>
        <p:nvSpPr>
          <p:cNvPr id="9" name="圆角矩形 8"/>
          <p:cNvSpPr/>
          <p:nvPr/>
        </p:nvSpPr>
        <p:spPr>
          <a:xfrm>
            <a:off x="4748439" y="1193115"/>
            <a:ext cx="3385911" cy="47357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5058000" y="4659081"/>
            <a:ext cx="2766787" cy="1095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异常检测（</a:t>
            </a:r>
            <a:r>
              <a:rPr lang="zh-CN" altLang="en-US" dirty="0" smtClean="0">
                <a:solidFill>
                  <a:schemeClr val="tx1"/>
                </a:solidFill>
              </a:rPr>
              <a:t>感知</a:t>
            </a:r>
            <a:r>
              <a:rPr lang="zh-CN" altLang="en-US" dirty="0" smtClean="0"/>
              <a:t>）</a:t>
            </a:r>
            <a:endParaRPr lang="zh-CN" altLang="en-US" dirty="0"/>
          </a:p>
        </p:txBody>
      </p:sp>
      <p:sp>
        <p:nvSpPr>
          <p:cNvPr id="11" name="圆角矩形 10"/>
          <p:cNvSpPr/>
          <p:nvPr/>
        </p:nvSpPr>
        <p:spPr>
          <a:xfrm>
            <a:off x="5058002" y="3071128"/>
            <a:ext cx="2766786" cy="1054098"/>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根因分析（</a:t>
            </a:r>
            <a:r>
              <a:rPr lang="zh-CN" altLang="en-US" dirty="0" smtClean="0">
                <a:solidFill>
                  <a:schemeClr val="tx1"/>
                </a:solidFill>
              </a:rPr>
              <a:t>决策</a:t>
            </a:r>
            <a:r>
              <a:rPr lang="zh-CN" altLang="en-US" dirty="0" smtClean="0"/>
              <a:t>）</a:t>
            </a:r>
            <a:endParaRPr lang="zh-CN" altLang="en-US" dirty="0"/>
          </a:p>
        </p:txBody>
      </p:sp>
      <p:sp>
        <p:nvSpPr>
          <p:cNvPr id="12" name="圆角矩形 11"/>
          <p:cNvSpPr/>
          <p:nvPr/>
        </p:nvSpPr>
        <p:spPr>
          <a:xfrm>
            <a:off x="5058000" y="1418313"/>
            <a:ext cx="2766787" cy="111895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dirty="0" smtClean="0"/>
              <a:t>故障预测（</a:t>
            </a:r>
            <a:r>
              <a:rPr lang="zh-CN" altLang="en-US" dirty="0" smtClean="0">
                <a:solidFill>
                  <a:schemeClr val="tx1"/>
                </a:solidFill>
              </a:rPr>
              <a:t>控制</a:t>
            </a:r>
            <a:r>
              <a:rPr lang="zh-CN" altLang="en-US" dirty="0" smtClean="0"/>
              <a:t>）</a:t>
            </a:r>
            <a:endParaRPr lang="zh-CN" altLang="en-US" dirty="0"/>
          </a:p>
        </p:txBody>
      </p:sp>
      <p:sp>
        <p:nvSpPr>
          <p:cNvPr id="13" name="左大括号 12"/>
          <p:cNvSpPr/>
          <p:nvPr/>
        </p:nvSpPr>
        <p:spPr>
          <a:xfrm>
            <a:off x="3248025" y="1135279"/>
            <a:ext cx="1009650" cy="4925796"/>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p:cNvSpPr txBox="1"/>
          <p:nvPr/>
        </p:nvSpPr>
        <p:spPr>
          <a:xfrm>
            <a:off x="8625114" y="2340116"/>
            <a:ext cx="3228975" cy="3000821"/>
          </a:xfrm>
          <a:prstGeom prst="rect">
            <a:avLst/>
          </a:prstGeom>
          <a:noFill/>
        </p:spPr>
        <p:txBody>
          <a:bodyPr wrap="square" rtlCol="0">
            <a:spAutoFit/>
          </a:bodyPr>
          <a:lstStyle/>
          <a:p>
            <a:pPr indent="457200">
              <a:lnSpc>
                <a:spcPct val="150000"/>
              </a:lnSpc>
            </a:pPr>
            <a:r>
              <a:rPr lang="zh-CN" altLang="en-US" dirty="0" smtClean="0"/>
              <a:t>智能化故障管理由异常检测、根因分析、以及故障预测组成，这三部分分别对应了大脑“感知决策控制”三元组。同时这三个模块又各自也存在着三元组，即故障管理中每一部分都能体现网络大脑的智慧。</a:t>
            </a:r>
            <a:endParaRPr lang="zh-CN" altLang="en-US" dirty="0"/>
          </a:p>
        </p:txBody>
      </p:sp>
    </p:spTree>
    <p:extLst>
      <p:ext uri="{BB962C8B-B14F-4D97-AF65-F5344CB8AC3E}">
        <p14:creationId xmlns:p14="http://schemas.microsoft.com/office/powerpoint/2010/main" val="3348270215"/>
      </p:ext>
    </p:extLst>
  </p:cSld>
  <p:clrMapOvr>
    <a:masterClrMapping/>
  </p:clrMapOvr>
  <p:transition spd="med">
    <p:pull/>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24114" y="657028"/>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721810" y="1958290"/>
            <a:ext cx="4610100" cy="152618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600" dirty="0" smtClean="0">
                <a:latin typeface="微软雅黑" panose="020B0503020204020204" pitchFamily="34" charset="-122"/>
                <a:ea typeface="微软雅黑" panose="020B0503020204020204" pitchFamily="34" charset="-122"/>
              </a:rPr>
              <a:t>在城域网维护过程中，存在着大量的</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指标（链路利用率、端口状态、</a:t>
            </a:r>
            <a:r>
              <a:rPr lang="en-US" altLang="zh-CN" sz="1600" dirty="0" smtClean="0">
                <a:latin typeface="微软雅黑" panose="020B0503020204020204" pitchFamily="34" charset="-122"/>
                <a:ea typeface="微软雅黑" panose="020B0503020204020204" pitchFamily="34" charset="-122"/>
              </a:rPr>
              <a:t>CPU</a:t>
            </a:r>
            <a:r>
              <a:rPr lang="zh-CN" altLang="en-US" sz="1600" dirty="0" smtClean="0">
                <a:latin typeface="微软雅黑" panose="020B0503020204020204" pitchFamily="34" charset="-122"/>
                <a:ea typeface="微软雅黑" panose="020B0503020204020204" pitchFamily="34" charset="-122"/>
              </a:rPr>
              <a:t>利用率、内存利用率</a:t>
            </a:r>
            <a:r>
              <a:rPr lang="en-US" altLang="zh-CN" sz="1600" dirty="0" smtClean="0">
                <a:latin typeface="微软雅黑" panose="020B0503020204020204" pitchFamily="34" charset="-122"/>
                <a:ea typeface="微软雅黑" panose="020B0503020204020204" pitchFamily="34" charset="-122"/>
              </a:rPr>
              <a:t>…</a:t>
            </a:r>
            <a:r>
              <a:rPr lang="zh-CN" altLang="en-US" sz="1600" dirty="0" smtClean="0">
                <a:latin typeface="微软雅黑" panose="020B0503020204020204" pitchFamily="34" charset="-122"/>
                <a:ea typeface="微软雅黑" panose="020B0503020204020204" pitchFamily="34" charset="-122"/>
              </a:rPr>
              <a:t>），当这些</a:t>
            </a:r>
            <a:r>
              <a:rPr lang="en-US" altLang="zh-CN" sz="1600" dirty="0" smtClean="0">
                <a:latin typeface="微软雅黑" panose="020B0503020204020204" pitchFamily="34" charset="-122"/>
                <a:ea typeface="微软雅黑" panose="020B0503020204020204" pitchFamily="34" charset="-122"/>
              </a:rPr>
              <a:t>KPI</a:t>
            </a:r>
            <a:r>
              <a:rPr lang="zh-CN" altLang="en-US" sz="1600" dirty="0" smtClean="0">
                <a:latin typeface="微软雅黑" panose="020B0503020204020204" pitchFamily="34" charset="-122"/>
                <a:ea typeface="微软雅黑" panose="020B0503020204020204" pitchFamily="34" charset="-122"/>
              </a:rPr>
              <a:t>指标发生异常时，如何能够快速检测。</a:t>
            </a:r>
            <a:endParaRPr lang="en-US" altLang="zh-CN" sz="1600" dirty="0" smtClean="0">
              <a:latin typeface="微软雅黑" panose="020B0503020204020204" pitchFamily="34" charset="-122"/>
              <a:ea typeface="微软雅黑" panose="020B0503020204020204" pitchFamily="34" charset="-122"/>
            </a:endParaRPr>
          </a:p>
        </p:txBody>
      </p:sp>
      <p:pic>
        <p:nvPicPr>
          <p:cNvPr id="1026" name="Picture 2" descr="“aiops 异常检测”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5300" y="1827212"/>
            <a:ext cx="6074759" cy="3392034"/>
          </a:xfrm>
          <a:prstGeom prst="rect">
            <a:avLst/>
          </a:prstGeom>
          <a:noFill/>
          <a:extLst>
            <a:ext uri="{909E8E84-426E-40DD-AFC4-6F175D3DCCD1}">
              <a14:hiddenFill xmlns:a14="http://schemas.microsoft.com/office/drawing/2010/main">
                <a:solidFill>
                  <a:srgbClr val="FFFFFF"/>
                </a:solidFill>
              </a14:hiddenFill>
            </a:ext>
          </a:extLst>
        </p:spPr>
      </p:pic>
      <p:sp>
        <p:nvSpPr>
          <p:cNvPr id="12" name="矩形 11"/>
          <p:cNvSpPr/>
          <p:nvPr/>
        </p:nvSpPr>
        <p:spPr>
          <a:xfrm>
            <a:off x="1033823" y="3514483"/>
            <a:ext cx="2552344" cy="50783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输入</a:t>
            </a:r>
            <a:endParaRPr lang="en-US" altLang="zh-CN" dirty="0"/>
          </a:p>
        </p:txBody>
      </p:sp>
      <p:sp>
        <p:nvSpPr>
          <p:cNvPr id="13" name="矩形 12"/>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4" name="文本框 13"/>
          <p:cNvSpPr txBox="1"/>
          <p:nvPr/>
        </p:nvSpPr>
        <p:spPr>
          <a:xfrm>
            <a:off x="721810" y="4149277"/>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zh-CN" altLang="en-US" dirty="0"/>
              <a:t>一根待标注的</a:t>
            </a:r>
            <a:r>
              <a:rPr lang="en-US" altLang="zh-CN" dirty="0"/>
              <a:t>KPI</a:t>
            </a:r>
            <a:r>
              <a:rPr lang="zh-CN" altLang="en-US" dirty="0"/>
              <a:t>曲线和一段已经标注出的异常</a:t>
            </a:r>
            <a:r>
              <a:rPr lang="zh-CN" altLang="en-US" dirty="0" smtClean="0"/>
              <a:t>片段</a:t>
            </a:r>
            <a:r>
              <a:rPr lang="zh-CN" altLang="en-US" dirty="0"/>
              <a:t>（模板）</a:t>
            </a:r>
            <a:endParaRPr lang="en-US" altLang="zh-CN" dirty="0" smtClean="0"/>
          </a:p>
        </p:txBody>
      </p:sp>
      <p:sp>
        <p:nvSpPr>
          <p:cNvPr id="15" name="文本框 14"/>
          <p:cNvSpPr txBox="1"/>
          <p:nvPr/>
        </p:nvSpPr>
        <p:spPr>
          <a:xfrm>
            <a:off x="721810" y="5693164"/>
            <a:ext cx="4010025" cy="879087"/>
          </a:xfrm>
          <a:prstGeom prst="rect">
            <a:avLst/>
          </a:prstGeom>
          <a:noFill/>
        </p:spPr>
        <p:txBody>
          <a:bodyPr wrap="square" rtlCol="0">
            <a:spAutoFit/>
          </a:bodyPr>
          <a:lstStyle/>
          <a:p>
            <a:pPr marL="285750" indent="457200">
              <a:lnSpc>
                <a:spcPct val="150000"/>
              </a:lnSpc>
              <a:buFont typeface="Arial" panose="020B0604020202020204" pitchFamily="34" charset="0"/>
              <a:buChar char="•"/>
            </a:pPr>
            <a:r>
              <a:rPr lang="en-US" altLang="zh-CN" dirty="0"/>
              <a:t>KPI</a:t>
            </a:r>
            <a:r>
              <a:rPr lang="zh-CN" altLang="en-US" dirty="0"/>
              <a:t>曲线上与模板相似的异常片段 </a:t>
            </a:r>
            <a:endParaRPr lang="en-US" altLang="zh-CN" dirty="0" smtClean="0"/>
          </a:p>
        </p:txBody>
      </p:sp>
      <p:sp>
        <p:nvSpPr>
          <p:cNvPr id="16" name="矩形 15"/>
          <p:cNvSpPr/>
          <p:nvPr/>
        </p:nvSpPr>
        <p:spPr>
          <a:xfrm>
            <a:off x="1033823" y="1577419"/>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7" name="文本框 1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29113598"/>
      </p:ext>
    </p:extLst>
  </p:cSld>
  <p:clrMapOvr>
    <a:masterClrMapping/>
  </p:clrMapOvr>
  <p:transition spd="med">
    <p:pull/>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3310164" y="1972725"/>
            <a:ext cx="4610100" cy="3416320"/>
          </a:xfrm>
          <a:prstGeom prst="rect">
            <a:avLst/>
          </a:prstGeom>
          <a:noFill/>
        </p:spPr>
        <p:txBody>
          <a:bodyPr wrap="square" rtlCol="0">
            <a:spAutoFit/>
          </a:bodyPr>
          <a:lstStyle/>
          <a:p>
            <a:pPr indent="457200">
              <a:lnSpc>
                <a:spcPct val="150000"/>
              </a:lnSpc>
            </a:pPr>
            <a:r>
              <a:rPr lang="en-US" altLang="zh-CN" dirty="0" err="1" smtClean="0"/>
              <a:t>AIOps</a:t>
            </a:r>
            <a:r>
              <a:rPr lang="zh-CN" altLang="en-US" dirty="0" smtClean="0"/>
              <a:t>搭建后解决思路：</a:t>
            </a:r>
            <a:endParaRPr lang="en-US" altLang="zh-CN" dirty="0" smtClean="0"/>
          </a:p>
          <a:p>
            <a:pPr marL="285750" indent="-285750">
              <a:lnSpc>
                <a:spcPct val="150000"/>
              </a:lnSpc>
              <a:buFont typeface="Arial" panose="020B0604020202020204" pitchFamily="34" charset="0"/>
              <a:buChar char="•"/>
            </a:pPr>
            <a:r>
              <a:rPr lang="zh-CN" altLang="en-US" dirty="0" smtClean="0"/>
              <a:t>对于原始数据，先经过一个无监督分类算法对数据进行预筛选，提高标记效率</a:t>
            </a:r>
            <a:endParaRPr lang="en-US" altLang="zh-CN" dirty="0" smtClean="0"/>
          </a:p>
          <a:p>
            <a:pPr marL="285750" indent="-285750">
              <a:lnSpc>
                <a:spcPct val="150000"/>
              </a:lnSpc>
              <a:buFont typeface="Arial" panose="020B0604020202020204" pitchFamily="34" charset="0"/>
              <a:buChar char="•"/>
            </a:pPr>
            <a:r>
              <a:rPr lang="zh-CN" altLang="en-US" dirty="0" smtClean="0"/>
              <a:t>然后通过运维工程师在预筛选好的数据上对于异常的时序段进行标记</a:t>
            </a:r>
            <a:endParaRPr lang="en-US" altLang="zh-CN" dirty="0" smtClean="0"/>
          </a:p>
          <a:p>
            <a:pPr marL="285750" indent="-285750">
              <a:lnSpc>
                <a:spcPct val="150000"/>
              </a:lnSpc>
              <a:buFont typeface="Arial" panose="020B0604020202020204" pitchFamily="34" charset="0"/>
              <a:buChar char="•"/>
            </a:pPr>
            <a:r>
              <a:rPr lang="zh-CN" altLang="en-US" dirty="0" smtClean="0"/>
              <a:t>将数据、标记、以及工程师制定的对于算法的准确性期望输入到机器学习算法中，让算法对这一过程进行学习和参数调整。</a:t>
            </a:r>
            <a:endParaRPr lang="en-US" altLang="zh-CN" dirty="0" smtClean="0"/>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3751297"/>
      </p:ext>
    </p:extLst>
  </p:cSld>
  <p:clrMapOvr>
    <a:masterClrMapping/>
  </p:clrMapOvr>
  <p:transition spd="med">
    <p:pull/>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4114" y="686265"/>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40" name="矩形 39"/>
          <p:cNvSpPr/>
          <p:nvPr/>
        </p:nvSpPr>
        <p:spPr>
          <a:xfrm>
            <a:off x="2912533" y="5804120"/>
            <a:ext cx="8141670" cy="9906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zh-CN" altLang="en-US"/>
          </a:p>
        </p:txBody>
      </p:sp>
      <p:sp>
        <p:nvSpPr>
          <p:cNvPr id="50" name="圆柱形 49"/>
          <p:cNvSpPr/>
          <p:nvPr/>
        </p:nvSpPr>
        <p:spPr>
          <a:xfrm>
            <a:off x="3175316" y="5960736"/>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3392584" y="6169188"/>
            <a:ext cx="723900" cy="369332"/>
          </a:xfrm>
          <a:prstGeom prst="rect">
            <a:avLst/>
          </a:prstGeom>
          <a:noFill/>
        </p:spPr>
        <p:txBody>
          <a:bodyPr wrap="square" rtlCol="0">
            <a:spAutoFit/>
          </a:bodyPr>
          <a:lstStyle/>
          <a:p>
            <a:r>
              <a:rPr lang="zh-CN" altLang="en-US" dirty="0" smtClean="0"/>
              <a:t>数据</a:t>
            </a:r>
            <a:endParaRPr lang="zh-CN" altLang="en-US" dirty="0"/>
          </a:p>
        </p:txBody>
      </p:sp>
      <p:cxnSp>
        <p:nvCxnSpPr>
          <p:cNvPr id="52" name="直接箭头连接符 51"/>
          <p:cNvCxnSpPr/>
          <p:nvPr/>
        </p:nvCxnSpPr>
        <p:spPr>
          <a:xfrm>
            <a:off x="4237922" y="6341941"/>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4511624" y="6162960"/>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54" name="文本框 53"/>
          <p:cNvSpPr txBox="1"/>
          <p:nvPr/>
        </p:nvSpPr>
        <p:spPr>
          <a:xfrm>
            <a:off x="5867308" y="6162960"/>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cxnSp>
        <p:nvCxnSpPr>
          <p:cNvPr id="56" name="直接箭头连接符 55"/>
          <p:cNvCxnSpPr>
            <a:endCxn id="54" idx="1"/>
          </p:cNvCxnSpPr>
          <p:nvPr/>
        </p:nvCxnSpPr>
        <p:spPr>
          <a:xfrm>
            <a:off x="5435549" y="6333375"/>
            <a:ext cx="431759" cy="1425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圆角矩形 58"/>
          <p:cNvSpPr/>
          <p:nvPr/>
        </p:nvSpPr>
        <p:spPr>
          <a:xfrm>
            <a:off x="4205514" y="176897"/>
            <a:ext cx="7277100" cy="5501694"/>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60" name="圆柱形 59"/>
          <p:cNvSpPr/>
          <p:nvPr/>
        </p:nvSpPr>
        <p:spPr>
          <a:xfrm>
            <a:off x="4856331" y="836653"/>
            <a:ext cx="1062606" cy="694154"/>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073599" y="1045105"/>
            <a:ext cx="723900" cy="369332"/>
          </a:xfrm>
          <a:prstGeom prst="rect">
            <a:avLst/>
          </a:prstGeom>
          <a:noFill/>
        </p:spPr>
        <p:txBody>
          <a:bodyPr wrap="square" rtlCol="0">
            <a:spAutoFit/>
          </a:bodyPr>
          <a:lstStyle/>
          <a:p>
            <a:r>
              <a:rPr lang="zh-CN" altLang="en-US" dirty="0" smtClean="0"/>
              <a:t>数据</a:t>
            </a:r>
            <a:endParaRPr lang="zh-CN" altLang="en-US" dirty="0"/>
          </a:p>
        </p:txBody>
      </p:sp>
      <p:sp>
        <p:nvSpPr>
          <p:cNvPr id="62" name="文本框 61"/>
          <p:cNvSpPr txBox="1"/>
          <p:nvPr/>
        </p:nvSpPr>
        <p:spPr>
          <a:xfrm>
            <a:off x="4952155" y="1983009"/>
            <a:ext cx="92392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检测器</a:t>
            </a:r>
          </a:p>
        </p:txBody>
      </p:sp>
      <p:sp>
        <p:nvSpPr>
          <p:cNvPr id="63" name="文本框 62"/>
          <p:cNvSpPr txBox="1"/>
          <p:nvPr/>
        </p:nvSpPr>
        <p:spPr>
          <a:xfrm>
            <a:off x="5073599" y="2993747"/>
            <a:ext cx="681038" cy="369332"/>
          </a:xfrm>
          <a:prstGeom prst="rect">
            <a:avLst/>
          </a:prstGeom>
          <a:ln w="19050">
            <a:solidFill>
              <a:srgbClr val="00AC4E"/>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特征</a:t>
            </a:r>
            <a:endParaRPr lang="zh-CN" altLang="en-US" dirty="0"/>
          </a:p>
        </p:txBody>
      </p:sp>
      <p:sp>
        <p:nvSpPr>
          <p:cNvPr id="64" name="文本框 63"/>
          <p:cNvSpPr txBox="1"/>
          <p:nvPr/>
        </p:nvSpPr>
        <p:spPr>
          <a:xfrm>
            <a:off x="6164218" y="1051962"/>
            <a:ext cx="16383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无监督分类器</a:t>
            </a:r>
            <a:endParaRPr lang="zh-CN" altLang="en-US" dirty="0"/>
          </a:p>
        </p:txBody>
      </p:sp>
      <p:sp>
        <p:nvSpPr>
          <p:cNvPr id="65" name="文本框 64"/>
          <p:cNvSpPr txBox="1"/>
          <p:nvPr/>
        </p:nvSpPr>
        <p:spPr>
          <a:xfrm>
            <a:off x="7844064" y="1731772"/>
            <a:ext cx="12192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solidFill>
                  <a:schemeClr val="dk1"/>
                </a:solidFill>
              </a:rPr>
              <a:t>标记工具</a:t>
            </a:r>
          </a:p>
        </p:txBody>
      </p:sp>
      <p:sp>
        <p:nvSpPr>
          <p:cNvPr id="66" name="文本框 65"/>
          <p:cNvSpPr txBox="1"/>
          <p:nvPr/>
        </p:nvSpPr>
        <p:spPr>
          <a:xfrm>
            <a:off x="9457480" y="3009404"/>
            <a:ext cx="1400175"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准确性倾向</a:t>
            </a:r>
            <a:endParaRPr lang="zh-CN" altLang="en-US" dirty="0"/>
          </a:p>
        </p:txBody>
      </p:sp>
      <p:pic>
        <p:nvPicPr>
          <p:cNvPr id="67" name="Picture 6" descr="“person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6410" y="210596"/>
            <a:ext cx="834509" cy="834509"/>
          </a:xfrm>
          <a:prstGeom prst="rect">
            <a:avLst/>
          </a:prstGeom>
          <a:noFill/>
          <a:extLst>
            <a:ext uri="{909E8E84-426E-40DD-AFC4-6F175D3DCCD1}">
              <a14:hiddenFill xmlns:a14="http://schemas.microsoft.com/office/drawing/2010/main">
                <a:solidFill>
                  <a:srgbClr val="FFFFFF"/>
                </a:solidFill>
              </a14:hiddenFill>
            </a:ext>
          </a:extLst>
        </p:spPr>
      </p:pic>
      <p:sp>
        <p:nvSpPr>
          <p:cNvPr id="68" name="文本框 67"/>
          <p:cNvSpPr txBox="1"/>
          <p:nvPr/>
        </p:nvSpPr>
        <p:spPr>
          <a:xfrm>
            <a:off x="8091714" y="3027789"/>
            <a:ext cx="723900"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a:t>标记</a:t>
            </a:r>
          </a:p>
        </p:txBody>
      </p:sp>
      <p:sp>
        <p:nvSpPr>
          <p:cNvPr id="69" name="矩形 68"/>
          <p:cNvSpPr/>
          <p:nvPr/>
        </p:nvSpPr>
        <p:spPr>
          <a:xfrm>
            <a:off x="5064073" y="3722604"/>
            <a:ext cx="6012657" cy="1156163"/>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p:cNvSpPr txBox="1"/>
          <p:nvPr/>
        </p:nvSpPr>
        <p:spPr>
          <a:xfrm>
            <a:off x="4903956" y="4038575"/>
            <a:ext cx="4933950" cy="461665"/>
          </a:xfrm>
          <a:prstGeom prst="rect">
            <a:avLst/>
          </a:prstGeom>
          <a:noFill/>
        </p:spPr>
        <p:txBody>
          <a:bodyPr wrap="square" rtlCol="0">
            <a:spAutoFit/>
          </a:bodyPr>
          <a:lstStyle/>
          <a:p>
            <a:pPr algn="ctr"/>
            <a:r>
              <a:rPr lang="zh-CN" altLang="en-US" sz="2400" dirty="0" smtClean="0"/>
              <a:t>机器学习算法（如随机森林）</a:t>
            </a:r>
            <a:endParaRPr lang="zh-CN" altLang="en-US" sz="2400" dirty="0"/>
          </a:p>
        </p:txBody>
      </p:sp>
      <p:cxnSp>
        <p:nvCxnSpPr>
          <p:cNvPr id="71" name="直接箭头连接符 70"/>
          <p:cNvCxnSpPr/>
          <p:nvPr/>
        </p:nvCxnSpPr>
        <p:spPr>
          <a:xfrm>
            <a:off x="9988435" y="3378736"/>
            <a:ext cx="0" cy="6598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p:cNvCxnSpPr>
            <a:stCxn id="60" idx="3"/>
          </p:cNvCxnSpPr>
          <p:nvPr/>
        </p:nvCxnSpPr>
        <p:spPr>
          <a:xfrm>
            <a:off x="5387634" y="1530807"/>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接箭头连接符 72"/>
          <p:cNvCxnSpPr>
            <a:stCxn id="62" idx="2"/>
            <a:endCxn id="63" idx="0"/>
          </p:cNvCxnSpPr>
          <p:nvPr/>
        </p:nvCxnSpPr>
        <p:spPr>
          <a:xfrm>
            <a:off x="5414118" y="2352341"/>
            <a:ext cx="0" cy="641406"/>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a:endCxn id="68" idx="0"/>
          </p:cNvCxnSpPr>
          <p:nvPr/>
        </p:nvCxnSpPr>
        <p:spPr>
          <a:xfrm>
            <a:off x="8453664" y="2101104"/>
            <a:ext cx="0" cy="92668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5435549" y="3371336"/>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8479857" y="3397121"/>
            <a:ext cx="0" cy="35126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p:cNvCxnSpPr>
            <a:stCxn id="60" idx="4"/>
          </p:cNvCxnSpPr>
          <p:nvPr/>
        </p:nvCxnSpPr>
        <p:spPr>
          <a:xfrm>
            <a:off x="5918937" y="1183730"/>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a:stCxn id="64" idx="2"/>
          </p:cNvCxnSpPr>
          <p:nvPr/>
        </p:nvCxnSpPr>
        <p:spPr>
          <a:xfrm>
            <a:off x="6983368" y="1421294"/>
            <a:ext cx="0" cy="3654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6373768" y="1798343"/>
            <a:ext cx="1219200" cy="338554"/>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600" dirty="0"/>
              <a:t>预分</a:t>
            </a:r>
            <a:r>
              <a:rPr lang="zh-CN" altLang="en-US" sz="1600" dirty="0" smtClean="0"/>
              <a:t>类数据</a:t>
            </a:r>
            <a:endParaRPr lang="zh-CN" altLang="en-US" sz="1600" dirty="0">
              <a:solidFill>
                <a:schemeClr val="dk1"/>
              </a:solidFill>
            </a:endParaRPr>
          </a:p>
        </p:txBody>
      </p:sp>
      <p:cxnSp>
        <p:nvCxnSpPr>
          <p:cNvPr id="80" name="直接箭头连接符 79"/>
          <p:cNvCxnSpPr/>
          <p:nvPr/>
        </p:nvCxnSpPr>
        <p:spPr>
          <a:xfrm>
            <a:off x="7598783" y="1928524"/>
            <a:ext cx="245281" cy="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8453664" y="1165343"/>
            <a:ext cx="0" cy="511901"/>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2" name="文本框 81"/>
          <p:cNvSpPr txBox="1"/>
          <p:nvPr/>
        </p:nvSpPr>
        <p:spPr>
          <a:xfrm>
            <a:off x="8486324" y="1170634"/>
            <a:ext cx="270688" cy="430887"/>
          </a:xfrm>
          <a:prstGeom prst="rect">
            <a:avLst/>
          </a:prstGeom>
          <a:noFill/>
        </p:spPr>
        <p:txBody>
          <a:bodyPr wrap="square" rtlCol="0">
            <a:spAutoFit/>
          </a:bodyPr>
          <a:lstStyle/>
          <a:p>
            <a:r>
              <a:rPr lang="zh-CN" altLang="en-US" sz="1100" dirty="0" smtClean="0"/>
              <a:t>使用</a:t>
            </a:r>
            <a:endParaRPr lang="zh-CN" altLang="en-US" sz="1100" dirty="0"/>
          </a:p>
        </p:txBody>
      </p:sp>
      <p:cxnSp>
        <p:nvCxnSpPr>
          <p:cNvPr id="83" name="直接连接符 82"/>
          <p:cNvCxnSpPr>
            <a:stCxn id="67" idx="3"/>
          </p:cNvCxnSpPr>
          <p:nvPr/>
        </p:nvCxnSpPr>
        <p:spPr>
          <a:xfrm>
            <a:off x="8870919" y="627851"/>
            <a:ext cx="1088941" cy="6835"/>
          </a:xfrm>
          <a:prstGeom prst="line">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9969385" y="632456"/>
            <a:ext cx="19050" cy="239533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9959860" y="1497324"/>
            <a:ext cx="270688" cy="430887"/>
          </a:xfrm>
          <a:prstGeom prst="rect">
            <a:avLst/>
          </a:prstGeom>
          <a:noFill/>
        </p:spPr>
        <p:txBody>
          <a:bodyPr wrap="square" rtlCol="0">
            <a:spAutoFit/>
          </a:bodyPr>
          <a:lstStyle/>
          <a:p>
            <a:r>
              <a:rPr lang="zh-CN" altLang="en-US" sz="1100" dirty="0"/>
              <a:t>指定</a:t>
            </a:r>
          </a:p>
        </p:txBody>
      </p:sp>
      <p:sp>
        <p:nvSpPr>
          <p:cNvPr id="86" name="文本框 85"/>
          <p:cNvSpPr txBox="1"/>
          <p:nvPr/>
        </p:nvSpPr>
        <p:spPr>
          <a:xfrm>
            <a:off x="9416998" y="4121053"/>
            <a:ext cx="1162050" cy="276999"/>
          </a:xfrm>
          <a:prstGeom prst="rect">
            <a:avLst/>
          </a:prstGeom>
          <a:solidFill>
            <a:schemeClr val="tx1">
              <a:lumMod val="65000"/>
              <a:lumOff val="35000"/>
            </a:schemeClr>
          </a:solidFill>
          <a:ln>
            <a:solidFill>
              <a:srgbClr val="002060"/>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sz="1200" dirty="0" smtClean="0">
                <a:solidFill>
                  <a:schemeClr val="bg1"/>
                </a:solidFill>
              </a:rPr>
              <a:t>分类阈值调整</a:t>
            </a:r>
            <a:endParaRPr lang="zh-CN" altLang="en-US" sz="1200" dirty="0">
              <a:solidFill>
                <a:schemeClr val="bg1"/>
              </a:solidFill>
            </a:endParaRPr>
          </a:p>
        </p:txBody>
      </p:sp>
      <p:sp>
        <p:nvSpPr>
          <p:cNvPr id="87" name="下箭头 86"/>
          <p:cNvSpPr/>
          <p:nvPr/>
        </p:nvSpPr>
        <p:spPr>
          <a:xfrm>
            <a:off x="7796377" y="4859974"/>
            <a:ext cx="657287" cy="4136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文本框 87"/>
          <p:cNvSpPr txBox="1"/>
          <p:nvPr/>
        </p:nvSpPr>
        <p:spPr>
          <a:xfrm>
            <a:off x="7190947" y="5282373"/>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sp>
        <p:nvSpPr>
          <p:cNvPr id="89" name="文本框 88"/>
          <p:cNvSpPr txBox="1"/>
          <p:nvPr/>
        </p:nvSpPr>
        <p:spPr>
          <a:xfrm>
            <a:off x="925644" y="6112103"/>
            <a:ext cx="1156314" cy="374633"/>
          </a:xfrm>
          <a:prstGeom prst="rect">
            <a:avLst/>
          </a:prstGeom>
          <a:noFill/>
        </p:spPr>
        <p:txBody>
          <a:bodyPr wrap="square" rtlCol="0">
            <a:spAutoFit/>
          </a:bodyPr>
          <a:lstStyle/>
          <a:p>
            <a:r>
              <a:rPr lang="zh-CN" altLang="en-US" dirty="0" smtClean="0">
                <a:solidFill>
                  <a:srgbClr val="7030A0"/>
                </a:solidFill>
              </a:rPr>
              <a:t>在线检测</a:t>
            </a:r>
            <a:endParaRPr lang="zh-CN" altLang="en-US" dirty="0">
              <a:solidFill>
                <a:srgbClr val="7030A0"/>
              </a:solidFill>
            </a:endParaRPr>
          </a:p>
        </p:txBody>
      </p:sp>
      <p:sp>
        <p:nvSpPr>
          <p:cNvPr id="90" name="文本框 89"/>
          <p:cNvSpPr txBox="1"/>
          <p:nvPr/>
        </p:nvSpPr>
        <p:spPr>
          <a:xfrm>
            <a:off x="7055387" y="6155834"/>
            <a:ext cx="1868146" cy="369332"/>
          </a:xfrm>
          <a:prstGeom prst="rect">
            <a:avLst/>
          </a:prstGeom>
          <a:ln w="19050"/>
        </p:spPr>
        <p:style>
          <a:lnRef idx="2">
            <a:schemeClr val="accent6"/>
          </a:lnRef>
          <a:fillRef idx="1">
            <a:schemeClr val="lt1"/>
          </a:fillRef>
          <a:effectRef idx="0">
            <a:schemeClr val="accent6"/>
          </a:effectRef>
          <a:fontRef idx="minor">
            <a:schemeClr val="dk1"/>
          </a:fontRef>
        </p:style>
        <p:txBody>
          <a:bodyPr wrap="square" rtlCol="0">
            <a:spAutoFit/>
          </a:bodyPr>
          <a:lstStyle/>
          <a:p>
            <a:r>
              <a:rPr lang="zh-CN" altLang="en-US" dirty="0" smtClean="0"/>
              <a:t>最新异常分类器</a:t>
            </a:r>
            <a:endParaRPr lang="zh-CN" altLang="en-US" dirty="0"/>
          </a:p>
        </p:txBody>
      </p:sp>
      <p:cxnSp>
        <p:nvCxnSpPr>
          <p:cNvPr id="91" name="直接箭头连接符 90"/>
          <p:cNvCxnSpPr>
            <a:endCxn id="90" idx="1"/>
          </p:cNvCxnSpPr>
          <p:nvPr/>
        </p:nvCxnSpPr>
        <p:spPr>
          <a:xfrm>
            <a:off x="6552122" y="6333375"/>
            <a:ext cx="503265" cy="7125"/>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a:xfrm>
            <a:off x="8963489" y="6351843"/>
            <a:ext cx="625805" cy="1332"/>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p:cNvSpPr txBox="1"/>
          <p:nvPr/>
        </p:nvSpPr>
        <p:spPr>
          <a:xfrm>
            <a:off x="9589293" y="6195586"/>
            <a:ext cx="1268361" cy="369332"/>
          </a:xfrm>
          <a:prstGeom prst="rect">
            <a:avLst/>
          </a:prstGeom>
          <a:noFill/>
        </p:spPr>
        <p:txBody>
          <a:bodyPr wrap="square" rtlCol="0">
            <a:spAutoFit/>
          </a:bodyPr>
          <a:lstStyle/>
          <a:p>
            <a:r>
              <a:rPr lang="zh-CN" altLang="en-US" dirty="0" smtClean="0"/>
              <a:t>检测结果</a:t>
            </a:r>
            <a:endParaRPr lang="zh-CN" altLang="en-US" dirty="0"/>
          </a:p>
        </p:txBody>
      </p:sp>
      <p:sp>
        <p:nvSpPr>
          <p:cNvPr id="97" name="文本框 96"/>
          <p:cNvSpPr txBox="1"/>
          <p:nvPr/>
        </p:nvSpPr>
        <p:spPr>
          <a:xfrm>
            <a:off x="924898" y="2558412"/>
            <a:ext cx="1157060" cy="369332"/>
          </a:xfrm>
          <a:prstGeom prst="rect">
            <a:avLst/>
          </a:prstGeom>
          <a:noFill/>
        </p:spPr>
        <p:txBody>
          <a:bodyPr wrap="square" rtlCol="0">
            <a:spAutoFit/>
          </a:bodyPr>
          <a:lstStyle/>
          <a:p>
            <a:r>
              <a:rPr lang="zh-CN" altLang="en-US" dirty="0" smtClean="0">
                <a:solidFill>
                  <a:schemeClr val="accent1">
                    <a:lumMod val="50000"/>
                  </a:schemeClr>
                </a:solidFill>
              </a:rPr>
              <a:t>离线训练</a:t>
            </a:r>
            <a:endParaRPr lang="zh-CN" altLang="en-US" dirty="0">
              <a:solidFill>
                <a:schemeClr val="accent1">
                  <a:lumMod val="50000"/>
                </a:schemeClr>
              </a:solidFill>
            </a:endParaRPr>
          </a:p>
        </p:txBody>
      </p:sp>
      <p:sp>
        <p:nvSpPr>
          <p:cNvPr id="55" name="文本框 5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251750"/>
      </p:ext>
    </p:extLst>
  </p:cSld>
  <p:clrMapOvr>
    <a:masterClrMapping/>
  </p:clrMapOvr>
  <p:transition spd="med">
    <p:pull/>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异常检测</a:t>
            </a:r>
            <a:endParaRPr lang="zh-CN" altLang="en-US" dirty="0">
              <a:solidFill>
                <a:srgbClr val="333F50"/>
              </a:solidFill>
            </a:endParaRPr>
          </a:p>
        </p:txBody>
      </p:sp>
      <p:sp>
        <p:nvSpPr>
          <p:cNvPr id="7" name="文本框 6"/>
          <p:cNvSpPr txBox="1"/>
          <p:nvPr/>
        </p:nvSpPr>
        <p:spPr>
          <a:xfrm>
            <a:off x="624114" y="1554654"/>
            <a:ext cx="4610100" cy="1338828"/>
          </a:xfrm>
          <a:prstGeom prst="rect">
            <a:avLst/>
          </a:prstGeom>
          <a:noFill/>
        </p:spPr>
        <p:txBody>
          <a:bodyPr wrap="square" rtlCol="0">
            <a:spAutoFit/>
          </a:bodyPr>
          <a:lstStyle/>
          <a:p>
            <a:pPr indent="457200">
              <a:lnSpc>
                <a:spcPct val="150000"/>
              </a:lnSpc>
            </a:pPr>
            <a:r>
              <a:rPr lang="zh-CN" altLang="en-US" dirty="0" smtClean="0"/>
              <a:t>问题：</a:t>
            </a:r>
            <a:endParaRPr lang="en-US" altLang="zh-CN" dirty="0" smtClean="0"/>
          </a:p>
          <a:p>
            <a:pPr marL="285750" indent="-285750">
              <a:lnSpc>
                <a:spcPct val="150000"/>
              </a:lnSpc>
              <a:buFont typeface="Arial" panose="020B0604020202020204" pitchFamily="34" charset="0"/>
              <a:buChar char="•"/>
            </a:pPr>
            <a:r>
              <a:rPr lang="zh-CN" altLang="en-US" dirty="0" smtClean="0"/>
              <a:t>对于几千条监控</a:t>
            </a:r>
            <a:r>
              <a:rPr lang="en-US" altLang="zh-CN" dirty="0" smtClean="0"/>
              <a:t>KPI</a:t>
            </a:r>
            <a:r>
              <a:rPr lang="zh-CN" altLang="en-US" dirty="0" smtClean="0"/>
              <a:t>，是否对于每一条曲线都需要通过反复测验确定算法呢</a:t>
            </a:r>
            <a:r>
              <a:rPr lang="zh-CN" altLang="en-US" dirty="0"/>
              <a:t>？</a:t>
            </a:r>
            <a:endParaRPr lang="en-US" altLang="zh-CN" dirty="0" smtClean="0"/>
          </a:p>
        </p:txBody>
      </p:sp>
      <p:sp>
        <p:nvSpPr>
          <p:cNvPr id="2" name="文本框 1"/>
          <p:cNvSpPr txBox="1"/>
          <p:nvPr/>
        </p:nvSpPr>
        <p:spPr>
          <a:xfrm>
            <a:off x="338364" y="3280303"/>
            <a:ext cx="5181600" cy="2585323"/>
          </a:xfrm>
          <a:prstGeom prst="rect">
            <a:avLst/>
          </a:prstGeom>
          <a:noFill/>
        </p:spPr>
        <p:txBody>
          <a:bodyPr wrap="square" rtlCol="0">
            <a:spAutoFit/>
          </a:bodyPr>
          <a:lstStyle/>
          <a:p>
            <a:pPr indent="457200">
              <a:lnSpc>
                <a:spcPct val="150000"/>
              </a:lnSpc>
            </a:pPr>
            <a:r>
              <a:rPr lang="zh-CN" altLang="en-US" dirty="0" smtClean="0"/>
              <a:t>答： 不需要！</a:t>
            </a:r>
            <a:endParaRPr lang="en-US" altLang="zh-CN" dirty="0" smtClean="0"/>
          </a:p>
          <a:p>
            <a:pPr indent="457200">
              <a:lnSpc>
                <a:spcPct val="150000"/>
              </a:lnSpc>
            </a:pPr>
            <a:r>
              <a:rPr lang="zh-CN" altLang="en-US" dirty="0" smtClean="0"/>
              <a:t>虽然监控</a:t>
            </a:r>
            <a:r>
              <a:rPr lang="en-US" altLang="zh-CN" dirty="0" smtClean="0"/>
              <a:t>KPI</a:t>
            </a:r>
            <a:r>
              <a:rPr lang="zh-CN" altLang="en-US" dirty="0" smtClean="0"/>
              <a:t>数量很多，但是种类却不多。</a:t>
            </a:r>
            <a:endParaRPr lang="en-US" altLang="zh-CN" dirty="0" smtClean="0"/>
          </a:p>
          <a:p>
            <a:pPr indent="457200">
              <a:lnSpc>
                <a:spcPct val="150000"/>
              </a:lnSpc>
            </a:pPr>
            <a:r>
              <a:rPr lang="zh-CN" altLang="en-US" dirty="0" smtClean="0"/>
              <a:t>可以使用</a:t>
            </a:r>
            <a:r>
              <a:rPr lang="en-US" altLang="zh-CN" dirty="0" smtClean="0"/>
              <a:t>KPI</a:t>
            </a:r>
            <a:r>
              <a:rPr lang="zh-CN" altLang="en-US" dirty="0" smtClean="0"/>
              <a:t>聚合算法，对</a:t>
            </a:r>
            <a:r>
              <a:rPr lang="en-US" altLang="zh-CN" dirty="0" smtClean="0"/>
              <a:t>KPI</a:t>
            </a:r>
            <a:r>
              <a:rPr lang="zh-CN" altLang="en-US" dirty="0" smtClean="0"/>
              <a:t>进行分类，然</a:t>
            </a:r>
            <a:r>
              <a:rPr lang="zh-CN" altLang="en-US" dirty="0"/>
              <a:t>后</a:t>
            </a:r>
            <a:r>
              <a:rPr lang="zh-CN" altLang="en-US" dirty="0" smtClean="0"/>
              <a:t>对于每一类选择合适的算法，使用迁移学习的方法，将一个训练好的模型迁移到同类曲线的监控上，同时还可大大减少训练时间。</a:t>
            </a:r>
            <a:endParaRPr lang="zh-CN" altLang="en-US" dirty="0"/>
          </a:p>
        </p:txBody>
      </p:sp>
      <p:pic>
        <p:nvPicPr>
          <p:cNvPr id="4098" name="Picture 2" descr="https://github.com/iopsai/iops/blob/master/pictures/anomaly_detection/figure2.png?raw=tru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403252"/>
            <a:ext cx="6148161" cy="7810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github.com/iopsai/iops/blob/master/pictures/anomaly_detection/figure3.png?raw=tru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3313343"/>
            <a:ext cx="6148161" cy="42862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github.com/iopsai/iops/blob/master/pictures/anomaly_detection/figure4.png?raw=tru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408601"/>
            <a:ext cx="5991225" cy="1076637"/>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7781925" y="2733675"/>
            <a:ext cx="2400300" cy="261610"/>
          </a:xfrm>
          <a:prstGeom prst="rect">
            <a:avLst/>
          </a:prstGeom>
          <a:noFill/>
        </p:spPr>
        <p:txBody>
          <a:bodyPr wrap="square" rtlCol="0">
            <a:spAutoFit/>
          </a:bodyPr>
          <a:lstStyle/>
          <a:p>
            <a:pPr algn="ctr"/>
            <a:r>
              <a:rPr lang="zh-CN" altLang="en-US" sz="1100" dirty="0" smtClean="0"/>
              <a:t>周期性</a:t>
            </a:r>
            <a:r>
              <a:rPr lang="en-US" altLang="zh-CN" sz="1100" dirty="0" smtClean="0"/>
              <a:t>KPI</a:t>
            </a:r>
            <a:endParaRPr lang="zh-CN" altLang="en-US" sz="1100" dirty="0"/>
          </a:p>
        </p:txBody>
      </p:sp>
      <p:sp>
        <p:nvSpPr>
          <p:cNvPr id="15" name="文本框 14"/>
          <p:cNvSpPr txBox="1"/>
          <p:nvPr/>
        </p:nvSpPr>
        <p:spPr>
          <a:xfrm>
            <a:off x="7781925" y="3886232"/>
            <a:ext cx="2400300" cy="261610"/>
          </a:xfrm>
          <a:prstGeom prst="rect">
            <a:avLst/>
          </a:prstGeom>
          <a:noFill/>
        </p:spPr>
        <p:txBody>
          <a:bodyPr wrap="square" rtlCol="0">
            <a:spAutoFit/>
          </a:bodyPr>
          <a:lstStyle/>
          <a:p>
            <a:pPr algn="ctr"/>
            <a:r>
              <a:rPr lang="zh-CN" altLang="en-US" sz="1100" dirty="0" smtClean="0"/>
              <a:t>稳定性</a:t>
            </a:r>
            <a:r>
              <a:rPr lang="en-US" altLang="zh-CN" sz="1100" dirty="0" smtClean="0"/>
              <a:t>KPI</a:t>
            </a:r>
            <a:endParaRPr lang="zh-CN" altLang="en-US" sz="1100" dirty="0"/>
          </a:p>
        </p:txBody>
      </p:sp>
      <p:sp>
        <p:nvSpPr>
          <p:cNvPr id="16" name="文本框 15"/>
          <p:cNvSpPr txBox="1"/>
          <p:nvPr/>
        </p:nvSpPr>
        <p:spPr>
          <a:xfrm>
            <a:off x="7781925" y="5734821"/>
            <a:ext cx="2400300" cy="261610"/>
          </a:xfrm>
          <a:prstGeom prst="rect">
            <a:avLst/>
          </a:prstGeom>
          <a:noFill/>
        </p:spPr>
        <p:txBody>
          <a:bodyPr wrap="square" rtlCol="0">
            <a:spAutoFit/>
          </a:bodyPr>
          <a:lstStyle/>
          <a:p>
            <a:pPr algn="ctr"/>
            <a:r>
              <a:rPr lang="zh-CN" altLang="en-US" sz="1100" dirty="0" smtClean="0"/>
              <a:t>不稳定性</a:t>
            </a:r>
            <a:r>
              <a:rPr lang="en-US" altLang="zh-CN" sz="1100" dirty="0" smtClean="0"/>
              <a:t>KPI</a:t>
            </a:r>
            <a:endParaRPr lang="zh-CN" altLang="en-US" sz="1100" dirty="0"/>
          </a:p>
        </p:txBody>
      </p:sp>
      <p:sp>
        <p:nvSpPr>
          <p:cNvPr id="18" name="文本框 17"/>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45078278"/>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endParaRPr lang="zh-CN" altLang="en-US" dirty="0">
              <a:solidFill>
                <a:srgbClr val="333F50"/>
              </a:solidFill>
            </a:endParaRPr>
          </a:p>
        </p:txBody>
      </p:sp>
      <p:sp>
        <p:nvSpPr>
          <p:cNvPr id="7" name="文本框 6"/>
          <p:cNvSpPr txBox="1"/>
          <p:nvPr/>
        </p:nvSpPr>
        <p:spPr>
          <a:xfrm>
            <a:off x="624114" y="3004048"/>
            <a:ext cx="4610100" cy="171213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latin typeface="等线 Light" panose="02010600030101010101" pitchFamily="2" charset="-122"/>
                <a:ea typeface="等线 Light" panose="02010600030101010101" pitchFamily="2" charset="-122"/>
              </a:rPr>
              <a:t>当一个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指标发生异常时，往往伴随着其他</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指标的变化，这些变化的</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之间是否存在着关联？如何快速定位某一个</a:t>
            </a:r>
            <a:r>
              <a:rPr lang="en-US" altLang="zh-CN" dirty="0" smtClean="0">
                <a:latin typeface="等线 Light" panose="02010600030101010101" pitchFamily="2" charset="-122"/>
                <a:ea typeface="等线 Light" panose="02010600030101010101" pitchFamily="2" charset="-122"/>
              </a:rPr>
              <a:t>KPI</a:t>
            </a:r>
            <a:r>
              <a:rPr lang="zh-CN" altLang="en-US" dirty="0" smtClean="0">
                <a:latin typeface="等线 Light" panose="02010600030101010101" pitchFamily="2" charset="-122"/>
                <a:ea typeface="等线 Light" panose="02010600030101010101" pitchFamily="2" charset="-122"/>
              </a:rPr>
              <a:t>指标异常的原因？</a:t>
            </a:r>
            <a:endParaRPr lang="en-US" altLang="zh-CN" dirty="0" smtClean="0">
              <a:latin typeface="等线 Light" panose="02010600030101010101" pitchFamily="2" charset="-122"/>
              <a:ea typeface="等线 Light" panose="02010600030101010101" pitchFamily="2" charset="-122"/>
            </a:endParaRPr>
          </a:p>
        </p:txBody>
      </p:sp>
      <p:pic>
        <p:nvPicPr>
          <p:cNvPr id="3" name="图片 2"/>
          <p:cNvPicPr>
            <a:picLocks noChangeAspect="1"/>
          </p:cNvPicPr>
          <p:nvPr/>
        </p:nvPicPr>
        <p:blipFill>
          <a:blip r:embed="rId3"/>
          <a:stretch>
            <a:fillRect/>
          </a:stretch>
        </p:blipFill>
        <p:spPr>
          <a:xfrm>
            <a:off x="6761162" y="2213428"/>
            <a:ext cx="3937635" cy="2692400"/>
          </a:xfrm>
          <a:prstGeom prst="rect">
            <a:avLst/>
          </a:prstGeom>
        </p:spPr>
      </p:pic>
      <p:sp>
        <p:nvSpPr>
          <p:cNvPr id="10" name="矩形 9"/>
          <p:cNvSpPr/>
          <p:nvPr/>
        </p:nvSpPr>
        <p:spPr>
          <a:xfrm>
            <a:off x="721810" y="2357718"/>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11" name="文本框 10"/>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61801087"/>
      </p:ext>
    </p:extLst>
  </p:cSld>
  <p:clrMapOvr>
    <a:masterClrMapping/>
  </p:clrMapOvr>
  <p:transition spd="med">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394486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endParaRPr lang="zh-CN" altLang="en-US" dirty="0">
              <a:solidFill>
                <a:srgbClr val="333F50"/>
              </a:solidFill>
            </a:endParaRPr>
          </a:p>
        </p:txBody>
      </p:sp>
      <p:sp>
        <p:nvSpPr>
          <p:cNvPr id="2" name="文本框 1"/>
          <p:cNvSpPr txBox="1"/>
          <p:nvPr/>
        </p:nvSpPr>
        <p:spPr>
          <a:xfrm>
            <a:off x="721811" y="2379888"/>
            <a:ext cx="4574090" cy="2585323"/>
          </a:xfrm>
          <a:prstGeom prst="rect">
            <a:avLst/>
          </a:prstGeom>
          <a:noFill/>
        </p:spPr>
        <p:txBody>
          <a:bodyPr wrap="square" rtlCol="0">
            <a:spAutoFit/>
          </a:bodyPr>
          <a:lstStyle/>
          <a:p>
            <a:pPr indent="457200">
              <a:lnSpc>
                <a:spcPct val="150000"/>
              </a:lnSpc>
            </a:pPr>
            <a:r>
              <a:rPr lang="zh-CN" altLang="en-US" dirty="0" smtClean="0"/>
              <a:t>根因分析 </a:t>
            </a:r>
            <a:r>
              <a:rPr lang="en-US" altLang="zh-CN" dirty="0" smtClean="0"/>
              <a:t>= </a:t>
            </a:r>
            <a:r>
              <a:rPr lang="zh-CN" altLang="en-US" dirty="0" smtClean="0"/>
              <a:t>异常分析 </a:t>
            </a:r>
            <a:r>
              <a:rPr lang="en-US" altLang="zh-CN" dirty="0" smtClean="0"/>
              <a:t>+ </a:t>
            </a:r>
            <a:r>
              <a:rPr lang="zh-CN" altLang="en-US" dirty="0" smtClean="0"/>
              <a:t>故障传播链构建</a:t>
            </a:r>
            <a:endParaRPr lang="en-US" altLang="zh-CN" dirty="0" smtClean="0"/>
          </a:p>
          <a:p>
            <a:pPr indent="457200">
              <a:lnSpc>
                <a:spcPct val="150000"/>
              </a:lnSpc>
            </a:pPr>
            <a:r>
              <a:rPr lang="zh-CN" altLang="en-US" dirty="0" smtClean="0"/>
              <a:t>对于故障定位问题，如果有一个及时的监测和准确的报警，又有一个完整的故障传播链，那么根因的分析就很简单了，只需顺着故障传播链依次查找，就能找到故障的根因。</a:t>
            </a:r>
            <a:endParaRPr lang="en-US" altLang="zh-CN" dirty="0" smtClean="0"/>
          </a:p>
        </p:txBody>
      </p:sp>
      <p:sp>
        <p:nvSpPr>
          <p:cNvPr id="9" name="文本框 8"/>
          <p:cNvSpPr txBox="1"/>
          <p:nvPr/>
        </p:nvSpPr>
        <p:spPr>
          <a:xfrm>
            <a:off x="6648450" y="943949"/>
            <a:ext cx="4267200" cy="923330"/>
          </a:xfrm>
          <a:prstGeom prst="rect">
            <a:avLst/>
          </a:prstGeom>
          <a:noFill/>
        </p:spPr>
        <p:txBody>
          <a:bodyPr wrap="square" rtlCol="0">
            <a:spAutoFit/>
          </a:bodyPr>
          <a:lstStyle/>
          <a:p>
            <a:pPr indent="457200">
              <a:lnSpc>
                <a:spcPct val="150000"/>
              </a:lnSpc>
            </a:pPr>
            <a:r>
              <a:rPr lang="zh-CN" altLang="en-US" dirty="0" smtClean="0"/>
              <a:t>解决思路：</a:t>
            </a:r>
            <a:endParaRPr lang="en-US" altLang="zh-CN" dirty="0" smtClean="0"/>
          </a:p>
          <a:p>
            <a:pPr marL="285750" indent="-285750">
              <a:lnSpc>
                <a:spcPct val="150000"/>
              </a:lnSpc>
              <a:buFont typeface="Arial" panose="020B0604020202020204" pitchFamily="34" charset="0"/>
              <a:buChar char="•"/>
            </a:pPr>
            <a:endParaRPr lang="zh-CN" altLang="en-US" dirty="0"/>
          </a:p>
        </p:txBody>
      </p:sp>
      <p:sp>
        <p:nvSpPr>
          <p:cNvPr id="11" name="圆角矩形 10"/>
          <p:cNvSpPr/>
          <p:nvPr/>
        </p:nvSpPr>
        <p:spPr>
          <a:xfrm>
            <a:off x="7094035" y="1472241"/>
            <a:ext cx="3539871" cy="16810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7200">
              <a:lnSpc>
                <a:spcPct val="150000"/>
              </a:lnSpc>
            </a:pPr>
            <a:r>
              <a:rPr lang="zh-CN" altLang="en-US" dirty="0"/>
              <a:t>是否存在像异常检测一样，直接通过一个算法使用类似于黑盒方法进行解决？</a:t>
            </a:r>
            <a:endParaRPr lang="en-US" altLang="zh-CN" dirty="0"/>
          </a:p>
        </p:txBody>
      </p:sp>
      <p:pic>
        <p:nvPicPr>
          <p:cNvPr id="12" name="Picture 2" descr="“wrong icon”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9766" y="1280473"/>
            <a:ext cx="2064567" cy="2064567"/>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6773232" y="4407170"/>
            <a:ext cx="4181475" cy="879087"/>
          </a:xfrm>
          <a:prstGeom prst="rect">
            <a:avLst/>
          </a:prstGeom>
          <a:noFill/>
        </p:spPr>
        <p:txBody>
          <a:bodyPr wrap="square" rtlCol="0">
            <a:spAutoFit/>
          </a:bodyPr>
          <a:lstStyle/>
          <a:p>
            <a:pPr indent="457200">
              <a:lnSpc>
                <a:spcPct val="150000"/>
              </a:lnSpc>
            </a:pPr>
            <a:r>
              <a:rPr lang="zh-CN" altLang="en-US" dirty="0" smtClean="0"/>
              <a:t>由于根因分析问题较为复杂，使用单独的</a:t>
            </a:r>
            <a:r>
              <a:rPr lang="en-US" altLang="zh-CN" dirty="0" smtClean="0"/>
              <a:t>AI</a:t>
            </a:r>
            <a:r>
              <a:rPr lang="zh-CN" altLang="en-US" dirty="0" smtClean="0"/>
              <a:t>算法无法解决</a:t>
            </a:r>
            <a:endParaRPr lang="zh-CN" altLang="en-US" dirty="0"/>
          </a:p>
        </p:txBody>
      </p:sp>
      <p:sp>
        <p:nvSpPr>
          <p:cNvPr id="14" name="文本框 13"/>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0726584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庖丁解牛</a:t>
            </a:r>
            <a:endParaRPr lang="zh-CN" altLang="en-US" dirty="0">
              <a:solidFill>
                <a:srgbClr val="333F50"/>
              </a:solidFill>
            </a:endParaRPr>
          </a:p>
        </p:txBody>
      </p:sp>
      <p:pic>
        <p:nvPicPr>
          <p:cNvPr id="3074" name="Picture 2" descr="“庖丁解牛 漫画”的图片搜索结果"/>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114" y="1723701"/>
            <a:ext cx="5711716" cy="404951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7093819" y="1880653"/>
            <a:ext cx="4100362" cy="369332"/>
          </a:xfrm>
          <a:prstGeom prst="rect">
            <a:avLst/>
          </a:prstGeom>
          <a:noFill/>
        </p:spPr>
        <p:txBody>
          <a:bodyPr wrap="square" rtlCol="0">
            <a:spAutoFit/>
          </a:bodyPr>
          <a:lstStyle/>
          <a:p>
            <a:pPr lvl="0">
              <a:defRPr/>
            </a:pPr>
            <a:r>
              <a:rPr lang="zh-CN" altLang="en-US"/>
              <a:t>目无全牛 官止神行</a:t>
            </a:r>
            <a:endParaRPr lang="en-US" altLang="zh-CN" dirty="0"/>
          </a:p>
        </p:txBody>
      </p:sp>
      <p:sp>
        <p:nvSpPr>
          <p:cNvPr id="3" name="文本框 2"/>
          <p:cNvSpPr txBox="1"/>
          <p:nvPr/>
        </p:nvSpPr>
        <p:spPr>
          <a:xfrm>
            <a:off x="7093819" y="3285164"/>
            <a:ext cx="3811604" cy="369332"/>
          </a:xfrm>
          <a:prstGeom prst="rect">
            <a:avLst/>
          </a:prstGeom>
          <a:noFill/>
        </p:spPr>
        <p:txBody>
          <a:bodyPr wrap="square" rtlCol="0">
            <a:spAutoFit/>
          </a:bodyPr>
          <a:lstStyle/>
          <a:p>
            <a:r>
              <a:rPr lang="zh-CN" altLang="en-US" dirty="0" smtClean="0"/>
              <a:t>批郤导窾</a:t>
            </a:r>
            <a:r>
              <a:rPr lang="en-US" altLang="zh-CN" dirty="0"/>
              <a:t> </a:t>
            </a:r>
            <a:r>
              <a:rPr lang="zh-CN" altLang="en-US" dirty="0" smtClean="0"/>
              <a:t>切中</a:t>
            </a:r>
            <a:r>
              <a:rPr lang="zh-CN" altLang="en-US" dirty="0"/>
              <a:t>肯綮</a:t>
            </a:r>
          </a:p>
        </p:txBody>
      </p:sp>
      <p:sp>
        <p:nvSpPr>
          <p:cNvPr id="10" name="文本框 9"/>
          <p:cNvSpPr txBox="1"/>
          <p:nvPr/>
        </p:nvSpPr>
        <p:spPr>
          <a:xfrm>
            <a:off x="7093819" y="4689675"/>
            <a:ext cx="3811604" cy="369332"/>
          </a:xfrm>
          <a:prstGeom prst="rect">
            <a:avLst/>
          </a:prstGeom>
          <a:noFill/>
        </p:spPr>
        <p:txBody>
          <a:bodyPr wrap="square" rtlCol="0">
            <a:spAutoFit/>
          </a:bodyPr>
          <a:lstStyle/>
          <a:p>
            <a:r>
              <a:rPr lang="zh-CN" altLang="en-US" dirty="0" smtClean="0"/>
              <a:t>游刃有余 踌躇满志</a:t>
            </a:r>
            <a:endParaRPr lang="zh-CN" altLang="en-US" dirty="0"/>
          </a:p>
        </p:txBody>
      </p:sp>
      <p:sp>
        <p:nvSpPr>
          <p:cNvPr id="12" name="矩形 11"/>
          <p:cNvSpPr/>
          <p:nvPr/>
        </p:nvSpPr>
        <p:spPr>
          <a:xfrm>
            <a:off x="0" y="2887749"/>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497518" y="3344065"/>
            <a:ext cx="8875207" cy="830997"/>
          </a:xfrm>
          <a:prstGeom prst="rect">
            <a:avLst/>
          </a:prstGeom>
          <a:noFill/>
        </p:spPr>
        <p:txBody>
          <a:bodyPr wrap="square" rtlCol="0">
            <a:spAutoFit/>
          </a:bodyPr>
          <a:lstStyle/>
          <a:p>
            <a:r>
              <a:rPr lang="zh-CN" altLang="en-US" sz="2400" dirty="0" smtClean="0">
                <a:solidFill>
                  <a:schemeClr val="bg1"/>
                </a:solidFill>
              </a:rPr>
              <a:t>将一个整体的大问题分解成许多具有“确定性（</a:t>
            </a:r>
            <a:r>
              <a:rPr lang="en-US" altLang="zh-CN" sz="2400" dirty="0" smtClean="0">
                <a:solidFill>
                  <a:schemeClr val="bg1"/>
                </a:solidFill>
              </a:rPr>
              <a:t>well defined</a:t>
            </a:r>
            <a:r>
              <a:rPr lang="zh-CN" altLang="en-US" sz="2400" dirty="0" smtClean="0">
                <a:solidFill>
                  <a:schemeClr val="bg1"/>
                </a:solidFill>
              </a:rPr>
              <a:t>）”的问题，这些问题就都变成</a:t>
            </a:r>
            <a:r>
              <a:rPr lang="en-US" altLang="zh-CN" sz="2400" dirty="0" smtClean="0">
                <a:solidFill>
                  <a:schemeClr val="bg1"/>
                </a:solidFill>
              </a:rPr>
              <a:t>AI</a:t>
            </a:r>
            <a:r>
              <a:rPr lang="zh-CN" altLang="en-US" sz="2400" dirty="0" smtClean="0">
                <a:solidFill>
                  <a:schemeClr val="bg1"/>
                </a:solidFill>
              </a:rPr>
              <a:t>算法可以解决的了</a:t>
            </a:r>
            <a:endParaRPr lang="zh-CN" altLang="en-US" sz="2400" dirty="0">
              <a:solidFill>
                <a:schemeClr val="bg1"/>
              </a:solidFill>
            </a:endParaRPr>
          </a:p>
        </p:txBody>
      </p:sp>
      <p:sp>
        <p:nvSpPr>
          <p:cNvPr id="14" name="文本框 13"/>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7928324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ppt_x"/>
                                          </p:val>
                                        </p:tav>
                                        <p:tav tm="100000">
                                          <p:val>
                                            <p:strVal val="#ppt_x"/>
                                          </p:val>
                                        </p:tav>
                                      </p:tavLst>
                                    </p:anim>
                                    <p:anim calcmode="lin" valueType="num">
                                      <p:cBhvr additive="base">
                                        <p:cTn id="2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P spid="12" grpId="0" animBg="1"/>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根因分析</a:t>
            </a:r>
            <a:r>
              <a:rPr lang="en-US" altLang="zh-CN" dirty="0" smtClean="0">
                <a:solidFill>
                  <a:srgbClr val="333F50"/>
                </a:solidFill>
              </a:rPr>
              <a:t>– </a:t>
            </a:r>
            <a:r>
              <a:rPr lang="zh-CN" altLang="en-US" dirty="0" smtClean="0">
                <a:solidFill>
                  <a:srgbClr val="333F50"/>
                </a:solidFill>
              </a:rPr>
              <a:t>庖丁解牛</a:t>
            </a:r>
            <a:endParaRPr lang="zh-CN" altLang="en-US" dirty="0">
              <a:solidFill>
                <a:srgbClr val="333F50"/>
              </a:solidFill>
            </a:endParaRPr>
          </a:p>
        </p:txBody>
      </p:sp>
      <p:graphicFrame>
        <p:nvGraphicFramePr>
          <p:cNvPr id="2" name="图示 1"/>
          <p:cNvGraphicFramePr/>
          <p:nvPr>
            <p:extLst/>
          </p:nvPr>
        </p:nvGraphicFramePr>
        <p:xfrm>
          <a:off x="2070099" y="2862641"/>
          <a:ext cx="7378701" cy="39953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图示 9"/>
          <p:cNvGraphicFramePr/>
          <p:nvPr>
            <p:extLst/>
          </p:nvPr>
        </p:nvGraphicFramePr>
        <p:xfrm>
          <a:off x="2222499" y="3015041"/>
          <a:ext cx="7378701" cy="399536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1" name="图示 10"/>
          <p:cNvGraphicFramePr/>
          <p:nvPr>
            <p:extLst/>
          </p:nvPr>
        </p:nvGraphicFramePr>
        <p:xfrm>
          <a:off x="1705278" y="2521206"/>
          <a:ext cx="1640717" cy="93602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2" name="图示 11"/>
          <p:cNvGraphicFramePr/>
          <p:nvPr>
            <p:extLst/>
          </p:nvPr>
        </p:nvGraphicFramePr>
        <p:xfrm>
          <a:off x="5116437" y="2470831"/>
          <a:ext cx="1640717" cy="93602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5" name="右箭头 4"/>
          <p:cNvSpPr/>
          <p:nvPr/>
        </p:nvSpPr>
        <p:spPr>
          <a:xfrm>
            <a:off x="3258001" y="2718663"/>
            <a:ext cx="1383393" cy="3042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3502932" y="2124075"/>
            <a:ext cx="702582" cy="369332"/>
          </a:xfrm>
          <a:prstGeom prst="rect">
            <a:avLst/>
          </a:prstGeom>
          <a:noFill/>
        </p:spPr>
        <p:txBody>
          <a:bodyPr wrap="square" rtlCol="0">
            <a:spAutoFit/>
          </a:bodyPr>
          <a:lstStyle/>
          <a:p>
            <a:r>
              <a:rPr lang="zh-CN" altLang="en-US" dirty="0" smtClean="0"/>
              <a:t>输入</a:t>
            </a:r>
            <a:endParaRPr lang="zh-CN" altLang="en-US" dirty="0"/>
          </a:p>
        </p:txBody>
      </p:sp>
      <p:sp>
        <p:nvSpPr>
          <p:cNvPr id="13" name="下箭头 12"/>
          <p:cNvSpPr/>
          <p:nvPr/>
        </p:nvSpPr>
        <p:spPr>
          <a:xfrm>
            <a:off x="5568494" y="3293458"/>
            <a:ext cx="333375" cy="53158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5901869" y="3400407"/>
            <a:ext cx="708481" cy="369332"/>
          </a:xfrm>
          <a:prstGeom prst="rect">
            <a:avLst/>
          </a:prstGeom>
          <a:noFill/>
        </p:spPr>
        <p:txBody>
          <a:bodyPr wrap="square" rtlCol="0">
            <a:spAutoFit/>
          </a:bodyPr>
          <a:lstStyle/>
          <a:p>
            <a:r>
              <a:rPr lang="zh-CN" altLang="en-US" dirty="0" smtClean="0"/>
              <a:t>方法</a:t>
            </a:r>
            <a:endParaRPr lang="zh-CN" altLang="en-US" dirty="0"/>
          </a:p>
        </p:txBody>
      </p:sp>
      <p:sp>
        <p:nvSpPr>
          <p:cNvPr id="15" name="文本框 14"/>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04679956"/>
      </p:ext>
    </p:extLst>
  </p:cSld>
  <p:clrMapOvr>
    <a:masterClrMapping/>
  </p:clrMapOvr>
  <p:transition spd="med">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721810" y="943949"/>
            <a:ext cx="54694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endParaRPr lang="zh-CN" altLang="en-US" dirty="0">
              <a:solidFill>
                <a:srgbClr val="333F50"/>
              </a:solidFill>
            </a:endParaRPr>
          </a:p>
        </p:txBody>
      </p:sp>
      <p:pic>
        <p:nvPicPr>
          <p:cNvPr id="18" name="图片 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4735" y="1564212"/>
            <a:ext cx="8965115" cy="4412953"/>
          </a:xfrm>
          <a:prstGeom prst="rect">
            <a:avLst/>
          </a:prstGeom>
        </p:spPr>
      </p:pic>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62652913"/>
      </p:ext>
    </p:extLst>
  </p:cSld>
  <p:clrMapOvr>
    <a:masterClrMapping/>
  </p:clrMapOvr>
  <p:transition spd="med">
    <p:pull/>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28859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异常事件关联挖掘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近</a:t>
            </a:r>
            <a:r>
              <a:rPr lang="zh-CN" altLang="en-US" dirty="0"/>
              <a:t>段时间发生的异常事件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异常事件的关联规则</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a:t>分析异常事件两两之间的关联关系 </a:t>
            </a:r>
          </a:p>
        </p:txBody>
      </p:sp>
      <p:pic>
        <p:nvPicPr>
          <p:cNvPr id="18" name="图片 17"/>
          <p:cNvPicPr>
            <a:picLocks noChangeAspect="1"/>
          </p:cNvPicPr>
          <p:nvPr/>
        </p:nvPicPr>
        <p:blipFill>
          <a:blip r:embed="rId3"/>
          <a:stretch>
            <a:fillRect/>
          </a:stretch>
        </p:blipFill>
        <p:spPr>
          <a:xfrm>
            <a:off x="5953125" y="1143205"/>
            <a:ext cx="5214938" cy="5206144"/>
          </a:xfrm>
          <a:prstGeom prst="rect">
            <a:avLst/>
          </a:prstGeom>
        </p:spPr>
      </p:pic>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22" name="文本框 21"/>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1387822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par>
                                <p:cTn id="23" presetID="22" presetClass="entr" presetSubtype="4"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wipe(down)">
                                      <p:cBhvr>
                                        <p:cTn id="25" dur="500"/>
                                        <p:tgtEl>
                                          <p:spTgt spid="18"/>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603595" y="1515545"/>
            <a:ext cx="6197879" cy="4094363"/>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6117140"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事件</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关联挖掘</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a:t>
            </a:r>
            <a:r>
              <a:rPr lang="en-US" altLang="zh-CN" dirty="0" smtClean="0"/>
              <a:t>KPI</a:t>
            </a:r>
            <a:r>
              <a:rPr lang="zh-CN" altLang="en-US" dirty="0" smtClean="0"/>
              <a:t>曲线，一条事件数据源</a:t>
            </a:r>
            <a:endParaRPr lang="en-US" altLang="zh-CN" dirty="0" smtClean="0"/>
          </a:p>
        </p:txBody>
      </p:sp>
      <p:sp>
        <p:nvSpPr>
          <p:cNvPr id="16" name="文本框 15"/>
          <p:cNvSpPr txBox="1"/>
          <p:nvPr/>
        </p:nvSpPr>
        <p:spPr>
          <a:xfrm>
            <a:off x="721810" y="5693164"/>
            <a:ext cx="4526465" cy="50783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是否相关、先后顺序、变化方向关系</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721810" y="2473358"/>
            <a:ext cx="3698012" cy="92333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分析事件与</a:t>
            </a:r>
            <a:r>
              <a:rPr lang="en-US" altLang="zh-CN" dirty="0" smtClean="0"/>
              <a:t>KPI</a:t>
            </a:r>
            <a:r>
              <a:rPr lang="zh-CN" altLang="en-US" dirty="0" smtClean="0"/>
              <a:t>之间</a:t>
            </a:r>
            <a:r>
              <a:rPr lang="zh-CN" altLang="en-US" dirty="0"/>
              <a:t>的关联关系 </a:t>
            </a:r>
          </a:p>
        </p:txBody>
      </p:sp>
      <p:sp>
        <p:nvSpPr>
          <p:cNvPr id="20" name="矩形 19"/>
          <p:cNvSpPr/>
          <p:nvPr/>
        </p:nvSpPr>
        <p:spPr>
          <a:xfrm>
            <a:off x="0" y="257917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Pearson </a:t>
            </a:r>
            <a:r>
              <a:rPr lang="en-US" altLang="zh-CN" sz="2400" dirty="0" smtClean="0">
                <a:solidFill>
                  <a:schemeClr val="bg1"/>
                </a:solidFill>
              </a:rPr>
              <a:t>Correlation</a:t>
            </a:r>
            <a:r>
              <a:rPr lang="zh-CN" altLang="en-US" sz="2400" dirty="0" smtClean="0">
                <a:solidFill>
                  <a:schemeClr val="bg1"/>
                </a:solidFill>
              </a:rPr>
              <a:t>、</a:t>
            </a:r>
            <a:r>
              <a:rPr lang="en-US" altLang="zh-CN" sz="2400" dirty="0" smtClean="0">
                <a:solidFill>
                  <a:schemeClr val="bg1"/>
                </a:solidFill>
              </a:rPr>
              <a:t>KNN</a:t>
            </a:r>
            <a:r>
              <a:rPr lang="zh-CN" altLang="en-US" sz="2400" dirty="0" smtClean="0">
                <a:solidFill>
                  <a:schemeClr val="bg1"/>
                </a:solidFill>
              </a:rPr>
              <a:t>、</a:t>
            </a:r>
            <a:r>
              <a:rPr lang="en-US" altLang="zh-CN" sz="2400" dirty="0" smtClean="0">
                <a:solidFill>
                  <a:schemeClr val="bg1"/>
                </a:solidFill>
              </a:rPr>
              <a:t>A/</a:t>
            </a:r>
            <a:r>
              <a:rPr lang="en-US" altLang="zh-CN" sz="2400" dirty="0" err="1" smtClean="0">
                <a:solidFill>
                  <a:schemeClr val="bg1"/>
                </a:solidFill>
              </a:rPr>
              <a:t>Btest</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7251566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6000982" y="1675384"/>
            <a:ext cx="5400675" cy="3962400"/>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a:solidFill>
                  <a:srgbClr val="333F50"/>
                </a:solidFill>
              </a:rPr>
              <a:t>故障管理</a:t>
            </a:r>
            <a:r>
              <a:rPr lang="en-US" altLang="zh-CN" dirty="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聚类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大量</a:t>
            </a:r>
            <a:r>
              <a:rPr lang="en-US" altLang="zh-CN" dirty="0"/>
              <a:t>KPI</a:t>
            </a:r>
            <a:r>
              <a:rPr lang="zh-CN" altLang="en-US" dirty="0"/>
              <a:t>时序数据曲线 </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每条曲线所属的类别</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304343"/>
            <a:ext cx="3698012" cy="102739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sz="1400" dirty="0"/>
              <a:t>面对大规模</a:t>
            </a:r>
            <a:r>
              <a:rPr lang="en-US" altLang="zh-CN" sz="1400" dirty="0"/>
              <a:t>KPI</a:t>
            </a:r>
            <a:r>
              <a:rPr lang="zh-CN" altLang="en-US" sz="1400" dirty="0"/>
              <a:t>时序数据曲线，选取合适</a:t>
            </a:r>
            <a:r>
              <a:rPr lang="zh-CN" altLang="en-US" sz="1400" dirty="0" smtClean="0"/>
              <a:t>的度量</a:t>
            </a:r>
            <a:r>
              <a:rPr lang="zh-CN" altLang="en-US" sz="1400" dirty="0"/>
              <a:t>刻画曲线间的相似性，采用聚类与</a:t>
            </a:r>
            <a:r>
              <a:rPr lang="zh-CN" altLang="en-US" sz="1400" dirty="0" smtClean="0"/>
              <a:t>分派算法</a:t>
            </a:r>
            <a:r>
              <a:rPr lang="zh-CN" altLang="en-US" sz="1400" dirty="0"/>
              <a:t>快速确定曲线类别。</a:t>
            </a:r>
          </a:p>
        </p:txBody>
      </p:sp>
      <p:sp>
        <p:nvSpPr>
          <p:cNvPr id="20" name="矩形 19"/>
          <p:cNvSpPr/>
          <p:nvPr/>
        </p:nvSpPr>
        <p:spPr>
          <a:xfrm>
            <a:off x="0" y="2579171"/>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5" y="3207107"/>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a:solidFill>
                  <a:schemeClr val="bg1"/>
                </a:solidFill>
              </a:rPr>
              <a:t>DBSCAN</a:t>
            </a:r>
            <a:r>
              <a:rPr lang="zh-CN" altLang="en-US" sz="2400" dirty="0" smtClean="0">
                <a:solidFill>
                  <a:schemeClr val="bg1"/>
                </a:solidFill>
              </a:rPr>
              <a:t>、</a:t>
            </a:r>
            <a:r>
              <a:rPr lang="en-US" altLang="zh-CN" sz="2400" dirty="0">
                <a:solidFill>
                  <a:schemeClr val="bg1"/>
                </a:solidFill>
              </a:rPr>
              <a:t>K-</a:t>
            </a:r>
            <a:r>
              <a:rPr lang="en-US" altLang="zh-CN" sz="2400" dirty="0" err="1">
                <a:solidFill>
                  <a:schemeClr val="bg1"/>
                </a:solidFill>
              </a:rPr>
              <a:t>medoids</a:t>
            </a:r>
            <a:r>
              <a:rPr lang="zh-CN" altLang="en-US" sz="2400" dirty="0" smtClean="0">
                <a:solidFill>
                  <a:schemeClr val="bg1"/>
                </a:solidFill>
              </a:rPr>
              <a:t>、</a:t>
            </a:r>
            <a:r>
              <a:rPr lang="en-US" altLang="zh-CN" sz="2400" dirty="0">
                <a:solidFill>
                  <a:schemeClr val="bg1"/>
                </a:solidFill>
              </a:rPr>
              <a:t>CLARANS</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9804042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703117" y="1486310"/>
            <a:ext cx="5410200" cy="4391025"/>
          </a:xfrm>
          <a:prstGeom prst="rect">
            <a:avLst/>
          </a:prstGeom>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605422" cy="369332"/>
          </a:xfrm>
          <a:prstGeom prst="rect">
            <a:avLst/>
          </a:prstGeom>
          <a:noFill/>
        </p:spPr>
        <p:txBody>
          <a:bodyPr wrap="square" rtlCol="0">
            <a:spAutoFit/>
          </a:bodyPr>
          <a:lstStyle/>
          <a:p>
            <a:r>
              <a:rPr lang="zh-CN" altLang="en-US" dirty="0">
                <a:solidFill>
                  <a:srgbClr val="333F50"/>
                </a:solidFill>
              </a:rPr>
              <a:t>故障</a:t>
            </a:r>
            <a:r>
              <a:rPr lang="zh-CN" altLang="en-US" dirty="0" smtClean="0">
                <a:solidFill>
                  <a:srgbClr val="333F50"/>
                </a:solidFill>
              </a:rPr>
              <a:t>管理</a:t>
            </a:r>
            <a:r>
              <a:rPr lang="en-US" altLang="zh-CN" dirty="0" smtClean="0">
                <a:solidFill>
                  <a:srgbClr val="333F50"/>
                </a:solidFill>
                <a:sym typeface="Wingdings" panose="05000000000000000000" pitchFamily="2" charset="2"/>
              </a:rPr>
              <a:t></a:t>
            </a:r>
            <a:r>
              <a:rPr lang="zh-CN" altLang="en-US" dirty="0" smtClean="0">
                <a:solidFill>
                  <a:srgbClr val="333F50"/>
                </a:solidFill>
              </a:rPr>
              <a:t>根因分析</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故障传播树构建</a:t>
            </a:r>
            <a:r>
              <a:rPr lang="en-US" altLang="zh-CN" dirty="0" smtClean="0">
                <a:solidFill>
                  <a:srgbClr val="333F50"/>
                </a:solidFill>
                <a:sym typeface="Wingdings" panose="05000000000000000000" pitchFamily="2" charset="2"/>
              </a:rPr>
              <a:t>KPI</a:t>
            </a:r>
            <a:r>
              <a:rPr lang="zh-CN" altLang="en-US" dirty="0" smtClean="0">
                <a:solidFill>
                  <a:srgbClr val="333F50"/>
                </a:solidFill>
                <a:sym typeface="Wingdings" panose="05000000000000000000" pitchFamily="2" charset="2"/>
              </a:rPr>
              <a:t>关联关系</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两条时序</a:t>
            </a:r>
            <a:r>
              <a:rPr lang="en-US" altLang="zh-CN" dirty="0"/>
              <a:t>KPI</a:t>
            </a:r>
            <a:r>
              <a:rPr lang="zh-CN" altLang="en-US" dirty="0"/>
              <a:t>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a:t>两条曲线波动是否相关</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dirty="0" smtClean="0"/>
              <a:t>KPI</a:t>
            </a:r>
            <a:r>
              <a:rPr lang="zh-CN" altLang="en-US" dirty="0"/>
              <a:t>波动的相关性对于根因分析、</a:t>
            </a:r>
            <a:r>
              <a:rPr lang="zh-CN" altLang="en-US" dirty="0" smtClean="0"/>
              <a:t>故障定位</a:t>
            </a:r>
            <a:r>
              <a:rPr lang="zh-CN" altLang="en-US" dirty="0"/>
              <a:t>等可以提供很好的线索</a:t>
            </a:r>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a:t>
            </a:r>
            <a:r>
              <a:rPr lang="en-US" altLang="zh-CN" sz="2400" dirty="0" smtClean="0">
                <a:solidFill>
                  <a:schemeClr val="bg1"/>
                </a:solidFill>
              </a:rPr>
              <a:t>FP-Growth</a:t>
            </a:r>
            <a:r>
              <a:rPr lang="zh-CN" altLang="en-US" sz="2400" dirty="0" smtClean="0">
                <a:solidFill>
                  <a:schemeClr val="bg1"/>
                </a:solidFill>
              </a:rPr>
              <a:t>、</a:t>
            </a:r>
            <a:r>
              <a:rPr lang="en-US" altLang="zh-CN" sz="2400" dirty="0" err="1" smtClean="0">
                <a:solidFill>
                  <a:schemeClr val="bg1"/>
                </a:solidFill>
              </a:rPr>
              <a:t>Apriori</a:t>
            </a:r>
            <a:r>
              <a:rPr lang="zh-CN" altLang="en-US" sz="2400" dirty="0" smtClean="0">
                <a:solidFill>
                  <a:schemeClr val="bg1"/>
                </a:solidFill>
              </a:rPr>
              <a:t>、随机森林</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5155129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down)">
                                      <p:cBhvr>
                                        <p:cTn id="24" dur="500"/>
                                        <p:tgtEl>
                                          <p:spTgt spid="14"/>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down)">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2433638" y="2571750"/>
            <a:ext cx="7405688" cy="2169825"/>
          </a:xfrm>
          <a:prstGeom prst="rect">
            <a:avLst/>
          </a:prstGeom>
          <a:noFill/>
        </p:spPr>
        <p:txBody>
          <a:bodyPr wrap="square" rtlCol="0">
            <a:spAutoFit/>
          </a:bodyPr>
          <a:lstStyle/>
          <a:p>
            <a:pPr indent="457200">
              <a:lnSpc>
                <a:spcPct val="150000"/>
              </a:lnSpc>
            </a:pPr>
            <a:r>
              <a:rPr lang="zh-CN" altLang="en-US" dirty="0" smtClean="0"/>
              <a:t>在对异常进行</a:t>
            </a:r>
            <a:r>
              <a:rPr lang="en-US" altLang="zh-CN" dirty="0" smtClean="0"/>
              <a:t>KPI</a:t>
            </a:r>
            <a:r>
              <a:rPr lang="zh-CN" altLang="en-US" dirty="0"/>
              <a:t>根</a:t>
            </a:r>
            <a:r>
              <a:rPr lang="zh-CN" altLang="en-US" dirty="0" smtClean="0"/>
              <a:t>因分析后，得到了导致这个异常的根因，然后</a:t>
            </a:r>
            <a:endParaRPr lang="en-US" altLang="zh-CN" dirty="0" smtClean="0"/>
          </a:p>
          <a:p>
            <a:pPr marL="285750" indent="-285750">
              <a:lnSpc>
                <a:spcPct val="150000"/>
              </a:lnSpc>
              <a:buFont typeface="Arial" panose="020B0604020202020204" pitchFamily="34" charset="0"/>
              <a:buChar char="•"/>
            </a:pPr>
            <a:r>
              <a:rPr lang="zh-CN" altLang="en-US" dirty="0" smtClean="0"/>
              <a:t>通过查找运维人员预设的经验库中的解决方案，如果存在相应的解决方案，那么可以通过完善的自动化脚本对故障进行止损处理；</a:t>
            </a:r>
            <a:endParaRPr lang="en-US" altLang="zh-CN" dirty="0" smtClean="0"/>
          </a:p>
          <a:p>
            <a:pPr marL="285750" indent="-285750">
              <a:lnSpc>
                <a:spcPct val="150000"/>
              </a:lnSpc>
              <a:buFont typeface="Arial" panose="020B0604020202020204" pitchFamily="34" charset="0"/>
              <a:buChar char="•"/>
            </a:pPr>
            <a:r>
              <a:rPr lang="zh-CN" altLang="en-US" dirty="0" smtClean="0"/>
              <a:t>对于相应解决方案不在经验库中的问题，可以通过多渠道的通知方式（短信、</a:t>
            </a:r>
            <a:r>
              <a:rPr lang="en-US" altLang="zh-CN" dirty="0" smtClean="0"/>
              <a:t>email</a:t>
            </a:r>
            <a:r>
              <a:rPr lang="zh-CN" altLang="en-US" dirty="0" smtClean="0"/>
              <a:t>等）对相关责任运维人员进行通知。</a:t>
            </a:r>
            <a:endParaRPr lang="zh-CN" altLang="en-US" dirty="0"/>
          </a:p>
        </p:txBody>
      </p:sp>
      <p:sp>
        <p:nvSpPr>
          <p:cNvPr id="7" name="文本框 6"/>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52139195"/>
      </p:ext>
    </p:extLst>
  </p:cSld>
  <p:clrMapOvr>
    <a:masterClrMapping/>
  </p:clrMapOvr>
  <p:transition spd="med">
    <p:pull/>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img.blog.csdn.net/201705091616353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1750" y="1991490"/>
            <a:ext cx="4978400" cy="3103419"/>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721810" y="943949"/>
            <a:ext cx="5231315" cy="369332"/>
          </a:xfrm>
          <a:prstGeom prst="rect">
            <a:avLst/>
          </a:prstGeom>
          <a:noFill/>
        </p:spPr>
        <p:txBody>
          <a:bodyPr wrap="square" rtlCol="0">
            <a:spAutoFit/>
          </a:bodyPr>
          <a:lstStyle/>
          <a:p>
            <a:r>
              <a:rPr lang="zh-CN" altLang="en-US" dirty="0" smtClean="0">
                <a:solidFill>
                  <a:srgbClr val="333F50"/>
                </a:solidFill>
              </a:rPr>
              <a:t>故障管理</a:t>
            </a:r>
            <a:r>
              <a:rPr lang="en-US" altLang="zh-CN" dirty="0" smtClean="0">
                <a:solidFill>
                  <a:srgbClr val="333F50"/>
                </a:solidFill>
                <a:sym typeface="Wingdings" panose="05000000000000000000" pitchFamily="2" charset="2"/>
              </a:rPr>
              <a:t></a:t>
            </a:r>
            <a:r>
              <a:rPr lang="zh-CN" altLang="en-US" dirty="0" smtClean="0">
                <a:solidFill>
                  <a:srgbClr val="333F50"/>
                </a:solidFill>
                <a:sym typeface="Wingdings" panose="05000000000000000000" pitchFamily="2" charset="2"/>
              </a:rPr>
              <a:t>故障预测</a:t>
            </a:r>
            <a:endParaRPr lang="zh-CN" altLang="en-US" dirty="0">
              <a:solidFill>
                <a:srgbClr val="333F50"/>
              </a:solidFill>
            </a:endParaRPr>
          </a:p>
        </p:txBody>
      </p:sp>
      <p:sp>
        <p:nvSpPr>
          <p:cNvPr id="13" name="矩形 12"/>
          <p:cNvSpPr/>
          <p:nvPr/>
        </p:nvSpPr>
        <p:spPr>
          <a:xfrm>
            <a:off x="1033823" y="3514483"/>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a:t>输入</a:t>
            </a:r>
            <a:endParaRPr lang="en-US" altLang="zh-CN" dirty="0"/>
          </a:p>
        </p:txBody>
      </p:sp>
      <p:sp>
        <p:nvSpPr>
          <p:cNvPr id="14" name="矩形 13"/>
          <p:cNvSpPr/>
          <p:nvPr/>
        </p:nvSpPr>
        <p:spPr>
          <a:xfrm>
            <a:off x="1033823" y="5111781"/>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输出</a:t>
            </a:r>
            <a:endParaRPr lang="en-US" altLang="zh-CN" dirty="0"/>
          </a:p>
        </p:txBody>
      </p:sp>
      <p:sp>
        <p:nvSpPr>
          <p:cNvPr id="15" name="文本框 14"/>
          <p:cNvSpPr txBox="1"/>
          <p:nvPr/>
        </p:nvSpPr>
        <p:spPr>
          <a:xfrm>
            <a:off x="721810" y="4149277"/>
            <a:ext cx="4010025" cy="480901"/>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一条时序数据</a:t>
            </a:r>
            <a:endParaRPr lang="en-US" altLang="zh-CN" dirty="0" smtClean="0"/>
          </a:p>
        </p:txBody>
      </p:sp>
      <p:sp>
        <p:nvSpPr>
          <p:cNvPr id="16" name="文本框 15"/>
          <p:cNvSpPr txBox="1"/>
          <p:nvPr/>
        </p:nvSpPr>
        <p:spPr>
          <a:xfrm>
            <a:off x="721810" y="5693164"/>
            <a:ext cx="4010025" cy="463588"/>
          </a:xfrm>
          <a:prstGeom prst="rect">
            <a:avLst/>
          </a:prstGeom>
          <a:noFill/>
        </p:spPr>
        <p:txBody>
          <a:bodyPr wrap="square" rtlCol="0">
            <a:spAutoFit/>
          </a:bodyPr>
          <a:lstStyle/>
          <a:p>
            <a:pPr marL="571500" indent="-285750">
              <a:lnSpc>
                <a:spcPct val="150000"/>
              </a:lnSpc>
              <a:buFont typeface="Arial" panose="020B0604020202020204" pitchFamily="34" charset="0"/>
              <a:buChar char="•"/>
            </a:pPr>
            <a:r>
              <a:rPr lang="zh-CN" altLang="en-US" dirty="0" smtClean="0"/>
              <a:t>是否有出现异常的趋势</a:t>
            </a:r>
            <a:endParaRPr lang="en-US" altLang="zh-CN" dirty="0" smtClean="0"/>
          </a:p>
        </p:txBody>
      </p:sp>
      <p:sp>
        <p:nvSpPr>
          <p:cNvPr id="17" name="矩形 16"/>
          <p:cNvSpPr/>
          <p:nvPr/>
        </p:nvSpPr>
        <p:spPr>
          <a:xfrm>
            <a:off x="1033823" y="1675384"/>
            <a:ext cx="2552344" cy="46358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ctr">
              <a:lnSpc>
                <a:spcPct val="150000"/>
              </a:lnSpc>
            </a:pPr>
            <a:r>
              <a:rPr lang="zh-CN" altLang="en-US" dirty="0" smtClean="0"/>
              <a:t>问题描述</a:t>
            </a:r>
            <a:endParaRPr lang="en-US" altLang="zh-CN" dirty="0"/>
          </a:p>
        </p:txBody>
      </p:sp>
      <p:sp>
        <p:nvSpPr>
          <p:cNvPr id="3" name="文本框 2"/>
          <p:cNvSpPr txBox="1"/>
          <p:nvPr/>
        </p:nvSpPr>
        <p:spPr>
          <a:xfrm>
            <a:off x="624114" y="2205074"/>
            <a:ext cx="3698012" cy="13388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使用根因分析，异常检测的结果，对于未发生的问题进行预测，将问题处理在萌芽阶段。</a:t>
            </a:r>
            <a:endParaRPr lang="zh-CN" altLang="en-US" dirty="0"/>
          </a:p>
        </p:txBody>
      </p:sp>
      <p:sp>
        <p:nvSpPr>
          <p:cNvPr id="20" name="矩形 19"/>
          <p:cNvSpPr/>
          <p:nvPr/>
        </p:nvSpPr>
        <p:spPr>
          <a:xfrm>
            <a:off x="-1" y="2652184"/>
            <a:ext cx="12192000" cy="1743631"/>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2414814" y="3220158"/>
            <a:ext cx="8875207" cy="461665"/>
          </a:xfrm>
          <a:prstGeom prst="rect">
            <a:avLst/>
          </a:prstGeom>
          <a:noFill/>
        </p:spPr>
        <p:txBody>
          <a:bodyPr wrap="square" rtlCol="0">
            <a:spAutoFit/>
          </a:bodyPr>
          <a:lstStyle/>
          <a:p>
            <a:r>
              <a:rPr lang="zh-CN" altLang="en-US" sz="2400" dirty="0" smtClean="0">
                <a:solidFill>
                  <a:schemeClr val="bg1"/>
                </a:solidFill>
              </a:rPr>
              <a:t>解决算法：决策树、支持向量机、随机森林</a:t>
            </a:r>
            <a:endParaRPr lang="zh-CN" altLang="en-US" sz="2400" dirty="0">
              <a:solidFill>
                <a:schemeClr val="bg1"/>
              </a:solidFill>
            </a:endParaRPr>
          </a:p>
        </p:txBody>
      </p:sp>
      <p:sp>
        <p:nvSpPr>
          <p:cNvPr id="19" name="文本框 1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685054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down)">
                                      <p:cBhvr>
                                        <p:cTn id="7" dur="500"/>
                                        <p:tgtEl>
                                          <p:spTgt spid="1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down)">
                                      <p:cBhvr>
                                        <p:cTn id="10" dur="500"/>
                                        <p:tgtEl>
                                          <p:spTgt spid="15"/>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500"/>
                                        <p:tgtEl>
                                          <p:spTgt spid="1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7" grpId="0" animBg="1"/>
      <p:bldP spid="3" grpId="0"/>
      <p:bldP spid="20" grpId="0" animBg="1"/>
      <p:bldP spid="2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1810" y="943949"/>
            <a:ext cx="5469440" cy="369332"/>
          </a:xfrm>
          <a:prstGeom prst="rect">
            <a:avLst/>
          </a:prstGeom>
          <a:noFill/>
        </p:spPr>
        <p:txBody>
          <a:bodyPr wrap="square" rtlCol="0">
            <a:spAutoFit/>
          </a:bodyPr>
          <a:lstStyle/>
          <a:p>
            <a:r>
              <a:rPr lang="zh-CN" altLang="en-US" dirty="0" smtClean="0">
                <a:solidFill>
                  <a:srgbClr val="333F50"/>
                </a:solidFill>
              </a:rPr>
              <a:t>其他应用</a:t>
            </a:r>
            <a:endParaRPr lang="zh-CN" altLang="en-US" dirty="0">
              <a:solidFill>
                <a:srgbClr val="333F50"/>
              </a:solidFill>
            </a:endParaRPr>
          </a:p>
        </p:txBody>
      </p:sp>
      <p:sp>
        <p:nvSpPr>
          <p:cNvPr id="2" name="文本框 1"/>
          <p:cNvSpPr txBox="1"/>
          <p:nvPr/>
        </p:nvSpPr>
        <p:spPr>
          <a:xfrm>
            <a:off x="2943225" y="2409825"/>
            <a:ext cx="5562600" cy="258532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在实际情况中，还有其他运维场景可以应用智慧化运维的方法，但是</a:t>
            </a:r>
            <a:r>
              <a:rPr lang="zh-CN" altLang="en-US" dirty="0"/>
              <a:t>有时由于数据采集不全等原因，完整的根因分析条件不具备，这就要求我们降低要求，“退而求其次”，解决简单一些但是同样有实际意义的</a:t>
            </a:r>
            <a:r>
              <a:rPr lang="zh-CN" altLang="en-US" dirty="0" smtClean="0"/>
              <a:t>问题，如报警信息聚合（过滤）、动态阈值调整等。</a:t>
            </a:r>
            <a:endParaRPr lang="zh-CN" altLang="en-US" dirty="0"/>
          </a:p>
        </p:txBody>
      </p:sp>
      <p:sp>
        <p:nvSpPr>
          <p:cNvPr id="9" name="文本框 8"/>
          <p:cNvSpPr txBox="1"/>
          <p:nvPr/>
        </p:nvSpPr>
        <p:spPr>
          <a:xfrm>
            <a:off x="624113" y="10310"/>
            <a:ext cx="3747861"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技术实现</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平台智能</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08788797"/>
      </p:ext>
    </p:extLst>
  </p:cSld>
  <p:clrMapOvr>
    <a:masterClrMapping/>
  </p:clrMapOvr>
  <p:transition spd="med">
    <p:pull/>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285251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具体安排</a:t>
            </a:r>
            <a:endParaRPr lang="zh-CN" altLang="en-US" sz="24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22174339"/>
      </p:ext>
    </p:extLst>
  </p:cSld>
  <p:clrMapOvr>
    <a:masterClrMapping/>
  </p:clrMapOvr>
  <p:transition spd="med">
    <p:pull/>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3460</TotalTime>
  <Words>3103</Words>
  <Application>Microsoft Office PowerPoint</Application>
  <PresentationFormat>宽屏</PresentationFormat>
  <Paragraphs>537</Paragraphs>
  <Slides>48</Slides>
  <Notes>36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48</vt:i4>
      </vt:variant>
    </vt:vector>
  </HeadingPairs>
  <TitlesOfParts>
    <vt:vector size="60" baseType="lpstr">
      <vt:lpstr>Lato Light</vt:lpstr>
      <vt:lpstr>等线</vt:lpstr>
      <vt:lpstr>等线 Light</vt:lpstr>
      <vt:lpstr>宋体</vt:lpstr>
      <vt:lpstr>微软雅黑</vt:lpstr>
      <vt:lpstr>微软雅黑 Light</vt:lpstr>
      <vt:lpstr>Arial</vt:lpstr>
      <vt:lpstr>Calibri</vt:lpstr>
      <vt:lpstr>Calibri Light</vt:lpstr>
      <vt:lpstr>Segoe UI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232</cp:revision>
  <dcterms:created xsi:type="dcterms:W3CDTF">2015-08-05T01:47:03Z</dcterms:created>
  <dcterms:modified xsi:type="dcterms:W3CDTF">2018-01-19T05:39:33Z</dcterms:modified>
</cp:coreProperties>
</file>