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96" r:id="rId2"/>
    <p:sldId id="1195" r:id="rId3"/>
    <p:sldId id="1189" r:id="rId4"/>
    <p:sldId id="1190" r:id="rId5"/>
    <p:sldId id="1179" r:id="rId6"/>
    <p:sldId id="1180" r:id="rId7"/>
    <p:sldId id="1181" r:id="rId8"/>
    <p:sldId id="1178" r:id="rId9"/>
    <p:sldId id="1182" r:id="rId10"/>
    <p:sldId id="1177" r:id="rId11"/>
    <p:sldId id="1176" r:id="rId12"/>
    <p:sldId id="1192" r:id="rId13"/>
    <p:sldId id="1193" r:id="rId14"/>
    <p:sldId id="1191" r:id="rId15"/>
    <p:sldId id="1187" r:id="rId16"/>
    <p:sldId id="1183" r:id="rId17"/>
    <p:sldId id="1196" r:id="rId18"/>
    <p:sldId id="1197" r:id="rId19"/>
    <p:sldId id="1185" r:id="rId20"/>
    <p:sldId id="11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/>
  </p:cmAuthor>
  <p:cmAuthor id="4" name="cong x" initials="cx" lastIdx="2" clrIdx="3">
    <p:extLst>
      <p:ext uri="{19B8F6BF-5375-455C-9EA6-DF929625EA0E}">
        <p15:presenceInfo xmlns:p15="http://schemas.microsoft.com/office/powerpoint/2012/main" userId="41f651ea6314a8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7030A0"/>
    <a:srgbClr val="FFFF00"/>
    <a:srgbClr val="EEBD42"/>
    <a:srgbClr val="002060"/>
    <a:srgbClr val="00B050"/>
    <a:srgbClr val="2F5597"/>
    <a:srgbClr val="D28D04"/>
    <a:srgbClr val="FF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1" autoAdjust="0"/>
    <p:restoredTop sz="92348" autoAdjust="0"/>
  </p:normalViewPr>
  <p:slideViewPr>
    <p:cSldViewPr snapToGrid="0">
      <p:cViewPr varScale="1">
        <p:scale>
          <a:sx n="106" d="100"/>
          <a:sy n="106" d="100"/>
        </p:scale>
        <p:origin x="888" y="96"/>
      </p:cViewPr>
      <p:guideLst>
        <p:guide orient="horz" pos="2069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以上问题的存在，需要通过管理流程和工作流程上的改变来彻底解决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51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总结目前运维工作的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忙而无成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专而不全、知而不显、有心无力。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明确了建设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：自动化、呈现、数据化、智慧化。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讨论自动化和呈现，理清自动化和呈现需要明确需求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操作标准化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开发的思路。下一步先收集需求。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讨论数据化初步范围，如何数据化。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讨论智慧化场景。包括故障的预测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故障的处理。需要明确的场景应用。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495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156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82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现状：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、机房安全管控（行政进行机房卫生清理，需要专业人员监工）和信息获取（设计院勘察），需要人工到机房</a:t>
            </a:r>
            <a:r>
              <a:rPr lang="zh-CN" altLang="en-US" baseline="0" dirty="0" smtClean="0"/>
              <a:t>  </a:t>
            </a:r>
            <a:r>
              <a:rPr lang="en-US" altLang="zh-CN" dirty="0" smtClean="0"/>
              <a:t>---- </a:t>
            </a:r>
            <a:r>
              <a:rPr lang="zh-CN" altLang="en-US" dirty="0" smtClean="0"/>
              <a:t>如果不去现场，机房等同于黑匣子，无法感知机房；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、机房巡检、设备故障处理，需要人工到机房完成；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目标：</a:t>
            </a:r>
            <a:endParaRPr lang="en-US" altLang="zh-CN" dirty="0" smtClean="0"/>
          </a:p>
          <a:p>
            <a:r>
              <a:rPr lang="zh-CN" altLang="en-US" dirty="0" smtClean="0"/>
              <a:t>无需去机房、机房智慧管理；</a:t>
            </a:r>
            <a:endParaRPr lang="en-US" altLang="zh-CN" dirty="0" smtClean="0"/>
          </a:p>
          <a:p>
            <a:r>
              <a:rPr lang="zh-CN" altLang="en-US" dirty="0" smtClean="0"/>
              <a:t>打造无人机房，需要解决的几大问题：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、呈现：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真实还原机房，随时随地如身临机房；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、自动：自动巡检等；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、机房大数据支撑。</a:t>
            </a:r>
          </a:p>
          <a:p>
            <a:r>
              <a:rPr lang="zh-CN" altLang="en-US" dirty="0" smtClean="0"/>
              <a:t>实现：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、通过</a:t>
            </a:r>
            <a:r>
              <a:rPr lang="en-US" altLang="zh-CN" dirty="0" smtClean="0"/>
              <a:t>VR</a:t>
            </a:r>
            <a:r>
              <a:rPr lang="zh-CN" altLang="en-US" dirty="0" smtClean="0"/>
              <a:t>技术实时呈现机房，在办公室就能如身临机房之中  </a:t>
            </a:r>
            <a:r>
              <a:rPr lang="en-US" altLang="zh-CN" dirty="0" smtClean="0"/>
              <a:t>----  </a:t>
            </a:r>
            <a:r>
              <a:rPr lang="zh-CN" altLang="en-US" dirty="0" smtClean="0"/>
              <a:t>无需去现场即能实时感受整个机房；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、通过对运维机器人，实现机器人代替人进行巡检、设备故障处理；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、通过对机房资源数据、设备数据、环境数据、业务数据进行大数据分析，支撑紧急情况机房管理决策；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64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年台风天鸽来袭为例，基于大数据支撑的机房设备下电方案介绍（假设机房市电已经断了），决策区间是重点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、现状分析</a:t>
            </a:r>
            <a:endParaRPr lang="en-US" altLang="zh-CN" dirty="0" smtClean="0"/>
          </a:p>
          <a:p>
            <a:r>
              <a:rPr lang="zh-CN" altLang="en-US" dirty="0" smtClean="0"/>
              <a:t>当前机房非市电剩余电量，机房所包含的设备运行装填、设备下挂业务量、质量情况和业务分类、设备功耗情况情况；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、优先级分析</a:t>
            </a:r>
            <a:endParaRPr lang="en-US" altLang="zh-CN" dirty="0" smtClean="0"/>
          </a:p>
          <a:p>
            <a:r>
              <a:rPr lang="zh-CN" altLang="en-US" dirty="0" smtClean="0"/>
              <a:t>机房设备（</a:t>
            </a:r>
            <a:r>
              <a:rPr lang="en-US" altLang="zh-CN" dirty="0" smtClean="0"/>
              <a:t>BSC</a:t>
            </a:r>
            <a:r>
              <a:rPr lang="zh-CN" altLang="en-US" dirty="0" smtClean="0"/>
              <a:t>双连</a:t>
            </a:r>
            <a:r>
              <a:rPr lang="en-US" altLang="zh-CN" dirty="0" smtClean="0"/>
              <a:t>MGW</a:t>
            </a:r>
            <a:r>
              <a:rPr lang="zh-CN" altLang="en-US" dirty="0" smtClean="0"/>
              <a:t>）、业务重要级别分类（如，某</a:t>
            </a:r>
            <a:r>
              <a:rPr lang="en-US" altLang="zh-CN" dirty="0" smtClean="0"/>
              <a:t>BSC</a:t>
            </a:r>
            <a:r>
              <a:rPr lang="zh-CN" altLang="en-US" dirty="0" smtClean="0"/>
              <a:t>下挂的多数站点断了，可进行割接等）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、预测分析</a:t>
            </a:r>
            <a:endParaRPr lang="en-US" altLang="zh-CN" dirty="0" smtClean="0"/>
          </a:p>
          <a:p>
            <a:r>
              <a:rPr lang="zh-CN" altLang="en-US" dirty="0" smtClean="0"/>
              <a:t>如：多久才能供电，为等待供电时间，需要降低多少功耗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、设备下电影响预测</a:t>
            </a:r>
            <a:endParaRPr lang="en-US" altLang="zh-CN" dirty="0" smtClean="0"/>
          </a:p>
          <a:p>
            <a:r>
              <a:rPr lang="zh-CN" altLang="en-US" dirty="0" smtClean="0"/>
              <a:t>业务量下降，可降低设备硬件容量（板卡下电预测），但不影响业务使用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、建议方案</a:t>
            </a:r>
            <a:endParaRPr lang="en-US" altLang="zh-CN" dirty="0" smtClean="0"/>
          </a:p>
          <a:p>
            <a:r>
              <a:rPr lang="zh-CN" altLang="en-US" dirty="0" smtClean="0"/>
              <a:t>决策需要结合机房大数据和外部条件一起，才能出方案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控制区间：</a:t>
            </a:r>
            <a:endParaRPr lang="en-US" altLang="zh-CN" dirty="0" smtClean="0"/>
          </a:p>
          <a:p>
            <a:r>
              <a:rPr lang="zh-CN" altLang="en-US" dirty="0" smtClean="0"/>
              <a:t>如：当人无法去机房的时候，可以控制机器人完成下电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3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城域网网络示意图，目前我们的网络</a:t>
            </a:r>
            <a:r>
              <a:rPr lang="en-US" altLang="zh-CN" dirty="0" smtClean="0"/>
              <a:t>OLT</a:t>
            </a:r>
            <a:r>
              <a:rPr lang="zh-CN" altLang="en-US" dirty="0" smtClean="0"/>
              <a:t>到</a:t>
            </a:r>
            <a:r>
              <a:rPr lang="en-US" altLang="zh-CN" dirty="0" smtClean="0"/>
              <a:t>BNG</a:t>
            </a:r>
            <a:r>
              <a:rPr lang="zh-CN" altLang="en-US" dirty="0" smtClean="0"/>
              <a:t>是双路由连接。合理的情况下我们的用户和业务流量应该是较为均衡才是合理的。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但是由于用户类型、用户数及业务流量的变化，时间长了就会出现业务不均衡的情况。这样会导致某些节点和链路的负荷较高。另一些节点则业务负荷较低。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、例如一种情况，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用户数都增加</a:t>
            </a:r>
            <a:r>
              <a:rPr lang="en-US" altLang="zh-CN" dirty="0" smtClean="0"/>
              <a:t>1.1</a:t>
            </a:r>
            <a:r>
              <a:rPr lang="zh-CN" altLang="en-US" dirty="0" smtClean="0"/>
              <a:t>万，但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主要增加是家宽用户，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主要增加是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用户。家宽业务流量普遍比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用户业务流量要大，这就导致总流量负荷的不均衡。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通过智能算法模型，得到节点、用户和业务流量合理的均衡方案。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对用户进行迁移。</a:t>
            </a:r>
            <a:endParaRPr lang="en-US" altLang="zh-CN" dirty="0" smtClean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最终让用户和业务得到均衡。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7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230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2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9.emf"/><Relationship Id="rId7" Type="http://schemas.openxmlformats.org/officeDocument/2006/relationships/image" Target="../media/image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9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0857" y="11612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8807" y="1269212"/>
            <a:ext cx="795338" cy="79533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799782" y="132795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154337" y="2206406"/>
            <a:ext cx="8570912" cy="0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154335" y="1423257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26"/>
          <p:cNvSpPr txBox="1"/>
          <p:nvPr/>
        </p:nvSpPr>
        <p:spPr>
          <a:xfrm>
            <a:off x="3770136" y="1304608"/>
            <a:ext cx="7251999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基础维护做细坐实，需要投入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等；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6762" y="2526512"/>
            <a:ext cx="1009650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43124" y="2634462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TextBox 31"/>
          <p:cNvSpPr txBox="1">
            <a:spLocks noChangeArrowheads="1"/>
          </p:cNvSpPr>
          <p:nvPr/>
        </p:nvSpPr>
        <p:spPr bwMode="auto">
          <a:xfrm>
            <a:off x="824099" y="269320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154337" y="3543081"/>
            <a:ext cx="8570912" cy="285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2154335" y="2662018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3866454" y="4071299"/>
            <a:ext cx="5146675" cy="345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4282" y="3880650"/>
            <a:ext cx="1011237" cy="10112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2232" y="3988600"/>
            <a:ext cx="796925" cy="795337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TextBox 38"/>
          <p:cNvSpPr txBox="1">
            <a:spLocks noChangeArrowheads="1"/>
          </p:cNvSpPr>
          <p:nvPr/>
        </p:nvSpPr>
        <p:spPr bwMode="auto">
          <a:xfrm>
            <a:off x="822696" y="3988600"/>
            <a:ext cx="469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154337" y="4882931"/>
            <a:ext cx="8719674" cy="539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2154336" y="4005699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71186" y="52633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79136" y="5369725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TextBox 45"/>
          <p:cNvSpPr txBox="1">
            <a:spLocks noChangeArrowheads="1"/>
          </p:cNvSpPr>
          <p:nvPr/>
        </p:nvSpPr>
        <p:spPr bwMode="auto">
          <a:xfrm>
            <a:off x="819600" y="5371313"/>
            <a:ext cx="469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154337" y="6295806"/>
            <a:ext cx="8719674" cy="11112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2121000" y="539728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3788371" y="2510450"/>
            <a:ext cx="7044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专人专网维护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，专业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跨度大，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网，人员复用难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城域网（陈朝勇）、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陈熙东）等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3817759" y="5507209"/>
            <a:ext cx="7074695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故障、投诉发生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后才进行分析和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处理，想做到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04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8537" y="1192282"/>
            <a:ext cx="21197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汇报重点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10916" y="196327"/>
            <a:ext cx="33682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日汇报总结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8451469" y="1173733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9257" y="2134396"/>
            <a:ext cx="0" cy="4141724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86691" y="2134395"/>
            <a:ext cx="5084618" cy="414172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维工作痛点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自动化需求及出发点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呈现需求及出发点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数据化概念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19456" y="2148246"/>
            <a:ext cx="4752112" cy="414172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可视化呈现的需求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数据化的规划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场景规划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timgsa.baidu.com/timg?image&amp;quality=80&amp;size=b9999_10000&amp;sec=1523686882851&amp;di=1d2f398c0d3242c955b95893f0a88f79&amp;imgtype=0&amp;src=http%3A%2F%2Fimg.zcool.cn%2Fcommunity%2F01073b554247b70000019ae9e31d34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1" t="9227" r="19603" b="10017"/>
          <a:stretch/>
        </p:blipFill>
        <p:spPr bwMode="auto">
          <a:xfrm>
            <a:off x="1601992" y="1049037"/>
            <a:ext cx="947250" cy="84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g3.redocn.com/tupian/20150915/lanlvfenggeshoujiyuanxingzhuomianjilutubiao_4252254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9" t="10012" r="12165" b="21755"/>
          <a:stretch/>
        </p:blipFill>
        <p:spPr bwMode="auto">
          <a:xfrm>
            <a:off x="7606912" y="1074283"/>
            <a:ext cx="899977" cy="85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0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42682" y="484890"/>
            <a:ext cx="3879401" cy="566651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722083" y="484890"/>
            <a:ext cx="5102799" cy="566651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自动化及可视化呈现需求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进一步收集自动化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自动化实现的工作逻辑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数据化的规划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数据化建设的规划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场景规划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无人巡检机房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拥塞均衡调度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投诉提前预测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故障辅助诊断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8955" y="1524061"/>
            <a:ext cx="2424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汇报内容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71" y="2381630"/>
            <a:ext cx="2008361" cy="1996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60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42160" y="1143000"/>
            <a:ext cx="38862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FF0000"/>
                </a:solidFill>
              </a:rPr>
              <a:t>考核</a:t>
            </a:r>
            <a:r>
              <a:rPr lang="zh-CN" altLang="zh-CN" sz="1600" b="1" dirty="0">
                <a:solidFill>
                  <a:srgbClr val="FF0000"/>
                </a:solidFill>
              </a:rPr>
              <a:t>指标自动获取（实时监控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FF0000"/>
                </a:solidFill>
              </a:rPr>
              <a:t>考核</a:t>
            </a:r>
            <a:r>
              <a:rPr lang="zh-CN" altLang="zh-CN" sz="1600" b="1" dirty="0">
                <a:solidFill>
                  <a:srgbClr val="FF0000"/>
                </a:solidFill>
              </a:rPr>
              <a:t>指标</a:t>
            </a:r>
            <a:r>
              <a:rPr lang="en-US" altLang="zh-CN" sz="1600" b="1" dirty="0">
                <a:solidFill>
                  <a:srgbClr val="FF0000"/>
                </a:solidFill>
              </a:rPr>
              <a:t>CAUSE</a:t>
            </a:r>
            <a:r>
              <a:rPr lang="zh-CN" altLang="zh-CN" sz="1600" b="1" dirty="0">
                <a:solidFill>
                  <a:srgbClr val="FF0000"/>
                </a:solidFill>
              </a:rPr>
              <a:t>码粒度自动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分析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>
                <a:solidFill>
                  <a:srgbClr val="FF0000"/>
                </a:solidFill>
              </a:rPr>
              <a:t>指标分析报告自动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撰写</a:t>
            </a:r>
            <a:endParaRPr lang="en-US" altLang="zh-CN" sz="1600" b="1" dirty="0" smtClean="0">
              <a:solidFill>
                <a:srgbClr val="FF0000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57400" y="3688080"/>
            <a:ext cx="3870960" cy="21971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>
                <a:solidFill>
                  <a:srgbClr val="FF0000"/>
                </a:solidFill>
              </a:rPr>
              <a:t>CPU\</a:t>
            </a:r>
            <a:r>
              <a:rPr lang="zh-CN" altLang="zh-CN" sz="1600" b="1" dirty="0">
                <a:solidFill>
                  <a:srgbClr val="FF0000"/>
                </a:solidFill>
              </a:rPr>
              <a:t>内存</a:t>
            </a:r>
            <a:r>
              <a:rPr lang="en-US" altLang="zh-CN" sz="1600" b="1" dirty="0">
                <a:solidFill>
                  <a:srgbClr val="FF0000"/>
                </a:solidFill>
              </a:rPr>
              <a:t>\</a:t>
            </a:r>
            <a:r>
              <a:rPr lang="zh-CN" altLang="zh-CN" sz="1600" b="1" dirty="0">
                <a:solidFill>
                  <a:srgbClr val="FF0000"/>
                </a:solidFill>
              </a:rPr>
              <a:t>上联带宽利用率峰值</a:t>
            </a:r>
            <a:r>
              <a:rPr lang="en-US" altLang="zh-CN" sz="1600" b="1" dirty="0">
                <a:solidFill>
                  <a:srgbClr val="FF0000"/>
                </a:solidFill>
              </a:rPr>
              <a:t>CPU\</a:t>
            </a:r>
            <a:r>
              <a:rPr lang="zh-CN" altLang="zh-CN" sz="1600" b="1" dirty="0">
                <a:solidFill>
                  <a:srgbClr val="FF0000"/>
                </a:solidFill>
              </a:rPr>
              <a:t>内存</a:t>
            </a:r>
            <a:r>
              <a:rPr lang="en-US" altLang="zh-CN" sz="1600" b="1" dirty="0">
                <a:solidFill>
                  <a:srgbClr val="FF0000"/>
                </a:solidFill>
              </a:rPr>
              <a:t>\</a:t>
            </a:r>
            <a:r>
              <a:rPr lang="zh-CN" altLang="zh-CN" sz="1600" b="1" dirty="0">
                <a:solidFill>
                  <a:srgbClr val="FF0000"/>
                </a:solidFill>
              </a:rPr>
              <a:t>上联带宽利用率峰值</a:t>
            </a:r>
            <a:r>
              <a:rPr lang="zh-CN" altLang="en-US" sz="1600" b="1" dirty="0">
                <a:solidFill>
                  <a:srgbClr val="FF0000"/>
                </a:solidFill>
              </a:rPr>
              <a:t>自动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输出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D28D04"/>
                </a:solidFill>
              </a:rPr>
              <a:t>自动</a:t>
            </a:r>
            <a:r>
              <a:rPr lang="zh-CN" altLang="zh-CN" sz="1600" b="1" dirty="0">
                <a:solidFill>
                  <a:srgbClr val="D28D04"/>
                </a:solidFill>
              </a:rPr>
              <a:t>日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测</a:t>
            </a:r>
            <a:r>
              <a:rPr lang="zh-CN" altLang="en-US" sz="1600" b="1" dirty="0" smtClean="0">
                <a:solidFill>
                  <a:srgbClr val="D28D04"/>
                </a:solidFill>
              </a:rPr>
              <a:t>，</a:t>
            </a:r>
            <a:r>
              <a:rPr lang="zh-CN" altLang="zh-CN" sz="1600" b="1" dirty="0">
                <a:solidFill>
                  <a:srgbClr val="D28D04"/>
                </a:solidFill>
              </a:rPr>
              <a:t>如：设备板卡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检测</a:t>
            </a:r>
            <a:r>
              <a:rPr lang="zh-CN" altLang="en-US" sz="1600" b="1" dirty="0">
                <a:solidFill>
                  <a:srgbClr val="D28D04"/>
                </a:solidFill>
              </a:rPr>
              <a:t>和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端口</a:t>
            </a:r>
            <a:r>
              <a:rPr lang="zh-CN" altLang="zh-CN" sz="1600" b="1" dirty="0">
                <a:solidFill>
                  <a:srgbClr val="D28D04"/>
                </a:solidFill>
              </a:rPr>
              <a:t>流量自动</a:t>
            </a:r>
            <a:r>
              <a:rPr lang="zh-CN" altLang="zh-CN" sz="1600" b="1" dirty="0" smtClean="0">
                <a:solidFill>
                  <a:srgbClr val="D28D04"/>
                </a:solidFill>
              </a:rPr>
              <a:t>核查</a:t>
            </a:r>
            <a:endParaRPr lang="en-US" altLang="zh-CN" sz="1600" b="1" dirty="0" smtClean="0">
              <a:solidFill>
                <a:srgbClr val="D28D04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2F5597"/>
                </a:solidFill>
              </a:rPr>
              <a:t>设备</a:t>
            </a:r>
            <a:r>
              <a:rPr lang="zh-CN" altLang="en-US" sz="1600" b="1" dirty="0">
                <a:solidFill>
                  <a:srgbClr val="2F5597"/>
                </a:solidFill>
              </a:rPr>
              <a:t>配置备份（每月）</a:t>
            </a:r>
            <a:endParaRPr lang="en-US" altLang="zh-CN" sz="1600" b="1" dirty="0" smtClean="0">
              <a:solidFill>
                <a:srgbClr val="2F5597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376160" y="1127760"/>
            <a:ext cx="3962400" cy="11277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>
                <a:solidFill>
                  <a:srgbClr val="D28D04"/>
                </a:solidFill>
              </a:rPr>
              <a:t>SBC/UMG</a:t>
            </a:r>
            <a:r>
              <a:rPr lang="zh-CN" altLang="en-US" sz="1600" b="1" dirty="0">
                <a:solidFill>
                  <a:srgbClr val="D28D04"/>
                </a:solidFill>
              </a:rPr>
              <a:t>日测、周测、月测、季</a:t>
            </a:r>
            <a:r>
              <a:rPr lang="zh-CN" altLang="en-US" sz="1600" b="1" dirty="0" smtClean="0">
                <a:solidFill>
                  <a:srgbClr val="D28D04"/>
                </a:solidFill>
              </a:rPr>
              <a:t>测</a:t>
            </a:r>
            <a:endParaRPr lang="en-US" altLang="zh-CN" sz="1600" b="1" dirty="0" smtClean="0">
              <a:solidFill>
                <a:srgbClr val="D28D04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FF0000"/>
                </a:solidFill>
              </a:rPr>
              <a:t>每有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每月</a:t>
            </a:r>
            <a:r>
              <a:rPr lang="zh-CN" altLang="zh-CN" sz="1600" b="1" dirty="0">
                <a:solidFill>
                  <a:srgbClr val="FF0000"/>
                </a:solidFill>
              </a:rPr>
              <a:t>网络质量分析报告数据</a:t>
            </a:r>
            <a:r>
              <a:rPr lang="zh-CN" altLang="zh-CN" sz="1600" b="1" dirty="0" smtClean="0">
                <a:solidFill>
                  <a:srgbClr val="FF0000"/>
                </a:solidFill>
              </a:rPr>
              <a:t>生成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B050"/>
                </a:solidFill>
              </a:rPr>
              <a:t>IMS</a:t>
            </a:r>
            <a:r>
              <a:rPr lang="zh-CN" altLang="zh-CN" sz="1600" b="1" dirty="0">
                <a:solidFill>
                  <a:srgbClr val="00B050"/>
                </a:solidFill>
              </a:rPr>
              <a:t>配对</a:t>
            </a:r>
            <a:r>
              <a:rPr lang="en-US" altLang="zh-CN" sz="1600" b="1" dirty="0">
                <a:solidFill>
                  <a:srgbClr val="00B050"/>
                </a:solidFill>
              </a:rPr>
              <a:t>CE/FW</a:t>
            </a:r>
            <a:r>
              <a:rPr lang="zh-CN" altLang="zh-CN" sz="1600" b="1" dirty="0">
                <a:solidFill>
                  <a:srgbClr val="00B050"/>
                </a:solidFill>
              </a:rPr>
              <a:t>设备</a:t>
            </a:r>
            <a:r>
              <a:rPr lang="zh-CN" altLang="en-US" sz="1600" b="1" dirty="0">
                <a:solidFill>
                  <a:srgbClr val="00B050"/>
                </a:solidFill>
              </a:rPr>
              <a:t>每日</a:t>
            </a:r>
            <a:r>
              <a:rPr lang="zh-CN" altLang="zh-CN" sz="1600" b="1" dirty="0" smtClean="0">
                <a:solidFill>
                  <a:srgbClr val="00B050"/>
                </a:solidFill>
              </a:rPr>
              <a:t>检查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376160" y="3688080"/>
            <a:ext cx="3962400" cy="17983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2F5597"/>
                </a:solidFill>
              </a:rPr>
              <a:t>自动</a:t>
            </a:r>
            <a:r>
              <a:rPr lang="zh-CN" altLang="en-US" sz="1600" b="1" dirty="0">
                <a:solidFill>
                  <a:srgbClr val="2F5597"/>
                </a:solidFill>
              </a:rPr>
              <a:t>备份（</a:t>
            </a:r>
            <a:r>
              <a:rPr lang="en-US" altLang="zh-CN" sz="1600" b="1" dirty="0">
                <a:solidFill>
                  <a:srgbClr val="2F5597"/>
                </a:solidFill>
              </a:rPr>
              <a:t>BSC</a:t>
            </a:r>
            <a:r>
              <a:rPr lang="zh-CN" altLang="en-US" sz="1600" b="1" dirty="0">
                <a:solidFill>
                  <a:srgbClr val="2F5597"/>
                </a:solidFill>
              </a:rPr>
              <a:t>的</a:t>
            </a:r>
            <a:r>
              <a:rPr lang="en-US" altLang="zh-CN" sz="1600" b="1" dirty="0">
                <a:solidFill>
                  <a:srgbClr val="2F5597"/>
                </a:solidFill>
              </a:rPr>
              <a:t>APG</a:t>
            </a:r>
            <a:r>
              <a:rPr lang="zh-CN" altLang="en-US" sz="1600" b="1" dirty="0">
                <a:solidFill>
                  <a:srgbClr val="2F5597"/>
                </a:solidFill>
              </a:rPr>
              <a:t>，</a:t>
            </a:r>
            <a:r>
              <a:rPr lang="en-US" altLang="zh-CN" sz="1600" b="1" dirty="0">
                <a:solidFill>
                  <a:srgbClr val="2F5597"/>
                </a:solidFill>
              </a:rPr>
              <a:t>ALOG</a:t>
            </a:r>
            <a:r>
              <a:rPr lang="zh-CN" altLang="en-US" sz="1600" b="1" dirty="0">
                <a:solidFill>
                  <a:srgbClr val="2F5597"/>
                </a:solidFill>
              </a:rPr>
              <a:t>，</a:t>
            </a:r>
            <a:r>
              <a:rPr lang="en-US" altLang="zh-CN" sz="1600" b="1" dirty="0">
                <a:solidFill>
                  <a:srgbClr val="2F5597"/>
                </a:solidFill>
              </a:rPr>
              <a:t>CLOG</a:t>
            </a:r>
            <a:r>
              <a:rPr lang="zh-CN" altLang="en-US" sz="1600" b="1" dirty="0">
                <a:solidFill>
                  <a:srgbClr val="2F5597"/>
                </a:solidFill>
              </a:rPr>
              <a:t>等）；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D28D04"/>
                </a:solidFill>
              </a:rPr>
              <a:t>日</a:t>
            </a:r>
            <a:r>
              <a:rPr lang="zh-CN" altLang="en-US" sz="1600" b="1" dirty="0">
                <a:solidFill>
                  <a:srgbClr val="D28D04"/>
                </a:solidFill>
              </a:rPr>
              <a:t>测</a:t>
            </a:r>
            <a:r>
              <a:rPr lang="zh-CN" altLang="en-US" sz="1600" b="1" dirty="0">
                <a:solidFill>
                  <a:schemeClr val="tx1"/>
                </a:solidFill>
              </a:rPr>
              <a:t>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B050"/>
                </a:solidFill>
              </a:rPr>
              <a:t>告警</a:t>
            </a:r>
            <a:r>
              <a:rPr lang="zh-CN" altLang="en-US" sz="1600" b="1" dirty="0">
                <a:solidFill>
                  <a:srgbClr val="00B050"/>
                </a:solidFill>
              </a:rPr>
              <a:t>处理；</a:t>
            </a:r>
          </a:p>
        </p:txBody>
      </p:sp>
      <p:sp>
        <p:nvSpPr>
          <p:cNvPr id="68" name="矩形 67"/>
          <p:cNvSpPr/>
          <p:nvPr/>
        </p:nvSpPr>
        <p:spPr>
          <a:xfrm>
            <a:off x="7376160" y="2438400"/>
            <a:ext cx="39624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FF0000"/>
                </a:solidFill>
              </a:rPr>
              <a:t>指标</a:t>
            </a:r>
            <a:r>
              <a:rPr lang="zh-CN" altLang="zh-CN" sz="1600" b="1" dirty="0">
                <a:solidFill>
                  <a:srgbClr val="FF0000"/>
                </a:solidFill>
              </a:rPr>
              <a:t>报表每日自动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呈现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 smtClean="0">
                <a:solidFill>
                  <a:srgbClr val="00B050"/>
                </a:solidFill>
              </a:rPr>
              <a:t>城域网</a:t>
            </a:r>
            <a:r>
              <a:rPr lang="zh-CN" altLang="zh-CN" sz="1600" b="1" dirty="0">
                <a:solidFill>
                  <a:srgbClr val="00B050"/>
                </a:solidFill>
              </a:rPr>
              <a:t>拓扑链路自动</a:t>
            </a:r>
            <a:r>
              <a:rPr lang="zh-CN" altLang="zh-CN" sz="1600" b="1" dirty="0" smtClean="0">
                <a:solidFill>
                  <a:srgbClr val="00B050"/>
                </a:solidFill>
              </a:rPr>
              <a:t>关联</a:t>
            </a:r>
            <a:endParaRPr lang="en-US" altLang="zh-CN" sz="1600" b="1" dirty="0" smtClean="0">
              <a:solidFill>
                <a:srgbClr val="00B05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b="1" dirty="0">
                <a:solidFill>
                  <a:srgbClr val="00B050"/>
                </a:solidFill>
              </a:rPr>
              <a:t>投诉自动定位和</a:t>
            </a:r>
            <a:r>
              <a:rPr lang="zh-CN" altLang="zh-CN" sz="1600" b="1" dirty="0" smtClean="0">
                <a:solidFill>
                  <a:srgbClr val="00B050"/>
                </a:solidFill>
              </a:rPr>
              <a:t>处理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7400" y="2438400"/>
            <a:ext cx="387096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2F5597"/>
                </a:solidFill>
              </a:rPr>
              <a:t>设备</a:t>
            </a:r>
            <a:r>
              <a:rPr lang="zh-CN" altLang="en-US" sz="1600" b="1" dirty="0">
                <a:solidFill>
                  <a:srgbClr val="2F5597"/>
                </a:solidFill>
              </a:rPr>
              <a:t>配置、操作日志自动</a:t>
            </a:r>
            <a:r>
              <a:rPr lang="zh-CN" altLang="en-US" sz="1600" b="1" dirty="0" smtClean="0">
                <a:solidFill>
                  <a:srgbClr val="2F5597"/>
                </a:solidFill>
              </a:rPr>
              <a:t>备份（每天）</a:t>
            </a:r>
            <a:endParaRPr lang="zh-CN" altLang="en-US" sz="1600" b="1" dirty="0">
              <a:solidFill>
                <a:srgbClr val="2F5597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B050"/>
                </a:solidFill>
              </a:rPr>
              <a:t>系统配置</a:t>
            </a:r>
            <a:r>
              <a:rPr lang="zh-CN" altLang="en-US" sz="1600" b="1" dirty="0">
                <a:solidFill>
                  <a:srgbClr val="00B050"/>
                </a:solidFill>
              </a:rPr>
              <a:t>局数据自动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核对（每周）</a:t>
            </a:r>
            <a:endParaRPr lang="zh-CN" altLang="en-US" sz="1600" b="1" dirty="0">
              <a:solidFill>
                <a:srgbClr val="00B05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B050"/>
                </a:solidFill>
              </a:rPr>
              <a:t>端口</a:t>
            </a:r>
            <a:r>
              <a:rPr lang="zh-CN" altLang="en-US" sz="1600" b="1" dirty="0">
                <a:solidFill>
                  <a:srgbClr val="00B050"/>
                </a:solidFill>
              </a:rPr>
              <a:t>流量（链路利用率）自动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核查</a:t>
            </a:r>
            <a:endParaRPr lang="en-US" altLang="zh-CN" sz="1600" b="1" dirty="0" smtClean="0">
              <a:solidFill>
                <a:srgbClr val="00B05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08070" y="5958840"/>
            <a:ext cx="1821180" cy="628650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82898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47410" y="5958840"/>
            <a:ext cx="1981200" cy="629703"/>
          </a:xfrm>
          <a:prstGeom prst="rect">
            <a:avLst/>
          </a:prstGeom>
          <a:solidFill>
            <a:srgbClr val="D28D04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例行测试自动化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560338" y="607038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07730" y="5958839"/>
            <a:ext cx="1920240" cy="62865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数据备份自动化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131412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914710" y="5951220"/>
            <a:ext cx="1943100" cy="636270"/>
          </a:xfrm>
          <a:prstGeom prst="rect">
            <a:avLst/>
          </a:prstGeom>
          <a:solidFill>
            <a:srgbClr val="00B05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例行核查自动化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646012" y="608562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Harlow Solid Italic" pitchFamily="82" charset="0"/>
              </a:rPr>
              <a:t>4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817667" y="185964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0328" y="135630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张燕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852076" y="316230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0042" y="265896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陈朝勇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 flipH="1">
            <a:off x="895005" y="4102906"/>
            <a:ext cx="108416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853440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6192980" y="1323475"/>
            <a:ext cx="11131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173966" y="191443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163084" y="3235791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98760" y="27324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林庆忠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6162813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292872" y="4059002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</p:spTree>
    <p:extLst>
      <p:ext uri="{BB962C8B-B14F-4D97-AF65-F5344CB8AC3E}">
        <p14:creationId xmlns:p14="http://schemas.microsoft.com/office/powerpoint/2010/main" val="278367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299447" y="3172247"/>
            <a:ext cx="2043701" cy="2499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7738948" y="4913164"/>
            <a:ext cx="3578397" cy="32945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7835568" y="3696103"/>
            <a:ext cx="3024640" cy="29959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7803655" y="4187855"/>
            <a:ext cx="3357404" cy="658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803656" y="2989502"/>
            <a:ext cx="3056551" cy="6589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  <a:cs typeface="+mn-ea"/>
              </a:rPr>
              <a:t>可视化呈现</a:t>
            </a:r>
            <a:r>
              <a:rPr lang="zh-CN" altLang="en-US" sz="2800" b="1" dirty="0" smtClean="0">
                <a:latin typeface="+mn-ea"/>
                <a:cs typeface="+mn-ea"/>
              </a:rPr>
              <a:t>的需求</a:t>
            </a:r>
            <a:endParaRPr lang="zh-CN" altLang="en-US" sz="2800" b="1" dirty="0"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84230" y="4168196"/>
            <a:ext cx="4135570" cy="17532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城域网</a:t>
            </a:r>
            <a:r>
              <a:rPr lang="zh-CN" altLang="en-US" sz="1600" b="1" dirty="0">
                <a:solidFill>
                  <a:srgbClr val="7030A0"/>
                </a:solidFill>
                <a:latin typeface="+mn-ea"/>
                <a:cs typeface="+mn-ea"/>
              </a:rPr>
              <a:t>弱光链路；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设备</a:t>
            </a:r>
            <a:r>
              <a:rPr lang="zh-CN" altLang="en-US" sz="1600" b="1" dirty="0">
                <a:solidFill>
                  <a:srgbClr val="7030A0"/>
                </a:solidFill>
                <a:latin typeface="+mn-ea"/>
                <a:cs typeface="+mn-ea"/>
              </a:rPr>
              <a:t>异常性能信息，每天遗留重要</a:t>
            </a: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告警</a:t>
            </a:r>
            <a:endParaRPr lang="zh-CN" altLang="en-US" sz="1600" b="1" dirty="0">
              <a:solidFill>
                <a:srgbClr val="7030A0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城域网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昨日链路超门限条数，超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+mn-ea"/>
              </a:rPr>
              <a:t>70%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+mn-ea"/>
              </a:rPr>
              <a:t>60%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+mn-ea"/>
              </a:rPr>
              <a:t>50%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多少条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en-US" altLang="zh-CN" sz="1600" b="1" dirty="0" smtClean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31850" y="2547902"/>
            <a:ext cx="3885496" cy="14837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70C0"/>
                </a:solidFill>
                <a:latin typeface="+mn-ea"/>
                <a:cs typeface="+mn-ea"/>
              </a:rPr>
              <a:t>Volte</a:t>
            </a: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每天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粒度的指标情况；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+mn-ea"/>
              </a:rPr>
              <a:t>30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分钟粒度的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接通、注册，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CAUSE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粒度监测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开户、注册、通话用户数</a:t>
            </a:r>
            <a:endParaRPr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31850" y="4168196"/>
            <a:ext cx="3885496" cy="180109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+mn-ea"/>
              </a:rPr>
              <a:t>家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宽、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IPTV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昨日在线峰值用户数，环比增长情况。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+mn-ea"/>
              </a:rPr>
              <a:t>互联网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出口昨日峰值，环比增长情况。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家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宽指标昨日情况，是否有不达标指标，不达标指标多少项。</a:t>
            </a:r>
            <a:endParaRPr lang="en-US" altLang="zh-CN" sz="1600" b="1" dirty="0">
              <a:solidFill>
                <a:srgbClr val="0070C0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9924" y="1300945"/>
            <a:ext cx="2343224" cy="628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+mn-ea"/>
                <a:cs typeface="+mn-ea"/>
              </a:rPr>
              <a:t>关注工作信息的呈现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674753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45870" y="1300945"/>
            <a:ext cx="2331720" cy="629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latin typeface="+mn-ea"/>
                <a:cs typeface="+mn-ea"/>
              </a:rPr>
              <a:t>今天工作</a:t>
            </a:r>
            <a:r>
              <a:rPr lang="zh-CN" altLang="en-US" b="1" dirty="0" smtClean="0">
                <a:latin typeface="+mn-ea"/>
                <a:cs typeface="+mn-ea"/>
              </a:rPr>
              <a:t>重点的呈现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758798" y="141248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11883" y="1300944"/>
            <a:ext cx="2611537" cy="628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b="1" dirty="0" smtClean="0">
                <a:latin typeface="+mn-ea"/>
                <a:cs typeface="+mn-ea"/>
              </a:rPr>
              <a:t>遗留工作跟踪的呈现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835567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6192735" y="340823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5396" y="29048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张燕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655647" y="5347925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3613" y="48445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陈朝勇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6195815" y="534583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76071" y="48425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林庆忠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886128" y="2547902"/>
            <a:ext cx="4133671" cy="14478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cs typeface="+mn-ea"/>
              </a:rPr>
              <a:t>各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cs typeface="+mn-ea"/>
              </a:rPr>
              <a:t>专业的性能指标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+mn-ea"/>
              </a:rPr>
              <a:t>前一天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</a:rPr>
              <a:t>工程完成情况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  <a:latin typeface="+mn-ea"/>
                <a:cs typeface="+mn-ea"/>
              </a:rPr>
              <a:t>网</a:t>
            </a:r>
            <a:r>
              <a:rPr lang="zh-CN" altLang="en-US" sz="1600" b="1" dirty="0">
                <a:solidFill>
                  <a:srgbClr val="7030A0"/>
                </a:solidFill>
                <a:latin typeface="+mn-ea"/>
                <a:cs typeface="+mn-ea"/>
              </a:rPr>
              <a:t>元运行情况：告警、负荷、用户数</a:t>
            </a:r>
            <a:endParaRPr lang="en-US" altLang="zh-CN" sz="1600" b="1" dirty="0">
              <a:solidFill>
                <a:srgbClr val="7030A0"/>
              </a:solidFill>
              <a:latin typeface="+mn-ea"/>
              <a:cs typeface="+mn-ea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50094" y="342217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5770" y="291884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赵业祯</a:t>
            </a:r>
            <a:endParaRPr lang="zh-CN" altLang="en-US" sz="2000" b="1" dirty="0"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01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127617" y="3240617"/>
            <a:ext cx="4913724" cy="2368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048025" y="885988"/>
            <a:ext cx="7107382" cy="177203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EEBD42"/>
                </a:solidFill>
              </a:rPr>
              <a:t>核心网网络结构图，接口名称：</a:t>
            </a:r>
            <a:r>
              <a:rPr lang="en-US" altLang="zh-CN" sz="1600" b="1" dirty="0" smtClean="0">
                <a:solidFill>
                  <a:srgbClr val="EEBD42"/>
                </a:solidFill>
              </a:rPr>
              <a:t>A</a:t>
            </a:r>
            <a:r>
              <a:rPr lang="zh-CN" altLang="en-US" sz="1600" b="1" dirty="0" smtClean="0">
                <a:solidFill>
                  <a:srgbClr val="EEBD42"/>
                </a:solidFill>
              </a:rPr>
              <a:t>口，设备节点所在机房。</a:t>
            </a:r>
            <a:endParaRPr lang="en-US" altLang="zh-CN" sz="1600" b="1" dirty="0" smtClean="0">
              <a:solidFill>
                <a:srgbClr val="EEBD42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7030A0"/>
                </a:solidFill>
              </a:rPr>
              <a:t>设备责任人及基础信息显示，结合对应的负责维护人员，维护所对应的维护指令。</a:t>
            </a:r>
            <a:endParaRPr lang="en-US" altLang="zh-CN" sz="1600" b="1" dirty="0" smtClean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EEBD42"/>
                </a:solidFill>
              </a:rPr>
              <a:t>设备状态显示：结构图上显示网络的连通性。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某个节点故障，出现红色，连接线红色。</a:t>
            </a:r>
            <a:endParaRPr lang="zh-CN" altLang="en-US" sz="1600" b="1" dirty="0">
              <a:solidFill>
                <a:srgbClr val="7030A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48025" y="2765707"/>
            <a:ext cx="7107382" cy="11906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70C0"/>
                </a:solidFill>
              </a:rPr>
              <a:t>4g</a:t>
            </a:r>
            <a:r>
              <a:rPr lang="zh-CN" altLang="en-US" sz="1600" b="1" dirty="0">
                <a:solidFill>
                  <a:srgbClr val="0070C0"/>
                </a:solidFill>
              </a:rPr>
              <a:t>业务指标日情况 </a:t>
            </a:r>
            <a:endParaRPr lang="en-US" altLang="zh-CN" sz="1600" b="1" dirty="0" smtClean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chemeClr val="tx1"/>
                </a:solidFill>
              </a:rPr>
              <a:t>十五分钟</a:t>
            </a:r>
            <a:r>
              <a:rPr lang="zh-CN" altLang="en-US" sz="1600" b="1" dirty="0">
                <a:solidFill>
                  <a:schemeClr val="tx1"/>
                </a:solidFill>
              </a:rPr>
              <a:t>粒度八家物联网客户在线用户数监控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情况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err="1" smtClean="0">
                <a:solidFill>
                  <a:srgbClr val="0070C0"/>
                </a:solidFill>
              </a:rPr>
              <a:t>ip</a:t>
            </a:r>
            <a:r>
              <a:rPr lang="zh-CN" altLang="en-US" sz="1600" b="1" dirty="0">
                <a:solidFill>
                  <a:srgbClr val="0070C0"/>
                </a:solidFill>
              </a:rPr>
              <a:t>承载网在用端口在线率以及呈现链路利用率最高的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端口</a:t>
            </a:r>
            <a:endParaRPr lang="zh-CN" altLang="en-US" sz="1600" b="1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57080" y="4091928"/>
            <a:ext cx="7107383" cy="148878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7030A0"/>
                </a:solidFill>
              </a:rPr>
              <a:t>IMS</a:t>
            </a:r>
            <a:r>
              <a:rPr lang="zh-CN" altLang="en-US" sz="1600" b="1" dirty="0">
                <a:solidFill>
                  <a:srgbClr val="7030A0"/>
                </a:solidFill>
              </a:rPr>
              <a:t>、关口局设备网管连接状态、活动告警（严重、重要等级）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0070C0"/>
                </a:solidFill>
              </a:rPr>
              <a:t>本地</a:t>
            </a:r>
            <a:r>
              <a:rPr lang="zh-CN" altLang="en-US" sz="1600" b="1" dirty="0">
                <a:solidFill>
                  <a:srgbClr val="0070C0"/>
                </a:solidFill>
              </a:rPr>
              <a:t>、长途、互联互通电路数量、各中继群利用率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b="1" dirty="0" smtClean="0">
                <a:solidFill>
                  <a:srgbClr val="0070C0"/>
                </a:solidFill>
              </a:rPr>
              <a:t>IMS</a:t>
            </a:r>
            <a:r>
              <a:rPr lang="zh-CN" altLang="en-US" sz="1600" b="1" dirty="0">
                <a:solidFill>
                  <a:srgbClr val="0070C0"/>
                </a:solidFill>
              </a:rPr>
              <a:t>语音专线质量预警：</a:t>
            </a:r>
            <a:r>
              <a:rPr lang="en-US" altLang="zh-CN" sz="1600" b="1" dirty="0">
                <a:solidFill>
                  <a:srgbClr val="0070C0"/>
                </a:solidFill>
              </a:rPr>
              <a:t>E1</a:t>
            </a:r>
            <a:r>
              <a:rPr lang="zh-CN" altLang="en-US" sz="1600" b="1" dirty="0">
                <a:solidFill>
                  <a:srgbClr val="0070C0"/>
                </a:solidFill>
              </a:rPr>
              <a:t>接入链路利用率（按劣化程度排序）、</a:t>
            </a:r>
            <a:r>
              <a:rPr lang="en-US" altLang="zh-CN" sz="1600" b="1" dirty="0">
                <a:solidFill>
                  <a:srgbClr val="0070C0"/>
                </a:solidFill>
              </a:rPr>
              <a:t>IP</a:t>
            </a:r>
            <a:r>
              <a:rPr lang="zh-CN" altLang="en-US" sz="1600" b="1" dirty="0">
                <a:solidFill>
                  <a:srgbClr val="0070C0"/>
                </a:solidFill>
              </a:rPr>
              <a:t>接入用户数变化趋势（按接入网元）</a:t>
            </a: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841624" y="1896079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71683" y="1261161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  <p:sp>
        <p:nvSpPr>
          <p:cNvPr id="7" name="矩形 6"/>
          <p:cNvSpPr/>
          <p:nvPr/>
        </p:nvSpPr>
        <p:spPr>
          <a:xfrm flipH="1">
            <a:off x="1883189" y="2886483"/>
            <a:ext cx="108416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1841624" y="347749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H="1">
            <a:off x="1915150" y="4374123"/>
            <a:ext cx="11131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1840716" y="4965084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223686" y="5906885"/>
            <a:ext cx="10162592" cy="637323"/>
            <a:chOff x="947368" y="5951220"/>
            <a:chExt cx="10162592" cy="637323"/>
          </a:xfrm>
        </p:grpSpPr>
        <p:sp>
          <p:nvSpPr>
            <p:cNvPr id="22" name="矩形 21"/>
            <p:cNvSpPr/>
            <p:nvPr/>
          </p:nvSpPr>
          <p:spPr>
            <a:xfrm>
              <a:off x="1272540" y="5958840"/>
              <a:ext cx="1821180" cy="62865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呈现</a:t>
              </a:r>
            </a:p>
          </p:txBody>
        </p:sp>
        <p:sp>
          <p:nvSpPr>
            <p:cNvPr id="23" name="椭圆 22"/>
            <p:cNvSpPr/>
            <p:nvPr/>
          </p:nvSpPr>
          <p:spPr>
            <a:xfrm>
              <a:off x="947368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611880" y="5958840"/>
              <a:ext cx="2331720" cy="629703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设备异常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信息呈现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3324808" y="607038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2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553200" y="5958839"/>
              <a:ext cx="1920240" cy="628651"/>
            </a:xfrm>
            <a:prstGeom prst="rect">
              <a:avLst/>
            </a:prstGeom>
            <a:solidFill>
              <a:srgbClr val="EEBD4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网络拓扑呈现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276882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3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9166860" y="5951220"/>
              <a:ext cx="1943100" cy="63627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业务监控呈现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8898162" y="608562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Harlow Solid Italic" pitchFamily="82" charset="0"/>
                </a:rPr>
                <a:t>4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76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701040" y="579120"/>
            <a:ext cx="8595360" cy="5516880"/>
            <a:chOff x="701040" y="579120"/>
            <a:chExt cx="8595360" cy="5516880"/>
          </a:xfrm>
        </p:grpSpPr>
        <p:sp>
          <p:nvSpPr>
            <p:cNvPr id="69" name="矩形 68"/>
            <p:cNvSpPr/>
            <p:nvPr/>
          </p:nvSpPr>
          <p:spPr>
            <a:xfrm>
              <a:off x="701040" y="579120"/>
              <a:ext cx="8595360" cy="5516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 flipH="1">
              <a:off x="782770" y="5547360"/>
              <a:ext cx="37592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自动化工作逻辑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007043" y="1714500"/>
              <a:ext cx="1582553" cy="1082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网元对象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执行周期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 smtClean="0">
                  <a:solidFill>
                    <a:schemeClr val="tx1"/>
                  </a:solidFill>
                </a:rPr>
                <a:t>……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058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定制任务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2062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任务执行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42"/>
            <p:cNvCxnSpPr>
              <a:stCxn id="38" idx="3"/>
              <a:endCxn id="41" idx="1"/>
            </p:cNvCxnSpPr>
            <p:nvPr/>
          </p:nvCxnSpPr>
          <p:spPr>
            <a:xfrm>
              <a:off x="2588393" y="1283970"/>
              <a:ext cx="16178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4206239" y="173736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数据采集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数据入库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检查判断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46760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结果呈现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箭头连接符 45"/>
            <p:cNvCxnSpPr>
              <a:stCxn id="41" idx="3"/>
              <a:endCxn id="45" idx="1"/>
            </p:cNvCxnSpPr>
            <p:nvPr/>
          </p:nvCxnSpPr>
          <p:spPr>
            <a:xfrm>
              <a:off x="5788793" y="1283970"/>
              <a:ext cx="16788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7467599" y="175260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检查记录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详细报告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 flipH="1">
              <a:off x="2734376" y="90103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条件触发</a:t>
              </a:r>
              <a:endParaRPr lang="zh-CN" altLang="en-US" b="1" dirty="0"/>
            </a:p>
          </p:txBody>
        </p:sp>
        <p:sp>
          <p:nvSpPr>
            <p:cNvPr id="49" name="TextBox 48"/>
            <p:cNvSpPr txBox="1"/>
            <p:nvPr/>
          </p:nvSpPr>
          <p:spPr>
            <a:xfrm flipH="1">
              <a:off x="6026216" y="93151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任务完成</a:t>
              </a:r>
              <a:endParaRPr lang="zh-CN" altLang="en-US" b="1" dirty="0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705996" y="3718560"/>
              <a:ext cx="4618603" cy="1139552"/>
              <a:chOff x="3169037" y="4527416"/>
              <a:chExt cx="4104456" cy="864096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31690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49692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临时库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40331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采集接口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58333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数据处理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6697429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数据入库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/>
              <p:cNvCxnSpPr>
                <a:stCxn id="50" idx="6"/>
                <a:endCxn id="52" idx="2"/>
              </p:cNvCxnSpPr>
              <p:nvPr/>
            </p:nvCxnSpPr>
            <p:spPr>
              <a:xfrm>
                <a:off x="3745101" y="4959464"/>
                <a:ext cx="288032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52" idx="6"/>
                <a:endCxn id="51" idx="2"/>
              </p:cNvCxnSpPr>
              <p:nvPr/>
            </p:nvCxnSpPr>
            <p:spPr>
              <a:xfrm>
                <a:off x="4609197" y="4959464"/>
                <a:ext cx="36004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51" idx="6"/>
                <a:endCxn id="53" idx="2"/>
              </p:cNvCxnSpPr>
              <p:nvPr/>
            </p:nvCxnSpPr>
            <p:spPr>
              <a:xfrm>
                <a:off x="5545301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53" idx="6"/>
                <a:endCxn id="54" idx="2"/>
              </p:cNvCxnSpPr>
              <p:nvPr/>
            </p:nvCxnSpPr>
            <p:spPr>
              <a:xfrm>
                <a:off x="6409397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虚尾箭头 58"/>
            <p:cNvSpPr/>
            <p:nvPr/>
          </p:nvSpPr>
          <p:spPr>
            <a:xfrm rot="5400000">
              <a:off x="4813781" y="2956560"/>
              <a:ext cx="412335" cy="533400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5379933" y="5364480"/>
              <a:ext cx="1234227" cy="548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检查标准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60" idx="0"/>
              <a:endCxn id="54" idx="4"/>
            </p:cNvCxnSpPr>
            <p:nvPr/>
          </p:nvCxnSpPr>
          <p:spPr>
            <a:xfrm flipV="1">
              <a:off x="5997047" y="4858112"/>
              <a:ext cx="3440" cy="5063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851660" y="3550920"/>
              <a:ext cx="66065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6375904" y="4288336"/>
              <a:ext cx="324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流程图: 决策 70"/>
            <p:cNvSpPr/>
            <p:nvPr/>
          </p:nvSpPr>
          <p:spPr>
            <a:xfrm>
              <a:off x="6730496" y="3870960"/>
              <a:ext cx="950464" cy="82296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核查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六边形 73"/>
            <p:cNvSpPr/>
            <p:nvPr/>
          </p:nvSpPr>
          <p:spPr>
            <a:xfrm>
              <a:off x="7999794" y="3870960"/>
              <a:ext cx="610805" cy="82296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结果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5" name="直接箭头连接符 74"/>
            <p:cNvCxnSpPr>
              <a:endCxn id="74" idx="3"/>
            </p:cNvCxnSpPr>
            <p:nvPr/>
          </p:nvCxnSpPr>
          <p:spPr>
            <a:xfrm>
              <a:off x="7482840" y="4282440"/>
              <a:ext cx="51695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>
            <a:off x="9372600" y="1253490"/>
            <a:ext cx="2819400" cy="5029150"/>
            <a:chOff x="9372600" y="1253490"/>
            <a:chExt cx="2819400" cy="5029150"/>
          </a:xfrm>
        </p:grpSpPr>
        <p:sp>
          <p:nvSpPr>
            <p:cNvPr id="83" name="圆角矩形标注 82"/>
            <p:cNvSpPr/>
            <p:nvPr/>
          </p:nvSpPr>
          <p:spPr>
            <a:xfrm>
              <a:off x="9372600" y="1253490"/>
              <a:ext cx="2819400" cy="2465070"/>
            </a:xfrm>
            <a:prstGeom prst="wedgeRoundRectCallou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主人：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你的局数据检查已完成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你的健康检查已完成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你要的日报已完成。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----------</a:t>
              </a:r>
            </a:p>
          </p:txBody>
        </p:sp>
        <p:pic>
          <p:nvPicPr>
            <p:cNvPr id="2050" name="Picture 2" descr="http://img.taopic.com/uploads/allimg/120712/201699-120G2224T175.jpg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956" y="3939952"/>
              <a:ext cx="2342688" cy="234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94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342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局数据核查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9250" y="1191491"/>
            <a:ext cx="10850023" cy="5140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9943" y="2282555"/>
            <a:ext cx="1582553" cy="1082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城域网所有</a:t>
            </a:r>
            <a:r>
              <a:rPr lang="en-US" altLang="zh-CN" dirty="0" smtClean="0">
                <a:solidFill>
                  <a:schemeClr val="tx1"/>
                </a:solidFill>
              </a:rPr>
              <a:t>SW</a:t>
            </a:r>
            <a:r>
              <a:rPr lang="zh-CN" altLang="en-US" dirty="0" smtClean="0">
                <a:solidFill>
                  <a:schemeClr val="tx1"/>
                </a:solidFill>
              </a:rPr>
              <a:t>网元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每周一凌晨</a:t>
            </a:r>
            <a:r>
              <a:rPr lang="en-US" altLang="zh-CN" dirty="0" smtClean="0">
                <a:solidFill>
                  <a:schemeClr val="tx1"/>
                </a:solidFill>
              </a:rPr>
              <a:t>02:00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8740" y="1486265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665895" y="1486265"/>
            <a:ext cx="1790806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局数据检查功能块自动执行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15" idx="3"/>
            <a:endCxn id="16" idx="1"/>
          </p:cNvCxnSpPr>
          <p:nvPr/>
        </p:nvCxnSpPr>
        <p:spPr>
          <a:xfrm>
            <a:off x="2311293" y="1852025"/>
            <a:ext cx="13546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615125" y="3689210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结果呈现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31" idx="0"/>
            <a:endCxn id="19" idx="1"/>
          </p:cNvCxnSpPr>
          <p:nvPr/>
        </p:nvCxnSpPr>
        <p:spPr>
          <a:xfrm>
            <a:off x="8448632" y="4053850"/>
            <a:ext cx="1166493" cy="1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615124" y="4537455"/>
            <a:ext cx="1582553" cy="10591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检查记录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详细报告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2387999" y="1469090"/>
            <a:ext cx="1412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每周一</a:t>
            </a:r>
            <a:r>
              <a:rPr lang="en-US" altLang="zh-CN" sz="1600" dirty="0" smtClean="0"/>
              <a:t>02:00</a:t>
            </a:r>
            <a:endParaRPr lang="zh-CN" altLang="en-US" sz="1600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8520542" y="3665371"/>
            <a:ext cx="102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任务完成</a:t>
            </a:r>
            <a:endParaRPr lang="zh-CN" altLang="en-US" sz="1600" dirty="0"/>
          </a:p>
        </p:txBody>
      </p:sp>
      <p:sp>
        <p:nvSpPr>
          <p:cNvPr id="33" name="椭圆 32"/>
          <p:cNvSpPr/>
          <p:nvPr/>
        </p:nvSpPr>
        <p:spPr>
          <a:xfrm>
            <a:off x="1080656" y="4771540"/>
            <a:ext cx="1440871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网元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（配置文件）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576854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523488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采集接口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549192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521529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>
            <a:stCxn id="33" idx="6"/>
            <a:endCxn id="35" idx="2"/>
          </p:cNvCxnSpPr>
          <p:nvPr/>
        </p:nvCxnSpPr>
        <p:spPr>
          <a:xfrm>
            <a:off x="2521527" y="5341316"/>
            <a:ext cx="100196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5" idx="6"/>
            <a:endCxn id="34" idx="2"/>
          </p:cNvCxnSpPr>
          <p:nvPr/>
        </p:nvCxnSpPr>
        <p:spPr>
          <a:xfrm>
            <a:off x="4171713" y="5341316"/>
            <a:ext cx="4051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4" idx="6"/>
            <a:endCxn id="36" idx="2"/>
          </p:cNvCxnSpPr>
          <p:nvPr/>
        </p:nvCxnSpPr>
        <p:spPr>
          <a:xfrm>
            <a:off x="5225079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6" idx="6"/>
            <a:endCxn id="37" idx="2"/>
          </p:cNvCxnSpPr>
          <p:nvPr/>
        </p:nvCxnSpPr>
        <p:spPr>
          <a:xfrm>
            <a:off x="6197417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222061" y="2772995"/>
            <a:ext cx="1234227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检查标准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/>
          <p:cNvCxnSpPr>
            <a:stCxn id="30" idx="2"/>
            <a:endCxn id="37" idx="0"/>
          </p:cNvCxnSpPr>
          <p:nvPr/>
        </p:nvCxnSpPr>
        <p:spPr>
          <a:xfrm>
            <a:off x="6845641" y="4465330"/>
            <a:ext cx="1" cy="30621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图: 决策 29"/>
          <p:cNvSpPr/>
          <p:nvPr/>
        </p:nvSpPr>
        <p:spPr>
          <a:xfrm>
            <a:off x="6370409" y="3642370"/>
            <a:ext cx="950464" cy="82296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六边形 30"/>
          <p:cNvSpPr/>
          <p:nvPr/>
        </p:nvSpPr>
        <p:spPr>
          <a:xfrm>
            <a:off x="7837827" y="3642370"/>
            <a:ext cx="610805" cy="82296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320873" y="4053850"/>
            <a:ext cx="5169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6" idx="2"/>
            <a:endCxn id="35" idx="0"/>
          </p:cNvCxnSpPr>
          <p:nvPr/>
        </p:nvCxnSpPr>
        <p:spPr>
          <a:xfrm flipH="1">
            <a:off x="3847601" y="2217785"/>
            <a:ext cx="713697" cy="2553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81603" y="3131284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局数据采集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任务调度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 flipH="1">
            <a:off x="2657485" y="4937800"/>
            <a:ext cx="820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Telnet</a:t>
            </a:r>
            <a:endParaRPr lang="zh-CN" altLang="en-US" sz="1600" dirty="0"/>
          </a:p>
        </p:txBody>
      </p:sp>
      <p:cxnSp>
        <p:nvCxnSpPr>
          <p:cNvPr id="66" name="直接箭头连接符 65"/>
          <p:cNvCxnSpPr>
            <a:stCxn id="26" idx="2"/>
            <a:endCxn id="30" idx="0"/>
          </p:cNvCxnSpPr>
          <p:nvPr/>
        </p:nvCxnSpPr>
        <p:spPr>
          <a:xfrm>
            <a:off x="6839175" y="3321635"/>
            <a:ext cx="6466" cy="3207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520542" y="1602463"/>
            <a:ext cx="17913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这一页拉到备注里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1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46960" y="1076682"/>
            <a:ext cx="5055408" cy="43335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32960" y="5791200"/>
            <a:ext cx="2769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网络数据化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2454" y="2590800"/>
            <a:ext cx="3722421" cy="2819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501041" y="3962400"/>
            <a:ext cx="2761210" cy="1447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涉及数据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1600" dirty="0" smtClean="0">
                <a:solidFill>
                  <a:schemeClr val="tx1"/>
                </a:solidFill>
                <a:latin typeface="+mn-ea"/>
              </a:rPr>
              <a:t>MIB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信息、配置文件、系统日志、指令查询结果等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298990" y="2990782"/>
            <a:ext cx="3289221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业务网全数据库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10014" y="1619000"/>
            <a:ext cx="4587597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支撑网及环境全数据库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466195" y="1076682"/>
            <a:ext cx="3108960" cy="4333518"/>
            <a:chOff x="6705600" y="1076682"/>
            <a:chExt cx="3108960" cy="4333518"/>
          </a:xfrm>
        </p:grpSpPr>
        <p:sp>
          <p:nvSpPr>
            <p:cNvPr id="6" name="矩形 5"/>
            <p:cNvSpPr/>
            <p:nvPr/>
          </p:nvSpPr>
          <p:spPr>
            <a:xfrm>
              <a:off x="6705600" y="1076682"/>
              <a:ext cx="3108960" cy="43335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398305" y="1296967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全专业知识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库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8444105" y="3631168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初级知识库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444105" y="2833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/>
                <a:t>中</a:t>
              </a:r>
              <a:r>
                <a:rPr lang="zh-CN" altLang="en-US" dirty="0" smtClean="0"/>
                <a:t>级知识库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444105" y="2071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高级知识库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444105" y="440436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551873" y="456080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分级别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137828" y="37835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 smtClean="0"/>
                <a:t>城域网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120458" y="28334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核心网</a:t>
              </a:r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18168" y="188857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无线网</a:t>
              </a:r>
              <a:endParaRPr lang="zh-CN" altLang="en-US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858000" y="441960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7088833" y="457604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分专业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118167" y="2345770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动力网</a:t>
              </a:r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781800" y="1734087"/>
              <a:ext cx="506870" cy="584775"/>
              <a:chOff x="1289755" y="241012"/>
              <a:chExt cx="506870" cy="584775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781800" y="2221767"/>
              <a:ext cx="506870" cy="584775"/>
              <a:chOff x="1289755" y="241012"/>
              <a:chExt cx="506870" cy="584775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781800" y="2694207"/>
              <a:ext cx="506870" cy="584775"/>
              <a:chOff x="1289755" y="241012"/>
              <a:chExt cx="506870" cy="58477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781800" y="3623847"/>
              <a:ext cx="506870" cy="584775"/>
              <a:chOff x="1289755" y="241012"/>
              <a:chExt cx="506870" cy="58477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7137828" y="33263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/>
                <a:t>承载</a:t>
              </a:r>
              <a:r>
                <a:rPr lang="zh-CN" altLang="en-US" dirty="0" smtClean="0"/>
                <a:t>网</a:t>
              </a:r>
              <a:endParaRPr lang="zh-CN" altLang="en-US" dirty="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81800" y="3166647"/>
              <a:ext cx="506870" cy="584775"/>
              <a:chOff x="1289755" y="241012"/>
              <a:chExt cx="506870" cy="584775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8" name="椭圆 37"/>
            <p:cNvSpPr/>
            <p:nvPr/>
          </p:nvSpPr>
          <p:spPr>
            <a:xfrm>
              <a:off x="8304654" y="214556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椭圆 39"/>
            <p:cNvSpPr/>
            <p:nvPr/>
          </p:nvSpPr>
          <p:spPr>
            <a:xfrm>
              <a:off x="8304654" y="289232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椭圆 40"/>
            <p:cNvSpPr/>
            <p:nvPr/>
          </p:nvSpPr>
          <p:spPr>
            <a:xfrm>
              <a:off x="8304654" y="371528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45275" y="1888570"/>
            <a:ext cx="960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endParaRPr lang="zh-CN" altLang="en-US" sz="4000" b="1" i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272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7494" y="5736639"/>
            <a:ext cx="3941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智慧化运维建设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0" y="1337548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海量大数据采集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47800" y="4251960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高度完善自动化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2200418" y="2777728"/>
            <a:ext cx="536924" cy="80772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虚尾箭头 5"/>
          <p:cNvSpPr/>
          <p:nvPr/>
        </p:nvSpPr>
        <p:spPr>
          <a:xfrm>
            <a:off x="3916679" y="2166104"/>
            <a:ext cx="3409593" cy="2072640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发现合适的运维任务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496300" y="2676644"/>
            <a:ext cx="281178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智能算法离线训练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肘形连接符 9"/>
          <p:cNvCxnSpPr>
            <a:stCxn id="39" idx="2"/>
            <a:endCxn id="35" idx="3"/>
          </p:cNvCxnSpPr>
          <p:nvPr/>
        </p:nvCxnSpPr>
        <p:spPr>
          <a:xfrm rot="5400000">
            <a:off x="6308467" y="1062097"/>
            <a:ext cx="927616" cy="62598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3"/>
            <a:endCxn id="39" idx="1"/>
          </p:cNvCxnSpPr>
          <p:nvPr/>
        </p:nvCxnSpPr>
        <p:spPr>
          <a:xfrm>
            <a:off x="7326272" y="3202424"/>
            <a:ext cx="11700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" idx="3"/>
            <a:endCxn id="39" idx="0"/>
          </p:cNvCxnSpPr>
          <p:nvPr/>
        </p:nvCxnSpPr>
        <p:spPr>
          <a:xfrm>
            <a:off x="3642360" y="1741408"/>
            <a:ext cx="6259830" cy="9352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779520" y="1935480"/>
            <a:ext cx="0" cy="2499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2275" y="1371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数据提取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72275" y="47853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62515" y="524411"/>
            <a:ext cx="17913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这一页拉删掉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62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左箭头 35"/>
          <p:cNvSpPr/>
          <p:nvPr/>
        </p:nvSpPr>
        <p:spPr>
          <a:xfrm>
            <a:off x="5222628" y="2321169"/>
            <a:ext cx="4062047" cy="6865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无人巡检机房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400" y="1033176"/>
            <a:ext cx="367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内容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：打造无人化机房管理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63" y="1646431"/>
            <a:ext cx="3309906" cy="16352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07" y="4493904"/>
            <a:ext cx="3747636" cy="193409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836510" y="2462052"/>
            <a:ext cx="305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、基于</a:t>
            </a:r>
            <a:r>
              <a:rPr lang="zh-CN" altLang="en-US" b="1" dirty="0"/>
              <a:t>机器人的机房管理</a:t>
            </a:r>
          </a:p>
        </p:txBody>
      </p:sp>
      <p:pic>
        <p:nvPicPr>
          <p:cNvPr id="30" name="Picture 2" descr="http://img.taopic.com/uploads/allimg/120712/201699-120G2224T175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8931" y="1697292"/>
            <a:ext cx="1310454" cy="131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63" y="4949550"/>
            <a:ext cx="705590" cy="1352092"/>
          </a:xfrm>
          <a:prstGeom prst="rect">
            <a:avLst/>
          </a:prstGeom>
        </p:spPr>
      </p:pic>
      <p:sp>
        <p:nvSpPr>
          <p:cNvPr id="34" name="下箭头 33"/>
          <p:cNvSpPr/>
          <p:nvPr/>
        </p:nvSpPr>
        <p:spPr>
          <a:xfrm>
            <a:off x="2459048" y="3281633"/>
            <a:ext cx="477581" cy="12423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5447427" y="5399675"/>
            <a:ext cx="3837248" cy="731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、基于</a:t>
            </a:r>
            <a:r>
              <a:rPr lang="en-US" altLang="zh-CN" b="1" dirty="0">
                <a:solidFill>
                  <a:schemeClr val="tx1"/>
                </a:solidFill>
              </a:rPr>
              <a:t>VR</a:t>
            </a:r>
            <a:r>
              <a:rPr lang="zh-CN" altLang="en-US" b="1" dirty="0">
                <a:solidFill>
                  <a:schemeClr val="tx1"/>
                </a:solidFill>
              </a:rPr>
              <a:t>技术的机房实时</a:t>
            </a:r>
            <a:r>
              <a:rPr lang="zh-CN" altLang="en-US" b="1" dirty="0" smtClean="0">
                <a:solidFill>
                  <a:schemeClr val="tx1"/>
                </a:solidFill>
              </a:rPr>
              <a:t>呈现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上箭头 37"/>
          <p:cNvSpPr/>
          <p:nvPr/>
        </p:nvSpPr>
        <p:spPr>
          <a:xfrm>
            <a:off x="10091362" y="3235569"/>
            <a:ext cx="476979" cy="125833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112477" y="3780692"/>
            <a:ext cx="177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100%</a:t>
            </a:r>
            <a:r>
              <a:rPr lang="zh-CN" altLang="en-US" dirty="0" smtClean="0"/>
              <a:t>复原机房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0568341" y="3780692"/>
            <a:ext cx="120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任务管控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5695677" y="2929132"/>
            <a:ext cx="3115948" cy="2694291"/>
            <a:chOff x="5695677" y="2929132"/>
            <a:chExt cx="3115948" cy="2694291"/>
          </a:xfrm>
        </p:grpSpPr>
        <p:grpSp>
          <p:nvGrpSpPr>
            <p:cNvPr id="18" name="组合 17"/>
            <p:cNvGrpSpPr/>
            <p:nvPr/>
          </p:nvGrpSpPr>
          <p:grpSpPr>
            <a:xfrm>
              <a:off x="5695677" y="2929132"/>
              <a:ext cx="3115948" cy="2178877"/>
              <a:chOff x="4163565" y="2671687"/>
              <a:chExt cx="3774124" cy="270803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4163565" y="2671687"/>
                <a:ext cx="3774124" cy="2708038"/>
                <a:chOff x="269848" y="1092189"/>
                <a:chExt cx="3122612" cy="2198009"/>
              </a:xfrm>
            </p:grpSpPr>
            <p:pic>
              <p:nvPicPr>
                <p:cNvPr id="22" name="Picture 2" descr="ânetwork brainâçå¾çæç´¢ç»æ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848" y="1092189"/>
                  <a:ext cx="3122612" cy="21980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图片 23"/>
                <p:cNvPicPr>
                  <a:picLocks noChangeAspect="1"/>
                </p:cNvPicPr>
                <p:nvPr/>
              </p:nvPicPr>
              <p:blipFill>
                <a:blip r:embed="rId9">
                  <a:duotone>
                    <a:prstClr val="black"/>
                    <a:schemeClr val="accent4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9434" b="100000" l="9633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174855">
                  <a:off x="400289" y="1313539"/>
                  <a:ext cx="1084109" cy="790704"/>
                </a:xfrm>
                <a:prstGeom prst="rect">
                  <a:avLst/>
                </a:prstGeom>
              </p:spPr>
            </p:pic>
          </p:grpSp>
          <p:cxnSp>
            <p:nvCxnSpPr>
              <p:cNvPr id="20" name="直接连接符 19"/>
              <p:cNvCxnSpPr/>
              <p:nvPr/>
            </p:nvCxnSpPr>
            <p:spPr>
              <a:xfrm flipV="1">
                <a:off x="5141715" y="3053478"/>
                <a:ext cx="628945" cy="2689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4624991" y="3773075"/>
                <a:ext cx="610833" cy="30813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文本框 1"/>
            <p:cNvSpPr txBox="1"/>
            <p:nvPr/>
          </p:nvSpPr>
          <p:spPr>
            <a:xfrm>
              <a:off x="5931228" y="5223313"/>
              <a:ext cx="2656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大脑系统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1130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6150" y="1090862"/>
            <a:ext cx="3989176" cy="36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内容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：基于大数据支撑的机房管理 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无人巡检机房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1" y="1511503"/>
            <a:ext cx="12265887" cy="53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0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728" y="209260"/>
            <a:ext cx="4739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拥塞自动调度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455" y="956644"/>
            <a:ext cx="10238508" cy="5217730"/>
            <a:chOff x="1385455" y="956644"/>
            <a:chExt cx="10238508" cy="5217730"/>
          </a:xfrm>
        </p:grpSpPr>
        <p:grpSp>
          <p:nvGrpSpPr>
            <p:cNvPr id="52" name="组合 5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27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9" name="直接连接符 8"/>
                <p:cNvCxnSpPr>
                  <a:stCxn id="1026" idx="0"/>
                  <a:endCxn id="1027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4" name="直接连接符 33"/>
                <p:cNvCxnSpPr>
                  <a:stCxn id="32" idx="0"/>
                  <a:endCxn id="33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>
                  <a:stCxn id="1026" idx="0"/>
                  <a:endCxn id="33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>
                  <a:stCxn id="1027" idx="2"/>
                  <a:endCxn id="32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3366658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56" name="矩形标注 55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GB</a:t>
              </a:r>
            </a:p>
          </p:txBody>
        </p:sp>
        <p:sp>
          <p:nvSpPr>
            <p:cNvPr id="40" name="矩形标注 39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GB</a:t>
              </a:r>
              <a:endParaRPr lang="en-US" altLang="zh-CN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0210800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39" name="组合 38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67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8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69" name="直接连接符 68"/>
                <p:cNvCxnSpPr>
                  <a:stCxn id="67" idx="0"/>
                  <a:endCxn id="68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0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72" name="直接连接符 71"/>
                <p:cNvCxnSpPr>
                  <a:stCxn id="70" idx="0"/>
                  <a:endCxn id="71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>
                  <a:stCxn id="67" idx="0"/>
                  <a:endCxn id="71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>
                  <a:stCxn id="68" idx="2"/>
                  <a:endCxn id="70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/>
                <p:cNvSpPr txBox="1"/>
                <p:nvPr/>
              </p:nvSpPr>
              <p:spPr>
                <a:xfrm>
                  <a:off x="3366663" y="4676835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42" name="矩形标注 41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0.6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</a:t>
              </a: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16.2 GB</a:t>
              </a:r>
            </a:p>
          </p:txBody>
        </p:sp>
        <p:sp>
          <p:nvSpPr>
            <p:cNvPr id="44" name="矩形标注 4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2.2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1.4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2.8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13.8 GB</a:t>
              </a:r>
            </a:p>
          </p:txBody>
        </p:sp>
        <p:sp>
          <p:nvSpPr>
            <p:cNvPr id="60" name="椭圆 59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62683" y="1146234"/>
            <a:ext cx="1777212" cy="454997"/>
            <a:chOff x="5662683" y="820312"/>
            <a:chExt cx="1777212" cy="454997"/>
          </a:xfrm>
        </p:grpSpPr>
        <p:cxnSp>
          <p:nvCxnSpPr>
            <p:cNvPr id="87" name="直接箭头连接符 86"/>
            <p:cNvCxnSpPr/>
            <p:nvPr/>
          </p:nvCxnSpPr>
          <p:spPr>
            <a:xfrm>
              <a:off x="5662683" y="1275309"/>
              <a:ext cx="177721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5680355" y="820312"/>
              <a:ext cx="1630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家</a:t>
              </a:r>
              <a:r>
                <a:rPr lang="zh-CN" altLang="en-US" dirty="0" smtClean="0"/>
                <a:t>宽用户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80355" y="1807497"/>
            <a:ext cx="1777212" cy="462832"/>
            <a:chOff x="5680355" y="1807497"/>
            <a:chExt cx="1777212" cy="462832"/>
          </a:xfrm>
        </p:grpSpPr>
        <p:cxnSp>
          <p:nvCxnSpPr>
            <p:cNvPr id="89" name="直接箭头连接符 88"/>
            <p:cNvCxnSpPr/>
            <p:nvPr/>
          </p:nvCxnSpPr>
          <p:spPr>
            <a:xfrm>
              <a:off x="5680355" y="1807497"/>
              <a:ext cx="1777212" cy="0"/>
            </a:xfrm>
            <a:prstGeom prst="straightConnector1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5749625" y="1900997"/>
              <a:ext cx="1587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IPTV</a:t>
              </a:r>
              <a:r>
                <a:rPr lang="zh-CN" altLang="en-US" dirty="0" smtClean="0"/>
                <a:t>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4563666" y="1233748"/>
            <a:ext cx="3394100" cy="3033675"/>
            <a:chOff x="4563666" y="1233748"/>
            <a:chExt cx="3394100" cy="3033675"/>
          </a:xfrm>
        </p:grpSpPr>
        <p:pic>
          <p:nvPicPr>
            <p:cNvPr id="123" name="Picture 3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3666" y="1233748"/>
              <a:ext cx="1024529" cy="981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4" name="直接连接符 123"/>
            <p:cNvCxnSpPr>
              <a:endCxn id="123" idx="2"/>
            </p:cNvCxnSpPr>
            <p:nvPr/>
          </p:nvCxnSpPr>
          <p:spPr>
            <a:xfrm flipV="1">
              <a:off x="5075931" y="2214987"/>
              <a:ext cx="0" cy="2052436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123" idx="2"/>
            </p:cNvCxnSpPr>
            <p:nvPr/>
          </p:nvCxnSpPr>
          <p:spPr>
            <a:xfrm>
              <a:off x="5075931" y="2214987"/>
              <a:ext cx="2881835" cy="2052431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92" name="组合 9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4" name="直接连接符 103"/>
                <p:cNvCxnSpPr>
                  <a:stCxn id="102" idx="0"/>
                  <a:endCxn id="103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5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6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7" name="直接连接符 106"/>
                <p:cNvCxnSpPr>
                  <a:stCxn id="105" idx="0"/>
                  <a:endCxn id="106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>
                  <a:stCxn id="102" idx="0"/>
                  <a:endCxn id="106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>
                  <a:stCxn id="103" idx="2"/>
                  <a:endCxn id="105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Box 117"/>
                <p:cNvSpPr txBox="1"/>
                <p:nvPr/>
              </p:nvSpPr>
              <p:spPr>
                <a:xfrm>
                  <a:off x="3366663" y="4673361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121" name="TextBox 120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93" name="矩形标注 92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4" name="矩形标注 9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5" name="椭圆 94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453662" y="300927"/>
            <a:ext cx="3555351" cy="498765"/>
            <a:chOff x="277079" y="3657600"/>
            <a:chExt cx="3309490" cy="498765"/>
          </a:xfrm>
        </p:grpSpPr>
        <p:sp>
          <p:nvSpPr>
            <p:cNvPr id="10" name="矩形 9"/>
            <p:cNvSpPr/>
            <p:nvPr/>
          </p:nvSpPr>
          <p:spPr>
            <a:xfrm>
              <a:off x="277079" y="3657600"/>
              <a:ext cx="1288471" cy="49876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智能算法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10" idx="3"/>
            </p:cNvCxnSpPr>
            <p:nvPr/>
          </p:nvCxnSpPr>
          <p:spPr>
            <a:xfrm>
              <a:off x="1565550" y="3906982"/>
              <a:ext cx="824340" cy="0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圆角矩形 12"/>
            <p:cNvSpPr/>
            <p:nvPr/>
          </p:nvSpPr>
          <p:spPr>
            <a:xfrm>
              <a:off x="2396830" y="3657601"/>
              <a:ext cx="1189739" cy="498764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调度方案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752870" y="2228837"/>
            <a:ext cx="3992875" cy="2779142"/>
            <a:chOff x="473758" y="2645083"/>
            <a:chExt cx="3992875" cy="2779142"/>
          </a:xfrm>
        </p:grpSpPr>
        <p:grpSp>
          <p:nvGrpSpPr>
            <p:cNvPr id="138" name="组合 137"/>
            <p:cNvGrpSpPr/>
            <p:nvPr/>
          </p:nvGrpSpPr>
          <p:grpSpPr>
            <a:xfrm>
              <a:off x="473758" y="2645083"/>
              <a:ext cx="3992875" cy="2779142"/>
              <a:chOff x="785613" y="2153051"/>
              <a:chExt cx="3992875" cy="2779142"/>
            </a:xfrm>
          </p:grpSpPr>
          <p:pic>
            <p:nvPicPr>
              <p:cNvPr id="14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1" name="直接连接符 140"/>
              <p:cNvCxnSpPr>
                <a:stCxn id="140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</p:grpSp>
        <p:sp>
          <p:nvSpPr>
            <p:cNvPr id="139" name="文本框 138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grpSp>
        <p:nvGrpSpPr>
          <p:cNvPr id="143" name="组合 142"/>
          <p:cNvGrpSpPr/>
          <p:nvPr/>
        </p:nvGrpSpPr>
        <p:grpSpPr>
          <a:xfrm flipH="1">
            <a:off x="8330887" y="2209871"/>
            <a:ext cx="3992875" cy="2779142"/>
            <a:chOff x="473758" y="2645083"/>
            <a:chExt cx="3992875" cy="2779142"/>
          </a:xfrm>
        </p:grpSpPr>
        <p:grpSp>
          <p:nvGrpSpPr>
            <p:cNvPr id="144" name="组合 143"/>
            <p:cNvGrpSpPr/>
            <p:nvPr/>
          </p:nvGrpSpPr>
          <p:grpSpPr>
            <a:xfrm>
              <a:off x="473758" y="2645083"/>
              <a:ext cx="3992875" cy="2779142"/>
              <a:chOff x="785613" y="2153051"/>
              <a:chExt cx="3992875" cy="2779142"/>
            </a:xfrm>
          </p:grpSpPr>
          <p:pic>
            <p:nvPicPr>
              <p:cNvPr id="14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7" name="直接连接符 146"/>
              <p:cNvCxnSpPr>
                <a:stCxn id="146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</p:grpSp>
        <p:sp>
          <p:nvSpPr>
            <p:cNvPr id="145" name="文本框 144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899" y="63617"/>
            <a:ext cx="1540496" cy="11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71" y="2007555"/>
            <a:ext cx="1209287" cy="12092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9250" y="213111"/>
            <a:ext cx="744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投诉提前预测（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地址锁死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72" y="1914268"/>
            <a:ext cx="1357203" cy="16769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284" y="1914268"/>
            <a:ext cx="1357203" cy="167696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72" y="2056104"/>
            <a:ext cx="1059086" cy="10590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05139" y="1209896"/>
            <a:ext cx="201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用户体验差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686558" y="1897725"/>
            <a:ext cx="1362002" cy="1710052"/>
            <a:chOff x="7416455" y="1488634"/>
            <a:chExt cx="1362002" cy="1710052"/>
          </a:xfrm>
        </p:grpSpPr>
        <p:pic>
          <p:nvPicPr>
            <p:cNvPr id="1026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790735" y="2280693"/>
            <a:ext cx="2718707" cy="1222206"/>
            <a:chOff x="3790735" y="2280693"/>
            <a:chExt cx="2718707" cy="122220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9408705" y="1963953"/>
            <a:ext cx="1208260" cy="1643824"/>
            <a:chOff x="10482560" y="1554862"/>
            <a:chExt cx="1208260" cy="164382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247260" y="2198751"/>
            <a:ext cx="1013197" cy="692463"/>
            <a:chOff x="9181005" y="1681232"/>
            <a:chExt cx="1013197" cy="692463"/>
          </a:xfrm>
        </p:grpSpPr>
        <p:sp>
          <p:nvSpPr>
            <p:cNvPr id="19" name="右箭头 18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680538" y="3737342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  <p:grpSp>
        <p:nvGrpSpPr>
          <p:cNvPr id="74" name="组合 73"/>
          <p:cNvGrpSpPr/>
          <p:nvPr/>
        </p:nvGrpSpPr>
        <p:grpSpPr>
          <a:xfrm>
            <a:off x="1100078" y="4376578"/>
            <a:ext cx="2561480" cy="2481422"/>
            <a:chOff x="1100078" y="4376578"/>
            <a:chExt cx="2561480" cy="2481422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3498" y="4376578"/>
              <a:ext cx="561150" cy="67550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0078" y="5072611"/>
              <a:ext cx="561150" cy="6755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13498" y="6182500"/>
              <a:ext cx="561150" cy="67550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1195245" y="5735286"/>
              <a:ext cx="370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cxnSp>
          <p:nvCxnSpPr>
            <p:cNvPr id="45" name="直接连接符 44"/>
            <p:cNvCxnSpPr>
              <a:stCxn id="40" idx="3"/>
              <a:endCxn id="51" idx="2"/>
            </p:cNvCxnSpPr>
            <p:nvPr/>
          </p:nvCxnSpPr>
          <p:spPr>
            <a:xfrm>
              <a:off x="1674648" y="4714328"/>
              <a:ext cx="1038963" cy="696218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1" idx="3"/>
              <a:endCxn id="51" idx="2"/>
            </p:cNvCxnSpPr>
            <p:nvPr/>
          </p:nvCxnSpPr>
          <p:spPr>
            <a:xfrm>
              <a:off x="1661228" y="5410361"/>
              <a:ext cx="1052383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42" idx="3"/>
              <a:endCxn id="51" idx="2"/>
            </p:cNvCxnSpPr>
            <p:nvPr/>
          </p:nvCxnSpPr>
          <p:spPr>
            <a:xfrm flipV="1">
              <a:off x="1674648" y="5410546"/>
              <a:ext cx="1038963" cy="1109704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2713611" y="5161995"/>
              <a:ext cx="947947" cy="4971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感知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107850" y="3737342"/>
            <a:ext cx="1005403" cy="1093284"/>
            <a:chOff x="5325844" y="4979295"/>
            <a:chExt cx="663078" cy="849900"/>
          </a:xfrm>
        </p:grpSpPr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498" y="4979295"/>
              <a:ext cx="659771" cy="659771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5325844" y="5566009"/>
              <a:ext cx="663078" cy="2631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智能模型</a:t>
              </a:r>
              <a:endParaRPr lang="zh-CN" altLang="en-US" sz="1600" dirty="0"/>
            </a:p>
          </p:txBody>
        </p:sp>
      </p:grpSp>
      <p:sp>
        <p:nvSpPr>
          <p:cNvPr id="65" name="圆角矩形 64"/>
          <p:cNvSpPr/>
          <p:nvPr/>
        </p:nvSpPr>
        <p:spPr>
          <a:xfrm>
            <a:off x="5141589" y="4362199"/>
            <a:ext cx="833698" cy="3521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决策</a:t>
            </a:r>
            <a:endParaRPr lang="zh-CN" altLang="en-US" dirty="0"/>
          </a:p>
        </p:txBody>
      </p:sp>
      <p:grpSp>
        <p:nvGrpSpPr>
          <p:cNvPr id="77" name="组合 76"/>
          <p:cNvGrpSpPr/>
          <p:nvPr/>
        </p:nvGrpSpPr>
        <p:grpSpPr>
          <a:xfrm>
            <a:off x="6491334" y="4728737"/>
            <a:ext cx="2397964" cy="1607688"/>
            <a:chOff x="6491334" y="4728737"/>
            <a:chExt cx="2397964" cy="1607688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6491334" y="5410176"/>
              <a:ext cx="859669" cy="0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566" y="4728737"/>
              <a:ext cx="1290732" cy="120068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586691" y="4779400"/>
              <a:ext cx="654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预测结果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698395" y="5967093"/>
              <a:ext cx="11909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解决方案</a:t>
              </a:r>
              <a:endParaRPr lang="zh-CN" altLang="en-US" dirty="0"/>
            </a:p>
          </p:txBody>
        </p:sp>
      </p:grpSp>
      <p:sp>
        <p:nvSpPr>
          <p:cNvPr id="68" name="圆角矩形 67"/>
          <p:cNvSpPr/>
          <p:nvPr/>
        </p:nvSpPr>
        <p:spPr>
          <a:xfrm>
            <a:off x="7874936" y="4231934"/>
            <a:ext cx="837819" cy="3877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69" name="圆角矩形 68"/>
          <p:cNvSpPr/>
          <p:nvPr/>
        </p:nvSpPr>
        <p:spPr>
          <a:xfrm>
            <a:off x="614077" y="4201283"/>
            <a:ext cx="8275222" cy="2626066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344848" y="4338284"/>
            <a:ext cx="653378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后台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078129" y="4199007"/>
            <a:ext cx="2899606" cy="2628342"/>
            <a:chOff x="9078129" y="4199007"/>
            <a:chExt cx="2899606" cy="2628342"/>
          </a:xfrm>
        </p:grpSpPr>
        <p:sp>
          <p:nvSpPr>
            <p:cNvPr id="79" name="圆角矩形 78"/>
            <p:cNvSpPr/>
            <p:nvPr/>
          </p:nvSpPr>
          <p:spPr>
            <a:xfrm>
              <a:off x="9078129" y="4199007"/>
              <a:ext cx="2899606" cy="2628342"/>
            </a:xfrm>
            <a:prstGeom prst="round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9348672" y="4337496"/>
              <a:ext cx="653378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</a:rPr>
                <a:t>用户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438" y="4721196"/>
              <a:ext cx="1357203" cy="1676966"/>
            </a:xfrm>
            <a:prstGeom prst="rect">
              <a:avLst/>
            </a:prstGeom>
          </p:spPr>
        </p:pic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633" y="4858467"/>
            <a:ext cx="1209287" cy="1209287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5279166" y="3681471"/>
            <a:ext cx="146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</a:rPr>
              <a:t>用户体验好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15860" y="4973995"/>
            <a:ext cx="2634770" cy="993098"/>
            <a:chOff x="3715860" y="4973995"/>
            <a:chExt cx="2634770" cy="993098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3715860" y="5410176"/>
              <a:ext cx="1207165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9219" y="4973995"/>
              <a:ext cx="1381411" cy="993098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5107850" y="6104618"/>
            <a:ext cx="112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大脑系统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356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31" grpId="0"/>
      <p:bldP spid="65" grpId="0" animBg="1"/>
      <p:bldP spid="68" grpId="0" animBg="1"/>
      <p:bldP spid="69" grpId="0" animBg="1"/>
      <p:bldP spid="71" grpId="0" animBg="1"/>
      <p:bldP spid="83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744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投诉提前预防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地址锁死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1357284" y="2141170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3389834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5258391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7126948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8995505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357284" y="2763282"/>
            <a:ext cx="9387508" cy="1633635"/>
          </a:xfrm>
          <a:prstGeom prst="round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1357284" y="4489359"/>
            <a:ext cx="9387508" cy="1454446"/>
          </a:xfrm>
          <a:prstGeom prst="roundRect">
            <a:avLst/>
          </a:prstGeom>
          <a:solidFill>
            <a:srgbClr val="8EC31F">
              <a:alpha val="39000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6957" y="3071396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6957" y="4697433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7535" y="2691515"/>
            <a:ext cx="113306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20024" y="2907055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选择模型进行训练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参数更新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81004" y="3148634"/>
            <a:ext cx="144117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12447" y="3849404"/>
            <a:ext cx="1332384" cy="354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rgbClr val="FF0000"/>
                </a:solidFill>
              </a:rPr>
              <a:t>根据重要程度确定更新频率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2872067" y="3063097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4998939" y="3033110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357408" y="2824316"/>
            <a:ext cx="1614321" cy="61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4992984" y="3758065"/>
            <a:ext cx="346295" cy="42546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17399" y="2733617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389834" y="3616972"/>
            <a:ext cx="1595230" cy="61609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484254" y="357473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已更新模型的存储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467947" y="4512334"/>
            <a:ext cx="113306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924268" y="4882099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591222" y="4720789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5032396" y="4882099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7007678" y="487620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8876235" y="485857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383760" y="4758951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利用模型判断是否即将发生锁死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53973" y="4778563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控制任务调度执行预定义操作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263074" y="477856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执行预防措施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（强制下线）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096" y="2487177"/>
            <a:ext cx="5314286" cy="1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3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6" grpId="0" animBg="1"/>
      <p:bldP spid="2" grpId="0" animBg="1"/>
      <p:bldP spid="23" grpId="0" animBg="1"/>
      <p:bldP spid="3" grpId="0"/>
      <p:bldP spid="24" grpId="0"/>
      <p:bldP spid="4" grpId="0"/>
      <p:bldP spid="26" grpId="0"/>
      <p:bldP spid="6" grpId="0" animBg="1"/>
      <p:bldP spid="7" grpId="0" animBg="1"/>
      <p:bldP spid="22" grpId="0" animBg="1"/>
      <p:bldP spid="11" grpId="0" animBg="1"/>
      <p:bldP spid="32" grpId="0" animBg="1"/>
      <p:bldP spid="25" grpId="0"/>
      <p:bldP spid="34" grpId="0" animBg="1"/>
      <p:bldP spid="33" grpId="0"/>
      <p:bldP spid="35" grpId="0"/>
      <p:bldP spid="14" grpId="0" animBg="1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6805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故障辅助诊断（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77977" y="2551918"/>
            <a:ext cx="1840787" cy="2322178"/>
            <a:chOff x="377977" y="2551918"/>
            <a:chExt cx="1840787" cy="2322178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77" y="2551918"/>
              <a:ext cx="1840787" cy="1840787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451205" y="4504764"/>
              <a:ext cx="16943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出现故障</a:t>
              </a:r>
              <a:endParaRPr lang="zh-CN" altLang="en-US" b="1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822082" y="2748881"/>
            <a:ext cx="1362002" cy="1710052"/>
            <a:chOff x="7416455" y="1488634"/>
            <a:chExt cx="1362002" cy="1710052"/>
          </a:xfrm>
        </p:grpSpPr>
        <p:pic>
          <p:nvPicPr>
            <p:cNvPr id="48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文本框 48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218765" y="3065621"/>
            <a:ext cx="2407024" cy="1222206"/>
            <a:chOff x="3790735" y="2280693"/>
            <a:chExt cx="2718707" cy="1222206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55" name="文本框 54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7369939" y="2913971"/>
            <a:ext cx="1208260" cy="1643824"/>
            <a:chOff x="10482560" y="1554862"/>
            <a:chExt cx="1208260" cy="1643824"/>
          </a:xfrm>
        </p:grpSpPr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356742" y="3043420"/>
            <a:ext cx="1013197" cy="692463"/>
            <a:chOff x="9181005" y="1681232"/>
            <a:chExt cx="1013197" cy="692463"/>
          </a:xfrm>
        </p:grpSpPr>
        <p:sp>
          <p:nvSpPr>
            <p:cNvPr id="60" name="右箭头 59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grpSp>
        <p:nvGrpSpPr>
          <p:cNvPr id="85" name="组合 84"/>
          <p:cNvGrpSpPr/>
          <p:nvPr/>
        </p:nvGrpSpPr>
        <p:grpSpPr>
          <a:xfrm flipH="1">
            <a:off x="4393084" y="1835849"/>
            <a:ext cx="1301848" cy="2897378"/>
            <a:chOff x="3183739" y="2124242"/>
            <a:chExt cx="1301848" cy="2897378"/>
          </a:xfrm>
        </p:grpSpPr>
        <p:cxnSp>
          <p:nvCxnSpPr>
            <p:cNvPr id="86" name="直接箭头连接符 85"/>
            <p:cNvCxnSpPr/>
            <p:nvPr/>
          </p:nvCxnSpPr>
          <p:spPr>
            <a:xfrm flipV="1">
              <a:off x="3183739" y="2124242"/>
              <a:ext cx="1291942" cy="1541383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3183739" y="3665625"/>
              <a:ext cx="1301848" cy="0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>
              <a:off x="3183739" y="3665625"/>
              <a:ext cx="1301848" cy="1355995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 flipV="1">
              <a:off x="3183739" y="2894933"/>
              <a:ext cx="1291942" cy="770692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>
              <a:off x="3183739" y="3665625"/>
              <a:ext cx="1301848" cy="604130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8" name="椭圆 1037"/>
          <p:cNvSpPr/>
          <p:nvPr/>
        </p:nvSpPr>
        <p:spPr>
          <a:xfrm>
            <a:off x="5728717" y="3043420"/>
            <a:ext cx="925149" cy="62205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现象汇总</a:t>
            </a:r>
            <a:endParaRPr lang="zh-CN" altLang="en-US" dirty="0"/>
          </a:p>
        </p:txBody>
      </p:sp>
      <p:sp>
        <p:nvSpPr>
          <p:cNvPr id="125" name="文本框 124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grpSp>
        <p:nvGrpSpPr>
          <p:cNvPr id="1044" name="组合 1043"/>
          <p:cNvGrpSpPr/>
          <p:nvPr/>
        </p:nvGrpSpPr>
        <p:grpSpPr>
          <a:xfrm>
            <a:off x="6409985" y="1562325"/>
            <a:ext cx="3217650" cy="3170902"/>
            <a:chOff x="6409985" y="1562325"/>
            <a:chExt cx="3217650" cy="3170902"/>
          </a:xfrm>
        </p:grpSpPr>
        <p:grpSp>
          <p:nvGrpSpPr>
            <p:cNvPr id="103" name="组合 102"/>
            <p:cNvGrpSpPr/>
            <p:nvPr/>
          </p:nvGrpSpPr>
          <p:grpSpPr>
            <a:xfrm>
              <a:off x="6714853" y="1562325"/>
              <a:ext cx="2798013" cy="3170902"/>
              <a:chOff x="3183739" y="1895642"/>
              <a:chExt cx="2798013" cy="3170902"/>
            </a:xfrm>
          </p:grpSpPr>
          <p:cxnSp>
            <p:nvCxnSpPr>
              <p:cNvPr id="104" name="直接箭头连接符 103"/>
              <p:cNvCxnSpPr/>
              <p:nvPr/>
            </p:nvCxnSpPr>
            <p:spPr>
              <a:xfrm flipV="1">
                <a:off x="3183739" y="2124242"/>
                <a:ext cx="1291942" cy="15413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104"/>
              <p:cNvCxnSpPr/>
              <p:nvPr/>
            </p:nvCxnSpPr>
            <p:spPr>
              <a:xfrm>
                <a:off x="3183739" y="3665625"/>
                <a:ext cx="130184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/>
              <p:cNvCxnSpPr/>
              <p:nvPr/>
            </p:nvCxnSpPr>
            <p:spPr>
              <a:xfrm>
                <a:off x="3183739" y="3665625"/>
                <a:ext cx="1301848" cy="1355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/>
            </p:nvCxnSpPr>
            <p:spPr>
              <a:xfrm flipV="1">
                <a:off x="3183739" y="2894933"/>
                <a:ext cx="1291942" cy="7706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/>
              <p:cNvCxnSpPr/>
              <p:nvPr/>
            </p:nvCxnSpPr>
            <p:spPr>
              <a:xfrm>
                <a:off x="3183739" y="3665625"/>
                <a:ext cx="1301848" cy="60413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圆角矩形 108"/>
              <p:cNvSpPr/>
              <p:nvPr/>
            </p:nvSpPr>
            <p:spPr>
              <a:xfrm>
                <a:off x="4663940" y="1895642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663940" y="2551918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圆角矩形 110"/>
              <p:cNvSpPr/>
              <p:nvPr/>
            </p:nvSpPr>
            <p:spPr>
              <a:xfrm>
                <a:off x="4663940" y="3397229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圆角矩形 111"/>
              <p:cNvSpPr/>
              <p:nvPr/>
            </p:nvSpPr>
            <p:spPr>
              <a:xfrm>
                <a:off x="4663940" y="4030492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圆角矩形 112"/>
              <p:cNvSpPr/>
              <p:nvPr/>
            </p:nvSpPr>
            <p:spPr>
              <a:xfrm>
                <a:off x="4663940" y="4653278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39" name="矩形 1038"/>
            <p:cNvSpPr/>
            <p:nvPr/>
          </p:nvSpPr>
          <p:spPr>
            <a:xfrm>
              <a:off x="8041943" y="1574740"/>
              <a:ext cx="15856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传输网发光侧</a:t>
              </a:r>
              <a:endParaRPr lang="zh-CN" altLang="en-US" dirty="0"/>
            </a:p>
          </p:txBody>
        </p:sp>
        <p:sp>
          <p:nvSpPr>
            <p:cNvPr id="1040" name="矩形 1039"/>
            <p:cNvSpPr/>
            <p:nvPr/>
          </p:nvSpPr>
          <p:spPr>
            <a:xfrm>
              <a:off x="8169647" y="223136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城域网配置</a:t>
              </a:r>
              <a:endParaRPr lang="zh-CN" altLang="en-US" dirty="0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8539014" y="2694580"/>
              <a:ext cx="67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···</a:t>
              </a:r>
              <a:endParaRPr lang="zh-CN" altLang="en-US" b="1" dirty="0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8303425" y="3118323"/>
              <a:ext cx="1143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DNS</a:t>
              </a:r>
              <a:r>
                <a:rPr lang="zh-CN" altLang="en-US" dirty="0" smtClean="0"/>
                <a:t>异常</a:t>
              </a:r>
              <a:endParaRPr lang="zh-CN" altLang="en-US" dirty="0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8525463" y="3707046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双主</a:t>
              </a:r>
              <a:endParaRPr lang="zh-CN" altLang="en-US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8278870" y="4322580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链路中断</a:t>
              </a:r>
              <a:endParaRPr lang="zh-CN" altLang="en-US" dirty="0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6409985" y="1813539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分析原因</a:t>
              </a:r>
              <a:endParaRPr lang="zh-CN" altLang="en-US" dirty="0"/>
            </a:p>
          </p:txBody>
        </p:sp>
      </p:grpSp>
      <p:grpSp>
        <p:nvGrpSpPr>
          <p:cNvPr id="1045" name="组合 1044"/>
          <p:cNvGrpSpPr/>
          <p:nvPr/>
        </p:nvGrpSpPr>
        <p:grpSpPr>
          <a:xfrm>
            <a:off x="1193798" y="1699087"/>
            <a:ext cx="3002993" cy="3170902"/>
            <a:chOff x="1193798" y="1699087"/>
            <a:chExt cx="3002993" cy="3170902"/>
          </a:xfrm>
        </p:grpSpPr>
        <p:sp>
          <p:nvSpPr>
            <p:cNvPr id="1041" name="文本框 1040"/>
            <p:cNvSpPr txBox="1"/>
            <p:nvPr/>
          </p:nvSpPr>
          <p:spPr>
            <a:xfrm>
              <a:off x="3258954" y="2803960"/>
              <a:ext cx="67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···</a:t>
              </a:r>
              <a:endParaRPr lang="zh-CN" altLang="en-US" b="1" dirty="0"/>
            </a:p>
          </p:txBody>
        </p:sp>
        <p:grpSp>
          <p:nvGrpSpPr>
            <p:cNvPr id="1042" name="组合 1041"/>
            <p:cNvGrpSpPr/>
            <p:nvPr/>
          </p:nvGrpSpPr>
          <p:grpSpPr>
            <a:xfrm>
              <a:off x="1193798" y="1699087"/>
              <a:ext cx="3002993" cy="3170902"/>
              <a:chOff x="1193798" y="1699087"/>
              <a:chExt cx="3002993" cy="3170902"/>
            </a:xfrm>
          </p:grpSpPr>
          <p:cxnSp>
            <p:nvCxnSpPr>
              <p:cNvPr id="43" name="直接箭头连接符 42"/>
              <p:cNvCxnSpPr/>
              <p:nvPr/>
            </p:nvCxnSpPr>
            <p:spPr>
              <a:xfrm flipV="1">
                <a:off x="1398778" y="1927687"/>
                <a:ext cx="1291942" cy="15413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>
              <a:xfrm>
                <a:off x="1398778" y="3469070"/>
                <a:ext cx="130184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/>
              <p:cNvCxnSpPr/>
              <p:nvPr/>
            </p:nvCxnSpPr>
            <p:spPr>
              <a:xfrm>
                <a:off x="1398778" y="3469070"/>
                <a:ext cx="1301848" cy="1355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/>
              <p:cNvCxnSpPr/>
              <p:nvPr/>
            </p:nvCxnSpPr>
            <p:spPr>
              <a:xfrm flipV="1">
                <a:off x="1398778" y="2698378"/>
                <a:ext cx="1291942" cy="7706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/>
              <p:cNvCxnSpPr/>
              <p:nvPr/>
            </p:nvCxnSpPr>
            <p:spPr>
              <a:xfrm>
                <a:off x="1398778" y="3469070"/>
                <a:ext cx="1301848" cy="60413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6" name="圆角矩形 1035"/>
              <p:cNvSpPr/>
              <p:nvPr/>
            </p:nvSpPr>
            <p:spPr>
              <a:xfrm>
                <a:off x="2878979" y="1699087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上不了网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圆角矩形 79"/>
              <p:cNvSpPr/>
              <p:nvPr/>
            </p:nvSpPr>
            <p:spPr>
              <a:xfrm>
                <a:off x="2878979" y="2355363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经常掉线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圆角矩形 80"/>
              <p:cNvSpPr/>
              <p:nvPr/>
            </p:nvSpPr>
            <p:spPr>
              <a:xfrm>
                <a:off x="2878979" y="3200674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部分业务异常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2878979" y="3833937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无法打开网页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>
                <a:off x="2878979" y="4456723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无法加载视频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93798" y="1909583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 smtClean="0"/>
                  <a:t>收集现象</a:t>
                </a:r>
                <a:endParaRPr lang="zh-CN" altLang="en-US" dirty="0"/>
              </a:p>
            </p:txBody>
          </p:sp>
        </p:grpSp>
      </p:grpSp>
      <p:grpSp>
        <p:nvGrpSpPr>
          <p:cNvPr id="1047" name="组合 1046"/>
          <p:cNvGrpSpPr/>
          <p:nvPr/>
        </p:nvGrpSpPr>
        <p:grpSpPr>
          <a:xfrm>
            <a:off x="9691219" y="1699720"/>
            <a:ext cx="2414868" cy="2897378"/>
            <a:chOff x="9691219" y="1699720"/>
            <a:chExt cx="2414868" cy="2897378"/>
          </a:xfrm>
        </p:grpSpPr>
        <p:grpSp>
          <p:nvGrpSpPr>
            <p:cNvPr id="1046" name="组合 1045"/>
            <p:cNvGrpSpPr/>
            <p:nvPr/>
          </p:nvGrpSpPr>
          <p:grpSpPr>
            <a:xfrm>
              <a:off x="9691219" y="1699720"/>
              <a:ext cx="2414868" cy="2897378"/>
              <a:chOff x="9691219" y="1699720"/>
              <a:chExt cx="2414868" cy="2897378"/>
            </a:xfrm>
          </p:grpSpPr>
          <p:sp>
            <p:nvSpPr>
              <p:cNvPr id="120" name="圆角矩形 119"/>
              <p:cNvSpPr/>
              <p:nvPr/>
            </p:nvSpPr>
            <p:spPr>
              <a:xfrm>
                <a:off x="11084518" y="2999486"/>
                <a:ext cx="1021569" cy="413266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/>
                  <a:t>双主故障</a:t>
                </a:r>
                <a:endParaRPr lang="zh-CN" altLang="en-US" sz="1400" dirty="0"/>
              </a:p>
            </p:txBody>
          </p:sp>
          <p:grpSp>
            <p:nvGrpSpPr>
              <p:cNvPr id="114" name="组合 113"/>
              <p:cNvGrpSpPr/>
              <p:nvPr/>
            </p:nvGrpSpPr>
            <p:grpSpPr>
              <a:xfrm flipH="1">
                <a:off x="9691219" y="1699720"/>
                <a:ext cx="1301848" cy="2897378"/>
                <a:chOff x="3183739" y="2124242"/>
                <a:chExt cx="1301848" cy="2897378"/>
              </a:xfrm>
            </p:grpSpPr>
            <p:cxnSp>
              <p:nvCxnSpPr>
                <p:cNvPr id="115" name="直接箭头连接符 114"/>
                <p:cNvCxnSpPr/>
                <p:nvPr/>
              </p:nvCxnSpPr>
              <p:spPr>
                <a:xfrm flipV="1">
                  <a:off x="3183739" y="2124242"/>
                  <a:ext cx="1291942" cy="1541383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/>
                <p:nvPr/>
              </p:nvCxnSpPr>
              <p:spPr>
                <a:xfrm>
                  <a:off x="3183739" y="3665625"/>
                  <a:ext cx="1301848" cy="0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箭头连接符 116"/>
                <p:cNvCxnSpPr/>
                <p:nvPr/>
              </p:nvCxnSpPr>
              <p:spPr>
                <a:xfrm>
                  <a:off x="3183739" y="3665625"/>
                  <a:ext cx="1301848" cy="1355995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箭头连接符 117"/>
                <p:cNvCxnSpPr/>
                <p:nvPr/>
              </p:nvCxnSpPr>
              <p:spPr>
                <a:xfrm flipV="1">
                  <a:off x="3183739" y="2894933"/>
                  <a:ext cx="1291942" cy="770692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18"/>
                <p:cNvCxnSpPr/>
                <p:nvPr/>
              </p:nvCxnSpPr>
              <p:spPr>
                <a:xfrm>
                  <a:off x="3183739" y="3665625"/>
                  <a:ext cx="1301848" cy="604130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1" name="矩形 130"/>
            <p:cNvSpPr/>
            <p:nvPr/>
          </p:nvSpPr>
          <p:spPr>
            <a:xfrm>
              <a:off x="10027154" y="181111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原因验证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055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-0.58855 -0.0081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09" y="-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" grpId="0" animBg="1"/>
      <p:bldP spid="1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6805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故障辅助诊断（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710" y="4411018"/>
            <a:ext cx="1171364" cy="1729139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693112" y="2562115"/>
            <a:ext cx="1020643" cy="1409920"/>
            <a:chOff x="2597431" y="2861625"/>
            <a:chExt cx="1020643" cy="140992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1280" y="2861625"/>
              <a:ext cx="749163" cy="747227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2597431" y="3748325"/>
              <a:ext cx="10206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拓扑</a:t>
              </a:r>
              <a:endParaRPr lang="zh-CN" altLang="en-US" sz="28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494856" y="1216702"/>
            <a:ext cx="1273920" cy="1253213"/>
            <a:chOff x="5494856" y="1216702"/>
            <a:chExt cx="1273920" cy="1253213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537" y="1216702"/>
              <a:ext cx="836559" cy="834397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5494856" y="2100583"/>
              <a:ext cx="1273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信令数据</a:t>
              </a:r>
              <a:endParaRPr lang="zh-CN" altLang="en-US" b="1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549880" y="2562115"/>
            <a:ext cx="1273920" cy="1519094"/>
            <a:chOff x="8415101" y="2861625"/>
            <a:chExt cx="1273920" cy="151909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45561" y="2861625"/>
              <a:ext cx="813000" cy="810899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8415101" y="3734388"/>
              <a:ext cx="1273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设备参数信息</a:t>
              </a:r>
              <a:endParaRPr lang="zh-CN" altLang="en-US" b="1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645561" y="4411018"/>
            <a:ext cx="1417638" cy="1795236"/>
            <a:chOff x="8453977" y="4534917"/>
            <a:chExt cx="1417638" cy="179523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5561" y="4534917"/>
              <a:ext cx="1034471" cy="1031798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8453977" y="5683822"/>
              <a:ext cx="1417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EMOS</a:t>
              </a:r>
              <a:r>
                <a:rPr lang="zh-CN" altLang="en-US" b="1" dirty="0" smtClean="0"/>
                <a:t>工单系统数据</a:t>
              </a:r>
              <a:endParaRPr lang="zh-CN" altLang="en-US" b="1" dirty="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713537" y="6008474"/>
            <a:ext cx="905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···</a:t>
            </a:r>
            <a:endParaRPr lang="zh-CN" altLang="en-US" sz="44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4764835" y="3489056"/>
            <a:ext cx="3874883" cy="697997"/>
            <a:chOff x="3195873" y="3567878"/>
            <a:chExt cx="3874883" cy="697997"/>
          </a:xfrm>
        </p:grpSpPr>
        <p:sp>
          <p:nvSpPr>
            <p:cNvPr id="28" name="右箭头 27"/>
            <p:cNvSpPr/>
            <p:nvPr/>
          </p:nvSpPr>
          <p:spPr>
            <a:xfrm>
              <a:off x="3195873" y="3972035"/>
              <a:ext cx="2298983" cy="2649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426490" y="3567878"/>
              <a:ext cx="2046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给出故障诊断建议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44489" y="3896543"/>
              <a:ext cx="1526267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通知、呈现</a:t>
              </a:r>
              <a:endParaRPr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850840" y="2360062"/>
            <a:ext cx="3315423" cy="2257987"/>
            <a:chOff x="8876577" y="3119770"/>
            <a:chExt cx="3315423" cy="2257987"/>
          </a:xfrm>
        </p:grpSpPr>
        <p:sp>
          <p:nvSpPr>
            <p:cNvPr id="33" name="双波形 32"/>
            <p:cNvSpPr/>
            <p:nvPr/>
          </p:nvSpPr>
          <p:spPr>
            <a:xfrm>
              <a:off x="8896909" y="3119770"/>
              <a:ext cx="3169953" cy="2257987"/>
            </a:xfrm>
            <a:prstGeom prst="doubleWav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911692" y="3337164"/>
              <a:ext cx="1760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6"/>
                  </a:solidFill>
                </a:rPr>
                <a:t>投诉原因诊断</a:t>
              </a:r>
              <a:r>
                <a:rPr lang="zh-CN" altLang="en-US" dirty="0" smtClean="0"/>
                <a:t>：</a:t>
              </a:r>
              <a:endParaRPr lang="zh-CN" altLang="en-US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876577" y="3694873"/>
              <a:ext cx="33154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0000"/>
                  </a:solidFill>
                </a:rPr>
                <a:t>Top1: </a:t>
              </a:r>
              <a:r>
                <a:rPr lang="zh-CN" altLang="en-US" sz="1600" dirty="0" smtClean="0">
                  <a:solidFill>
                    <a:srgbClr val="FF0000"/>
                  </a:solidFill>
                </a:rPr>
                <a:t>双主故障                   </a:t>
              </a:r>
              <a:r>
                <a:rPr lang="en-US" altLang="zh-CN" sz="1600" dirty="0" smtClean="0">
                  <a:solidFill>
                    <a:srgbClr val="FF0000"/>
                  </a:solidFill>
                </a:rPr>
                <a:t>85.3%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6600"/>
                  </a:solidFill>
                </a:rPr>
                <a:t>Top2: DNS</a:t>
              </a:r>
              <a:r>
                <a:rPr lang="zh-CN" altLang="en-US" sz="1600" dirty="0" smtClean="0">
                  <a:solidFill>
                    <a:srgbClr val="FF6600"/>
                  </a:solidFill>
                </a:rPr>
                <a:t>故障                  </a:t>
              </a:r>
              <a:r>
                <a:rPr lang="en-US" altLang="zh-CN" sz="1600" dirty="0" smtClean="0">
                  <a:solidFill>
                    <a:srgbClr val="FF6600"/>
                  </a:solidFill>
                </a:rPr>
                <a:t>45.1%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7C80"/>
                  </a:solidFill>
                </a:rPr>
                <a:t>Top3: </a:t>
              </a:r>
              <a:r>
                <a:rPr lang="zh-CN" altLang="en-US" sz="1600" dirty="0" smtClean="0">
                  <a:solidFill>
                    <a:srgbClr val="FF7C80"/>
                  </a:solidFill>
                </a:rPr>
                <a:t>城域网数据配置错误  </a:t>
              </a:r>
              <a:r>
                <a:rPr lang="en-US" altLang="zh-CN" sz="1600" dirty="0" smtClean="0">
                  <a:solidFill>
                    <a:srgbClr val="FF7C80"/>
                  </a:solidFill>
                </a:rPr>
                <a:t>14.5%</a:t>
              </a:r>
              <a:endParaRPr lang="zh-CN" altLang="en-US" sz="1600" dirty="0">
                <a:solidFill>
                  <a:srgbClr val="FF7C80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163565" y="2671687"/>
            <a:ext cx="3774124" cy="2708038"/>
            <a:chOff x="4163565" y="2671687"/>
            <a:chExt cx="3774124" cy="2708038"/>
          </a:xfrm>
        </p:grpSpPr>
        <p:grpSp>
          <p:nvGrpSpPr>
            <p:cNvPr id="13" name="组合 12"/>
            <p:cNvGrpSpPr/>
            <p:nvPr/>
          </p:nvGrpSpPr>
          <p:grpSpPr>
            <a:xfrm>
              <a:off x="4163565" y="2671687"/>
              <a:ext cx="3774124" cy="2708038"/>
              <a:chOff x="269848" y="1092189"/>
              <a:chExt cx="3122612" cy="2198009"/>
            </a:xfrm>
          </p:grpSpPr>
          <p:pic>
            <p:nvPicPr>
              <p:cNvPr id="1026" name="Picture 2" descr="ânetwork brainâçå¾çæç´¢ç»æ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848" y="1092189"/>
                <a:ext cx="3122612" cy="2198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9434" b="100000" l="9633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174855">
                <a:off x="400289" y="1313539"/>
                <a:ext cx="1084109" cy="790704"/>
              </a:xfrm>
              <a:prstGeom prst="rect">
                <a:avLst/>
              </a:prstGeom>
            </p:spPr>
          </p:pic>
        </p:grpSp>
        <p:cxnSp>
          <p:nvCxnSpPr>
            <p:cNvPr id="8" name="直接连接符 7"/>
            <p:cNvCxnSpPr/>
            <p:nvPr/>
          </p:nvCxnSpPr>
          <p:spPr>
            <a:xfrm flipV="1">
              <a:off x="5141715" y="3053478"/>
              <a:ext cx="628945" cy="268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624991" y="3773075"/>
              <a:ext cx="610833" cy="308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580950" y="1172235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5299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54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28724 -0.00278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74206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故障辅助诊断</a:t>
            </a:r>
            <a:r>
              <a:rPr lang="zh-CN" altLang="en-US" sz="40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40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3992" y="2743200"/>
            <a:ext cx="112407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拓扑关联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6855" y="2673626"/>
            <a:ext cx="427382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6855" y="4035861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1058520" y="1981938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3091070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4517" y="2927866"/>
            <a:ext cx="1242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提取模型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4959627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38983" y="3454799"/>
            <a:ext cx="127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选取问题诊断模型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燕尾形 18"/>
          <p:cNvSpPr/>
          <p:nvPr/>
        </p:nvSpPr>
        <p:spPr>
          <a:xfrm>
            <a:off x="6828184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696741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737" y="3454798"/>
            <a:ext cx="1188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将分析结果控制下发通知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接收对象，发送方式等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56683" y="3362467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50384" y="3387176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04" y="1790142"/>
            <a:ext cx="7399292" cy="35561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876999" y="3430087"/>
            <a:ext cx="118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诊断建议通知下发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18646" y="3362465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37652" y="3728158"/>
            <a:ext cx="1311677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331226" y="4477546"/>
            <a:ext cx="1237134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91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1" grpId="0" animBg="1"/>
      <p:bldP spid="6" grpId="0" animBg="1"/>
      <p:bldP spid="7" grpId="0" animBg="1"/>
      <p:bldP spid="8" grpId="0"/>
      <p:bldP spid="17" grpId="0" animBg="1"/>
      <p:bldP spid="13" grpId="0"/>
      <p:bldP spid="19" grpId="0" animBg="1"/>
      <p:bldP spid="20" grpId="0" animBg="1"/>
      <p:bldP spid="21" grpId="0"/>
      <p:bldP spid="22" grpId="0" animBg="1"/>
      <p:bldP spid="23" grpId="0" animBg="1"/>
      <p:bldP spid="26" grpId="0"/>
      <p:bldP spid="27" grpId="0" animBg="1"/>
      <p:bldP spid="28" grpId="0" animBg="1"/>
      <p:bldP spid="28" grpId="1" animBg="1"/>
      <p:bldP spid="29" grpId="0" animBg="1"/>
      <p:bldP spid="2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4" y="1052338"/>
            <a:ext cx="10935851" cy="54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2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1vaxvf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27010</TotalTime>
  <Words>2234</Words>
  <Application>Microsoft Office PowerPoint</Application>
  <PresentationFormat>宽屏</PresentationFormat>
  <Paragraphs>428</Paragraphs>
  <Slides>20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Lato Light</vt:lpstr>
      <vt:lpstr>华文行楷</vt:lpstr>
      <vt:lpstr>宋体</vt:lpstr>
      <vt:lpstr>Microsoft YaHei</vt:lpstr>
      <vt:lpstr>Microsoft YaHei</vt:lpstr>
      <vt:lpstr>Arial</vt:lpstr>
      <vt:lpstr>Calibri</vt:lpstr>
      <vt:lpstr>Harlow Solid Italic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5693</cp:revision>
  <dcterms:created xsi:type="dcterms:W3CDTF">2015-05-05T08:02:00Z</dcterms:created>
  <dcterms:modified xsi:type="dcterms:W3CDTF">2018-04-14T14:38:21Z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