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80" r:id="rId2"/>
    <p:sldId id="257" r:id="rId3"/>
    <p:sldId id="319" r:id="rId4"/>
    <p:sldId id="370" r:id="rId5"/>
    <p:sldId id="371" r:id="rId6"/>
    <p:sldId id="372" r:id="rId7"/>
    <p:sldId id="355" r:id="rId8"/>
    <p:sldId id="359" r:id="rId9"/>
    <p:sldId id="360" r:id="rId10"/>
    <p:sldId id="321" r:id="rId11"/>
    <p:sldId id="361" r:id="rId12"/>
    <p:sldId id="347" r:id="rId13"/>
    <p:sldId id="357" r:id="rId14"/>
    <p:sldId id="348" r:id="rId15"/>
    <p:sldId id="334" r:id="rId16"/>
    <p:sldId id="362" r:id="rId17"/>
    <p:sldId id="363" r:id="rId18"/>
    <p:sldId id="369" r:id="rId19"/>
    <p:sldId id="289" r:id="rId20"/>
    <p:sldId id="364" r:id="rId21"/>
    <p:sldId id="337" r:id="rId22"/>
    <p:sldId id="365" r:id="rId23"/>
    <p:sldId id="339" r:id="rId24"/>
    <p:sldId id="340" r:id="rId25"/>
    <p:sldId id="341" r:id="rId26"/>
    <p:sldId id="366" r:id="rId27"/>
    <p:sldId id="342" r:id="rId28"/>
    <p:sldId id="367" r:id="rId29"/>
    <p:sldId id="346" r:id="rId30"/>
    <p:sldId id="368" r:id="rId31"/>
    <p:sldId id="374" r:id="rId32"/>
    <p:sldId id="343" r:id="rId33"/>
    <p:sldId id="344" r:id="rId34"/>
    <p:sldId id="345" r:id="rId35"/>
    <p:sldId id="373" r:id="rId36"/>
    <p:sldId id="356" r:id="rId37"/>
    <p:sldId id="277"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65A00"/>
    <a:srgbClr val="00AC4E"/>
    <a:srgbClr val="007A37"/>
    <a:srgbClr val="00DE64"/>
    <a:srgbClr val="FFFFFF"/>
    <a:srgbClr val="00B050"/>
    <a:srgbClr val="33C073"/>
    <a:srgbClr val="5EF1A4"/>
    <a:srgbClr val="E73A1C"/>
    <a:srgbClr val="333F5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8084" autoAdjust="0"/>
  </p:normalViewPr>
  <p:slideViewPr>
    <p:cSldViewPr snapToGrid="0">
      <p:cViewPr varScale="1">
        <p:scale>
          <a:sx n="65" d="100"/>
          <a:sy n="65" d="100"/>
        </p:scale>
        <p:origin x="-52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pPr/>
              <a:t>2018-1-19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pPr/>
              <a:t>‹#›</a:t>
            </a:fld>
            <a:endParaRPr lang="zh-CN" altLang="en-US"/>
          </a:p>
        </p:txBody>
      </p:sp>
    </p:spTree>
    <p:extLst>
      <p:ext uri="{BB962C8B-B14F-4D97-AF65-F5344CB8AC3E}">
        <p14:creationId xmlns=""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4</a:t>
            </a:fld>
            <a:endParaRPr lang="zh-CN" altLang="en-US"/>
          </a:p>
        </p:txBody>
      </p:sp>
    </p:spTree>
    <p:extLst>
      <p:ext uri="{BB962C8B-B14F-4D97-AF65-F5344CB8AC3E}">
        <p14:creationId xmlns="" xmlns:p14="http://schemas.microsoft.com/office/powerpoint/2010/main" val="4068381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6</a:t>
            </a:fld>
            <a:endParaRPr lang="zh-CN" altLang="en-US"/>
          </a:p>
        </p:txBody>
      </p:sp>
    </p:spTree>
    <p:extLst>
      <p:ext uri="{BB962C8B-B14F-4D97-AF65-F5344CB8AC3E}">
        <p14:creationId xmlns="" xmlns:p14="http://schemas.microsoft.com/office/powerpoint/2010/main" val="1411683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9</a:t>
            </a:fld>
            <a:endParaRPr lang="zh-CN" altLang="en-US"/>
          </a:p>
        </p:txBody>
      </p:sp>
    </p:spTree>
    <p:extLst>
      <p:ext uri="{BB962C8B-B14F-4D97-AF65-F5344CB8AC3E}">
        <p14:creationId xmlns:p14="http://schemas.microsoft.com/office/powerpoint/2010/main" xmlns="" val="1719443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自动化运维带来了很大进步，但毕竟系统软件是死的，只能</a:t>
            </a:r>
            <a:r>
              <a:rPr lang="en-US" altLang="zh-CN" sz="1200" kern="1200" dirty="0" smtClean="0">
                <a:solidFill>
                  <a:schemeClr val="tx1"/>
                </a:solidFill>
                <a:effectLst/>
                <a:latin typeface="+mn-lt"/>
                <a:ea typeface="+mn-ea"/>
                <a:cs typeface="+mn-cs"/>
              </a:rPr>
              <a:t>100%按照人类制定的流程来运行，不能自主适应，甚至不能处理“相似”的“新”问题。于是AI被尝试运用到IT运维这个领域，</a:t>
            </a:r>
            <a:r>
              <a:rPr lang="zh-CN" altLang="en-US" sz="1200" kern="1200" dirty="0" smtClean="0">
                <a:solidFill>
                  <a:schemeClr val="tx1"/>
                </a:solidFill>
                <a:effectLst/>
                <a:latin typeface="+mn-lt"/>
                <a:ea typeface="+mn-ea"/>
                <a:cs typeface="+mn-cs"/>
              </a:rPr>
              <a:t>提出科了智慧运维的概念。</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智慧运维在自动化运维的基础上增加了一个基于机器学习的大脑，指挥着监测系统采集大脑决策所需的数据，做出分析、决策并指挥自动化脚本去执行大脑的决策，从而达到运维系统的整体目标。</a:t>
            </a:r>
          </a:p>
          <a:p>
            <a:r>
              <a:rPr lang="en-US" altLang="zh-CN" sz="1200" kern="1200" dirty="0" smtClean="0">
                <a:solidFill>
                  <a:schemeClr val="tx1"/>
                </a:solidFill>
                <a:effectLst/>
                <a:latin typeface="+mn-lt"/>
                <a:ea typeface="+mn-ea"/>
                <a:cs typeface="+mn-cs"/>
              </a:rPr>
              <a:t>AIOps这个词本身就体现了两个关键点。其一，Ops代表运维的场景，这是主旨，识别什么样的场景存在哪些痛点，AI可以帮助解决。其二，AI作为前缀代表技术，这是手段，AI技术门类很多，选择合适的，正确的技术去解决真正的问题，是需要切实履行的原则。</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AB2AAF-1555-4972-80AC-B14A0443710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 xmlns:p14="http://schemas.microsoft.com/office/powerpoint/2010/main" val="4040375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举例：人对温度的感知。平台对机房温度的感知。</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21</a:t>
            </a:fld>
            <a:endParaRPr lang="zh-CN" altLang="en-US"/>
          </a:p>
        </p:txBody>
      </p:sp>
    </p:spTree>
    <p:extLst>
      <p:ext uri="{BB962C8B-B14F-4D97-AF65-F5344CB8AC3E}">
        <p14:creationId xmlns="" xmlns:p14="http://schemas.microsoft.com/office/powerpoint/2010/main" val="3185291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22</a:t>
            </a:fld>
            <a:endParaRPr lang="zh-CN" altLang="en-US"/>
          </a:p>
        </p:txBody>
      </p:sp>
    </p:spTree>
    <p:extLst>
      <p:ext uri="{BB962C8B-B14F-4D97-AF65-F5344CB8AC3E}">
        <p14:creationId xmlns="" xmlns:p14="http://schemas.microsoft.com/office/powerpoint/2010/main" val="2225599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23</a:t>
            </a:fld>
            <a:endParaRPr lang="zh-CN" altLang="en-US"/>
          </a:p>
        </p:txBody>
      </p:sp>
    </p:spTree>
    <p:extLst>
      <p:ext uri="{BB962C8B-B14F-4D97-AF65-F5344CB8AC3E}">
        <p14:creationId xmlns="" xmlns:p14="http://schemas.microsoft.com/office/powerpoint/2010/main" val="498220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24</a:t>
            </a:fld>
            <a:endParaRPr lang="zh-CN" altLang="en-US"/>
          </a:p>
        </p:txBody>
      </p:sp>
    </p:spTree>
    <p:extLst>
      <p:ext uri="{BB962C8B-B14F-4D97-AF65-F5344CB8AC3E}">
        <p14:creationId xmlns="" xmlns:p14="http://schemas.microsoft.com/office/powerpoint/2010/main" val="3381356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25</a:t>
            </a:fld>
            <a:endParaRPr lang="zh-CN" altLang="en-US"/>
          </a:p>
        </p:txBody>
      </p:sp>
    </p:spTree>
    <p:extLst>
      <p:ext uri="{BB962C8B-B14F-4D97-AF65-F5344CB8AC3E}">
        <p14:creationId xmlns="" xmlns:p14="http://schemas.microsoft.com/office/powerpoint/2010/main" val="1352929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26</a:t>
            </a:fld>
            <a:endParaRPr lang="zh-CN" altLang="en-US"/>
          </a:p>
        </p:txBody>
      </p:sp>
    </p:spTree>
    <p:extLst>
      <p:ext uri="{BB962C8B-B14F-4D97-AF65-F5344CB8AC3E}">
        <p14:creationId xmlns="" xmlns:p14="http://schemas.microsoft.com/office/powerpoint/2010/main" val="2225599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27</a:t>
            </a:fld>
            <a:endParaRPr lang="zh-CN" altLang="en-US"/>
          </a:p>
        </p:txBody>
      </p:sp>
    </p:spTree>
    <p:extLst>
      <p:ext uri="{BB962C8B-B14F-4D97-AF65-F5344CB8AC3E}">
        <p14:creationId xmlns="" xmlns:p14="http://schemas.microsoft.com/office/powerpoint/2010/main" val="3952856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28</a:t>
            </a:fld>
            <a:endParaRPr lang="zh-CN" altLang="en-US"/>
          </a:p>
        </p:txBody>
      </p:sp>
    </p:spTree>
    <p:extLst>
      <p:ext uri="{BB962C8B-B14F-4D97-AF65-F5344CB8AC3E}">
        <p14:creationId xmlns="" xmlns:p14="http://schemas.microsoft.com/office/powerpoint/2010/main" val="22255999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29</a:t>
            </a:fld>
            <a:endParaRPr lang="zh-CN" altLang="en-US"/>
          </a:p>
        </p:txBody>
      </p:sp>
    </p:spTree>
    <p:extLst>
      <p:ext uri="{BB962C8B-B14F-4D97-AF65-F5344CB8AC3E}">
        <p14:creationId xmlns="" xmlns:p14="http://schemas.microsoft.com/office/powerpoint/2010/main" val="1989164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30</a:t>
            </a:fld>
            <a:endParaRPr lang="zh-CN" altLang="en-US"/>
          </a:p>
        </p:txBody>
      </p:sp>
    </p:spTree>
    <p:extLst>
      <p:ext uri="{BB962C8B-B14F-4D97-AF65-F5344CB8AC3E}">
        <p14:creationId xmlns="" xmlns:p14="http://schemas.microsoft.com/office/powerpoint/2010/main" val="2225599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31</a:t>
            </a:fld>
            <a:endParaRPr lang="zh-CN" altLang="en-US"/>
          </a:p>
        </p:txBody>
      </p:sp>
    </p:spTree>
    <p:extLst>
      <p:ext uri="{BB962C8B-B14F-4D97-AF65-F5344CB8AC3E}">
        <p14:creationId xmlns="" xmlns:p14="http://schemas.microsoft.com/office/powerpoint/2010/main" val="2225599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32</a:t>
            </a:fld>
            <a:endParaRPr lang="zh-CN" altLang="en-US"/>
          </a:p>
        </p:txBody>
      </p:sp>
    </p:spTree>
    <p:extLst>
      <p:ext uri="{BB962C8B-B14F-4D97-AF65-F5344CB8AC3E}">
        <p14:creationId xmlns="" xmlns:p14="http://schemas.microsoft.com/office/powerpoint/2010/main" val="2093303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33</a:t>
            </a:fld>
            <a:endParaRPr lang="zh-CN" altLang="en-US"/>
          </a:p>
        </p:txBody>
      </p:sp>
    </p:spTree>
    <p:extLst>
      <p:ext uri="{BB962C8B-B14F-4D97-AF65-F5344CB8AC3E}">
        <p14:creationId xmlns="" xmlns:p14="http://schemas.microsoft.com/office/powerpoint/2010/main" val="2766605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pPr/>
              <a:t>34</a:t>
            </a:fld>
            <a:endParaRPr lang="zh-CN" altLang="en-US"/>
          </a:p>
        </p:txBody>
      </p:sp>
    </p:spTree>
    <p:extLst>
      <p:ext uri="{BB962C8B-B14F-4D97-AF65-F5344CB8AC3E}">
        <p14:creationId xmlns="" xmlns:p14="http://schemas.microsoft.com/office/powerpoint/2010/main" val="987854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baike.baidu.com/item/%E6%95%B0%E6%8D%AE%E6%8C%96%E6%8E%98" TargetMode="External"/><Relationship Id="rId2" Type="http://schemas.openxmlformats.org/officeDocument/2006/relationships/hyperlink" Target="https://baike.baidu.com/item/%E4%BA%BA%E5%B7%A5%E6%99%BA%E8%83%BD"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rgbClr val="FFFF00"/>
                </a:solidFill>
              </a:rPr>
              <a:t>PART</a:t>
            </a:r>
            <a:r>
              <a:rPr kumimoji="1" lang="zh-CN" altLang="en-US" sz="2800" b="1" dirty="0" smtClean="0">
                <a:solidFill>
                  <a:srgbClr val="FFFF00"/>
                </a:solidFill>
              </a:rPr>
              <a:t> </a:t>
            </a:r>
            <a:r>
              <a:rPr kumimoji="1" lang="en-US" altLang="zh-CN" sz="2800" b="1" dirty="0" smtClean="0">
                <a:solidFill>
                  <a:srgbClr val="FFFF00"/>
                </a:solidFill>
              </a:rPr>
              <a:t>ONE</a:t>
            </a:r>
            <a:endParaRPr kumimoji="1" lang="zh-CN" altLang="en-US" sz="2800" b="1" dirty="0">
              <a:solidFill>
                <a:srgbClr val="FFFF00"/>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建设规划</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821861" y="250774"/>
            <a:ext cx="4945565" cy="369332"/>
          </a:xfrm>
          <a:prstGeom prst="rect">
            <a:avLst/>
          </a:prstGeom>
          <a:noFill/>
        </p:spPr>
        <p:txBody>
          <a:bodyPr wrap="square" rtlCol="0">
            <a:spAutoFit/>
          </a:bodyPr>
          <a:lstStyle/>
          <a:p>
            <a:r>
              <a:rPr lang="zh-CN" altLang="en-US" b="1" dirty="0" smtClean="0">
                <a:solidFill>
                  <a:srgbClr val="333F50"/>
                </a:solidFill>
              </a:rPr>
              <a:t>日常维护</a:t>
            </a:r>
            <a:r>
              <a:rPr lang="en-US" altLang="zh-CN" b="1" dirty="0" smtClean="0">
                <a:solidFill>
                  <a:srgbClr val="333F50"/>
                </a:solidFill>
              </a:rPr>
              <a:t>-</a:t>
            </a:r>
            <a:r>
              <a:rPr lang="zh-CN" altLang="en-US" b="1" dirty="0" smtClean="0">
                <a:solidFill>
                  <a:srgbClr val="333F50"/>
                </a:solidFill>
              </a:rPr>
              <a:t>（以城域网维护报表制作为例）</a:t>
            </a:r>
            <a:endParaRPr lang="zh-CN" altLang="en-US" b="1"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3" cstate="print"/>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extLst>
      <p:ext uri="{BB962C8B-B14F-4D97-AF65-F5344CB8AC3E}">
        <p14:creationId xmlns="" xmlns:p14="http://schemas.microsoft.com/office/powerpoint/2010/main" val="3095173085"/>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11" name="椭圆 10"/>
          <p:cNvSpPr/>
          <p:nvPr/>
        </p:nvSpPr>
        <p:spPr>
          <a:xfrm>
            <a:off x="5589638" y="1460079"/>
            <a:ext cx="1725561" cy="14010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现状问题</a:t>
            </a:r>
            <a:endParaRPr lang="zh-CN" altLang="en-US" dirty="0"/>
          </a:p>
        </p:txBody>
      </p:sp>
      <p:sp>
        <p:nvSpPr>
          <p:cNvPr id="12" name="矩形 11"/>
          <p:cNvSpPr/>
          <p:nvPr/>
        </p:nvSpPr>
        <p:spPr>
          <a:xfrm>
            <a:off x="1691148" y="1085979"/>
            <a:ext cx="2998839" cy="226895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600" dirty="0" smtClean="0"/>
              <a:t>1   </a:t>
            </a:r>
            <a:r>
              <a:rPr lang="zh-CN" altLang="en-US" sz="1600" dirty="0" smtClean="0"/>
              <a:t>数据获取：</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数据源分散</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获取方式未统一</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人员沟通成本</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本地无原始数据</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重复性劳动</a:t>
            </a:r>
            <a:endParaRPr lang="en-US" altLang="zh-CN" sz="1600" dirty="0" smtClean="0"/>
          </a:p>
        </p:txBody>
      </p:sp>
      <p:cxnSp>
        <p:nvCxnSpPr>
          <p:cNvPr id="14" name="直接连接符 13"/>
          <p:cNvCxnSpPr/>
          <p:nvPr/>
        </p:nvCxnSpPr>
        <p:spPr>
          <a:xfrm>
            <a:off x="1666568" y="3421614"/>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p:cNvCxnSpPr>
            <a:endCxn id="11" idx="2"/>
          </p:cNvCxnSpPr>
          <p:nvPr/>
        </p:nvCxnSpPr>
        <p:spPr>
          <a:xfrm flipV="1">
            <a:off x="4208207" y="2160627"/>
            <a:ext cx="1381431" cy="12659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35" idx="0"/>
            <a:endCxn id="11" idx="4"/>
          </p:cNvCxnSpPr>
          <p:nvPr/>
        </p:nvCxnSpPr>
        <p:spPr>
          <a:xfrm rot="16200000" flipV="1">
            <a:off x="6053754" y="3259840"/>
            <a:ext cx="803744" cy="64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945627" y="5712531"/>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431176" y="1321279"/>
            <a:ext cx="2674339" cy="193899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600" dirty="0" smtClean="0"/>
              <a:t>2  </a:t>
            </a:r>
            <a:r>
              <a:rPr lang="zh-CN" altLang="en-US" sz="1600" dirty="0" smtClean="0"/>
              <a:t>数据分析：</a:t>
            </a:r>
            <a:endParaRPr lang="en-US" altLang="zh-CN" sz="1600" dirty="0" smtClean="0"/>
          </a:p>
          <a:p>
            <a:pPr marL="742950" lvl="1" indent="-285750">
              <a:lnSpc>
                <a:spcPct val="150000"/>
              </a:lnSpc>
              <a:buFont typeface="Arial" panose="020B0604020202020204" pitchFamily="34" charset="0"/>
              <a:buChar char="•"/>
            </a:pPr>
            <a:r>
              <a:rPr lang="en-US" altLang="zh-CN" sz="1600" dirty="0" smtClean="0"/>
              <a:t>Excel</a:t>
            </a:r>
            <a:r>
              <a:rPr lang="zh-CN" altLang="en-US" sz="1600" dirty="0" smtClean="0"/>
              <a:t>工具</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手动拆分合并表格</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经验性指导</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缺乏深层分析</a:t>
            </a:r>
            <a:endParaRPr lang="en-US" altLang="zh-CN" sz="1600" dirty="0" smtClean="0"/>
          </a:p>
        </p:txBody>
      </p:sp>
      <p:cxnSp>
        <p:nvCxnSpPr>
          <p:cNvPr id="25" name="直接连接符 24"/>
          <p:cNvCxnSpPr>
            <a:endCxn id="11" idx="6"/>
          </p:cNvCxnSpPr>
          <p:nvPr/>
        </p:nvCxnSpPr>
        <p:spPr>
          <a:xfrm rot="10800000">
            <a:off x="7315200" y="2160628"/>
            <a:ext cx="1533833" cy="126099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853764" y="3426534"/>
            <a:ext cx="2536722"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5" name="文本框 1"/>
          <p:cNvSpPr txBox="1"/>
          <p:nvPr/>
        </p:nvSpPr>
        <p:spPr>
          <a:xfrm>
            <a:off x="4938709" y="3664919"/>
            <a:ext cx="3040245" cy="1938992"/>
          </a:xfrm>
          <a:prstGeom prst="rect">
            <a:avLst/>
          </a:prstGeom>
          <a:noFill/>
        </p:spPr>
        <p:txBody>
          <a:bodyPr wrap="square" rtlCol="0">
            <a:spAutoFit/>
          </a:bodyPr>
          <a:lstStyle/>
          <a:p>
            <a:pPr>
              <a:lnSpc>
                <a:spcPct val="150000"/>
              </a:lnSpc>
            </a:pPr>
            <a:endParaRPr lang="zh-CN" altLang="en-US" sz="1600" dirty="0"/>
          </a:p>
          <a:p>
            <a:pPr marL="285750" indent="-285750">
              <a:lnSpc>
                <a:spcPct val="150000"/>
              </a:lnSpc>
              <a:buFont typeface="Arial" panose="020B0604020202020204" pitchFamily="34" charset="0"/>
              <a:buChar char="•"/>
            </a:pPr>
            <a:r>
              <a:rPr lang="zh-CN" altLang="en-US" sz="1600" dirty="0"/>
              <a:t>数据呈现</a:t>
            </a:r>
            <a:r>
              <a:rPr lang="zh-CN" altLang="en-US" sz="1600" dirty="0" smtClean="0"/>
              <a:t>：</a:t>
            </a:r>
            <a:endParaRPr lang="en-US" altLang="zh-CN" sz="1600" dirty="0"/>
          </a:p>
          <a:p>
            <a:pPr marL="742950" lvl="1" indent="-285750">
              <a:lnSpc>
                <a:spcPct val="150000"/>
              </a:lnSpc>
              <a:buFont typeface="Arial" panose="020B0604020202020204" pitchFamily="34" charset="0"/>
              <a:buChar char="•"/>
            </a:pPr>
            <a:r>
              <a:rPr lang="zh-CN" altLang="en-US" sz="1600" dirty="0" smtClean="0"/>
              <a:t>手动整理数据</a:t>
            </a:r>
            <a:endParaRPr lang="en-US" altLang="zh-CN" sz="1600" dirty="0" smtClean="0"/>
          </a:p>
          <a:p>
            <a:pPr marL="742950" lvl="1" indent="-285750">
              <a:lnSpc>
                <a:spcPct val="150000"/>
              </a:lnSpc>
              <a:buFont typeface="Arial" panose="020B0604020202020204" pitchFamily="34" charset="0"/>
              <a:buChar char="•"/>
            </a:pPr>
            <a:r>
              <a:rPr lang="zh-CN" altLang="en-US" sz="1600" dirty="0"/>
              <a:t>呈现形式</a:t>
            </a:r>
            <a:r>
              <a:rPr lang="zh-CN" altLang="en-US" sz="1600" dirty="0" smtClean="0"/>
              <a:t>单一</a:t>
            </a:r>
            <a:endParaRPr lang="en-US" altLang="zh-CN" sz="1600" dirty="0" smtClean="0"/>
          </a:p>
          <a:p>
            <a:pPr marL="742950" lvl="1" indent="-285750">
              <a:lnSpc>
                <a:spcPct val="150000"/>
              </a:lnSpc>
              <a:buFont typeface="Arial" panose="020B0604020202020204" pitchFamily="34" charset="0"/>
              <a:buChar char="•"/>
            </a:pPr>
            <a:r>
              <a:rPr lang="zh-CN" altLang="en-US" sz="1600" dirty="0" smtClean="0"/>
              <a:t>无统一通报途径</a:t>
            </a:r>
            <a:endParaRPr lang="zh-CN" altLang="en-US" sz="1600" dirty="0"/>
          </a:p>
        </p:txBody>
      </p:sp>
      <p:sp>
        <p:nvSpPr>
          <p:cNvPr id="16" name="文本框 2"/>
          <p:cNvSpPr txBox="1"/>
          <p:nvPr/>
        </p:nvSpPr>
        <p:spPr>
          <a:xfrm>
            <a:off x="4821861" y="250774"/>
            <a:ext cx="4945565" cy="369332"/>
          </a:xfrm>
          <a:prstGeom prst="rect">
            <a:avLst/>
          </a:prstGeom>
          <a:noFill/>
        </p:spPr>
        <p:txBody>
          <a:bodyPr wrap="square" rtlCol="0">
            <a:spAutoFit/>
          </a:bodyPr>
          <a:lstStyle/>
          <a:p>
            <a:r>
              <a:rPr lang="zh-CN" altLang="en-US" b="1" dirty="0" smtClean="0">
                <a:solidFill>
                  <a:srgbClr val="333F50"/>
                </a:solidFill>
              </a:rPr>
              <a:t>日常维护</a:t>
            </a:r>
            <a:r>
              <a:rPr lang="en-US" altLang="zh-CN" b="1" dirty="0" smtClean="0">
                <a:solidFill>
                  <a:srgbClr val="333F50"/>
                </a:solidFill>
              </a:rPr>
              <a:t>-</a:t>
            </a:r>
            <a:r>
              <a:rPr lang="zh-CN" altLang="en-US" b="1" dirty="0" smtClean="0">
                <a:solidFill>
                  <a:srgbClr val="333F50"/>
                </a:solidFill>
              </a:rPr>
              <a:t>（以城域网维护报表制作为例）</a:t>
            </a:r>
            <a:endParaRPr lang="zh-CN" altLang="en-US" b="1" dirty="0">
              <a:solidFill>
                <a:srgbClr val="333F50"/>
              </a:solidFill>
            </a:endParaRPr>
          </a:p>
        </p:txBody>
      </p:sp>
    </p:spTree>
    <p:extLst>
      <p:ext uri="{BB962C8B-B14F-4D97-AF65-F5344CB8AC3E}">
        <p14:creationId xmlns="" xmlns:p14="http://schemas.microsoft.com/office/powerpoint/2010/main" val="406627987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pic>
        <p:nvPicPr>
          <p:cNvPr id="10" name="图片 9"/>
          <p:cNvPicPr>
            <a:picLocks noChangeAspect="1"/>
          </p:cNvPicPr>
          <p:nvPr/>
        </p:nvPicPr>
        <p:blipFill>
          <a:blip r:embed="rId3" cstate="print"/>
          <a:stretch>
            <a:fillRect/>
          </a:stretch>
        </p:blipFill>
        <p:spPr>
          <a:xfrm>
            <a:off x="0" y="1268263"/>
            <a:ext cx="12207375" cy="4103110"/>
          </a:xfrm>
          <a:prstGeom prst="rect">
            <a:avLst/>
          </a:prstGeom>
        </p:spPr>
      </p:pic>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维护报表制作只是所有</a:t>
            </a:r>
            <a:r>
              <a:rPr lang="en-US" altLang="zh-CN" sz="1600" dirty="0" smtClean="0">
                <a:latin typeface="+mn-ea"/>
              </a:rPr>
              <a:t>13</a:t>
            </a:r>
            <a:r>
              <a:rPr lang="zh-CN" altLang="en-US" sz="1600" dirty="0" smtClean="0">
                <a:latin typeface="+mn-ea"/>
              </a:rPr>
              <a:t>类网络中城域网工作中的一小部分</a:t>
            </a:r>
            <a:endParaRPr lang="zh-CN" altLang="en-US" sz="1600" dirty="0">
              <a:latin typeface="+mn-ea"/>
            </a:endParaRPr>
          </a:p>
        </p:txBody>
      </p:sp>
    </p:spTree>
    <p:extLst>
      <p:ext uri="{BB962C8B-B14F-4D97-AF65-F5344CB8AC3E}">
        <p14:creationId xmlns="" xmlns:p14="http://schemas.microsoft.com/office/powerpoint/2010/main" val="8261757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txBox="1">
            <a:spLocks/>
          </p:cNvSpPr>
          <p:nvPr/>
        </p:nvSpPr>
        <p:spPr bwMode="auto">
          <a:xfrm>
            <a:off x="8316913" y="6524625"/>
            <a:ext cx="576262" cy="219075"/>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numCol="1" anchorCtr="0" compatLnSpc="1">
            <a:prstTxWarp prst="textNoShape">
              <a:avLst/>
            </a:prstTxWarp>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DB2C3EAB-C04D-4C9A-89C9-BB5CCC29DA16}" type="slidenum">
              <a:rPr kumimoji="0" lang="zh-CN" altLang="en-US" sz="1800" b="0" i="0" u="none" strike="noStrike" kern="1200" cap="none" spc="0" normalizeH="0" baseline="0" noProof="0" smtClean="0">
                <a:ln>
                  <a:noFill/>
                </a:ln>
                <a:solidFill>
                  <a:schemeClr val="bg1"/>
                </a:solidFill>
                <a:effectLst/>
                <a:uLnTx/>
                <a:uFillTx/>
                <a:latin typeface="Times New Roman" pitchFamily="18" charset="0"/>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7</a:t>
            </a:fld>
            <a:endParaRPr kumimoji="0" lang="zh-CN" altLang="en-US" sz="1800" b="0" i="0" u="none" strike="noStrike" kern="1200" cap="none" spc="0" normalizeH="0" baseline="0" noProof="0">
              <a:ln>
                <a:noFill/>
              </a:ln>
              <a:solidFill>
                <a:schemeClr val="bg1"/>
              </a:solidFill>
              <a:effectLst/>
              <a:uLnTx/>
              <a:uFillTx/>
              <a:latin typeface="Times New Roman" pitchFamily="18" charset="0"/>
              <a:ea typeface="宋体" pitchFamily="2" charset="-122"/>
              <a:cs typeface="+mn-cs"/>
            </a:endParaRPr>
          </a:p>
        </p:txBody>
      </p:sp>
      <p:sp>
        <p:nvSpPr>
          <p:cNvPr id="5" name="文本框 9"/>
          <p:cNvSpPr txBox="1">
            <a:spLocks noChangeArrowheads="1"/>
          </p:cNvSpPr>
          <p:nvPr/>
        </p:nvSpPr>
        <p:spPr bwMode="auto">
          <a:xfrm>
            <a:off x="1438057" y="102933"/>
            <a:ext cx="1408382" cy="420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51428" tIns="25714" rIns="51428" bIns="25714">
            <a:spAutoFit/>
          </a:bodyPr>
          <a:lstStyle>
            <a:lvl1pPr marL="342900" indent="-342900">
              <a:defRPr>
                <a:solidFill>
                  <a:schemeClr val="tx1"/>
                </a:solidFill>
                <a:latin typeface="Calibri" pitchFamily="34" charset="0"/>
                <a:ea typeface="宋体" pitchFamily="2" charset="-122"/>
              </a:defRPr>
            </a:lvl1pPr>
            <a:lvl2pPr>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marL="0" lvl="1"/>
            <a:r>
              <a:rPr lang="zh-CN" altLang="en-US" sz="2400" dirty="0" smtClean="0">
                <a:solidFill>
                  <a:schemeClr val="accent2"/>
                </a:solidFill>
                <a:latin typeface="微软雅黑" pitchFamily="34" charset="-122"/>
                <a:ea typeface="微软雅黑" pitchFamily="34" charset="-122"/>
              </a:rPr>
              <a:t>项目背景</a:t>
            </a:r>
            <a:endParaRPr lang="zh-CN" altLang="en-US" sz="2400" dirty="0">
              <a:solidFill>
                <a:schemeClr val="accent2"/>
              </a:solidFill>
              <a:latin typeface="微软雅黑" pitchFamily="34" charset="-122"/>
              <a:ea typeface="微软雅黑" pitchFamily="34" charset="-122"/>
            </a:endParaRPr>
          </a:p>
        </p:txBody>
      </p:sp>
      <p:cxnSp>
        <p:nvCxnSpPr>
          <p:cNvPr id="6" name="直接连接符 5"/>
          <p:cNvCxnSpPr/>
          <p:nvPr/>
        </p:nvCxnSpPr>
        <p:spPr>
          <a:xfrm>
            <a:off x="1507907" y="441071"/>
            <a:ext cx="7291388" cy="0"/>
          </a:xfrm>
          <a:prstGeom prst="line">
            <a:avLst/>
          </a:prstGeom>
          <a:ln>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 name="组合 124"/>
          <p:cNvGrpSpPr>
            <a:grpSpLocks/>
          </p:cNvGrpSpPr>
          <p:nvPr/>
        </p:nvGrpSpPr>
        <p:grpSpPr bwMode="auto">
          <a:xfrm>
            <a:off x="8929470" y="285496"/>
            <a:ext cx="193675" cy="174625"/>
            <a:chOff x="3720691" y="2824413"/>
            <a:chExt cx="1341120" cy="1209172"/>
          </a:xfrm>
        </p:grpSpPr>
        <p:sp>
          <p:nvSpPr>
            <p:cNvPr id="8"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a:lstStyle/>
            <a:p>
              <a:pPr fontAlgn="auto">
                <a:spcBef>
                  <a:spcPts val="0"/>
                </a:spcBef>
                <a:spcAft>
                  <a:spcPts val="0"/>
                </a:spcAft>
                <a:defRPr/>
              </a:pPr>
              <a:endParaRPr lang="zh-CN" altLang="en-US">
                <a:latin typeface="方正兰亭黑简体" panose="02000000000000000000" pitchFamily="2" charset="-122"/>
                <a:ea typeface="方正兰亭黑简体" panose="02000000000000000000" pitchFamily="2" charset="-122"/>
              </a:endParaRPr>
            </a:p>
          </p:txBody>
        </p:sp>
        <p:sp>
          <p:nvSpPr>
            <p:cNvPr id="9" name="Freeform 5"/>
            <p:cNvSpPr>
              <a:spLocks/>
            </p:cNvSpPr>
            <p:nvPr/>
          </p:nvSpPr>
          <p:spPr bwMode="auto">
            <a:xfrm rot="1855731">
              <a:off x="3764662" y="2868383"/>
              <a:ext cx="1264167" cy="113222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a:lstStyle/>
            <a:p>
              <a:pPr fontAlgn="auto">
                <a:spcBef>
                  <a:spcPts val="0"/>
                </a:spcBef>
                <a:spcAft>
                  <a:spcPts val="0"/>
                </a:spcAft>
                <a:defRPr/>
              </a:pPr>
              <a:endParaRPr lang="zh-CN" altLang="en-US">
                <a:latin typeface="方正兰亭黑简体" panose="02000000000000000000" pitchFamily="2" charset="-122"/>
                <a:ea typeface="方正兰亭黑简体" panose="02000000000000000000" pitchFamily="2" charset="-122"/>
              </a:endParaRPr>
            </a:p>
          </p:txBody>
        </p:sp>
      </p:grpSp>
      <p:grpSp>
        <p:nvGrpSpPr>
          <p:cNvPr id="3" name="组合 39"/>
          <p:cNvGrpSpPr>
            <a:grpSpLocks/>
          </p:cNvGrpSpPr>
          <p:nvPr/>
        </p:nvGrpSpPr>
        <p:grpSpPr bwMode="auto">
          <a:xfrm>
            <a:off x="915770" y="82296"/>
            <a:ext cx="503237" cy="454025"/>
            <a:chOff x="5424755" y="1340768"/>
            <a:chExt cx="670560" cy="604586"/>
          </a:xfrm>
        </p:grpSpPr>
        <p:grpSp>
          <p:nvGrpSpPr>
            <p:cNvPr id="7" name="组合 66"/>
            <p:cNvGrpSpPr>
              <a:grpSpLocks/>
            </p:cNvGrpSpPr>
            <p:nvPr/>
          </p:nvGrpSpPr>
          <p:grpSpPr bwMode="auto">
            <a:xfrm>
              <a:off x="5424755" y="1340768"/>
              <a:ext cx="670560" cy="604586"/>
              <a:chOff x="3720691" y="2824413"/>
              <a:chExt cx="1341120" cy="1209172"/>
            </a:xfrm>
          </p:grpSpPr>
          <p:sp>
            <p:nvSpPr>
              <p:cNvPr id="13" name="Freeform 5"/>
              <p:cNvSpPr>
                <a:spLocks/>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headEnd/>
                <a:tailEnd/>
              </a:ln>
              <a:effectLst>
                <a:outerShdw blurRad="190500" dist="114300" dir="2700000" algn="tl" rotWithShape="0">
                  <a:prstClr val="black">
                    <a:alpha val="40000"/>
                  </a:prstClr>
                </a:outerShdw>
              </a:effectLst>
              <a:extLst/>
            </p:spPr>
            <p:txBody>
              <a:bodyPr/>
              <a:lstStyle/>
              <a:p>
                <a:pPr fontAlgn="auto">
                  <a:spcBef>
                    <a:spcPts val="0"/>
                  </a:spcBef>
                  <a:spcAft>
                    <a:spcPts val="0"/>
                  </a:spcAft>
                  <a:defRPr/>
                </a:pPr>
                <a:endParaRPr lang="zh-CN" altLang="en-US">
                  <a:latin typeface="+mn-lt"/>
                  <a:ea typeface="+mn-ea"/>
                </a:endParaRPr>
              </a:p>
            </p:txBody>
          </p:sp>
          <p:sp>
            <p:nvSpPr>
              <p:cNvPr id="14" name="Freeform 5"/>
              <p:cNvSpPr>
                <a:spLocks/>
              </p:cNvSpPr>
              <p:nvPr/>
            </p:nvSpPr>
            <p:spPr bwMode="auto">
              <a:xfrm rot="1855731">
                <a:off x="3762998" y="2862463"/>
                <a:ext cx="1264968" cy="114152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headEnd/>
                <a:tailEnd/>
              </a:ln>
              <a:effectLst>
                <a:outerShdw blurRad="50800" dist="38100" dir="2700000" algn="tl" rotWithShape="0">
                  <a:prstClr val="black">
                    <a:alpha val="40000"/>
                  </a:prstClr>
                </a:outerShdw>
              </a:effectLst>
              <a:extLst/>
            </p:spPr>
            <p:txBody>
              <a:bodyPr/>
              <a:lstStyle/>
              <a:p>
                <a:pPr fontAlgn="auto">
                  <a:spcBef>
                    <a:spcPts val="0"/>
                  </a:spcBef>
                  <a:spcAft>
                    <a:spcPts val="0"/>
                  </a:spcAft>
                  <a:defRPr/>
                </a:pPr>
                <a:endParaRPr lang="zh-CN" altLang="en-US">
                  <a:latin typeface="+mn-lt"/>
                  <a:ea typeface="+mn-ea"/>
                </a:endParaRPr>
              </a:p>
            </p:txBody>
          </p:sp>
        </p:grpSp>
        <p:sp>
          <p:nvSpPr>
            <p:cNvPr id="12" name="Freeform 5"/>
            <p:cNvSpPr>
              <a:spLocks/>
            </p:cNvSpPr>
            <p:nvPr/>
          </p:nvSpPr>
          <p:spPr bwMode="auto">
            <a:xfrm rot="1855731">
              <a:off x="5469176" y="1383047"/>
              <a:ext cx="577487" cy="52002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chemeClr val="accent1">
                  <a:lumMod val="75000"/>
                </a:schemeClr>
              </a:solidFill>
              <a:prstDash val="sysDash"/>
              <a:miter lim="800000"/>
              <a:headEnd/>
              <a:tailEnd/>
            </a:ln>
            <a:effectLst/>
            <a:extLst/>
          </p:spPr>
          <p:txBody>
            <a:bodyPr/>
            <a:lstStyle/>
            <a:p>
              <a:pPr fontAlgn="auto">
                <a:spcBef>
                  <a:spcPts val="0"/>
                </a:spcBef>
                <a:spcAft>
                  <a:spcPts val="0"/>
                </a:spcAft>
                <a:defRPr/>
              </a:pPr>
              <a:endParaRPr lang="zh-CN" altLang="en-US">
                <a:latin typeface="+mn-lt"/>
                <a:ea typeface="+mn-ea"/>
              </a:endParaRPr>
            </a:p>
          </p:txBody>
        </p:sp>
      </p:grpSp>
      <p:sp>
        <p:nvSpPr>
          <p:cNvPr id="15" name="KSO_Shape"/>
          <p:cNvSpPr>
            <a:spLocks/>
          </p:cNvSpPr>
          <p:nvPr/>
        </p:nvSpPr>
        <p:spPr bwMode="auto">
          <a:xfrm>
            <a:off x="1038007" y="199771"/>
            <a:ext cx="257175" cy="219075"/>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accent1"/>
          </a:solidFill>
          <a:ln>
            <a:noFill/>
          </a:ln>
          <a:extLst/>
        </p:spPr>
        <p:txBody>
          <a:bodyPr lIns="68571" tIns="34285" rIns="68571" bIns="34285" anchor="ctr">
            <a:scene3d>
              <a:camera prst="orthographicFront"/>
              <a:lightRig rig="threePt" dir="t"/>
            </a:scene3d>
            <a:sp3d contourW="12700">
              <a:contourClr>
                <a:srgbClr val="FFFFFF"/>
              </a:contourClr>
            </a:sp3d>
          </a:bodyPr>
          <a:lstStyle/>
          <a:p>
            <a:pPr algn="ctr" fontAlgn="auto">
              <a:spcBef>
                <a:spcPts val="0"/>
              </a:spcBef>
              <a:spcAft>
                <a:spcPts val="0"/>
              </a:spcAft>
              <a:defRPr/>
            </a:pPr>
            <a:endParaRPr lang="zh-CN" altLang="en-US">
              <a:solidFill>
                <a:srgbClr val="1C666E"/>
              </a:solidFill>
              <a:latin typeface="+mn-lt"/>
            </a:endParaRPr>
          </a:p>
        </p:txBody>
      </p:sp>
      <p:sp>
        <p:nvSpPr>
          <p:cNvPr id="16" name="文本框 38"/>
          <p:cNvSpPr txBox="1"/>
          <p:nvPr/>
        </p:nvSpPr>
        <p:spPr>
          <a:xfrm>
            <a:off x="4421746" y="117221"/>
            <a:ext cx="1811337" cy="374650"/>
          </a:xfrm>
          <a:prstGeom prst="rect">
            <a:avLst/>
          </a:prstGeom>
          <a:noFill/>
        </p:spPr>
        <p:txBody>
          <a:bodyPr lIns="96434" tIns="48217" rIns="96434" bIns="48217">
            <a:spAutoFit/>
          </a:bodyPr>
          <a:lstStyle/>
          <a:p>
            <a:pPr algn="dist" defTabSz="964278" fontAlgn="auto">
              <a:spcBef>
                <a:spcPts val="0"/>
              </a:spcBef>
              <a:spcAft>
                <a:spcPts val="0"/>
              </a:spcAft>
              <a:defRPr/>
            </a:pPr>
            <a:r>
              <a:rPr lang="zh-CN" altLang="en-US" dirty="0" smtClean="0">
                <a:solidFill>
                  <a:schemeClr val="tx1">
                    <a:lumMod val="50000"/>
                    <a:lumOff val="50000"/>
                  </a:schemeClr>
                </a:solidFill>
                <a:cs typeface="+mn-ea"/>
                <a:sym typeface="+mn-lt"/>
              </a:rPr>
              <a:t>新需求</a:t>
            </a:r>
            <a:endParaRPr lang="zh-CN" altLang="en-US" dirty="0">
              <a:solidFill>
                <a:schemeClr val="tx1">
                  <a:lumMod val="50000"/>
                  <a:lumOff val="50000"/>
                </a:schemeClr>
              </a:solidFill>
              <a:latin typeface="+mn-lt"/>
              <a:ea typeface="+mn-ea"/>
              <a:cs typeface="+mn-ea"/>
              <a:sym typeface="+mn-lt"/>
            </a:endParaRPr>
          </a:p>
        </p:txBody>
      </p:sp>
      <p:pic>
        <p:nvPicPr>
          <p:cNvPr id="42" name="Picture 126" descr="网络云16"/>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085286" y="3431038"/>
            <a:ext cx="3938588" cy="1908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 name="矩形 42"/>
          <p:cNvSpPr/>
          <p:nvPr/>
        </p:nvSpPr>
        <p:spPr>
          <a:xfrm>
            <a:off x="5763274" y="4764538"/>
            <a:ext cx="585787" cy="277812"/>
          </a:xfrm>
          <a:prstGeom prst="rect">
            <a:avLst/>
          </a:prstGeom>
        </p:spPr>
        <p:txBody>
          <a:bodyPr>
            <a:spAutoFit/>
          </a:bodyPr>
          <a:lstStyle/>
          <a:p>
            <a:pPr>
              <a:defRPr/>
            </a:pPr>
            <a:r>
              <a:rPr lang="zh-CN" altLang="en-US" sz="1200" dirty="0">
                <a:solidFill>
                  <a:schemeClr val="bg1"/>
                </a:solidFill>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优化</a:t>
            </a:r>
          </a:p>
        </p:txBody>
      </p:sp>
      <p:sp>
        <p:nvSpPr>
          <p:cNvPr id="44" name="矩形 43"/>
          <p:cNvSpPr/>
          <p:nvPr/>
        </p:nvSpPr>
        <p:spPr>
          <a:xfrm>
            <a:off x="4598049" y="3646938"/>
            <a:ext cx="584200" cy="276225"/>
          </a:xfrm>
          <a:prstGeom prst="rect">
            <a:avLst/>
          </a:prstGeom>
        </p:spPr>
        <p:txBody>
          <a:bodyPr>
            <a:spAutoFit/>
          </a:bodyPr>
          <a:lstStyle/>
          <a:p>
            <a:pPr>
              <a:defRPr/>
            </a:pPr>
            <a:r>
              <a:rPr lang="zh-CN" altLang="en-US" sz="1200" dirty="0">
                <a:solidFill>
                  <a:schemeClr val="tx1">
                    <a:lumMod val="75000"/>
                    <a:lumOff val="25000"/>
                  </a:schemeClr>
                </a:solidFill>
                <a:latin typeface="Arial"/>
                <a:ea typeface="微软雅黑 Light"/>
                <a:cs typeface="+mn-ea"/>
              </a:rPr>
              <a:t>考核</a:t>
            </a:r>
          </a:p>
        </p:txBody>
      </p:sp>
      <p:sp>
        <p:nvSpPr>
          <p:cNvPr id="45" name="矩形 44"/>
          <p:cNvSpPr/>
          <p:nvPr/>
        </p:nvSpPr>
        <p:spPr>
          <a:xfrm>
            <a:off x="4488511" y="4513713"/>
            <a:ext cx="585788" cy="277812"/>
          </a:xfrm>
          <a:prstGeom prst="rect">
            <a:avLst/>
          </a:prstGeom>
        </p:spPr>
        <p:txBody>
          <a:bodyPr>
            <a:spAutoFit/>
          </a:bodyPr>
          <a:lstStyle/>
          <a:p>
            <a:pPr>
              <a:defRPr/>
            </a:pPr>
            <a:r>
              <a:rPr lang="zh-CN" altLang="en-US" sz="1200" dirty="0">
                <a:solidFill>
                  <a:schemeClr val="bg1"/>
                </a:solidFill>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规划</a:t>
            </a:r>
          </a:p>
        </p:txBody>
      </p:sp>
      <p:sp>
        <p:nvSpPr>
          <p:cNvPr id="46" name="矩形 45"/>
          <p:cNvSpPr/>
          <p:nvPr/>
        </p:nvSpPr>
        <p:spPr>
          <a:xfrm>
            <a:off x="4582174" y="3972375"/>
            <a:ext cx="585787" cy="369888"/>
          </a:xfrm>
          <a:prstGeom prst="rect">
            <a:avLst/>
          </a:prstGeom>
        </p:spPr>
        <p:txBody>
          <a:bodyPr>
            <a:spAutoFit/>
          </a:bodyPr>
          <a:lstStyle/>
          <a:p>
            <a:pPr>
              <a:defRPr/>
            </a:pPr>
            <a:r>
              <a:rPr lang="zh-CN" altLang="en-US" dirty="0">
                <a:solidFill>
                  <a:schemeClr val="bg1"/>
                </a:solidFill>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投诉</a:t>
            </a:r>
          </a:p>
        </p:txBody>
      </p:sp>
      <p:sp>
        <p:nvSpPr>
          <p:cNvPr id="47" name="矩形 46"/>
          <p:cNvSpPr/>
          <p:nvPr/>
        </p:nvSpPr>
        <p:spPr>
          <a:xfrm>
            <a:off x="5728349" y="4267650"/>
            <a:ext cx="585787" cy="276225"/>
          </a:xfrm>
          <a:prstGeom prst="rect">
            <a:avLst/>
          </a:prstGeom>
        </p:spPr>
        <p:txBody>
          <a:bodyPr>
            <a:spAutoFit/>
          </a:bodyPr>
          <a:lstStyle/>
          <a:p>
            <a:pPr>
              <a:defRPr/>
            </a:pPr>
            <a:r>
              <a:rPr lang="zh-CN" altLang="en-US" sz="1200" dirty="0">
                <a:solidFill>
                  <a:schemeClr val="bg1"/>
                </a:solidFill>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保障</a:t>
            </a:r>
          </a:p>
        </p:txBody>
      </p:sp>
      <p:sp>
        <p:nvSpPr>
          <p:cNvPr id="48" name="矩形 47"/>
          <p:cNvSpPr/>
          <p:nvPr/>
        </p:nvSpPr>
        <p:spPr>
          <a:xfrm>
            <a:off x="5698186" y="3864425"/>
            <a:ext cx="584200" cy="277813"/>
          </a:xfrm>
          <a:prstGeom prst="rect">
            <a:avLst/>
          </a:prstGeom>
        </p:spPr>
        <p:txBody>
          <a:bodyPr>
            <a:spAutoFit/>
          </a:bodyPr>
          <a:lstStyle/>
          <a:p>
            <a:pPr>
              <a:defRPr/>
            </a:pPr>
            <a:r>
              <a:rPr lang="zh-CN" altLang="en-US" sz="1200" dirty="0">
                <a:solidFill>
                  <a:schemeClr val="bg1"/>
                </a:solidFill>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分析</a:t>
            </a:r>
          </a:p>
        </p:txBody>
      </p:sp>
      <p:sp>
        <p:nvSpPr>
          <p:cNvPr id="49" name="矩形 48"/>
          <p:cNvSpPr/>
          <p:nvPr/>
        </p:nvSpPr>
        <p:spPr>
          <a:xfrm>
            <a:off x="5728349" y="3461200"/>
            <a:ext cx="585787" cy="276225"/>
          </a:xfrm>
          <a:prstGeom prst="rect">
            <a:avLst/>
          </a:prstGeom>
        </p:spPr>
        <p:txBody>
          <a:bodyPr>
            <a:spAutoFit/>
          </a:bodyPr>
          <a:lstStyle/>
          <a:p>
            <a:pPr>
              <a:defRPr/>
            </a:pPr>
            <a:r>
              <a:rPr lang="zh-CN" altLang="en-US" sz="1200" dirty="0">
                <a:solidFill>
                  <a:schemeClr val="tx1">
                    <a:lumMod val="75000"/>
                    <a:lumOff val="25000"/>
                  </a:schemeClr>
                </a:solidFill>
                <a:latin typeface="Arial"/>
                <a:ea typeface="微软雅黑 Light"/>
                <a:cs typeface="+mn-ea"/>
              </a:rPr>
              <a:t>维护</a:t>
            </a:r>
          </a:p>
        </p:txBody>
      </p:sp>
      <p:sp>
        <p:nvSpPr>
          <p:cNvPr id="50" name="矩形 49"/>
          <p:cNvSpPr/>
          <p:nvPr/>
        </p:nvSpPr>
        <p:spPr>
          <a:xfrm>
            <a:off x="7033274" y="4515300"/>
            <a:ext cx="584200" cy="276225"/>
          </a:xfrm>
          <a:prstGeom prst="rect">
            <a:avLst/>
          </a:prstGeom>
        </p:spPr>
        <p:txBody>
          <a:bodyPr>
            <a:spAutoFit/>
          </a:bodyPr>
          <a:lstStyle/>
          <a:p>
            <a:pPr>
              <a:defRPr/>
            </a:pPr>
            <a:r>
              <a:rPr lang="zh-CN" altLang="en-US" sz="1200" dirty="0">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资管</a:t>
            </a:r>
          </a:p>
        </p:txBody>
      </p:sp>
      <p:sp>
        <p:nvSpPr>
          <p:cNvPr id="51" name="矩形 50"/>
          <p:cNvSpPr/>
          <p:nvPr/>
        </p:nvSpPr>
        <p:spPr>
          <a:xfrm>
            <a:off x="6844361" y="3592963"/>
            <a:ext cx="584200" cy="276225"/>
          </a:xfrm>
          <a:prstGeom prst="rect">
            <a:avLst/>
          </a:prstGeom>
        </p:spPr>
        <p:txBody>
          <a:bodyPr>
            <a:spAutoFit/>
          </a:bodyPr>
          <a:lstStyle/>
          <a:p>
            <a:pPr>
              <a:defRPr/>
            </a:pPr>
            <a:r>
              <a:rPr lang="zh-CN" altLang="en-US" sz="1200" dirty="0">
                <a:solidFill>
                  <a:schemeClr val="bg1"/>
                </a:solidFill>
                <a:latin typeface="微软雅黑" pitchFamily="34" charset="-122"/>
                <a:ea typeface="微软雅黑" pitchFamily="34" charset="-122"/>
              </a:rPr>
              <a:t> </a:t>
            </a:r>
            <a:r>
              <a:rPr lang="zh-CN" altLang="en-US" sz="1200" dirty="0">
                <a:solidFill>
                  <a:schemeClr val="tx1">
                    <a:lumMod val="75000"/>
                    <a:lumOff val="25000"/>
                  </a:schemeClr>
                </a:solidFill>
                <a:latin typeface="Arial"/>
                <a:ea typeface="微软雅黑 Light"/>
                <a:cs typeface="+mn-ea"/>
              </a:rPr>
              <a:t>汇报</a:t>
            </a:r>
          </a:p>
        </p:txBody>
      </p:sp>
      <p:sp>
        <p:nvSpPr>
          <p:cNvPr id="52" name="矩形 51"/>
          <p:cNvSpPr/>
          <p:nvPr/>
        </p:nvSpPr>
        <p:spPr>
          <a:xfrm>
            <a:off x="6779274" y="4075563"/>
            <a:ext cx="649287" cy="276225"/>
          </a:xfrm>
          <a:prstGeom prst="rect">
            <a:avLst/>
          </a:prstGeom>
        </p:spPr>
        <p:txBody>
          <a:bodyPr>
            <a:spAutoFit/>
          </a:bodyPr>
          <a:lstStyle/>
          <a:p>
            <a:pPr>
              <a:defRPr/>
            </a:pPr>
            <a:r>
              <a:rPr lang="zh-CN" altLang="en-US" sz="1200" dirty="0">
                <a:latin typeface="微软雅黑" pitchFamily="34" charset="-122"/>
                <a:ea typeface="微软雅黑" pitchFamily="34" charset="-122"/>
              </a:rPr>
              <a:t> </a:t>
            </a:r>
            <a:r>
              <a:rPr lang="en-US" altLang="zh-CN" sz="1200" dirty="0">
                <a:solidFill>
                  <a:schemeClr val="tx1">
                    <a:lumMod val="75000"/>
                    <a:lumOff val="25000"/>
                  </a:schemeClr>
                </a:solidFill>
                <a:latin typeface="Arial"/>
                <a:ea typeface="微软雅黑 Light"/>
                <a:cs typeface="+mn-ea"/>
              </a:rPr>
              <a:t>……..</a:t>
            </a:r>
            <a:endParaRPr lang="zh-CN" altLang="en-US" sz="1200" dirty="0">
              <a:solidFill>
                <a:schemeClr val="tx1">
                  <a:lumMod val="75000"/>
                  <a:lumOff val="25000"/>
                </a:schemeClr>
              </a:solidFill>
              <a:latin typeface="Arial"/>
              <a:ea typeface="微软雅黑 Light"/>
              <a:cs typeface="+mn-ea"/>
            </a:endParaRPr>
          </a:p>
        </p:txBody>
      </p:sp>
      <p:sp>
        <p:nvSpPr>
          <p:cNvPr id="53" name="原创设计师QQ598969553      _4"/>
          <p:cNvSpPr/>
          <p:nvPr/>
        </p:nvSpPr>
        <p:spPr>
          <a:xfrm>
            <a:off x="814946" y="1360488"/>
            <a:ext cx="10662361" cy="4630409"/>
          </a:xfrm>
          <a:prstGeom prst="roundRect">
            <a:avLst>
              <a:gd name="adj" fmla="val 5228"/>
            </a:avLst>
          </a:prstGeom>
          <a:noFill/>
          <a:ln w="28575">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75410" fontAlgn="auto">
              <a:spcBef>
                <a:spcPts val="0"/>
              </a:spcBef>
              <a:spcAft>
                <a:spcPts val="0"/>
              </a:spcAft>
              <a:defRPr/>
            </a:pPr>
            <a:endParaRPr lang="en-US" sz="2135" dirty="0">
              <a:solidFill>
                <a:schemeClr val="tx1">
                  <a:lumMod val="65000"/>
                  <a:lumOff val="35000"/>
                </a:schemeClr>
              </a:solidFill>
              <a:latin typeface="Agency FB" panose="020B0503020202020204" pitchFamily="34" charset="0"/>
            </a:endParaRPr>
          </a:p>
        </p:txBody>
      </p:sp>
      <p:sp>
        <p:nvSpPr>
          <p:cNvPr id="54" name="矩形 2"/>
          <p:cNvSpPr>
            <a:spLocks noChangeArrowheads="1"/>
          </p:cNvSpPr>
          <p:nvPr/>
        </p:nvSpPr>
        <p:spPr bwMode="auto">
          <a:xfrm>
            <a:off x="2253311" y="1878463"/>
            <a:ext cx="7602538" cy="923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zh-CN" altLang="en-US" dirty="0"/>
              <a:t>面对网络规模不断增长带来的挑战</a:t>
            </a:r>
            <a:r>
              <a:rPr lang="zh-CN" altLang="en-US" dirty="0" smtClean="0"/>
              <a:t>，需要一个改</a:t>
            </a:r>
            <a:r>
              <a:rPr lang="zh-CN" altLang="en-US" dirty="0"/>
              <a:t>变网络运维现状，及时快速感知网络状态、准确获取网络参数，在海量信息中挖掘出有效信息，并结合可视化技术精准、及时展现，提高网络运维管理效</a:t>
            </a:r>
            <a:r>
              <a:rPr lang="zh-CN" altLang="en-US" dirty="0" smtClean="0"/>
              <a:t>率的解决方案。</a:t>
            </a:r>
            <a:endParaRPr lang="zh-CN" altLang="en-US" dirty="0"/>
          </a:p>
        </p:txBody>
      </p:sp>
      <p:sp>
        <p:nvSpPr>
          <p:cNvPr id="55" name="矩形 54"/>
          <p:cNvSpPr/>
          <p:nvPr/>
        </p:nvSpPr>
        <p:spPr>
          <a:xfrm>
            <a:off x="2200924" y="3237363"/>
            <a:ext cx="163512" cy="161925"/>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endParaRPr lang="zh-CN" altLang="en-US" b="1">
              <a:solidFill>
                <a:schemeClr val="tx1">
                  <a:lumMod val="75000"/>
                  <a:lumOff val="25000"/>
                </a:schemeClr>
              </a:solidFill>
            </a:endParaRPr>
          </a:p>
        </p:txBody>
      </p:sp>
      <p:sp>
        <p:nvSpPr>
          <p:cNvPr id="56" name="矩形 55"/>
          <p:cNvSpPr/>
          <p:nvPr/>
        </p:nvSpPr>
        <p:spPr>
          <a:xfrm>
            <a:off x="8427099" y="3232600"/>
            <a:ext cx="163512" cy="16351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endParaRPr lang="zh-CN" altLang="en-US" b="1">
              <a:solidFill>
                <a:schemeClr val="tx1">
                  <a:lumMod val="75000"/>
                  <a:lumOff val="25000"/>
                </a:schemeClr>
              </a:solidFill>
            </a:endParaRPr>
          </a:p>
        </p:txBody>
      </p:sp>
      <p:sp>
        <p:nvSpPr>
          <p:cNvPr id="57" name="矩形 56"/>
          <p:cNvSpPr/>
          <p:nvPr/>
        </p:nvSpPr>
        <p:spPr>
          <a:xfrm>
            <a:off x="8508061" y="4934400"/>
            <a:ext cx="163513" cy="163513"/>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endParaRPr lang="zh-CN" altLang="en-US" b="1">
              <a:solidFill>
                <a:schemeClr val="tx1">
                  <a:lumMod val="75000"/>
                  <a:lumOff val="25000"/>
                </a:schemeClr>
              </a:solidFill>
            </a:endParaRPr>
          </a:p>
        </p:txBody>
      </p:sp>
      <p:sp>
        <p:nvSpPr>
          <p:cNvPr id="58" name="矩形 57"/>
          <p:cNvSpPr/>
          <p:nvPr/>
        </p:nvSpPr>
        <p:spPr>
          <a:xfrm>
            <a:off x="2200924" y="4934400"/>
            <a:ext cx="163512" cy="16351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endParaRPr lang="zh-CN" altLang="en-US" b="1">
              <a:solidFill>
                <a:schemeClr val="tx1">
                  <a:lumMod val="75000"/>
                  <a:lumOff val="25000"/>
                </a:schemeClr>
              </a:solidFill>
            </a:endParaRPr>
          </a:p>
        </p:txBody>
      </p:sp>
      <p:sp>
        <p:nvSpPr>
          <p:cNvPr id="59" name="Text Box 11"/>
          <p:cNvSpPr txBox="1">
            <a:spLocks noChangeArrowheads="1"/>
          </p:cNvSpPr>
          <p:nvPr/>
        </p:nvSpPr>
        <p:spPr bwMode="auto">
          <a:xfrm>
            <a:off x="2399361" y="3180213"/>
            <a:ext cx="1482725"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just" eaLnBrk="1" fontAlgn="auto" hangingPunct="1">
              <a:spcBef>
                <a:spcPts val="0"/>
              </a:spcBef>
              <a:spcAft>
                <a:spcPts val="0"/>
              </a:spcAft>
              <a:defRPr/>
            </a:pPr>
            <a:r>
              <a:rPr lang="zh-CN" altLang="en-US" sz="1200" dirty="0" smtClean="0">
                <a:solidFill>
                  <a:schemeClr val="tx1">
                    <a:lumMod val="75000"/>
                    <a:lumOff val="25000"/>
                  </a:schemeClr>
                </a:solidFill>
                <a:latin typeface="微软雅黑" pitchFamily="34" charset="-122"/>
                <a:ea typeface="微软雅黑" pitchFamily="34" charset="-122"/>
              </a:rPr>
              <a:t>全景感知体系</a:t>
            </a:r>
            <a:endParaRPr lang="zh-CN" altLang="en-US" sz="1200" dirty="0">
              <a:solidFill>
                <a:schemeClr val="tx1">
                  <a:lumMod val="75000"/>
                  <a:lumOff val="25000"/>
                </a:schemeClr>
              </a:solidFill>
              <a:latin typeface="微软雅黑" pitchFamily="34" charset="-122"/>
              <a:ea typeface="微软雅黑" pitchFamily="34" charset="-122"/>
            </a:endParaRPr>
          </a:p>
        </p:txBody>
      </p:sp>
      <p:cxnSp>
        <p:nvCxnSpPr>
          <p:cNvPr id="60" name="直接连接符 59"/>
          <p:cNvCxnSpPr/>
          <p:nvPr/>
        </p:nvCxnSpPr>
        <p:spPr>
          <a:xfrm>
            <a:off x="2075511" y="3467550"/>
            <a:ext cx="2782888" cy="0"/>
          </a:xfrm>
          <a:prstGeom prst="line">
            <a:avLst/>
          </a:prstGeom>
          <a:ln>
            <a:solidFill>
              <a:schemeClr val="tx1"/>
            </a:solidFill>
            <a:prstDash val="sysDash"/>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61" name="Text Box 11"/>
          <p:cNvSpPr txBox="1">
            <a:spLocks noChangeArrowheads="1"/>
          </p:cNvSpPr>
          <p:nvPr/>
        </p:nvSpPr>
        <p:spPr bwMode="auto">
          <a:xfrm>
            <a:off x="2399361" y="4878838"/>
            <a:ext cx="1482725"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just" eaLnBrk="1" fontAlgn="auto" hangingPunct="1">
              <a:spcBef>
                <a:spcPts val="0"/>
              </a:spcBef>
              <a:spcAft>
                <a:spcPts val="0"/>
              </a:spcAft>
              <a:defRPr/>
            </a:pPr>
            <a:r>
              <a:rPr lang="zh-CN" altLang="en-US" sz="1200" dirty="0">
                <a:solidFill>
                  <a:schemeClr val="tx1">
                    <a:lumMod val="75000"/>
                    <a:lumOff val="25000"/>
                  </a:schemeClr>
                </a:solidFill>
                <a:latin typeface="微软雅黑" pitchFamily="34" charset="-122"/>
                <a:ea typeface="微软雅黑" pitchFamily="34" charset="-122"/>
              </a:rPr>
              <a:t>主动</a:t>
            </a:r>
            <a:r>
              <a:rPr lang="zh-CN" altLang="en-US" sz="1200" dirty="0" smtClean="0">
                <a:solidFill>
                  <a:schemeClr val="tx1">
                    <a:lumMod val="75000"/>
                    <a:lumOff val="25000"/>
                  </a:schemeClr>
                </a:solidFill>
                <a:latin typeface="微软雅黑" pitchFamily="34" charset="-122"/>
                <a:ea typeface="微软雅黑" pitchFamily="34" charset="-122"/>
              </a:rPr>
              <a:t>维护体系</a:t>
            </a:r>
            <a:endParaRPr lang="zh-CN" altLang="en-US" sz="1200" dirty="0">
              <a:solidFill>
                <a:schemeClr val="tx1">
                  <a:lumMod val="75000"/>
                  <a:lumOff val="25000"/>
                </a:schemeClr>
              </a:solidFill>
              <a:latin typeface="微软雅黑" pitchFamily="34" charset="-122"/>
              <a:ea typeface="微软雅黑" pitchFamily="34" charset="-122"/>
            </a:endParaRPr>
          </a:p>
        </p:txBody>
      </p:sp>
      <p:cxnSp>
        <p:nvCxnSpPr>
          <p:cNvPr id="62" name="直接连接符 61"/>
          <p:cNvCxnSpPr/>
          <p:nvPr/>
        </p:nvCxnSpPr>
        <p:spPr>
          <a:xfrm>
            <a:off x="2075511" y="5140775"/>
            <a:ext cx="2765425" cy="0"/>
          </a:xfrm>
          <a:prstGeom prst="line">
            <a:avLst/>
          </a:prstGeom>
          <a:ln>
            <a:solidFill>
              <a:schemeClr val="tx1"/>
            </a:solidFill>
            <a:prstDash val="sysDash"/>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269811" y="3467550"/>
            <a:ext cx="2803525" cy="0"/>
          </a:xfrm>
          <a:prstGeom prst="line">
            <a:avLst/>
          </a:prstGeom>
          <a:ln>
            <a:solidFill>
              <a:schemeClr val="tx1"/>
            </a:solidFill>
            <a:prstDash val="sysDash"/>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64" name="Text Box 11"/>
          <p:cNvSpPr txBox="1">
            <a:spLocks noChangeArrowheads="1"/>
          </p:cNvSpPr>
          <p:nvPr/>
        </p:nvSpPr>
        <p:spPr bwMode="auto">
          <a:xfrm>
            <a:off x="8590611" y="3191325"/>
            <a:ext cx="1482725"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just" eaLnBrk="1" fontAlgn="auto" hangingPunct="1">
              <a:spcBef>
                <a:spcPts val="0"/>
              </a:spcBef>
              <a:spcAft>
                <a:spcPts val="0"/>
              </a:spcAft>
              <a:defRPr/>
            </a:pPr>
            <a:r>
              <a:rPr lang="zh-CN" altLang="en-US" sz="1200" dirty="0" smtClean="0">
                <a:solidFill>
                  <a:schemeClr val="tx1">
                    <a:lumMod val="75000"/>
                    <a:lumOff val="25000"/>
                  </a:schemeClr>
                </a:solidFill>
                <a:latin typeface="微软雅黑" pitchFamily="34" charset="-122"/>
                <a:ea typeface="微软雅黑" pitchFamily="34" charset="-122"/>
              </a:rPr>
              <a:t>场景保障体系</a:t>
            </a:r>
            <a:endParaRPr lang="zh-CN" altLang="en-US" sz="1200" dirty="0">
              <a:solidFill>
                <a:schemeClr val="tx1">
                  <a:lumMod val="75000"/>
                  <a:lumOff val="25000"/>
                </a:schemeClr>
              </a:solidFill>
              <a:latin typeface="微软雅黑" pitchFamily="34" charset="-122"/>
              <a:ea typeface="微软雅黑" pitchFamily="34" charset="-122"/>
            </a:endParaRPr>
          </a:p>
        </p:txBody>
      </p:sp>
      <p:cxnSp>
        <p:nvCxnSpPr>
          <p:cNvPr id="65" name="直接连接符 64"/>
          <p:cNvCxnSpPr/>
          <p:nvPr/>
        </p:nvCxnSpPr>
        <p:spPr>
          <a:xfrm>
            <a:off x="7292036" y="5155063"/>
            <a:ext cx="2781300" cy="0"/>
          </a:xfrm>
          <a:prstGeom prst="line">
            <a:avLst/>
          </a:prstGeom>
          <a:ln>
            <a:solidFill>
              <a:schemeClr val="tx1"/>
            </a:solidFill>
            <a:prstDash val="sysDash"/>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66" name="Text Box 11"/>
          <p:cNvSpPr txBox="1">
            <a:spLocks noChangeArrowheads="1"/>
          </p:cNvSpPr>
          <p:nvPr/>
        </p:nvSpPr>
        <p:spPr bwMode="auto">
          <a:xfrm>
            <a:off x="8682686" y="4878838"/>
            <a:ext cx="1482725"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lgn="just" eaLnBrk="1" fontAlgn="auto" hangingPunct="1">
              <a:spcBef>
                <a:spcPts val="0"/>
              </a:spcBef>
              <a:spcAft>
                <a:spcPts val="0"/>
              </a:spcAft>
              <a:defRPr/>
            </a:pPr>
            <a:r>
              <a:rPr lang="zh-CN" altLang="en-US" sz="1200" dirty="0" smtClean="0">
                <a:solidFill>
                  <a:schemeClr val="tx1">
                    <a:lumMod val="75000"/>
                    <a:lumOff val="25000"/>
                  </a:schemeClr>
                </a:solidFill>
                <a:latin typeface="微软雅黑" pitchFamily="34" charset="-122"/>
                <a:ea typeface="微软雅黑" pitchFamily="34" charset="-122"/>
              </a:rPr>
              <a:t>智慧运维体系</a:t>
            </a:r>
            <a:endParaRPr lang="zh-CN" altLang="en-US" sz="1200" dirty="0">
              <a:solidFill>
                <a:schemeClr val="tx1">
                  <a:lumMod val="75000"/>
                  <a:lumOff val="2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xmlns="" val="4227591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rgbClr val="FFFF00"/>
                </a:solidFill>
              </a:rPr>
              <a:t>PART</a:t>
            </a:r>
            <a:r>
              <a:rPr kumimoji="1" lang="zh-CN" altLang="en-US" sz="2800" b="1" dirty="0" smtClean="0">
                <a:solidFill>
                  <a:srgbClr val="FFFF00"/>
                </a:solidFill>
              </a:rPr>
              <a:t> </a:t>
            </a:r>
            <a:r>
              <a:rPr kumimoji="1" lang="en-US" altLang="zh-CN" sz="2800" b="1" dirty="0" smtClean="0">
                <a:solidFill>
                  <a:srgbClr val="FFFF00"/>
                </a:solidFill>
              </a:rPr>
              <a:t>TWO</a:t>
            </a:r>
            <a:endParaRPr kumimoji="1" lang="zh-CN" altLang="en-US" sz="2800" b="1" dirty="0">
              <a:solidFill>
                <a:srgbClr val="FFFF00"/>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建设规划</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461665"/>
          </a:xfrm>
          <a:prstGeom prst="rect">
            <a:avLst/>
          </a:prstGeom>
          <a:no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项目的提出</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4526895" y="339265"/>
            <a:ext cx="4779339" cy="584775"/>
          </a:xfrm>
          <a:prstGeom prst="rect">
            <a:avLst/>
          </a:prstGeom>
          <a:noFill/>
        </p:spPr>
        <p:txBody>
          <a:bodyPr wrap="square" rtlCol="0">
            <a:spAutoFit/>
          </a:bodyPr>
          <a:lstStyle/>
          <a:p>
            <a:r>
              <a:rPr lang="zh-CN" altLang="en-US" sz="3200" b="1" dirty="0" smtClean="0">
                <a:solidFill>
                  <a:srgbClr val="333F50"/>
                </a:solidFill>
              </a:rPr>
              <a:t>关于运维的发展方向设想</a:t>
            </a:r>
            <a:endParaRPr lang="zh-CN" altLang="en-US" sz="3200" b="1" dirty="0">
              <a:solidFill>
                <a:srgbClr val="333F50"/>
              </a:solidFill>
            </a:endParaRPr>
          </a:p>
        </p:txBody>
      </p:sp>
      <p:sp>
        <p:nvSpPr>
          <p:cNvPr id="3" name="流程图: 过程 2"/>
          <p:cNvSpPr/>
          <p:nvPr/>
        </p:nvSpPr>
        <p:spPr>
          <a:xfrm>
            <a:off x="1083452" y="190705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922018" y="190611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790080" y="190611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zh-CN" altLang="en-US" sz="2400" dirty="0"/>
          </a:p>
        </p:txBody>
      </p:sp>
      <p:sp>
        <p:nvSpPr>
          <p:cNvPr id="7" name="上箭头 6"/>
          <p:cNvSpPr/>
          <p:nvPr/>
        </p:nvSpPr>
        <p:spPr>
          <a:xfrm rot="5400000">
            <a:off x="3958630" y="1852252"/>
            <a:ext cx="341836" cy="1445342"/>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32" name="文本框 31"/>
          <p:cNvSpPr txBox="1"/>
          <p:nvPr/>
        </p:nvSpPr>
        <p:spPr>
          <a:xfrm>
            <a:off x="737413" y="2875968"/>
            <a:ext cx="3067664" cy="2031325"/>
          </a:xfrm>
          <a:prstGeom prst="rect">
            <a:avLst/>
          </a:prstGeom>
          <a:noFill/>
        </p:spPr>
        <p:txBody>
          <a:bodyPr wrap="square" rtlCol="0">
            <a:spAutoFit/>
          </a:bodyPr>
          <a:lstStyle/>
          <a:p>
            <a:pPr indent="457200">
              <a:lnSpc>
                <a:spcPct val="150000"/>
              </a:lnSpc>
            </a:pPr>
            <a:endParaRPr lang="en-US" altLang="zh-CN" sz="1400" dirty="0" smtClean="0"/>
          </a:p>
          <a:p>
            <a:pPr marL="285750" indent="-285750">
              <a:lnSpc>
                <a:spcPct val="150000"/>
              </a:lnSpc>
              <a:buFont typeface="Arial" panose="020B0604020202020204" pitchFamily="34" charset="0"/>
              <a:buChar char="•"/>
            </a:pPr>
            <a:r>
              <a:rPr lang="zh-CN" altLang="en-US" sz="1400" dirty="0" smtClean="0"/>
              <a:t>依靠人工进行网络运营。</a:t>
            </a:r>
            <a:endParaRPr lang="en-US" altLang="zh-CN" sz="1400" dirty="0" smtClean="0"/>
          </a:p>
          <a:p>
            <a:pPr marL="285750" indent="-285750">
              <a:lnSpc>
                <a:spcPct val="150000"/>
              </a:lnSpc>
              <a:buFont typeface="Arial" panose="020B0604020202020204" pitchFamily="34" charset="0"/>
              <a:buChar char="•"/>
            </a:pPr>
            <a:r>
              <a:rPr lang="zh-CN" altLang="en-US" sz="1400" dirty="0" smtClean="0"/>
              <a:t>准确性低、效率低。</a:t>
            </a:r>
            <a:endParaRPr lang="en-US" altLang="zh-CN" sz="1400" dirty="0" smtClean="0"/>
          </a:p>
          <a:p>
            <a:pPr marL="285750" indent="-285750">
              <a:lnSpc>
                <a:spcPct val="150000"/>
              </a:lnSpc>
              <a:buFont typeface="Arial" panose="020B0604020202020204" pitchFamily="34" charset="0"/>
              <a:buChar char="•"/>
            </a:pPr>
            <a:r>
              <a:rPr lang="zh-CN" altLang="en-US" sz="1400" dirty="0" smtClean="0"/>
              <a:t>随着网络发展越来越复杂，重复性工作越来越多。运营人员工作量越来越大。</a:t>
            </a:r>
            <a:endParaRPr lang="en-US" altLang="zh-CN" sz="1400" dirty="0" smtClean="0"/>
          </a:p>
        </p:txBody>
      </p:sp>
      <p:sp>
        <p:nvSpPr>
          <p:cNvPr id="16" name="文本框 31"/>
          <p:cNvSpPr txBox="1"/>
          <p:nvPr/>
        </p:nvSpPr>
        <p:spPr>
          <a:xfrm>
            <a:off x="4385187" y="3351008"/>
            <a:ext cx="3593689" cy="23544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t>系统的辅助有效提高工作效率及质量。</a:t>
            </a:r>
            <a:endParaRPr lang="en-US" altLang="zh-CN" sz="1400" dirty="0" smtClean="0"/>
          </a:p>
          <a:p>
            <a:pPr marL="285750" indent="-285750">
              <a:lnSpc>
                <a:spcPct val="150000"/>
              </a:lnSpc>
              <a:buFont typeface="Arial" panose="020B0604020202020204" pitchFamily="34" charset="0"/>
              <a:buChar char="•"/>
            </a:pPr>
            <a:r>
              <a:rPr lang="zh-CN" altLang="en-US" sz="1400" dirty="0" smtClean="0"/>
              <a:t>对可复制性的工作进行加以化总结，通过系统自动完成。</a:t>
            </a:r>
            <a:endParaRPr lang="en-US" altLang="zh-CN" sz="1400" dirty="0" smtClean="0"/>
          </a:p>
          <a:p>
            <a:pPr marL="285750" indent="-285750">
              <a:lnSpc>
                <a:spcPct val="150000"/>
              </a:lnSpc>
              <a:buFont typeface="Arial" panose="020B0604020202020204" pitchFamily="34" charset="0"/>
              <a:buChar char="•"/>
            </a:pPr>
            <a:r>
              <a:rPr lang="zh-CN" altLang="en-US" sz="1400" dirty="0" smtClean="0"/>
              <a:t>自动化运维的推进实施使得人员和流程的问题的到了有效解决。</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solidFill>
                  <a:srgbClr val="FF0000"/>
                </a:solidFill>
              </a:rPr>
              <a:t>无法解决一些需要关联分析的问题。</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solidFill>
                  <a:srgbClr val="FF0000"/>
                </a:solidFill>
              </a:rPr>
              <a:t>无法主动去预测未来可能发生的问题</a:t>
            </a:r>
            <a:r>
              <a:rPr lang="zh-CN" altLang="en-US" sz="1400" dirty="0" smtClean="0"/>
              <a:t>。</a:t>
            </a:r>
            <a:endParaRPr lang="en-US" altLang="zh-CN" sz="1400" dirty="0" smtClean="0"/>
          </a:p>
        </p:txBody>
      </p:sp>
      <p:sp>
        <p:nvSpPr>
          <p:cNvPr id="17" name="文本框 31"/>
          <p:cNvSpPr txBox="1"/>
          <p:nvPr/>
        </p:nvSpPr>
        <p:spPr>
          <a:xfrm>
            <a:off x="8362329" y="3331334"/>
            <a:ext cx="3583857" cy="23544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smtClean="0"/>
              <a:t>获取珠海全网信息，建立全网大数据存储。</a:t>
            </a:r>
            <a:endParaRPr lang="en-US" altLang="zh-CN" sz="1400" dirty="0" smtClean="0"/>
          </a:p>
          <a:p>
            <a:pPr marL="285750" indent="-285750">
              <a:lnSpc>
                <a:spcPct val="150000"/>
              </a:lnSpc>
              <a:buFont typeface="Arial" panose="020B0604020202020204" pitchFamily="34" charset="0"/>
              <a:buChar char="•"/>
            </a:pPr>
            <a:r>
              <a:rPr lang="zh-CN" altLang="en-US" sz="1400" dirty="0" smtClean="0"/>
              <a:t>建设网络大脑，给予平台对网络学习、思考、分析能力。</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solidFill>
                  <a:srgbClr val="FF0000"/>
                </a:solidFill>
              </a:rPr>
              <a:t>自动化的基础上发挥云计算、大数据和人工智能结合的优势，解决网络和业务的不断发展带来的运营难题。</a:t>
            </a:r>
            <a:endParaRPr lang="en-US" altLang="zh-CN" sz="1400" dirty="0" smtClean="0">
              <a:solidFill>
                <a:srgbClr val="FF0000"/>
              </a:solidFill>
            </a:endParaRPr>
          </a:p>
        </p:txBody>
      </p:sp>
      <p:sp>
        <p:nvSpPr>
          <p:cNvPr id="19" name="文本框 17"/>
          <p:cNvSpPr txBox="1"/>
          <p:nvPr/>
        </p:nvSpPr>
        <p:spPr>
          <a:xfrm>
            <a:off x="3455178" y="1996014"/>
            <a:ext cx="1161068" cy="369332"/>
          </a:xfrm>
          <a:prstGeom prst="rect">
            <a:avLst/>
          </a:prstGeom>
          <a:noFill/>
        </p:spPr>
        <p:txBody>
          <a:bodyPr wrap="square" rtlCol="0">
            <a:spAutoFit/>
          </a:bodyPr>
          <a:lstStyle/>
          <a:p>
            <a:r>
              <a:rPr lang="zh-CN" altLang="en-US" dirty="0" smtClean="0">
                <a:solidFill>
                  <a:srgbClr val="333F50"/>
                </a:solidFill>
              </a:rPr>
              <a:t>系统辅助</a:t>
            </a:r>
            <a:endParaRPr lang="zh-CN" altLang="en-US" dirty="0">
              <a:solidFill>
                <a:srgbClr val="333F50"/>
              </a:solidFill>
            </a:endParaRPr>
          </a:p>
        </p:txBody>
      </p:sp>
      <p:sp>
        <p:nvSpPr>
          <p:cNvPr id="22" name="上箭头 21"/>
          <p:cNvSpPr/>
          <p:nvPr/>
        </p:nvSpPr>
        <p:spPr>
          <a:xfrm rot="5400000">
            <a:off x="7812873" y="1871917"/>
            <a:ext cx="341836" cy="1445342"/>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4" name="文本框 17"/>
          <p:cNvSpPr txBox="1"/>
          <p:nvPr/>
        </p:nvSpPr>
        <p:spPr>
          <a:xfrm>
            <a:off x="7211961" y="2030430"/>
            <a:ext cx="1401097" cy="369332"/>
          </a:xfrm>
          <a:prstGeom prst="rect">
            <a:avLst/>
          </a:prstGeom>
          <a:noFill/>
        </p:spPr>
        <p:txBody>
          <a:bodyPr wrap="square" rtlCol="0">
            <a:spAutoFit/>
          </a:bodyPr>
          <a:lstStyle/>
          <a:p>
            <a:r>
              <a:rPr lang="zh-CN" altLang="en-US" dirty="0" smtClean="0">
                <a:solidFill>
                  <a:srgbClr val="333F50"/>
                </a:solidFill>
              </a:rPr>
              <a:t>人工智能化</a:t>
            </a:r>
            <a:endParaRPr lang="zh-CN" altLang="en-US" dirty="0">
              <a:solidFill>
                <a:srgbClr val="333F50"/>
              </a:solidFill>
            </a:endParaRPr>
          </a:p>
        </p:txBody>
      </p:sp>
    </p:spTree>
    <p:extLst>
      <p:ext uri="{BB962C8B-B14F-4D97-AF65-F5344CB8AC3E}">
        <p14:creationId xmlns:p14="http://schemas.microsoft.com/office/powerpoint/2010/main" xmlns="" val="32586099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barn(inVertical)">
                                      <p:cBhvr>
                                        <p:cTn id="29" dur="500"/>
                                        <p:tgtEl>
                                          <p:spTgt spid="32"/>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arn(inVertical)">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 calcmode="lin" valueType="num">
                                      <p:cBhvr additive="base">
                                        <p:cTn id="44" dur="500" fill="hold"/>
                                        <p:tgtEl>
                                          <p:spTgt spid="22"/>
                                        </p:tgtEl>
                                        <p:attrNameLst>
                                          <p:attrName>ppt_x</p:attrName>
                                        </p:attrNameLst>
                                      </p:cBhvr>
                                      <p:tavLst>
                                        <p:tav tm="0">
                                          <p:val>
                                            <p:strVal val="#ppt_x"/>
                                          </p:val>
                                        </p:tav>
                                        <p:tav tm="100000">
                                          <p:val>
                                            <p:strVal val="#ppt_x"/>
                                          </p:val>
                                        </p:tav>
                                      </p:tavLst>
                                    </p:anim>
                                    <p:anim calcmode="lin" valueType="num">
                                      <p:cBhvr additive="base">
                                        <p:cTn id="4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32" grpId="0"/>
      <p:bldP spid="16" grpId="0"/>
      <p:bldP spid="17" grpId="0"/>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01924" y="2457912"/>
            <a:ext cx="4178600" cy="2351541"/>
          </a:xfrm>
          <a:prstGeom prst="rect">
            <a:avLst/>
          </a:prstGeom>
          <a:noFill/>
        </p:spPr>
        <p:txBody>
          <a:bodyPr wrap="square" rtlCol="0">
            <a:spAutoFit/>
          </a:bodyPr>
          <a:lstStyle/>
          <a:p>
            <a:pPr indent="457200">
              <a:lnSpc>
                <a:spcPct val="150000"/>
              </a:lnSpc>
            </a:pPr>
            <a:r>
              <a:rPr lang="zh-CN" altLang="zh-CN" sz="2000" dirty="0" smtClean="0"/>
              <a:t>通过建设智能运维平台，将人工智能技术引入网络运维工作中。</a:t>
            </a:r>
            <a:r>
              <a:rPr lang="zh-CN" altLang="en-US" sz="2000" dirty="0" smtClean="0"/>
              <a:t>充分发挥网络大数据的作用。</a:t>
            </a:r>
            <a:r>
              <a:rPr lang="zh-CN" altLang="zh-CN" sz="2000" dirty="0" smtClean="0"/>
              <a:t>打造珠海移动网络大脑，实现智能化网络运维。</a:t>
            </a:r>
            <a:endParaRPr lang="zh-CN" altLang="en-US" sz="2000" dirty="0"/>
          </a:p>
        </p:txBody>
      </p:sp>
      <p:pic>
        <p:nvPicPr>
          <p:cNvPr id="13" name="Picture 2" descr="“big data icon”的图片搜索结果"/>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338055" y="3098795"/>
            <a:ext cx="1473203" cy="1138384"/>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4" descr="“tools icon”的图片搜索结果"/>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654872" y="1466820"/>
            <a:ext cx="839568" cy="839568"/>
          </a:xfrm>
          <a:prstGeom prst="rect">
            <a:avLst/>
          </a:prstGeom>
          <a:noFill/>
          <a:extLst>
            <a:ext uri="{909E8E84-426E-40DD-AFC4-6F175D3DCCD1}">
              <a14:hiddenFill xmlns="" xmlns:a14="http://schemas.microsoft.com/office/drawing/2010/main">
                <a:solidFill>
                  <a:srgbClr val="FFFFFF"/>
                </a:solidFill>
              </a14:hiddenFill>
            </a:ext>
          </a:extLst>
        </p:spPr>
      </p:pic>
      <p:pic>
        <p:nvPicPr>
          <p:cNvPr id="15" name="Picture 6" descr="“tech icon”的图片搜索结果"/>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162264" y="4684914"/>
            <a:ext cx="1867471" cy="1020514"/>
          </a:xfrm>
          <a:prstGeom prst="rect">
            <a:avLst/>
          </a:prstGeom>
          <a:noFill/>
          <a:extLst>
            <a:ext uri="{909E8E84-426E-40DD-AFC4-6F175D3DCCD1}">
              <a14:hiddenFill xmlns="" xmlns:a14="http://schemas.microsoft.com/office/drawing/2010/main">
                <a:solidFill>
                  <a:srgbClr val="FFFFFF"/>
                </a:solidFill>
              </a14:hiddenFill>
            </a:ext>
          </a:extLst>
        </p:spPr>
      </p:pic>
      <p:pic>
        <p:nvPicPr>
          <p:cNvPr id="5122" name="Picture 2" descr="“platform icon”的图片搜索结果"/>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8528051" y="2443414"/>
            <a:ext cx="2619978" cy="1949264"/>
          </a:xfrm>
          <a:prstGeom prst="rect">
            <a:avLst/>
          </a:prstGeom>
          <a:noFill/>
          <a:extLst>
            <a:ext uri="{909E8E84-426E-40DD-AFC4-6F175D3DCCD1}">
              <a14:hiddenFill xmlns="" xmlns:a14="http://schemas.microsoft.com/office/drawing/2010/main">
                <a:solidFill>
                  <a:srgbClr val="FFFFFF"/>
                </a:solidFill>
              </a14:hiddenFill>
            </a:ext>
          </a:extLst>
        </p:spPr>
      </p:pic>
      <p:sp>
        <p:nvSpPr>
          <p:cNvPr id="19" name="右箭头 18"/>
          <p:cNvSpPr/>
          <p:nvPr/>
        </p:nvSpPr>
        <p:spPr>
          <a:xfrm>
            <a:off x="6779459" y="3384614"/>
            <a:ext cx="2062633" cy="523291"/>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7" name="文本框 16"/>
          <p:cNvSpPr txBox="1"/>
          <p:nvPr/>
        </p:nvSpPr>
        <p:spPr>
          <a:xfrm>
            <a:off x="5615162" y="252688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21" name="文本框 20"/>
          <p:cNvSpPr txBox="1"/>
          <p:nvPr/>
        </p:nvSpPr>
        <p:spPr>
          <a:xfrm>
            <a:off x="5654872" y="4127833"/>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18" name="文本框 17"/>
          <p:cNvSpPr txBox="1"/>
          <p:nvPr/>
        </p:nvSpPr>
        <p:spPr>
          <a:xfrm>
            <a:off x="5501227" y="1128615"/>
            <a:ext cx="1146857" cy="276999"/>
          </a:xfrm>
          <a:prstGeom prst="rect">
            <a:avLst/>
          </a:prstGeom>
          <a:noFill/>
        </p:spPr>
        <p:txBody>
          <a:bodyPr wrap="square" rtlCol="0">
            <a:spAutoFit/>
          </a:bodyPr>
          <a:lstStyle/>
          <a:p>
            <a:r>
              <a:rPr lang="zh-CN" altLang="en-US" sz="1200" dirty="0" smtClean="0"/>
              <a:t>丰富运维经验</a:t>
            </a:r>
            <a:endParaRPr lang="zh-CN" altLang="en-US" sz="1200" dirty="0"/>
          </a:p>
        </p:txBody>
      </p:sp>
      <p:sp>
        <p:nvSpPr>
          <p:cNvPr id="23" name="文本框 22"/>
          <p:cNvSpPr txBox="1"/>
          <p:nvPr/>
        </p:nvSpPr>
        <p:spPr>
          <a:xfrm>
            <a:off x="5501226" y="3022363"/>
            <a:ext cx="1146857" cy="276999"/>
          </a:xfrm>
          <a:prstGeom prst="rect">
            <a:avLst/>
          </a:prstGeom>
          <a:noFill/>
        </p:spPr>
        <p:txBody>
          <a:bodyPr wrap="square" rtlCol="0">
            <a:spAutoFit/>
          </a:bodyPr>
          <a:lstStyle/>
          <a:p>
            <a:r>
              <a:rPr lang="zh-CN" altLang="en-US" sz="1200" dirty="0" smtClean="0"/>
              <a:t>海量数据资源</a:t>
            </a:r>
            <a:endParaRPr lang="zh-CN" altLang="en-US" sz="1200" dirty="0"/>
          </a:p>
        </p:txBody>
      </p:sp>
      <p:sp>
        <p:nvSpPr>
          <p:cNvPr id="24" name="文本框 23"/>
          <p:cNvSpPr txBox="1"/>
          <p:nvPr/>
        </p:nvSpPr>
        <p:spPr>
          <a:xfrm>
            <a:off x="5501227" y="4532091"/>
            <a:ext cx="1146857" cy="276999"/>
          </a:xfrm>
          <a:prstGeom prst="rect">
            <a:avLst/>
          </a:prstGeom>
          <a:noFill/>
        </p:spPr>
        <p:txBody>
          <a:bodyPr wrap="square" rtlCol="0">
            <a:spAutoFit/>
          </a:bodyPr>
          <a:lstStyle/>
          <a:p>
            <a:pPr algn="ctr"/>
            <a:r>
              <a:rPr lang="zh-CN" altLang="en-US" sz="1200" dirty="0" smtClean="0"/>
              <a:t>新兴技术</a:t>
            </a:r>
            <a:endParaRPr lang="zh-CN" altLang="en-US" sz="1200" dirty="0"/>
          </a:p>
        </p:txBody>
      </p:sp>
      <p:sp>
        <p:nvSpPr>
          <p:cNvPr id="20" name="文本框 19"/>
          <p:cNvSpPr txBox="1"/>
          <p:nvPr/>
        </p:nvSpPr>
        <p:spPr>
          <a:xfrm>
            <a:off x="8528051" y="4532091"/>
            <a:ext cx="3390900" cy="369332"/>
          </a:xfrm>
          <a:prstGeom prst="rect">
            <a:avLst/>
          </a:prstGeom>
          <a:noFill/>
        </p:spPr>
        <p:txBody>
          <a:bodyPr wrap="square" rtlCol="0">
            <a:spAutoFit/>
          </a:bodyPr>
          <a:lstStyle/>
          <a:p>
            <a:r>
              <a:rPr lang="zh-CN" altLang="en-US" dirty="0" smtClean="0"/>
              <a:t>智慧网络运维平台（网络大脑）</a:t>
            </a:r>
            <a:endParaRPr lang="zh-CN" altLang="en-US" dirty="0"/>
          </a:p>
        </p:txBody>
      </p:sp>
      <p:sp>
        <p:nvSpPr>
          <p:cNvPr id="22" name="文本框 2"/>
          <p:cNvSpPr txBox="1"/>
          <p:nvPr/>
        </p:nvSpPr>
        <p:spPr>
          <a:xfrm>
            <a:off x="4561342" y="285193"/>
            <a:ext cx="3944865" cy="523220"/>
          </a:xfrm>
          <a:prstGeom prst="rect">
            <a:avLst/>
          </a:prstGeom>
          <a:noFill/>
        </p:spPr>
        <p:txBody>
          <a:bodyPr wrap="square" rtlCol="0">
            <a:spAutoFit/>
          </a:bodyPr>
          <a:lstStyle/>
          <a:p>
            <a:r>
              <a:rPr lang="zh-CN" altLang="en-US" sz="2800" b="1" dirty="0" smtClean="0">
                <a:solidFill>
                  <a:srgbClr val="333F50"/>
                </a:solidFill>
              </a:rPr>
              <a:t>如何向智能运维发展？</a:t>
            </a:r>
            <a:endParaRPr lang="zh-CN" altLang="en-US" sz="2800" b="1" dirty="0">
              <a:solidFill>
                <a:srgbClr val="333F50"/>
              </a:solidFill>
            </a:endParaRPr>
          </a:p>
        </p:txBody>
      </p:sp>
      <p:sp>
        <p:nvSpPr>
          <p:cNvPr id="25" name="TextBox 24"/>
          <p:cNvSpPr txBox="1"/>
          <p:nvPr/>
        </p:nvSpPr>
        <p:spPr>
          <a:xfrm>
            <a:off x="2005770" y="1725563"/>
            <a:ext cx="1364476" cy="646331"/>
          </a:xfrm>
          <a:prstGeom prst="rect">
            <a:avLst/>
          </a:prstGeom>
          <a:noFill/>
        </p:spPr>
        <p:txBody>
          <a:bodyPr wrap="none" rtlCol="0">
            <a:spAutoFit/>
          </a:bodyPr>
          <a:lstStyle/>
          <a:p>
            <a:r>
              <a:rPr lang="en-US" altLang="zh-CN" sz="3600" b="1" dirty="0" smtClean="0"/>
              <a:t>AIOPS</a:t>
            </a:r>
            <a:endParaRPr lang="zh-CN" altLang="en-US" sz="3600" b="1" dirty="0"/>
          </a:p>
        </p:txBody>
      </p:sp>
    </p:spTree>
    <p:extLst>
      <p:ext uri="{BB962C8B-B14F-4D97-AF65-F5344CB8AC3E}">
        <p14:creationId xmlns="" xmlns:p14="http://schemas.microsoft.com/office/powerpoint/2010/main" val="1846210321"/>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
          <p:cNvSpPr txBox="1"/>
          <p:nvPr/>
        </p:nvSpPr>
        <p:spPr>
          <a:xfrm>
            <a:off x="4561342" y="285193"/>
            <a:ext cx="3944865" cy="523220"/>
          </a:xfrm>
          <a:prstGeom prst="rect">
            <a:avLst/>
          </a:prstGeom>
          <a:noFill/>
        </p:spPr>
        <p:txBody>
          <a:bodyPr wrap="square" rtlCol="0">
            <a:spAutoFit/>
          </a:bodyPr>
          <a:lstStyle/>
          <a:p>
            <a:r>
              <a:rPr lang="zh-CN" altLang="en-US" sz="2800" b="1" dirty="0" smtClean="0"/>
              <a:t>智能</a:t>
            </a:r>
            <a:r>
              <a:rPr lang="zh-CN" altLang="zh-CN" sz="2800" b="1" dirty="0" smtClean="0"/>
              <a:t>平台建设的出发点</a:t>
            </a:r>
            <a:endParaRPr lang="zh-CN" altLang="en-US" sz="2800" b="1" dirty="0">
              <a:solidFill>
                <a:srgbClr val="333F50"/>
              </a:solidFill>
            </a:endParaRPr>
          </a:p>
        </p:txBody>
      </p:sp>
      <p:sp>
        <p:nvSpPr>
          <p:cNvPr id="25" name="矩形 24"/>
          <p:cNvSpPr/>
          <p:nvPr/>
        </p:nvSpPr>
        <p:spPr>
          <a:xfrm>
            <a:off x="1061886" y="2377415"/>
            <a:ext cx="3967316" cy="2308324"/>
          </a:xfrm>
          <a:prstGeom prst="rect">
            <a:avLst/>
          </a:prstGeom>
        </p:spPr>
        <p:txBody>
          <a:bodyPr wrap="square">
            <a:spAutoFit/>
          </a:bodyPr>
          <a:lstStyle/>
          <a:p>
            <a:pPr lvl="0">
              <a:lnSpc>
                <a:spcPct val="200000"/>
              </a:lnSpc>
            </a:pPr>
            <a:r>
              <a:rPr lang="zh-CN" altLang="zh-CN" b="1" dirty="0" smtClean="0"/>
              <a:t>平台建设的出发点：</a:t>
            </a:r>
            <a:r>
              <a:rPr lang="zh-CN" altLang="zh-CN" dirty="0" smtClean="0"/>
              <a:t>形成以数据为驱动的网络决策机制，用网络运行产生的数据来配置网络资源的使用、支撑网络的运维。</a:t>
            </a:r>
            <a:endParaRPr lang="zh-CN" altLang="zh-CN" dirty="0"/>
          </a:p>
        </p:txBody>
      </p:sp>
      <p:pic>
        <p:nvPicPr>
          <p:cNvPr id="1026" name="Picture 2" descr="https://timgsa.baidu.com/timg?image&amp;quality=80&amp;size=b9999_10000&amp;sec=1516335919013&amp;di=5a8a9f69f2d3c6b3fab73b629bb3e5c3&amp;imgtype=0&amp;src=http%3A%2F%2Fs3.51cto.com%2Fwyfs02%2FM01%2F88%2FB5%2FwKiom1f_ceXB2j3EAACgx-HkHHU045.jpg-wh_651x-s_3621367379.jpg"/>
          <p:cNvPicPr>
            <a:picLocks noChangeAspect="1" noChangeArrowheads="1"/>
          </p:cNvPicPr>
          <p:nvPr/>
        </p:nvPicPr>
        <p:blipFill>
          <a:blip r:embed="rId2" cstate="print"/>
          <a:srcRect/>
          <a:stretch>
            <a:fillRect/>
          </a:stretch>
        </p:blipFill>
        <p:spPr bwMode="auto">
          <a:xfrm>
            <a:off x="5176889" y="2018633"/>
            <a:ext cx="6200775" cy="3105151"/>
          </a:xfrm>
          <a:prstGeom prst="rect">
            <a:avLst/>
          </a:prstGeom>
          <a:noFill/>
        </p:spPr>
      </p:pic>
    </p:spTree>
    <p:extLst>
      <p:ext uri="{BB962C8B-B14F-4D97-AF65-F5344CB8AC3E}">
        <p14:creationId xmlns="" xmlns:p14="http://schemas.microsoft.com/office/powerpoint/2010/main" val="1846210321"/>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5427406" y="206477"/>
            <a:ext cx="1560812"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目标</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4906" y="894285"/>
            <a:ext cx="10220633" cy="5493812"/>
          </a:xfrm>
          <a:prstGeom prst="rect">
            <a:avLst/>
          </a:prstGeom>
        </p:spPr>
        <p:txBody>
          <a:bodyPr wrap="square">
            <a:spAutoFit/>
          </a:bodyPr>
          <a:lstStyle/>
          <a:p>
            <a:pPr marL="400050" lvl="0" indent="-400050">
              <a:lnSpc>
                <a:spcPct val="150000"/>
              </a:lnSpc>
              <a:buFont typeface="Arial" pitchFamily="34" charset="0"/>
              <a:buChar char="•"/>
            </a:pPr>
            <a:r>
              <a:rPr lang="zh-CN" altLang="zh-CN" sz="2400" b="1" i="1" u="sng" dirty="0" smtClean="0"/>
              <a:t>实现智能维护：</a:t>
            </a:r>
            <a:r>
              <a:rPr lang="zh-CN" altLang="zh-CN" dirty="0" smtClean="0"/>
              <a:t>通过人工智能技术的引入实现智能体检、网络管家、自动测试等日常维护功能，实现网络的智能维护</a:t>
            </a:r>
            <a:r>
              <a:rPr lang="zh-CN" altLang="en-US" dirty="0" smtClean="0"/>
              <a:t>。</a:t>
            </a:r>
            <a:endParaRPr lang="zh-CN" altLang="zh-CN" dirty="0" smtClean="0"/>
          </a:p>
          <a:p>
            <a:pPr marL="400050" lvl="0" indent="-400050">
              <a:lnSpc>
                <a:spcPct val="150000"/>
              </a:lnSpc>
              <a:buFont typeface="Arial" pitchFamily="34" charset="0"/>
              <a:buChar char="•"/>
            </a:pPr>
            <a:r>
              <a:rPr lang="zh-CN" altLang="zh-CN" sz="2400" b="1" i="1" u="sng" dirty="0" smtClean="0"/>
              <a:t>业务质量优化：</a:t>
            </a:r>
            <a:r>
              <a:rPr lang="zh-CN" altLang="en-US" dirty="0" smtClean="0"/>
              <a:t>通过全网海量大数据</a:t>
            </a:r>
            <a:r>
              <a:rPr lang="en-US" altLang="zh-CN" dirty="0" smtClean="0"/>
              <a:t>+</a:t>
            </a:r>
            <a:r>
              <a:rPr lang="zh-CN" altLang="en-US" dirty="0" smtClean="0"/>
              <a:t>智能算法技术，可以找出业务指标可以提升的因素</a:t>
            </a:r>
            <a:r>
              <a:rPr lang="zh-CN" altLang="zh-CN" dirty="0" smtClean="0"/>
              <a:t>。</a:t>
            </a:r>
          </a:p>
          <a:p>
            <a:pPr marL="400050" lvl="0" indent="-400050">
              <a:lnSpc>
                <a:spcPct val="150000"/>
              </a:lnSpc>
              <a:buFont typeface="Arial" pitchFamily="34" charset="0"/>
              <a:buChar char="•"/>
            </a:pPr>
            <a:r>
              <a:rPr lang="zh-CN" altLang="en-US" sz="2400" b="1" i="1" u="sng" dirty="0" smtClean="0"/>
              <a:t>全面</a:t>
            </a:r>
            <a:r>
              <a:rPr lang="zh-CN" altLang="zh-CN" sz="2400" b="1" i="1" u="sng" dirty="0" smtClean="0"/>
              <a:t>提升用户感知：</a:t>
            </a:r>
            <a:r>
              <a:rPr lang="zh-CN" altLang="en-US" dirty="0" smtClean="0"/>
              <a:t>通过大数据模拟建立用户感知模型，指导网络的规划。</a:t>
            </a:r>
            <a:r>
              <a:rPr lang="zh-CN" altLang="zh-CN" dirty="0" smtClean="0"/>
              <a:t>先于用户投诉发现网络故障。</a:t>
            </a:r>
            <a:r>
              <a:rPr lang="zh-CN" altLang="en-US" dirty="0" smtClean="0"/>
              <a:t>提升用户感知。</a:t>
            </a:r>
            <a:endParaRPr lang="en-US" altLang="zh-CN" dirty="0" smtClean="0"/>
          </a:p>
          <a:p>
            <a:pPr marL="400050" lvl="0" indent="-400050">
              <a:lnSpc>
                <a:spcPct val="150000"/>
              </a:lnSpc>
              <a:buFont typeface="Arial" pitchFamily="34" charset="0"/>
              <a:buChar char="•"/>
            </a:pPr>
            <a:r>
              <a:rPr lang="zh-CN" altLang="en-US" sz="2400" b="1" i="1" u="sng" dirty="0" smtClean="0"/>
              <a:t>全景信息呈现：</a:t>
            </a:r>
            <a:r>
              <a:rPr lang="zh-CN" altLang="zh-CN" dirty="0" smtClean="0"/>
              <a:t>智能运维平台捕获全网的所有信息</a:t>
            </a:r>
            <a:r>
              <a:rPr lang="zh-CN" altLang="en-US" dirty="0" smtClean="0"/>
              <a:t>，进行托图分级可视、透明、直观化呈现。实时清晰了解全网运行状态。</a:t>
            </a:r>
            <a:endParaRPr lang="zh-CN" altLang="zh-CN" sz="2400" b="1" i="1" u="sng" dirty="0" smtClean="0"/>
          </a:p>
          <a:p>
            <a:pPr marL="400050" lvl="0" indent="-400050">
              <a:lnSpc>
                <a:spcPct val="150000"/>
              </a:lnSpc>
              <a:buFont typeface="Arial" pitchFamily="34" charset="0"/>
              <a:buChar char="•"/>
            </a:pPr>
            <a:r>
              <a:rPr lang="zh-CN" altLang="zh-CN" sz="2400" b="1" i="1" u="sng" dirty="0" smtClean="0"/>
              <a:t>成为网络运维人员的智囊：</a:t>
            </a:r>
            <a:r>
              <a:rPr lang="zh-CN" altLang="zh-CN" dirty="0" smtClean="0"/>
              <a:t>智能运维平台捕获全网的所有信息，通过</a:t>
            </a:r>
            <a:r>
              <a:rPr lang="zh-CN" altLang="en-US" dirty="0" smtClean="0"/>
              <a:t>智能计算</a:t>
            </a:r>
            <a:r>
              <a:rPr lang="zh-CN" altLang="zh-CN" dirty="0" smtClean="0"/>
              <a:t>可以将全网的信息处理成运维人员需要的决策材料和控制建议甚至自动处理</a:t>
            </a:r>
            <a:r>
              <a:rPr lang="zh-CN" altLang="en-US" dirty="0" smtClean="0"/>
              <a:t>。</a:t>
            </a:r>
            <a:endParaRPr lang="en-US" altLang="zh-CN" dirty="0" smtClean="0"/>
          </a:p>
          <a:p>
            <a:pPr marL="400050" lvl="0" indent="-400050">
              <a:lnSpc>
                <a:spcPct val="150000"/>
              </a:lnSpc>
              <a:buFont typeface="Arial" pitchFamily="34" charset="0"/>
              <a:buChar char="•"/>
            </a:pPr>
            <a:r>
              <a:rPr lang="zh-CN" altLang="en-US" sz="2400" b="1" i="1" u="sng" dirty="0" smtClean="0"/>
              <a:t>促成工作模式的创新：</a:t>
            </a:r>
            <a:r>
              <a:rPr lang="zh-CN" altLang="en-US" dirty="0" smtClean="0"/>
              <a:t>在平台建设人工智能。形成自主学习能力。对网络管理动作与网络变化的分析。激发出有利于网络健康发展的网络管理思路。</a:t>
            </a:r>
            <a:endParaRPr lang="en-US" altLang="zh-CN" dirty="0" smtClean="0"/>
          </a:p>
        </p:txBody>
      </p:sp>
    </p:spTree>
    <p:extLst>
      <p:ext uri="{BB962C8B-B14F-4D97-AF65-F5344CB8AC3E}">
        <p14:creationId xmlns=""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10" name="矩形 9"/>
          <p:cNvSpPr/>
          <p:nvPr/>
        </p:nvSpPr>
        <p:spPr>
          <a:xfrm>
            <a:off x="3089644" y="870170"/>
            <a:ext cx="6016139" cy="828328"/>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b="1" dirty="0" smtClean="0"/>
              <a:t>平台总体功能</a:t>
            </a:r>
            <a:endParaRPr lang="zh-CN" altLang="en-US" sz="60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356878" y="2696568"/>
            <a:ext cx="9550303" cy="2950036"/>
          </a:xfrm>
          <a:prstGeom prst="rect">
            <a:avLst/>
          </a:prstGeom>
        </p:spPr>
        <p:txBody>
          <a:bodyPr wrap="square" lIns="68570" tIns="34289" rIns="68570" bIns="34289">
            <a:spAutoFit/>
          </a:bodyPr>
          <a:lstStyle/>
          <a:p>
            <a:pPr algn="ctr" defTabSz="685165">
              <a:lnSpc>
                <a:spcPct val="130000"/>
              </a:lnSpc>
            </a:pPr>
            <a:r>
              <a:rPr lang="zh-CN" altLang="en-US" sz="3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3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3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3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3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11" name="矩形 10"/>
          <p:cNvSpPr/>
          <p:nvPr/>
        </p:nvSpPr>
        <p:spPr>
          <a:xfrm>
            <a:off x="4469172" y="391935"/>
            <a:ext cx="3966906"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平台应用面向对象</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934934" y="3296488"/>
            <a:ext cx="5309419" cy="2469905"/>
          </a:xfrm>
          <a:prstGeom prst="rect">
            <a:avLst/>
          </a:prstGeom>
        </p:spPr>
        <p:txBody>
          <a:bodyPr wrap="square" lIns="68570" tIns="34289" rIns="68570" bIns="34289">
            <a:spAutoFit/>
          </a:bodyPr>
          <a:lstStyle/>
          <a:p>
            <a:pPr algn="ctr" defTabSz="685165">
              <a:lnSpc>
                <a:spcPct val="130000"/>
              </a:lnSpc>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公司领</a:t>
            </a: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导</a:t>
            </a:r>
          </a:p>
          <a:p>
            <a:pPr algn="ctr" defTabSz="685165">
              <a:lnSpc>
                <a:spcPct val="130000"/>
              </a:lnSpc>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2400" dirty="0" smtClean="0">
                <a:solidFill>
                  <a:prstClr val="black">
                    <a:lumMod val="75000"/>
                    <a:lumOff val="25000"/>
                  </a:prstClr>
                </a:solidFill>
                <a:latin typeface="微软雅黑" panose="020B0503020204020204" pitchFamily="34" charset="-122"/>
                <a:ea typeface="微软雅黑" panose="020B0503020204020204" pitchFamily="34" charset="-122"/>
              </a:rPr>
              <a:t>合作单位人员等</a:t>
            </a:r>
            <a:endParaRPr lang="zh-CN" altLang="en-US" sz="24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3790331" y="2448232"/>
            <a:ext cx="3570208" cy="461665"/>
          </a:xfrm>
          <a:prstGeom prst="rect">
            <a:avLst/>
          </a:prstGeom>
          <a:noFill/>
        </p:spPr>
        <p:txBody>
          <a:bodyPr wrap="none" rtlCol="0">
            <a:spAutoFit/>
          </a:bodyPr>
          <a:lstStyle/>
          <a:p>
            <a:r>
              <a:rPr lang="zh-CN" altLang="en-US" sz="2400" b="1" dirty="0" smtClean="0"/>
              <a:t>所有与网络有关联的人员</a:t>
            </a:r>
            <a:endParaRPr lang="zh-CN" altLang="en-US" sz="2400" b="1" dirty="0"/>
          </a:p>
        </p:txBody>
      </p:sp>
    </p:spTree>
    <p:extLst>
      <p:ext uri="{BB962C8B-B14F-4D97-AF65-F5344CB8AC3E}">
        <p14:creationId xmlns=""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7942012" y="3372000"/>
            <a:ext cx="23100" cy="114098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p:cNvCxnSpPr/>
          <p:nvPr/>
        </p:nvCxnSpPr>
        <p:spPr>
          <a:xfrm flipH="1">
            <a:off x="6493518" y="4699561"/>
            <a:ext cx="1268895" cy="455580"/>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8117387" y="4699561"/>
            <a:ext cx="1355052" cy="48055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6" name="矩形 6"/>
          <p:cNvSpPr>
            <a:spLocks noChangeArrowheads="1"/>
          </p:cNvSpPr>
          <p:nvPr/>
        </p:nvSpPr>
        <p:spPr bwMode="auto">
          <a:xfrm>
            <a:off x="5250371" y="5405040"/>
            <a:ext cx="223544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自动化脚本、通知提示</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sp>
        <p:nvSpPr>
          <p:cNvPr id="17" name="矩形 6"/>
          <p:cNvSpPr>
            <a:spLocks noChangeArrowheads="1"/>
          </p:cNvSpPr>
          <p:nvPr/>
        </p:nvSpPr>
        <p:spPr bwMode="auto">
          <a:xfrm>
            <a:off x="8808529" y="5405039"/>
            <a:ext cx="1621345"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机器学习、人工决策</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sp>
        <p:nvSpPr>
          <p:cNvPr id="20" name="矩形 6"/>
          <p:cNvSpPr>
            <a:spLocks noChangeArrowheads="1"/>
          </p:cNvSpPr>
          <p:nvPr/>
        </p:nvSpPr>
        <p:spPr bwMode="auto">
          <a:xfrm>
            <a:off x="7279679" y="2522575"/>
            <a:ext cx="1369916" cy="461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对海量日志的监测</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grpSp>
        <p:nvGrpSpPr>
          <p:cNvPr id="21" name="组合 20"/>
          <p:cNvGrpSpPr/>
          <p:nvPr/>
        </p:nvGrpSpPr>
        <p:grpSpPr>
          <a:xfrm>
            <a:off x="7651649" y="4383320"/>
            <a:ext cx="540034" cy="538834"/>
            <a:chOff x="5932231" y="4415044"/>
            <a:chExt cx="488440" cy="509247"/>
          </a:xfrm>
        </p:grpSpPr>
        <p:sp>
          <p:nvSpPr>
            <p:cNvPr id="22" name="椭圆 21"/>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23" name="矩形 22"/>
            <p:cNvSpPr/>
            <p:nvPr/>
          </p:nvSpPr>
          <p:spPr>
            <a:xfrm>
              <a:off x="5935187" y="4415044"/>
              <a:ext cx="119677" cy="363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sp>
        <p:nvSpPr>
          <p:cNvPr id="24" name="椭圆 23"/>
          <p:cNvSpPr/>
          <p:nvPr/>
        </p:nvSpPr>
        <p:spPr>
          <a:xfrm>
            <a:off x="7703446" y="3092363"/>
            <a:ext cx="488237" cy="446384"/>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Calibri"/>
              <a:ea typeface="微软雅黑"/>
              <a:cs typeface="+mn-cs"/>
            </a:endParaRPr>
          </a:p>
        </p:txBody>
      </p:sp>
      <p:grpSp>
        <p:nvGrpSpPr>
          <p:cNvPr id="25" name="组合 24"/>
          <p:cNvGrpSpPr/>
          <p:nvPr/>
        </p:nvGrpSpPr>
        <p:grpSpPr>
          <a:xfrm>
            <a:off x="9245216" y="4913920"/>
            <a:ext cx="526956" cy="446384"/>
            <a:chOff x="7402397" y="5003093"/>
            <a:chExt cx="859892" cy="810266"/>
          </a:xfrm>
        </p:grpSpPr>
        <p:sp>
          <p:nvSpPr>
            <p:cNvPr id="26" name="椭圆 25"/>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27" name="矩形 26"/>
            <p:cNvSpPr/>
            <p:nvPr/>
          </p:nvSpPr>
          <p:spPr>
            <a:xfrm>
              <a:off x="7458716" y="5199286"/>
              <a:ext cx="803573" cy="5028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决策</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grpSp>
        <p:nvGrpSpPr>
          <p:cNvPr id="28" name="组合 27"/>
          <p:cNvGrpSpPr/>
          <p:nvPr/>
        </p:nvGrpSpPr>
        <p:grpSpPr>
          <a:xfrm>
            <a:off x="6121870" y="3214195"/>
            <a:ext cx="2077914" cy="2144797"/>
            <a:chOff x="4070096" y="1933242"/>
            <a:chExt cx="3390756" cy="3893186"/>
          </a:xfrm>
        </p:grpSpPr>
        <p:sp>
          <p:nvSpPr>
            <p:cNvPr id="29" name="椭圆 28"/>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30" name="矩形 29"/>
            <p:cNvSpPr/>
            <p:nvPr/>
          </p:nvSpPr>
          <p:spPr>
            <a:xfrm>
              <a:off x="4070096" y="5183289"/>
              <a:ext cx="803573" cy="5028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控制</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sp>
          <p:nvSpPr>
            <p:cNvPr id="32" name="矩形 31"/>
            <p:cNvSpPr/>
            <p:nvPr/>
          </p:nvSpPr>
          <p:spPr>
            <a:xfrm>
              <a:off x="6657280" y="1933242"/>
              <a:ext cx="803572" cy="5028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感知</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sp>
        <p:nvSpPr>
          <p:cNvPr id="33" name="文本框 32"/>
          <p:cNvSpPr txBox="1"/>
          <p:nvPr/>
        </p:nvSpPr>
        <p:spPr>
          <a:xfrm>
            <a:off x="7660928" y="4483316"/>
            <a:ext cx="60741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err="1" smtClean="0">
                <a:ln>
                  <a:noFill/>
                </a:ln>
                <a:solidFill>
                  <a:prstClr val="white"/>
                </a:solidFill>
                <a:effectLst/>
                <a:uLnTx/>
                <a:uFillTx/>
                <a:latin typeface="Calibri"/>
                <a:ea typeface="微软雅黑"/>
                <a:cs typeface="+mn-cs"/>
              </a:rPr>
              <a:t>AIOps</a:t>
            </a:r>
            <a:endParaRPr kumimoji="0" lang="zh-CN" altLang="en-US" sz="1100" b="1"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34" name="文本框 33"/>
          <p:cNvSpPr txBox="1"/>
          <p:nvPr/>
        </p:nvSpPr>
        <p:spPr>
          <a:xfrm>
            <a:off x="9520819" y="3273890"/>
            <a:ext cx="138338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E7E6E6">
                    <a:lumMod val="10000"/>
                  </a:srgbClr>
                </a:solidFill>
                <a:effectLst/>
                <a:uLnTx/>
                <a:uFillTx/>
                <a:latin typeface="Calibri"/>
                <a:ea typeface="微软雅黑"/>
                <a:cs typeface="+mn-cs"/>
              </a:rPr>
              <a:t>通过闭环反馈机制，完成自我学习的过程</a:t>
            </a:r>
            <a:endParaRPr kumimoji="0" lang="zh-CN" altLang="en-US" sz="1800" b="0" i="0" u="none" strike="noStrike" kern="1200" cap="none" spc="0" normalizeH="0" baseline="0" noProof="0" dirty="0">
              <a:ln>
                <a:noFill/>
              </a:ln>
              <a:solidFill>
                <a:srgbClr val="E7E6E6">
                  <a:lumMod val="10000"/>
                </a:srgbClr>
              </a:solidFill>
              <a:effectLst/>
              <a:uLnTx/>
              <a:uFillTx/>
              <a:latin typeface="Calibri"/>
              <a:ea typeface="微软雅黑"/>
              <a:cs typeface="+mn-cs"/>
            </a:endParaRPr>
          </a:p>
        </p:txBody>
      </p:sp>
      <p:cxnSp>
        <p:nvCxnSpPr>
          <p:cNvPr id="35" name="直接箭头连接符 34"/>
          <p:cNvCxnSpPr>
            <a:endCxn id="26" idx="1"/>
          </p:cNvCxnSpPr>
          <p:nvPr/>
        </p:nvCxnSpPr>
        <p:spPr>
          <a:xfrm>
            <a:off x="8117387" y="3491194"/>
            <a:ext cx="1200546" cy="1488097"/>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6" idx="2"/>
            <a:endCxn id="29" idx="6"/>
          </p:cNvCxnSpPr>
          <p:nvPr/>
        </p:nvCxnSpPr>
        <p:spPr>
          <a:xfrm flipH="1" flipV="1">
            <a:off x="6618415" y="5135800"/>
            <a:ext cx="2626801" cy="131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7"/>
            <a:endCxn id="24" idx="3"/>
          </p:cNvCxnSpPr>
          <p:nvPr/>
        </p:nvCxnSpPr>
        <p:spPr>
          <a:xfrm flipV="1">
            <a:off x="6545698" y="3473376"/>
            <a:ext cx="1229249" cy="150460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5" name="文本框 4"/>
          <p:cNvSpPr txBox="1"/>
          <p:nvPr/>
        </p:nvSpPr>
        <p:spPr>
          <a:xfrm>
            <a:off x="624114" y="10310"/>
            <a:ext cx="30525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项目提出</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8" name="文本框 17"/>
          <p:cNvSpPr txBox="1"/>
          <p:nvPr/>
        </p:nvSpPr>
        <p:spPr>
          <a:xfrm>
            <a:off x="721810" y="943949"/>
            <a:ext cx="39448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smtClean="0">
                <a:ln>
                  <a:noFill/>
                </a:ln>
                <a:solidFill>
                  <a:srgbClr val="333F50"/>
                </a:solidFill>
                <a:effectLst/>
                <a:uLnTx/>
                <a:uFillTx/>
                <a:latin typeface="Calibri"/>
                <a:ea typeface="微软雅黑"/>
                <a:cs typeface="+mn-cs"/>
              </a:rPr>
              <a:t>AIOps</a:t>
            </a:r>
            <a:r>
              <a:rPr kumimoji="0" lang="zh-CN" altLang="en-US" sz="1800" b="0" i="0" u="none" strike="noStrike" kern="1200" cap="none" spc="0" normalizeH="0" baseline="0" noProof="0" dirty="0" smtClean="0">
                <a:ln>
                  <a:noFill/>
                </a:ln>
                <a:solidFill>
                  <a:srgbClr val="333F50"/>
                </a:solidFill>
                <a:effectLst/>
                <a:uLnTx/>
                <a:uFillTx/>
                <a:latin typeface="Calibri"/>
                <a:ea typeface="微软雅黑"/>
                <a:cs typeface="+mn-cs"/>
              </a:rPr>
              <a:t>（</a:t>
            </a:r>
            <a:r>
              <a:rPr kumimoji="0" lang="en-US" altLang="zh-CN" sz="1800" b="0" i="0" u="none" strike="noStrike" kern="1200" cap="none" spc="0" normalizeH="0" baseline="0" noProof="0" dirty="0">
                <a:ln>
                  <a:noFill/>
                </a:ln>
                <a:solidFill>
                  <a:srgbClr val="333F50"/>
                </a:solidFill>
                <a:effectLst/>
                <a:uLnTx/>
                <a:uFillTx/>
                <a:latin typeface="Calibri"/>
                <a:ea typeface="微软雅黑"/>
                <a:cs typeface="+mn-cs"/>
              </a:rPr>
              <a:t>A</a:t>
            </a:r>
            <a:r>
              <a:rPr kumimoji="0" lang="en-US" altLang="zh-CN" sz="1800" b="0" i="0" u="none" strike="noStrike" kern="1200" cap="none" spc="0" normalizeH="0" baseline="0" noProof="0" dirty="0" smtClean="0">
                <a:ln>
                  <a:noFill/>
                </a:ln>
                <a:solidFill>
                  <a:srgbClr val="333F50"/>
                </a:solidFill>
                <a:effectLst/>
                <a:uLnTx/>
                <a:uFillTx/>
                <a:latin typeface="Calibri"/>
                <a:ea typeface="微软雅黑"/>
                <a:cs typeface="+mn-cs"/>
              </a:rPr>
              <a:t>lgorithm IT Operations</a:t>
            </a:r>
            <a:r>
              <a:rPr kumimoji="0" lang="zh-CN" altLang="en-US" sz="1800" b="0" i="0" u="none" strike="noStrike" kern="1200" cap="none" spc="0" normalizeH="0" baseline="0" noProof="0" dirty="0" smtClean="0">
                <a:ln>
                  <a:noFill/>
                </a:ln>
                <a:solidFill>
                  <a:srgbClr val="333F50"/>
                </a:solidFill>
                <a:effectLst/>
                <a:uLnTx/>
                <a:uFillTx/>
                <a:latin typeface="Calibri"/>
                <a:ea typeface="微软雅黑"/>
                <a:cs typeface="+mn-cs"/>
              </a:rPr>
              <a:t>）</a:t>
            </a:r>
            <a:endParaRPr kumimoji="0" lang="zh-CN" altLang="en-US" sz="1800" b="0" i="0" u="none" strike="noStrike" kern="1200" cap="none" spc="0" normalizeH="0" baseline="0" noProof="0" dirty="0">
              <a:ln>
                <a:noFill/>
              </a:ln>
              <a:solidFill>
                <a:srgbClr val="333F50"/>
              </a:solidFill>
              <a:effectLst/>
              <a:uLnTx/>
              <a:uFillTx/>
              <a:latin typeface="Calibri"/>
              <a:ea typeface="微软雅黑"/>
              <a:cs typeface="+mn-cs"/>
            </a:endParaRPr>
          </a:p>
        </p:txBody>
      </p:sp>
      <p:sp>
        <p:nvSpPr>
          <p:cNvPr id="2" name="文本框 1"/>
          <p:cNvSpPr txBox="1"/>
          <p:nvPr/>
        </p:nvSpPr>
        <p:spPr>
          <a:xfrm>
            <a:off x="5698731" y="1313281"/>
            <a:ext cx="4171375" cy="923330"/>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rPr>
              <a:t>Ops = </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运维场景（主旨）</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rPr>
              <a:t>AI = </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代表技术（手段）</a:t>
            </a:r>
            <a:endParaRPr kumimoji="0" lang="zh-CN" altLang="en-US" sz="1800" b="0" i="0" u="none" strike="noStrike" kern="1200" cap="none" spc="0" normalizeH="0" baseline="0" noProof="0" dirty="0">
              <a:ln>
                <a:noFill/>
              </a:ln>
              <a:solidFill>
                <a:prstClr val="black"/>
              </a:solidFill>
              <a:effectLst/>
              <a:uLnTx/>
              <a:uFillTx/>
              <a:latin typeface="Calibri"/>
              <a:ea typeface="微软雅黑"/>
              <a:cs typeface="+mn-cs"/>
            </a:endParaRPr>
          </a:p>
        </p:txBody>
      </p:sp>
      <p:sp>
        <p:nvSpPr>
          <p:cNvPr id="38" name="TextBox 37"/>
          <p:cNvSpPr txBox="1"/>
          <p:nvPr/>
        </p:nvSpPr>
        <p:spPr>
          <a:xfrm>
            <a:off x="5117691" y="206478"/>
            <a:ext cx="3078087" cy="584775"/>
          </a:xfrm>
          <a:prstGeom prst="rect">
            <a:avLst/>
          </a:prstGeom>
          <a:noFill/>
        </p:spPr>
        <p:txBody>
          <a:bodyPr wrap="none" rtlCol="0">
            <a:spAutoFit/>
          </a:bodyPr>
          <a:lstStyle/>
          <a:p>
            <a:r>
              <a:rPr lang="zh-CN" altLang="en-US" sz="3200" b="1" dirty="0" smtClean="0"/>
              <a:t>如何实现</a:t>
            </a:r>
            <a:r>
              <a:rPr lang="en-US" altLang="zh-CN" sz="3200" b="1" dirty="0" smtClean="0"/>
              <a:t>AI+OPS</a:t>
            </a:r>
            <a:endParaRPr lang="zh-CN" altLang="en-US" sz="3200" b="1" dirty="0"/>
          </a:p>
        </p:txBody>
      </p:sp>
      <p:sp>
        <p:nvSpPr>
          <p:cNvPr id="39" name="矩形 38"/>
          <p:cNvSpPr/>
          <p:nvPr/>
        </p:nvSpPr>
        <p:spPr>
          <a:xfrm>
            <a:off x="530937" y="1828800"/>
            <a:ext cx="4454013" cy="4093428"/>
          </a:xfrm>
          <a:prstGeom prst="rect">
            <a:avLst/>
          </a:prstGeom>
        </p:spPr>
        <p:txBody>
          <a:bodyPr wrap="square">
            <a:spAutoFit/>
          </a:bodyPr>
          <a:lstStyle/>
          <a:p>
            <a:pPr>
              <a:lnSpc>
                <a:spcPct val="200000"/>
              </a:lnSpc>
              <a:buFont typeface="Arial" pitchFamily="34" charset="0"/>
              <a:buChar char="•"/>
            </a:pPr>
            <a:r>
              <a:rPr lang="zh-CN" altLang="en-US" dirty="0" smtClean="0"/>
              <a:t>在</a:t>
            </a:r>
            <a:r>
              <a:rPr lang="zh-CN" altLang="zh-CN" dirty="0" smtClean="0"/>
              <a:t>自动化运维的基础上</a:t>
            </a:r>
            <a:r>
              <a:rPr lang="zh-CN" altLang="en-US" sz="2000" b="1" dirty="0" smtClean="0"/>
              <a:t>引入</a:t>
            </a:r>
            <a:r>
              <a:rPr lang="zh-CN" altLang="zh-CN" sz="2000" b="1" dirty="0" smtClean="0"/>
              <a:t>人工智能技术的机器学习</a:t>
            </a:r>
            <a:r>
              <a:rPr lang="zh-CN" altLang="zh-CN" dirty="0" smtClean="0"/>
              <a:t>学科。</a:t>
            </a:r>
            <a:endParaRPr lang="en-US" altLang="zh-CN" dirty="0" smtClean="0"/>
          </a:p>
          <a:p>
            <a:pPr>
              <a:lnSpc>
                <a:spcPct val="200000"/>
              </a:lnSpc>
              <a:buFont typeface="Arial" pitchFamily="34" charset="0"/>
              <a:buChar char="•"/>
            </a:pPr>
            <a:r>
              <a:rPr lang="zh-CN" altLang="en-US" dirty="0" smtClean="0">
                <a:solidFill>
                  <a:prstClr val="black"/>
                </a:solidFill>
              </a:rPr>
              <a:t>结合网络专家解决问题经验，从海量运维数据中不断地学习，不断地提炼并总结规则。</a:t>
            </a:r>
            <a:endParaRPr lang="en-US" altLang="zh-CN" dirty="0" smtClean="0">
              <a:solidFill>
                <a:prstClr val="black"/>
              </a:solidFill>
            </a:endParaRPr>
          </a:p>
          <a:p>
            <a:pPr>
              <a:lnSpc>
                <a:spcPct val="200000"/>
              </a:lnSpc>
              <a:buFont typeface="Arial" pitchFamily="34" charset="0"/>
              <a:buChar char="•"/>
            </a:pPr>
            <a:r>
              <a:rPr lang="zh-CN" altLang="zh-CN" dirty="0" smtClean="0"/>
              <a:t>积累更多的算法模型。解决更多网络应用场景的问题。最后实现智能运维的目标。</a:t>
            </a:r>
            <a:endParaRPr lang="zh-CN" altLang="zh-CN" dirty="0"/>
          </a:p>
        </p:txBody>
      </p:sp>
    </p:spTree>
    <p:extLst>
      <p:ext uri="{BB962C8B-B14F-4D97-AF65-F5344CB8AC3E}">
        <p14:creationId xmlns="" xmlns:p14="http://schemas.microsoft.com/office/powerpoint/2010/main" val="39705322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5"/>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7"/>
                                        </p:tgtEl>
                                        <p:attrNameLst>
                                          <p:attrName>style.visibility</p:attrName>
                                        </p:attrNameLst>
                                      </p:cBhvr>
                                      <p:to>
                                        <p:strVal val="visible"/>
                                      </p:to>
                                    </p:set>
                                  </p:childTnLst>
                                </p:cTn>
                              </p:par>
                              <p:par>
                                <p:cTn id="20" presetID="22" presetClass="entr" presetSubtype="4"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4"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down)">
                                      <p:cBhvr>
                                        <p:cTn id="31" dur="500"/>
                                        <p:tgtEl>
                                          <p:spTgt spid="20"/>
                                        </p:tgtEl>
                                      </p:cBhvr>
                                    </p:animEffect>
                                  </p:childTnLst>
                                </p:cTn>
                              </p:par>
                              <p:par>
                                <p:cTn id="32" presetID="22" presetClass="entr" presetSubtype="4"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500"/>
                                        <p:tgtEl>
                                          <p:spTgt spid="24"/>
                                        </p:tgtEl>
                                      </p:cBhvr>
                                    </p:animEffect>
                                  </p:childTnLst>
                                </p:cTn>
                              </p:par>
                              <p:par>
                                <p:cTn id="38" presetID="22" presetClass="entr" presetSubtype="4"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500"/>
                                        <p:tgtEl>
                                          <p:spTgt spid="25"/>
                                        </p:tgtEl>
                                      </p:cBhvr>
                                    </p:animEffect>
                                  </p:childTnLst>
                                </p:cTn>
                              </p:par>
                              <p:par>
                                <p:cTn id="41" presetID="22" presetClass="entr" presetSubtype="4"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wipe(down)">
                                      <p:cBhvr>
                                        <p:cTn id="46" dur="500"/>
                                        <p:tgtEl>
                                          <p:spTgt spid="33"/>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wipe(down)">
                                      <p:cBhvr>
                                        <p:cTn id="49" dur="500"/>
                                        <p:tgtEl>
                                          <p:spTgt spid="34"/>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down)">
                                      <p:cBhvr>
                                        <p:cTn id="5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4" grpId="0" animBg="1"/>
      <p:bldP spid="33" grpId="0"/>
      <p:bldP spid="34"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059884" y="2607616"/>
            <a:ext cx="8470450" cy="2862322"/>
          </a:xfrm>
          <a:prstGeom prst="rect">
            <a:avLst/>
          </a:prstGeom>
        </p:spPr>
        <p:txBody>
          <a:bodyPr wrap="square">
            <a:spAutoFit/>
          </a:bodyPr>
          <a:lstStyle/>
          <a:p>
            <a:pPr>
              <a:lnSpc>
                <a:spcPct val="150000"/>
              </a:lnSpc>
            </a:pPr>
            <a:r>
              <a:rPr lang="zh-CN" altLang="zh-CN" sz="2400" dirty="0" smtClean="0"/>
              <a:t>机器学习是对能通过经验自动改进的计算机算法的研究，是</a:t>
            </a:r>
            <a:r>
              <a:rPr lang="en-US" altLang="zh-CN" sz="2400" dirty="0" err="1" smtClean="0">
                <a:hlinkClick r:id="rId2"/>
              </a:rPr>
              <a:t>人工智能</a:t>
            </a:r>
            <a:r>
              <a:rPr lang="zh-CN" altLang="zh-CN" sz="2400" dirty="0" smtClean="0"/>
              <a:t>的核心，是使计算机具有智能的根本途径，其应用遍及人工智能的各个领域。最主要的应用领域有：专家系统、认知模拟、规划和问题求解、</a:t>
            </a:r>
            <a:r>
              <a:rPr lang="en-US" altLang="zh-CN" sz="2400" dirty="0" err="1" smtClean="0">
                <a:hlinkClick r:id="rId3"/>
              </a:rPr>
              <a:t>数据挖掘</a:t>
            </a:r>
            <a:r>
              <a:rPr lang="zh-CN" altLang="zh-CN" sz="2400" dirty="0" smtClean="0"/>
              <a:t>、</a:t>
            </a:r>
            <a:r>
              <a:rPr lang="zh-CN" altLang="zh-CN" sz="2400" dirty="0" smtClean="0">
                <a:hlinkClick r:id="rId3"/>
              </a:rPr>
              <a:t>网络信息服务、</a:t>
            </a:r>
            <a:r>
              <a:rPr lang="zh-CN" altLang="zh-CN" sz="2400" dirty="0" smtClean="0"/>
              <a:t>图象识别、</a:t>
            </a:r>
            <a:r>
              <a:rPr lang="zh-CN" altLang="zh-CN" sz="2400" dirty="0" smtClean="0">
                <a:hlinkClick r:id="rId3"/>
              </a:rPr>
              <a:t>故障诊断、</a:t>
            </a:r>
            <a:r>
              <a:rPr lang="zh-CN" altLang="zh-CN" sz="2400" dirty="0" smtClean="0"/>
              <a:t>自然语言理解、机器人和博弈等领域。</a:t>
            </a:r>
            <a:endParaRPr lang="zh-CN" altLang="zh-CN" sz="2400" dirty="0"/>
          </a:p>
        </p:txBody>
      </p:sp>
      <p:sp>
        <p:nvSpPr>
          <p:cNvPr id="8" name="TextBox 7"/>
          <p:cNvSpPr txBox="1"/>
          <p:nvPr/>
        </p:nvSpPr>
        <p:spPr>
          <a:xfrm>
            <a:off x="4306529" y="1430594"/>
            <a:ext cx="3467616" cy="584775"/>
          </a:xfrm>
          <a:prstGeom prst="rect">
            <a:avLst/>
          </a:prstGeom>
          <a:noFill/>
        </p:spPr>
        <p:txBody>
          <a:bodyPr wrap="none" rtlCol="0">
            <a:spAutoFit/>
          </a:bodyPr>
          <a:lstStyle/>
          <a:p>
            <a:pPr lvl="0"/>
            <a:r>
              <a:rPr lang="zh-CN" altLang="zh-CN" sz="3200" dirty="0" smtClean="0"/>
              <a:t>什么是机器学习</a:t>
            </a:r>
            <a:r>
              <a:rPr lang="zh-CN" altLang="en-US" sz="3200" dirty="0" smtClean="0"/>
              <a:t>？</a:t>
            </a:r>
            <a:endParaRPr lang="zh-CN" altLang="zh-CN" sz="3200" dirty="0" smtClean="0"/>
          </a:p>
        </p:txBody>
      </p:sp>
    </p:spTree>
    <p:extLst>
      <p:ext uri="{BB962C8B-B14F-4D97-AF65-F5344CB8AC3E}">
        <p14:creationId xmlns="" xmlns:p14="http://schemas.microsoft.com/office/powerpoint/2010/main" val="1750128556"/>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076626" y="2374485"/>
            <a:ext cx="5368413" cy="3698064"/>
          </a:xfrm>
          <a:prstGeom prst="rect">
            <a:avLst/>
          </a:prstGeom>
        </p:spPr>
        <p:txBody>
          <a:bodyPr wrap="square">
            <a:spAutoFit/>
          </a:bodyPr>
          <a:lstStyle/>
          <a:p>
            <a:pPr>
              <a:lnSpc>
                <a:spcPct val="200000"/>
              </a:lnSpc>
            </a:pPr>
            <a:r>
              <a:rPr lang="zh-CN" altLang="zh-CN" sz="2000" dirty="0" smtClean="0"/>
              <a:t>一般算法，输入数据然后进行计算得出结果。</a:t>
            </a:r>
            <a:r>
              <a:rPr lang="zh-CN" altLang="zh-CN" sz="2000" b="1" dirty="0" smtClean="0"/>
              <a:t>机器学习的算法</a:t>
            </a:r>
            <a:r>
              <a:rPr lang="zh-CN" altLang="zh-CN" sz="2000" dirty="0" smtClean="0"/>
              <a:t>，输入数据及想要的结果，输出的是算法模型，即将数据转化成结果的算法模型。通过机器学习，计算机能够自己生成模型，进而提供相应的判断。达到某种人工智能的结果的实现。</a:t>
            </a:r>
            <a:endParaRPr lang="zh-CN" altLang="zh-CN" sz="2000" dirty="0"/>
          </a:p>
        </p:txBody>
      </p:sp>
      <p:sp>
        <p:nvSpPr>
          <p:cNvPr id="8" name="TextBox 7"/>
          <p:cNvSpPr txBox="1"/>
          <p:nvPr/>
        </p:nvSpPr>
        <p:spPr>
          <a:xfrm>
            <a:off x="4350774" y="1002891"/>
            <a:ext cx="3467616" cy="584775"/>
          </a:xfrm>
          <a:prstGeom prst="rect">
            <a:avLst/>
          </a:prstGeom>
          <a:noFill/>
        </p:spPr>
        <p:txBody>
          <a:bodyPr wrap="none" rtlCol="0">
            <a:spAutoFit/>
          </a:bodyPr>
          <a:lstStyle/>
          <a:p>
            <a:pPr lvl="0"/>
            <a:r>
              <a:rPr lang="zh-CN" altLang="zh-CN" sz="3200" dirty="0" smtClean="0"/>
              <a:t>什么是机器学习</a:t>
            </a:r>
            <a:r>
              <a:rPr lang="zh-CN" altLang="en-US" sz="3200" dirty="0" smtClean="0"/>
              <a:t>？</a:t>
            </a:r>
            <a:endParaRPr lang="zh-CN" altLang="zh-CN" sz="3200" dirty="0" smtClean="0"/>
          </a:p>
        </p:txBody>
      </p:sp>
      <p:pic>
        <p:nvPicPr>
          <p:cNvPr id="64515" name="Picture 3" descr="http://epaper.guilinlife.com/glwb/images/2017-01/03/20/20g31_b.jpg"/>
          <p:cNvPicPr>
            <a:picLocks noChangeAspect="1" noChangeArrowheads="1"/>
          </p:cNvPicPr>
          <p:nvPr/>
        </p:nvPicPr>
        <p:blipFill>
          <a:blip r:embed="rId2" cstate="print"/>
          <a:srcRect/>
          <a:stretch>
            <a:fillRect/>
          </a:stretch>
        </p:blipFill>
        <p:spPr bwMode="auto">
          <a:xfrm>
            <a:off x="7429500" y="3299850"/>
            <a:ext cx="4762500" cy="3238500"/>
          </a:xfrm>
          <a:prstGeom prst="rect">
            <a:avLst/>
          </a:prstGeom>
          <a:noFill/>
        </p:spPr>
      </p:pic>
      <p:sp>
        <p:nvSpPr>
          <p:cNvPr id="9" name="矩形 8"/>
          <p:cNvSpPr/>
          <p:nvPr/>
        </p:nvSpPr>
        <p:spPr>
          <a:xfrm>
            <a:off x="7344697" y="1979193"/>
            <a:ext cx="4847303" cy="1477328"/>
          </a:xfrm>
          <a:prstGeom prst="rect">
            <a:avLst/>
          </a:prstGeom>
        </p:spPr>
        <p:txBody>
          <a:bodyPr wrap="square">
            <a:spAutoFit/>
          </a:bodyPr>
          <a:lstStyle/>
          <a:p>
            <a:pPr>
              <a:lnSpc>
                <a:spcPct val="150000"/>
              </a:lnSpc>
            </a:pPr>
            <a:r>
              <a:rPr lang="zh-CN" altLang="zh-CN" sz="2000" b="1" dirty="0" smtClean="0"/>
              <a:t>机器学习最基本的做法，是使用算法来解析数据、从中学习，然后对真实世界中的事件做出决策和预测</a:t>
            </a:r>
            <a:r>
              <a:rPr lang="zh-CN" altLang="zh-CN" sz="2000" dirty="0" smtClean="0"/>
              <a:t>。</a:t>
            </a:r>
          </a:p>
        </p:txBody>
      </p:sp>
    </p:spTree>
    <p:extLst>
      <p:ext uri="{BB962C8B-B14F-4D97-AF65-F5344CB8AC3E}">
        <p14:creationId xmlns="" xmlns:p14="http://schemas.microsoft.com/office/powerpoint/2010/main" val="1750128556"/>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rgbClr val="FFFF00"/>
                </a:solidFill>
              </a:rPr>
              <a:t>PART</a:t>
            </a:r>
            <a:r>
              <a:rPr kumimoji="1" lang="zh-CN" altLang="en-US" sz="2800" b="1" dirty="0">
                <a:solidFill>
                  <a:srgbClr val="FFFF00"/>
                </a:solidFill>
              </a:rPr>
              <a:t> </a:t>
            </a:r>
            <a:r>
              <a:rPr kumimoji="1" lang="en-US" altLang="zh-CN" sz="2800" b="1" dirty="0" smtClean="0">
                <a:solidFill>
                  <a:srgbClr val="FFFF00"/>
                </a:solidFill>
              </a:rPr>
              <a:t>THREE</a:t>
            </a:r>
            <a:endParaRPr kumimoji="1" lang="zh-CN" altLang="en-US" sz="2800" b="1" dirty="0">
              <a:solidFill>
                <a:srgbClr val="FFFF00"/>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3579176" cy="584775"/>
          </a:xfrm>
          <a:prstGeom prst="rect">
            <a:avLst/>
          </a:prstGeom>
          <a:noFill/>
        </p:spPr>
        <p:txBody>
          <a:bodyPr wrap="square" rtlCol="0">
            <a:spAutoFit/>
          </a:bodyPr>
          <a:lstStyle/>
          <a:p>
            <a:r>
              <a:rPr lang="zh-CN" altLang="zh-CN" sz="3200" b="1" dirty="0" smtClean="0">
                <a:latin typeface="微软雅黑" panose="020B0503020204020204" charset="-122"/>
                <a:ea typeface="微软雅黑" panose="020B0503020204020204" charset="-122"/>
              </a:rPr>
              <a:t>平台建设思路</a:t>
            </a:r>
            <a:endParaRPr lang="zh-CN" altLang="zh-CN" sz="3200" b="1" dirty="0">
              <a:latin typeface="微软雅黑" panose="020B0503020204020204" charset="-122"/>
              <a:ea typeface="微软雅黑" panose="020B0503020204020204" charset="-122"/>
            </a:endParaRPr>
          </a:p>
        </p:txBody>
      </p:sp>
      <p:sp>
        <p:nvSpPr>
          <p:cNvPr id="10" name="矩形 9"/>
          <p:cNvSpPr/>
          <p:nvPr/>
        </p:nvSpPr>
        <p:spPr>
          <a:xfrm>
            <a:off x="3141406" y="766934"/>
            <a:ext cx="5058697" cy="828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chemeClr val="tx1"/>
                </a:solidFill>
              </a:rPr>
              <a:t>网络大脑运作思路</a:t>
            </a:r>
            <a:endParaRPr lang="zh-CN" altLang="en-US" sz="3600" b="1" dirty="0">
              <a:solidFill>
                <a:schemeClr val="tx1"/>
              </a:solidFill>
            </a:endParaRPr>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虚尾箭头 13"/>
          <p:cNvSpPr/>
          <p:nvPr/>
        </p:nvSpPr>
        <p:spPr>
          <a:xfrm>
            <a:off x="1356878" y="4923516"/>
            <a:ext cx="9550303" cy="1568201"/>
          </a:xfrm>
          <a:prstGeom prst="stripedRightArrow">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10800000" scaled="1"/>
            <a:tileRect/>
          </a:gradFill>
        </p:spPr>
        <p:txBody>
          <a:bodyPr wrap="square" lIns="68570" tIns="34289" rIns="68570" bIns="34289">
            <a:spAutoFit/>
          </a:bodyPr>
          <a:lstStyle/>
          <a:p>
            <a:pPr algn="ctr" defTabSz="685165">
              <a:lnSpc>
                <a:spcPct val="130000"/>
              </a:lnSpc>
            </a:pPr>
            <a:r>
              <a:rPr lang="zh-CN" altLang="en-US" sz="3600" dirty="0" smtClean="0">
                <a:solidFill>
                  <a:prstClr val="black">
                    <a:lumMod val="75000"/>
                    <a:lumOff val="25000"/>
                  </a:prstClr>
                </a:solidFill>
                <a:latin typeface="微软雅黑" panose="020B0503020204020204" pitchFamily="34" charset="-122"/>
                <a:ea typeface="微软雅黑" panose="020B0503020204020204" pitchFamily="34" charset="-122"/>
              </a:rPr>
              <a:t>以场景为导向</a:t>
            </a:r>
            <a:endParaRPr lang="zh-CN" altLang="en-US" sz="3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9" name="Oval 8"/>
          <p:cNvSpPr>
            <a:spLocks noChangeArrowheads="1"/>
          </p:cNvSpPr>
          <p:nvPr/>
        </p:nvSpPr>
        <p:spPr bwMode="auto">
          <a:xfrm>
            <a:off x="3013301" y="2963510"/>
            <a:ext cx="1086533" cy="1038065"/>
          </a:xfrm>
          <a:prstGeom prst="ellipse">
            <a:avLst/>
          </a:prstGeom>
          <a:gradFill rotWithShape="0">
            <a:gsLst>
              <a:gs pos="0">
                <a:srgbClr val="8A52C8"/>
              </a:gs>
              <a:gs pos="100000">
                <a:srgbClr val="2F1C44"/>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11" name="Oval 10"/>
          <p:cNvSpPr>
            <a:spLocks noChangeArrowheads="1"/>
          </p:cNvSpPr>
          <p:nvPr/>
        </p:nvSpPr>
        <p:spPr bwMode="auto">
          <a:xfrm>
            <a:off x="7290592" y="2963510"/>
            <a:ext cx="1085190" cy="1038064"/>
          </a:xfrm>
          <a:prstGeom prst="ellipse">
            <a:avLst/>
          </a:prstGeom>
          <a:gradFill rotWithShape="0">
            <a:gsLst>
              <a:gs pos="0">
                <a:srgbClr val="2F7ADF"/>
              </a:gs>
              <a:gs pos="100000">
                <a:srgbClr val="102B4F"/>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13" name="Oval 12"/>
          <p:cNvSpPr>
            <a:spLocks noChangeArrowheads="1"/>
          </p:cNvSpPr>
          <p:nvPr/>
        </p:nvSpPr>
        <p:spPr bwMode="auto">
          <a:xfrm>
            <a:off x="5179178" y="2963510"/>
            <a:ext cx="1026095" cy="1038065"/>
          </a:xfrm>
          <a:prstGeom prst="ellipse">
            <a:avLst/>
          </a:prstGeom>
          <a:gradFill rotWithShape="0">
            <a:gsLst>
              <a:gs pos="0">
                <a:srgbClr val="DD8739"/>
              </a:gs>
              <a:gs pos="100000">
                <a:srgbClr val="4B2E13"/>
              </a:gs>
            </a:gsLst>
            <a:path path="shape">
              <a:fillToRect l="50000" t="50000" r="50000" b="50000"/>
            </a:path>
          </a:gradFill>
          <a:ln w="9525">
            <a:noFill/>
            <a:round/>
            <a:headEnd/>
            <a:tailEnd/>
          </a:ln>
        </p:spPr>
        <p:txBody>
          <a:bodyPr wrap="none" anchor="ctr"/>
          <a:lstStyle/>
          <a:p>
            <a:pPr defTabSz="449263">
              <a:buClr>
                <a:srgbClr val="FFFFFF"/>
              </a:buClr>
              <a:buSzPct val="100000"/>
              <a:buFont typeface="Arial" charset="0"/>
              <a:buNone/>
            </a:pPr>
            <a:endParaRPr lang="zh-CN" altLang="en-US">
              <a:solidFill>
                <a:srgbClr val="FFFFFF"/>
              </a:solidFill>
            </a:endParaRPr>
          </a:p>
        </p:txBody>
      </p:sp>
      <p:sp>
        <p:nvSpPr>
          <p:cNvPr id="15" name="Text Box 14"/>
          <p:cNvSpPr txBox="1">
            <a:spLocks noChangeArrowheads="1"/>
          </p:cNvSpPr>
          <p:nvPr/>
        </p:nvSpPr>
        <p:spPr bwMode="auto">
          <a:xfrm>
            <a:off x="3138597" y="3212832"/>
            <a:ext cx="938995"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感知</a:t>
            </a:r>
            <a:endParaRPr lang="en-GB" altLang="zh-CN" sz="2400" b="1" dirty="0">
              <a:solidFill>
                <a:srgbClr val="FFFFFF"/>
              </a:solidFill>
              <a:latin typeface="Verdana" pitchFamily="34" charset="0"/>
            </a:endParaRPr>
          </a:p>
        </p:txBody>
      </p:sp>
      <p:sp>
        <p:nvSpPr>
          <p:cNvPr id="16" name="Text Box 15"/>
          <p:cNvSpPr txBox="1">
            <a:spLocks noChangeArrowheads="1"/>
          </p:cNvSpPr>
          <p:nvPr/>
        </p:nvSpPr>
        <p:spPr bwMode="auto">
          <a:xfrm>
            <a:off x="5287189" y="3212832"/>
            <a:ext cx="81007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决策</a:t>
            </a:r>
            <a:endParaRPr lang="en-GB" altLang="zh-CN" sz="2400" b="1" dirty="0">
              <a:solidFill>
                <a:srgbClr val="FFFFFF"/>
              </a:solidFill>
              <a:latin typeface="Verdana" pitchFamily="34" charset="0"/>
            </a:endParaRPr>
          </a:p>
        </p:txBody>
      </p:sp>
      <p:sp>
        <p:nvSpPr>
          <p:cNvPr id="17" name="Text Box 17"/>
          <p:cNvSpPr txBox="1">
            <a:spLocks noChangeArrowheads="1"/>
          </p:cNvSpPr>
          <p:nvPr/>
        </p:nvSpPr>
        <p:spPr bwMode="auto">
          <a:xfrm>
            <a:off x="7466782" y="3212832"/>
            <a:ext cx="841441" cy="463846"/>
          </a:xfrm>
          <a:prstGeom prst="rect">
            <a:avLst/>
          </a:prstGeom>
          <a:noFill/>
          <a:ln w="9525">
            <a:noFill/>
            <a:round/>
            <a:headEnd/>
            <a:tailEnd/>
          </a:ln>
        </p:spPr>
        <p:txBody>
          <a:bodyPr wrap="square" lIns="90000" tIns="46800" rIns="90000" bIns="46800">
            <a:spAutoFit/>
          </a:bodyPr>
          <a:lstStyle/>
          <a:p>
            <a:pPr defTabSz="449263" eaLnBrk="0" hangingPunct="0">
              <a:buClr>
                <a:srgbClr val="FFFFFF"/>
              </a:buClr>
              <a:buSzPct val="100000"/>
              <a:buFont typeface="Verdan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400" b="1" dirty="0" smtClean="0">
                <a:solidFill>
                  <a:srgbClr val="FFFFFF"/>
                </a:solidFill>
                <a:latin typeface="Verdana" pitchFamily="34" charset="0"/>
              </a:rPr>
              <a:t>控制</a:t>
            </a:r>
            <a:endParaRPr lang="en-GB" altLang="zh-CN" sz="2400" b="1" dirty="0">
              <a:solidFill>
                <a:srgbClr val="FFFFFF"/>
              </a:solidFill>
              <a:latin typeface="Verdana" pitchFamily="34" charset="0"/>
            </a:endParaRPr>
          </a:p>
        </p:txBody>
      </p:sp>
      <p:sp>
        <p:nvSpPr>
          <p:cNvPr id="19" name="虚尾箭头 18"/>
          <p:cNvSpPr/>
          <p:nvPr/>
        </p:nvSpPr>
        <p:spPr>
          <a:xfrm>
            <a:off x="8826721" y="2930749"/>
            <a:ext cx="1566041" cy="1103587"/>
          </a:xfrm>
          <a:prstGeom prst="striped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呈现输出</a:t>
            </a:r>
            <a:endParaRPr lang="zh-CN" altLang="en-US" dirty="0"/>
          </a:p>
        </p:txBody>
      </p:sp>
      <p:cxnSp>
        <p:nvCxnSpPr>
          <p:cNvPr id="21" name="直接箭头连接符 20"/>
          <p:cNvCxnSpPr/>
          <p:nvPr/>
        </p:nvCxnSpPr>
        <p:spPr>
          <a:xfrm flipV="1">
            <a:off x="4131484" y="3481003"/>
            <a:ext cx="1047694" cy="3079"/>
          </a:xfrm>
          <a:prstGeom prst="straightConnector1">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3" idx="6"/>
            <a:endCxn id="11" idx="2"/>
          </p:cNvCxnSpPr>
          <p:nvPr/>
        </p:nvCxnSpPr>
        <p:spPr>
          <a:xfrm flipV="1">
            <a:off x="6205273" y="3482542"/>
            <a:ext cx="1085319" cy="1"/>
          </a:xfrm>
          <a:prstGeom prst="straightConnector1">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1924204" y="3481003"/>
            <a:ext cx="1047694" cy="3079"/>
          </a:xfrm>
          <a:prstGeom prst="straightConnector1">
            <a:avLst/>
          </a:prstGeom>
          <a:ln w="25400">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887787" y="3052911"/>
            <a:ext cx="1005403" cy="338554"/>
          </a:xfrm>
          <a:prstGeom prst="rect">
            <a:avLst/>
          </a:prstGeom>
          <a:noFill/>
        </p:spPr>
        <p:txBody>
          <a:bodyPr wrap="none" rtlCol="0">
            <a:spAutoFit/>
          </a:bodyPr>
          <a:lstStyle/>
          <a:p>
            <a:r>
              <a:rPr lang="zh-CN" altLang="en-US" sz="1600" dirty="0" smtClean="0">
                <a:latin typeface="+mn-ea"/>
              </a:rPr>
              <a:t>信息捕获</a:t>
            </a:r>
            <a:endParaRPr lang="zh-CN" altLang="en-US" sz="1600" dirty="0">
              <a:latin typeface="+mn-ea"/>
            </a:endParaRPr>
          </a:p>
        </p:txBody>
      </p:sp>
      <p:sp>
        <p:nvSpPr>
          <p:cNvPr id="31" name="TextBox 30"/>
          <p:cNvSpPr txBox="1"/>
          <p:nvPr/>
        </p:nvSpPr>
        <p:spPr>
          <a:xfrm>
            <a:off x="4104907" y="3072579"/>
            <a:ext cx="1005403" cy="338554"/>
          </a:xfrm>
          <a:prstGeom prst="rect">
            <a:avLst/>
          </a:prstGeom>
          <a:noFill/>
        </p:spPr>
        <p:txBody>
          <a:bodyPr wrap="none" rtlCol="0">
            <a:spAutoFit/>
          </a:bodyPr>
          <a:lstStyle/>
          <a:p>
            <a:r>
              <a:rPr lang="zh-CN" altLang="en-US" sz="1600" dirty="0" smtClean="0">
                <a:latin typeface="+mn-ea"/>
              </a:rPr>
              <a:t>智能处理</a:t>
            </a:r>
            <a:endParaRPr lang="zh-CN" altLang="en-US" sz="1600" dirty="0">
              <a:latin typeface="+mn-ea"/>
            </a:endParaRPr>
          </a:p>
        </p:txBody>
      </p:sp>
      <p:sp>
        <p:nvSpPr>
          <p:cNvPr id="32" name="TextBox 31"/>
          <p:cNvSpPr txBox="1"/>
          <p:nvPr/>
        </p:nvSpPr>
        <p:spPr>
          <a:xfrm>
            <a:off x="6277783" y="3077499"/>
            <a:ext cx="1005403" cy="338554"/>
          </a:xfrm>
          <a:prstGeom prst="rect">
            <a:avLst/>
          </a:prstGeom>
          <a:noFill/>
        </p:spPr>
        <p:txBody>
          <a:bodyPr wrap="none" rtlCol="0">
            <a:spAutoFit/>
          </a:bodyPr>
          <a:lstStyle/>
          <a:p>
            <a:r>
              <a:rPr lang="zh-CN" altLang="en-US" sz="1600" dirty="0" smtClean="0">
                <a:latin typeface="+mn-ea"/>
              </a:rPr>
              <a:t>决策应用</a:t>
            </a:r>
            <a:endParaRPr lang="zh-CN" altLang="en-US" sz="1600" dirty="0">
              <a:latin typeface="+mn-ea"/>
            </a:endParaRPr>
          </a:p>
        </p:txBody>
      </p:sp>
    </p:spTree>
    <p:extLst>
      <p:ext uri="{BB962C8B-B14F-4D97-AF65-F5344CB8AC3E}">
        <p14:creationId xmlns=""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3549680" cy="584775"/>
          </a:xfrm>
          <a:prstGeom prst="rect">
            <a:avLst/>
          </a:prstGeom>
          <a:noFill/>
        </p:spPr>
        <p:txBody>
          <a:bodyPr wrap="square" rtlCol="0">
            <a:spAutoFit/>
          </a:bodyPr>
          <a:lstStyle/>
          <a:p>
            <a:r>
              <a:rPr lang="zh-CN" altLang="zh-CN" sz="3200" b="1" dirty="0" smtClean="0">
                <a:latin typeface="微软雅黑" panose="020B0503020204020204" charset="-122"/>
                <a:ea typeface="微软雅黑" panose="020B0503020204020204" charset="-122"/>
              </a:rPr>
              <a:t>平台建设思路</a:t>
            </a:r>
            <a:endParaRPr lang="zh-CN" altLang="zh-CN" sz="3200" b="1" dirty="0">
              <a:latin typeface="微软雅黑" panose="020B0503020204020204" charset="-122"/>
              <a:ea typeface="微软雅黑" panose="020B0503020204020204" charset="-122"/>
            </a:endParaRPr>
          </a:p>
        </p:txBody>
      </p:sp>
      <p:sp>
        <p:nvSpPr>
          <p:cNvPr id="10" name="矩形 9"/>
          <p:cNvSpPr/>
          <p:nvPr/>
        </p:nvSpPr>
        <p:spPr>
          <a:xfrm>
            <a:off x="3141406" y="766934"/>
            <a:ext cx="5058697" cy="828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chemeClr val="tx1"/>
                </a:solidFill>
              </a:rPr>
              <a:t>网络大脑结构推导</a:t>
            </a:r>
            <a:endParaRPr lang="zh-CN" altLang="en-US" sz="3600" b="1" dirty="0">
              <a:solidFill>
                <a:schemeClr val="tx1"/>
              </a:solidFill>
            </a:endParaRPr>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076638" y="2412683"/>
            <a:ext cx="10205884" cy="553998"/>
          </a:xfrm>
          <a:prstGeom prst="rect">
            <a:avLst/>
          </a:prstGeom>
        </p:spPr>
        <p:txBody>
          <a:bodyPr wrap="square">
            <a:spAutoFit/>
          </a:bodyPr>
          <a:lstStyle/>
          <a:p>
            <a:pPr>
              <a:lnSpc>
                <a:spcPct val="150000"/>
              </a:lnSpc>
            </a:pPr>
            <a:r>
              <a:rPr lang="zh-CN" altLang="zh-CN" sz="2000" b="1" dirty="0" smtClean="0"/>
              <a:t>我们通过建设智能运维平台打造珠海网络大脑。那么我们的网络大脑的结构是怎么样的呢？</a:t>
            </a:r>
            <a:endParaRPr lang="zh-CN" altLang="zh-CN" sz="2000" b="1" dirty="0"/>
          </a:p>
        </p:txBody>
      </p:sp>
      <p:graphicFrame>
        <p:nvGraphicFramePr>
          <p:cNvPr id="65538" name="Object 2"/>
          <p:cNvGraphicFramePr>
            <a:graphicFrameLocks noChangeAspect="1"/>
          </p:cNvGraphicFramePr>
          <p:nvPr/>
        </p:nvGraphicFramePr>
        <p:xfrm>
          <a:off x="5026383" y="3600706"/>
          <a:ext cx="1754187" cy="685800"/>
        </p:xfrm>
        <a:graphic>
          <a:graphicData uri="http://schemas.openxmlformats.org/presentationml/2006/ole">
            <p:oleObj spid="_x0000_s65538" name="包装程序外壳对象" showAsIcon="1" r:id="rId4" imgW="1754280" imgH="685440" progId="Package">
              <p:embed/>
            </p:oleObj>
          </a:graphicData>
        </a:graphic>
      </p:graphicFrame>
    </p:spTree>
    <p:extLst>
      <p:ext uri="{BB962C8B-B14F-4D97-AF65-F5344CB8AC3E}">
        <p14:creationId xmlns=""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512145" y="221278"/>
            <a:ext cx="4395881" cy="368300"/>
          </a:xfrm>
          <a:prstGeom prst="rect">
            <a:avLst/>
          </a:prstGeom>
          <a:noFill/>
        </p:spPr>
        <p:txBody>
          <a:bodyPr wrap="square" rtlCol="0">
            <a:spAutoFit/>
          </a:bodyPr>
          <a:lstStyle/>
          <a:p>
            <a:pPr algn="ctr"/>
            <a:r>
              <a:rPr lang="zh-CN" altLang="en-US" b="1" dirty="0" smtClean="0">
                <a:solidFill>
                  <a:srgbClr val="333F50"/>
                </a:solidFill>
              </a:rPr>
              <a:t>平台整体框架</a:t>
            </a:r>
            <a:endParaRPr lang="zh-CN" altLang="en-US" b="1"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9" name="矩形 8"/>
          <p:cNvSpPr/>
          <p:nvPr/>
        </p:nvSpPr>
        <p:spPr>
          <a:xfrm>
            <a:off x="176976" y="1123806"/>
            <a:ext cx="11842955" cy="1061829"/>
          </a:xfrm>
          <a:prstGeom prst="rect">
            <a:avLst/>
          </a:prstGeom>
        </p:spPr>
        <p:txBody>
          <a:bodyPr wrap="square">
            <a:spAutoFit/>
          </a:bodyPr>
          <a:lstStyle/>
          <a:p>
            <a:pPr lvl="0" algn="ctr">
              <a:lnSpc>
                <a:spcPct val="150000"/>
              </a:lnSpc>
            </a:pPr>
            <a:r>
              <a:rPr lang="zh-CN" altLang="zh-CN" sz="2400" b="1" dirty="0" smtClean="0"/>
              <a:t>要建成这个平台。我们需要建设搭建哪些系统？</a:t>
            </a:r>
          </a:p>
          <a:p>
            <a:pPr>
              <a:lnSpc>
                <a:spcPct val="150000"/>
              </a:lnSpc>
            </a:pPr>
            <a:r>
              <a:rPr lang="zh-CN" altLang="en-US" dirty="0" smtClean="0"/>
              <a:t>通过对网络大脑的推导，</a:t>
            </a:r>
            <a:r>
              <a:rPr lang="zh-CN" altLang="zh-CN" dirty="0" smtClean="0"/>
              <a:t>我们需要建设</a:t>
            </a:r>
            <a:r>
              <a:rPr lang="zh-CN" altLang="en-US" dirty="0" smtClean="0"/>
              <a:t>：</a:t>
            </a:r>
            <a:r>
              <a:rPr lang="zh-CN" altLang="zh-CN" dirty="0" smtClean="0"/>
              <a:t>感知系统，决策</a:t>
            </a:r>
            <a:r>
              <a:rPr lang="zh-CN" altLang="en-US" dirty="0" smtClean="0"/>
              <a:t>系统</a:t>
            </a:r>
            <a:r>
              <a:rPr lang="zh-CN" altLang="zh-CN" dirty="0" smtClean="0"/>
              <a:t>，控制系统</a:t>
            </a:r>
            <a:r>
              <a:rPr lang="zh-CN" altLang="en-US" dirty="0" smtClean="0"/>
              <a:t>，另外我们还需要建设应用中心、管理中心</a:t>
            </a:r>
            <a:endParaRPr lang="zh-CN" altLang="zh-CN" dirty="0"/>
          </a:p>
        </p:txBody>
      </p:sp>
      <p:sp>
        <p:nvSpPr>
          <p:cNvPr id="41" name="矩形 40"/>
          <p:cNvSpPr/>
          <p:nvPr/>
        </p:nvSpPr>
        <p:spPr>
          <a:xfrm>
            <a:off x="929148" y="5633890"/>
            <a:ext cx="1415846" cy="5604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数据源</a:t>
            </a:r>
            <a:endParaRPr lang="zh-CN" altLang="en-US" dirty="0"/>
          </a:p>
        </p:txBody>
      </p:sp>
      <p:sp>
        <p:nvSpPr>
          <p:cNvPr id="42" name="矩形 41"/>
          <p:cNvSpPr/>
          <p:nvPr/>
        </p:nvSpPr>
        <p:spPr>
          <a:xfrm>
            <a:off x="934068" y="4984961"/>
            <a:ext cx="1415846" cy="53094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感知系统</a:t>
            </a:r>
            <a:endParaRPr lang="zh-CN" altLang="en-US" dirty="0"/>
          </a:p>
        </p:txBody>
      </p:sp>
      <p:sp>
        <p:nvSpPr>
          <p:cNvPr id="43" name="矩形 42"/>
          <p:cNvSpPr/>
          <p:nvPr/>
        </p:nvSpPr>
        <p:spPr>
          <a:xfrm>
            <a:off x="934068" y="3264366"/>
            <a:ext cx="1415846" cy="164685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决策系统</a:t>
            </a:r>
            <a:endParaRPr lang="zh-CN" altLang="en-US" dirty="0"/>
          </a:p>
        </p:txBody>
      </p:sp>
      <p:sp>
        <p:nvSpPr>
          <p:cNvPr id="44" name="矩形 43"/>
          <p:cNvSpPr/>
          <p:nvPr/>
        </p:nvSpPr>
        <p:spPr>
          <a:xfrm>
            <a:off x="948813" y="2379412"/>
            <a:ext cx="1415846"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应用中心</a:t>
            </a:r>
            <a:endParaRPr lang="zh-CN" altLang="en-US" dirty="0"/>
          </a:p>
        </p:txBody>
      </p:sp>
      <p:sp>
        <p:nvSpPr>
          <p:cNvPr id="45" name="矩形 44"/>
          <p:cNvSpPr/>
          <p:nvPr/>
        </p:nvSpPr>
        <p:spPr>
          <a:xfrm>
            <a:off x="8578632" y="3259401"/>
            <a:ext cx="1415846" cy="16518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控制系统</a:t>
            </a:r>
            <a:endParaRPr lang="en-US" altLang="zh-CN" dirty="0" smtClean="0"/>
          </a:p>
          <a:p>
            <a:pPr algn="ctr"/>
            <a:endParaRPr lang="en-US" altLang="zh-CN" sz="1600" dirty="0" smtClean="0"/>
          </a:p>
          <a:p>
            <a:pPr algn="ctr"/>
            <a:r>
              <a:rPr lang="zh-CN" altLang="en-US" sz="1600" dirty="0" smtClean="0"/>
              <a:t>全景信息呈现</a:t>
            </a:r>
            <a:endParaRPr lang="en-US" altLang="zh-CN" sz="1600" dirty="0" smtClean="0"/>
          </a:p>
          <a:p>
            <a:pPr algn="ctr"/>
            <a:r>
              <a:rPr lang="zh-CN" altLang="en-US" sz="1600" dirty="0" smtClean="0"/>
              <a:t>决策结果执行</a:t>
            </a:r>
            <a:endParaRPr lang="en-US" altLang="zh-CN" sz="1600" dirty="0" smtClean="0"/>
          </a:p>
          <a:p>
            <a:pPr algn="ctr"/>
            <a:r>
              <a:rPr lang="zh-CN" altLang="en-US" sz="1600" dirty="0" smtClean="0"/>
              <a:t>事件日志</a:t>
            </a:r>
            <a:endParaRPr lang="zh-CN" altLang="en-US" sz="1600" dirty="0"/>
          </a:p>
        </p:txBody>
      </p:sp>
      <p:sp>
        <p:nvSpPr>
          <p:cNvPr id="46" name="矩形 45"/>
          <p:cNvSpPr/>
          <p:nvPr/>
        </p:nvSpPr>
        <p:spPr>
          <a:xfrm>
            <a:off x="2374491" y="2369580"/>
            <a:ext cx="7639664" cy="78166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运维场景应用、故障跟踪处理、信息查询、多维分析等</a:t>
            </a:r>
            <a:endParaRPr lang="zh-CN" altLang="en-US" dirty="0"/>
          </a:p>
        </p:txBody>
      </p:sp>
      <p:sp>
        <p:nvSpPr>
          <p:cNvPr id="47" name="矩形 46"/>
          <p:cNvSpPr/>
          <p:nvPr/>
        </p:nvSpPr>
        <p:spPr>
          <a:xfrm>
            <a:off x="2374490" y="5619134"/>
            <a:ext cx="8967020" cy="560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网络设备数据、监控设备数据、其他系统数据、台账数据</a:t>
            </a:r>
            <a:endParaRPr lang="zh-CN" altLang="en-US" dirty="0"/>
          </a:p>
        </p:txBody>
      </p:sp>
      <p:sp>
        <p:nvSpPr>
          <p:cNvPr id="48" name="矩形 47"/>
          <p:cNvSpPr/>
          <p:nvPr/>
        </p:nvSpPr>
        <p:spPr>
          <a:xfrm>
            <a:off x="2374490" y="4970212"/>
            <a:ext cx="7639665" cy="54567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数据采集、数据解码、数据存储</a:t>
            </a:r>
            <a:endParaRPr lang="zh-CN" altLang="en-US" dirty="0"/>
          </a:p>
        </p:txBody>
      </p:sp>
      <p:sp>
        <p:nvSpPr>
          <p:cNvPr id="49" name="矩形 48"/>
          <p:cNvSpPr/>
          <p:nvPr/>
        </p:nvSpPr>
        <p:spPr>
          <a:xfrm>
            <a:off x="2374490" y="3269232"/>
            <a:ext cx="6061587" cy="47686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配置管理</a:t>
            </a:r>
            <a:endParaRPr lang="zh-CN" altLang="en-US" dirty="0"/>
          </a:p>
        </p:txBody>
      </p:sp>
      <p:sp>
        <p:nvSpPr>
          <p:cNvPr id="50" name="矩形 49"/>
          <p:cNvSpPr/>
          <p:nvPr/>
        </p:nvSpPr>
        <p:spPr>
          <a:xfrm>
            <a:off x="10117381" y="2379413"/>
            <a:ext cx="1238861" cy="312174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管理中心 </a:t>
            </a:r>
            <a:endParaRPr lang="en-US" altLang="zh-CN" dirty="0" smtClean="0"/>
          </a:p>
          <a:p>
            <a:pPr algn="ctr"/>
            <a:endParaRPr lang="en-US" altLang="zh-CN" dirty="0" smtClean="0"/>
          </a:p>
          <a:p>
            <a:pPr algn="ctr"/>
            <a:r>
              <a:rPr lang="zh-CN" altLang="en-US" dirty="0" smtClean="0"/>
              <a:t>用户管理</a:t>
            </a:r>
            <a:endParaRPr lang="en-US" altLang="zh-CN" dirty="0" smtClean="0"/>
          </a:p>
          <a:p>
            <a:pPr algn="ctr"/>
            <a:r>
              <a:rPr lang="zh-CN" altLang="en-US" dirty="0" smtClean="0"/>
              <a:t>安全管理</a:t>
            </a:r>
            <a:endParaRPr lang="en-US" altLang="zh-CN" dirty="0" smtClean="0"/>
          </a:p>
          <a:p>
            <a:pPr algn="ctr"/>
            <a:r>
              <a:rPr lang="zh-CN" altLang="en-US" dirty="0" smtClean="0"/>
              <a:t>日志管理</a:t>
            </a:r>
            <a:endParaRPr lang="zh-CN" altLang="en-US" dirty="0"/>
          </a:p>
        </p:txBody>
      </p:sp>
      <p:sp>
        <p:nvSpPr>
          <p:cNvPr id="52" name="矩形 51"/>
          <p:cNvSpPr/>
          <p:nvPr/>
        </p:nvSpPr>
        <p:spPr>
          <a:xfrm>
            <a:off x="2374490" y="3805092"/>
            <a:ext cx="6076336" cy="53094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智库管理：算法库、模型库、特征库、机器学习机制</a:t>
            </a:r>
            <a:endParaRPr lang="zh-CN" altLang="en-US" dirty="0"/>
          </a:p>
        </p:txBody>
      </p:sp>
      <p:sp>
        <p:nvSpPr>
          <p:cNvPr id="53" name="矩形 52"/>
          <p:cNvSpPr/>
          <p:nvPr/>
        </p:nvSpPr>
        <p:spPr>
          <a:xfrm>
            <a:off x="2374490" y="4385191"/>
            <a:ext cx="6056670" cy="51127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大数据处理引擎、人工智能引擎、可视化呈现处理引擎</a:t>
            </a:r>
            <a:endParaRPr lang="zh-CN" altLang="en-US" dirty="0"/>
          </a:p>
        </p:txBody>
      </p:sp>
    </p:spTree>
    <p:extLst>
      <p:ext uri="{BB962C8B-B14F-4D97-AF65-F5344CB8AC3E}">
        <p14:creationId xmlns="" xmlns:p14="http://schemas.microsoft.com/office/powerpoint/2010/main" val="604773487"/>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220918" y="295037"/>
            <a:ext cx="1607585" cy="461665"/>
          </a:xfrm>
          <a:prstGeom prst="rect">
            <a:avLst/>
          </a:prstGeom>
          <a:noFill/>
        </p:spPr>
        <p:txBody>
          <a:bodyPr wrap="square" rtlCol="0">
            <a:spAutoFit/>
          </a:bodyPr>
          <a:lstStyle/>
          <a:p>
            <a:r>
              <a:rPr lang="zh-CN" altLang="en-US" sz="2400" b="1" dirty="0" smtClean="0">
                <a:solidFill>
                  <a:srgbClr val="333F50"/>
                </a:solidFill>
              </a:rPr>
              <a:t>感知系统</a:t>
            </a:r>
            <a:endParaRPr lang="zh-CN" altLang="en-US" sz="2400" b="1" dirty="0">
              <a:solidFill>
                <a:srgbClr val="333F50"/>
              </a:solidFill>
            </a:endParaRPr>
          </a:p>
        </p:txBody>
      </p:sp>
      <p:sp>
        <p:nvSpPr>
          <p:cNvPr id="12" name="文本框 11"/>
          <p:cNvSpPr txBox="1"/>
          <p:nvPr/>
        </p:nvSpPr>
        <p:spPr>
          <a:xfrm>
            <a:off x="235968" y="1409003"/>
            <a:ext cx="1107996" cy="369332"/>
          </a:xfrm>
          <a:prstGeom prst="rect">
            <a:avLst/>
          </a:prstGeom>
          <a:noFill/>
        </p:spPr>
        <p:txBody>
          <a:bodyPr wrap="none" rtlCol="0">
            <a:spAutoFit/>
          </a:bodyPr>
          <a:lstStyle/>
          <a:p>
            <a:r>
              <a:rPr lang="zh-CN" altLang="en-US" dirty="0" smtClean="0"/>
              <a:t>已有系统</a:t>
            </a:r>
            <a:endParaRPr lang="zh-CN" altLang="en-US" dirty="0"/>
          </a:p>
        </p:txBody>
      </p:sp>
      <p:pic>
        <p:nvPicPr>
          <p:cNvPr id="13" name="图片 12" descr="business_Card_47.481081081081px_1197727_easyicon.net"/>
          <p:cNvPicPr>
            <a:picLocks noChangeAspect="1"/>
          </p:cNvPicPr>
          <p:nvPr/>
        </p:nvPicPr>
        <p:blipFill>
          <a:blip r:embed="rId3" cstate="print"/>
          <a:stretch>
            <a:fillRect/>
          </a:stretch>
        </p:blipFill>
        <p:spPr>
          <a:xfrm>
            <a:off x="1633925" y="2250440"/>
            <a:ext cx="782955" cy="799465"/>
          </a:xfrm>
          <a:prstGeom prst="rect">
            <a:avLst/>
          </a:prstGeom>
        </p:spPr>
      </p:pic>
      <p:sp>
        <p:nvSpPr>
          <p:cNvPr id="14" name="文本框 13"/>
          <p:cNvSpPr txBox="1"/>
          <p:nvPr/>
        </p:nvSpPr>
        <p:spPr>
          <a:xfrm>
            <a:off x="235968" y="2554830"/>
            <a:ext cx="1107996" cy="369332"/>
          </a:xfrm>
          <a:prstGeom prst="rect">
            <a:avLst/>
          </a:prstGeom>
          <a:noFill/>
        </p:spPr>
        <p:txBody>
          <a:bodyPr wrap="none" rtlCol="0">
            <a:spAutoFit/>
          </a:bodyPr>
          <a:lstStyle/>
          <a:p>
            <a:r>
              <a:rPr lang="zh-CN" altLang="en-US" dirty="0" smtClean="0"/>
              <a:t>现有台账</a:t>
            </a:r>
            <a:endParaRPr lang="zh-CN" altLang="en-US" dirty="0"/>
          </a:p>
        </p:txBody>
      </p:sp>
      <p:pic>
        <p:nvPicPr>
          <p:cNvPr id="15" name="图片 14" descr="electronic_132.97691373026px_1156647_easyicon.net"/>
          <p:cNvPicPr>
            <a:picLocks noChangeAspect="1"/>
          </p:cNvPicPr>
          <p:nvPr/>
        </p:nvPicPr>
        <p:blipFill>
          <a:blip r:embed="rId4" cstate="print"/>
          <a:stretch>
            <a:fillRect/>
          </a:stretch>
        </p:blipFill>
        <p:spPr>
          <a:xfrm>
            <a:off x="1522165" y="4746625"/>
            <a:ext cx="1005840" cy="967740"/>
          </a:xfrm>
          <a:prstGeom prst="rect">
            <a:avLst/>
          </a:prstGeom>
        </p:spPr>
      </p:pic>
      <p:sp>
        <p:nvSpPr>
          <p:cNvPr id="16" name="文本框 15"/>
          <p:cNvSpPr txBox="1"/>
          <p:nvPr/>
        </p:nvSpPr>
        <p:spPr>
          <a:xfrm>
            <a:off x="235968" y="4916026"/>
            <a:ext cx="1107996" cy="369332"/>
          </a:xfrm>
          <a:prstGeom prst="rect">
            <a:avLst/>
          </a:prstGeom>
          <a:noFill/>
        </p:spPr>
        <p:txBody>
          <a:bodyPr wrap="none" rtlCol="0">
            <a:spAutoFit/>
          </a:bodyPr>
          <a:lstStyle/>
          <a:p>
            <a:r>
              <a:rPr lang="zh-CN" altLang="en-US" dirty="0" smtClean="0"/>
              <a:t>监测设备</a:t>
            </a:r>
            <a:endParaRPr lang="zh-CN" altLang="en-US" dirty="0"/>
          </a:p>
        </p:txBody>
      </p:sp>
      <p:sp>
        <p:nvSpPr>
          <p:cNvPr id="19" name="文本框 18"/>
          <p:cNvSpPr txBox="1"/>
          <p:nvPr/>
        </p:nvSpPr>
        <p:spPr>
          <a:xfrm>
            <a:off x="235968" y="3640371"/>
            <a:ext cx="1107996" cy="369332"/>
          </a:xfrm>
          <a:prstGeom prst="rect">
            <a:avLst/>
          </a:prstGeom>
          <a:noFill/>
        </p:spPr>
        <p:txBody>
          <a:bodyPr wrap="none" rtlCol="0">
            <a:spAutoFit/>
          </a:bodyPr>
          <a:lstStyle/>
          <a:p>
            <a:r>
              <a:rPr lang="zh-CN" altLang="en-US" dirty="0"/>
              <a:t>网</a:t>
            </a:r>
            <a:r>
              <a:rPr lang="zh-CN" altLang="en-US" dirty="0" smtClean="0"/>
              <a:t>络设备</a:t>
            </a:r>
            <a:endParaRPr lang="zh-CN" altLang="en-US" dirty="0"/>
          </a:p>
        </p:txBody>
      </p:sp>
      <p:pic>
        <p:nvPicPr>
          <p:cNvPr id="28" name="图片 27" descr="STORAGE_135.26977687627px_1199104_easyicon.net"/>
          <p:cNvPicPr>
            <a:picLocks noChangeAspect="1"/>
          </p:cNvPicPr>
          <p:nvPr/>
        </p:nvPicPr>
        <p:blipFill>
          <a:blip r:embed="rId5" cstate="print"/>
          <a:stretch>
            <a:fillRect/>
          </a:stretch>
        </p:blipFill>
        <p:spPr>
          <a:xfrm>
            <a:off x="9537455" y="2565720"/>
            <a:ext cx="1376680" cy="1305560"/>
          </a:xfrm>
          <a:prstGeom prst="rect">
            <a:avLst/>
          </a:prstGeom>
        </p:spPr>
      </p:pic>
      <p:sp>
        <p:nvSpPr>
          <p:cNvPr id="29" name="燕尾形箭头 28"/>
          <p:cNvSpPr/>
          <p:nvPr/>
        </p:nvSpPr>
        <p:spPr>
          <a:xfrm>
            <a:off x="8232387" y="3078316"/>
            <a:ext cx="99187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0" name="文本框 29"/>
          <p:cNvSpPr txBox="1"/>
          <p:nvPr/>
        </p:nvSpPr>
        <p:spPr>
          <a:xfrm>
            <a:off x="3675444" y="3689328"/>
            <a:ext cx="1554480" cy="368300"/>
          </a:xfrm>
          <a:prstGeom prst="rect">
            <a:avLst/>
          </a:prstGeom>
          <a:noFill/>
        </p:spPr>
        <p:txBody>
          <a:bodyPr wrap="none" rtlCol="0">
            <a:spAutoFit/>
          </a:bodyPr>
          <a:lstStyle/>
          <a:p>
            <a:r>
              <a:rPr lang="zh-CN" altLang="en-US" b="1" dirty="0">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6301494" y="4490125"/>
            <a:ext cx="15544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数据解码模块</a:t>
            </a:r>
          </a:p>
        </p:txBody>
      </p:sp>
      <p:sp>
        <p:nvSpPr>
          <p:cNvPr id="33" name="文本框 32"/>
          <p:cNvSpPr txBox="1"/>
          <p:nvPr/>
        </p:nvSpPr>
        <p:spPr>
          <a:xfrm>
            <a:off x="9448534" y="4519623"/>
            <a:ext cx="1554480" cy="368300"/>
          </a:xfrm>
          <a:prstGeom prst="rect">
            <a:avLst/>
          </a:prstGeom>
          <a:noFill/>
        </p:spPr>
        <p:txBody>
          <a:bodyPr wrap="none" rtlCol="0">
            <a:spAutoFit/>
          </a:bodyPr>
          <a:lstStyle/>
          <a:p>
            <a:r>
              <a:rPr lang="zh-CN" altLang="en-US" b="1" dirty="0">
                <a:solidFill>
                  <a:schemeClr val="accent1"/>
                </a:solidFill>
                <a:effectLst>
                  <a:outerShdw blurRad="38100" dist="25400" dir="5400000" algn="ctr" rotWithShape="0">
                    <a:srgbClr val="6E747A">
                      <a:alpha val="43000"/>
                    </a:srgbClr>
                  </a:outerShdw>
                </a:effectLst>
              </a:rPr>
              <a:t>数据存储模块</a:t>
            </a:r>
          </a:p>
        </p:txBody>
      </p:sp>
      <p:sp>
        <p:nvSpPr>
          <p:cNvPr id="35" name="文本框 29"/>
          <p:cNvSpPr txBox="1"/>
          <p:nvPr/>
        </p:nvSpPr>
        <p:spPr>
          <a:xfrm>
            <a:off x="1438605" y="6024494"/>
            <a:ext cx="877163" cy="369332"/>
          </a:xfrm>
          <a:prstGeom prst="rect">
            <a:avLst/>
          </a:prstGeom>
          <a:noFill/>
        </p:spPr>
        <p:txBody>
          <a:bodyPr wrap="none" rtlCol="0">
            <a:spAutoFit/>
          </a:bodyPr>
          <a:lstStyle/>
          <a:p>
            <a:r>
              <a:rPr lang="zh-CN" altLang="en-US" b="1" dirty="0" smtClean="0">
                <a:ln/>
                <a:solidFill>
                  <a:schemeClr val="accent1"/>
                </a:solidFill>
                <a:effectLst>
                  <a:outerShdw blurRad="38100" dist="25400" dir="5400000" algn="ctr" rotWithShape="0">
                    <a:srgbClr val="6E747A">
                      <a:alpha val="43000"/>
                    </a:srgbClr>
                  </a:outerShdw>
                </a:effectLst>
              </a:rPr>
              <a:t>数据源</a:t>
            </a:r>
            <a:endParaRPr lang="zh-CN" altLang="en-US" b="1" dirty="0">
              <a:ln/>
              <a:solidFill>
                <a:schemeClr val="accent1"/>
              </a:solidFill>
              <a:effectLst>
                <a:outerShdw blurRad="38100" dist="25400" dir="5400000" algn="ctr" rotWithShape="0">
                  <a:srgbClr val="6E747A">
                    <a:alpha val="43000"/>
                  </a:srgbClr>
                </a:outerShdw>
              </a:effectLst>
            </a:endParaRPr>
          </a:p>
        </p:txBody>
      </p:sp>
      <p:pic>
        <p:nvPicPr>
          <p:cNvPr id="66562" name="Picture 2"/>
          <p:cNvPicPr>
            <a:picLocks noChangeAspect="1" noChangeArrowheads="1"/>
          </p:cNvPicPr>
          <p:nvPr/>
        </p:nvPicPr>
        <p:blipFill>
          <a:blip r:embed="rId6" cstate="print"/>
          <a:srcRect/>
          <a:stretch>
            <a:fillRect/>
          </a:stretch>
        </p:blipFill>
        <p:spPr bwMode="auto">
          <a:xfrm>
            <a:off x="4101895" y="2781042"/>
            <a:ext cx="785640" cy="874917"/>
          </a:xfrm>
          <a:prstGeom prst="rect">
            <a:avLst/>
          </a:prstGeom>
          <a:noFill/>
          <a:ln w="9525">
            <a:noFill/>
            <a:miter lim="800000"/>
            <a:headEnd/>
            <a:tailEnd/>
          </a:ln>
        </p:spPr>
      </p:pic>
      <p:pic>
        <p:nvPicPr>
          <p:cNvPr id="66563" name="Picture 3"/>
          <p:cNvPicPr>
            <a:picLocks noChangeAspect="1" noChangeArrowheads="1"/>
          </p:cNvPicPr>
          <p:nvPr/>
        </p:nvPicPr>
        <p:blipFill>
          <a:blip r:embed="rId7" cstate="print"/>
          <a:srcRect/>
          <a:stretch>
            <a:fillRect/>
          </a:stretch>
        </p:blipFill>
        <p:spPr bwMode="auto">
          <a:xfrm>
            <a:off x="1622937" y="3271684"/>
            <a:ext cx="775827" cy="1241323"/>
          </a:xfrm>
          <a:prstGeom prst="rect">
            <a:avLst/>
          </a:prstGeom>
          <a:noFill/>
          <a:ln w="9525">
            <a:noFill/>
            <a:miter lim="800000"/>
            <a:headEnd/>
            <a:tailEnd/>
          </a:ln>
        </p:spPr>
      </p:pic>
      <p:pic>
        <p:nvPicPr>
          <p:cNvPr id="66564" name="Picture 4"/>
          <p:cNvPicPr>
            <a:picLocks noChangeAspect="1" noChangeArrowheads="1"/>
          </p:cNvPicPr>
          <p:nvPr/>
        </p:nvPicPr>
        <p:blipFill>
          <a:blip r:embed="rId8" cstate="print"/>
          <a:srcRect/>
          <a:stretch>
            <a:fillRect/>
          </a:stretch>
        </p:blipFill>
        <p:spPr bwMode="auto">
          <a:xfrm>
            <a:off x="1454406" y="911635"/>
            <a:ext cx="1171575" cy="1200150"/>
          </a:xfrm>
          <a:prstGeom prst="rect">
            <a:avLst/>
          </a:prstGeom>
          <a:noFill/>
          <a:ln w="9525">
            <a:noFill/>
            <a:miter lim="800000"/>
            <a:headEnd/>
            <a:tailEnd/>
          </a:ln>
        </p:spPr>
      </p:pic>
      <p:cxnSp>
        <p:nvCxnSpPr>
          <p:cNvPr id="42" name="肘形连接符 41"/>
          <p:cNvCxnSpPr>
            <a:stCxn id="66564" idx="3"/>
            <a:endCxn id="66562" idx="0"/>
          </p:cNvCxnSpPr>
          <p:nvPr/>
        </p:nvCxnSpPr>
        <p:spPr>
          <a:xfrm>
            <a:off x="2625981" y="1511710"/>
            <a:ext cx="1868734" cy="12693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44" name="肘形连接符 43"/>
          <p:cNvCxnSpPr>
            <a:stCxn id="13" idx="3"/>
            <a:endCxn id="66562" idx="1"/>
          </p:cNvCxnSpPr>
          <p:nvPr/>
        </p:nvCxnSpPr>
        <p:spPr>
          <a:xfrm>
            <a:off x="2416880" y="2650173"/>
            <a:ext cx="1685015" cy="56832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6" name="肘形连接符 45"/>
          <p:cNvCxnSpPr>
            <a:endCxn id="66562" idx="1"/>
          </p:cNvCxnSpPr>
          <p:nvPr/>
        </p:nvCxnSpPr>
        <p:spPr>
          <a:xfrm flipV="1">
            <a:off x="2492477" y="3218501"/>
            <a:ext cx="1609418" cy="70456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53" name="形状 52"/>
          <p:cNvCxnSpPr>
            <a:stCxn id="15" idx="3"/>
            <a:endCxn id="66562" idx="2"/>
          </p:cNvCxnSpPr>
          <p:nvPr/>
        </p:nvCxnSpPr>
        <p:spPr>
          <a:xfrm flipV="1">
            <a:off x="2528005" y="3655959"/>
            <a:ext cx="1966710" cy="157453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62"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pic>
        <p:nvPicPr>
          <p:cNvPr id="66565" name="Picture 5"/>
          <p:cNvPicPr>
            <a:picLocks noChangeAspect="1" noChangeArrowheads="1"/>
          </p:cNvPicPr>
          <p:nvPr/>
        </p:nvPicPr>
        <p:blipFill>
          <a:blip r:embed="rId9" cstate="print"/>
          <a:srcRect/>
          <a:stretch>
            <a:fillRect/>
          </a:stretch>
        </p:blipFill>
        <p:spPr bwMode="auto">
          <a:xfrm>
            <a:off x="6032095" y="2556080"/>
            <a:ext cx="1960458" cy="1476709"/>
          </a:xfrm>
          <a:prstGeom prst="rect">
            <a:avLst/>
          </a:prstGeom>
          <a:noFill/>
          <a:ln w="9525">
            <a:noFill/>
            <a:miter lim="800000"/>
            <a:headEnd/>
            <a:tailEnd/>
          </a:ln>
        </p:spPr>
      </p:pic>
      <p:sp>
        <p:nvSpPr>
          <p:cNvPr id="63" name="燕尾形箭头 62"/>
          <p:cNvSpPr/>
          <p:nvPr/>
        </p:nvSpPr>
        <p:spPr>
          <a:xfrm>
            <a:off x="4963162" y="3078316"/>
            <a:ext cx="991870" cy="357505"/>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64" name="TextBox 63"/>
          <p:cNvSpPr txBox="1"/>
          <p:nvPr/>
        </p:nvSpPr>
        <p:spPr>
          <a:xfrm>
            <a:off x="4675239" y="6076335"/>
            <a:ext cx="5493812" cy="369332"/>
          </a:xfrm>
          <a:prstGeom prst="rect">
            <a:avLst/>
          </a:prstGeom>
          <a:noFill/>
        </p:spPr>
        <p:txBody>
          <a:bodyPr wrap="none" rtlCol="0">
            <a:spAutoFit/>
          </a:bodyPr>
          <a:lstStyle/>
          <a:p>
            <a:r>
              <a:rPr lang="zh-CN" altLang="en-US" dirty="0" smtClean="0"/>
              <a:t>要实现全网信息呈现，首先需要获取全网的完整信息</a:t>
            </a:r>
            <a:endParaRPr lang="zh-CN" altLang="en-US" dirty="0"/>
          </a:p>
        </p:txBody>
      </p:sp>
      <p:sp>
        <p:nvSpPr>
          <p:cNvPr id="65" name="TextBox 64"/>
          <p:cNvSpPr txBox="1"/>
          <p:nvPr/>
        </p:nvSpPr>
        <p:spPr>
          <a:xfrm>
            <a:off x="8234530" y="816088"/>
            <a:ext cx="2698175" cy="523220"/>
          </a:xfrm>
          <a:prstGeom prst="rect">
            <a:avLst/>
          </a:prstGeom>
          <a:noFill/>
        </p:spPr>
        <p:txBody>
          <a:bodyPr wrap="none" rtlCol="0">
            <a:spAutoFit/>
          </a:bodyPr>
          <a:lstStyle/>
          <a:p>
            <a:r>
              <a:rPr lang="zh-CN" altLang="en-US" sz="2800" dirty="0" smtClean="0"/>
              <a:t>大数据如何来？</a:t>
            </a:r>
            <a:endParaRPr lang="zh-CN" altLang="en-US" sz="2800" dirty="0"/>
          </a:p>
        </p:txBody>
      </p:sp>
    </p:spTree>
    <p:extLst>
      <p:ext uri="{BB962C8B-B14F-4D97-AF65-F5344CB8AC3E}">
        <p14:creationId xmlns=""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数据采集模块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20902"/>
          </a:xfrm>
          <a:prstGeom prst="rect">
            <a:avLst/>
          </a:prstGeom>
          <a:noFill/>
        </p:spPr>
        <p:txBody>
          <a:bodyPr wrap="square" rtlCol="0">
            <a:spAutoFit/>
          </a:bodyPr>
          <a:lstStyle/>
          <a:p>
            <a:pPr indent="457200" algn="l">
              <a:lnSpc>
                <a:spcPct val="150000"/>
              </a:lnSpc>
            </a:pPr>
            <a:r>
              <a:rPr lang="zh-CN" altLang="en-US" b="1" dirty="0"/>
              <a:t>模块简介</a:t>
            </a:r>
          </a:p>
          <a:p>
            <a:pPr indent="457200" algn="l">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effectLst/>
                <a:latin typeface="微软雅黑" panose="020B0503020204020204" pitchFamily="34" charset="-122"/>
                <a:ea typeface="微软雅黑" panose="020B0503020204020204" pitchFamily="34" charset="-122"/>
                <a:sym typeface="+mn-ea"/>
              </a:rPr>
              <a:t>网络运维所需处理的数据包括用户、业务、网络、设备四种，</a:t>
            </a:r>
            <a:r>
              <a:rPr lang="zh-CN" dirty="0">
                <a:effectLst/>
                <a:latin typeface="微软雅黑" panose="020B0503020204020204" pitchFamily="34" charset="-122"/>
                <a:ea typeface="微软雅黑" panose="020B0503020204020204" pitchFamily="34" charset="-122"/>
                <a:sym typeface="+mn-ea"/>
              </a:rPr>
              <a:t>日常工作中</a:t>
            </a:r>
            <a:r>
              <a:rPr lang="zh-CN" altLang="en-US" dirty="0">
                <a:effectLst/>
                <a:latin typeface="微软雅黑" panose="020B0503020204020204" pitchFamily="34" charset="-122"/>
                <a:ea typeface="微软雅黑" panose="020B0503020204020204" pitchFamily="34" charset="-122"/>
                <a:sym typeface="+mn-ea"/>
              </a:rPr>
              <a:t>需要手工选定，无法实现自动下载，且不同源文件的存放位置不同，人工手工管理过于繁杂。采集系统可由用户自定义目标源，通过采集系统，可以实现多个源同时自动实时上传下载文件，解决了数据异源端口，手工下载不统一等繁杂问题。</a:t>
            </a:r>
            <a:endParaRPr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245235" y="4195764"/>
            <a:ext cx="9309735" cy="1338828"/>
          </a:xfrm>
          <a:prstGeom prst="rect">
            <a:avLst/>
          </a:prstGeom>
          <a:noFill/>
        </p:spPr>
        <p:txBody>
          <a:bodyPr wrap="square" rtlCol="0">
            <a:spAutoFit/>
          </a:bodyPr>
          <a:lstStyle/>
          <a:p>
            <a:pPr indent="457200" algn="l">
              <a:lnSpc>
                <a:spcPct val="150000"/>
              </a:lnSpc>
            </a:pPr>
            <a:r>
              <a:rPr lang="zh-CN" altLang="en-US" b="1" dirty="0"/>
              <a:t>模块功能</a:t>
            </a:r>
          </a:p>
          <a:p>
            <a:pPr indent="457200" algn="l">
              <a:lnSpc>
                <a:spcPct val="150000"/>
              </a:lnSpc>
            </a:pPr>
            <a:r>
              <a:rPr lang="zh-CN" altLang="en-US" dirty="0">
                <a:latin typeface="宋体" panose="02010600030101010101" pitchFamily="2" charset="-122"/>
                <a:ea typeface="宋体" panose="02010600030101010101" pitchFamily="2" charset="-122"/>
              </a:rPr>
              <a:t>    </a:t>
            </a:r>
            <a:r>
              <a:rPr lang="zh-CN" altLang="en-US" dirty="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a:t>
            </a:r>
            <a:r>
              <a:rPr lang="zh-CN" altLang="en-US" dirty="0">
                <a:latin typeface="微软雅黑" panose="020B0503020204020204" pitchFamily="34" charset="-122"/>
                <a:ea typeface="微软雅黑" panose="020B0503020204020204" pitchFamily="34" charset="-122"/>
                <a:sym typeface="+mn-ea"/>
              </a:rPr>
              <a:t>实时采集上传。</a:t>
            </a:r>
            <a:endParaRPr lang="zh-CN" altLang="en-US" dirty="0">
              <a:latin typeface="微软雅黑" panose="020B0503020204020204" pitchFamily="34" charset="-122"/>
              <a:ea typeface="微软雅黑" panose="020B0503020204020204" pitchFamily="34" charset="-122"/>
            </a:endParaRPr>
          </a:p>
        </p:txBody>
      </p:sp>
      <p:sp>
        <p:nvSpPr>
          <p:cNvPr id="10" name="文本框 6"/>
          <p:cNvSpPr txBox="1"/>
          <p:nvPr/>
        </p:nvSpPr>
        <p:spPr>
          <a:xfrm>
            <a:off x="5220918" y="295037"/>
            <a:ext cx="1607585" cy="461665"/>
          </a:xfrm>
          <a:prstGeom prst="rect">
            <a:avLst/>
          </a:prstGeom>
          <a:noFill/>
        </p:spPr>
        <p:txBody>
          <a:bodyPr wrap="square" rtlCol="0">
            <a:spAutoFit/>
          </a:bodyPr>
          <a:lstStyle/>
          <a:p>
            <a:r>
              <a:rPr lang="zh-CN" altLang="en-US" sz="2400" b="1" dirty="0" smtClean="0">
                <a:solidFill>
                  <a:srgbClr val="333F50"/>
                </a:solidFill>
              </a:rPr>
              <a:t>感知系统</a:t>
            </a:r>
            <a:endParaRPr lang="zh-CN" altLang="en-US" sz="2400" b="1" dirty="0">
              <a:solidFill>
                <a:srgbClr val="333F50"/>
              </a:solidFill>
            </a:endParaRPr>
          </a:p>
        </p:txBody>
      </p:sp>
    </p:spTree>
    <p:extLst>
      <p:ext uri="{BB962C8B-B14F-4D97-AF65-F5344CB8AC3E}">
        <p14:creationId xmlns="" xmlns:p14="http://schemas.microsoft.com/office/powerpoint/2010/main" val="2490286099"/>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数据解码模块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06878"/>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altLang="en-US" dirty="0">
                <a:effectLst/>
                <a:latin typeface="+mn-ea"/>
                <a:sym typeface="+mn-ea"/>
              </a:rPr>
              <a:t>通过采集系统采集到的相关数据保留着网管侧的源格式，有</a:t>
            </a:r>
            <a:r>
              <a:rPr lang="en-US" altLang="zh-CN" dirty="0">
                <a:effectLst/>
                <a:latin typeface="+mn-ea"/>
                <a:sym typeface="+mn-ea"/>
              </a:rPr>
              <a:t>xml</a:t>
            </a:r>
            <a:r>
              <a:rPr lang="zh-CN" altLang="en-US" dirty="0">
                <a:effectLst/>
                <a:latin typeface="+mn-ea"/>
                <a:sym typeface="+mn-ea"/>
              </a:rPr>
              <a:t>等格式的非结构化数据，不具备良好的数据交互接口。通过解码模块将多端异源数据经过不同规则解析</a:t>
            </a:r>
            <a:r>
              <a:rPr lang="en-US" altLang="zh-CN" dirty="0">
                <a:effectLst/>
                <a:latin typeface="+mn-ea"/>
                <a:sym typeface="+mn-ea"/>
              </a:rPr>
              <a:t>,</a:t>
            </a:r>
            <a:r>
              <a:rPr lang="zh-CN" altLang="en-US" dirty="0">
                <a:effectLst/>
                <a:latin typeface="+mn-ea"/>
                <a:sym typeface="+mn-ea"/>
              </a:rPr>
              <a:t>使得原本不规则的数据经过汇总重整，变成结构化的可读数据，最终上传至数据仓库。</a:t>
            </a:r>
            <a:endParaRPr lang="zh-CN" altLang="en-US" dirty="0">
              <a:latin typeface="+mn-ea"/>
            </a:endParaRPr>
          </a:p>
        </p:txBody>
      </p:sp>
      <p:sp>
        <p:nvSpPr>
          <p:cNvPr id="5" name="文本框 4"/>
          <p:cNvSpPr txBox="1"/>
          <p:nvPr/>
        </p:nvSpPr>
        <p:spPr>
          <a:xfrm>
            <a:off x="1245235" y="409696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文件归类</a:t>
            </a:r>
          </a:p>
          <a:p>
            <a:pPr indent="457200" algn="l">
              <a:lnSpc>
                <a:spcPct val="150000"/>
              </a:lnSpc>
            </a:pPr>
            <a:r>
              <a:rPr lang="zh-CN" altLang="en-US" dirty="0">
                <a:effectLst/>
                <a:latin typeface="+mn-ea"/>
                <a:sym typeface="+mn-ea"/>
              </a:rPr>
              <a:t>    汇总解析</a:t>
            </a:r>
          </a:p>
          <a:p>
            <a:pPr indent="457200" algn="l">
              <a:lnSpc>
                <a:spcPct val="150000"/>
              </a:lnSpc>
            </a:pPr>
            <a:r>
              <a:rPr lang="zh-CN" altLang="en-US" dirty="0">
                <a:effectLst/>
                <a:latin typeface="+mn-ea"/>
                <a:sym typeface="+mn-ea"/>
              </a:rPr>
              <a:t>    数据入库。</a:t>
            </a:r>
            <a:endParaRPr lang="zh-CN" altLang="en-US" dirty="0">
              <a:latin typeface="+mn-ea"/>
            </a:endParaRPr>
          </a:p>
        </p:txBody>
      </p:sp>
      <p:sp>
        <p:nvSpPr>
          <p:cNvPr id="9" name="文本框 6"/>
          <p:cNvSpPr txBox="1"/>
          <p:nvPr/>
        </p:nvSpPr>
        <p:spPr>
          <a:xfrm>
            <a:off x="5220918" y="295037"/>
            <a:ext cx="1607585" cy="461665"/>
          </a:xfrm>
          <a:prstGeom prst="rect">
            <a:avLst/>
          </a:prstGeom>
          <a:noFill/>
        </p:spPr>
        <p:txBody>
          <a:bodyPr wrap="square" rtlCol="0">
            <a:spAutoFit/>
          </a:bodyPr>
          <a:lstStyle/>
          <a:p>
            <a:r>
              <a:rPr lang="zh-CN" altLang="en-US" sz="2400" b="1" dirty="0" smtClean="0">
                <a:solidFill>
                  <a:srgbClr val="333F50"/>
                </a:solidFill>
              </a:rPr>
              <a:t>感知系统</a:t>
            </a:r>
            <a:endParaRPr lang="zh-CN" altLang="en-US" sz="2400" b="1" dirty="0">
              <a:solidFill>
                <a:srgbClr val="333F50"/>
              </a:solidFill>
            </a:endParaRPr>
          </a:p>
        </p:txBody>
      </p:sp>
    </p:spTree>
    <p:extLst>
      <p:ext uri="{BB962C8B-B14F-4D97-AF65-F5344CB8AC3E}">
        <p14:creationId xmlns="" xmlns:p14="http://schemas.microsoft.com/office/powerpoint/2010/main" val="1357939562"/>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数据存储模块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该模块是网络大脑的记忆区，存放上传后的汇总数据，由于</a:t>
            </a:r>
            <a:r>
              <a:rPr lang="zh-CN" altLang="en-US" dirty="0">
                <a:effectLst/>
                <a:latin typeface="+mn-ea"/>
                <a:sym typeface="+mn-ea"/>
              </a:rPr>
              <a:t>网络数据种类繁杂且体量巨大，需要结构化底层设计数据存储，以便于支撑数据的后期决策等应用。同时经验库通过人工干预和自主学习进行不断丰富完善。</a:t>
            </a:r>
            <a:endParaRPr lang="zh-CN" dirty="0">
              <a:latin typeface="+mn-ea"/>
            </a:endParaRPr>
          </a:p>
        </p:txBody>
      </p:sp>
      <p:sp>
        <p:nvSpPr>
          <p:cNvPr id="5" name="文本框 4"/>
          <p:cNvSpPr txBox="1"/>
          <p:nvPr/>
        </p:nvSpPr>
        <p:spPr>
          <a:xfrm>
            <a:off x="1245234" y="4208626"/>
            <a:ext cx="9309735" cy="1291379"/>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基础数据库：用于存放未加工的所有类型结构化数据</a:t>
            </a:r>
          </a:p>
          <a:p>
            <a:pPr indent="457200" algn="l">
              <a:lnSpc>
                <a:spcPct val="150000"/>
              </a:lnSpc>
            </a:pPr>
            <a:r>
              <a:rPr lang="zh-CN" altLang="en-US" dirty="0">
                <a:latin typeface="+mn-ea"/>
              </a:rPr>
              <a:t>    </a:t>
            </a:r>
            <a:r>
              <a:rPr lang="zh-CN" altLang="en-US" dirty="0">
                <a:effectLst/>
                <a:latin typeface="+mn-ea"/>
                <a:sym typeface="+mn-ea"/>
              </a:rPr>
              <a:t>经验库：算法库、模型库、场景库、指令库等</a:t>
            </a:r>
            <a:endParaRPr lang="zh-CN" altLang="en-US" dirty="0">
              <a:latin typeface="+mn-ea"/>
            </a:endParaRPr>
          </a:p>
        </p:txBody>
      </p:sp>
      <p:sp>
        <p:nvSpPr>
          <p:cNvPr id="9" name="文本框 6"/>
          <p:cNvSpPr txBox="1"/>
          <p:nvPr/>
        </p:nvSpPr>
        <p:spPr>
          <a:xfrm>
            <a:off x="5220918" y="295037"/>
            <a:ext cx="1607585" cy="461665"/>
          </a:xfrm>
          <a:prstGeom prst="rect">
            <a:avLst/>
          </a:prstGeom>
          <a:noFill/>
        </p:spPr>
        <p:txBody>
          <a:bodyPr wrap="square" rtlCol="0">
            <a:spAutoFit/>
          </a:bodyPr>
          <a:lstStyle/>
          <a:p>
            <a:r>
              <a:rPr lang="zh-CN" altLang="en-US" sz="2400" b="1" dirty="0" smtClean="0">
                <a:solidFill>
                  <a:srgbClr val="333F50"/>
                </a:solidFill>
              </a:rPr>
              <a:t>感知系统</a:t>
            </a:r>
            <a:endParaRPr lang="zh-CN" altLang="en-US" sz="2400" b="1" dirty="0">
              <a:solidFill>
                <a:srgbClr val="333F50"/>
              </a:solidFill>
            </a:endParaRPr>
          </a:p>
        </p:txBody>
      </p:sp>
    </p:spTree>
    <p:extLst>
      <p:ext uri="{BB962C8B-B14F-4D97-AF65-F5344CB8AC3E}">
        <p14:creationId xmlns="" xmlns:p14="http://schemas.microsoft.com/office/powerpoint/2010/main" val="2508229857"/>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220918" y="118061"/>
            <a:ext cx="1607585" cy="461665"/>
          </a:xfrm>
          <a:prstGeom prst="rect">
            <a:avLst/>
          </a:prstGeom>
          <a:noFill/>
        </p:spPr>
        <p:txBody>
          <a:bodyPr wrap="square" rtlCol="0">
            <a:spAutoFit/>
          </a:bodyPr>
          <a:lstStyle/>
          <a:p>
            <a:r>
              <a:rPr lang="zh-CN" altLang="en-US" sz="2400" b="1" dirty="0" smtClean="0">
                <a:solidFill>
                  <a:srgbClr val="333F50"/>
                </a:solidFill>
              </a:rPr>
              <a:t>决策系统</a:t>
            </a:r>
            <a:endParaRPr lang="zh-CN" altLang="en-US" sz="2400" b="1" dirty="0">
              <a:solidFill>
                <a:srgbClr val="333F50"/>
              </a:solidFill>
            </a:endParaRPr>
          </a:p>
        </p:txBody>
      </p:sp>
      <p:pic>
        <p:nvPicPr>
          <p:cNvPr id="67586" name="Picture 2"/>
          <p:cNvPicPr>
            <a:picLocks noChangeAspect="1" noChangeArrowheads="1"/>
          </p:cNvPicPr>
          <p:nvPr/>
        </p:nvPicPr>
        <p:blipFill>
          <a:blip r:embed="rId3" cstate="print"/>
          <a:srcRect/>
          <a:stretch>
            <a:fillRect/>
          </a:stretch>
        </p:blipFill>
        <p:spPr bwMode="auto">
          <a:xfrm>
            <a:off x="178931" y="1224112"/>
            <a:ext cx="11362122" cy="4970206"/>
          </a:xfrm>
          <a:prstGeom prst="rect">
            <a:avLst/>
          </a:prstGeom>
          <a:noFill/>
          <a:ln w="9525">
            <a:noFill/>
            <a:miter lim="800000"/>
            <a:headEnd/>
            <a:tailEnd/>
          </a:ln>
        </p:spPr>
      </p:pic>
      <p:sp>
        <p:nvSpPr>
          <p:cNvPr id="43"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Tree>
    <p:extLst>
      <p:ext uri="{BB962C8B-B14F-4D97-AF65-F5344CB8AC3E}">
        <p14:creationId xmlns=""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机器学习模块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6982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该模块是网络大脑执行决策的控制核心，以现有经验库为依据</a:t>
            </a:r>
            <a:r>
              <a:rPr lang="zh-CN" dirty="0" smtClean="0">
                <a:effectLst/>
                <a:latin typeface="+mn-ea"/>
                <a:sym typeface="+mn-ea"/>
              </a:rPr>
              <a:t>，</a:t>
            </a:r>
            <a:r>
              <a:rPr lang="zh-CN" altLang="en-US" dirty="0" smtClean="0">
                <a:effectLst/>
                <a:latin typeface="+mn-ea"/>
                <a:sym typeface="+mn-ea"/>
              </a:rPr>
              <a:t>包含了大量成熟的机器学习相关算法，</a:t>
            </a:r>
            <a:r>
              <a:rPr lang="zh-CN" altLang="en-US" dirty="0" smtClean="0">
                <a:latin typeface="+mn-ea"/>
                <a:sym typeface="+mn-ea"/>
              </a:rPr>
              <a:t>在现有的运维大数据上运行人工智能算法，挖掘数据与数据、数据与事件、事件与事件之间的关联分析，还包括数据模式发现及预测，通过生成的学习模型为上层模块的数据在线分析、异常检测等应用场景提供支撑。</a:t>
            </a:r>
            <a:endParaRPr lang="zh-CN" dirty="0">
              <a:latin typeface="+mn-ea"/>
            </a:endParaRPr>
          </a:p>
        </p:txBody>
      </p:sp>
      <p:sp>
        <p:nvSpPr>
          <p:cNvPr id="5" name="文本框 4"/>
          <p:cNvSpPr txBox="1"/>
          <p:nvPr/>
        </p:nvSpPr>
        <p:spPr>
          <a:xfrm>
            <a:off x="1245235" y="417159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规则制定</a:t>
            </a:r>
          </a:p>
          <a:p>
            <a:pPr indent="457200" algn="l">
              <a:lnSpc>
                <a:spcPct val="150000"/>
              </a:lnSpc>
            </a:pPr>
            <a:r>
              <a:rPr lang="zh-CN" altLang="en-US" dirty="0">
                <a:effectLst/>
                <a:latin typeface="+mn-ea"/>
                <a:sym typeface="+mn-ea"/>
              </a:rPr>
              <a:t>    风险评估</a:t>
            </a:r>
          </a:p>
          <a:p>
            <a:pPr indent="457200" algn="l">
              <a:lnSpc>
                <a:spcPct val="150000"/>
              </a:lnSpc>
            </a:pPr>
            <a:r>
              <a:rPr lang="zh-CN" altLang="en-US" dirty="0">
                <a:effectLst/>
                <a:latin typeface="+mn-ea"/>
                <a:sym typeface="+mn-ea"/>
              </a:rPr>
              <a:t>    行为选择。</a:t>
            </a:r>
            <a:endParaRPr lang="zh-CN" altLang="en-US" dirty="0">
              <a:latin typeface="+mn-ea"/>
            </a:endParaRPr>
          </a:p>
        </p:txBody>
      </p:sp>
      <p:sp>
        <p:nvSpPr>
          <p:cNvPr id="9" name="文本框 6"/>
          <p:cNvSpPr txBox="1"/>
          <p:nvPr/>
        </p:nvSpPr>
        <p:spPr>
          <a:xfrm>
            <a:off x="5220918" y="132809"/>
            <a:ext cx="1607585" cy="461665"/>
          </a:xfrm>
          <a:prstGeom prst="rect">
            <a:avLst/>
          </a:prstGeom>
          <a:noFill/>
        </p:spPr>
        <p:txBody>
          <a:bodyPr wrap="square" rtlCol="0">
            <a:spAutoFit/>
          </a:bodyPr>
          <a:lstStyle/>
          <a:p>
            <a:r>
              <a:rPr lang="zh-CN" altLang="en-US" sz="2400" b="1" dirty="0" smtClean="0">
                <a:solidFill>
                  <a:srgbClr val="333F50"/>
                </a:solidFill>
              </a:rPr>
              <a:t>决策系统</a:t>
            </a:r>
            <a:endParaRPr lang="zh-CN" altLang="en-US" sz="2400" b="1" dirty="0">
              <a:solidFill>
                <a:srgbClr val="333F50"/>
              </a:solidFill>
            </a:endParaRPr>
          </a:p>
        </p:txBody>
      </p:sp>
    </p:spTree>
    <p:extLst>
      <p:ext uri="{BB962C8B-B14F-4D97-AF65-F5344CB8AC3E}">
        <p14:creationId xmlns="" xmlns:p14="http://schemas.microsoft.com/office/powerpoint/2010/main" val="3274374161"/>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220918" y="191801"/>
            <a:ext cx="1607585" cy="461665"/>
          </a:xfrm>
          <a:prstGeom prst="rect">
            <a:avLst/>
          </a:prstGeom>
          <a:noFill/>
        </p:spPr>
        <p:txBody>
          <a:bodyPr wrap="square" rtlCol="0">
            <a:spAutoFit/>
          </a:bodyPr>
          <a:lstStyle/>
          <a:p>
            <a:r>
              <a:rPr lang="zh-CN" altLang="en-US" sz="2400" b="1" dirty="0" smtClean="0">
                <a:solidFill>
                  <a:srgbClr val="333F50"/>
                </a:solidFill>
              </a:rPr>
              <a:t>控制系统</a:t>
            </a:r>
            <a:endParaRPr lang="zh-CN" altLang="en-US" sz="2400" b="1" dirty="0">
              <a:solidFill>
                <a:srgbClr val="333F50"/>
              </a:solidFill>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pic>
        <p:nvPicPr>
          <p:cNvPr id="68610" name="Picture 2"/>
          <p:cNvPicPr>
            <a:picLocks noChangeAspect="1" noChangeArrowheads="1"/>
          </p:cNvPicPr>
          <p:nvPr/>
        </p:nvPicPr>
        <p:blipFill>
          <a:blip r:embed="rId3" cstate="print"/>
          <a:srcRect/>
          <a:stretch>
            <a:fillRect/>
          </a:stretch>
        </p:blipFill>
        <p:spPr bwMode="auto">
          <a:xfrm>
            <a:off x="2395538" y="1214438"/>
            <a:ext cx="7400925" cy="4429125"/>
          </a:xfrm>
          <a:prstGeom prst="rect">
            <a:avLst/>
          </a:prstGeom>
          <a:noFill/>
          <a:ln w="9525">
            <a:noFill/>
            <a:miter lim="800000"/>
            <a:headEnd/>
            <a:tailEnd/>
          </a:ln>
        </p:spPr>
      </p:pic>
    </p:spTree>
    <p:extLst>
      <p:ext uri="{BB962C8B-B14F-4D97-AF65-F5344CB8AC3E}">
        <p14:creationId xmlns=""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信息呈现模块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effectLst/>
                <a:latin typeface="+mn-ea"/>
                <a:sym typeface="+mn-ea"/>
              </a:rPr>
              <a:t>为了对网络进行综合全面的评价和分析，为科学高效的智能网络运维管理提供人为干预指导，我们需要利用数据可视化技术，实时呈现网络整体情况，为当下决策提供数据支撑，为运维工作提供强有力的指导作用</a:t>
            </a:r>
            <a:r>
              <a:rPr lang="zh-CN" altLang="en-US" dirty="0">
                <a:latin typeface="+mn-ea"/>
                <a:sym typeface="+mn-ea"/>
              </a:rPr>
              <a:t>。</a:t>
            </a:r>
            <a:endParaRPr lang="zh-CN" dirty="0">
              <a:latin typeface="+mn-ea"/>
            </a:endParaRPr>
          </a:p>
        </p:txBody>
      </p:sp>
      <p:sp>
        <p:nvSpPr>
          <p:cNvPr id="5" name="文本框 4"/>
          <p:cNvSpPr txBox="1"/>
          <p:nvPr/>
        </p:nvSpPr>
        <p:spPr>
          <a:xfrm>
            <a:off x="1245235" y="386938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网络全景概览</a:t>
            </a:r>
          </a:p>
          <a:p>
            <a:pPr indent="457200" algn="l">
              <a:lnSpc>
                <a:spcPct val="150000"/>
              </a:lnSpc>
            </a:pPr>
            <a:r>
              <a:rPr lang="zh-CN" altLang="en-US" dirty="0">
                <a:effectLst/>
                <a:latin typeface="+mn-ea"/>
                <a:sym typeface="+mn-ea"/>
              </a:rPr>
              <a:t>    指标量化评估与统计呈现</a:t>
            </a:r>
          </a:p>
          <a:p>
            <a:pPr indent="457200" algn="l">
              <a:lnSpc>
                <a:spcPct val="150000"/>
              </a:lnSpc>
            </a:pPr>
            <a:r>
              <a:rPr lang="zh-CN" altLang="en-US" dirty="0">
                <a:effectLst/>
                <a:latin typeface="+mn-ea"/>
                <a:sym typeface="+mn-ea"/>
              </a:rPr>
              <a:t>    设备拓扑结构呈现。</a:t>
            </a:r>
            <a:endParaRPr lang="zh-CN" altLang="en-US" dirty="0">
              <a:latin typeface="+mn-ea"/>
            </a:endParaRPr>
          </a:p>
        </p:txBody>
      </p:sp>
      <p:sp>
        <p:nvSpPr>
          <p:cNvPr id="9" name="文本框 6"/>
          <p:cNvSpPr txBox="1"/>
          <p:nvPr/>
        </p:nvSpPr>
        <p:spPr>
          <a:xfrm>
            <a:off x="5220918" y="118061"/>
            <a:ext cx="1607585" cy="461665"/>
          </a:xfrm>
          <a:prstGeom prst="rect">
            <a:avLst/>
          </a:prstGeom>
          <a:noFill/>
        </p:spPr>
        <p:txBody>
          <a:bodyPr wrap="square" rtlCol="0">
            <a:spAutoFit/>
          </a:bodyPr>
          <a:lstStyle/>
          <a:p>
            <a:r>
              <a:rPr lang="zh-CN" altLang="en-US" sz="2400" b="1" dirty="0" smtClean="0">
                <a:solidFill>
                  <a:srgbClr val="333F50"/>
                </a:solidFill>
              </a:rPr>
              <a:t>控制系统</a:t>
            </a:r>
            <a:endParaRPr lang="zh-CN" altLang="en-US" sz="2400" b="1" dirty="0">
              <a:solidFill>
                <a:srgbClr val="333F50"/>
              </a:solidFill>
            </a:endParaRPr>
          </a:p>
        </p:txBody>
      </p:sp>
    </p:spTree>
    <p:extLst>
      <p:ext uri="{BB962C8B-B14F-4D97-AF65-F5344CB8AC3E}">
        <p14:creationId xmlns="" xmlns:p14="http://schemas.microsoft.com/office/powerpoint/2010/main" val="3414754668"/>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cstate="print"/>
          <a:stretch>
            <a:fillRect/>
          </a:stretch>
        </p:blipFill>
        <p:spPr>
          <a:xfrm>
            <a:off x="1541379" y="932384"/>
            <a:ext cx="9459076" cy="4373346"/>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220918" y="118061"/>
            <a:ext cx="2212269" cy="461665"/>
          </a:xfrm>
          <a:prstGeom prst="rect">
            <a:avLst/>
          </a:prstGeom>
          <a:noFill/>
        </p:spPr>
        <p:txBody>
          <a:bodyPr wrap="square" rtlCol="0">
            <a:spAutoFit/>
          </a:bodyPr>
          <a:lstStyle/>
          <a:p>
            <a:pPr algn="ctr"/>
            <a:r>
              <a:rPr lang="zh-CN" altLang="en-US" sz="2400" b="1" dirty="0" smtClean="0">
                <a:solidFill>
                  <a:srgbClr val="333F50"/>
                </a:solidFill>
              </a:rPr>
              <a:t>网络全景图</a:t>
            </a:r>
            <a:endParaRPr lang="zh-CN" altLang="en-US" sz="2400" b="1" dirty="0">
              <a:solidFill>
                <a:srgbClr val="333F50"/>
              </a:solidFill>
            </a:endParaRP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8" name="TextBox 7"/>
          <p:cNvSpPr txBox="1"/>
          <p:nvPr/>
        </p:nvSpPr>
        <p:spPr>
          <a:xfrm>
            <a:off x="4513017" y="5692877"/>
            <a:ext cx="3788217" cy="369332"/>
          </a:xfrm>
          <a:prstGeom prst="rect">
            <a:avLst/>
          </a:prstGeom>
          <a:noFill/>
        </p:spPr>
        <p:txBody>
          <a:bodyPr wrap="none" rtlCol="0">
            <a:spAutoFit/>
          </a:bodyPr>
          <a:lstStyle/>
          <a:p>
            <a:r>
              <a:rPr lang="zh-CN" altLang="en-US" dirty="0" smtClean="0"/>
              <a:t>插入陈莹的驾驶窗视频演</a:t>
            </a:r>
            <a:r>
              <a:rPr lang="zh-CN" altLang="en-US" dirty="0" smtClean="0"/>
              <a:t>示</a:t>
            </a:r>
            <a:r>
              <a:rPr lang="en-US" altLang="zh-CN" dirty="0" smtClean="0"/>
              <a:t>(</a:t>
            </a:r>
            <a:r>
              <a:rPr lang="zh-CN" altLang="en-US" dirty="0" smtClean="0"/>
              <a:t>待制作</a:t>
            </a:r>
            <a:r>
              <a:rPr lang="en-US" altLang="zh-CN" dirty="0" smtClean="0"/>
              <a:t>)</a:t>
            </a:r>
            <a:endParaRPr lang="zh-CN" altLang="en-US" dirty="0"/>
          </a:p>
        </p:txBody>
      </p:sp>
    </p:spTree>
    <p:extLst>
      <p:ext uri="{BB962C8B-B14F-4D97-AF65-F5344CB8AC3E}">
        <p14:creationId xmlns=""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7315200" y="1356850"/>
            <a:ext cx="4645742" cy="458674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220918" y="118061"/>
            <a:ext cx="2212269" cy="461665"/>
          </a:xfrm>
          <a:prstGeom prst="rect">
            <a:avLst/>
          </a:prstGeom>
          <a:noFill/>
        </p:spPr>
        <p:txBody>
          <a:bodyPr wrap="square" rtlCol="0">
            <a:spAutoFit/>
          </a:bodyPr>
          <a:lstStyle/>
          <a:p>
            <a:pPr algn="ctr"/>
            <a:r>
              <a:rPr lang="zh-CN" altLang="en-US" sz="2400" b="1" dirty="0" smtClean="0">
                <a:solidFill>
                  <a:srgbClr val="333F50"/>
                </a:solidFill>
              </a:rPr>
              <a:t>应用中心</a:t>
            </a:r>
            <a:endParaRPr lang="zh-CN" altLang="en-US" sz="2400" b="1" dirty="0">
              <a:solidFill>
                <a:srgbClr val="333F50"/>
              </a:solidFill>
            </a:endParaRPr>
          </a:p>
        </p:txBody>
      </p:sp>
      <p:sp>
        <p:nvSpPr>
          <p:cNvPr id="9" name="文本框 7"/>
          <p:cNvSpPr txBox="1"/>
          <p:nvPr/>
        </p:nvSpPr>
        <p:spPr>
          <a:xfrm>
            <a:off x="624114" y="10310"/>
            <a:ext cx="3136725"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10" name="椭圆 9"/>
          <p:cNvSpPr/>
          <p:nvPr/>
        </p:nvSpPr>
        <p:spPr>
          <a:xfrm>
            <a:off x="8018199" y="2529338"/>
            <a:ext cx="781665" cy="7079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8018199" y="3588763"/>
            <a:ext cx="781665" cy="7079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259524" y="4252441"/>
            <a:ext cx="781665" cy="7079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0532801" y="3588763"/>
            <a:ext cx="781665" cy="7079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0532801" y="2529338"/>
            <a:ext cx="781665" cy="7079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9259524" y="1745216"/>
            <a:ext cx="781665" cy="7079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p:cNvSpPr txBox="1"/>
          <p:nvPr/>
        </p:nvSpPr>
        <p:spPr>
          <a:xfrm>
            <a:off x="9144000" y="5117691"/>
            <a:ext cx="1107996" cy="369332"/>
          </a:xfrm>
          <a:prstGeom prst="rect">
            <a:avLst/>
          </a:prstGeom>
          <a:noFill/>
        </p:spPr>
        <p:txBody>
          <a:bodyPr wrap="none" rtlCol="0">
            <a:spAutoFit/>
          </a:bodyPr>
          <a:lstStyle/>
          <a:p>
            <a:r>
              <a:rPr lang="zh-CN" altLang="en-US" dirty="0" smtClean="0"/>
              <a:t>场景应用</a:t>
            </a:r>
            <a:endParaRPr lang="zh-CN" altLang="en-US" dirty="0"/>
          </a:p>
        </p:txBody>
      </p:sp>
      <p:sp>
        <p:nvSpPr>
          <p:cNvPr id="17" name="TextBox 16"/>
          <p:cNvSpPr txBox="1"/>
          <p:nvPr/>
        </p:nvSpPr>
        <p:spPr>
          <a:xfrm>
            <a:off x="7880555" y="4340943"/>
            <a:ext cx="1107996" cy="369332"/>
          </a:xfrm>
          <a:prstGeom prst="rect">
            <a:avLst/>
          </a:prstGeom>
          <a:noFill/>
        </p:spPr>
        <p:txBody>
          <a:bodyPr wrap="none" rtlCol="0">
            <a:spAutoFit/>
          </a:bodyPr>
          <a:lstStyle/>
          <a:p>
            <a:r>
              <a:rPr lang="zh-CN" altLang="en-US" dirty="0" smtClean="0"/>
              <a:t>故障跟踪</a:t>
            </a:r>
            <a:endParaRPr lang="zh-CN" altLang="en-US" dirty="0"/>
          </a:p>
        </p:txBody>
      </p:sp>
      <p:sp>
        <p:nvSpPr>
          <p:cNvPr id="19" name="TextBox 18"/>
          <p:cNvSpPr txBox="1"/>
          <p:nvPr/>
        </p:nvSpPr>
        <p:spPr>
          <a:xfrm>
            <a:off x="7870723" y="3224981"/>
            <a:ext cx="1107996" cy="369332"/>
          </a:xfrm>
          <a:prstGeom prst="rect">
            <a:avLst/>
          </a:prstGeom>
          <a:noFill/>
        </p:spPr>
        <p:txBody>
          <a:bodyPr wrap="none" rtlCol="0">
            <a:spAutoFit/>
          </a:bodyPr>
          <a:lstStyle/>
          <a:p>
            <a:r>
              <a:rPr lang="zh-CN" altLang="en-US" dirty="0" smtClean="0"/>
              <a:t>信息查询</a:t>
            </a:r>
            <a:endParaRPr lang="zh-CN" altLang="en-US" dirty="0"/>
          </a:p>
        </p:txBody>
      </p:sp>
      <p:sp>
        <p:nvSpPr>
          <p:cNvPr id="20" name="TextBox 19"/>
          <p:cNvSpPr txBox="1"/>
          <p:nvPr/>
        </p:nvSpPr>
        <p:spPr>
          <a:xfrm>
            <a:off x="10392698" y="4360608"/>
            <a:ext cx="1107996" cy="369332"/>
          </a:xfrm>
          <a:prstGeom prst="rect">
            <a:avLst/>
          </a:prstGeom>
          <a:noFill/>
        </p:spPr>
        <p:txBody>
          <a:bodyPr wrap="none" rtlCol="0">
            <a:spAutoFit/>
          </a:bodyPr>
          <a:lstStyle/>
          <a:p>
            <a:r>
              <a:rPr lang="zh-CN" altLang="en-US" dirty="0" smtClean="0"/>
              <a:t>业务管理</a:t>
            </a:r>
            <a:endParaRPr lang="zh-CN" altLang="en-US" dirty="0"/>
          </a:p>
        </p:txBody>
      </p:sp>
      <p:sp>
        <p:nvSpPr>
          <p:cNvPr id="21" name="TextBox 20"/>
          <p:cNvSpPr txBox="1"/>
          <p:nvPr/>
        </p:nvSpPr>
        <p:spPr>
          <a:xfrm>
            <a:off x="10407445" y="3224981"/>
            <a:ext cx="1107996" cy="369332"/>
          </a:xfrm>
          <a:prstGeom prst="rect">
            <a:avLst/>
          </a:prstGeom>
          <a:noFill/>
        </p:spPr>
        <p:txBody>
          <a:bodyPr wrap="none" rtlCol="0">
            <a:spAutoFit/>
          </a:bodyPr>
          <a:lstStyle/>
          <a:p>
            <a:r>
              <a:rPr lang="zh-CN" altLang="en-US" dirty="0" smtClean="0"/>
              <a:t>多维分析</a:t>
            </a:r>
            <a:endParaRPr lang="zh-CN" altLang="en-US" dirty="0"/>
          </a:p>
        </p:txBody>
      </p:sp>
      <p:sp>
        <p:nvSpPr>
          <p:cNvPr id="22" name="TextBox 21"/>
          <p:cNvSpPr txBox="1"/>
          <p:nvPr/>
        </p:nvSpPr>
        <p:spPr>
          <a:xfrm>
            <a:off x="9109588" y="2546555"/>
            <a:ext cx="1107996" cy="369332"/>
          </a:xfrm>
          <a:prstGeom prst="rect">
            <a:avLst/>
          </a:prstGeom>
          <a:noFill/>
        </p:spPr>
        <p:txBody>
          <a:bodyPr wrap="none" rtlCol="0">
            <a:spAutoFit/>
          </a:bodyPr>
          <a:lstStyle/>
          <a:p>
            <a:r>
              <a:rPr lang="zh-CN" altLang="en-US" dirty="0" smtClean="0"/>
              <a:t>任务定制</a:t>
            </a:r>
            <a:endParaRPr lang="zh-CN" altLang="en-US" dirty="0"/>
          </a:p>
        </p:txBody>
      </p:sp>
      <p:sp>
        <p:nvSpPr>
          <p:cNvPr id="23" name="TextBox 22"/>
          <p:cNvSpPr txBox="1"/>
          <p:nvPr/>
        </p:nvSpPr>
        <p:spPr>
          <a:xfrm>
            <a:off x="1091396" y="2020540"/>
            <a:ext cx="5486375" cy="2862322"/>
          </a:xfrm>
          <a:prstGeom prst="rect">
            <a:avLst/>
          </a:prstGeom>
          <a:noFill/>
        </p:spPr>
        <p:txBody>
          <a:bodyPr wrap="square" rtlCol="0">
            <a:spAutoFit/>
          </a:bodyPr>
          <a:lstStyle/>
          <a:p>
            <a:pPr>
              <a:lnSpc>
                <a:spcPct val="200000"/>
              </a:lnSpc>
              <a:buFont typeface="Arial" pitchFamily="34" charset="0"/>
              <a:buChar char="•"/>
            </a:pPr>
            <a:r>
              <a:rPr lang="zh-CN" altLang="en-US" dirty="0" smtClean="0"/>
              <a:t>通过应用中心将数据挖掘分析应用于我们的运维工作中。</a:t>
            </a:r>
            <a:endParaRPr lang="en-US" altLang="zh-CN" dirty="0" smtClean="0"/>
          </a:p>
          <a:p>
            <a:pPr>
              <a:lnSpc>
                <a:spcPct val="200000"/>
              </a:lnSpc>
              <a:buFont typeface="Arial" pitchFamily="34" charset="0"/>
              <a:buChar char="•"/>
            </a:pPr>
            <a:r>
              <a:rPr lang="zh-CN" altLang="en-US" dirty="0" smtClean="0"/>
              <a:t>应用中心将围绕以场景为导向、以专业为枢纽、以数据为基础、以分析为手段、以解决问题为目的进行设计。</a:t>
            </a:r>
          </a:p>
        </p:txBody>
      </p:sp>
    </p:spTree>
    <p:extLst>
      <p:ext uri="{BB962C8B-B14F-4D97-AF65-F5344CB8AC3E}">
        <p14:creationId xmlns=""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业务管理</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58532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由于网维中心各部门数据的格式、类型等不同，数据无法有效的被整合、归类。数据管理及分析工作受操作人员工作时间和地域限制，数据存储与利用效率低，对同一指标进行分析时往往需要重复采集分析数据，增大了无效的测试工作量。业务查询模块为各部门提供开放的数据接口，解决工程人员查询、监控、管理数据的难点，</a:t>
            </a:r>
            <a:r>
              <a:rPr lang="zh-CN" altLang="en-US" dirty="0" smtClean="0">
                <a:latin typeface="+mn-ea"/>
                <a:sym typeface="+mn-ea"/>
              </a:rPr>
              <a:t>对</a:t>
            </a:r>
            <a:r>
              <a:rPr lang="zh-CN" altLang="en-US" dirty="0">
                <a:latin typeface="+mn-ea"/>
                <a:sym typeface="+mn-ea"/>
              </a:rPr>
              <a:t>业务</a:t>
            </a:r>
            <a:r>
              <a:rPr lang="zh-CN" altLang="en-US" dirty="0" smtClean="0">
                <a:latin typeface="+mn-ea"/>
                <a:sym typeface="+mn-ea"/>
              </a:rPr>
              <a:t>流量及用户体验情况</a:t>
            </a:r>
            <a:r>
              <a:rPr lang="zh-CN" altLang="en-US" dirty="0">
                <a:latin typeface="+mn-ea"/>
                <a:sym typeface="+mn-ea"/>
              </a:rPr>
              <a:t>进行实时主动的监控</a:t>
            </a:r>
            <a:r>
              <a:rPr lang="zh-CN" altLang="en-US" dirty="0" smtClean="0">
                <a:latin typeface="+mn-ea"/>
                <a:sym typeface="+mn-ea"/>
              </a:rPr>
              <a:t>管理，并按照分类周期性导出数据报表</a:t>
            </a:r>
            <a:r>
              <a:rPr lang="zh-CN" altLang="en-US" dirty="0">
                <a:latin typeface="+mn-ea"/>
                <a:sym typeface="+mn-ea"/>
              </a:rPr>
              <a:t>。</a:t>
            </a:r>
            <a:endParaRPr lang="zh-CN" dirty="0">
              <a:latin typeface="+mn-ea"/>
            </a:endParaRPr>
          </a:p>
        </p:txBody>
      </p:sp>
      <p:sp>
        <p:nvSpPr>
          <p:cNvPr id="5" name="文本框 4"/>
          <p:cNvSpPr txBox="1"/>
          <p:nvPr/>
        </p:nvSpPr>
        <p:spPr>
          <a:xfrm>
            <a:off x="1245234" y="4654997"/>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指标归类整合</a:t>
            </a:r>
          </a:p>
          <a:p>
            <a:pPr indent="457200" algn="l">
              <a:lnSpc>
                <a:spcPct val="150000"/>
              </a:lnSpc>
            </a:pPr>
            <a:r>
              <a:rPr lang="zh-CN" altLang="en-US" dirty="0">
                <a:effectLst/>
                <a:latin typeface="+mn-ea"/>
                <a:sym typeface="+mn-ea"/>
              </a:rPr>
              <a:t>    实时自主监控</a:t>
            </a:r>
          </a:p>
          <a:p>
            <a:pPr indent="457200" algn="l">
              <a:lnSpc>
                <a:spcPct val="150000"/>
              </a:lnSpc>
            </a:pPr>
            <a:r>
              <a:rPr lang="zh-CN" altLang="en-US" dirty="0">
                <a:effectLst/>
                <a:latin typeface="+mn-ea"/>
                <a:sym typeface="+mn-ea"/>
              </a:rPr>
              <a:t>    报表自动生成。</a:t>
            </a:r>
            <a:endParaRPr lang="zh-CN" altLang="en-US" dirty="0">
              <a:latin typeface="+mn-ea"/>
            </a:endParaRPr>
          </a:p>
        </p:txBody>
      </p:sp>
      <p:sp>
        <p:nvSpPr>
          <p:cNvPr id="9" name="文本框 6"/>
          <p:cNvSpPr txBox="1"/>
          <p:nvPr/>
        </p:nvSpPr>
        <p:spPr>
          <a:xfrm>
            <a:off x="5220918" y="118061"/>
            <a:ext cx="2212269" cy="461665"/>
          </a:xfrm>
          <a:prstGeom prst="rect">
            <a:avLst/>
          </a:prstGeom>
          <a:noFill/>
        </p:spPr>
        <p:txBody>
          <a:bodyPr wrap="square" rtlCol="0">
            <a:spAutoFit/>
          </a:bodyPr>
          <a:lstStyle/>
          <a:p>
            <a:pPr algn="ctr"/>
            <a:r>
              <a:rPr lang="zh-CN" altLang="en-US" sz="2400" b="1" dirty="0" smtClean="0">
                <a:solidFill>
                  <a:srgbClr val="333F50"/>
                </a:solidFill>
              </a:rPr>
              <a:t>应用中心</a:t>
            </a:r>
            <a:endParaRPr lang="zh-CN" altLang="en-US" sz="2400" b="1" dirty="0">
              <a:solidFill>
                <a:srgbClr val="333F50"/>
              </a:solidFill>
            </a:endParaRPr>
          </a:p>
        </p:txBody>
      </p:sp>
    </p:spTree>
    <p:extLst>
      <p:ext uri="{BB962C8B-B14F-4D97-AF65-F5344CB8AC3E}">
        <p14:creationId xmlns="" xmlns:p14="http://schemas.microsoft.com/office/powerpoint/2010/main" val="3999067076"/>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保障场景</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0540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该模块通过对历史数据建模分析，预测场景话务，评估资源瓶颈，主动优化调整，扭转传统场景保障只能被动监控应急处理的局面，可基于样本点的网络质量指标，自动统计问题小区与弱覆盖区域。</a:t>
            </a:r>
            <a:endParaRPr lang="zh-CN" dirty="0">
              <a:latin typeface="+mn-ea"/>
            </a:endParaRPr>
          </a:p>
        </p:txBody>
      </p:sp>
      <p:sp>
        <p:nvSpPr>
          <p:cNvPr id="5" name="文本框 4"/>
          <p:cNvSpPr txBox="1"/>
          <p:nvPr/>
        </p:nvSpPr>
        <p:spPr>
          <a:xfrm>
            <a:off x="1245235" y="4039235"/>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场景预测</a:t>
            </a:r>
          </a:p>
          <a:p>
            <a:pPr indent="457200" algn="l">
              <a:lnSpc>
                <a:spcPct val="150000"/>
              </a:lnSpc>
            </a:pPr>
            <a:r>
              <a:rPr lang="zh-CN" altLang="en-US" dirty="0">
                <a:effectLst/>
                <a:latin typeface="+mn-ea"/>
                <a:sym typeface="+mn-ea"/>
              </a:rPr>
              <a:t>    网络结构优化</a:t>
            </a:r>
          </a:p>
          <a:p>
            <a:pPr indent="457200" algn="l">
              <a:lnSpc>
                <a:spcPct val="150000"/>
              </a:lnSpc>
            </a:pPr>
            <a:r>
              <a:rPr lang="zh-CN" altLang="en-US" dirty="0">
                <a:effectLst/>
                <a:latin typeface="+mn-ea"/>
                <a:sym typeface="+mn-ea"/>
              </a:rPr>
              <a:t>    投诉预警与回溯分析</a:t>
            </a:r>
          </a:p>
          <a:p>
            <a:pPr indent="457200" algn="l">
              <a:lnSpc>
                <a:spcPct val="150000"/>
              </a:lnSpc>
            </a:pPr>
            <a:r>
              <a:rPr lang="zh-CN" altLang="en-US" dirty="0">
                <a:effectLst/>
                <a:latin typeface="+mn-ea"/>
                <a:sym typeface="+mn-ea"/>
              </a:rPr>
              <a:t>    重要场景应用。</a:t>
            </a:r>
            <a:endParaRPr lang="zh-CN" altLang="en-US" dirty="0">
              <a:latin typeface="+mn-ea"/>
            </a:endParaRPr>
          </a:p>
        </p:txBody>
      </p:sp>
      <p:sp>
        <p:nvSpPr>
          <p:cNvPr id="9" name="文本框 6"/>
          <p:cNvSpPr txBox="1"/>
          <p:nvPr/>
        </p:nvSpPr>
        <p:spPr>
          <a:xfrm>
            <a:off x="5220918" y="118061"/>
            <a:ext cx="2212269" cy="461665"/>
          </a:xfrm>
          <a:prstGeom prst="rect">
            <a:avLst/>
          </a:prstGeom>
          <a:noFill/>
        </p:spPr>
        <p:txBody>
          <a:bodyPr wrap="square" rtlCol="0">
            <a:spAutoFit/>
          </a:bodyPr>
          <a:lstStyle/>
          <a:p>
            <a:pPr algn="ctr"/>
            <a:r>
              <a:rPr lang="zh-CN" altLang="en-US" sz="2400" b="1" dirty="0" smtClean="0">
                <a:solidFill>
                  <a:srgbClr val="333F50"/>
                </a:solidFill>
              </a:rPr>
              <a:t>应用中心</a:t>
            </a:r>
            <a:endParaRPr lang="zh-CN" altLang="en-US" sz="2400" b="1" dirty="0">
              <a:solidFill>
                <a:srgbClr val="333F50"/>
              </a:solidFill>
            </a:endParaRPr>
          </a:p>
        </p:txBody>
      </p:sp>
    </p:spTree>
    <p:extLst>
      <p:ext uri="{BB962C8B-B14F-4D97-AF65-F5344CB8AC3E}">
        <p14:creationId xmlns="" xmlns:p14="http://schemas.microsoft.com/office/powerpoint/2010/main" val="3713701858"/>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1475700" cy="368300"/>
          </a:xfrm>
          <a:prstGeom prst="rect">
            <a:avLst/>
          </a:prstGeom>
          <a:noFill/>
        </p:spPr>
        <p:txBody>
          <a:bodyPr wrap="square" rtlCol="0">
            <a:spAutoFit/>
          </a:bodyPr>
          <a:lstStyle/>
          <a:p>
            <a:r>
              <a:rPr lang="zh-CN" altLang="en-US" dirty="0" smtClean="0">
                <a:solidFill>
                  <a:srgbClr val="333F50"/>
                </a:solidFill>
              </a:rPr>
              <a:t>故障跟踪</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20902"/>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业务管理模块监控到异常发生时需要进行故障处理，智慧网络运维平台可以实现智能化故障处理，通过业务管理进行实时异常检测，对检测到的异常按照故障传播链依次查找进行故障定位，然后利用模型匹配模块</a:t>
            </a:r>
            <a:r>
              <a:rPr lang="zh-CN" altLang="en-US" dirty="0" smtClean="0">
                <a:latin typeface="+mn-ea"/>
                <a:sym typeface="+mn-ea"/>
              </a:rPr>
              <a:t>查找预设经验库中解决方案，若存在则可以通过完善的自动化脚本对故障进行止损处理，否则上报至相关运维责任人员。</a:t>
            </a:r>
            <a:endParaRPr lang="zh-CN" dirty="0">
              <a:latin typeface="+mn-ea"/>
            </a:endParaRPr>
          </a:p>
        </p:txBody>
      </p:sp>
      <p:sp>
        <p:nvSpPr>
          <p:cNvPr id="5" name="文本框 4"/>
          <p:cNvSpPr txBox="1"/>
          <p:nvPr/>
        </p:nvSpPr>
        <p:spPr>
          <a:xfrm>
            <a:off x="1245234" y="3897396"/>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智能告警识别</a:t>
            </a:r>
          </a:p>
          <a:p>
            <a:pPr indent="457200" algn="l">
              <a:lnSpc>
                <a:spcPct val="150000"/>
              </a:lnSpc>
            </a:pPr>
            <a:r>
              <a:rPr lang="zh-CN" altLang="en-US" dirty="0">
                <a:effectLst/>
                <a:latin typeface="+mn-ea"/>
                <a:sym typeface="+mn-ea"/>
              </a:rPr>
              <a:t>    异常根因分析与故障定位</a:t>
            </a:r>
          </a:p>
          <a:p>
            <a:pPr indent="457200" algn="l">
              <a:lnSpc>
                <a:spcPct val="150000"/>
              </a:lnSpc>
            </a:pPr>
            <a:r>
              <a:rPr lang="zh-CN" altLang="en-US" dirty="0">
                <a:effectLst/>
                <a:latin typeface="+mn-ea"/>
                <a:sym typeface="+mn-ea"/>
              </a:rPr>
              <a:t>    自主故障处理</a:t>
            </a:r>
          </a:p>
          <a:p>
            <a:pPr indent="457200" algn="l">
              <a:lnSpc>
                <a:spcPct val="150000"/>
              </a:lnSpc>
            </a:pPr>
            <a:r>
              <a:rPr lang="zh-CN" altLang="en-US" dirty="0">
                <a:effectLst/>
                <a:latin typeface="+mn-ea"/>
                <a:sym typeface="+mn-ea"/>
              </a:rPr>
              <a:t>    故障告警上报。</a:t>
            </a:r>
            <a:endParaRPr lang="zh-CN" altLang="en-US" dirty="0">
              <a:latin typeface="+mn-ea"/>
            </a:endParaRPr>
          </a:p>
        </p:txBody>
      </p:sp>
      <p:sp>
        <p:nvSpPr>
          <p:cNvPr id="9" name="文本框 6"/>
          <p:cNvSpPr txBox="1"/>
          <p:nvPr/>
        </p:nvSpPr>
        <p:spPr>
          <a:xfrm>
            <a:off x="5220918" y="103313"/>
            <a:ext cx="2212269" cy="461665"/>
          </a:xfrm>
          <a:prstGeom prst="rect">
            <a:avLst/>
          </a:prstGeom>
          <a:noFill/>
        </p:spPr>
        <p:txBody>
          <a:bodyPr wrap="square" rtlCol="0">
            <a:spAutoFit/>
          </a:bodyPr>
          <a:lstStyle/>
          <a:p>
            <a:pPr algn="ctr"/>
            <a:r>
              <a:rPr lang="zh-CN" altLang="en-US" sz="2400" b="1" dirty="0" smtClean="0">
                <a:solidFill>
                  <a:srgbClr val="333F50"/>
                </a:solidFill>
              </a:rPr>
              <a:t>应用中心</a:t>
            </a:r>
            <a:endParaRPr lang="zh-CN" altLang="en-US" sz="2400" b="1" dirty="0">
              <a:solidFill>
                <a:srgbClr val="333F50"/>
              </a:solidFill>
            </a:endParaRPr>
          </a:p>
        </p:txBody>
      </p:sp>
    </p:spTree>
    <p:extLst>
      <p:ext uri="{BB962C8B-B14F-4D97-AF65-F5344CB8AC3E}">
        <p14:creationId xmlns="" xmlns:p14="http://schemas.microsoft.com/office/powerpoint/2010/main" val="1022080839"/>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rgbClr val="FFFF00"/>
                </a:solidFill>
              </a:rPr>
              <a:t>PART</a:t>
            </a:r>
            <a:r>
              <a:rPr kumimoji="1" lang="zh-CN" altLang="en-US" sz="2800" b="1" dirty="0" smtClean="0">
                <a:solidFill>
                  <a:srgbClr val="FFFF00"/>
                </a:solidFill>
              </a:rPr>
              <a:t> </a:t>
            </a:r>
            <a:r>
              <a:rPr kumimoji="1" lang="en-US" altLang="zh-CN" sz="2800" b="1" dirty="0" smtClean="0">
                <a:solidFill>
                  <a:srgbClr val="FFFF00"/>
                </a:solidFill>
              </a:rPr>
              <a:t>FOUR</a:t>
            </a:r>
            <a:endParaRPr kumimoji="1" lang="zh-CN" altLang="en-US" sz="2800" b="1" dirty="0">
              <a:solidFill>
                <a:srgbClr val="FFFF00"/>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124383" y="4715063"/>
            <a:ext cx="1326442" cy="452432"/>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建设规划</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建设规划</a:t>
            </a:r>
            <a:endParaRPr lang="zh-CN" altLang="en-US" sz="3200" b="1" dirty="0">
              <a:latin typeface="微软雅黑" panose="020B0503020204020204" pitchFamily="34" charset="-122"/>
              <a:ea typeface="微软雅黑" panose="020B0503020204020204" pitchFamily="34" charset="-122"/>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 xmlns:p14="http://schemas.microsoft.com/office/powerpoint/2010/main" val="1773551730"/>
      </p:ext>
    </p:extLst>
  </p:cSld>
  <p:clrMapOvr>
    <a:masterClrMapping/>
  </p:clrMapOvr>
  <p:transition spd="med">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2466</TotalTime>
  <Words>4510</Words>
  <Application>Microsoft Office PowerPoint</Application>
  <PresentationFormat>自定义</PresentationFormat>
  <Paragraphs>343</Paragraphs>
  <Slides>37</Slides>
  <Notes>19</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39" baseType="lpstr">
      <vt:lpstr>Office 主题</vt:lpstr>
      <vt:lpstr>程序包</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XTZJ</cp:lastModifiedBy>
  <cp:revision>227</cp:revision>
  <dcterms:created xsi:type="dcterms:W3CDTF">2015-08-05T01:47:03Z</dcterms:created>
  <dcterms:modified xsi:type="dcterms:W3CDTF">2018-01-19T09:01:16Z</dcterms:modified>
</cp:coreProperties>
</file>