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0" r:id="rId2"/>
    <p:sldId id="319" r:id="rId3"/>
    <p:sldId id="352" r:id="rId4"/>
    <p:sldId id="353" r:id="rId5"/>
    <p:sldId id="354" r:id="rId6"/>
    <p:sldId id="355" r:id="rId7"/>
    <p:sldId id="356" r:id="rId8"/>
    <p:sldId id="357" r:id="rId9"/>
    <p:sldId id="365" r:id="rId10"/>
    <p:sldId id="366" r:id="rId11"/>
    <p:sldId id="367" r:id="rId12"/>
    <p:sldId id="368" r:id="rId13"/>
    <p:sldId id="369" r:id="rId14"/>
    <p:sldId id="370" r:id="rId15"/>
    <p:sldId id="371" r:id="rId16"/>
    <p:sldId id="359" r:id="rId17"/>
    <p:sldId id="360" r:id="rId18"/>
    <p:sldId id="373" r:id="rId19"/>
    <p:sldId id="375" r:id="rId20"/>
    <p:sldId id="374" r:id="rId21"/>
    <p:sldId id="376" r:id="rId22"/>
    <p:sldId id="362" r:id="rId23"/>
    <p:sldId id="377" r:id="rId24"/>
    <p:sldId id="37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073"/>
    <a:srgbClr val="00AC4E"/>
    <a:srgbClr val="FFFFFF"/>
    <a:srgbClr val="007A37"/>
    <a:srgbClr val="00DE64"/>
    <a:srgbClr val="00B050"/>
    <a:srgbClr val="5EF1A4"/>
    <a:srgbClr val="E73A1C"/>
    <a:srgbClr val="333F50"/>
    <a:srgbClr val="2FFF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88084" autoAdjust="0"/>
  </p:normalViewPr>
  <p:slideViewPr>
    <p:cSldViewPr snapToGrid="0">
      <p:cViewPr varScale="1">
        <p:scale>
          <a:sx n="101" d="100"/>
          <a:sy n="101" d="100"/>
        </p:scale>
        <p:origin x="66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00036"/>
          <c:y val="2.502620854911048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系统问题原因</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C28-4C13-8753-E0BB95EA023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9C45-44FB-8E83-BCA8300560A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C28-4C13-8753-E0BB95EA0239}"/>
              </c:ext>
            </c:extLst>
          </c:dPt>
          <c:dLbls>
            <c:dLbl>
              <c:idx val="1"/>
              <c:layout/>
              <c:tx>
                <c:rich>
                  <a:bodyPr/>
                  <a:lstStyle/>
                  <a:p>
                    <a:fld id="{0EC5AB0B-A94E-43BE-8023-523628AC3C90}" type="PERCENTAGE">
                      <a:rPr lang="en-US" altLang="zh-CN">
                        <a:solidFill>
                          <a:schemeClr val="bg1"/>
                        </a:solidFill>
                      </a:rPr>
                      <a:pPr/>
                      <a:t>[百分比]</a:t>
                    </a:fld>
                    <a:endParaRPr lang="zh-CN" altLang="en-US"/>
                  </a:p>
                </c:rich>
              </c:tx>
              <c:dLblPos val="inEnd"/>
              <c:showLegendKey val="0"/>
              <c:showVal val="0"/>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9C45-44FB-8E83-BCA8300560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extLst>
            <c:ext xmlns:c16="http://schemas.microsoft.com/office/drawing/2014/chart" uri="{C3380CC4-5D6E-409C-BE32-E72D297353CC}">
              <c16:uniqueId val="{00000000-9C45-44FB-8E83-BCA8300560A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zh-CN" dirty="0" err="1" smtClean="0"/>
              <a:t>AIOps</a:t>
            </a:r>
            <a:r>
              <a:rPr lang="zh-CN" altLang="en-US" dirty="0" smtClean="0"/>
              <a:t>部署率</a:t>
            </a:r>
            <a:endParaRPr lang="en-US" altLang="zh-CN" dirty="0"/>
          </a:p>
        </c:rich>
      </c:tx>
      <c:layout>
        <c:manualLayout>
          <c:xMode val="edge"/>
          <c:yMode val="edge"/>
          <c:x val="0.37297791617620157"/>
          <c:y val="9.6519521263174531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7.9305548390727509E-2"/>
          <c:y val="0.15343411896676992"/>
          <c:w val="0.90906180085422905"/>
          <c:h val="0.6552801628729984"/>
        </c:manualLayout>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Sheet1!$A$2:$A$4</c:f>
              <c:strCache>
                <c:ptCount val="3"/>
                <c:pt idx="0">
                  <c:v>2016年</c:v>
                </c:pt>
                <c:pt idx="1">
                  <c:v>2019年</c:v>
                </c:pt>
                <c:pt idx="2">
                  <c:v>2020年</c:v>
                </c:pt>
              </c:strCache>
            </c:strRef>
          </c:cat>
          <c:val>
            <c:numRef>
              <c:f>Sheet1!$B$2:$B$4</c:f>
              <c:numCache>
                <c:formatCode>0%</c:formatCode>
                <c:ptCount val="3"/>
                <c:pt idx="0">
                  <c:v>0.08</c:v>
                </c:pt>
                <c:pt idx="1">
                  <c:v>0.25</c:v>
                </c:pt>
                <c:pt idx="2">
                  <c:v>0.56999999999999995</c:v>
                </c:pt>
              </c:numCache>
            </c:numRef>
          </c:val>
          <c:smooth val="0"/>
          <c:extLst>
            <c:ext xmlns:c16="http://schemas.microsoft.com/office/drawing/2014/chart" uri="{C3380CC4-5D6E-409C-BE32-E72D297353CC}">
              <c16:uniqueId val="{00000000-AAC4-4CFC-8D66-4B31D14EBCBD}"/>
            </c:ext>
          </c:extLst>
        </c:ser>
        <c:dLbls>
          <c:showLegendKey val="0"/>
          <c:showVal val="0"/>
          <c:showCatName val="0"/>
          <c:showSerName val="0"/>
          <c:showPercent val="0"/>
          <c:showBubbleSize val="0"/>
        </c:dLbls>
        <c:smooth val="0"/>
        <c:axId val="751153232"/>
        <c:axId val="751148656"/>
      </c:lineChart>
      <c:catAx>
        <c:axId val="75115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48656"/>
        <c:crosses val="autoZero"/>
        <c:auto val="1"/>
        <c:lblAlgn val="ctr"/>
        <c:lblOffset val="100"/>
        <c:noMultiLvlLbl val="0"/>
      </c:catAx>
      <c:valAx>
        <c:axId val="7511486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51153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60D5C615-17DF-411F-A041-5485DFD56AAC}">
      <dgm:prSet phldrT="[文本]"/>
      <dgm:spPr/>
      <dgm:t>
        <a:bodyPr/>
        <a:lstStyle/>
        <a:p>
          <a:r>
            <a:rPr lang="zh-CN" altLang="en-US" dirty="0" smtClean="0"/>
            <a:t>根因分析</a:t>
          </a:r>
          <a:endParaRPr lang="zh-CN" altLang="en-US" dirty="0"/>
        </a:p>
      </dgm:t>
    </dgm:pt>
    <dgm:pt modelId="{2C23044A-CDAF-436C-B7B9-1CBB10226378}" type="parTrans" cxnId="{D82F80EB-9B1E-48A0-810B-E1C902B931C7}">
      <dgm:prSet/>
      <dgm:spPr/>
      <dgm:t>
        <a:bodyPr/>
        <a:lstStyle/>
        <a:p>
          <a:endParaRPr lang="zh-CN" altLang="en-US"/>
        </a:p>
      </dgm:t>
    </dgm:pt>
    <dgm:pt modelId="{69F834AC-65D5-46E0-800B-A1529DFEB6D8}" type="sibTrans" cxnId="{D82F80EB-9B1E-48A0-810B-E1C902B931C7}">
      <dgm:prSet/>
      <dgm:spPr/>
      <dgm:t>
        <a:bodyPr/>
        <a:lstStyle/>
        <a:p>
          <a:endParaRPr lang="zh-CN" altLang="en-US"/>
        </a:p>
      </dgm:t>
    </dgm:pt>
    <dgm:pt modelId="{5329AF2C-097F-47E0-AA67-7FC48AB9D788}">
      <dgm:prSet phldrT="[文本]"/>
      <dgm:spPr/>
      <dgm:t>
        <a:bodyPr/>
        <a:lstStyle/>
        <a:p>
          <a:r>
            <a:rPr lang="zh-CN" altLang="en-US" dirty="0" smtClean="0"/>
            <a:t>异常检测</a:t>
          </a:r>
          <a:endParaRPr lang="zh-CN" altLang="en-US" dirty="0"/>
        </a:p>
      </dgm:t>
    </dgm:pt>
    <dgm:pt modelId="{34441EE5-B9A7-4F50-BD4F-50BC1A3E6323}" type="parTrans" cxnId="{CD61775C-66D8-4910-972F-FA53A2D20BB8}">
      <dgm:prSet/>
      <dgm:spPr/>
      <dgm:t>
        <a:bodyPr/>
        <a:lstStyle/>
        <a:p>
          <a:endParaRPr lang="zh-CN" altLang="en-US"/>
        </a:p>
      </dgm:t>
    </dgm:pt>
    <dgm:pt modelId="{558BA004-E7C3-4DD2-B287-DAFB008D4F07}" type="sibTrans" cxnId="{CD61775C-66D8-4910-972F-FA53A2D20BB8}">
      <dgm:prSet/>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53F80620-8E54-47BD-AD7E-D117019D0A6E}" type="pres">
      <dgm:prSet presAssocID="{60D5C615-17DF-411F-A041-5485DFD56AAC}" presName="hierRoot1" presStyleCnt="0"/>
      <dgm:spPr/>
    </dgm:pt>
    <dgm:pt modelId="{CEC13D98-20C8-4B81-B8BE-1054AE622680}" type="pres">
      <dgm:prSet presAssocID="{60D5C615-17DF-411F-A041-5485DFD56AAC}" presName="composite" presStyleCnt="0"/>
      <dgm:spPr/>
    </dgm:pt>
    <dgm:pt modelId="{18C80703-8DCF-497D-BAC9-622A223A992B}" type="pres">
      <dgm:prSet presAssocID="{60D5C615-17DF-411F-A041-5485DFD56AAC}" presName="background" presStyleLbl="node0" presStyleIdx="0" presStyleCnt="1"/>
      <dgm:spPr/>
    </dgm:pt>
    <dgm:pt modelId="{6E08CEA8-D17A-498B-8701-A6053CA1E2BA}" type="pres">
      <dgm:prSet presAssocID="{60D5C615-17DF-411F-A041-5485DFD56AAC}" presName="text" presStyleLbl="fgAcc0" presStyleIdx="0" presStyleCnt="1">
        <dgm:presLayoutVars>
          <dgm:chPref val="3"/>
        </dgm:presLayoutVars>
      </dgm:prSet>
      <dgm:spPr/>
      <dgm:t>
        <a:bodyPr/>
        <a:lstStyle/>
        <a:p>
          <a:endParaRPr lang="zh-CN" altLang="en-US"/>
        </a:p>
      </dgm:t>
    </dgm:pt>
    <dgm:pt modelId="{16846EED-FA01-4E13-B5A7-82A5424D3783}" type="pres">
      <dgm:prSet presAssocID="{60D5C615-17DF-411F-A041-5485DFD56AAC}" presName="hierChild2" presStyleCnt="0"/>
      <dgm:spPr/>
    </dgm:pt>
    <dgm:pt modelId="{BE0536CF-1697-4E5C-AF1B-0C790FBA2423}" type="pres">
      <dgm:prSet presAssocID="{34441EE5-B9A7-4F50-BD4F-50BC1A3E6323}" presName="Name10" presStyleLbl="parChTrans1D2" presStyleIdx="0" presStyleCnt="2"/>
      <dgm:spPr/>
      <dgm:t>
        <a:bodyPr/>
        <a:lstStyle/>
        <a:p>
          <a:endParaRPr lang="zh-CN" altLang="en-US"/>
        </a:p>
      </dgm:t>
    </dgm:pt>
    <dgm:pt modelId="{7FE72F22-DAF1-436F-A79A-BC82B73498FC}" type="pres">
      <dgm:prSet presAssocID="{5329AF2C-097F-47E0-AA67-7FC48AB9D788}" presName="hierRoot2" presStyleCnt="0"/>
      <dgm:spPr/>
    </dgm:pt>
    <dgm:pt modelId="{1FFAEDBC-34A9-498B-8AB6-4AF5F9FFD2A5}" type="pres">
      <dgm:prSet presAssocID="{5329AF2C-097F-47E0-AA67-7FC48AB9D788}" presName="composite2" presStyleCnt="0"/>
      <dgm:spPr/>
    </dgm:pt>
    <dgm:pt modelId="{E4470D51-54F2-488C-A455-388E04CA8EBE}" type="pres">
      <dgm:prSet presAssocID="{5329AF2C-097F-47E0-AA67-7FC48AB9D788}" presName="background2" presStyleLbl="node2" presStyleIdx="0" presStyleCnt="2"/>
      <dgm:spPr/>
    </dgm:pt>
    <dgm:pt modelId="{1E917035-A5BB-4CD9-9EEF-489DF78A19A3}" type="pres">
      <dgm:prSet presAssocID="{5329AF2C-097F-47E0-AA67-7FC48AB9D788}" presName="text2" presStyleLbl="fgAcc2" presStyleIdx="0" presStyleCnt="2" custLinFactNeighborX="-68926" custLinFactNeighborY="4430">
        <dgm:presLayoutVars>
          <dgm:chPref val="3"/>
        </dgm:presLayoutVars>
      </dgm:prSet>
      <dgm:spPr/>
      <dgm:t>
        <a:bodyPr/>
        <a:lstStyle/>
        <a:p>
          <a:endParaRPr lang="zh-CN" altLang="en-US"/>
        </a:p>
      </dgm:t>
    </dgm:pt>
    <dgm:pt modelId="{EDC5572A-E5FA-40FA-9993-067B6CD42655}" type="pres">
      <dgm:prSet presAssocID="{5329AF2C-097F-47E0-AA67-7FC48AB9D788}" presName="hierChild3" presStyleCnt="0"/>
      <dgm:spPr/>
    </dgm:pt>
    <dgm:pt modelId="{8C66424B-1F9D-47C7-9D2B-186538259495}" type="pres">
      <dgm:prSet presAssocID="{242E6669-9458-417B-8CE8-F213C9BE8E8F}" presName="Name10" presStyleLbl="parChTrans1D2" presStyleIdx="1" presStyleCnt="2"/>
      <dgm:spPr/>
      <dgm:t>
        <a:bodyPr/>
        <a:lstStyle/>
        <a:p>
          <a:endParaRPr lang="zh-CN" altLang="en-US"/>
        </a:p>
      </dgm:t>
    </dgm:pt>
    <dgm:pt modelId="{881ACDB1-48EB-4C35-B05A-BF13C25530D9}" type="pres">
      <dgm:prSet presAssocID="{54D422F2-F17D-4D4E-80E0-8C18F67C64D0}" presName="hierRoot2" presStyleCnt="0"/>
      <dgm:spPr/>
    </dgm:pt>
    <dgm:pt modelId="{1FE70017-373C-422B-8941-3DCAA108D1CC}" type="pres">
      <dgm:prSet presAssocID="{54D422F2-F17D-4D4E-80E0-8C18F67C64D0}" presName="composite2" presStyleCnt="0"/>
      <dgm:spPr/>
    </dgm:pt>
    <dgm:pt modelId="{36F5F3C5-1ABA-4956-A5A9-F40FD24B4E7F}" type="pres">
      <dgm:prSet presAssocID="{54D422F2-F17D-4D4E-80E0-8C18F67C64D0}" presName="background2" presStyleLbl="node2" presStyleIdx="1" presStyleCnt="2"/>
      <dgm:spPr/>
    </dgm:pt>
    <dgm:pt modelId="{23B3FC64-983A-416A-A8CE-6A4FAAD171BA}" type="pres">
      <dgm:prSet presAssocID="{54D422F2-F17D-4D4E-80E0-8C18F67C64D0}" presName="text2" presStyleLbl="fgAcc2" presStyleIdx="1" presStyleCnt="2" custLinFactNeighborX="33777" custLinFactNeighborY="-8311">
        <dgm:presLayoutVars>
          <dgm:chPref val="3"/>
        </dgm:presLayoutVars>
      </dgm:prSet>
      <dgm:spPr/>
      <dgm:t>
        <a:bodyPr/>
        <a:lstStyle/>
        <a:p>
          <a:endParaRPr lang="zh-CN" altLang="en-US"/>
        </a:p>
      </dgm:t>
    </dgm:pt>
    <dgm:pt modelId="{C5232264-5951-477A-85F0-87178DFC0245}" type="pres">
      <dgm:prSet presAssocID="{54D422F2-F17D-4D4E-80E0-8C18F67C64D0}" presName="hierChild3" presStyleCnt="0"/>
      <dgm:spPr/>
    </dgm:pt>
    <dgm:pt modelId="{E83A7D1E-4114-43F1-A812-33B392201A34}" type="pres">
      <dgm:prSet presAssocID="{260A6818-D90B-4B1A-9901-B293B8F9007F}" presName="Name17" presStyleLbl="parChTrans1D3" presStyleIdx="0" presStyleCnt="5"/>
      <dgm:spPr/>
      <dgm:t>
        <a:bodyPr/>
        <a:lstStyle/>
        <a:p>
          <a:endParaRPr lang="zh-CN" altLang="en-US"/>
        </a:p>
      </dgm:t>
    </dgm:pt>
    <dgm:pt modelId="{0EC3666D-60CE-4ACE-B575-FE9BAAF1AF09}" type="pres">
      <dgm:prSet presAssocID="{59488975-C35F-4A56-8D57-D65A00052A05}" presName="hierRoot3" presStyleCnt="0"/>
      <dgm:spPr/>
    </dgm:pt>
    <dgm:pt modelId="{2B000DD4-72C7-4A0E-BC26-EBB461670B22}" type="pres">
      <dgm:prSet presAssocID="{59488975-C35F-4A56-8D57-D65A00052A05}" presName="composite3" presStyleCnt="0"/>
      <dgm:spPr/>
    </dgm:pt>
    <dgm:pt modelId="{95672042-CED3-4A5F-AB0F-9E6818902351}" type="pres">
      <dgm:prSet presAssocID="{59488975-C35F-4A56-8D57-D65A00052A05}" presName="background3" presStyleLbl="node3" presStyleIdx="0" presStyleCnt="5"/>
      <dgm:spPr/>
    </dgm:pt>
    <dgm:pt modelId="{805C9E28-5FD8-4665-8645-62D9AADBFA6F}" type="pres">
      <dgm:prSet presAssocID="{59488975-C35F-4A56-8D57-D65A00052A05}" presName="text3" presStyleLbl="fgAcc3" presStyleIdx="0" presStyleCnt="5" custLinFactNeighborX="-4923" custLinFactNeighborY="43197">
        <dgm:presLayoutVars>
          <dgm:chPref val="3"/>
        </dgm:presLayoutVars>
      </dgm:prSet>
      <dgm:spPr/>
      <dgm:t>
        <a:bodyPr/>
        <a:lstStyle/>
        <a:p>
          <a:endParaRPr lang="zh-CN" altLang="en-US"/>
        </a:p>
      </dgm:t>
    </dgm:pt>
    <dgm:pt modelId="{807B12A7-8ECA-4D2B-9241-C1F2774B16D9}" type="pres">
      <dgm:prSet presAssocID="{59488975-C35F-4A56-8D57-D65A00052A05}" presName="hierChild4" presStyleCnt="0"/>
      <dgm:spPr/>
    </dgm:pt>
    <dgm:pt modelId="{5FC66CB3-FCFF-4C83-91DF-0C5D78A19172}" type="pres">
      <dgm:prSet presAssocID="{4F06052B-CDAA-415D-991E-B7976BF92601}" presName="Name17" presStyleLbl="parChTrans1D3" presStyleIdx="1" presStyleCnt="5"/>
      <dgm:spPr/>
      <dgm:t>
        <a:bodyPr/>
        <a:lstStyle/>
        <a:p>
          <a:endParaRPr lang="zh-CN" altLang="en-US"/>
        </a:p>
      </dgm:t>
    </dgm:pt>
    <dgm:pt modelId="{10843692-0518-4ED1-B8BF-F823F1116DE4}" type="pres">
      <dgm:prSet presAssocID="{6470F6BC-00F7-4DA6-93A8-F97A9899CD78}" presName="hierRoot3" presStyleCnt="0"/>
      <dgm:spPr/>
    </dgm:pt>
    <dgm:pt modelId="{F177DF61-DAFF-44B4-9E3A-A7409762D5FD}" type="pres">
      <dgm:prSet presAssocID="{6470F6BC-00F7-4DA6-93A8-F97A9899CD78}" presName="composite3" presStyleCnt="0"/>
      <dgm:spPr/>
    </dgm:pt>
    <dgm:pt modelId="{546B27CD-5670-4DEE-A9D9-324077DCED58}" type="pres">
      <dgm:prSet presAssocID="{6470F6BC-00F7-4DA6-93A8-F97A9899CD78}" presName="background3" presStyleLbl="node3" presStyleIdx="1" presStyleCnt="5"/>
      <dgm:spPr/>
    </dgm:pt>
    <dgm:pt modelId="{46434381-3127-4224-8C5C-0698D7F9E58F}" type="pres">
      <dgm:prSet presAssocID="{6470F6BC-00F7-4DA6-93A8-F97A9899CD78}" presName="text3" presStyleLbl="fgAcc3" presStyleIdx="1" presStyleCnt="5" custLinFactNeighborX="-4923" custLinFactNeighborY="43197">
        <dgm:presLayoutVars>
          <dgm:chPref val="3"/>
        </dgm:presLayoutVars>
      </dgm:prSet>
      <dgm:spPr/>
      <dgm:t>
        <a:bodyPr/>
        <a:lstStyle/>
        <a:p>
          <a:endParaRPr lang="zh-CN" altLang="en-US"/>
        </a:p>
      </dgm:t>
    </dgm:pt>
    <dgm:pt modelId="{699E15A3-0FA3-4CDB-A306-3E3D75A748A8}" type="pres">
      <dgm:prSet presAssocID="{6470F6BC-00F7-4DA6-93A8-F97A9899CD78}" presName="hierChild4" presStyleCnt="0"/>
      <dgm:spPr/>
    </dgm:pt>
    <dgm:pt modelId="{11D8B0CC-D25C-4BB9-B11F-28B2893992DF}" type="pres">
      <dgm:prSet presAssocID="{42A2902F-D992-426C-821C-A91B95BC4C18}" presName="Name17" presStyleLbl="parChTrans1D3" presStyleIdx="2" presStyleCnt="5"/>
      <dgm:spPr/>
      <dgm:t>
        <a:bodyPr/>
        <a:lstStyle/>
        <a:p>
          <a:endParaRPr lang="zh-CN" altLang="en-US"/>
        </a:p>
      </dgm:t>
    </dgm:pt>
    <dgm:pt modelId="{53EED203-82FC-4314-A5AF-4ED6043EA1F4}" type="pres">
      <dgm:prSet presAssocID="{B32DF41B-8F31-4C07-870A-11CD9A0429C0}" presName="hierRoot3" presStyleCnt="0"/>
      <dgm:spPr/>
    </dgm:pt>
    <dgm:pt modelId="{DA77E0F3-1F86-4A69-91C1-13F1F2583148}" type="pres">
      <dgm:prSet presAssocID="{B32DF41B-8F31-4C07-870A-11CD9A0429C0}" presName="composite3" presStyleCnt="0"/>
      <dgm:spPr/>
    </dgm:pt>
    <dgm:pt modelId="{16E3920D-E329-46D3-B16F-B02B190F8133}" type="pres">
      <dgm:prSet presAssocID="{B32DF41B-8F31-4C07-870A-11CD9A0429C0}" presName="background3" presStyleLbl="node3" presStyleIdx="2" presStyleCnt="5"/>
      <dgm:spPr/>
    </dgm:pt>
    <dgm:pt modelId="{2547C396-7EDC-4F5A-82F1-CFAC2F181A6F}" type="pres">
      <dgm:prSet presAssocID="{B32DF41B-8F31-4C07-870A-11CD9A0429C0}" presName="text3" presStyleLbl="fgAcc3" presStyleIdx="2" presStyleCnt="5" custLinFactNeighborX="-4923" custLinFactNeighborY="43197">
        <dgm:presLayoutVars>
          <dgm:chPref val="3"/>
        </dgm:presLayoutVars>
      </dgm:prSet>
      <dgm:spPr/>
      <dgm:t>
        <a:bodyPr/>
        <a:lstStyle/>
        <a:p>
          <a:endParaRPr lang="zh-CN" altLang="en-US"/>
        </a:p>
      </dgm:t>
    </dgm:pt>
    <dgm:pt modelId="{47E4922C-9BBB-44BC-8B18-1DD415A31E34}" type="pres">
      <dgm:prSet presAssocID="{B32DF41B-8F31-4C07-870A-11CD9A0429C0}" presName="hierChild4" presStyleCnt="0"/>
      <dgm:spPr/>
    </dgm:pt>
    <dgm:pt modelId="{6FA430B5-9275-492C-8F4C-471DBCA2B8C0}" type="pres">
      <dgm:prSet presAssocID="{00E659BE-968E-48BA-A987-3BA81F7E2110}" presName="Name17" presStyleLbl="parChTrans1D3" presStyleIdx="3" presStyleCnt="5"/>
      <dgm:spPr/>
      <dgm:t>
        <a:bodyPr/>
        <a:lstStyle/>
        <a:p>
          <a:endParaRPr lang="zh-CN" altLang="en-US"/>
        </a:p>
      </dgm:t>
    </dgm:pt>
    <dgm:pt modelId="{1A4E0589-68CF-4DE9-BAB3-4D057E5645D2}" type="pres">
      <dgm:prSet presAssocID="{FB68B7A5-5CBB-49C8-B3BA-60A574EFCADB}" presName="hierRoot3" presStyleCnt="0"/>
      <dgm:spPr/>
    </dgm:pt>
    <dgm:pt modelId="{A2288829-0EF6-49A0-90DE-0BDF4D35D581}" type="pres">
      <dgm:prSet presAssocID="{FB68B7A5-5CBB-49C8-B3BA-60A574EFCADB}" presName="composite3" presStyleCnt="0"/>
      <dgm:spPr/>
    </dgm:pt>
    <dgm:pt modelId="{963E961F-3063-4D77-85D0-1A78CB6B38D4}" type="pres">
      <dgm:prSet presAssocID="{FB68B7A5-5CBB-49C8-B3BA-60A574EFCADB}" presName="background3" presStyleLbl="node3" presStyleIdx="3" presStyleCnt="5"/>
      <dgm:spPr/>
    </dgm:pt>
    <dgm:pt modelId="{B6696540-272F-47AC-A076-8B7D459771DA}" type="pres">
      <dgm:prSet presAssocID="{FB68B7A5-5CBB-49C8-B3BA-60A574EFCADB}" presName="text3" presStyleLbl="fgAcc3" presStyleIdx="3" presStyleCnt="5" custLinFactNeighborX="-4923" custLinFactNeighborY="43197">
        <dgm:presLayoutVars>
          <dgm:chPref val="3"/>
        </dgm:presLayoutVars>
      </dgm:prSet>
      <dgm:spPr/>
      <dgm:t>
        <a:bodyPr/>
        <a:lstStyle/>
        <a:p>
          <a:endParaRPr lang="zh-CN" altLang="en-US"/>
        </a:p>
      </dgm:t>
    </dgm:pt>
    <dgm:pt modelId="{6AAECC24-0CB3-4410-8C1E-D7F7663AED9D}" type="pres">
      <dgm:prSet presAssocID="{FB68B7A5-5CBB-49C8-B3BA-60A574EFCADB}" presName="hierChild4" presStyleCnt="0"/>
      <dgm:spPr/>
    </dgm:pt>
    <dgm:pt modelId="{44525020-7A0F-4A33-9096-2B5187F6ACA0}" type="pres">
      <dgm:prSet presAssocID="{DE24D44C-CBED-4534-BF57-6F972C3C130E}" presName="Name17" presStyleLbl="parChTrans1D3" presStyleIdx="4" presStyleCnt="5"/>
      <dgm:spPr/>
      <dgm:t>
        <a:bodyPr/>
        <a:lstStyle/>
        <a:p>
          <a:endParaRPr lang="zh-CN" altLang="en-US"/>
        </a:p>
      </dgm:t>
    </dgm:pt>
    <dgm:pt modelId="{908C58BC-8140-4864-85F6-053D839EBF57}" type="pres">
      <dgm:prSet presAssocID="{D6D72EC6-91E5-41C9-92D4-0C26BAA838C2}" presName="hierRoot3" presStyleCnt="0"/>
      <dgm:spPr/>
    </dgm:pt>
    <dgm:pt modelId="{D8B80D9A-0ECC-4706-A7F4-BBC5C46F3DB0}" type="pres">
      <dgm:prSet presAssocID="{D6D72EC6-91E5-41C9-92D4-0C26BAA838C2}" presName="composite3" presStyleCnt="0"/>
      <dgm:spPr/>
    </dgm:pt>
    <dgm:pt modelId="{CB1A7389-C8CD-4A4F-A9AB-8093CF64A947}" type="pres">
      <dgm:prSet presAssocID="{D6D72EC6-91E5-41C9-92D4-0C26BAA838C2}" presName="background3" presStyleLbl="node3" presStyleIdx="4" presStyleCnt="5"/>
      <dgm:spPr/>
    </dgm:pt>
    <dgm:pt modelId="{346EA016-D91E-445C-9D53-C1BDFCF8FBAE}" type="pres">
      <dgm:prSet presAssocID="{D6D72EC6-91E5-41C9-92D4-0C26BAA838C2}" presName="text3" presStyleLbl="fgAcc3" presStyleIdx="4" presStyleCnt="5" custLinFactNeighborX="-4923" custLinFactNeighborY="43197">
        <dgm:presLayoutVars>
          <dgm:chPref val="3"/>
        </dgm:presLayoutVars>
      </dgm:prSet>
      <dgm:spPr/>
      <dgm:t>
        <a:bodyPr/>
        <a:lstStyle/>
        <a:p>
          <a:endParaRPr lang="zh-CN" altLang="en-US"/>
        </a:p>
      </dgm:t>
    </dgm:pt>
    <dgm:pt modelId="{1B5CEDF6-96C4-4961-BD1C-0562C14D37AA}" type="pres">
      <dgm:prSet presAssocID="{D6D72EC6-91E5-41C9-92D4-0C26BAA838C2}" presName="hierChild4" presStyleCnt="0"/>
      <dgm:spPr/>
    </dgm:pt>
  </dgm:ptLst>
  <dgm:cxnLst>
    <dgm:cxn modelId="{CD61775C-66D8-4910-972F-FA53A2D20BB8}" srcId="{60D5C615-17DF-411F-A041-5485DFD56AAC}" destId="{5329AF2C-097F-47E0-AA67-7FC48AB9D788}" srcOrd="0" destOrd="0" parTransId="{34441EE5-B9A7-4F50-BD4F-50BC1A3E6323}" sibTransId="{558BA004-E7C3-4DD2-B287-DAFB008D4F07}"/>
    <dgm:cxn modelId="{0B5E6585-33CD-469C-A7C7-8FBDE5741FCF}" srcId="{54D422F2-F17D-4D4E-80E0-8C18F67C64D0}" destId="{B32DF41B-8F31-4C07-870A-11CD9A0429C0}" srcOrd="2" destOrd="0" parTransId="{42A2902F-D992-426C-821C-A91B95BC4C18}" sibTransId="{875CFE0F-86CA-4B23-8E3C-8C86881CF3CC}"/>
    <dgm:cxn modelId="{D82F80EB-9B1E-48A0-810B-E1C902B931C7}" srcId="{AF681F9E-C3C3-466C-B322-5B6C411F1487}" destId="{60D5C615-17DF-411F-A041-5485DFD56AAC}" srcOrd="0" destOrd="0" parTransId="{2C23044A-CDAF-436C-B7B9-1CBB10226378}" sibTransId="{69F834AC-65D5-46E0-800B-A1529DFEB6D8}"/>
    <dgm:cxn modelId="{14A7A0D1-B335-432A-A99B-B9353B082EC1}" type="presOf" srcId="{242E6669-9458-417B-8CE8-F213C9BE8E8F}" destId="{8C66424B-1F9D-47C7-9D2B-186538259495}" srcOrd="0" destOrd="0" presId="urn:microsoft.com/office/officeart/2005/8/layout/hierarchy1"/>
    <dgm:cxn modelId="{671C8065-B905-49CB-9A3F-F9361923BF7B}" srcId="{60D5C615-17DF-411F-A041-5485DFD56AAC}" destId="{54D422F2-F17D-4D4E-80E0-8C18F67C64D0}" srcOrd="1" destOrd="0" parTransId="{242E6669-9458-417B-8CE8-F213C9BE8E8F}" sibTransId="{D039EE51-F099-4BC0-8C91-621442C87746}"/>
    <dgm:cxn modelId="{C749531C-9FA1-4310-97F1-950512141CAF}" type="presOf" srcId="{FB68B7A5-5CBB-49C8-B3BA-60A574EFCADB}" destId="{B6696540-272F-47AC-A076-8B7D459771DA}" srcOrd="0" destOrd="0" presId="urn:microsoft.com/office/officeart/2005/8/layout/hierarchy1"/>
    <dgm:cxn modelId="{74BC9E7A-5C9E-494B-96D8-7E6D338C02E8}" type="presOf" srcId="{DE24D44C-CBED-4534-BF57-6F972C3C130E}" destId="{44525020-7A0F-4A33-9096-2B5187F6ACA0}" srcOrd="0" destOrd="0" presId="urn:microsoft.com/office/officeart/2005/8/layout/hierarchy1"/>
    <dgm:cxn modelId="{936E1436-355E-45B7-94C9-A09E92767737}" srcId="{54D422F2-F17D-4D4E-80E0-8C18F67C64D0}" destId="{D6D72EC6-91E5-41C9-92D4-0C26BAA838C2}" srcOrd="4" destOrd="0" parTransId="{DE24D44C-CBED-4534-BF57-6F972C3C130E}" sibTransId="{AFB798E2-4F07-482E-AF24-DC3C2CE65CC6}"/>
    <dgm:cxn modelId="{BDD647B6-C0E3-41C9-988D-B1A8ED4C9BAA}" type="presOf" srcId="{42A2902F-D992-426C-821C-A91B95BC4C18}" destId="{11D8B0CC-D25C-4BB9-B11F-28B2893992DF}" srcOrd="0" destOrd="0" presId="urn:microsoft.com/office/officeart/2005/8/layout/hierarchy1"/>
    <dgm:cxn modelId="{0F51CFA4-B29D-454A-B49B-0A7814C288CE}" type="presOf" srcId="{54D422F2-F17D-4D4E-80E0-8C18F67C64D0}" destId="{23B3FC64-983A-416A-A8CE-6A4FAAD171BA}" srcOrd="0" destOrd="0" presId="urn:microsoft.com/office/officeart/2005/8/layout/hierarchy1"/>
    <dgm:cxn modelId="{B7375F09-8515-4F1B-8850-D352304E8FD5}" type="presOf" srcId="{34441EE5-B9A7-4F50-BD4F-50BC1A3E6323}" destId="{BE0536CF-1697-4E5C-AF1B-0C790FBA2423}" srcOrd="0" destOrd="0" presId="urn:microsoft.com/office/officeart/2005/8/layout/hierarchy1"/>
    <dgm:cxn modelId="{DEB96E73-46CC-4DE6-9554-83C36CC22D37}" type="presOf" srcId="{00E659BE-968E-48BA-A987-3BA81F7E2110}" destId="{6FA430B5-9275-492C-8F4C-471DBCA2B8C0}" srcOrd="0" destOrd="0" presId="urn:microsoft.com/office/officeart/2005/8/layout/hierarchy1"/>
    <dgm:cxn modelId="{203C5F5E-2983-433E-94BE-4E596A924C73}" type="presOf" srcId="{260A6818-D90B-4B1A-9901-B293B8F9007F}" destId="{E83A7D1E-4114-43F1-A812-33B392201A34}" srcOrd="0" destOrd="0" presId="urn:microsoft.com/office/officeart/2005/8/layout/hierarchy1"/>
    <dgm:cxn modelId="{F32CB223-CD5B-4BF2-9479-8C0894511CC0}" type="presOf" srcId="{59488975-C35F-4A56-8D57-D65A00052A05}" destId="{805C9E28-5FD8-4665-8645-62D9AADBFA6F}" srcOrd="0" destOrd="0" presId="urn:microsoft.com/office/officeart/2005/8/layout/hierarchy1"/>
    <dgm:cxn modelId="{56CF2648-F83A-45EA-A7AA-B954ED7690E5}" type="presOf" srcId="{6470F6BC-00F7-4DA6-93A8-F97A9899CD78}" destId="{46434381-3127-4224-8C5C-0698D7F9E58F}" srcOrd="0" destOrd="0" presId="urn:microsoft.com/office/officeart/2005/8/layout/hierarchy1"/>
    <dgm:cxn modelId="{10A408E4-47EE-47CC-ABE7-C51863A5AA09}" type="presOf" srcId="{60D5C615-17DF-411F-A041-5485DFD56AAC}" destId="{6E08CEA8-D17A-498B-8701-A6053CA1E2BA}" srcOrd="0" destOrd="0" presId="urn:microsoft.com/office/officeart/2005/8/layout/hierarchy1"/>
    <dgm:cxn modelId="{9FCDE5BD-9F54-41E2-8265-F99701E384C8}" type="presOf" srcId="{4F06052B-CDAA-415D-991E-B7976BF92601}" destId="{5FC66CB3-FCFF-4C83-91DF-0C5D78A19172}" srcOrd="0" destOrd="0" presId="urn:microsoft.com/office/officeart/2005/8/layout/hierarchy1"/>
    <dgm:cxn modelId="{554383BB-49BC-4197-A28E-D1307BB5E551}" type="presOf" srcId="{5329AF2C-097F-47E0-AA67-7FC48AB9D788}" destId="{1E917035-A5BB-4CD9-9EEF-489DF78A19A3}" srcOrd="0" destOrd="0" presId="urn:microsoft.com/office/officeart/2005/8/layout/hierarchy1"/>
    <dgm:cxn modelId="{5EF3419E-DCA5-46AA-9AA7-05B45958BE45}" type="presOf" srcId="{D6D72EC6-91E5-41C9-92D4-0C26BAA838C2}" destId="{346EA016-D91E-445C-9D53-C1BDFCF8FBAE}" srcOrd="0" destOrd="0" presId="urn:microsoft.com/office/officeart/2005/8/layout/hierarchy1"/>
    <dgm:cxn modelId="{81487C04-C575-49A6-902B-140466AB0C1B}" srcId="{54D422F2-F17D-4D4E-80E0-8C18F67C64D0}" destId="{FB68B7A5-5CBB-49C8-B3BA-60A574EFCADB}" srcOrd="3" destOrd="0" parTransId="{00E659BE-968E-48BA-A987-3BA81F7E2110}" sibTransId="{AACA2ADD-C13C-4E67-AF5A-DD74F65BFA8F}"/>
    <dgm:cxn modelId="{73C0B7FD-A29D-4959-B10E-09E328632ED4}" type="presOf" srcId="{B32DF41B-8F31-4C07-870A-11CD9A0429C0}" destId="{2547C396-7EDC-4F5A-82F1-CFAC2F181A6F}"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02BE2E49-8BC8-438F-BA9B-C37D817B7CF6}" srcId="{54D422F2-F17D-4D4E-80E0-8C18F67C64D0}" destId="{59488975-C35F-4A56-8D57-D65A00052A05}" srcOrd="0" destOrd="0" parTransId="{260A6818-D90B-4B1A-9901-B293B8F9007F}" sibTransId="{079726A9-4578-4641-BDDB-5E2939F9BDCD}"/>
    <dgm:cxn modelId="{8BB37467-185E-4B03-B9FD-B5764BAA7428}" type="presParOf" srcId="{A385B7F1-B3C5-4B55-9DFF-F4B82890C0A8}" destId="{53F80620-8E54-47BD-AD7E-D117019D0A6E}" srcOrd="0" destOrd="0" presId="urn:microsoft.com/office/officeart/2005/8/layout/hierarchy1"/>
    <dgm:cxn modelId="{8C41668C-C029-4DC1-9734-9701820DEF3A}" type="presParOf" srcId="{53F80620-8E54-47BD-AD7E-D117019D0A6E}" destId="{CEC13D98-20C8-4B81-B8BE-1054AE622680}" srcOrd="0" destOrd="0" presId="urn:microsoft.com/office/officeart/2005/8/layout/hierarchy1"/>
    <dgm:cxn modelId="{E79ABEC7-7C78-414F-8B0F-21C0821159C0}" type="presParOf" srcId="{CEC13D98-20C8-4B81-B8BE-1054AE622680}" destId="{18C80703-8DCF-497D-BAC9-622A223A992B}" srcOrd="0" destOrd="0" presId="urn:microsoft.com/office/officeart/2005/8/layout/hierarchy1"/>
    <dgm:cxn modelId="{FFAEEF25-6282-43CD-B551-31CFBE3055D6}" type="presParOf" srcId="{CEC13D98-20C8-4B81-B8BE-1054AE622680}" destId="{6E08CEA8-D17A-498B-8701-A6053CA1E2BA}" srcOrd="1" destOrd="0" presId="urn:microsoft.com/office/officeart/2005/8/layout/hierarchy1"/>
    <dgm:cxn modelId="{05A4E9BD-DA43-49C5-ADF8-CD42C951AF9F}" type="presParOf" srcId="{53F80620-8E54-47BD-AD7E-D117019D0A6E}" destId="{16846EED-FA01-4E13-B5A7-82A5424D3783}" srcOrd="1" destOrd="0" presId="urn:microsoft.com/office/officeart/2005/8/layout/hierarchy1"/>
    <dgm:cxn modelId="{68794BEB-8993-42F2-A028-A2ABCE3E3727}" type="presParOf" srcId="{16846EED-FA01-4E13-B5A7-82A5424D3783}" destId="{BE0536CF-1697-4E5C-AF1B-0C790FBA2423}" srcOrd="0" destOrd="0" presId="urn:microsoft.com/office/officeart/2005/8/layout/hierarchy1"/>
    <dgm:cxn modelId="{51BDCDFF-861B-4281-9029-8846B1112DD1}" type="presParOf" srcId="{16846EED-FA01-4E13-B5A7-82A5424D3783}" destId="{7FE72F22-DAF1-436F-A79A-BC82B73498FC}" srcOrd="1" destOrd="0" presId="urn:microsoft.com/office/officeart/2005/8/layout/hierarchy1"/>
    <dgm:cxn modelId="{F88F9D76-E130-400B-ABBC-0EB65D4B3EB3}" type="presParOf" srcId="{7FE72F22-DAF1-436F-A79A-BC82B73498FC}" destId="{1FFAEDBC-34A9-498B-8AB6-4AF5F9FFD2A5}" srcOrd="0" destOrd="0" presId="urn:microsoft.com/office/officeart/2005/8/layout/hierarchy1"/>
    <dgm:cxn modelId="{5E233070-5CCD-44A1-88A0-07945C433287}" type="presParOf" srcId="{1FFAEDBC-34A9-498B-8AB6-4AF5F9FFD2A5}" destId="{E4470D51-54F2-488C-A455-388E04CA8EBE}" srcOrd="0" destOrd="0" presId="urn:microsoft.com/office/officeart/2005/8/layout/hierarchy1"/>
    <dgm:cxn modelId="{8FB8FC51-1FAD-4390-9E4C-94B287EF159F}" type="presParOf" srcId="{1FFAEDBC-34A9-498B-8AB6-4AF5F9FFD2A5}" destId="{1E917035-A5BB-4CD9-9EEF-489DF78A19A3}" srcOrd="1" destOrd="0" presId="urn:microsoft.com/office/officeart/2005/8/layout/hierarchy1"/>
    <dgm:cxn modelId="{2F2F42E4-462E-42C2-8CEE-E270696E7DA7}" type="presParOf" srcId="{7FE72F22-DAF1-436F-A79A-BC82B73498FC}" destId="{EDC5572A-E5FA-40FA-9993-067B6CD42655}" srcOrd="1" destOrd="0" presId="urn:microsoft.com/office/officeart/2005/8/layout/hierarchy1"/>
    <dgm:cxn modelId="{060A2EFE-C603-4773-9291-F1E9618E9D1C}" type="presParOf" srcId="{16846EED-FA01-4E13-B5A7-82A5424D3783}" destId="{8C66424B-1F9D-47C7-9D2B-186538259495}" srcOrd="2" destOrd="0" presId="urn:microsoft.com/office/officeart/2005/8/layout/hierarchy1"/>
    <dgm:cxn modelId="{4E3F4B33-A470-4592-8B62-CC2719E963CE}" type="presParOf" srcId="{16846EED-FA01-4E13-B5A7-82A5424D3783}" destId="{881ACDB1-48EB-4C35-B05A-BF13C25530D9}" srcOrd="3" destOrd="0" presId="urn:microsoft.com/office/officeart/2005/8/layout/hierarchy1"/>
    <dgm:cxn modelId="{E319C32D-0E38-45F4-8201-FF56D30F90A1}" type="presParOf" srcId="{881ACDB1-48EB-4C35-B05A-BF13C25530D9}" destId="{1FE70017-373C-422B-8941-3DCAA108D1CC}" srcOrd="0" destOrd="0" presId="urn:microsoft.com/office/officeart/2005/8/layout/hierarchy1"/>
    <dgm:cxn modelId="{23E30CA4-3A9F-4360-9808-600BAB3846E9}" type="presParOf" srcId="{1FE70017-373C-422B-8941-3DCAA108D1CC}" destId="{36F5F3C5-1ABA-4956-A5A9-F40FD24B4E7F}" srcOrd="0" destOrd="0" presId="urn:microsoft.com/office/officeart/2005/8/layout/hierarchy1"/>
    <dgm:cxn modelId="{31FC280D-7E72-4C75-A2C5-24A1BD629E18}" type="presParOf" srcId="{1FE70017-373C-422B-8941-3DCAA108D1CC}" destId="{23B3FC64-983A-416A-A8CE-6A4FAAD171BA}" srcOrd="1" destOrd="0" presId="urn:microsoft.com/office/officeart/2005/8/layout/hierarchy1"/>
    <dgm:cxn modelId="{A196C9CE-82E8-441D-A27B-E345689D8ECB}" type="presParOf" srcId="{881ACDB1-48EB-4C35-B05A-BF13C25530D9}" destId="{C5232264-5951-477A-85F0-87178DFC0245}" srcOrd="1" destOrd="0" presId="urn:microsoft.com/office/officeart/2005/8/layout/hierarchy1"/>
    <dgm:cxn modelId="{242F3356-003B-40FE-96DE-EE1EDA1CE253}" type="presParOf" srcId="{C5232264-5951-477A-85F0-87178DFC0245}" destId="{E83A7D1E-4114-43F1-A812-33B392201A34}" srcOrd="0" destOrd="0" presId="urn:microsoft.com/office/officeart/2005/8/layout/hierarchy1"/>
    <dgm:cxn modelId="{515D8424-1D5E-42D7-8A38-0FCE1A22792A}" type="presParOf" srcId="{C5232264-5951-477A-85F0-87178DFC0245}" destId="{0EC3666D-60CE-4ACE-B575-FE9BAAF1AF09}" srcOrd="1" destOrd="0" presId="urn:microsoft.com/office/officeart/2005/8/layout/hierarchy1"/>
    <dgm:cxn modelId="{F668A59B-285F-49C1-B9C1-1D6C9B4B3A0E}" type="presParOf" srcId="{0EC3666D-60CE-4ACE-B575-FE9BAAF1AF09}" destId="{2B000DD4-72C7-4A0E-BC26-EBB461670B22}" srcOrd="0" destOrd="0" presId="urn:microsoft.com/office/officeart/2005/8/layout/hierarchy1"/>
    <dgm:cxn modelId="{41AA35CB-C8B6-4AC8-A24B-5336A790F262}" type="presParOf" srcId="{2B000DD4-72C7-4A0E-BC26-EBB461670B22}" destId="{95672042-CED3-4A5F-AB0F-9E6818902351}" srcOrd="0" destOrd="0" presId="urn:microsoft.com/office/officeart/2005/8/layout/hierarchy1"/>
    <dgm:cxn modelId="{47D752E8-3C8A-404D-9ABD-135EEE0A442E}" type="presParOf" srcId="{2B000DD4-72C7-4A0E-BC26-EBB461670B22}" destId="{805C9E28-5FD8-4665-8645-62D9AADBFA6F}" srcOrd="1" destOrd="0" presId="urn:microsoft.com/office/officeart/2005/8/layout/hierarchy1"/>
    <dgm:cxn modelId="{3D805B68-95F7-4302-9CE0-50B4A56CC47F}" type="presParOf" srcId="{0EC3666D-60CE-4ACE-B575-FE9BAAF1AF09}" destId="{807B12A7-8ECA-4D2B-9241-C1F2774B16D9}" srcOrd="1" destOrd="0" presId="urn:microsoft.com/office/officeart/2005/8/layout/hierarchy1"/>
    <dgm:cxn modelId="{1DAC2EB0-F2EC-4C9B-A0FE-A8ADB1CB4029}" type="presParOf" srcId="{C5232264-5951-477A-85F0-87178DFC0245}" destId="{5FC66CB3-FCFF-4C83-91DF-0C5D78A19172}" srcOrd="2" destOrd="0" presId="urn:microsoft.com/office/officeart/2005/8/layout/hierarchy1"/>
    <dgm:cxn modelId="{42AD93E8-C50C-443F-AEDE-255321EF794A}" type="presParOf" srcId="{C5232264-5951-477A-85F0-87178DFC0245}" destId="{10843692-0518-4ED1-B8BF-F823F1116DE4}" srcOrd="3" destOrd="0" presId="urn:microsoft.com/office/officeart/2005/8/layout/hierarchy1"/>
    <dgm:cxn modelId="{57186C9D-45A4-48AD-95A5-81700C17949C}" type="presParOf" srcId="{10843692-0518-4ED1-B8BF-F823F1116DE4}" destId="{F177DF61-DAFF-44B4-9E3A-A7409762D5FD}" srcOrd="0" destOrd="0" presId="urn:microsoft.com/office/officeart/2005/8/layout/hierarchy1"/>
    <dgm:cxn modelId="{E021F80C-5766-4E37-BF07-0B3084B00C88}" type="presParOf" srcId="{F177DF61-DAFF-44B4-9E3A-A7409762D5FD}" destId="{546B27CD-5670-4DEE-A9D9-324077DCED58}" srcOrd="0" destOrd="0" presId="urn:microsoft.com/office/officeart/2005/8/layout/hierarchy1"/>
    <dgm:cxn modelId="{BC2CF69D-C131-4114-B5DB-45FDCA93586C}" type="presParOf" srcId="{F177DF61-DAFF-44B4-9E3A-A7409762D5FD}" destId="{46434381-3127-4224-8C5C-0698D7F9E58F}" srcOrd="1" destOrd="0" presId="urn:microsoft.com/office/officeart/2005/8/layout/hierarchy1"/>
    <dgm:cxn modelId="{FBCF8225-DC66-41CD-B70E-6DBA20ED14F2}" type="presParOf" srcId="{10843692-0518-4ED1-B8BF-F823F1116DE4}" destId="{699E15A3-0FA3-4CDB-A306-3E3D75A748A8}" srcOrd="1" destOrd="0" presId="urn:microsoft.com/office/officeart/2005/8/layout/hierarchy1"/>
    <dgm:cxn modelId="{8883E4B8-2990-4665-AF21-F0B72973450C}" type="presParOf" srcId="{C5232264-5951-477A-85F0-87178DFC0245}" destId="{11D8B0CC-D25C-4BB9-B11F-28B2893992DF}" srcOrd="4" destOrd="0" presId="urn:microsoft.com/office/officeart/2005/8/layout/hierarchy1"/>
    <dgm:cxn modelId="{99787754-354C-40C2-808F-441DF76DB514}" type="presParOf" srcId="{C5232264-5951-477A-85F0-87178DFC0245}" destId="{53EED203-82FC-4314-A5AF-4ED6043EA1F4}" srcOrd="5" destOrd="0" presId="urn:microsoft.com/office/officeart/2005/8/layout/hierarchy1"/>
    <dgm:cxn modelId="{FD4ADDDE-D46B-4367-8C22-9060A541A868}" type="presParOf" srcId="{53EED203-82FC-4314-A5AF-4ED6043EA1F4}" destId="{DA77E0F3-1F86-4A69-91C1-13F1F2583148}" srcOrd="0" destOrd="0" presId="urn:microsoft.com/office/officeart/2005/8/layout/hierarchy1"/>
    <dgm:cxn modelId="{0BD2AD2A-EFD5-4EFE-B563-D6171B82C127}" type="presParOf" srcId="{DA77E0F3-1F86-4A69-91C1-13F1F2583148}" destId="{16E3920D-E329-46D3-B16F-B02B190F8133}" srcOrd="0" destOrd="0" presId="urn:microsoft.com/office/officeart/2005/8/layout/hierarchy1"/>
    <dgm:cxn modelId="{15091711-726C-4B38-87BB-E9D5AAEF6141}" type="presParOf" srcId="{DA77E0F3-1F86-4A69-91C1-13F1F2583148}" destId="{2547C396-7EDC-4F5A-82F1-CFAC2F181A6F}" srcOrd="1" destOrd="0" presId="urn:microsoft.com/office/officeart/2005/8/layout/hierarchy1"/>
    <dgm:cxn modelId="{57BEB28C-79C9-4292-AB4F-46CDA7109E3E}" type="presParOf" srcId="{53EED203-82FC-4314-A5AF-4ED6043EA1F4}" destId="{47E4922C-9BBB-44BC-8B18-1DD415A31E34}" srcOrd="1" destOrd="0" presId="urn:microsoft.com/office/officeart/2005/8/layout/hierarchy1"/>
    <dgm:cxn modelId="{06799889-A320-47DE-BDE6-FC0283037E71}" type="presParOf" srcId="{C5232264-5951-477A-85F0-87178DFC0245}" destId="{6FA430B5-9275-492C-8F4C-471DBCA2B8C0}" srcOrd="6" destOrd="0" presId="urn:microsoft.com/office/officeart/2005/8/layout/hierarchy1"/>
    <dgm:cxn modelId="{4C742161-4A7A-4FB4-BBA7-CB21F6E2F97D}" type="presParOf" srcId="{C5232264-5951-477A-85F0-87178DFC0245}" destId="{1A4E0589-68CF-4DE9-BAB3-4D057E5645D2}" srcOrd="7" destOrd="0" presId="urn:microsoft.com/office/officeart/2005/8/layout/hierarchy1"/>
    <dgm:cxn modelId="{2A58C164-6F34-4451-9D0A-0273FD035AFB}" type="presParOf" srcId="{1A4E0589-68CF-4DE9-BAB3-4D057E5645D2}" destId="{A2288829-0EF6-49A0-90DE-0BDF4D35D581}" srcOrd="0" destOrd="0" presId="urn:microsoft.com/office/officeart/2005/8/layout/hierarchy1"/>
    <dgm:cxn modelId="{F94A13A2-E3DA-4B7E-9198-5BB24ACFFBD2}" type="presParOf" srcId="{A2288829-0EF6-49A0-90DE-0BDF4D35D581}" destId="{963E961F-3063-4D77-85D0-1A78CB6B38D4}" srcOrd="0" destOrd="0" presId="urn:microsoft.com/office/officeart/2005/8/layout/hierarchy1"/>
    <dgm:cxn modelId="{D3D2C5F1-1D75-4C77-BA4C-D60C5A3AA8F9}" type="presParOf" srcId="{A2288829-0EF6-49A0-90DE-0BDF4D35D581}" destId="{B6696540-272F-47AC-A076-8B7D459771DA}" srcOrd="1" destOrd="0" presId="urn:microsoft.com/office/officeart/2005/8/layout/hierarchy1"/>
    <dgm:cxn modelId="{4E74212D-2542-433C-969A-164AC5936820}" type="presParOf" srcId="{1A4E0589-68CF-4DE9-BAB3-4D057E5645D2}" destId="{6AAECC24-0CB3-4410-8C1E-D7F7663AED9D}" srcOrd="1" destOrd="0" presId="urn:microsoft.com/office/officeart/2005/8/layout/hierarchy1"/>
    <dgm:cxn modelId="{78DCDE96-8E79-46A1-9B24-F00723FE9869}" type="presParOf" srcId="{C5232264-5951-477A-85F0-87178DFC0245}" destId="{44525020-7A0F-4A33-9096-2B5187F6ACA0}" srcOrd="8" destOrd="0" presId="urn:microsoft.com/office/officeart/2005/8/layout/hierarchy1"/>
    <dgm:cxn modelId="{9A42AA4E-802E-44E4-ADB7-C8C820AEB284}" type="presParOf" srcId="{C5232264-5951-477A-85F0-87178DFC0245}" destId="{908C58BC-8140-4864-85F6-053D839EBF57}" srcOrd="9" destOrd="0" presId="urn:microsoft.com/office/officeart/2005/8/layout/hierarchy1"/>
    <dgm:cxn modelId="{C4E90FCF-C71C-4E4E-8946-8A8DCDFC5CE1}" type="presParOf" srcId="{908C58BC-8140-4864-85F6-053D839EBF57}" destId="{D8B80D9A-0ECC-4706-A7F4-BBC5C46F3DB0}" srcOrd="0" destOrd="0" presId="urn:microsoft.com/office/officeart/2005/8/layout/hierarchy1"/>
    <dgm:cxn modelId="{53E92DAC-12D1-47C3-84A3-C9AE9CCCA028}" type="presParOf" srcId="{D8B80D9A-0ECC-4706-A7F4-BBC5C46F3DB0}" destId="{CB1A7389-C8CD-4A4F-A9AB-8093CF64A947}" srcOrd="0" destOrd="0" presId="urn:microsoft.com/office/officeart/2005/8/layout/hierarchy1"/>
    <dgm:cxn modelId="{3738A581-C213-4C3D-93A1-B5467D54372F}" type="presParOf" srcId="{D8B80D9A-0ECC-4706-A7F4-BBC5C46F3DB0}" destId="{346EA016-D91E-445C-9D53-C1BDFCF8FBAE}" srcOrd="1" destOrd="0" presId="urn:microsoft.com/office/officeart/2005/8/layout/hierarchy1"/>
    <dgm:cxn modelId="{B83FCED9-112B-4076-A220-DEE75F8DC485}" type="presParOf" srcId="{908C58BC-8140-4864-85F6-053D839EBF57}" destId="{1B5CEDF6-96C4-4961-BD1C-0562C14D37A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25020-7A0F-4A33-9096-2B5187F6ACA0}">
      <dsp:nvSpPr>
        <dsp:cNvPr id="0" name=""/>
        <dsp:cNvSpPr/>
      </dsp:nvSpPr>
      <dsp:spPr>
        <a:xfrm>
          <a:off x="4447781" y="2584675"/>
          <a:ext cx="2786334" cy="836815"/>
        </a:xfrm>
        <a:custGeom>
          <a:avLst/>
          <a:gdLst/>
          <a:ahLst/>
          <a:cxnLst/>
          <a:rect l="0" t="0" r="0" b="0"/>
          <a:pathLst>
            <a:path>
              <a:moveTo>
                <a:pt x="0" y="0"/>
              </a:moveTo>
              <a:lnTo>
                <a:pt x="0" y="711357"/>
              </a:lnTo>
              <a:lnTo>
                <a:pt x="2786334" y="711357"/>
              </a:lnTo>
              <a:lnTo>
                <a:pt x="2786334"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A430B5-9275-492C-8F4C-471DBCA2B8C0}">
      <dsp:nvSpPr>
        <dsp:cNvPr id="0" name=""/>
        <dsp:cNvSpPr/>
      </dsp:nvSpPr>
      <dsp:spPr>
        <a:xfrm>
          <a:off x="4447781" y="2584675"/>
          <a:ext cx="1131115" cy="836815"/>
        </a:xfrm>
        <a:custGeom>
          <a:avLst/>
          <a:gdLst/>
          <a:ahLst/>
          <a:cxnLst/>
          <a:rect l="0" t="0" r="0" b="0"/>
          <a:pathLst>
            <a:path>
              <a:moveTo>
                <a:pt x="0" y="0"/>
              </a:moveTo>
              <a:lnTo>
                <a:pt x="0" y="711357"/>
              </a:lnTo>
              <a:lnTo>
                <a:pt x="1131115" y="711357"/>
              </a:lnTo>
              <a:lnTo>
                <a:pt x="1131115"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D8B0CC-D25C-4BB9-B11F-28B2893992DF}">
      <dsp:nvSpPr>
        <dsp:cNvPr id="0" name=""/>
        <dsp:cNvSpPr/>
      </dsp:nvSpPr>
      <dsp:spPr>
        <a:xfrm>
          <a:off x="3923679" y="2584675"/>
          <a:ext cx="524102" cy="836815"/>
        </a:xfrm>
        <a:custGeom>
          <a:avLst/>
          <a:gdLst/>
          <a:ahLst/>
          <a:cxnLst/>
          <a:rect l="0" t="0" r="0" b="0"/>
          <a:pathLst>
            <a:path>
              <a:moveTo>
                <a:pt x="524102" y="0"/>
              </a:moveTo>
              <a:lnTo>
                <a:pt x="524102"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C66CB3-FCFF-4C83-91DF-0C5D78A19172}">
      <dsp:nvSpPr>
        <dsp:cNvPr id="0" name=""/>
        <dsp:cNvSpPr/>
      </dsp:nvSpPr>
      <dsp:spPr>
        <a:xfrm>
          <a:off x="2268461" y="2584675"/>
          <a:ext cx="2179320" cy="836815"/>
        </a:xfrm>
        <a:custGeom>
          <a:avLst/>
          <a:gdLst/>
          <a:ahLst/>
          <a:cxnLst/>
          <a:rect l="0" t="0" r="0" b="0"/>
          <a:pathLst>
            <a:path>
              <a:moveTo>
                <a:pt x="2179320" y="0"/>
              </a:moveTo>
              <a:lnTo>
                <a:pt x="2179320"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3A7D1E-4114-43F1-A812-33B392201A34}">
      <dsp:nvSpPr>
        <dsp:cNvPr id="0" name=""/>
        <dsp:cNvSpPr/>
      </dsp:nvSpPr>
      <dsp:spPr>
        <a:xfrm>
          <a:off x="613243" y="2584675"/>
          <a:ext cx="3834538" cy="836815"/>
        </a:xfrm>
        <a:custGeom>
          <a:avLst/>
          <a:gdLst/>
          <a:ahLst/>
          <a:cxnLst/>
          <a:rect l="0" t="0" r="0" b="0"/>
          <a:pathLst>
            <a:path>
              <a:moveTo>
                <a:pt x="3834538" y="0"/>
              </a:moveTo>
              <a:lnTo>
                <a:pt x="3834538" y="711357"/>
              </a:lnTo>
              <a:lnTo>
                <a:pt x="0" y="711357"/>
              </a:lnTo>
              <a:lnTo>
                <a:pt x="0" y="8368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66424B-1F9D-47C7-9D2B-186538259495}">
      <dsp:nvSpPr>
        <dsp:cNvPr id="0" name=""/>
        <dsp:cNvSpPr/>
      </dsp:nvSpPr>
      <dsp:spPr>
        <a:xfrm>
          <a:off x="3162741" y="1402319"/>
          <a:ext cx="1285040" cy="322395"/>
        </a:xfrm>
        <a:custGeom>
          <a:avLst/>
          <a:gdLst/>
          <a:ahLst/>
          <a:cxnLst/>
          <a:rect l="0" t="0" r="0" b="0"/>
          <a:pathLst>
            <a:path>
              <a:moveTo>
                <a:pt x="0" y="0"/>
              </a:moveTo>
              <a:lnTo>
                <a:pt x="0" y="196937"/>
              </a:lnTo>
              <a:lnTo>
                <a:pt x="1285040" y="196937"/>
              </a:lnTo>
              <a:lnTo>
                <a:pt x="1285040" y="32239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0536CF-1697-4E5C-AF1B-0C790FBA2423}">
      <dsp:nvSpPr>
        <dsp:cNvPr id="0" name=""/>
        <dsp:cNvSpPr/>
      </dsp:nvSpPr>
      <dsp:spPr>
        <a:xfrm>
          <a:off x="1401688" y="1402319"/>
          <a:ext cx="1761052" cy="431962"/>
        </a:xfrm>
        <a:custGeom>
          <a:avLst/>
          <a:gdLst/>
          <a:ahLst/>
          <a:cxnLst/>
          <a:rect l="0" t="0" r="0" b="0"/>
          <a:pathLst>
            <a:path>
              <a:moveTo>
                <a:pt x="1761052" y="0"/>
              </a:moveTo>
              <a:lnTo>
                <a:pt x="1761052" y="306504"/>
              </a:lnTo>
              <a:lnTo>
                <a:pt x="0" y="306504"/>
              </a:lnTo>
              <a:lnTo>
                <a:pt x="0" y="4319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C80703-8DCF-497D-BAC9-622A223A992B}">
      <dsp:nvSpPr>
        <dsp:cNvPr id="0" name=""/>
        <dsp:cNvSpPr/>
      </dsp:nvSpPr>
      <dsp:spPr>
        <a:xfrm>
          <a:off x="2485606" y="542358"/>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8CEA8-D17A-498B-8701-A6053CA1E2BA}">
      <dsp:nvSpPr>
        <dsp:cNvPr id="0" name=""/>
        <dsp:cNvSpPr/>
      </dsp:nvSpPr>
      <dsp:spPr>
        <a:xfrm>
          <a:off x="2636080" y="685309"/>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根因分析</a:t>
          </a:r>
          <a:endParaRPr lang="zh-CN" altLang="en-US" sz="1700" kern="1200" dirty="0"/>
        </a:p>
      </dsp:txBody>
      <dsp:txXfrm>
        <a:off x="2661267" y="710496"/>
        <a:ext cx="1303895" cy="809587"/>
      </dsp:txXfrm>
    </dsp:sp>
    <dsp:sp modelId="{E4470D51-54F2-488C-A455-388E04CA8EBE}">
      <dsp:nvSpPr>
        <dsp:cNvPr id="0" name=""/>
        <dsp:cNvSpPr/>
      </dsp:nvSpPr>
      <dsp:spPr>
        <a:xfrm>
          <a:off x="724553" y="1834282"/>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917035-A5BB-4CD9-9EEF-489DF78A19A3}">
      <dsp:nvSpPr>
        <dsp:cNvPr id="0" name=""/>
        <dsp:cNvSpPr/>
      </dsp:nvSpPr>
      <dsp:spPr>
        <a:xfrm>
          <a:off x="875028" y="1977233"/>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异常检测</a:t>
          </a:r>
          <a:endParaRPr lang="zh-CN" altLang="en-US" sz="1700" kern="1200" dirty="0"/>
        </a:p>
      </dsp:txBody>
      <dsp:txXfrm>
        <a:off x="900215" y="2002420"/>
        <a:ext cx="1303895" cy="809587"/>
      </dsp:txXfrm>
    </dsp:sp>
    <dsp:sp modelId="{36F5F3C5-1ABA-4956-A5A9-F40FD24B4E7F}">
      <dsp:nvSpPr>
        <dsp:cNvPr id="0" name=""/>
        <dsp:cNvSpPr/>
      </dsp:nvSpPr>
      <dsp:spPr>
        <a:xfrm>
          <a:off x="3770647" y="1724714"/>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B3FC64-983A-416A-A8CE-6A4FAAD171BA}">
      <dsp:nvSpPr>
        <dsp:cNvPr id="0" name=""/>
        <dsp:cNvSpPr/>
      </dsp:nvSpPr>
      <dsp:spPr>
        <a:xfrm>
          <a:off x="3921121" y="1867665"/>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故障传播树构建</a:t>
          </a:r>
          <a:endParaRPr lang="zh-CN" altLang="en-US" sz="1700" kern="1200" dirty="0"/>
        </a:p>
      </dsp:txBody>
      <dsp:txXfrm>
        <a:off x="3946308" y="1892852"/>
        <a:ext cx="1303895" cy="809587"/>
      </dsp:txXfrm>
    </dsp:sp>
    <dsp:sp modelId="{95672042-CED3-4A5F-AB0F-9E6818902351}">
      <dsp:nvSpPr>
        <dsp:cNvPr id="0" name=""/>
        <dsp:cNvSpPr/>
      </dsp:nvSpPr>
      <dsp:spPr>
        <a:xfrm>
          <a:off x="-63891"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5C9E28-5FD8-4665-8645-62D9AADBFA6F}">
      <dsp:nvSpPr>
        <dsp:cNvPr id="0" name=""/>
        <dsp:cNvSpPr/>
      </dsp:nvSpPr>
      <dsp:spPr>
        <a:xfrm>
          <a:off x="86582"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异常事件关联挖掘</a:t>
          </a:r>
          <a:endParaRPr lang="zh-CN" altLang="en-US" sz="1700" kern="1200" dirty="0"/>
        </a:p>
      </dsp:txBody>
      <dsp:txXfrm>
        <a:off x="111769" y="3589628"/>
        <a:ext cx="1303895" cy="809587"/>
      </dsp:txXfrm>
    </dsp:sp>
    <dsp:sp modelId="{546B27CD-5670-4DEE-A9D9-324077DCED58}">
      <dsp:nvSpPr>
        <dsp:cNvPr id="0" name=""/>
        <dsp:cNvSpPr/>
      </dsp:nvSpPr>
      <dsp:spPr>
        <a:xfrm>
          <a:off x="1591326"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34381-3127-4224-8C5C-0698D7F9E58F}">
      <dsp:nvSpPr>
        <dsp:cNvPr id="0" name=""/>
        <dsp:cNvSpPr/>
      </dsp:nvSpPr>
      <dsp:spPr>
        <a:xfrm>
          <a:off x="1741801"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事件</a:t>
          </a:r>
          <a:r>
            <a:rPr lang="en-US" altLang="zh-CN" sz="1700" kern="1200" dirty="0" smtClean="0"/>
            <a:t>-KPI</a:t>
          </a:r>
          <a:r>
            <a:rPr lang="zh-CN" altLang="en-US" sz="1700" kern="1200" dirty="0" smtClean="0"/>
            <a:t>关联挖掘</a:t>
          </a:r>
          <a:endParaRPr lang="zh-CN" altLang="en-US" sz="1700" kern="1200" dirty="0"/>
        </a:p>
      </dsp:txBody>
      <dsp:txXfrm>
        <a:off x="1766988" y="3589628"/>
        <a:ext cx="1303895" cy="809587"/>
      </dsp:txXfrm>
    </dsp:sp>
    <dsp:sp modelId="{16E3920D-E329-46D3-B16F-B02B190F8133}">
      <dsp:nvSpPr>
        <dsp:cNvPr id="0" name=""/>
        <dsp:cNvSpPr/>
      </dsp:nvSpPr>
      <dsp:spPr>
        <a:xfrm>
          <a:off x="3246544"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47C396-7EDC-4F5A-82F1-CFAC2F181A6F}">
      <dsp:nvSpPr>
        <dsp:cNvPr id="0" name=""/>
        <dsp:cNvSpPr/>
      </dsp:nvSpPr>
      <dsp:spPr>
        <a:xfrm>
          <a:off x="3397019"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altLang="zh-CN" sz="1700" kern="1200" dirty="0" smtClean="0"/>
            <a:t>KPI</a:t>
          </a:r>
          <a:r>
            <a:rPr lang="zh-CN" altLang="en-US" sz="1700" kern="1200" dirty="0" smtClean="0"/>
            <a:t>关联分析</a:t>
          </a:r>
          <a:endParaRPr lang="zh-CN" altLang="en-US" sz="1700" kern="1200" dirty="0"/>
        </a:p>
      </dsp:txBody>
      <dsp:txXfrm>
        <a:off x="3422206" y="3589628"/>
        <a:ext cx="1303895" cy="809587"/>
      </dsp:txXfrm>
    </dsp:sp>
    <dsp:sp modelId="{963E961F-3063-4D77-85D0-1A78CB6B38D4}">
      <dsp:nvSpPr>
        <dsp:cNvPr id="0" name=""/>
        <dsp:cNvSpPr/>
      </dsp:nvSpPr>
      <dsp:spPr>
        <a:xfrm>
          <a:off x="4901763"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696540-272F-47AC-A076-8B7D459771DA}">
      <dsp:nvSpPr>
        <dsp:cNvPr id="0" name=""/>
        <dsp:cNvSpPr/>
      </dsp:nvSpPr>
      <dsp:spPr>
        <a:xfrm>
          <a:off x="5052237"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altLang="zh-CN" sz="1700" kern="1200" dirty="0" smtClean="0"/>
            <a:t>KPI</a:t>
          </a:r>
          <a:r>
            <a:rPr lang="zh-CN" altLang="en-US" sz="1700" kern="1200" dirty="0" smtClean="0"/>
            <a:t>聚类</a:t>
          </a:r>
          <a:endParaRPr lang="zh-CN" altLang="en-US" sz="1700" kern="1200" dirty="0"/>
        </a:p>
      </dsp:txBody>
      <dsp:txXfrm>
        <a:off x="5077424" y="3589628"/>
        <a:ext cx="1303895" cy="809587"/>
      </dsp:txXfrm>
    </dsp:sp>
    <dsp:sp modelId="{CB1A7389-C8CD-4A4F-A9AB-8093CF64A947}">
      <dsp:nvSpPr>
        <dsp:cNvPr id="0" name=""/>
        <dsp:cNvSpPr/>
      </dsp:nvSpPr>
      <dsp:spPr>
        <a:xfrm>
          <a:off x="6556981" y="3421491"/>
          <a:ext cx="1354269" cy="8599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6EA016-D91E-445C-9D53-C1BDFCF8FBAE}">
      <dsp:nvSpPr>
        <dsp:cNvPr id="0" name=""/>
        <dsp:cNvSpPr/>
      </dsp:nvSpPr>
      <dsp:spPr>
        <a:xfrm>
          <a:off x="6707455" y="3564441"/>
          <a:ext cx="1354269" cy="8599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zh-CN" altLang="en-US" sz="1700" kern="1200" dirty="0" smtClean="0"/>
            <a:t>全链路模块调用分析</a:t>
          </a:r>
          <a:endParaRPr lang="zh-CN" altLang="en-US" sz="1700" kern="1200" dirty="0"/>
        </a:p>
      </dsp:txBody>
      <dsp:txXfrm>
        <a:off x="6732642" y="3589628"/>
        <a:ext cx="1303895" cy="8095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上次会议提出了构建珠海智慧运营平台</a:t>
            </a:r>
            <a:r>
              <a:rPr lang="en-US" altLang="zh-CN" dirty="0" smtClean="0"/>
              <a:t>-</a:t>
            </a:r>
            <a:r>
              <a:rPr lang="zh-CN" altLang="en-US" dirty="0" smtClean="0"/>
              <a:t>“网络大脑“的提议，并就大脑的三部分功能模块“感知决策控制”展开了深入讨论</a:t>
            </a:r>
            <a:endParaRPr lang="en-US" altLang="zh-CN" dirty="0" smtClean="0"/>
          </a:p>
          <a:p>
            <a:r>
              <a:rPr lang="zh-CN" altLang="en-US" dirty="0" smtClean="0"/>
              <a:t>本次</a:t>
            </a:r>
            <a:r>
              <a:rPr lang="en-US" altLang="zh-CN" dirty="0" err="1" smtClean="0"/>
              <a:t>ppt</a:t>
            </a:r>
            <a:r>
              <a:rPr lang="zh-CN" altLang="en-US" dirty="0" smtClean="0"/>
              <a:t>就在于将“智慧运营”这一概念进行具体化</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a:t>
            </a:fld>
            <a:endParaRPr lang="zh-CN" altLang="en-US"/>
          </a:p>
        </p:txBody>
      </p:sp>
    </p:spTree>
    <p:extLst>
      <p:ext uri="{BB962C8B-B14F-4D97-AF65-F5344CB8AC3E}">
        <p14:creationId xmlns:p14="http://schemas.microsoft.com/office/powerpoint/2010/main" val="165006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a:t>
            </a:fld>
            <a:endParaRPr lang="zh-CN" altLang="en-US"/>
          </a:p>
        </p:txBody>
      </p:sp>
    </p:spTree>
    <p:extLst>
      <p:ext uri="{BB962C8B-B14F-4D97-AF65-F5344CB8AC3E}">
        <p14:creationId xmlns:p14="http://schemas.microsoft.com/office/powerpoint/2010/main" val="1719443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提出科了智能运维的概念。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智能运维在自动化运维的基础上增加了一个基于机器学习的大脑，指挥着监测系统采集大脑决策所需的数据，做出分析、决策并指挥自动化脚本去执行大脑的决策，从而达到运维系统的整体目标。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同时也要清楚认识目前的AI技术擅长什么，不擅长什么，有哪些限制，切忌凡事尽AI。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3884831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完善的自动化运维体系是必须的，</a:t>
            </a:r>
            <a:r>
              <a:rPr lang="en-US" altLang="zh-CN" dirty="0" smtClean="0"/>
              <a:t>AI</a:t>
            </a:r>
            <a:r>
              <a:rPr lang="zh-CN" altLang="en-US" dirty="0" smtClean="0"/>
              <a:t>算法就是大脑，大脑负责快速发现问题和判断根因，一旦找到问题，完善的自动化脚本就在大脑指挥控制下执行相应操作，因此智能化运维（</a:t>
            </a:r>
            <a:r>
              <a:rPr lang="en-US" altLang="zh-CN" dirty="0" err="1" smtClean="0"/>
              <a:t>AIOps</a:t>
            </a:r>
            <a:r>
              <a:rPr lang="zh-CN" altLang="en-US" dirty="0" smtClean="0"/>
              <a:t>必须是建立在高度完善的自动化运维基础之上的）</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A+B+C</a:t>
            </a:r>
            <a:r>
              <a:rPr lang="zh-CN" altLang="en-US" dirty="0" smtClean="0"/>
              <a:t>中的</a:t>
            </a:r>
            <a:r>
              <a:rPr lang="en-US" altLang="zh-CN" dirty="0" smtClean="0"/>
              <a:t>AI</a:t>
            </a:r>
            <a:r>
              <a:rPr lang="zh-CN" altLang="en-US" dirty="0" smtClean="0"/>
              <a:t>不仅指机器学习算法，也包括数据挖掘等技术。</a:t>
            </a: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602983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运维动作执行的一致有效就是指操作的自动化流程化。</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一个“全知”（掌握业务，系统，基础，组织的各种信息）能够客观的，全面的“协调”人，系统，业务的角色。</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3025186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对于我们运维部门来说，训练机器学习算法主要用到五种类型的数据，除了基本的用户、业务、网络、设备等四个层面，还包括了运维事件数据</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运维事件包括运维的操作、服务的上下线等，通过对运维事件数据的学习，对于运维智能化中的异常预测与故障定位等具有重要意义</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数据是必需的，因为最起初，对于不同的应用场景该使用哪种算法模型并不清楚，需要大量数据训练对参数进行更新，然后选择最佳的算法</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7</a:t>
            </a:fld>
            <a:endParaRPr lang="zh-CN" altLang="en-US"/>
          </a:p>
        </p:txBody>
      </p:sp>
    </p:spTree>
    <p:extLst>
      <p:ext uri="{BB962C8B-B14F-4D97-AF65-F5344CB8AC3E}">
        <p14:creationId xmlns:p14="http://schemas.microsoft.com/office/powerpoint/2010/main" val="1362907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8</a:t>
            </a:fld>
            <a:endParaRPr lang="zh-CN" altLang="en-US"/>
          </a:p>
        </p:txBody>
      </p:sp>
    </p:spTree>
    <p:extLst>
      <p:ext uri="{BB962C8B-B14F-4D97-AF65-F5344CB8AC3E}">
        <p14:creationId xmlns:p14="http://schemas.microsoft.com/office/powerpoint/2010/main" val="15626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67717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266836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11</a:t>
            </a:fld>
            <a:endParaRPr lang="zh-CN" altLang="en-US"/>
          </a:p>
        </p:txBody>
      </p:sp>
    </p:spTree>
    <p:extLst>
      <p:ext uri="{BB962C8B-B14F-4D97-AF65-F5344CB8AC3E}">
        <p14:creationId xmlns:p14="http://schemas.microsoft.com/office/powerpoint/2010/main" val="375285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2054853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13</a:t>
            </a:fld>
            <a:endParaRPr lang="zh-CN" altLang="en-US"/>
          </a:p>
        </p:txBody>
      </p:sp>
    </p:spTree>
    <p:extLst>
      <p:ext uri="{BB962C8B-B14F-4D97-AF65-F5344CB8AC3E}">
        <p14:creationId xmlns:p14="http://schemas.microsoft.com/office/powerpoint/2010/main" val="231478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2347714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1155011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3497591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2681756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497210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3254838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1414537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3098010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244928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2332995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564599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会议回顾</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624114" y="1723701"/>
            <a:ext cx="5005161" cy="3315024"/>
          </a:xfrm>
          <a:prstGeom prst="rect">
            <a:avLst/>
          </a:prstGeom>
        </p:spPr>
      </p:pic>
      <p:sp>
        <p:nvSpPr>
          <p:cNvPr id="46" name="Freeform 1"/>
          <p:cNvSpPr>
            <a:spLocks noChangeArrowheads="1"/>
          </p:cNvSpPr>
          <p:nvPr/>
        </p:nvSpPr>
        <p:spPr bwMode="auto">
          <a:xfrm rot="-1380000">
            <a:off x="5721266" y="2232153"/>
            <a:ext cx="5797977" cy="2282967"/>
          </a:xfrm>
          <a:custGeom>
            <a:avLst/>
            <a:gdLst>
              <a:gd name="T0" fmla="*/ 2147483647 w 4040"/>
              <a:gd name="T1" fmla="*/ 26459757 h 1888"/>
              <a:gd name="T2" fmla="*/ 2147483647 w 4040"/>
              <a:gd name="T3" fmla="*/ 163168723 h 1888"/>
              <a:gd name="T4" fmla="*/ 2147483647 w 4040"/>
              <a:gd name="T5" fmla="*/ 401306570 h 1888"/>
              <a:gd name="T6" fmla="*/ 1398508473 w 4040"/>
              <a:gd name="T7" fmla="*/ 727643923 h 1888"/>
              <a:gd name="T8" fmla="*/ 650335021 w 4040"/>
              <a:gd name="T9" fmla="*/ 1124540287 h 1888"/>
              <a:gd name="T10" fmla="*/ 166900107 w 4040"/>
              <a:gd name="T11" fmla="*/ 1583176738 h 1888"/>
              <a:gd name="T12" fmla="*/ 0 w 4040"/>
              <a:gd name="T13" fmla="*/ 2081503178 h 1888"/>
              <a:gd name="T14" fmla="*/ 166900107 w 4040"/>
              <a:gd name="T15" fmla="*/ 2147483647 h 1888"/>
              <a:gd name="T16" fmla="*/ 650335021 w 4040"/>
              <a:gd name="T17" fmla="*/ 2147483647 h 1888"/>
              <a:gd name="T18" fmla="*/ 1398508473 w 4040"/>
              <a:gd name="T19" fmla="*/ 2147483647 h 1888"/>
              <a:gd name="T20" fmla="*/ 2147483647 w 4040"/>
              <a:gd name="T21" fmla="*/ 2147483647 h 1888"/>
              <a:gd name="T22" fmla="*/ 2147483647 w 4040"/>
              <a:gd name="T23" fmla="*/ 2147483647 h 1888"/>
              <a:gd name="T24" fmla="*/ 2147483647 w 4040"/>
              <a:gd name="T25" fmla="*/ 2147483647 h 1888"/>
              <a:gd name="T26" fmla="*/ 2147483647 w 4040"/>
              <a:gd name="T27" fmla="*/ 2147483647 h 1888"/>
              <a:gd name="T28" fmla="*/ 2147483647 w 4040"/>
              <a:gd name="T29" fmla="*/ 2147483647 h 1888"/>
              <a:gd name="T30" fmla="*/ 2147483647 w 4040"/>
              <a:gd name="T31" fmla="*/ 2147483647 h 1888"/>
              <a:gd name="T32" fmla="*/ 2147483647 w 4040"/>
              <a:gd name="T33" fmla="*/ 2147483647 h 1888"/>
              <a:gd name="T34" fmla="*/ 2147483647 w 4040"/>
              <a:gd name="T35" fmla="*/ 2147483647 h 1888"/>
              <a:gd name="T36" fmla="*/ 2147483647 w 4040"/>
              <a:gd name="T37" fmla="*/ 2147483647 h 1888"/>
              <a:gd name="T38" fmla="*/ 2147483647 w 4040"/>
              <a:gd name="T39" fmla="*/ 2147483647 h 1888"/>
              <a:gd name="T40" fmla="*/ 2147483647 w 4040"/>
              <a:gd name="T41" fmla="*/ 1741935210 h 1888"/>
              <a:gd name="T42" fmla="*/ 2147483647 w 4040"/>
              <a:gd name="T43" fmla="*/ 1270069629 h 1888"/>
              <a:gd name="T44" fmla="*/ 2147483647 w 4040"/>
              <a:gd name="T45" fmla="*/ 851122425 h 1888"/>
              <a:gd name="T46" fmla="*/ 2147483647 w 4040"/>
              <a:gd name="T47" fmla="*/ 502735346 h 1888"/>
              <a:gd name="T48" fmla="*/ 2147483647 w 4040"/>
              <a:gd name="T49" fmla="*/ 233727595 h 1888"/>
              <a:gd name="T50" fmla="*/ 2147483647 w 4040"/>
              <a:gd name="T51" fmla="*/ 61739924 h 1888"/>
              <a:gd name="T52" fmla="*/ 2147483647 w 4040"/>
              <a:gd name="T53" fmla="*/ 0 h 1888"/>
              <a:gd name="T54" fmla="*/ 2147483647 w 4040"/>
              <a:gd name="T55" fmla="*/ 2147483647 h 1888"/>
              <a:gd name="T56" fmla="*/ 2147483647 w 4040"/>
              <a:gd name="T57" fmla="*/ 2147483647 h 1888"/>
              <a:gd name="T58" fmla="*/ 2147483647 w 4040"/>
              <a:gd name="T59" fmla="*/ 2147483647 h 1888"/>
              <a:gd name="T60" fmla="*/ 1317937145 w 4040"/>
              <a:gd name="T61" fmla="*/ 2147483647 h 1888"/>
              <a:gd name="T62" fmla="*/ 644581017 w 4040"/>
              <a:gd name="T63" fmla="*/ 2147483647 h 1888"/>
              <a:gd name="T64" fmla="*/ 253227189 w 4040"/>
              <a:gd name="T65" fmla="*/ 2147483647 h 1888"/>
              <a:gd name="T66" fmla="*/ 195676914 w 4040"/>
              <a:gd name="T67" fmla="*/ 1905103886 h 1888"/>
              <a:gd name="T68" fmla="*/ 477679267 w 4040"/>
              <a:gd name="T69" fmla="*/ 1464108256 h 1888"/>
              <a:gd name="T70" fmla="*/ 1064708366 w 4040"/>
              <a:gd name="T71" fmla="*/ 1071620797 h 1888"/>
              <a:gd name="T72" fmla="*/ 1904964760 w 4040"/>
              <a:gd name="T73" fmla="*/ 740873053 h 1888"/>
              <a:gd name="T74" fmla="*/ 2147483647 w 4040"/>
              <a:gd name="T75" fmla="*/ 489506215 h 1888"/>
              <a:gd name="T76" fmla="*/ 2147483647 w 4040"/>
              <a:gd name="T77" fmla="*/ 326337446 h 1888"/>
              <a:gd name="T78" fmla="*/ 2147483647 w 4040"/>
              <a:gd name="T79" fmla="*/ 264597545 h 1888"/>
              <a:gd name="T80" fmla="*/ 2147483647 w 4040"/>
              <a:gd name="T81" fmla="*/ 326337446 h 1888"/>
              <a:gd name="T82" fmla="*/ 2147483647 w 4040"/>
              <a:gd name="T83" fmla="*/ 489506215 h 1888"/>
              <a:gd name="T84" fmla="*/ 2147483647 w 4040"/>
              <a:gd name="T85" fmla="*/ 740873053 h 1888"/>
              <a:gd name="T86" fmla="*/ 2147483647 w 4040"/>
              <a:gd name="T87" fmla="*/ 1071620797 h 1888"/>
              <a:gd name="T88" fmla="*/ 2147483647 w 4040"/>
              <a:gd name="T89" fmla="*/ 1464108256 h 1888"/>
              <a:gd name="T90" fmla="*/ 2147483647 w 4040"/>
              <a:gd name="T91" fmla="*/ 1905103886 h 1888"/>
              <a:gd name="T92" fmla="*/ 2147483647 w 4040"/>
              <a:gd name="T93" fmla="*/ 2147483647 h 1888"/>
              <a:gd name="T94" fmla="*/ 2147483647 w 4040"/>
              <a:gd name="T95" fmla="*/ 2147483647 h 1888"/>
              <a:gd name="T96" fmla="*/ 2147483647 w 4040"/>
              <a:gd name="T97" fmla="*/ 2147483647 h 1888"/>
              <a:gd name="T98" fmla="*/ 2147483647 w 4040"/>
              <a:gd name="T99" fmla="*/ 2147483647 h 1888"/>
              <a:gd name="T100" fmla="*/ 2147483647 w 4040"/>
              <a:gd name="T101" fmla="*/ 2147483647 h 1888"/>
              <a:gd name="T102" fmla="*/ 2147483647 w 4040"/>
              <a:gd name="T103" fmla="*/ 2147483647 h 18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040"/>
              <a:gd name="T157" fmla="*/ 0 h 1888"/>
              <a:gd name="T158" fmla="*/ 4040 w 4040"/>
              <a:gd name="T159" fmla="*/ 1888 h 188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0">
            <a:gsLst>
              <a:gs pos="0">
                <a:srgbClr val="83B7E7"/>
              </a:gs>
              <a:gs pos="100000">
                <a:srgbClr val="F2F7FB"/>
              </a:gs>
            </a:gsLst>
            <a:lin ang="10800000" scaled="1"/>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7" name="Oval 2"/>
          <p:cNvSpPr>
            <a:spLocks noChangeArrowheads="1"/>
          </p:cNvSpPr>
          <p:nvPr/>
        </p:nvSpPr>
        <p:spPr bwMode="auto">
          <a:xfrm rot="-1560000">
            <a:off x="8230770" y="2129556"/>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8" name="Oval 3"/>
          <p:cNvSpPr>
            <a:spLocks noChangeArrowheads="1"/>
          </p:cNvSpPr>
          <p:nvPr/>
        </p:nvSpPr>
        <p:spPr bwMode="auto">
          <a:xfrm rot="-1560000">
            <a:off x="10453039" y="3273601"/>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49" name="Oval 4"/>
          <p:cNvSpPr>
            <a:spLocks noChangeArrowheads="1"/>
          </p:cNvSpPr>
          <p:nvPr/>
        </p:nvSpPr>
        <p:spPr bwMode="auto">
          <a:xfrm rot="-1560000">
            <a:off x="7544645" y="4596007"/>
            <a:ext cx="902534" cy="248205"/>
          </a:xfrm>
          <a:prstGeom prst="ellipse">
            <a:avLst/>
          </a:prstGeom>
          <a:solidFill>
            <a:srgbClr val="020A53">
              <a:alpha val="70195"/>
            </a:srgbClr>
          </a:soli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0" name="Oval 8"/>
          <p:cNvSpPr>
            <a:spLocks noChangeArrowheads="1"/>
          </p:cNvSpPr>
          <p:nvPr/>
        </p:nvSpPr>
        <p:spPr bwMode="auto">
          <a:xfrm>
            <a:off x="7784649" y="1451978"/>
            <a:ext cx="1086533" cy="1038065"/>
          </a:xfrm>
          <a:prstGeom prst="ellipse">
            <a:avLst/>
          </a:prstGeom>
          <a:gradFill rotWithShape="0">
            <a:gsLst>
              <a:gs pos="0">
                <a:srgbClr val="8A52C8"/>
              </a:gs>
              <a:gs pos="100000">
                <a:srgbClr val="2F1C44"/>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1" name="Oval 10"/>
          <p:cNvSpPr>
            <a:spLocks noChangeArrowheads="1"/>
          </p:cNvSpPr>
          <p:nvPr/>
        </p:nvSpPr>
        <p:spPr bwMode="auto">
          <a:xfrm>
            <a:off x="7048506" y="3901236"/>
            <a:ext cx="1085190" cy="1038064"/>
          </a:xfrm>
          <a:prstGeom prst="ellipse">
            <a:avLst/>
          </a:prstGeom>
          <a:gradFill rotWithShape="0">
            <a:gsLst>
              <a:gs pos="0">
                <a:srgbClr val="2F7ADF"/>
              </a:gs>
              <a:gs pos="100000">
                <a:srgbClr val="102B4F"/>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2" name="Oval 12"/>
          <p:cNvSpPr>
            <a:spLocks noChangeArrowheads="1"/>
          </p:cNvSpPr>
          <p:nvPr/>
        </p:nvSpPr>
        <p:spPr bwMode="auto">
          <a:xfrm>
            <a:off x="9997821" y="2614999"/>
            <a:ext cx="1026095" cy="1038065"/>
          </a:xfrm>
          <a:prstGeom prst="ellipse">
            <a:avLst/>
          </a:prstGeom>
          <a:gradFill rotWithShape="0">
            <a:gsLst>
              <a:gs pos="0">
                <a:srgbClr val="DD8739"/>
              </a:gs>
              <a:gs pos="100000">
                <a:srgbClr val="4B2E13"/>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53" name="Text Box 14"/>
          <p:cNvSpPr txBox="1">
            <a:spLocks noChangeArrowheads="1"/>
          </p:cNvSpPr>
          <p:nvPr/>
        </p:nvSpPr>
        <p:spPr bwMode="auto">
          <a:xfrm>
            <a:off x="7909945" y="1711783"/>
            <a:ext cx="938995"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感知</a:t>
            </a:r>
            <a:endParaRPr lang="en-GB" altLang="zh-CN" sz="2400" b="1" dirty="0">
              <a:solidFill>
                <a:srgbClr val="FFFFFF"/>
              </a:solidFill>
              <a:latin typeface="Verdana" pitchFamily="34" charset="0"/>
            </a:endParaRPr>
          </a:p>
        </p:txBody>
      </p:sp>
      <p:sp>
        <p:nvSpPr>
          <p:cNvPr id="79" name="Text Box 15"/>
          <p:cNvSpPr txBox="1">
            <a:spLocks noChangeArrowheads="1"/>
          </p:cNvSpPr>
          <p:nvPr/>
        </p:nvSpPr>
        <p:spPr bwMode="auto">
          <a:xfrm>
            <a:off x="10105834" y="2929111"/>
            <a:ext cx="81007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决策</a:t>
            </a:r>
            <a:endParaRPr lang="en-GB" altLang="zh-CN" sz="2400" b="1" dirty="0">
              <a:solidFill>
                <a:srgbClr val="FFFFFF"/>
              </a:solidFill>
              <a:latin typeface="Verdana" pitchFamily="34" charset="0"/>
            </a:endParaRPr>
          </a:p>
        </p:txBody>
      </p:sp>
      <p:sp>
        <p:nvSpPr>
          <p:cNvPr id="80" name="Text Box 17"/>
          <p:cNvSpPr txBox="1">
            <a:spLocks noChangeArrowheads="1"/>
          </p:cNvSpPr>
          <p:nvPr/>
        </p:nvSpPr>
        <p:spPr bwMode="auto">
          <a:xfrm>
            <a:off x="7224696" y="4251880"/>
            <a:ext cx="84144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控制</a:t>
            </a:r>
            <a:endParaRPr lang="en-GB" altLang="zh-CN" sz="2400" b="1" dirty="0">
              <a:solidFill>
                <a:srgbClr val="FFFFFF"/>
              </a:solidFill>
              <a:latin typeface="Verdana" pitchFamily="34" charset="0"/>
            </a:endParaRPr>
          </a:p>
        </p:txBody>
      </p:sp>
      <p:sp>
        <p:nvSpPr>
          <p:cNvPr id="81" name="Text Box 18"/>
          <p:cNvSpPr txBox="1">
            <a:spLocks noChangeArrowheads="1"/>
          </p:cNvSpPr>
          <p:nvPr/>
        </p:nvSpPr>
        <p:spPr bwMode="auto">
          <a:xfrm>
            <a:off x="7535912" y="3072532"/>
            <a:ext cx="2191869" cy="525401"/>
          </a:xfrm>
          <a:prstGeom prst="rect">
            <a:avLst/>
          </a:prstGeom>
          <a:noFill/>
          <a:ln w="9525">
            <a:noFill/>
            <a:round/>
            <a:headEnd/>
            <a:tailEnd/>
          </a:ln>
        </p:spPr>
        <p:txBody>
          <a:bodyPr wrap="square" lIns="90000" tIns="46800" rIns="90000" bIns="46800">
            <a:spAutoFit/>
          </a:bodyPr>
          <a:lstStyle/>
          <a:p>
            <a:pPr algn="ctr" defTabSz="449263" eaLnBrk="0" hangingPunct="0">
              <a:buClr>
                <a:srgbClr val="FFFFFF"/>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800" b="1" dirty="0" smtClean="0">
                <a:solidFill>
                  <a:srgbClr val="FF0000"/>
                </a:solidFill>
              </a:rPr>
              <a:t>网络大脑</a:t>
            </a:r>
            <a:endParaRPr lang="en-GB" altLang="zh-CN" sz="2800" b="1" dirty="0">
              <a:solidFill>
                <a:srgbClr val="FF0000"/>
              </a:solidFill>
            </a:endParaRPr>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运维发展历史</a:t>
            </a:r>
            <a:endParaRPr lang="zh-CN" altLang="en-US" dirty="0">
              <a:solidFill>
                <a:srgbClr val="333F50"/>
              </a:solidFill>
            </a:endParaRPr>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zh-CN" altLang="en-US" sz="2400" dirty="0"/>
          </a:p>
        </p:txBody>
      </p:sp>
      <p:sp>
        <p:nvSpPr>
          <p:cNvPr id="7" name="上箭头 6"/>
          <p:cNvSpPr/>
          <p:nvPr/>
        </p:nvSpPr>
        <p:spPr>
          <a:xfrm rot="5400000">
            <a:off x="3772056" y="1780216"/>
            <a:ext cx="490764" cy="614589"/>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extLst>
              <p:ext uri="{D42A27DB-BD31-4B8C-83A1-F6EECF244321}">
                <p14:modId xmlns:p14="http://schemas.microsoft.com/office/powerpoint/2010/main" val="4251854966"/>
              </p:ext>
            </p:extLst>
          </p:nvPr>
        </p:nvGraphicFramePr>
        <p:xfrm>
          <a:off x="1743075" y="3349027"/>
          <a:ext cx="4690836" cy="2537340"/>
        </p:xfrm>
        <a:graphic>
          <a:graphicData uri="http://schemas.openxmlformats.org/drawingml/2006/chart">
            <c:chart xmlns:c="http://schemas.openxmlformats.org/drawingml/2006/chart" xmlns:r="http://schemas.openxmlformats.org/officeDocument/2006/relationships" r:id="rId3"/>
          </a:graphicData>
        </a:graphic>
      </p:graphicFrame>
      <p:sp>
        <p:nvSpPr>
          <p:cNvPr id="32" name="文本框 31"/>
          <p:cNvSpPr txBox="1"/>
          <p:nvPr/>
        </p:nvSpPr>
        <p:spPr>
          <a:xfrm>
            <a:off x="6789235" y="3750059"/>
            <a:ext cx="4300311" cy="1754326"/>
          </a:xfrm>
          <a:prstGeom prst="rect">
            <a:avLst/>
          </a:prstGeom>
          <a:noFill/>
        </p:spPr>
        <p:txBody>
          <a:bodyPr wrap="square" rtlCol="0">
            <a:spAutoFit/>
          </a:bodyPr>
          <a:lstStyle/>
          <a:p>
            <a:pPr indent="457200">
              <a:lnSpc>
                <a:spcPct val="150000"/>
              </a:lnSpc>
            </a:pPr>
            <a:r>
              <a:rPr lang="zh-CN" altLang="en-US" dirty="0" smtClean="0"/>
              <a:t>新的挑战：</a:t>
            </a:r>
            <a:endParaRPr lang="en-US" altLang="zh-CN" dirty="0" smtClean="0"/>
          </a:p>
          <a:p>
            <a:pPr marL="285750" indent="-285750">
              <a:lnSpc>
                <a:spcPct val="150000"/>
              </a:lnSpc>
              <a:buFont typeface="Arial" panose="020B0604020202020204" pitchFamily="34" charset="0"/>
              <a:buChar char="•"/>
            </a:pPr>
            <a:r>
              <a:rPr lang="zh-CN" altLang="en-US" dirty="0" smtClean="0"/>
              <a:t>服务数量指数级增长</a:t>
            </a:r>
            <a:endParaRPr lang="en-US" altLang="zh-CN" dirty="0" smtClean="0"/>
          </a:p>
          <a:p>
            <a:pPr marL="285750" indent="-285750">
              <a:lnSpc>
                <a:spcPct val="150000"/>
              </a:lnSpc>
              <a:buFont typeface="Arial" panose="020B0604020202020204" pitchFamily="34" charset="0"/>
              <a:buChar char="•"/>
            </a:pPr>
            <a:r>
              <a:rPr lang="zh-CN" altLang="en-US" dirty="0" smtClean="0"/>
              <a:t>繁杂的报警信息</a:t>
            </a:r>
            <a:endParaRPr lang="en-US" altLang="zh-CN" dirty="0" smtClean="0"/>
          </a:p>
          <a:p>
            <a:pPr marL="285750" indent="-285750">
              <a:lnSpc>
                <a:spcPct val="150000"/>
              </a:lnSpc>
              <a:buFont typeface="Arial" panose="020B0604020202020204" pitchFamily="34" charset="0"/>
              <a:buChar char="•"/>
            </a:pPr>
            <a:r>
              <a:rPr lang="zh-CN" altLang="en-US" dirty="0" smtClean="0"/>
              <a:t>故障发生如何定位</a:t>
            </a:r>
            <a:endParaRPr lang="en-US" altLang="zh-CN" dirty="0" smtClean="0"/>
          </a:p>
        </p:txBody>
      </p:sp>
    </p:spTree>
    <p:extLst>
      <p:ext uri="{BB962C8B-B14F-4D97-AF65-F5344CB8AC3E}">
        <p14:creationId xmlns:p14="http://schemas.microsoft.com/office/powerpoint/2010/main" val="32586099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fill="hold"/>
                                        <p:tgtEl>
                                          <p:spTgt spid="21"/>
                                        </p:tgtEl>
                                        <p:attrNameLst>
                                          <p:attrName>ppt_x</p:attrName>
                                        </p:attrNameLst>
                                      </p:cBhvr>
                                      <p:tavLst>
                                        <p:tav tm="0">
                                          <p:val>
                                            <p:strVal val="#ppt_x"/>
                                          </p:val>
                                        </p:tav>
                                        <p:tav tm="100000">
                                          <p:val>
                                            <p:strVal val="#ppt_x"/>
                                          </p:val>
                                        </p:tav>
                                      </p:tavLst>
                                    </p:anim>
                                    <p:anim calcmode="lin" valueType="num">
                                      <p:cBhvr additive="base">
                                        <p:cTn id="2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arn(inVertical)">
                                      <p:cBhvr>
                                        <p:cTn id="34" dur="500"/>
                                        <p:tgtEl>
                                          <p:spTgt spid="32"/>
                                        </p:tgtEl>
                                      </p:cBhvr>
                                    </p:animEffect>
                                  </p:childTnLst>
                                </p:cTn>
                              </p:par>
                              <p:par>
                                <p:cTn id="35" presetID="2" presetClass="entr" presetSubtype="4"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err="1" smtClean="0">
                <a:solidFill>
                  <a:srgbClr val="333F50"/>
                </a:solidFill>
              </a:rPr>
              <a:t>AIOps</a:t>
            </a:r>
            <a:r>
              <a:rPr lang="zh-CN" altLang="en-US" dirty="0" smtClean="0">
                <a:solidFill>
                  <a:srgbClr val="333F50"/>
                </a:solidFill>
              </a:rPr>
              <a:t>（</a:t>
            </a:r>
            <a:r>
              <a:rPr lang="en-US" altLang="zh-CN" dirty="0">
                <a:solidFill>
                  <a:srgbClr val="333F50"/>
                </a:solidFill>
              </a:rPr>
              <a:t>A</a:t>
            </a:r>
            <a:r>
              <a:rPr lang="en-US" altLang="zh-CN" dirty="0" smtClean="0">
                <a:solidFill>
                  <a:srgbClr val="333F50"/>
                </a:solidFill>
              </a:rPr>
              <a:t>lgorithm IT Operations</a:t>
            </a:r>
            <a:r>
              <a:rPr lang="zh-CN" altLang="en-US" dirty="0" smtClean="0">
                <a:solidFill>
                  <a:srgbClr val="333F50"/>
                </a:solidFill>
              </a:rPr>
              <a:t>）</a:t>
            </a:r>
            <a:endParaRPr lang="zh-CN" altLang="en-US" dirty="0">
              <a:solidFill>
                <a:srgbClr val="333F50"/>
              </a:solidFill>
            </a:endParaRPr>
          </a:p>
        </p:txBody>
      </p:sp>
      <p:graphicFrame>
        <p:nvGraphicFramePr>
          <p:cNvPr id="14" name="图表 13"/>
          <p:cNvGraphicFramePr/>
          <p:nvPr>
            <p:extLst>
              <p:ext uri="{D42A27DB-BD31-4B8C-83A1-F6EECF244321}">
                <p14:modId xmlns:p14="http://schemas.microsoft.com/office/powerpoint/2010/main" val="3125375623"/>
              </p:ext>
            </p:extLst>
          </p:nvPr>
        </p:nvGraphicFramePr>
        <p:xfrm>
          <a:off x="5698731" y="3237534"/>
          <a:ext cx="5330825" cy="2631592"/>
        </p:xfrm>
        <a:graphic>
          <a:graphicData uri="http://schemas.openxmlformats.org/drawingml/2006/chart">
            <c:chart xmlns:c="http://schemas.openxmlformats.org/drawingml/2006/chart" xmlns:r="http://schemas.openxmlformats.org/officeDocument/2006/relationships" r:id="rId3"/>
          </a:graphicData>
        </a:graphic>
      </p:graphicFrame>
      <p:sp>
        <p:nvSpPr>
          <p:cNvPr id="2" name="文本框 1"/>
          <p:cNvSpPr txBox="1"/>
          <p:nvPr/>
        </p:nvSpPr>
        <p:spPr>
          <a:xfrm>
            <a:off x="5698731" y="1313281"/>
            <a:ext cx="4171375" cy="923330"/>
          </a:xfrm>
          <a:prstGeom prst="rect">
            <a:avLst/>
          </a:prstGeom>
          <a:noFill/>
        </p:spPr>
        <p:txBody>
          <a:bodyPr wrap="square" rtlCol="0">
            <a:spAutoFit/>
          </a:bodyPr>
          <a:lstStyle/>
          <a:p>
            <a:pPr indent="457200">
              <a:lnSpc>
                <a:spcPct val="150000"/>
              </a:lnSpc>
            </a:pPr>
            <a:r>
              <a:rPr lang="en-US" altLang="zh-CN" dirty="0" smtClean="0"/>
              <a:t>Ops = </a:t>
            </a:r>
            <a:r>
              <a:rPr lang="zh-CN" altLang="en-US" dirty="0" smtClean="0"/>
              <a:t>运维场景（主旨）</a:t>
            </a:r>
            <a:endParaRPr lang="en-US" altLang="zh-CN" dirty="0" smtClean="0"/>
          </a:p>
          <a:p>
            <a:pPr indent="457200">
              <a:lnSpc>
                <a:spcPct val="150000"/>
              </a:lnSpc>
            </a:pPr>
            <a:r>
              <a:rPr lang="en-US" altLang="zh-CN" dirty="0" smtClean="0"/>
              <a:t>AI = </a:t>
            </a:r>
            <a:r>
              <a:rPr lang="zh-CN" altLang="en-US" dirty="0" smtClean="0"/>
              <a:t>代表技术（手段）</a:t>
            </a:r>
            <a:endParaRPr lang="zh-CN" altLang="en-US" dirty="0"/>
          </a:p>
        </p:txBody>
      </p:sp>
      <p:sp>
        <p:nvSpPr>
          <p:cNvPr id="8" name="文本框 7"/>
          <p:cNvSpPr txBox="1"/>
          <p:nvPr/>
        </p:nvSpPr>
        <p:spPr>
          <a:xfrm>
            <a:off x="346981" y="2080808"/>
            <a:ext cx="4772025" cy="1338828"/>
          </a:xfrm>
          <a:prstGeom prst="rect">
            <a:avLst/>
          </a:prstGeom>
          <a:noFill/>
        </p:spPr>
        <p:txBody>
          <a:bodyPr wrap="square" rtlCol="0">
            <a:spAutoFit/>
          </a:bodyPr>
          <a:lstStyle/>
          <a:p>
            <a:pPr indent="457200">
              <a:lnSpc>
                <a:spcPct val="150000"/>
              </a:lnSpc>
            </a:pPr>
            <a:r>
              <a:rPr lang="zh-CN" altLang="en-US" dirty="0" smtClean="0"/>
              <a:t>传统自动化运维的缺点：</a:t>
            </a:r>
            <a:endParaRPr lang="en-US" altLang="zh-CN" dirty="0"/>
          </a:p>
          <a:p>
            <a:pPr marL="285750" indent="-285750">
              <a:lnSpc>
                <a:spcPct val="150000"/>
              </a:lnSpc>
              <a:buFont typeface="Arial" panose="020B0604020202020204" pitchFamily="34" charset="0"/>
              <a:buChar char="•"/>
            </a:pPr>
            <a:r>
              <a:rPr lang="zh-CN" altLang="en-US" dirty="0" smtClean="0"/>
              <a:t>根据人为制定流程，不能自主适应</a:t>
            </a:r>
            <a:endParaRPr lang="en-US" altLang="zh-CN" dirty="0" smtClean="0"/>
          </a:p>
          <a:p>
            <a:pPr marL="285750" indent="-285750">
              <a:lnSpc>
                <a:spcPct val="150000"/>
              </a:lnSpc>
              <a:buFont typeface="Arial" panose="020B0604020202020204" pitchFamily="34" charset="0"/>
              <a:buChar char="•"/>
            </a:pPr>
            <a:r>
              <a:rPr lang="zh-CN" altLang="en-US" dirty="0" smtClean="0"/>
              <a:t>无法面临新的挑战和大规模运维问题</a:t>
            </a:r>
            <a:endParaRPr lang="en-US" altLang="zh-CN" dirty="0" smtClean="0"/>
          </a:p>
        </p:txBody>
      </p:sp>
      <p:sp>
        <p:nvSpPr>
          <p:cNvPr id="9" name="文本框 8"/>
          <p:cNvSpPr txBox="1"/>
          <p:nvPr/>
        </p:nvSpPr>
        <p:spPr>
          <a:xfrm>
            <a:off x="346981" y="4002318"/>
            <a:ext cx="3947886" cy="1754326"/>
          </a:xfrm>
          <a:prstGeom prst="rect">
            <a:avLst/>
          </a:prstGeom>
          <a:noFill/>
        </p:spPr>
        <p:txBody>
          <a:bodyPr wrap="square" rtlCol="0">
            <a:spAutoFit/>
          </a:bodyPr>
          <a:lstStyle/>
          <a:p>
            <a:pPr indent="457200">
              <a:lnSpc>
                <a:spcPct val="150000"/>
              </a:lnSpc>
            </a:pPr>
            <a:r>
              <a:rPr lang="zh-CN" altLang="en-US" dirty="0" smtClean="0"/>
              <a:t>智能</a:t>
            </a:r>
            <a:r>
              <a:rPr lang="zh-CN" altLang="en-US" dirty="0"/>
              <a:t>运</a:t>
            </a:r>
            <a:r>
              <a:rPr lang="zh-CN" altLang="en-US" dirty="0" smtClean="0"/>
              <a:t>维：</a:t>
            </a:r>
            <a:endParaRPr lang="en-US" altLang="zh-CN" dirty="0" smtClean="0"/>
          </a:p>
          <a:p>
            <a:pPr marL="285750" indent="-285750">
              <a:lnSpc>
                <a:spcPct val="150000"/>
              </a:lnSpc>
              <a:buFont typeface="Arial" panose="020B0604020202020204" pitchFamily="34" charset="0"/>
              <a:buChar char="•"/>
            </a:pPr>
            <a:r>
              <a:rPr lang="zh-CN" altLang="en-US" dirty="0" smtClean="0"/>
              <a:t>机器学习</a:t>
            </a:r>
            <a:r>
              <a:rPr lang="zh-CN" altLang="en-US" dirty="0"/>
              <a:t>算法自动地从海量运维数</a:t>
            </a:r>
            <a:r>
              <a:rPr lang="zh-CN" altLang="en-US" dirty="0" smtClean="0"/>
              <a:t>据中</a:t>
            </a:r>
            <a:r>
              <a:rPr lang="zh-CN" altLang="en-US" dirty="0"/>
              <a:t>不断地学习，不断地提炼并总结规则</a:t>
            </a:r>
            <a:r>
              <a:rPr lang="zh-CN" altLang="en-US" dirty="0" smtClean="0"/>
              <a:t>。</a:t>
            </a:r>
            <a:endParaRPr lang="zh-CN" altLang="en-US" dirty="0"/>
          </a:p>
        </p:txBody>
      </p:sp>
      <p:sp>
        <p:nvSpPr>
          <p:cNvPr id="19" name="矩形 18"/>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b="1" dirty="0">
                <a:solidFill>
                  <a:srgbClr val="FF0000"/>
                </a:solidFill>
              </a:rPr>
              <a:t>通过人工智能的方式，进一步提升运维效率，包括运维决策、故障预测和问题分析等</a:t>
            </a:r>
            <a:endParaRPr lang="zh-CN" altLang="en-US" sz="2400" b="1" dirty="0">
              <a:solidFill>
                <a:srgbClr val="FF0000"/>
              </a:solidFill>
            </a:endParaRPr>
          </a:p>
        </p:txBody>
      </p:sp>
    </p:spTree>
    <p:extLst>
      <p:ext uri="{BB962C8B-B14F-4D97-AF65-F5344CB8AC3E}">
        <p14:creationId xmlns:p14="http://schemas.microsoft.com/office/powerpoint/2010/main" val="14931399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righ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P spid="2" grpId="0"/>
      <p:bldP spid="8" grpId="0"/>
      <p:bldP spid="9" grpId="0"/>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 name="文本框 2"/>
          <p:cNvSpPr txBox="1"/>
          <p:nvPr/>
        </p:nvSpPr>
        <p:spPr>
          <a:xfrm>
            <a:off x="603504" y="1744614"/>
            <a:ext cx="4323798"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适合的运维场景和正确的问题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cxnSp>
        <p:nvCxnSpPr>
          <p:cNvPr id="39" name="直接连接符 38"/>
          <p:cNvCxnSpPr/>
          <p:nvPr/>
        </p:nvCxnSpPr>
        <p:spPr>
          <a:xfrm>
            <a:off x="7951537" y="1904544"/>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0" name="直接连接符 39"/>
          <p:cNvCxnSpPr/>
          <p:nvPr/>
        </p:nvCxnSpPr>
        <p:spPr>
          <a:xfrm flipH="1">
            <a:off x="6503043" y="3232105"/>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1" name="直接连接符 40"/>
          <p:cNvCxnSpPr/>
          <p:nvPr/>
        </p:nvCxnSpPr>
        <p:spPr>
          <a:xfrm>
            <a:off x="8126912" y="3232105"/>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42" name="矩形 6"/>
          <p:cNvSpPr>
            <a:spLocks noChangeArrowheads="1"/>
          </p:cNvSpPr>
          <p:nvPr/>
        </p:nvSpPr>
        <p:spPr bwMode="auto">
          <a:xfrm>
            <a:off x="5259896" y="3937584"/>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自动化脚本</a:t>
            </a:r>
            <a:endParaRPr lang="zh-CN" altLang="en-US" sz="1200" dirty="0">
              <a:solidFill>
                <a:schemeClr val="bg2">
                  <a:lumMod val="10000"/>
                </a:schemeClr>
              </a:solidFill>
              <a:latin typeface="Century Gothic" panose="020B0502020202020204" pitchFamily="34" charset="0"/>
            </a:endParaRPr>
          </a:p>
        </p:txBody>
      </p:sp>
      <p:sp>
        <p:nvSpPr>
          <p:cNvPr id="43" name="矩形 6"/>
          <p:cNvSpPr>
            <a:spLocks noChangeArrowheads="1"/>
          </p:cNvSpPr>
          <p:nvPr/>
        </p:nvSpPr>
        <p:spPr bwMode="auto">
          <a:xfrm>
            <a:off x="8818055" y="3937583"/>
            <a:ext cx="13699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机器学习</a:t>
            </a:r>
            <a:endParaRPr lang="zh-CN" altLang="en-US" sz="1200" dirty="0">
              <a:solidFill>
                <a:schemeClr val="bg2">
                  <a:lumMod val="10000"/>
                </a:schemeClr>
              </a:solidFill>
              <a:latin typeface="Century Gothic" panose="020B0502020202020204" pitchFamily="34" charset="0"/>
            </a:endParaRPr>
          </a:p>
        </p:txBody>
      </p:sp>
      <p:sp>
        <p:nvSpPr>
          <p:cNvPr id="44" name="矩形 6"/>
          <p:cNvSpPr>
            <a:spLocks noChangeArrowheads="1"/>
          </p:cNvSpPr>
          <p:nvPr/>
        </p:nvSpPr>
        <p:spPr bwMode="auto">
          <a:xfrm>
            <a:off x="7289204" y="1055119"/>
            <a:ext cx="1369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fontAlgn="base">
              <a:spcBef>
                <a:spcPct val="0"/>
              </a:spcBef>
              <a:spcAft>
                <a:spcPct val="0"/>
              </a:spcAft>
            </a:pPr>
            <a:r>
              <a:rPr lang="zh-CN" altLang="en-US" sz="1200" dirty="0" smtClean="0">
                <a:solidFill>
                  <a:schemeClr val="bg2">
                    <a:lumMod val="10000"/>
                  </a:schemeClr>
                </a:solidFill>
                <a:latin typeface="微软雅黑" panose="020B0503020204020204" pitchFamily="34" charset="-122"/>
                <a:ea typeface="微软雅黑" panose="020B0503020204020204" pitchFamily="34" charset="-122"/>
              </a:rPr>
              <a:t>对海量日志的监测</a:t>
            </a:r>
            <a:endParaRPr lang="zh-CN" altLang="en-US" sz="1200" dirty="0">
              <a:solidFill>
                <a:schemeClr val="bg2">
                  <a:lumMod val="10000"/>
                </a:schemeClr>
              </a:solidFill>
              <a:latin typeface="Century Gothic" panose="020B0502020202020204" pitchFamily="34" charset="0"/>
            </a:endParaRPr>
          </a:p>
        </p:txBody>
      </p:sp>
      <p:grpSp>
        <p:nvGrpSpPr>
          <p:cNvPr id="45" name="组合 44"/>
          <p:cNvGrpSpPr/>
          <p:nvPr/>
        </p:nvGrpSpPr>
        <p:grpSpPr>
          <a:xfrm>
            <a:off x="7661174" y="2915864"/>
            <a:ext cx="540034" cy="538834"/>
            <a:chOff x="5932231" y="4415044"/>
            <a:chExt cx="488440" cy="509247"/>
          </a:xfrm>
        </p:grpSpPr>
        <p:sp>
          <p:nvSpPr>
            <p:cNvPr id="46" name="椭圆 45"/>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47" name="矩形 46"/>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endParaRPr lang="zh-CN" altLang="en-US" sz="2800" b="1" dirty="0">
                <a:solidFill>
                  <a:srgbClr val="EAE7D4"/>
                </a:solidFill>
                <a:ea typeface="微软雅黑" pitchFamily="34" charset="-122"/>
              </a:endParaRPr>
            </a:p>
          </p:txBody>
        </p:sp>
      </p:grpSp>
      <p:sp>
        <p:nvSpPr>
          <p:cNvPr id="48" name="等腰三角形 47"/>
          <p:cNvSpPr/>
          <p:nvPr/>
        </p:nvSpPr>
        <p:spPr>
          <a:xfrm>
            <a:off x="6395830" y="1886560"/>
            <a:ext cx="3134514" cy="1826103"/>
          </a:xfrm>
          <a:prstGeom prst="triangle">
            <a:avLst/>
          </a:prstGeom>
          <a:noFill/>
          <a:ln w="28575" cap="flat" cmpd="sng" algn="ctr">
            <a:solidFill>
              <a:schemeClr val="tx1"/>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solidFill>
                <a:schemeClr val="bg2">
                  <a:lumMod val="10000"/>
                </a:schemeClr>
              </a:solidFill>
            </a:endParaRPr>
          </a:p>
        </p:txBody>
      </p:sp>
      <p:sp>
        <p:nvSpPr>
          <p:cNvPr id="50" name="椭圆 49"/>
          <p:cNvSpPr/>
          <p:nvPr/>
        </p:nvSpPr>
        <p:spPr>
          <a:xfrm>
            <a:off x="7712971" y="1624907"/>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sz="1200" dirty="0">
              <a:solidFill>
                <a:prstClr val="white"/>
              </a:solidFill>
            </a:endParaRPr>
          </a:p>
        </p:txBody>
      </p:sp>
      <p:grpSp>
        <p:nvGrpSpPr>
          <p:cNvPr id="52" name="组合 51"/>
          <p:cNvGrpSpPr/>
          <p:nvPr/>
        </p:nvGrpSpPr>
        <p:grpSpPr>
          <a:xfrm>
            <a:off x="9254741" y="3446464"/>
            <a:ext cx="526956" cy="446384"/>
            <a:chOff x="7402397" y="5003093"/>
            <a:chExt cx="859892" cy="810266"/>
          </a:xfrm>
        </p:grpSpPr>
        <p:sp>
          <p:nvSpPr>
            <p:cNvPr id="53" name="椭圆 52"/>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54" name="矩形 53"/>
            <p:cNvSpPr/>
            <p:nvPr/>
          </p:nvSpPr>
          <p:spPr>
            <a:xfrm>
              <a:off x="7458716" y="5199286"/>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决策</a:t>
              </a:r>
              <a:endParaRPr lang="zh-CN" altLang="en-US" sz="2000" b="1" dirty="0">
                <a:solidFill>
                  <a:srgbClr val="EAE7D4"/>
                </a:solidFill>
                <a:ea typeface="微软雅黑" pitchFamily="34" charset="-122"/>
              </a:endParaRPr>
            </a:p>
          </p:txBody>
        </p:sp>
      </p:grpSp>
      <p:grpSp>
        <p:nvGrpSpPr>
          <p:cNvPr id="55" name="组合 54"/>
          <p:cNvGrpSpPr/>
          <p:nvPr/>
        </p:nvGrpSpPr>
        <p:grpSpPr>
          <a:xfrm>
            <a:off x="6131395" y="1746739"/>
            <a:ext cx="2077914" cy="2144797"/>
            <a:chOff x="4070096" y="1933242"/>
            <a:chExt cx="3390756" cy="3893186"/>
          </a:xfrm>
        </p:grpSpPr>
        <p:sp>
          <p:nvSpPr>
            <p:cNvPr id="56" name="椭圆 55"/>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endParaRPr lang="zh-CN" altLang="en-US">
                <a:solidFill>
                  <a:prstClr val="white"/>
                </a:solidFill>
              </a:endParaRPr>
            </a:p>
          </p:txBody>
        </p:sp>
        <p:sp>
          <p:nvSpPr>
            <p:cNvPr id="57" name="矩形 56"/>
            <p:cNvSpPr/>
            <p:nvPr/>
          </p:nvSpPr>
          <p:spPr>
            <a:xfrm>
              <a:off x="4070096" y="5183289"/>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控制</a:t>
              </a:r>
              <a:endParaRPr lang="zh-CN" altLang="en-US" sz="2000" b="1" dirty="0">
                <a:solidFill>
                  <a:srgbClr val="EAE7D4"/>
                </a:solidFill>
                <a:ea typeface="微软雅黑" pitchFamily="34" charset="-122"/>
              </a:endParaRPr>
            </a:p>
          </p:txBody>
        </p:sp>
        <p:sp>
          <p:nvSpPr>
            <p:cNvPr id="64" name="矩形 63"/>
            <p:cNvSpPr/>
            <p:nvPr/>
          </p:nvSpPr>
          <p:spPr>
            <a:xfrm>
              <a:off x="6657280" y="1933242"/>
              <a:ext cx="803572"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lang="zh-CN" altLang="en-US" sz="1200" b="1" dirty="0" smtClean="0">
                  <a:solidFill>
                    <a:srgbClr val="EAE7D4"/>
                  </a:solidFill>
                  <a:ea typeface="微软雅黑" pitchFamily="34" charset="-122"/>
                </a:rPr>
                <a:t>感知</a:t>
              </a:r>
              <a:endParaRPr lang="zh-CN" altLang="en-US" sz="2000" b="1" dirty="0">
                <a:solidFill>
                  <a:srgbClr val="EAE7D4"/>
                </a:solidFill>
                <a:ea typeface="微软雅黑" pitchFamily="34" charset="-122"/>
              </a:endParaRPr>
            </a:p>
          </p:txBody>
        </p:sp>
      </p:grpSp>
      <p:sp>
        <p:nvSpPr>
          <p:cNvPr id="58" name="文本框 57"/>
          <p:cNvSpPr txBox="1"/>
          <p:nvPr/>
        </p:nvSpPr>
        <p:spPr>
          <a:xfrm>
            <a:off x="7670453" y="3015860"/>
            <a:ext cx="607418" cy="276999"/>
          </a:xfrm>
          <a:prstGeom prst="rect">
            <a:avLst/>
          </a:prstGeom>
          <a:noFill/>
        </p:spPr>
        <p:txBody>
          <a:bodyPr wrap="square" rtlCol="0">
            <a:spAutoFit/>
          </a:bodyPr>
          <a:lstStyle/>
          <a:p>
            <a:r>
              <a:rPr lang="en-US" altLang="zh-CN" sz="1200" b="1" dirty="0" err="1" smtClean="0">
                <a:solidFill>
                  <a:schemeClr val="bg1"/>
                </a:solidFill>
              </a:rPr>
              <a:t>AIOps</a:t>
            </a:r>
            <a:endParaRPr lang="zh-CN" altLang="en-US" sz="1100" b="1" dirty="0">
              <a:solidFill>
                <a:schemeClr val="bg1"/>
              </a:solidFill>
            </a:endParaRPr>
          </a:p>
        </p:txBody>
      </p:sp>
      <p:sp>
        <p:nvSpPr>
          <p:cNvPr id="59" name="文本框 58"/>
          <p:cNvSpPr txBox="1"/>
          <p:nvPr/>
        </p:nvSpPr>
        <p:spPr>
          <a:xfrm>
            <a:off x="9530344" y="1806434"/>
            <a:ext cx="1383389" cy="1200329"/>
          </a:xfrm>
          <a:prstGeom prst="rect">
            <a:avLst/>
          </a:prstGeom>
          <a:noFill/>
        </p:spPr>
        <p:txBody>
          <a:bodyPr wrap="square" rtlCol="0">
            <a:spAutoFit/>
          </a:bodyPr>
          <a:lstStyle/>
          <a:p>
            <a:r>
              <a:rPr lang="zh-CN" altLang="en-US" dirty="0" smtClean="0">
                <a:solidFill>
                  <a:schemeClr val="bg2">
                    <a:lumMod val="10000"/>
                  </a:schemeClr>
                </a:solidFill>
              </a:rPr>
              <a:t>通过闭环反馈机制，完成自我学习的过程</a:t>
            </a:r>
            <a:endParaRPr lang="zh-CN" altLang="en-US" dirty="0">
              <a:solidFill>
                <a:schemeClr val="bg2">
                  <a:lumMod val="10000"/>
                </a:schemeClr>
              </a:solidFill>
            </a:endParaRPr>
          </a:p>
        </p:txBody>
      </p:sp>
      <p:sp>
        <p:nvSpPr>
          <p:cNvPr id="60" name="文本框 59"/>
          <p:cNvSpPr txBox="1"/>
          <p:nvPr/>
        </p:nvSpPr>
        <p:spPr>
          <a:xfrm>
            <a:off x="624689" y="4154088"/>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使用的技术</a:t>
            </a:r>
            <a:endParaRPr lang="zh-CN" altLang="en-US" dirty="0">
              <a:solidFill>
                <a:srgbClr val="333F50"/>
              </a:solidFill>
            </a:endParaRPr>
          </a:p>
        </p:txBody>
      </p:sp>
      <p:sp>
        <p:nvSpPr>
          <p:cNvPr id="10" name="文本框 9"/>
          <p:cNvSpPr txBox="1"/>
          <p:nvPr/>
        </p:nvSpPr>
        <p:spPr>
          <a:xfrm>
            <a:off x="340306" y="4873910"/>
            <a:ext cx="4109811" cy="1477328"/>
          </a:xfrm>
          <a:prstGeom prst="rect">
            <a:avLst/>
          </a:prstGeom>
          <a:noFill/>
        </p:spPr>
        <p:txBody>
          <a:bodyPr wrap="square" rtlCol="0">
            <a:spAutoFit/>
          </a:bodyPr>
          <a:lstStyle/>
          <a:p>
            <a:pPr algn="ctr"/>
            <a:r>
              <a:rPr lang="en-US" altLang="zh-CN" dirty="0" smtClean="0"/>
              <a:t>A</a:t>
            </a:r>
            <a:r>
              <a:rPr lang="zh-CN" altLang="en-US" dirty="0" smtClean="0"/>
              <a:t>（</a:t>
            </a:r>
            <a:r>
              <a:rPr lang="en-US" altLang="zh-CN" dirty="0"/>
              <a:t>A</a:t>
            </a:r>
            <a:r>
              <a:rPr lang="en-US" altLang="zh-CN" dirty="0" smtClean="0"/>
              <a:t>rtificial </a:t>
            </a:r>
            <a:r>
              <a:rPr lang="en-US" altLang="zh-CN" dirty="0"/>
              <a:t>I</a:t>
            </a:r>
            <a:r>
              <a:rPr lang="en-US" altLang="zh-CN" dirty="0" smtClean="0"/>
              <a:t>ntelligent</a:t>
            </a:r>
            <a:r>
              <a:rPr lang="zh-CN" altLang="en-US" dirty="0" smtClean="0"/>
              <a:t>）</a:t>
            </a:r>
            <a:endParaRPr lang="en-US" altLang="zh-CN" dirty="0"/>
          </a:p>
          <a:p>
            <a:pPr algn="ctr"/>
            <a:r>
              <a:rPr lang="en-US" altLang="zh-CN" dirty="0" smtClean="0"/>
              <a:t>+</a:t>
            </a:r>
          </a:p>
          <a:p>
            <a:pPr algn="ctr"/>
            <a:r>
              <a:rPr lang="en-US" altLang="zh-CN" dirty="0" smtClean="0"/>
              <a:t>B</a:t>
            </a:r>
            <a:r>
              <a:rPr lang="zh-CN" altLang="en-US" dirty="0" smtClean="0"/>
              <a:t>（</a:t>
            </a:r>
            <a:r>
              <a:rPr lang="en-US" altLang="zh-CN" dirty="0" smtClean="0"/>
              <a:t>Big Data</a:t>
            </a:r>
            <a:r>
              <a:rPr lang="zh-CN" altLang="en-US" dirty="0" smtClean="0"/>
              <a:t>）</a:t>
            </a:r>
            <a:endParaRPr lang="en-US" altLang="zh-CN" dirty="0" smtClean="0"/>
          </a:p>
          <a:p>
            <a:pPr algn="ctr"/>
            <a:r>
              <a:rPr lang="en-US" altLang="zh-CN" dirty="0" smtClean="0"/>
              <a:t>+</a:t>
            </a:r>
          </a:p>
          <a:p>
            <a:pPr algn="ctr"/>
            <a:r>
              <a:rPr lang="en-US" altLang="zh-CN" dirty="0" smtClean="0"/>
              <a:t>C</a:t>
            </a:r>
            <a:r>
              <a:rPr lang="zh-CN" altLang="en-US" dirty="0" smtClean="0"/>
              <a:t>（</a:t>
            </a:r>
            <a:r>
              <a:rPr lang="en-US" altLang="zh-CN" dirty="0" smtClean="0"/>
              <a:t>Cloud</a:t>
            </a:r>
            <a:r>
              <a:rPr lang="zh-CN" altLang="en-US" dirty="0" smtClean="0"/>
              <a:t>）</a:t>
            </a:r>
            <a:endParaRPr lang="zh-CN" altLang="en-US" dirty="0"/>
          </a:p>
        </p:txBody>
      </p:sp>
      <p:pic>
        <p:nvPicPr>
          <p:cNvPr id="65" name="Picture 2" descr="“big data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9204" y="4834008"/>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4414" y="4908637"/>
            <a:ext cx="1867471" cy="1020514"/>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6670240" y="5050181"/>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69" name="文本框 68"/>
          <p:cNvSpPr txBox="1"/>
          <p:nvPr/>
        </p:nvSpPr>
        <p:spPr>
          <a:xfrm>
            <a:off x="8621124" y="5104085"/>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pic>
        <p:nvPicPr>
          <p:cNvPr id="1026" name="Picture 2" descr="相关图片"/>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1902" y="4749468"/>
            <a:ext cx="1355566" cy="1355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2585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par>
                                <p:cTn id="8" presetID="22" presetClass="entr" presetSubtype="4"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500"/>
                                        <p:tgtEl>
                                          <p:spTgt spid="40"/>
                                        </p:tgtEl>
                                      </p:cBhvr>
                                    </p:animEffect>
                                  </p:childTnLst>
                                </p:cTn>
                              </p:par>
                              <p:par>
                                <p:cTn id="11" presetID="22" presetClass="entr" presetSubtype="4"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down)">
                                      <p:cBhvr>
                                        <p:cTn id="13" dur="500"/>
                                        <p:tgtEl>
                                          <p:spTgt spid="4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ipe(down)">
                                      <p:cBhvr>
                                        <p:cTn id="16" dur="500"/>
                                        <p:tgtEl>
                                          <p:spTgt spid="4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down)">
                                      <p:cBhvr>
                                        <p:cTn id="19" dur="500"/>
                                        <p:tgtEl>
                                          <p:spTgt spid="44"/>
                                        </p:tgtEl>
                                      </p:cBhvr>
                                    </p:animEffect>
                                  </p:childTnLst>
                                </p:cTn>
                              </p:par>
                              <p:par>
                                <p:cTn id="20" presetID="22" presetClass="entr" presetSubtype="4"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down)">
                                      <p:cBhvr>
                                        <p:cTn id="22" dur="500"/>
                                        <p:tgtEl>
                                          <p:spTgt spid="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wipe(down)">
                                      <p:cBhvr>
                                        <p:cTn id="25" dur="500"/>
                                        <p:tgtEl>
                                          <p:spTgt spid="48"/>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par>
                                <p:cTn id="29" presetID="22" presetClass="entr" presetSubtype="4"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down)">
                                      <p:cBhvr>
                                        <p:cTn id="31" dur="500"/>
                                        <p:tgtEl>
                                          <p:spTgt spid="52"/>
                                        </p:tgtEl>
                                      </p:cBhvr>
                                    </p:animEffect>
                                  </p:childTnLst>
                                </p:cTn>
                              </p:par>
                              <p:par>
                                <p:cTn id="32" presetID="22" presetClass="entr" presetSubtype="4" fill="hold" nodeType="with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wipe(down)">
                                      <p:cBhvr>
                                        <p:cTn id="34" dur="500"/>
                                        <p:tgtEl>
                                          <p:spTgt spid="5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down)">
                                      <p:cBhvr>
                                        <p:cTn id="37" dur="500"/>
                                        <p:tgtEl>
                                          <p:spTgt spid="58"/>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wipe(down)">
                                      <p:cBhvr>
                                        <p:cTn id="40" dur="500"/>
                                        <p:tgtEl>
                                          <p:spTgt spid="59"/>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down)">
                                      <p:cBhvr>
                                        <p:cTn id="43" dur="500"/>
                                        <p:tgtEl>
                                          <p:spTgt spid="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down)">
                                      <p:cBhvr>
                                        <p:cTn id="49" dur="500"/>
                                        <p:tgtEl>
                                          <p:spTgt spid="4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wipe(down)">
                                      <p:cBhvr>
                                        <p:cTn id="54" dur="500"/>
                                        <p:tgtEl>
                                          <p:spTgt spid="60"/>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500"/>
                                        <p:tgtEl>
                                          <p:spTgt spid="10"/>
                                        </p:tgtEl>
                                      </p:cBhvr>
                                    </p:animEffect>
                                  </p:childTnLst>
                                </p:cTn>
                              </p:par>
                              <p:par>
                                <p:cTn id="58" presetID="22" presetClass="entr" presetSubtype="4" fill="hold" nodeType="withEffect">
                                  <p:stCondLst>
                                    <p:cond delay="0"/>
                                  </p:stCondLst>
                                  <p:childTnLst>
                                    <p:set>
                                      <p:cBhvr>
                                        <p:cTn id="59" dur="1" fill="hold">
                                          <p:stCondLst>
                                            <p:cond delay="0"/>
                                          </p:stCondLst>
                                        </p:cTn>
                                        <p:tgtEl>
                                          <p:spTgt spid="1026"/>
                                        </p:tgtEl>
                                        <p:attrNameLst>
                                          <p:attrName>style.visibility</p:attrName>
                                        </p:attrNameLst>
                                      </p:cBhvr>
                                      <p:to>
                                        <p:strVal val="visible"/>
                                      </p:to>
                                    </p:set>
                                    <p:animEffect transition="in" filter="wipe(down)">
                                      <p:cBhvr>
                                        <p:cTn id="60" dur="500"/>
                                        <p:tgtEl>
                                          <p:spTgt spid="1026"/>
                                        </p:tgtEl>
                                      </p:cBhvr>
                                    </p:animEffect>
                                  </p:childTnLst>
                                </p:cTn>
                              </p:par>
                              <p:par>
                                <p:cTn id="61" presetID="22" presetClass="entr" presetSubtype="4" fill="hold"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wipe(down)">
                                      <p:cBhvr>
                                        <p:cTn id="63" dur="500"/>
                                        <p:tgtEl>
                                          <p:spTgt spid="65"/>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wipe(down)">
                                      <p:cBhvr>
                                        <p:cTn id="66" dur="500"/>
                                        <p:tgtEl>
                                          <p:spTgt spid="6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animEffect transition="in" filter="wipe(down)">
                                      <p:cBhvr>
                                        <p:cTn id="69" dur="500"/>
                                        <p:tgtEl>
                                          <p:spTgt spid="69"/>
                                        </p:tgtEl>
                                      </p:cBhvr>
                                    </p:animEffect>
                                  </p:childTnLst>
                                </p:cTn>
                              </p:par>
                              <p:par>
                                <p:cTn id="70" presetID="22" presetClass="entr" presetSubtype="4" fill="hold" nodeType="withEffect">
                                  <p:stCondLst>
                                    <p:cond delay="0"/>
                                  </p:stCondLst>
                                  <p:childTnLst>
                                    <p:set>
                                      <p:cBhvr>
                                        <p:cTn id="71" dur="1" fill="hold">
                                          <p:stCondLst>
                                            <p:cond delay="0"/>
                                          </p:stCondLst>
                                        </p:cTn>
                                        <p:tgtEl>
                                          <p:spTgt spid="67"/>
                                        </p:tgtEl>
                                        <p:attrNameLst>
                                          <p:attrName>style.visibility</p:attrName>
                                        </p:attrNameLst>
                                      </p:cBhvr>
                                      <p:to>
                                        <p:strVal val="visible"/>
                                      </p:to>
                                    </p:set>
                                    <p:animEffect transition="in" filter="wipe(down)">
                                      <p:cBhvr>
                                        <p:cTn id="7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2" grpId="0"/>
      <p:bldP spid="43" grpId="0"/>
      <p:bldP spid="44" grpId="0"/>
      <p:bldP spid="48" grpId="0" animBg="1"/>
      <p:bldP spid="50" grpId="0" animBg="1"/>
      <p:bldP spid="58" grpId="0"/>
      <p:bldP spid="59" grpId="0"/>
      <p:bldP spid="60" grpId="0"/>
      <p:bldP spid="10" grpId="0"/>
      <p:bldP spid="68" grpId="0"/>
      <p:bldP spid="6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的出发点</a:t>
            </a:r>
            <a:endParaRPr lang="zh-CN" altLang="en-US" dirty="0">
              <a:solidFill>
                <a:srgbClr val="333F50"/>
              </a:solidFill>
            </a:endParaRPr>
          </a:p>
        </p:txBody>
      </p:sp>
      <p:sp>
        <p:nvSpPr>
          <p:cNvPr id="2" name="文本框 1"/>
          <p:cNvSpPr txBox="1"/>
          <p:nvPr/>
        </p:nvSpPr>
        <p:spPr>
          <a:xfrm>
            <a:off x="3676650" y="1571925"/>
            <a:ext cx="5514975"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书同文</a:t>
            </a:r>
            <a:endParaRPr lang="en-US" altLang="zh-CN" dirty="0" smtClean="0"/>
          </a:p>
          <a:p>
            <a:pPr marL="742950" lvl="1" indent="285750">
              <a:lnSpc>
                <a:spcPct val="150000"/>
              </a:lnSpc>
              <a:buFont typeface="Wingdings" panose="05000000000000000000" pitchFamily="2" charset="2"/>
              <a:buChar char="Ø"/>
            </a:pPr>
            <a:r>
              <a:rPr lang="zh-CN" altLang="en-US" dirty="0" smtClean="0"/>
              <a:t>使用一致的运维语言描述所有业务</a:t>
            </a:r>
            <a:endParaRPr lang="en-US" altLang="zh-CN" dirty="0" smtClean="0"/>
          </a:p>
          <a:p>
            <a:pPr marL="742950" lvl="1" indent="285750">
              <a:lnSpc>
                <a:spcPct val="150000"/>
              </a:lnSpc>
              <a:buFont typeface="Wingdings" panose="05000000000000000000" pitchFamily="2" charset="2"/>
              <a:buChar char="Ø"/>
            </a:pPr>
            <a:r>
              <a:rPr lang="zh-CN" altLang="en-US" dirty="0" smtClean="0"/>
              <a:t>所有的数据都格式化存储“集群”“应用”“服务”“资源”</a:t>
            </a:r>
            <a:r>
              <a:rPr lang="en-US" altLang="zh-CN" dirty="0" smtClean="0"/>
              <a:t>…</a:t>
            </a:r>
          </a:p>
          <a:p>
            <a:pPr marL="285750" indent="285750">
              <a:lnSpc>
                <a:spcPct val="150000"/>
              </a:lnSpc>
              <a:buFont typeface="Arial" panose="020B0604020202020204" pitchFamily="34" charset="0"/>
              <a:buChar char="•"/>
            </a:pPr>
            <a:r>
              <a:rPr lang="zh-CN" altLang="en-US" dirty="0"/>
              <a:t>车同</a:t>
            </a:r>
            <a:r>
              <a:rPr lang="zh-CN" altLang="en-US" dirty="0" smtClean="0"/>
              <a:t>轨</a:t>
            </a:r>
            <a:endParaRPr lang="en-US" altLang="zh-CN" dirty="0" smtClean="0"/>
          </a:p>
          <a:p>
            <a:pPr marL="742950" lvl="1" indent="285750">
              <a:lnSpc>
                <a:spcPct val="150000"/>
              </a:lnSpc>
              <a:buFont typeface="Wingdings" panose="05000000000000000000" pitchFamily="2" charset="2"/>
              <a:buChar char="Ø"/>
            </a:pPr>
            <a:r>
              <a:rPr lang="zh-CN" altLang="en-US" dirty="0" smtClean="0"/>
              <a:t>合并功能类似的冗余平台</a:t>
            </a:r>
            <a:endParaRPr lang="en-US" altLang="zh-CN" dirty="0" smtClean="0"/>
          </a:p>
          <a:p>
            <a:pPr marL="742950" lvl="1" indent="285750">
              <a:lnSpc>
                <a:spcPct val="150000"/>
              </a:lnSpc>
              <a:buFont typeface="Wingdings" panose="05000000000000000000" pitchFamily="2" charset="2"/>
              <a:buChar char="Ø"/>
            </a:pPr>
            <a:r>
              <a:rPr lang="zh-CN" altLang="en-US" dirty="0" smtClean="0"/>
              <a:t>保证运维动作执行的一致有效</a:t>
            </a:r>
            <a:endParaRPr lang="en-US" altLang="zh-CN" dirty="0" smtClean="0"/>
          </a:p>
          <a:p>
            <a:pPr marL="285750" indent="285750">
              <a:lnSpc>
                <a:spcPct val="150000"/>
              </a:lnSpc>
              <a:buFont typeface="Arial" panose="020B0604020202020204" pitchFamily="34" charset="0"/>
              <a:buChar char="•"/>
            </a:pPr>
            <a:r>
              <a:rPr lang="zh-CN" altLang="en-US" dirty="0" smtClean="0"/>
              <a:t>行同伦</a:t>
            </a:r>
            <a:endParaRPr lang="en-US" altLang="zh-CN" dirty="0" smtClean="0"/>
          </a:p>
          <a:p>
            <a:pPr marL="742950" lvl="1" indent="285750">
              <a:lnSpc>
                <a:spcPct val="150000"/>
              </a:lnSpc>
              <a:buFont typeface="Wingdings" panose="05000000000000000000" pitchFamily="2" charset="2"/>
              <a:buChar char="Ø"/>
            </a:pPr>
            <a:r>
              <a:rPr lang="zh-CN" altLang="en-US" dirty="0" smtClean="0"/>
              <a:t>感知：如异常检测</a:t>
            </a:r>
            <a:endParaRPr lang="en-US" altLang="zh-CN" dirty="0" smtClean="0"/>
          </a:p>
          <a:p>
            <a:pPr marL="742950" lvl="1" indent="285750">
              <a:lnSpc>
                <a:spcPct val="150000"/>
              </a:lnSpc>
              <a:buFont typeface="Wingdings" panose="05000000000000000000" pitchFamily="2" charset="2"/>
              <a:buChar char="Ø"/>
            </a:pPr>
            <a:r>
              <a:rPr lang="zh-CN" altLang="en-US" dirty="0" smtClean="0"/>
              <a:t>决策：如故障定位</a:t>
            </a:r>
            <a:endParaRPr lang="en-US" altLang="zh-CN" dirty="0" smtClean="0"/>
          </a:p>
          <a:p>
            <a:pPr marL="742950" lvl="1" indent="285750">
              <a:lnSpc>
                <a:spcPct val="150000"/>
              </a:lnSpc>
              <a:buFont typeface="Wingdings" panose="05000000000000000000" pitchFamily="2" charset="2"/>
              <a:buChar char="Ø"/>
            </a:pPr>
            <a:r>
              <a:rPr lang="zh-CN" altLang="en-US" dirty="0" smtClean="0"/>
              <a:t>控制：对决策结果的执行</a:t>
            </a:r>
            <a:endParaRPr lang="zh-CN" altLang="en-US" dirty="0"/>
          </a:p>
        </p:txBody>
      </p:sp>
      <p:pic>
        <p:nvPicPr>
          <p:cNvPr id="2050" name="Picture 2" descr="https://ss3.bdstatic.com/70cFv8Sh_Q1YnxGkpoWK1HF6hhy/it/u=1570058580,1468513833&amp;fm=27&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00" y="2212068"/>
            <a:ext cx="2286000" cy="2743201"/>
          </a:xfrm>
          <a:prstGeom prst="rect">
            <a:avLst/>
          </a:prstGeom>
          <a:noFill/>
          <a:extLst>
            <a:ext uri="{909E8E84-426E-40DD-AFC4-6F175D3DCCD1}">
              <a14:hiddenFill xmlns:a14="http://schemas.microsoft.com/office/drawing/2010/main">
                <a:solidFill>
                  <a:srgbClr val="FFFFFF"/>
                </a:solidFill>
              </a14:hiddenFill>
            </a:ext>
          </a:extLst>
        </p:spPr>
      </p:pic>
      <p:sp>
        <p:nvSpPr>
          <p:cNvPr id="7" name="左大括号 6"/>
          <p:cNvSpPr/>
          <p:nvPr/>
        </p:nvSpPr>
        <p:spPr>
          <a:xfrm>
            <a:off x="2762250" y="1685925"/>
            <a:ext cx="771525" cy="273367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左大括号 31"/>
          <p:cNvSpPr/>
          <p:nvPr/>
        </p:nvSpPr>
        <p:spPr>
          <a:xfrm>
            <a:off x="1269319" y="1682090"/>
            <a:ext cx="771525" cy="4521351"/>
          </a:xfrm>
          <a:prstGeom prst="lef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8" name="文本框 7"/>
          <p:cNvSpPr txBox="1"/>
          <p:nvPr/>
        </p:nvSpPr>
        <p:spPr>
          <a:xfrm>
            <a:off x="2091984" y="2591097"/>
            <a:ext cx="619125" cy="923330"/>
          </a:xfrm>
          <a:prstGeom prst="rect">
            <a:avLst/>
          </a:prstGeom>
          <a:noFill/>
        </p:spPr>
        <p:txBody>
          <a:bodyPr wrap="square" rtlCol="0">
            <a:spAutoFit/>
          </a:bodyPr>
          <a:lstStyle/>
          <a:p>
            <a:r>
              <a:rPr lang="zh-CN" altLang="en-US" dirty="0" smtClean="0"/>
              <a:t>自动化</a:t>
            </a:r>
            <a:endParaRPr lang="zh-CN" altLang="en-US" dirty="0"/>
          </a:p>
        </p:txBody>
      </p:sp>
      <p:sp>
        <p:nvSpPr>
          <p:cNvPr id="34" name="文本框 33"/>
          <p:cNvSpPr txBox="1"/>
          <p:nvPr/>
        </p:nvSpPr>
        <p:spPr>
          <a:xfrm>
            <a:off x="540656" y="3447775"/>
            <a:ext cx="619125" cy="923330"/>
          </a:xfrm>
          <a:prstGeom prst="rect">
            <a:avLst/>
          </a:prstGeom>
          <a:noFill/>
        </p:spPr>
        <p:txBody>
          <a:bodyPr wrap="square" rtlCol="0">
            <a:spAutoFit/>
          </a:bodyPr>
          <a:lstStyle/>
          <a:p>
            <a:r>
              <a:rPr lang="zh-CN" altLang="en-US" dirty="0" smtClean="0"/>
              <a:t>智能化</a:t>
            </a:r>
            <a:endParaRPr lang="zh-CN" altLang="en-US" dirty="0"/>
          </a:p>
        </p:txBody>
      </p:sp>
      <p:sp>
        <p:nvSpPr>
          <p:cNvPr id="14" name="矩形 13"/>
          <p:cNvSpPr/>
          <p:nvPr/>
        </p:nvSpPr>
        <p:spPr>
          <a:xfrm>
            <a:off x="0" y="3126322"/>
            <a:ext cx="12192000" cy="151382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73570" y="3170776"/>
            <a:ext cx="6096000" cy="1200329"/>
          </a:xfrm>
          <a:prstGeom prst="rect">
            <a:avLst/>
          </a:prstGeom>
        </p:spPr>
        <p:txBody>
          <a:bodyPr>
            <a:spAutoFit/>
          </a:bodyPr>
          <a:lstStyle/>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自动化是智能化的前提</a:t>
            </a:r>
            <a:endParaRPr lang="zh-CN" altLang="zh-CN" sz="2400" dirty="0">
              <a:solidFill>
                <a:schemeClr val="bg1"/>
              </a:solidFill>
              <a:ea typeface="Calibri" panose="020F0502020204030204" pitchFamily="34" charset="0"/>
            </a:endParaRPr>
          </a:p>
          <a:p>
            <a:pPr marL="342900" indent="457200" fontAlgn="ctr">
              <a:lnSpc>
                <a:spcPct val="150000"/>
              </a:lnSpc>
              <a:buFont typeface="+mj-lt"/>
              <a:buAutoNum type="arabicPeriod"/>
            </a:pPr>
            <a:r>
              <a:rPr lang="zh-CN" altLang="zh-CN" sz="2400" dirty="0">
                <a:solidFill>
                  <a:schemeClr val="bg1"/>
                </a:solidFill>
                <a:ea typeface="Microsoft YaHei" panose="020B0503020204020204" pitchFamily="34" charset="-122"/>
              </a:rPr>
              <a:t>数据结构化是智能化的源动力</a:t>
            </a:r>
            <a:endParaRPr lang="zh-CN" altLang="zh-CN" sz="2400" dirty="0">
              <a:solidFill>
                <a:schemeClr val="bg1"/>
              </a:solidFill>
              <a:ea typeface="Calibri" panose="020F0502020204030204" pitchFamily="34" charset="0"/>
            </a:endParaRPr>
          </a:p>
        </p:txBody>
      </p:sp>
    </p:spTree>
    <p:extLst>
      <p:ext uri="{BB962C8B-B14F-4D97-AF65-F5344CB8AC3E}">
        <p14:creationId xmlns:p14="http://schemas.microsoft.com/office/powerpoint/2010/main" val="7755901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a:t>
            </a:r>
            <a:r>
              <a:rPr lang="zh-CN" altLang="en-US" sz="3200" b="1" dirty="0">
                <a:latin typeface="微软雅黑" panose="020B0503020204020204" pitchFamily="34" charset="-122"/>
                <a:ea typeface="微软雅黑" panose="020B0503020204020204" pitchFamily="34" charset="-122"/>
              </a:rPr>
              <a:t>构建</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数据</a:t>
            </a:r>
            <a:endParaRPr lang="zh-CN" altLang="en-US" dirty="0">
              <a:solidFill>
                <a:srgbClr val="333F50"/>
              </a:solidFill>
            </a:endParaRPr>
          </a:p>
        </p:txBody>
      </p:sp>
      <p:sp>
        <p:nvSpPr>
          <p:cNvPr id="7" name="等腰三角形 6"/>
          <p:cNvSpPr/>
          <p:nvPr/>
        </p:nvSpPr>
        <p:spPr>
          <a:xfrm>
            <a:off x="2000885" y="844550"/>
            <a:ext cx="5738495" cy="5350510"/>
          </a:xfrm>
          <a:prstGeom prst="triangl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8" name="流程图: 可选过程 7"/>
          <p:cNvSpPr/>
          <p:nvPr/>
        </p:nvSpPr>
        <p:spPr>
          <a:xfrm>
            <a:off x="4243387" y="1889761"/>
            <a:ext cx="1252855" cy="619124"/>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用户</a:t>
            </a:r>
          </a:p>
        </p:txBody>
      </p:sp>
      <p:sp>
        <p:nvSpPr>
          <p:cNvPr id="9" name="流程图: 可选过程 8"/>
          <p:cNvSpPr/>
          <p:nvPr/>
        </p:nvSpPr>
        <p:spPr>
          <a:xfrm>
            <a:off x="4058757" y="2730535"/>
            <a:ext cx="1622108" cy="502741"/>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业务</a:t>
            </a:r>
          </a:p>
        </p:txBody>
      </p:sp>
      <p:sp>
        <p:nvSpPr>
          <p:cNvPr id="10" name="流程图: 可选过程 9"/>
          <p:cNvSpPr/>
          <p:nvPr/>
        </p:nvSpPr>
        <p:spPr>
          <a:xfrm>
            <a:off x="3797137" y="3404525"/>
            <a:ext cx="2145349" cy="561824"/>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网络</a:t>
            </a:r>
          </a:p>
        </p:txBody>
      </p:sp>
      <p:sp>
        <p:nvSpPr>
          <p:cNvPr id="11" name="流程图: 可选过程 10"/>
          <p:cNvSpPr/>
          <p:nvPr/>
        </p:nvSpPr>
        <p:spPr>
          <a:xfrm>
            <a:off x="3535360" y="4151182"/>
            <a:ext cx="2665416" cy="55964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设备</a:t>
            </a:r>
          </a:p>
        </p:txBody>
      </p:sp>
      <p:sp>
        <p:nvSpPr>
          <p:cNvPr id="12" name="左大括号 11"/>
          <p:cNvSpPr/>
          <p:nvPr/>
        </p:nvSpPr>
        <p:spPr>
          <a:xfrm rot="10800000">
            <a:off x="7345045" y="2176145"/>
            <a:ext cx="819785" cy="369316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434070" y="3804920"/>
            <a:ext cx="3570208" cy="461665"/>
          </a:xfrm>
          <a:prstGeom prst="rect">
            <a:avLst/>
          </a:prstGeom>
          <a:noFill/>
        </p:spPr>
        <p:txBody>
          <a:bodyPr wrap="none" rtlCol="0">
            <a:spAutoFit/>
          </a:bodyPr>
          <a:lstStyle/>
          <a:p>
            <a:r>
              <a:rPr lang="zh-CN" altLang="en-US" sz="2400" dirty="0" smtClean="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rPr>
              <a:t>围绕五种</a:t>
            </a:r>
            <a:r>
              <a:rPr lang="zh-CN" altLang="en-US" sz="2400" dirty="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rPr>
              <a:t>类型的数据展开</a:t>
            </a:r>
          </a:p>
        </p:txBody>
      </p:sp>
      <p:sp>
        <p:nvSpPr>
          <p:cNvPr id="14" name="流程图: 可选过程 13"/>
          <p:cNvSpPr/>
          <p:nvPr/>
        </p:nvSpPr>
        <p:spPr>
          <a:xfrm>
            <a:off x="3106734" y="4944498"/>
            <a:ext cx="3522666" cy="622538"/>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smtClean="0">
                <a:solidFill>
                  <a:schemeClr val="tx1"/>
                </a:solidFill>
                <a:latin typeface="微软雅黑" panose="020B0503020204020204" charset="-122"/>
                <a:ea typeface="微软雅黑" panose="020B0503020204020204" charset="-122"/>
              </a:rPr>
              <a:t>运维事件</a:t>
            </a:r>
            <a:endParaRPr lang="zh-CN" altLang="en-US" sz="2400" dirty="0">
              <a:solidFill>
                <a:schemeClr val="tx1"/>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32613131"/>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en-US" altLang="zh-CN" dirty="0" smtClean="0">
                <a:solidFill>
                  <a:srgbClr val="333F50"/>
                </a:solidFill>
              </a:rPr>
              <a:t>AI</a:t>
            </a:r>
            <a:r>
              <a:rPr lang="zh-CN" altLang="en-US" dirty="0" smtClean="0">
                <a:solidFill>
                  <a:srgbClr val="333F50"/>
                </a:solidFill>
              </a:rPr>
              <a:t>算法擅长什么</a:t>
            </a:r>
            <a:endParaRPr lang="zh-CN" altLang="en-US" dirty="0">
              <a:solidFill>
                <a:srgbClr val="333F50"/>
              </a:solidFill>
            </a:endParaRPr>
          </a:p>
        </p:txBody>
      </p:sp>
      <p:pic>
        <p:nvPicPr>
          <p:cNvPr id="1026" name="Picture 2" descr="https://gss3.bdstatic.com/7Po3dSag_xI4khGkpoWK1HF6hhy/baike/w%3D268%3Bg%3D0/sign=04c773fa9245d688a302b5a29cf91a23/2934349b033b5bb50ed09a3736d3d539b700bcf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25" y="2588305"/>
            <a:ext cx="2552700" cy="199072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4438075" y="2014008"/>
            <a:ext cx="6258500" cy="3416320"/>
          </a:xfrm>
          <a:prstGeom prst="rect">
            <a:avLst/>
          </a:prstGeom>
          <a:noFill/>
        </p:spPr>
        <p:txBody>
          <a:bodyPr wrap="square" rtlCol="0">
            <a:spAutoFit/>
          </a:bodyPr>
          <a:lstStyle/>
          <a:p>
            <a:pPr indent="457200">
              <a:lnSpc>
                <a:spcPct val="150000"/>
              </a:lnSpc>
            </a:pPr>
            <a:r>
              <a:rPr lang="zh-CN" altLang="en-US" dirty="0" smtClean="0"/>
              <a:t>人工智能在解决以下类型问题是，不管问题多么复杂，都有可能做到甚至超越人类的水平，这类问题的特点是：</a:t>
            </a:r>
            <a:endParaRPr lang="en-US" altLang="zh-CN" dirty="0" smtClean="0"/>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1</a:t>
            </a:r>
            <a:r>
              <a:rPr lang="zh-CN" altLang="en-US" dirty="0" smtClean="0">
                <a:latin typeface="等线" panose="02010600030101010101" pitchFamily="2" charset="-122"/>
                <a:ea typeface="等线" panose="02010600030101010101" pitchFamily="2" charset="-122"/>
              </a:rPr>
              <a:t>） 有充足的数据或知识</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2</a:t>
            </a:r>
            <a:r>
              <a:rPr lang="zh-CN" altLang="en-US" dirty="0" smtClean="0">
                <a:latin typeface="等线" panose="02010600030101010101" pitchFamily="2" charset="-122"/>
                <a:ea typeface="等线" panose="02010600030101010101" pitchFamily="2" charset="-122"/>
              </a:rPr>
              <a:t>） 完全信息</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3</a:t>
            </a:r>
            <a:r>
              <a:rPr lang="zh-CN" altLang="en-US" dirty="0" smtClean="0">
                <a:latin typeface="等线" panose="02010600030101010101" pitchFamily="2" charset="-122"/>
                <a:ea typeface="等线" panose="02010600030101010101" pitchFamily="2" charset="-122"/>
              </a:rPr>
              <a:t>） 确定性（</a:t>
            </a:r>
            <a:r>
              <a:rPr lang="en-US" altLang="zh-CN" dirty="0" smtClean="0">
                <a:latin typeface="等线" panose="02010600030101010101" pitchFamily="2" charset="-122"/>
                <a:ea typeface="等线" panose="02010600030101010101" pitchFamily="2" charset="-122"/>
              </a:rPr>
              <a:t>well defined</a:t>
            </a:r>
            <a:r>
              <a:rPr lang="zh-CN" altLang="en-US" dirty="0" smtClean="0">
                <a:latin typeface="等线" panose="02010600030101010101" pitchFamily="2" charset="-122"/>
                <a:ea typeface="等线" panose="02010600030101010101" pitchFamily="2" charset="-122"/>
              </a:rPr>
              <a:t>）</a:t>
            </a:r>
            <a:endParaRPr lang="en-US" altLang="zh-CN" dirty="0" smtClean="0">
              <a:latin typeface="等线" panose="02010600030101010101" pitchFamily="2" charset="-122"/>
              <a:ea typeface="等线" panose="02010600030101010101" pitchFamily="2" charset="-122"/>
            </a:endParaRPr>
          </a:p>
          <a:p>
            <a:pPr indent="457200">
              <a:lnSpc>
                <a:spcPct val="150000"/>
              </a:lnSpc>
            </a:pPr>
            <a:r>
              <a:rPr lang="zh-CN" altLang="en-US" dirty="0" smtClean="0">
                <a:latin typeface="等线" panose="02010600030101010101" pitchFamily="2" charset="-122"/>
                <a:ea typeface="等线" panose="02010600030101010101" pitchFamily="2" charset="-122"/>
              </a:rPr>
              <a:t>（</a:t>
            </a:r>
            <a:r>
              <a:rPr lang="en-US" altLang="zh-CN" dirty="0" smtClean="0">
                <a:latin typeface="等线" panose="02010600030101010101" pitchFamily="2" charset="-122"/>
                <a:ea typeface="等线" panose="02010600030101010101" pitchFamily="2" charset="-122"/>
              </a:rPr>
              <a:t>4</a:t>
            </a:r>
            <a:r>
              <a:rPr lang="zh-CN" altLang="en-US" dirty="0" smtClean="0">
                <a:latin typeface="等线" panose="02010600030101010101" pitchFamily="2" charset="-122"/>
                <a:ea typeface="等线" panose="02010600030101010101" pitchFamily="2" charset="-122"/>
              </a:rPr>
              <a:t>） 单领域</a:t>
            </a:r>
            <a:endParaRPr lang="en-US" altLang="zh-CN" dirty="0" smtClean="0">
              <a:latin typeface="等线" panose="02010600030101010101" pitchFamily="2" charset="-122"/>
              <a:ea typeface="等线" panose="02010600030101010101" pitchFamily="2" charset="-122"/>
            </a:endParaRPr>
          </a:p>
          <a:p>
            <a:pPr algn="r"/>
            <a:endParaRPr lang="en-US" altLang="zh-CN" dirty="0" smtClean="0"/>
          </a:p>
          <a:p>
            <a:pPr algn="r"/>
            <a:r>
              <a:rPr lang="en-US" altLang="zh-CN" dirty="0" smtClean="0"/>
              <a:t>----- </a:t>
            </a:r>
            <a:r>
              <a:rPr lang="zh-CN" altLang="en-US" dirty="0" smtClean="0"/>
              <a:t>张钹院士</a:t>
            </a:r>
            <a:endParaRPr lang="en-US" altLang="zh-CN" dirty="0" smtClean="0"/>
          </a:p>
          <a:p>
            <a:pPr algn="r"/>
            <a:r>
              <a:rPr lang="en-US" altLang="zh-CN" dirty="0" smtClean="0"/>
              <a:t>2017</a:t>
            </a:r>
            <a:r>
              <a:rPr lang="zh-CN" altLang="en-US" dirty="0" smtClean="0"/>
              <a:t>年</a:t>
            </a:r>
            <a:r>
              <a:rPr lang="en-US" altLang="zh-CN" dirty="0" smtClean="0"/>
              <a:t>5</a:t>
            </a:r>
            <a:r>
              <a:rPr lang="zh-CN" altLang="en-US" dirty="0" smtClean="0"/>
              <a:t>月</a:t>
            </a:r>
            <a:endParaRPr lang="zh-CN" altLang="en-US" dirty="0"/>
          </a:p>
        </p:txBody>
      </p:sp>
    </p:spTree>
    <p:extLst>
      <p:ext uri="{BB962C8B-B14F-4D97-AF65-F5344CB8AC3E}">
        <p14:creationId xmlns:p14="http://schemas.microsoft.com/office/powerpoint/2010/main" val="3183610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610100" y="2888632"/>
            <a:ext cx="3162300"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异常检测</a:t>
            </a:r>
            <a:endParaRPr lang="en-US" altLang="zh-CN" dirty="0" smtClean="0"/>
          </a:p>
          <a:p>
            <a:pPr marL="285750">
              <a:lnSpc>
                <a:spcPct val="150000"/>
              </a:lnSpc>
            </a:pPr>
            <a:endParaRPr lang="en-US" altLang="zh-CN" dirty="0" smtClean="0"/>
          </a:p>
          <a:p>
            <a:pPr marL="285750" indent="285750">
              <a:lnSpc>
                <a:spcPct val="150000"/>
              </a:lnSpc>
              <a:buFont typeface="Arial" panose="020B0604020202020204" pitchFamily="34" charset="0"/>
              <a:buChar char="•"/>
            </a:pPr>
            <a:r>
              <a:rPr lang="zh-CN" altLang="en-US" dirty="0"/>
              <a:t>根</a:t>
            </a:r>
            <a:r>
              <a:rPr lang="zh-CN" altLang="en-US" dirty="0" smtClean="0"/>
              <a:t>因分析</a:t>
            </a:r>
            <a:endParaRPr lang="en-US" altLang="zh-CN" dirty="0" smtClean="0"/>
          </a:p>
        </p:txBody>
      </p:sp>
    </p:spTree>
    <p:extLst>
      <p:ext uri="{BB962C8B-B14F-4D97-AF65-F5344CB8AC3E}">
        <p14:creationId xmlns:p14="http://schemas.microsoft.com/office/powerpoint/2010/main" val="2352854039"/>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537198"/>
            <a:ext cx="4610100" cy="1754326"/>
          </a:xfrm>
          <a:prstGeom prst="rect">
            <a:avLst/>
          </a:prstGeom>
          <a:noFill/>
        </p:spPr>
        <p:txBody>
          <a:bodyPr wrap="square" rtlCol="0">
            <a:spAutoFit/>
          </a:bodyPr>
          <a:lstStyle/>
          <a:p>
            <a:pPr indent="457200">
              <a:lnSpc>
                <a:spcPct val="150000"/>
              </a:lnSpc>
            </a:pPr>
            <a:r>
              <a:rPr lang="zh-CN" altLang="en-US" dirty="0" smtClean="0"/>
              <a:t>问题描述：</a:t>
            </a:r>
            <a:endParaRPr lang="en-US" altLang="zh-CN" dirty="0" smtClean="0"/>
          </a:p>
          <a:p>
            <a:pPr marL="285750" indent="-285750">
              <a:lnSpc>
                <a:spcPct val="150000"/>
              </a:lnSpc>
              <a:buFont typeface="Arial" panose="020B0604020202020204" pitchFamily="34" charset="0"/>
              <a:buChar char="•"/>
            </a:pPr>
            <a:r>
              <a:rPr lang="en-US" altLang="zh-CN" dirty="0" smtClean="0">
                <a:latin typeface="等线 Light" panose="02010600030101010101" pitchFamily="2" charset="-122"/>
                <a:ea typeface="等线 Light" panose="02010600030101010101" pitchFamily="2" charset="-122"/>
              </a:rPr>
              <a:t> </a:t>
            </a:r>
            <a:r>
              <a:rPr lang="zh-CN" altLang="en-US" dirty="0" smtClean="0">
                <a:latin typeface="等线 Light" panose="02010600030101010101" pitchFamily="2" charset="-122"/>
                <a:ea typeface="等线 Light" panose="02010600030101010101" pitchFamily="2" charset="-122"/>
              </a:rPr>
              <a:t>系统中存在着纷繁复杂的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指标需要监控，当这些</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出现异常时，如何快速发现通知？</a:t>
            </a:r>
            <a:endParaRPr lang="en-US" altLang="zh-CN" dirty="0" smtClean="0">
              <a:latin typeface="等线 Light" panose="02010600030101010101" pitchFamily="2" charset="-122"/>
              <a:ea typeface="等线 Light" panose="02010600030101010101" pitchFamily="2"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Tree>
    <p:extLst>
      <p:ext uri="{BB962C8B-B14F-4D97-AF65-F5344CB8AC3E}">
        <p14:creationId xmlns:p14="http://schemas.microsoft.com/office/powerpoint/2010/main" val="1847586922"/>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Tree>
    <p:extLst>
      <p:ext uri="{BB962C8B-B14F-4D97-AF65-F5344CB8AC3E}">
        <p14:creationId xmlns:p14="http://schemas.microsoft.com/office/powerpoint/2010/main" val="3301882768"/>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624115" y="2564446"/>
            <a:ext cx="2065680" cy="369332"/>
          </a:xfrm>
          <a:prstGeom prst="rect">
            <a:avLst/>
          </a:prstGeom>
          <a:noFill/>
        </p:spPr>
        <p:txBody>
          <a:bodyPr wrap="square" rtlCol="0">
            <a:spAutoFit/>
          </a:bodyPr>
          <a:lstStyle/>
          <a:p>
            <a:r>
              <a:rPr lang="zh-CN" altLang="en-US" dirty="0" smtClean="0">
                <a:solidFill>
                  <a:schemeClr val="accent1">
                    <a:lumMod val="50000"/>
                  </a:schemeClr>
                </a:solidFill>
              </a:rPr>
              <a:t>离线训练分类器</a:t>
            </a:r>
            <a:endParaRPr lang="zh-CN" altLang="en-US" dirty="0">
              <a:solidFill>
                <a:schemeClr val="accent1">
                  <a:lumMod val="50000"/>
                </a:schemeClr>
              </a:solidFill>
            </a:endParaRPr>
          </a:p>
        </p:txBody>
      </p:sp>
    </p:spTree>
    <p:extLst>
      <p:ext uri="{BB962C8B-B14F-4D97-AF65-F5344CB8AC3E}">
        <p14:creationId xmlns:p14="http://schemas.microsoft.com/office/powerpoint/2010/main" val="2364516790"/>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对于几百万条监控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Tree>
    <p:extLst>
      <p:ext uri="{BB962C8B-B14F-4D97-AF65-F5344CB8AC3E}">
        <p14:creationId xmlns:p14="http://schemas.microsoft.com/office/powerpoint/2010/main" val="3852877511"/>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endParaRPr lang="zh-CN" altLang="en-US" dirty="0">
              <a:solidFill>
                <a:srgbClr val="333F50"/>
              </a:solidFill>
            </a:endParaRPr>
          </a:p>
        </p:txBody>
      </p:sp>
      <p:sp>
        <p:nvSpPr>
          <p:cNvPr id="7" name="文本框 6"/>
          <p:cNvSpPr txBox="1"/>
          <p:nvPr/>
        </p:nvSpPr>
        <p:spPr>
          <a:xfrm>
            <a:off x="624114" y="3004048"/>
            <a:ext cx="4610100" cy="2169825"/>
          </a:xfrm>
          <a:prstGeom prst="rect">
            <a:avLst/>
          </a:prstGeom>
          <a:noFill/>
        </p:spPr>
        <p:txBody>
          <a:bodyPr wrap="square" rtlCol="0">
            <a:spAutoFit/>
          </a:bodyPr>
          <a:lstStyle/>
          <a:p>
            <a:pPr indent="457200">
              <a:lnSpc>
                <a:spcPct val="150000"/>
              </a:lnSpc>
            </a:pPr>
            <a:r>
              <a:rPr lang="zh-CN" altLang="en-US" dirty="0" smtClean="0"/>
              <a:t>问题描述：</a:t>
            </a:r>
            <a:endParaRPr lang="en-US" altLang="zh-CN" dirty="0" smtClean="0"/>
          </a:p>
          <a:p>
            <a:pPr marL="285750" indent="-285750">
              <a:lnSpc>
                <a:spcPct val="150000"/>
              </a:lnSpc>
              <a:buFont typeface="Arial" panose="020B0604020202020204" pitchFamily="34" charset="0"/>
              <a:buChar char="•"/>
            </a:pPr>
            <a:r>
              <a:rPr lang="en-US" altLang="zh-CN" dirty="0" smtClean="0">
                <a:latin typeface="等线 Light" panose="02010600030101010101" pitchFamily="2" charset="-122"/>
                <a:ea typeface="等线 Light" panose="02010600030101010101" pitchFamily="2" charset="-122"/>
              </a:rPr>
              <a:t> </a:t>
            </a:r>
            <a:r>
              <a:rPr lang="zh-CN" altLang="en-US" dirty="0" smtClean="0">
                <a:latin typeface="等线 Light" panose="02010600030101010101" pitchFamily="2" charset="-122"/>
                <a:ea typeface="等线 Light" panose="02010600030101010101" pitchFamily="2" charset="-122"/>
              </a:rPr>
              <a:t>当一个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3"/>
          <a:stretch>
            <a:fillRect/>
          </a:stretch>
        </p:blipFill>
        <p:spPr>
          <a:xfrm>
            <a:off x="6761162" y="2213428"/>
            <a:ext cx="3937635" cy="2692400"/>
          </a:xfrm>
          <a:prstGeom prst="rect">
            <a:avLst/>
          </a:prstGeom>
        </p:spPr>
      </p:pic>
    </p:spTree>
    <p:extLst>
      <p:ext uri="{BB962C8B-B14F-4D97-AF65-F5344CB8AC3E}">
        <p14:creationId xmlns:p14="http://schemas.microsoft.com/office/powerpoint/2010/main" val="2265818408"/>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Tree>
    <p:extLst>
      <p:ext uri="{BB962C8B-B14F-4D97-AF65-F5344CB8AC3E}">
        <p14:creationId xmlns:p14="http://schemas.microsoft.com/office/powerpoint/2010/main" val="3099345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Tree>
    <p:extLst>
      <p:ext uri="{BB962C8B-B14F-4D97-AF65-F5344CB8AC3E}">
        <p14:creationId xmlns:p14="http://schemas.microsoft.com/office/powerpoint/2010/main" val="171982688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extLst>
              <p:ext uri="{D42A27DB-BD31-4B8C-83A1-F6EECF244321}">
                <p14:modId xmlns:p14="http://schemas.microsoft.com/office/powerpoint/2010/main" val="1341806470"/>
              </p:ext>
            </p:extLst>
          </p:nvPr>
        </p:nvGraphicFramePr>
        <p:xfrm>
          <a:off x="2174874" y="1286026"/>
          <a:ext cx="8131175" cy="4595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0687073"/>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p>
        </p:txBody>
      </p:sp>
      <p:pic>
        <p:nvPicPr>
          <p:cNvPr id="18" name="图片 17"/>
          <p:cNvPicPr>
            <a:picLocks noChangeAspect="1"/>
          </p:cNvPicPr>
          <p:nvPr/>
        </p:nvPicPr>
        <p:blipFill>
          <a:blip r:embed="rId3"/>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Tree>
    <p:extLst>
      <p:ext uri="{BB962C8B-B14F-4D97-AF65-F5344CB8AC3E}">
        <p14:creationId xmlns:p14="http://schemas.microsoft.com/office/powerpoint/2010/main" val="9087765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Tree>
    <p:extLst>
      <p:ext uri="{BB962C8B-B14F-4D97-AF65-F5344CB8AC3E}">
        <p14:creationId xmlns:p14="http://schemas.microsoft.com/office/powerpoint/2010/main" val="26585728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Tree>
    <p:extLst>
      <p:ext uri="{BB962C8B-B14F-4D97-AF65-F5344CB8AC3E}">
        <p14:creationId xmlns:p14="http://schemas.microsoft.com/office/powerpoint/2010/main" val="245707381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Tree>
    <p:extLst>
      <p:ext uri="{BB962C8B-B14F-4D97-AF65-F5344CB8AC3E}">
        <p14:creationId xmlns:p14="http://schemas.microsoft.com/office/powerpoint/2010/main" val="1685178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Tree>
    <p:extLst>
      <p:ext uri="{BB962C8B-B14F-4D97-AF65-F5344CB8AC3E}">
        <p14:creationId xmlns:p14="http://schemas.microsoft.com/office/powerpoint/2010/main" val="2238263002"/>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其他场景</a:t>
            </a:r>
            <a:endParaRPr lang="zh-CN" altLang="en-US" dirty="0">
              <a:solidFill>
                <a:srgbClr val="333F50"/>
              </a:solidFill>
            </a:endParaRPr>
          </a:p>
        </p:txBody>
      </p:sp>
      <p:sp>
        <p:nvSpPr>
          <p:cNvPr id="2" name="文本框 1"/>
          <p:cNvSpPr txBox="1"/>
          <p:nvPr/>
        </p:nvSpPr>
        <p:spPr>
          <a:xfrm>
            <a:off x="2943225" y="2409825"/>
            <a:ext cx="5562600"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在实际情况中，还有其他运维场景可以应用智能化运维的方法，但是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问题，如报警信息聚合等。</a:t>
            </a:r>
            <a:endParaRPr lang="zh-CN" altLang="en-US" dirty="0"/>
          </a:p>
        </p:txBody>
      </p:sp>
    </p:spTree>
    <p:extLst>
      <p:ext uri="{BB962C8B-B14F-4D97-AF65-F5344CB8AC3E}">
        <p14:creationId xmlns:p14="http://schemas.microsoft.com/office/powerpoint/2010/main" val="4256307085"/>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581400" cy="584775"/>
          </a:xfrm>
          <a:prstGeom prst="rect">
            <a:avLst/>
          </a:prstGeom>
          <a:noFill/>
        </p:spPr>
        <p:txBody>
          <a:bodyPr wrap="square" rtlCol="0">
            <a:spAutoFit/>
          </a:bodyPr>
          <a:lstStyle/>
          <a:p>
            <a:r>
              <a:rPr lang="en-US" altLang="zh-CN" sz="3200" b="1" dirty="0" err="1" smtClean="0">
                <a:latin typeface="微软雅黑" panose="020B0503020204020204" pitchFamily="34" charset="-122"/>
                <a:ea typeface="微软雅黑" panose="020B0503020204020204" pitchFamily="34" charset="-122"/>
              </a:rPr>
              <a:t>AIOps</a:t>
            </a:r>
            <a:r>
              <a:rPr lang="zh-CN" altLang="en-US" sz="3200" b="1" dirty="0" smtClean="0">
                <a:latin typeface="微软雅黑" panose="020B0503020204020204" pitchFamily="34" charset="-122"/>
                <a:ea typeface="微软雅黑" panose="020B0503020204020204" pitchFamily="34" charset="-122"/>
              </a:rPr>
              <a:t>的应用场景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9129687"/>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2981</TotalTime>
  <Words>1702</Words>
  <Application>Microsoft Office PowerPoint</Application>
  <PresentationFormat>宽屏</PresentationFormat>
  <Paragraphs>240</Paragraphs>
  <Slides>24</Slides>
  <Notes>23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24</vt:i4>
      </vt:variant>
    </vt:vector>
  </HeadingPairs>
  <TitlesOfParts>
    <vt:vector size="36" baseType="lpstr">
      <vt:lpstr>等线</vt:lpstr>
      <vt:lpstr>等线 Light</vt:lpstr>
      <vt:lpstr>Microsoft YaHei</vt:lpstr>
      <vt:lpstr>Microsoft YaHei</vt:lpstr>
      <vt:lpstr>Arial</vt:lpstr>
      <vt:lpstr>Calibri</vt:lpstr>
      <vt:lpstr>Calibri Light</vt:lpstr>
      <vt:lpstr>Century Gothic</vt:lpstr>
      <vt:lpstr>Segoe UI Light</vt:lpstr>
      <vt:lpstr>Verdana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219</cp:revision>
  <dcterms:created xsi:type="dcterms:W3CDTF">2015-08-05T01:47:03Z</dcterms:created>
  <dcterms:modified xsi:type="dcterms:W3CDTF">2017-12-25T14:48:20Z</dcterms:modified>
</cp:coreProperties>
</file>