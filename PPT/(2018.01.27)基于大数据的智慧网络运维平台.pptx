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80" r:id="rId2"/>
    <p:sldId id="410" r:id="rId3"/>
    <p:sldId id="271" r:id="rId4"/>
    <p:sldId id="388" r:id="rId5"/>
    <p:sldId id="400" r:id="rId6"/>
    <p:sldId id="348" r:id="rId7"/>
    <p:sldId id="349" r:id="rId8"/>
    <p:sldId id="326" r:id="rId9"/>
    <p:sldId id="401" r:id="rId10"/>
    <p:sldId id="319" r:id="rId11"/>
    <p:sldId id="406" r:id="rId12"/>
    <p:sldId id="405" r:id="rId13"/>
    <p:sldId id="411" r:id="rId14"/>
    <p:sldId id="350" r:id="rId15"/>
    <p:sldId id="351" r:id="rId16"/>
    <p:sldId id="321" r:id="rId17"/>
    <p:sldId id="408" r:id="rId18"/>
    <p:sldId id="409" r:id="rId19"/>
    <p:sldId id="352" r:id="rId20"/>
    <p:sldId id="385" r:id="rId21"/>
    <p:sldId id="386" r:id="rId22"/>
    <p:sldId id="412" r:id="rId23"/>
    <p:sldId id="373" r:id="rId24"/>
    <p:sldId id="403" r:id="rId25"/>
    <p:sldId id="374" r:id="rId26"/>
    <p:sldId id="407" r:id="rId27"/>
    <p:sldId id="404" r:id="rId28"/>
    <p:sldId id="395" r:id="rId29"/>
    <p:sldId id="356" r:id="rId30"/>
    <p:sldId id="357" r:id="rId31"/>
    <p:sldId id="358" r:id="rId32"/>
    <p:sldId id="359" r:id="rId33"/>
    <p:sldId id="360" r:id="rId34"/>
    <p:sldId id="413" r:id="rId35"/>
    <p:sldId id="355" r:id="rId36"/>
    <p:sldId id="277"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3A1C"/>
    <a:srgbClr val="FFFFFF"/>
    <a:srgbClr val="323F4F"/>
    <a:srgbClr val="D71DCA"/>
    <a:srgbClr val="FFC000"/>
    <a:srgbClr val="D9D9D9"/>
    <a:srgbClr val="12C869"/>
    <a:srgbClr val="F2F2F2"/>
    <a:srgbClr val="A27B00"/>
    <a:srgbClr val="007A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6" autoAdjust="0"/>
    <p:restoredTop sz="88084" autoAdjust="0"/>
  </p:normalViewPr>
  <p:slideViewPr>
    <p:cSldViewPr snapToGrid="0">
      <p:cViewPr>
        <p:scale>
          <a:sx n="100" d="100"/>
          <a:sy n="100" d="100"/>
        </p:scale>
        <p:origin x="70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2018/1/27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a:t>
            </a:fld>
            <a:endParaRPr lang="zh-CN" altLang="en-US"/>
          </a:p>
        </p:txBody>
      </p:sp>
    </p:spTree>
    <p:extLst>
      <p:ext uri="{BB962C8B-B14F-4D97-AF65-F5344CB8AC3E}">
        <p14:creationId xmlns:p14="http://schemas.microsoft.com/office/powerpoint/2010/main" val="3767944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a:t>
            </a:fld>
            <a:endParaRPr lang="zh-CN" altLang="en-US"/>
          </a:p>
        </p:txBody>
      </p:sp>
    </p:spTree>
    <p:extLst>
      <p:ext uri="{BB962C8B-B14F-4D97-AF65-F5344CB8AC3E}">
        <p14:creationId xmlns:p14="http://schemas.microsoft.com/office/powerpoint/2010/main" val="4068381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Telnet</a:t>
            </a:r>
            <a:r>
              <a:rPr lang="zh-CN" altLang="en-US" dirty="0" smtClean="0"/>
              <a:t>指令具有专业性</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5</a:t>
            </a:fld>
            <a:endParaRPr lang="zh-CN" altLang="en-US"/>
          </a:p>
        </p:txBody>
      </p:sp>
    </p:spTree>
    <p:extLst>
      <p:ext uri="{BB962C8B-B14F-4D97-AF65-F5344CB8AC3E}">
        <p14:creationId xmlns:p14="http://schemas.microsoft.com/office/powerpoint/2010/main" val="3034290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6</a:t>
            </a:fld>
            <a:endParaRPr lang="zh-CN" altLang="en-US"/>
          </a:p>
        </p:txBody>
      </p:sp>
    </p:spTree>
    <p:extLst>
      <p:ext uri="{BB962C8B-B14F-4D97-AF65-F5344CB8AC3E}">
        <p14:creationId xmlns:p14="http://schemas.microsoft.com/office/powerpoint/2010/main" val="3880186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8</a:t>
            </a:fld>
            <a:endParaRPr lang="zh-CN" altLang="en-US"/>
          </a:p>
        </p:txBody>
      </p:sp>
    </p:spTree>
    <p:extLst>
      <p:ext uri="{BB962C8B-B14F-4D97-AF65-F5344CB8AC3E}">
        <p14:creationId xmlns:p14="http://schemas.microsoft.com/office/powerpoint/2010/main" val="1411683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城域网只是运维工作中的一部分，但是在其他业务的运维工作中也会有类似的有关系统实用性、工具繁多、操作复杂且重复等问题、以及不同运维工作分而治之，缺乏统一管理的情况，如同人体中的不同器官。</a:t>
            </a:r>
            <a:endParaRPr lang="en-US" altLang="zh-CN" dirty="0" smtClean="0"/>
          </a:p>
          <a:p>
            <a:pPr indent="457200">
              <a:lnSpc>
                <a:spcPct val="150000"/>
              </a:lnSpc>
            </a:pPr>
            <a:r>
              <a:rPr lang="zh-CN" altLang="en-US" dirty="0" smtClean="0"/>
              <a:t>通过构建的“网络大脑”，将各部分进行统一调控，全局管理。</a:t>
            </a: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9</a:t>
            </a:fld>
            <a:endParaRPr lang="zh-CN" altLang="en-US"/>
          </a:p>
        </p:txBody>
      </p:sp>
    </p:spTree>
    <p:extLst>
      <p:ext uri="{BB962C8B-B14F-4D97-AF65-F5344CB8AC3E}">
        <p14:creationId xmlns:p14="http://schemas.microsoft.com/office/powerpoint/2010/main" val="2973529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网络大脑：</a:t>
            </a:r>
            <a:endParaRPr lang="en-US" altLang="zh-CN" dirty="0" smtClean="0"/>
          </a:p>
          <a:p>
            <a:endParaRPr lang="en-US" altLang="zh-CN" dirty="0" smtClean="0"/>
          </a:p>
          <a:p>
            <a:endParaRPr lang="en-US" altLang="zh-CN" dirty="0" smtClean="0"/>
          </a:p>
          <a:p>
            <a:pPr marL="285750" indent="-285750">
              <a:buFont typeface="Arial" panose="020B0604020202020204" pitchFamily="34" charset="0"/>
              <a:buChar char="•"/>
            </a:pPr>
            <a:r>
              <a:rPr lang="zh-CN" altLang="en-US" dirty="0" smtClean="0"/>
              <a:t>数据驱动</a:t>
            </a:r>
            <a:endParaRPr lang="en-US" altLang="zh-CN" dirty="0" smtClean="0"/>
          </a:p>
          <a:p>
            <a:pPr marL="285750" indent="-285750">
              <a:buFont typeface="Arial" panose="020B0604020202020204" pitchFamily="34" charset="0"/>
              <a:buChar char="•"/>
            </a:pPr>
            <a:r>
              <a:rPr lang="zh-CN" altLang="en-US" dirty="0" smtClean="0"/>
              <a:t>自动化流程解放人力</a:t>
            </a:r>
            <a:endParaRPr lang="en-US" altLang="zh-CN" dirty="0" smtClean="0"/>
          </a:p>
          <a:p>
            <a:pPr marL="285750" indent="-285750">
              <a:buFont typeface="Arial" panose="020B0604020202020204" pitchFamily="34" charset="0"/>
              <a:buChar char="•"/>
            </a:pPr>
            <a:r>
              <a:rPr lang="zh-CN" altLang="en-US" dirty="0" smtClean="0"/>
              <a:t>利用数据产生价值</a:t>
            </a:r>
            <a:endParaRPr lang="en-US" altLang="zh-CN" dirty="0" smtClean="0"/>
          </a:p>
          <a:p>
            <a:pPr marL="285750" indent="-285750">
              <a:buFont typeface="Arial" panose="020B0604020202020204" pitchFamily="34" charset="0"/>
              <a:buChar char="•"/>
            </a:pPr>
            <a:r>
              <a:rPr lang="zh-CN" altLang="en-US" dirty="0" smtClean="0"/>
              <a:t>数据和智能是未来的趋势</a:t>
            </a:r>
            <a:endParaRPr lang="en-US" altLang="zh-CN" dirty="0" smtClean="0"/>
          </a:p>
          <a:p>
            <a:pPr marL="285750" indent="-285750">
              <a:buFont typeface="Arial" panose="020B0604020202020204" pitchFamily="34" charset="0"/>
              <a:buChar char="•"/>
            </a:pPr>
            <a:r>
              <a:rPr lang="zh-CN" altLang="en-US" dirty="0" smtClean="0"/>
              <a:t>通过大脑将各种数据统筹规划</a:t>
            </a:r>
            <a:endParaRPr lang="en-US" altLang="zh-CN" dirty="0" smtClean="0"/>
          </a:p>
          <a:p>
            <a:pPr marL="285750" indent="-285750">
              <a:buFont typeface="Arial" panose="020B0604020202020204" pitchFamily="34" charset="0"/>
              <a:buChar char="•"/>
            </a:pPr>
            <a:r>
              <a:rPr lang="zh-CN" altLang="en-US" dirty="0" smtClean="0"/>
              <a:t>自我协调、良性互动</a:t>
            </a:r>
            <a:endParaRPr lang="en-US" altLang="zh-CN" dirty="0" smtClean="0"/>
          </a:p>
          <a:p>
            <a:pPr marL="285750" indent="-285750">
              <a:buFont typeface="Arial" panose="020B0604020202020204" pitchFamily="34" charset="0"/>
              <a:buChar char="•"/>
            </a:pPr>
            <a:r>
              <a:rPr lang="zh-CN" altLang="en-US" dirty="0" smtClean="0"/>
              <a:t>改变网络运维模式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11</a:t>
            </a:fld>
            <a:endParaRPr lang="zh-CN" altLang="en-US"/>
          </a:p>
        </p:txBody>
      </p:sp>
    </p:spTree>
    <p:extLst>
      <p:ext uri="{BB962C8B-B14F-4D97-AF65-F5344CB8AC3E}">
        <p14:creationId xmlns:p14="http://schemas.microsoft.com/office/powerpoint/2010/main" val="2174604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15</a:t>
            </a:fld>
            <a:endParaRPr lang="zh-CN" altLang="en-US"/>
          </a:p>
        </p:txBody>
      </p:sp>
    </p:spTree>
    <p:extLst>
      <p:ext uri="{BB962C8B-B14F-4D97-AF65-F5344CB8AC3E}">
        <p14:creationId xmlns:p14="http://schemas.microsoft.com/office/powerpoint/2010/main" val="1180883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a:r>
            <a:br>
              <a:rPr lang="zh-CN" altLang="en-US" dirty="0" smtClean="0"/>
            </a:br>
            <a:r>
              <a:rPr lang="en-US" altLang="zh-CN" dirty="0" smtClean="0"/>
              <a:t>ML</a:t>
            </a:r>
            <a:r>
              <a:rPr lang="zh-CN" altLang="en-US" dirty="0" smtClean="0"/>
              <a:t>算法算是普通算法的一个进化。 允许程序可以根据提供的数据进行自动的学习，它可以使你的程序变得更</a:t>
            </a:r>
            <a:r>
              <a:rPr lang="en-US" altLang="zh-CN" dirty="0" smtClean="0"/>
              <a:t>"</a:t>
            </a:r>
            <a:r>
              <a:rPr lang="zh-CN" altLang="en-US" dirty="0" smtClean="0"/>
              <a:t>聪明</a:t>
            </a:r>
            <a:r>
              <a:rPr lang="en-US" altLang="zh-CN" dirty="0" smtClean="0"/>
              <a:t>"</a:t>
            </a:r>
            <a:r>
              <a:rPr lang="zh-CN" altLang="en-US" dirty="0" smtClean="0"/>
              <a:t>。</a:t>
            </a:r>
          </a:p>
          <a:p>
            <a:r>
              <a:rPr lang="zh-CN" altLang="en-US" dirty="0" smtClean="0"/>
              <a:t>你可以从市场随机购买一些芒果作为样本</a:t>
            </a:r>
            <a:r>
              <a:rPr lang="en-US" altLang="zh-CN" dirty="0" smtClean="0"/>
              <a:t>(</a:t>
            </a:r>
            <a:r>
              <a:rPr lang="en-US" altLang="zh-CN" b="1" dirty="0" smtClean="0"/>
              <a:t>training data</a:t>
            </a:r>
            <a:r>
              <a:rPr lang="en-US" altLang="zh-CN" dirty="0" smtClean="0"/>
              <a:t>)</a:t>
            </a:r>
            <a:r>
              <a:rPr lang="zh-CN" altLang="en-US" dirty="0" smtClean="0"/>
              <a:t>，然后列出所有芒果的属性，比如颜色，大小，形状，产地，经销商，等等</a:t>
            </a:r>
            <a:r>
              <a:rPr lang="en-US" altLang="zh-CN" dirty="0" smtClean="0"/>
              <a:t>(</a:t>
            </a:r>
            <a:r>
              <a:rPr lang="en-US" altLang="zh-CN" b="1" dirty="0" smtClean="0"/>
              <a:t>features</a:t>
            </a:r>
            <a:r>
              <a:rPr lang="en-US" altLang="zh-CN" dirty="0" smtClean="0"/>
              <a:t>)</a:t>
            </a:r>
            <a:r>
              <a:rPr lang="zh-CN" altLang="en-US" dirty="0" smtClean="0"/>
              <a:t>，以及 甜度，成熟度，是否多汁，等等</a:t>
            </a:r>
            <a:r>
              <a:rPr lang="en-US" altLang="zh-CN" dirty="0" smtClean="0"/>
              <a:t>(</a:t>
            </a:r>
            <a:r>
              <a:rPr lang="en-US" altLang="zh-CN" b="1" dirty="0" smtClean="0"/>
              <a:t>output variables</a:t>
            </a:r>
            <a:r>
              <a:rPr lang="en-US" altLang="zh-CN" dirty="0" smtClean="0"/>
              <a:t>)</a:t>
            </a:r>
            <a:r>
              <a:rPr lang="zh-CN" altLang="en-US" dirty="0" smtClean="0"/>
              <a:t>。将这些数据在机器学习算法里运行</a:t>
            </a:r>
            <a:r>
              <a:rPr lang="en-US" altLang="zh-CN" dirty="0" smtClean="0"/>
              <a:t>(</a:t>
            </a:r>
            <a:r>
              <a:rPr lang="en-US" altLang="zh-CN" b="1" dirty="0" smtClean="0"/>
              <a:t>classification/regression</a:t>
            </a:r>
            <a:r>
              <a:rPr lang="en-US" altLang="zh-CN" dirty="0" smtClean="0"/>
              <a:t>)</a:t>
            </a:r>
            <a:r>
              <a:rPr lang="zh-CN" altLang="en-US" dirty="0" smtClean="0"/>
              <a:t>，则</a:t>
            </a:r>
            <a:r>
              <a:rPr lang="en-US" altLang="zh-CN" dirty="0" smtClean="0"/>
              <a:t>ML</a:t>
            </a:r>
            <a:r>
              <a:rPr lang="zh-CN" altLang="en-US" dirty="0" smtClean="0"/>
              <a:t>算法构建一个模型：芒果的属性</a:t>
            </a:r>
            <a:r>
              <a:rPr lang="en-US" altLang="zh-CN" dirty="0" smtClean="0"/>
              <a:t>--</a:t>
            </a:r>
            <a:r>
              <a:rPr lang="zh-CN" altLang="en-US" dirty="0" smtClean="0"/>
              <a:t>芒果质量。</a:t>
            </a:r>
          </a:p>
          <a:p>
            <a:r>
              <a:rPr lang="zh-CN" altLang="en-US" dirty="0" smtClean="0"/>
              <a:t>下次你再去买芒果，你就可以检测一下芒果的属性</a:t>
            </a:r>
            <a:r>
              <a:rPr lang="en-US" altLang="zh-CN" dirty="0" smtClean="0"/>
              <a:t>(</a:t>
            </a:r>
            <a:r>
              <a:rPr lang="zh-CN" altLang="en-US" dirty="0" smtClean="0"/>
              <a:t>颜色，大小等等</a:t>
            </a:r>
            <a:r>
              <a:rPr lang="en-US" altLang="zh-CN" dirty="0" smtClean="0"/>
              <a:t>)(</a:t>
            </a:r>
            <a:r>
              <a:rPr lang="en-US" altLang="zh-CN" b="1" dirty="0" smtClean="0"/>
              <a:t>test data</a:t>
            </a:r>
            <a:r>
              <a:rPr lang="en-US" altLang="zh-CN" dirty="0" smtClean="0"/>
              <a:t>)</a:t>
            </a:r>
            <a:r>
              <a:rPr lang="zh-CN" altLang="en-US" dirty="0" smtClean="0"/>
              <a:t>，然后提供给</a:t>
            </a:r>
            <a:r>
              <a:rPr lang="en-US" altLang="zh-CN" dirty="0" smtClean="0"/>
              <a:t>ML</a:t>
            </a:r>
            <a:r>
              <a:rPr lang="zh-CN" altLang="en-US" dirty="0" smtClean="0"/>
              <a:t>算法。</a:t>
            </a:r>
            <a:r>
              <a:rPr lang="en-US" altLang="zh-CN" dirty="0" smtClean="0"/>
              <a:t>ML</a:t>
            </a:r>
            <a:r>
              <a:rPr lang="zh-CN" altLang="en-US" dirty="0" smtClean="0"/>
              <a:t>算法会根据模型</a:t>
            </a:r>
            <a:r>
              <a:rPr lang="en-US" altLang="zh-CN" dirty="0" smtClean="0"/>
              <a:t>(model)</a:t>
            </a:r>
            <a:r>
              <a:rPr lang="zh-CN" altLang="en-US" dirty="0" smtClean="0"/>
              <a:t>预测哪些芒果是甜的，较成熟的</a:t>
            </a:r>
            <a:r>
              <a:rPr lang="en-US" altLang="zh-CN" dirty="0" smtClean="0"/>
              <a:t>/</a:t>
            </a:r>
            <a:r>
              <a:rPr lang="zh-CN" altLang="en-US" dirty="0" smtClean="0"/>
              <a:t>或者更多汁。算法内部使用的规则也许会类似于你之前手动写的哪些规则</a:t>
            </a:r>
            <a:r>
              <a:rPr lang="en-US" altLang="zh-CN" dirty="0" smtClean="0"/>
              <a:t>(</a:t>
            </a:r>
            <a:r>
              <a:rPr lang="en-US" altLang="zh-CN" b="1" dirty="0" smtClean="0"/>
              <a:t>decision tree</a:t>
            </a:r>
            <a:r>
              <a:rPr lang="en-US" altLang="zh-CN" dirty="0" smtClean="0"/>
              <a:t>)</a:t>
            </a:r>
            <a:r>
              <a:rPr lang="zh-CN" altLang="en-US" dirty="0" smtClean="0"/>
              <a:t>，也或者使用更复杂的规则，但是基本上这些对于用户和使用者而言并不需要关心。</a:t>
            </a:r>
          </a:p>
          <a:p>
            <a:r>
              <a:rPr lang="zh-CN" altLang="en-US" dirty="0" smtClean="0"/>
              <a:t>你现在再去买芒果就有很大信心了，而且并不需要关心这些挑选好的芒果的细节。而且更重要的时候，随着时间你的</a:t>
            </a:r>
            <a:r>
              <a:rPr lang="en-US" altLang="zh-CN" dirty="0" smtClean="0"/>
              <a:t>ML</a:t>
            </a:r>
            <a:r>
              <a:rPr lang="zh-CN" altLang="en-US" dirty="0" smtClean="0"/>
              <a:t>算法会自我提升</a:t>
            </a:r>
            <a:r>
              <a:rPr lang="en-US" altLang="zh-CN" dirty="0" smtClean="0"/>
              <a:t>(</a:t>
            </a:r>
            <a:r>
              <a:rPr lang="en-US" altLang="zh-CN" b="1" dirty="0" smtClean="0"/>
              <a:t>reinforcement learning</a:t>
            </a:r>
            <a:r>
              <a:rPr lang="en-US" altLang="zh-CN" dirty="0" smtClean="0"/>
              <a:t>)</a:t>
            </a:r>
            <a:r>
              <a:rPr lang="zh-CN" altLang="en-US" dirty="0" smtClean="0"/>
              <a:t>，当预测错误的时候矫正自身，随着读取更多的</a:t>
            </a:r>
            <a:r>
              <a:rPr lang="en-US" altLang="zh-CN" dirty="0" smtClean="0"/>
              <a:t>training data</a:t>
            </a:r>
            <a:r>
              <a:rPr lang="zh-CN" altLang="en-US" dirty="0" smtClean="0"/>
              <a:t>预测也会越来越精准。你可以利用相同的算法而训练出不同的模型</a:t>
            </a:r>
            <a:r>
              <a:rPr lang="en-US" altLang="zh-CN" dirty="0" smtClean="0"/>
              <a:t>(model)</a:t>
            </a:r>
            <a:r>
              <a:rPr lang="zh-CN" altLang="en-US" dirty="0" smtClean="0"/>
              <a:t>，比如苹果，橘子，香蕉，西瓜等等。</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27783541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机器学习是实现人工智能的一种方法</a:t>
            </a:r>
            <a:endParaRPr lang="en-US" altLang="zh-CN" dirty="0" smtClean="0"/>
          </a:p>
          <a:p>
            <a:r>
              <a:rPr lang="zh-CN" altLang="en-US" dirty="0" smtClean="0"/>
              <a:t>深度</a:t>
            </a:r>
            <a:r>
              <a:rPr lang="zh-CN" altLang="en-US" smtClean="0"/>
              <a:t>学习是实施机器学习</a:t>
            </a:r>
            <a:r>
              <a:rPr lang="zh-CN" altLang="en-US" dirty="0" smtClean="0"/>
              <a:t>的一种技术</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2594220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899256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3440690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11926974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solidFill>
                  <a:srgbClr val="FF0000"/>
                </a:solidFill>
              </a:rPr>
              <a:t>数据采集：</a:t>
            </a:r>
            <a:endParaRPr lang="en-US" altLang="zh-CN" b="1" dirty="0" smtClean="0">
              <a:solidFill>
                <a:srgbClr val="FF0000"/>
              </a:solidFill>
            </a:endParaRPr>
          </a:p>
          <a:p>
            <a:pPr indent="457200" algn="l">
              <a:lnSpc>
                <a:spcPct val="150000"/>
              </a:lnSpc>
            </a:pPr>
            <a:r>
              <a:rPr lang="en-US" altLang="zh-CN" b="1" dirty="0" smtClean="0"/>
              <a:t>	</a:t>
            </a:r>
            <a:r>
              <a:rPr lang="zh-CN" altLang="en-US" b="1" dirty="0" smtClean="0"/>
              <a:t>模块简介</a:t>
            </a:r>
          </a:p>
          <a:p>
            <a:pPr indent="457200" algn="l">
              <a:lnSpc>
                <a:spcPct val="150000"/>
              </a:lnSpc>
            </a:pPr>
            <a:r>
              <a:rPr lang="zh-CN" altLang="en-US" dirty="0" smtClean="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	</a:t>
            </a:r>
            <a:r>
              <a:rPr lang="zh-CN" altLang="en-US" dirty="0" smtClean="0">
                <a:effectLst/>
                <a:latin typeface="微软雅黑" panose="020B0503020204020204" pitchFamily="34" charset="-122"/>
                <a:ea typeface="微软雅黑" panose="020B0503020204020204" pitchFamily="34" charset="-122"/>
                <a:sym typeface="+mn-ea"/>
              </a:rPr>
              <a:t>网络运维</a:t>
            </a:r>
            <a:r>
              <a:rPr lang="zh-CN" altLang="zh-CN" dirty="0" smtClean="0">
                <a:effectLst/>
                <a:latin typeface="微软雅黑" panose="020B0503020204020204" pitchFamily="34" charset="-122"/>
                <a:ea typeface="微软雅黑" panose="020B0503020204020204" pitchFamily="34" charset="-122"/>
                <a:sym typeface="+mn-ea"/>
              </a:rPr>
              <a:t>日常工作中数据获取</a:t>
            </a:r>
            <a:r>
              <a:rPr lang="zh-CN" altLang="en-US" dirty="0" smtClean="0">
                <a:effectLst/>
                <a:latin typeface="微软雅黑" panose="020B0503020204020204" pitchFamily="34" charset="-122"/>
                <a:ea typeface="微软雅黑" panose="020B0503020204020204" pitchFamily="34" charset="-122"/>
                <a:sym typeface="+mn-ea"/>
              </a:rPr>
              <a:t>需要手工选定，管理繁杂。</a:t>
            </a:r>
          </a:p>
          <a:p>
            <a:pPr indent="457200" algn="l">
              <a:lnSpc>
                <a:spcPct val="150000"/>
              </a:lnSpc>
            </a:pPr>
            <a:r>
              <a:rPr lang="zh-CN" altLang="en-US" dirty="0" smtClean="0">
                <a:effectLst/>
                <a:latin typeface="微软雅黑" panose="020B0503020204020204" pitchFamily="34" charset="-122"/>
                <a:ea typeface="微软雅黑" panose="020B0503020204020204" pitchFamily="34" charset="-122"/>
                <a:sym typeface="+mn-ea"/>
              </a:rPr>
              <a:t>    </a:t>
            </a:r>
            <a:r>
              <a:rPr lang="en-US" altLang="zh-CN" dirty="0" smtClean="0">
                <a:effectLst/>
                <a:latin typeface="微软雅黑" panose="020B0503020204020204" pitchFamily="34" charset="-122"/>
                <a:ea typeface="微软雅黑" panose="020B0503020204020204" pitchFamily="34" charset="-122"/>
                <a:sym typeface="+mn-ea"/>
              </a:rPr>
              <a:t>	</a:t>
            </a:r>
            <a:r>
              <a:rPr lang="zh-CN" altLang="en-US" dirty="0" smtClean="0">
                <a:effectLst/>
                <a:latin typeface="微软雅黑" panose="020B0503020204020204" pitchFamily="34" charset="-122"/>
                <a:ea typeface="微软雅黑" panose="020B0503020204020204" pitchFamily="34" charset="-122"/>
                <a:sym typeface="+mn-ea"/>
              </a:rPr>
              <a:t>采集系统可由用户自定义目标源，实现多个源同时自动实时上传下载文件，解决数据异源端口，手工下载不统一等繁杂问题。</a:t>
            </a:r>
            <a:endParaRPr lang="en-US" altLang="zh-CN" dirty="0" smtClean="0">
              <a:effectLst/>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t>	</a:t>
            </a:r>
            <a:r>
              <a:rPr lang="zh-CN" altLang="en-US" b="1" dirty="0" smtClean="0"/>
              <a:t>模块功能</a:t>
            </a:r>
          </a:p>
          <a:p>
            <a:pPr indent="457200" algn="l">
              <a:lnSpc>
                <a:spcPct val="150000"/>
              </a:lnSpc>
            </a:pPr>
            <a:r>
              <a:rPr lang="zh-CN" altLang="en-US" dirty="0" smtClean="0">
                <a:latin typeface="宋体" panose="02010600030101010101" pitchFamily="2" charset="-122"/>
                <a:ea typeface="宋体" panose="02010600030101010101" pitchFamily="2" charset="-122"/>
              </a:rPr>
              <a:t>    </a:t>
            </a:r>
            <a:r>
              <a:rPr lang="en-US" altLang="zh-CN" dirty="0" smtClean="0">
                <a:latin typeface="宋体" panose="02010600030101010101" pitchFamily="2" charset="-122"/>
                <a:ea typeface="宋体" panose="02010600030101010101" pitchFamily="2" charset="-122"/>
              </a:rPr>
              <a:t>	</a:t>
            </a:r>
            <a:r>
              <a:rPr lang="zh-CN" altLang="en-US" dirty="0" smtClean="0">
                <a:latin typeface="微软雅黑" panose="020B0503020204020204" pitchFamily="34" charset="-122"/>
                <a:ea typeface="微软雅黑" panose="020B0503020204020204" pitchFamily="34" charset="-122"/>
                <a:sym typeface="+mn-ea"/>
              </a:rPr>
              <a:t>自定义任务数据源</a:t>
            </a:r>
          </a:p>
          <a:p>
            <a:pPr indent="457200" algn="l">
              <a:lnSpc>
                <a:spcPct val="150000"/>
              </a:lnSpc>
            </a:pPr>
            <a:r>
              <a:rPr lang="zh-CN" altLang="en-US" dirty="0" smtClean="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自主实时采集上传</a:t>
            </a:r>
            <a:endParaRPr lang="en-US" altLang="zh-CN"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zh-CN" altLang="en-US" b="1" dirty="0" smtClean="0">
                <a:latin typeface="微软雅黑" panose="020B0503020204020204" pitchFamily="34" charset="-122"/>
                <a:ea typeface="微软雅黑" panose="020B0503020204020204" pitchFamily="34" charset="-122"/>
                <a:sym typeface="+mn-ea"/>
              </a:rPr>
              <a:t>数据处理</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模块简介：</a:t>
            </a:r>
            <a:endParaRPr lang="en-US" altLang="zh-CN" b="1" dirty="0" smtClean="0">
              <a:latin typeface="微软雅黑" panose="020B0503020204020204" pitchFamily="34" charset="-122"/>
              <a:ea typeface="微软雅黑" panose="020B0503020204020204" pitchFamily="34" charset="-122"/>
              <a:sym typeface="+mn-ea"/>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通过采集系统采集到的相关数据保留着网管侧的源格式，不具备良好的数据交互接口。需要通过解码模块变成结构化的可读数据，再上传至数据仓库。</a:t>
            </a:r>
            <a:r>
              <a:rPr lang="zh-CN" altLang="zh-CN" dirty="0" smtClean="0">
                <a:effectLst/>
                <a:latin typeface="+mn-ea"/>
                <a:sym typeface="+mn-ea"/>
              </a:rPr>
              <a:t>用于支撑上层决策等应用。</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模块功能：</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文件归类</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汇总解析</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数据入库</a:t>
            </a:r>
            <a:endParaRPr lang="en-US" altLang="zh-CN" dirty="0" smtClean="0">
              <a:effectLst/>
              <a:latin typeface="+mn-ea"/>
              <a:sym typeface="+mn-ea"/>
            </a:endParaRPr>
          </a:p>
          <a:p>
            <a:pPr indent="457200" algn="l">
              <a:lnSpc>
                <a:spcPct val="150000"/>
              </a:lnSpc>
            </a:pPr>
            <a:r>
              <a:rPr lang="en-US" altLang="zh-CN" b="1" dirty="0" smtClean="0">
                <a:effectLst/>
                <a:latin typeface="+mn-ea"/>
                <a:ea typeface="微软雅黑" panose="020B0503020204020204" pitchFamily="34" charset="-122"/>
                <a:sym typeface="+mn-ea"/>
              </a:rPr>
              <a:t>	</a:t>
            </a:r>
            <a:r>
              <a:rPr lang="zh-CN" altLang="en-US" b="0" dirty="0" smtClean="0">
                <a:effectLst/>
                <a:latin typeface="+mn-ea"/>
                <a:ea typeface="微软雅黑" panose="020B0503020204020204" pitchFamily="34" charset="-122"/>
                <a:sym typeface="+mn-ea"/>
              </a:rPr>
              <a:t>存储人工经验库</a:t>
            </a:r>
            <a:endParaRPr lang="zh-CN" altLang="en-US" b="0" dirty="0" smtClean="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25</a:t>
            </a:fld>
            <a:endParaRPr lang="zh-CN" altLang="en-US"/>
          </a:p>
        </p:txBody>
      </p:sp>
    </p:spTree>
    <p:extLst>
      <p:ext uri="{BB962C8B-B14F-4D97-AF65-F5344CB8AC3E}">
        <p14:creationId xmlns:p14="http://schemas.microsoft.com/office/powerpoint/2010/main" val="22255999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latin typeface="+mn-ea"/>
              </a:rPr>
              <a:t>自主学习模块</a:t>
            </a:r>
            <a:endParaRPr lang="en-US" altLang="zh-CN" b="1" dirty="0" smtClean="0">
              <a:latin typeface="+mn-ea"/>
            </a:endParaRPr>
          </a:p>
          <a:p>
            <a:pPr indent="457200" algn="l">
              <a:lnSpc>
                <a:spcPct val="150000"/>
              </a:lnSpc>
            </a:pPr>
            <a:r>
              <a:rPr lang="en-US" altLang="zh-CN" b="1" dirty="0" smtClean="0">
                <a:latin typeface="+mn-ea"/>
              </a:rPr>
              <a:t>	</a:t>
            </a:r>
            <a:r>
              <a:rPr lang="zh-CN" altLang="en-US" b="1" dirty="0" smtClean="0">
                <a:latin typeface="+mn-ea"/>
              </a:rPr>
              <a:t>模块简介</a:t>
            </a:r>
          </a:p>
          <a:p>
            <a:pPr indent="457200" algn="l">
              <a:lnSpc>
                <a:spcPct val="150000"/>
              </a:lnSpc>
            </a:pPr>
            <a:r>
              <a:rPr lang="zh-CN" altLang="en-US" dirty="0" smtClean="0">
                <a:latin typeface="+mn-ea"/>
              </a:rPr>
              <a:t>    </a:t>
            </a:r>
            <a:r>
              <a:rPr lang="en-US" altLang="zh-CN" dirty="0" smtClean="0">
                <a:latin typeface="+mn-ea"/>
              </a:rPr>
              <a:t>	</a:t>
            </a:r>
            <a:r>
              <a:rPr lang="zh-CN" altLang="zh-CN" dirty="0" smtClean="0">
                <a:effectLst/>
                <a:latin typeface="+mn-ea"/>
                <a:sym typeface="+mn-ea"/>
              </a:rPr>
              <a:t>该模块是网络大脑执行决策的控制核心，以现有经验库为依据，</a:t>
            </a:r>
            <a:r>
              <a:rPr lang="zh-CN" altLang="en-US" dirty="0" smtClean="0">
                <a:effectLst/>
                <a:latin typeface="+mn-ea"/>
                <a:sym typeface="+mn-ea"/>
              </a:rPr>
              <a:t>包含大量成熟的机器学习相关算法，</a:t>
            </a:r>
            <a:r>
              <a:rPr lang="zh-CN" altLang="en-US" dirty="0" smtClean="0">
                <a:latin typeface="+mn-ea"/>
                <a:sym typeface="+mn-ea"/>
              </a:rPr>
              <a:t>生成的学习模型为上层模块的数据在线分析、异常检测等应用场景提供支撑。</a:t>
            </a:r>
            <a:endParaRPr lang="en-US" altLang="zh-CN" dirty="0" smtClean="0">
              <a:latin typeface="+mn-ea"/>
              <a:sym typeface="+mn-ea"/>
            </a:endParaRPr>
          </a:p>
          <a:p>
            <a:pPr indent="457200" algn="l">
              <a:lnSpc>
                <a:spcPct val="150000"/>
              </a:lnSpc>
            </a:pPr>
            <a:r>
              <a:rPr lang="en-US" altLang="zh-CN" dirty="0" smtClean="0">
                <a:latin typeface="+mn-ea"/>
                <a:sym typeface="+mn-ea"/>
              </a:rPr>
              <a:t>	</a:t>
            </a:r>
            <a:r>
              <a:rPr lang="zh-CN" altLang="en-US" b="1" dirty="0" smtClean="0">
                <a:latin typeface="+mn-ea"/>
              </a:rPr>
              <a:t>模块功能</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数据挖掘</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 </a:t>
            </a:r>
            <a:r>
              <a:rPr lang="zh-CN" altLang="en-US" dirty="0" smtClean="0">
                <a:effectLst/>
                <a:latin typeface="+mn-ea"/>
                <a:sym typeface="+mn-ea"/>
              </a:rPr>
              <a:t>规则制定</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风险评估</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行为选择。</a:t>
            </a:r>
            <a:endParaRPr lang="en-US" altLang="zh-CN" dirty="0" smtClean="0">
              <a:effectLst/>
              <a:latin typeface="+mn-ea"/>
              <a:sym typeface="+mn-ea"/>
            </a:endParaRPr>
          </a:p>
          <a:p>
            <a:pPr indent="457200" algn="l">
              <a:lnSpc>
                <a:spcPct val="150000"/>
              </a:lnSpc>
            </a:pPr>
            <a:r>
              <a:rPr lang="zh-CN" altLang="en-US" b="1" dirty="0" smtClean="0">
                <a:effectLst/>
                <a:latin typeface="+mn-ea"/>
                <a:sym typeface="+mn-ea"/>
              </a:rPr>
              <a:t>业务管理模块</a:t>
            </a:r>
            <a:endParaRPr lang="zh-CN" altLang="en-US" b="1" dirty="0" smtClean="0">
              <a:latin typeface="+mn-ea"/>
            </a:endParaRPr>
          </a:p>
          <a:p>
            <a:pPr indent="457200" algn="l">
              <a:lnSpc>
                <a:spcPct val="150000"/>
              </a:lnSpc>
            </a:pPr>
            <a:r>
              <a:rPr lang="zh-CN" altLang="en-US" b="1" dirty="0" smtClean="0">
                <a:latin typeface="+mn-ea"/>
              </a:rPr>
              <a:t>模块简介</a:t>
            </a:r>
          </a:p>
          <a:p>
            <a:pPr indent="457200" fontAlgn="auto">
              <a:lnSpc>
                <a:spcPct val="150000"/>
              </a:lnSpc>
              <a:spcBef>
                <a:spcPts val="0"/>
              </a:spcBef>
              <a:spcAft>
                <a:spcPts val="0"/>
              </a:spcAft>
              <a:defRPr/>
            </a:pPr>
            <a:r>
              <a:rPr lang="zh-CN" altLang="en-US" dirty="0" smtClean="0">
                <a:latin typeface="+mn-ea"/>
              </a:rPr>
              <a:t>    </a:t>
            </a:r>
            <a:r>
              <a:rPr lang="zh-CN" altLang="en-US" dirty="0" smtClean="0">
                <a:latin typeface="+mn-ea"/>
                <a:sym typeface="+mn-ea"/>
              </a:rPr>
              <a:t>网维中心各部门数据的格式、类型等不同，数据无法有效的被整合、归类。数据存储、管理、利用与分析工作效率低下。</a:t>
            </a:r>
            <a:endParaRPr lang="en-US" altLang="zh-CN" dirty="0" smtClean="0">
              <a:latin typeface="+mn-ea"/>
              <a:sym typeface="+mn-ea"/>
            </a:endParaRPr>
          </a:p>
          <a:p>
            <a:pPr indent="457200" algn="l">
              <a:lnSpc>
                <a:spcPct val="150000"/>
              </a:lnSpc>
            </a:pPr>
            <a:r>
              <a:rPr lang="zh-CN" altLang="en-US" b="1" dirty="0" smtClean="0">
                <a:latin typeface="+mn-ea"/>
              </a:rPr>
              <a:t>模块功能</a:t>
            </a:r>
          </a:p>
          <a:p>
            <a:pPr indent="457200" algn="l">
              <a:lnSpc>
                <a:spcPct val="150000"/>
              </a:lnSpc>
            </a:pPr>
            <a:r>
              <a:rPr lang="zh-CN" altLang="en-US" dirty="0" smtClean="0">
                <a:latin typeface="+mn-ea"/>
              </a:rPr>
              <a:t>    </a:t>
            </a:r>
            <a:r>
              <a:rPr lang="zh-CN" altLang="en-US" dirty="0" smtClean="0">
                <a:effectLst/>
                <a:latin typeface="+mn-ea"/>
                <a:sym typeface="+mn-ea"/>
              </a:rPr>
              <a:t>指标归类整合</a:t>
            </a:r>
          </a:p>
          <a:p>
            <a:pPr indent="457200" algn="l">
              <a:lnSpc>
                <a:spcPct val="150000"/>
              </a:lnSpc>
            </a:pPr>
            <a:r>
              <a:rPr lang="zh-CN" altLang="en-US" dirty="0" smtClean="0">
                <a:effectLst/>
                <a:latin typeface="+mn-ea"/>
                <a:sym typeface="+mn-ea"/>
              </a:rPr>
              <a:t>    实时自主监控</a:t>
            </a:r>
          </a:p>
          <a:p>
            <a:pPr indent="457200" algn="l">
              <a:lnSpc>
                <a:spcPct val="150000"/>
              </a:lnSpc>
            </a:pPr>
            <a:r>
              <a:rPr lang="zh-CN" altLang="en-US" dirty="0" smtClean="0">
                <a:effectLst/>
                <a:latin typeface="+mn-ea"/>
                <a:sym typeface="+mn-ea"/>
              </a:rPr>
              <a:t>    报表自动生成。</a:t>
            </a:r>
            <a:endParaRPr lang="zh-CN" altLang="en-US" dirty="0" smtClean="0">
              <a:latin typeface="+mn-ea"/>
            </a:endParaRPr>
          </a:p>
          <a:p>
            <a:pPr indent="457200" fontAlgn="auto">
              <a:lnSpc>
                <a:spcPct val="150000"/>
              </a:lnSpc>
              <a:spcBef>
                <a:spcPts val="0"/>
              </a:spcBef>
              <a:spcAft>
                <a:spcPts val="0"/>
              </a:spcAft>
              <a:defRPr/>
            </a:pPr>
            <a:endParaRPr lang="zh-CN" altLang="en-US" dirty="0" smtClean="0">
              <a:latin typeface="+mn-ea"/>
              <a:sym typeface="+mn-ea"/>
            </a:endParaRPr>
          </a:p>
          <a:p>
            <a:pPr indent="457200" fontAlgn="auto">
              <a:lnSpc>
                <a:spcPct val="150000"/>
              </a:lnSpc>
              <a:spcBef>
                <a:spcPts val="0"/>
              </a:spcBef>
              <a:spcAft>
                <a:spcPts val="0"/>
              </a:spcAft>
              <a:defRPr/>
            </a:pPr>
            <a:r>
              <a:rPr lang="zh-CN" altLang="en-US" dirty="0" smtClean="0">
                <a:latin typeface="+mn-ea"/>
                <a:sym typeface="+mn-ea"/>
              </a:rPr>
              <a:t>    业务查询模块为各部门提供开放的数据接口，对业务流量及用户体验情况进行实时主动的监控管理，提高工作效率。</a:t>
            </a:r>
            <a:endParaRPr lang="zh-CN" altLang="zh-CN" dirty="0" smtClean="0">
              <a:latin typeface="+mn-ea"/>
            </a:endParaRPr>
          </a:p>
          <a:p>
            <a:pPr indent="457200" algn="l">
              <a:lnSpc>
                <a:spcPct val="150000"/>
              </a:lnSpc>
            </a:pPr>
            <a:endParaRPr lang="zh-CN" altLang="zh-CN" dirty="0" smtClean="0">
              <a:latin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26</a:t>
            </a:fld>
            <a:endParaRPr lang="zh-CN" altLang="en-US"/>
          </a:p>
        </p:txBody>
      </p:sp>
    </p:spTree>
    <p:extLst>
      <p:ext uri="{BB962C8B-B14F-4D97-AF65-F5344CB8AC3E}">
        <p14:creationId xmlns:p14="http://schemas.microsoft.com/office/powerpoint/2010/main" val="9195439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27</a:t>
            </a:fld>
            <a:endParaRPr lang="zh-CN" altLang="en-US"/>
          </a:p>
        </p:txBody>
      </p:sp>
    </p:spTree>
    <p:extLst>
      <p:ext uri="{BB962C8B-B14F-4D97-AF65-F5344CB8AC3E}">
        <p14:creationId xmlns:p14="http://schemas.microsoft.com/office/powerpoint/2010/main" val="2109451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28</a:t>
            </a:fld>
            <a:endParaRPr lang="zh-CN" altLang="en-US"/>
          </a:p>
        </p:txBody>
      </p:sp>
    </p:spTree>
    <p:extLst>
      <p:ext uri="{BB962C8B-B14F-4D97-AF65-F5344CB8AC3E}">
        <p14:creationId xmlns:p14="http://schemas.microsoft.com/office/powerpoint/2010/main" val="25501582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29</a:t>
            </a:fld>
            <a:endParaRPr lang="zh-CN" altLang="en-US"/>
          </a:p>
        </p:txBody>
      </p:sp>
    </p:spTree>
    <p:extLst>
      <p:ext uri="{BB962C8B-B14F-4D97-AF65-F5344CB8AC3E}">
        <p14:creationId xmlns:p14="http://schemas.microsoft.com/office/powerpoint/2010/main" val="223517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30</a:t>
            </a:fld>
            <a:endParaRPr lang="zh-CN" altLang="en-US"/>
          </a:p>
        </p:txBody>
      </p:sp>
    </p:spTree>
    <p:extLst>
      <p:ext uri="{BB962C8B-B14F-4D97-AF65-F5344CB8AC3E}">
        <p14:creationId xmlns:p14="http://schemas.microsoft.com/office/powerpoint/2010/main" val="6381577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31</a:t>
            </a:fld>
            <a:endParaRPr lang="zh-CN" altLang="en-US"/>
          </a:p>
        </p:txBody>
      </p:sp>
    </p:spTree>
    <p:extLst>
      <p:ext uri="{BB962C8B-B14F-4D97-AF65-F5344CB8AC3E}">
        <p14:creationId xmlns:p14="http://schemas.microsoft.com/office/powerpoint/2010/main" val="10150148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32</a:t>
            </a:fld>
            <a:endParaRPr lang="zh-CN" altLang="en-US"/>
          </a:p>
        </p:txBody>
      </p:sp>
    </p:spTree>
    <p:extLst>
      <p:ext uri="{BB962C8B-B14F-4D97-AF65-F5344CB8AC3E}">
        <p14:creationId xmlns:p14="http://schemas.microsoft.com/office/powerpoint/2010/main" val="2003872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33</a:t>
            </a:fld>
            <a:endParaRPr lang="zh-CN" altLang="en-US"/>
          </a:p>
        </p:txBody>
      </p:sp>
    </p:spTree>
    <p:extLst>
      <p:ext uri="{BB962C8B-B14F-4D97-AF65-F5344CB8AC3E}">
        <p14:creationId xmlns:p14="http://schemas.microsoft.com/office/powerpoint/2010/main" val="1300194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FF0000"/>
                </a:solidFill>
                <a:latin typeface="微软雅黑" panose="020B0503020204020204" pitchFamily="34" charset="-122"/>
                <a:ea typeface="微软雅黑" panose="020B0503020204020204" pitchFamily="34" charset="-122"/>
              </a:rPr>
              <a:t>项目背景</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平台应用</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技术实现</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具体安排</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435160"/>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173315" y="2219487"/>
            <a:ext cx="4676775" cy="1061829"/>
          </a:xfrm>
          <a:prstGeom prst="rect">
            <a:avLst/>
          </a:prstGeom>
          <a:noFill/>
        </p:spPr>
        <p:txBody>
          <a:bodyPr wrap="square" rtlCol="0">
            <a:spAutoFit/>
          </a:bodyPr>
          <a:lstStyle/>
          <a:p>
            <a:pPr indent="457200">
              <a:lnSpc>
                <a:spcPct val="150000"/>
              </a:lnSpc>
            </a:pPr>
            <a:r>
              <a:rPr lang="zh-CN" altLang="en-US" sz="1400" b="1" dirty="0" smtClean="0"/>
              <a:t>目的</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了解城域网运行</a:t>
            </a:r>
            <a:endParaRPr lang="en-US" altLang="zh-CN" sz="1400" dirty="0" smtClean="0"/>
          </a:p>
          <a:p>
            <a:pPr marL="285750" indent="457200">
              <a:lnSpc>
                <a:spcPct val="150000"/>
              </a:lnSpc>
              <a:buFont typeface="Arial" panose="020B0604020202020204" pitchFamily="34" charset="0"/>
              <a:buChar char="•"/>
            </a:pPr>
            <a:r>
              <a:rPr lang="zh-CN" altLang="en-US" sz="1400" dirty="0" smtClean="0"/>
              <a:t>获取城域网数据</a:t>
            </a:r>
            <a:endParaRPr lang="zh-CN" altLang="en-US" sz="1400" dirty="0"/>
          </a:p>
        </p:txBody>
      </p:sp>
      <p:sp>
        <p:nvSpPr>
          <p:cNvPr id="12" name="文本框 11"/>
          <p:cNvSpPr txBox="1"/>
          <p:nvPr/>
        </p:nvSpPr>
        <p:spPr>
          <a:xfrm>
            <a:off x="1173315" y="3806279"/>
            <a:ext cx="5675160" cy="2031325"/>
          </a:xfrm>
          <a:prstGeom prst="rect">
            <a:avLst/>
          </a:prstGeom>
          <a:noFill/>
        </p:spPr>
        <p:txBody>
          <a:bodyPr wrap="square" rtlCol="0">
            <a:spAutoFit/>
          </a:bodyPr>
          <a:lstStyle/>
          <a:p>
            <a:pPr indent="457200">
              <a:lnSpc>
                <a:spcPct val="150000"/>
              </a:lnSpc>
            </a:pPr>
            <a:r>
              <a:rPr lang="zh-CN" altLang="en-US" sz="1400" b="1" dirty="0" smtClean="0"/>
              <a:t>内容</a:t>
            </a:r>
            <a:r>
              <a:rPr lang="zh-CN" altLang="en-US" sz="1400" dirty="0" smtClean="0"/>
              <a:t>：</a:t>
            </a:r>
            <a:endParaRPr lang="en-US" altLang="zh-CN" sz="1400" dirty="0" smtClean="0"/>
          </a:p>
          <a:p>
            <a:pPr indent="457200">
              <a:lnSpc>
                <a:spcPct val="150000"/>
              </a:lnSpc>
            </a:pPr>
            <a:r>
              <a:rPr lang="zh-CN" altLang="en-US" sz="1400" dirty="0" smtClean="0"/>
              <a:t>日报：对网络一日内的总体情况介绍，包括网络总体情况、设备运行情况、其他事件（如工程切割情况）等；</a:t>
            </a:r>
            <a:endParaRPr lang="en-US" altLang="zh-CN" sz="1400" dirty="0" smtClean="0"/>
          </a:p>
          <a:p>
            <a:pPr indent="457200">
              <a:lnSpc>
                <a:spcPct val="150000"/>
              </a:lnSpc>
            </a:pPr>
            <a:r>
              <a:rPr lang="zh-CN" altLang="en-US" sz="1400" dirty="0" smtClean="0"/>
              <a:t>月报：对一个自然月内的城域网总体情况分析，包括网络基本情况、流量分析、容量分析、业务容量预测、链路扩容计划、设备性能优化等。</a:t>
            </a:r>
            <a:endParaRPr lang="zh-CN" altLang="en-US" sz="1400" dirty="0"/>
          </a:p>
        </p:txBody>
      </p:sp>
      <p:sp>
        <p:nvSpPr>
          <p:cNvPr id="11" name="文本框 10"/>
          <p:cNvSpPr txBox="1"/>
          <p:nvPr/>
        </p:nvSpPr>
        <p:spPr>
          <a:xfrm>
            <a:off x="6848474" y="2219487"/>
            <a:ext cx="4676775" cy="738664"/>
          </a:xfrm>
          <a:prstGeom prst="rect">
            <a:avLst/>
          </a:prstGeom>
          <a:noFill/>
        </p:spPr>
        <p:txBody>
          <a:bodyPr wrap="square" rtlCol="0">
            <a:spAutoFit/>
          </a:bodyPr>
          <a:lstStyle/>
          <a:p>
            <a:pPr indent="457200">
              <a:lnSpc>
                <a:spcPct val="150000"/>
              </a:lnSpc>
            </a:pPr>
            <a:r>
              <a:rPr lang="zh-CN" altLang="en-US" sz="1400" b="1" dirty="0"/>
              <a:t>人员</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城域网</a:t>
            </a:r>
            <a:r>
              <a:rPr lang="en-US" altLang="zh-CN" sz="1400" dirty="0" smtClean="0"/>
              <a:t>8</a:t>
            </a:r>
            <a:r>
              <a:rPr lang="zh-CN" altLang="en-US" sz="1400" dirty="0" smtClean="0"/>
              <a:t>人代维小组中一人</a:t>
            </a:r>
            <a:endParaRPr lang="zh-CN" altLang="en-US" sz="1400" dirty="0"/>
          </a:p>
        </p:txBody>
      </p:sp>
      <p:sp>
        <p:nvSpPr>
          <p:cNvPr id="13" name="文本框 12"/>
          <p:cNvSpPr txBox="1"/>
          <p:nvPr/>
        </p:nvSpPr>
        <p:spPr>
          <a:xfrm>
            <a:off x="6848474" y="3806279"/>
            <a:ext cx="4676775" cy="1061829"/>
          </a:xfrm>
          <a:prstGeom prst="rect">
            <a:avLst/>
          </a:prstGeom>
          <a:noFill/>
        </p:spPr>
        <p:txBody>
          <a:bodyPr wrap="square" rtlCol="0">
            <a:spAutoFit/>
          </a:bodyPr>
          <a:lstStyle/>
          <a:p>
            <a:pPr indent="457200">
              <a:lnSpc>
                <a:spcPct val="150000"/>
              </a:lnSpc>
            </a:pPr>
            <a:r>
              <a:rPr lang="zh-CN" altLang="en-US" sz="1400" b="1" dirty="0" smtClean="0"/>
              <a:t>耗时</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日报：半小时</a:t>
            </a:r>
            <a:endParaRPr lang="en-US" altLang="zh-CN" sz="1400" dirty="0" smtClean="0"/>
          </a:p>
          <a:p>
            <a:pPr marL="285750" indent="457200">
              <a:lnSpc>
                <a:spcPct val="150000"/>
              </a:lnSpc>
              <a:buFont typeface="Arial" panose="020B0604020202020204" pitchFamily="34" charset="0"/>
              <a:buChar char="•"/>
            </a:pPr>
            <a:r>
              <a:rPr lang="zh-CN" altLang="en-US" sz="1400" dirty="0" smtClean="0"/>
              <a:t>月报：一整天</a:t>
            </a:r>
            <a:endParaRPr lang="zh-CN" altLang="en-US" sz="1400" dirty="0"/>
          </a:p>
        </p:txBody>
      </p:sp>
    </p:spTree>
    <p:extLst>
      <p:ext uri="{BB962C8B-B14F-4D97-AF65-F5344CB8AC3E}">
        <p14:creationId xmlns:p14="http://schemas.microsoft.com/office/powerpoint/2010/main" val="81289446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arn(inVertical)">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1"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721810" y="1405612"/>
            <a:ext cx="2177452" cy="307777"/>
          </a:xfrm>
          <a:prstGeom prst="rect">
            <a:avLst/>
          </a:prstGeom>
          <a:noFill/>
        </p:spPr>
        <p:txBody>
          <a:bodyPr wrap="square" rtlCol="0">
            <a:spAutoFit/>
          </a:bodyPr>
          <a:lstStyle/>
          <a:p>
            <a:r>
              <a:rPr lang="zh-CN" altLang="en-US" sz="1400" b="1" dirty="0" smtClean="0"/>
              <a:t>日报制作流程示意</a:t>
            </a:r>
            <a:endParaRPr lang="zh-CN" altLang="en-US" sz="1400" b="1" dirty="0"/>
          </a:p>
        </p:txBody>
      </p:sp>
      <p:pic>
        <p:nvPicPr>
          <p:cNvPr id="16" name="图片 15"/>
          <p:cNvPicPr>
            <a:picLocks noChangeAspect="1"/>
          </p:cNvPicPr>
          <p:nvPr/>
        </p:nvPicPr>
        <p:blipFill>
          <a:blip r:embed="rId3"/>
          <a:stretch>
            <a:fillRect/>
          </a:stretch>
        </p:blipFill>
        <p:spPr>
          <a:xfrm>
            <a:off x="1810536" y="2131286"/>
            <a:ext cx="8897251" cy="3889116"/>
          </a:xfrm>
          <a:prstGeom prst="rect">
            <a:avLst/>
          </a:prstGeom>
        </p:spPr>
      </p:pic>
      <p:sp>
        <p:nvSpPr>
          <p:cNvPr id="2" name="圆角矩形 1"/>
          <p:cNvSpPr/>
          <p:nvPr/>
        </p:nvSpPr>
        <p:spPr>
          <a:xfrm>
            <a:off x="1362075" y="1759810"/>
            <a:ext cx="3924300" cy="4365911"/>
          </a:xfrm>
          <a:prstGeom prst="roundRect">
            <a:avLst/>
          </a:prstGeom>
          <a:noFill/>
          <a:ln w="28575" cap="flat" cmpd="sng" algn="ctr">
            <a:solidFill>
              <a:srgbClr val="00AC4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4" name="圆角矩形 13"/>
          <p:cNvSpPr/>
          <p:nvPr/>
        </p:nvSpPr>
        <p:spPr>
          <a:xfrm>
            <a:off x="5286374" y="1759812"/>
            <a:ext cx="1876425" cy="4365910"/>
          </a:xfrm>
          <a:prstGeom prst="roundRect">
            <a:avLst/>
          </a:prstGeom>
          <a:noFill/>
          <a:ln w="28575" cap="flat" cmpd="sng" algn="ctr">
            <a:solidFill>
              <a:schemeClr val="accent5">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5" name="圆角矩形 14"/>
          <p:cNvSpPr/>
          <p:nvPr/>
        </p:nvSpPr>
        <p:spPr>
          <a:xfrm>
            <a:off x="7162799" y="1759810"/>
            <a:ext cx="3638551" cy="4365911"/>
          </a:xfrm>
          <a:prstGeom prst="roundRect">
            <a:avLst/>
          </a:prstGeom>
          <a:noFill/>
          <a:ln w="28575"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7" name="文本框 6"/>
          <p:cNvSpPr txBox="1"/>
          <p:nvPr/>
        </p:nvSpPr>
        <p:spPr>
          <a:xfrm>
            <a:off x="2003065"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数据获取</a:t>
            </a:r>
            <a:endParaRPr lang="zh-CN" altLang="en-US" dirty="0"/>
          </a:p>
        </p:txBody>
      </p:sp>
      <p:sp>
        <p:nvSpPr>
          <p:cNvPr id="17" name="文本框 16"/>
          <p:cNvSpPr txBox="1"/>
          <p:nvPr/>
        </p:nvSpPr>
        <p:spPr>
          <a:xfrm>
            <a:off x="5628822" y="1761954"/>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数据分析</a:t>
            </a:r>
            <a:endParaRPr lang="zh-CN" altLang="en-US" dirty="0"/>
          </a:p>
        </p:txBody>
      </p:sp>
      <p:sp>
        <p:nvSpPr>
          <p:cNvPr id="18" name="文本框 17"/>
          <p:cNvSpPr txBox="1"/>
          <p:nvPr/>
        </p:nvSpPr>
        <p:spPr>
          <a:xfrm>
            <a:off x="7609572"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数据呈现</a:t>
            </a:r>
            <a:endParaRPr lang="zh-CN" altLang="en-US" dirty="0"/>
          </a:p>
        </p:txBody>
      </p:sp>
    </p:spTree>
    <p:extLst>
      <p:ext uri="{BB962C8B-B14F-4D97-AF65-F5344CB8AC3E}">
        <p14:creationId xmlns:p14="http://schemas.microsoft.com/office/powerpoint/2010/main" val="309517308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500" fill="hold"/>
                                        <p:tgtEl>
                                          <p:spTgt spid="15"/>
                                        </p:tgtEl>
                                        <p:attrNameLst>
                                          <p:attrName>ppt_w</p:attrName>
                                        </p:attrNameLst>
                                      </p:cBhvr>
                                      <p:tavLst>
                                        <p:tav tm="0">
                                          <p:val>
                                            <p:fltVal val="0"/>
                                          </p:val>
                                        </p:tav>
                                        <p:tav tm="100000">
                                          <p:val>
                                            <p:strVal val="#ppt_w"/>
                                          </p:val>
                                        </p:tav>
                                      </p:tavLst>
                                    </p:anim>
                                    <p:anim calcmode="lin" valueType="num">
                                      <p:cBhvr>
                                        <p:cTn id="37" dur="500" fill="hold"/>
                                        <p:tgtEl>
                                          <p:spTgt spid="15"/>
                                        </p:tgtEl>
                                        <p:attrNameLst>
                                          <p:attrName>ppt_h</p:attrName>
                                        </p:attrNameLst>
                                      </p:cBhvr>
                                      <p:tavLst>
                                        <p:tav tm="0">
                                          <p:val>
                                            <p:fltVal val="0"/>
                                          </p:val>
                                        </p:tav>
                                        <p:tav tm="100000">
                                          <p:val>
                                            <p:strVal val="#ppt_h"/>
                                          </p:val>
                                        </p:tav>
                                      </p:tavLst>
                                    </p:anim>
                                    <p:animEffect transition="in" filter="fade">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P spid="15" grpId="0" animBg="1"/>
      <p:bldP spid="7" grpId="0" animBg="1"/>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3"/>
          <a:stretch>
            <a:fillRect/>
          </a:stretch>
        </p:blipFill>
        <p:spPr>
          <a:xfrm>
            <a:off x="2809875" y="1466750"/>
            <a:ext cx="9382125" cy="4952030"/>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607" y="2380800"/>
            <a:ext cx="2669268" cy="300082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数据获取：</a:t>
            </a:r>
            <a:endParaRPr lang="en-US" altLang="zh-CN" sz="1400" dirty="0"/>
          </a:p>
          <a:p>
            <a:pPr marL="742950" lvl="1" indent="-285750">
              <a:lnSpc>
                <a:spcPct val="150000"/>
              </a:lnSpc>
              <a:buFont typeface="Arial" panose="020B0604020202020204" pitchFamily="34" charset="0"/>
              <a:buChar char="•"/>
            </a:pPr>
            <a:r>
              <a:rPr lang="zh-CN" altLang="en-US" sz="1400" dirty="0" smtClean="0"/>
              <a:t>数据来源</a:t>
            </a:r>
            <a:r>
              <a:rPr lang="zh-CN" altLang="en-US" sz="1400" dirty="0" smtClean="0">
                <a:solidFill>
                  <a:srgbClr val="FF0000"/>
                </a:solidFill>
              </a:rPr>
              <a:t>较分散</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a:t>原始数据</a:t>
            </a:r>
            <a:r>
              <a:rPr lang="zh-CN" altLang="en-US" sz="1400" dirty="0">
                <a:solidFill>
                  <a:srgbClr val="FF0000"/>
                </a:solidFill>
              </a:rPr>
              <a:t>无</a:t>
            </a:r>
            <a:r>
              <a:rPr lang="zh-CN" altLang="en-US" sz="1400" dirty="0" smtClean="0">
                <a:solidFill>
                  <a:srgbClr val="FF0000"/>
                </a:solidFill>
              </a:rPr>
              <a:t>备份</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获取方式</a:t>
            </a:r>
            <a:r>
              <a:rPr lang="zh-CN" altLang="en-US" sz="1400" dirty="0" smtClean="0">
                <a:solidFill>
                  <a:srgbClr val="FF0000"/>
                </a:solidFill>
              </a:rPr>
              <a:t>未统一</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沟通成本</a:t>
            </a:r>
            <a:r>
              <a:rPr lang="zh-CN" altLang="en-US" sz="1400" dirty="0" smtClean="0">
                <a:solidFill>
                  <a:srgbClr val="FF0000"/>
                </a:solidFill>
              </a:rPr>
              <a:t>代价高</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人力劳动</a:t>
            </a:r>
            <a:r>
              <a:rPr lang="zh-CN" altLang="en-US" sz="1400" dirty="0" smtClean="0">
                <a:solidFill>
                  <a:srgbClr val="FF0000"/>
                </a:solidFill>
              </a:rPr>
              <a:t>较重复</a:t>
            </a:r>
            <a:endParaRPr lang="en-US" altLang="zh-CN" sz="1400" dirty="0" smtClean="0">
              <a:solidFill>
                <a:srgbClr val="FF0000"/>
              </a:solidFill>
            </a:endParaRPr>
          </a:p>
          <a:p>
            <a:pPr>
              <a:lnSpc>
                <a:spcPct val="150000"/>
              </a:lnSpc>
            </a:pPr>
            <a:endParaRPr lang="en-US" altLang="zh-CN" sz="1400" dirty="0" smtClean="0"/>
          </a:p>
        </p:txBody>
      </p:sp>
      <p:sp>
        <p:nvSpPr>
          <p:cNvPr id="9" name="矩形 8"/>
          <p:cNvSpPr/>
          <p:nvPr/>
        </p:nvSpPr>
        <p:spPr>
          <a:xfrm>
            <a:off x="7762285" y="1237862"/>
            <a:ext cx="2088065" cy="5333025"/>
          </a:xfrm>
          <a:prstGeom prst="rect">
            <a:avLst/>
          </a:prstGeom>
          <a:noFill/>
          <a:ln w="38100" cap="flat" cmpd="sng" algn="ctr">
            <a:solidFill>
              <a:srgbClr val="007A37"/>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2" name="矩形 11"/>
          <p:cNvSpPr/>
          <p:nvPr/>
        </p:nvSpPr>
        <p:spPr>
          <a:xfrm>
            <a:off x="3848100" y="1237861"/>
            <a:ext cx="1819275" cy="5334389"/>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solidFill>
                <a:srgbClr val="FF0000"/>
              </a:solidFill>
            </a:endParaRPr>
          </a:p>
        </p:txBody>
      </p:sp>
      <p:sp>
        <p:nvSpPr>
          <p:cNvPr id="13" name="矩形 12"/>
          <p:cNvSpPr/>
          <p:nvPr/>
        </p:nvSpPr>
        <p:spPr>
          <a:xfrm>
            <a:off x="5805192" y="1237862"/>
            <a:ext cx="1819275" cy="5333026"/>
          </a:xfrm>
          <a:prstGeom prst="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0" name="文本框 9"/>
          <p:cNvSpPr txBox="1"/>
          <p:nvPr/>
        </p:nvSpPr>
        <p:spPr>
          <a:xfrm>
            <a:off x="4295774" y="6201555"/>
            <a:ext cx="923925" cy="369332"/>
          </a:xfrm>
          <a:prstGeom prst="rect">
            <a:avLst/>
          </a:prstGeom>
          <a:noFill/>
        </p:spPr>
        <p:txBody>
          <a:bodyPr wrap="square" rtlCol="0">
            <a:spAutoFit/>
          </a:bodyPr>
          <a:lstStyle/>
          <a:p>
            <a:r>
              <a:rPr lang="zh-CN" altLang="en-US" dirty="0" smtClean="0"/>
              <a:t>数据源</a:t>
            </a:r>
            <a:endParaRPr lang="zh-CN" altLang="en-US" dirty="0"/>
          </a:p>
        </p:txBody>
      </p:sp>
      <p:sp>
        <p:nvSpPr>
          <p:cNvPr id="11" name="文本框 10"/>
          <p:cNvSpPr txBox="1"/>
          <p:nvPr/>
        </p:nvSpPr>
        <p:spPr>
          <a:xfrm>
            <a:off x="6253556" y="6201555"/>
            <a:ext cx="1174997" cy="369332"/>
          </a:xfrm>
          <a:prstGeom prst="rect">
            <a:avLst/>
          </a:prstGeom>
          <a:noFill/>
        </p:spPr>
        <p:txBody>
          <a:bodyPr wrap="square" rtlCol="0">
            <a:spAutoFit/>
          </a:bodyPr>
          <a:lstStyle/>
          <a:p>
            <a:r>
              <a:rPr lang="zh-CN" altLang="en-US" dirty="0" smtClean="0"/>
              <a:t>数据内容</a:t>
            </a:r>
            <a:endParaRPr lang="zh-CN" altLang="en-US" dirty="0"/>
          </a:p>
        </p:txBody>
      </p:sp>
      <p:sp>
        <p:nvSpPr>
          <p:cNvPr id="14" name="文本框 13"/>
          <p:cNvSpPr txBox="1"/>
          <p:nvPr/>
        </p:nvSpPr>
        <p:spPr>
          <a:xfrm>
            <a:off x="8238306" y="6201555"/>
            <a:ext cx="1113971" cy="369332"/>
          </a:xfrm>
          <a:prstGeom prst="rect">
            <a:avLst/>
          </a:prstGeom>
          <a:noFill/>
        </p:spPr>
        <p:txBody>
          <a:bodyPr wrap="square" rtlCol="0">
            <a:spAutoFit/>
          </a:bodyPr>
          <a:lstStyle/>
          <a:p>
            <a:r>
              <a:rPr lang="zh-CN" altLang="en-US" dirty="0" smtClean="0"/>
              <a:t>获取频率</a:t>
            </a:r>
            <a:endParaRPr lang="zh-CN" altLang="en-US" dirty="0"/>
          </a:p>
        </p:txBody>
      </p:sp>
      <p:sp>
        <p:nvSpPr>
          <p:cNvPr id="15" name="文本框 14"/>
          <p:cNvSpPr txBox="1"/>
          <p:nvPr/>
        </p:nvSpPr>
        <p:spPr>
          <a:xfrm>
            <a:off x="2930664" y="1390223"/>
            <a:ext cx="755511" cy="646331"/>
          </a:xfrm>
          <a:prstGeom prst="rect">
            <a:avLst/>
          </a:prstGeom>
          <a:noFill/>
        </p:spPr>
        <p:txBody>
          <a:bodyPr wrap="square" rtlCol="0">
            <a:spAutoFit/>
          </a:bodyPr>
          <a:lstStyle/>
          <a:p>
            <a:r>
              <a:rPr lang="zh-CN" altLang="en-US" dirty="0" smtClean="0"/>
              <a:t>主动沟通</a:t>
            </a:r>
            <a:endParaRPr lang="zh-CN" altLang="en-US" dirty="0"/>
          </a:p>
        </p:txBody>
      </p:sp>
      <p:sp>
        <p:nvSpPr>
          <p:cNvPr id="18" name="文本框 17"/>
          <p:cNvSpPr txBox="1"/>
          <p:nvPr/>
        </p:nvSpPr>
        <p:spPr>
          <a:xfrm>
            <a:off x="3190431" y="2850160"/>
            <a:ext cx="755511" cy="646331"/>
          </a:xfrm>
          <a:prstGeom prst="rect">
            <a:avLst/>
          </a:prstGeom>
          <a:noFill/>
        </p:spPr>
        <p:txBody>
          <a:bodyPr wrap="square" rtlCol="0">
            <a:spAutoFit/>
          </a:bodyPr>
          <a:lstStyle/>
          <a:p>
            <a:r>
              <a:rPr lang="zh-CN" altLang="en-US" dirty="0" smtClean="0"/>
              <a:t>主动登录</a:t>
            </a:r>
            <a:endParaRPr lang="zh-CN" altLang="en-US" dirty="0"/>
          </a:p>
        </p:txBody>
      </p:sp>
      <p:sp>
        <p:nvSpPr>
          <p:cNvPr id="20" name="文本框 19"/>
          <p:cNvSpPr txBox="1"/>
          <p:nvPr/>
        </p:nvSpPr>
        <p:spPr>
          <a:xfrm>
            <a:off x="3190431" y="5344894"/>
            <a:ext cx="755511" cy="646331"/>
          </a:xfrm>
          <a:prstGeom prst="rect">
            <a:avLst/>
          </a:prstGeom>
          <a:noFill/>
        </p:spPr>
        <p:txBody>
          <a:bodyPr wrap="square" rtlCol="0">
            <a:spAutoFit/>
          </a:bodyPr>
          <a:lstStyle/>
          <a:p>
            <a:r>
              <a:rPr lang="zh-CN" altLang="en-US" dirty="0" smtClean="0"/>
              <a:t>被动获取</a:t>
            </a:r>
            <a:endParaRPr lang="zh-CN" altLang="en-US" dirty="0"/>
          </a:p>
        </p:txBody>
      </p:sp>
      <p:sp>
        <p:nvSpPr>
          <p:cNvPr id="21" name="矩形 20"/>
          <p:cNvSpPr/>
          <p:nvPr/>
        </p:nvSpPr>
        <p:spPr>
          <a:xfrm>
            <a:off x="9904905" y="1227910"/>
            <a:ext cx="2088065" cy="5333025"/>
          </a:xfrm>
          <a:prstGeom prst="rect">
            <a:avLst/>
          </a:prstGeom>
          <a:noFill/>
          <a:ln w="38100"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2" name="文本框 21"/>
          <p:cNvSpPr txBox="1"/>
          <p:nvPr/>
        </p:nvSpPr>
        <p:spPr>
          <a:xfrm>
            <a:off x="10464189" y="6201555"/>
            <a:ext cx="1113971" cy="369332"/>
          </a:xfrm>
          <a:prstGeom prst="rect">
            <a:avLst/>
          </a:prstGeom>
          <a:noFill/>
        </p:spPr>
        <p:txBody>
          <a:bodyPr wrap="square" rtlCol="0">
            <a:spAutoFit/>
          </a:bodyPr>
          <a:lstStyle/>
          <a:p>
            <a:r>
              <a:rPr lang="zh-CN" altLang="en-US" dirty="0" smtClean="0"/>
              <a:t>获取表格</a:t>
            </a:r>
            <a:endParaRPr lang="zh-CN" altLang="en-US" dirty="0"/>
          </a:p>
        </p:txBody>
      </p:sp>
      <p:sp>
        <p:nvSpPr>
          <p:cNvPr id="8" name="圆角矩形 7"/>
          <p:cNvSpPr/>
          <p:nvPr/>
        </p:nvSpPr>
        <p:spPr>
          <a:xfrm>
            <a:off x="7598160" y="1390223"/>
            <a:ext cx="1476965" cy="1562527"/>
          </a:xfrm>
          <a:prstGeom prst="round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Tree>
    <p:extLst>
      <p:ext uri="{BB962C8B-B14F-4D97-AF65-F5344CB8AC3E}">
        <p14:creationId xmlns:p14="http://schemas.microsoft.com/office/powerpoint/2010/main" val="23578170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5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5" dur="500"/>
                                        <p:tgtEl>
                                          <p:spTgt spid="2">
                                            <p:txEl>
                                              <p:pRg st="3" end="3"/>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animEffect transition="in" filter="fade">
                                      <p:cBhvr>
                                        <p:cTn id="25" dur="500"/>
                                        <p:tgtEl>
                                          <p:spTgt spid="12"/>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p:cTn id="38" dur="500" fill="hold"/>
                                        <p:tgtEl>
                                          <p:spTgt spid="11"/>
                                        </p:tgtEl>
                                        <p:attrNameLst>
                                          <p:attrName>ppt_w</p:attrName>
                                        </p:attrNameLst>
                                      </p:cBhvr>
                                      <p:tavLst>
                                        <p:tav tm="0">
                                          <p:val>
                                            <p:fltVal val="0"/>
                                          </p:val>
                                        </p:tav>
                                        <p:tav tm="100000">
                                          <p:val>
                                            <p:strVal val="#ppt_w"/>
                                          </p:val>
                                        </p:tav>
                                      </p:tavLst>
                                    </p:anim>
                                    <p:anim calcmode="lin" valueType="num">
                                      <p:cBhvr>
                                        <p:cTn id="39" dur="500" fill="hold"/>
                                        <p:tgtEl>
                                          <p:spTgt spid="11"/>
                                        </p:tgtEl>
                                        <p:attrNameLst>
                                          <p:attrName>ppt_h</p:attrName>
                                        </p:attrNameLst>
                                      </p:cBhvr>
                                      <p:tavLst>
                                        <p:tav tm="0">
                                          <p:val>
                                            <p:fltVal val="0"/>
                                          </p:val>
                                        </p:tav>
                                        <p:tav tm="100000">
                                          <p:val>
                                            <p:strVal val="#ppt_h"/>
                                          </p:val>
                                        </p:tav>
                                      </p:tavLst>
                                    </p:anim>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1" nodeType="clickEffect">
                                  <p:stCondLst>
                                    <p:cond delay="0"/>
                                  </p:stCondLst>
                                  <p:childTnLst>
                                    <p:anim calcmode="lin" valueType="num">
                                      <p:cBhvr additive="base">
                                        <p:cTn id="44" dur="500"/>
                                        <p:tgtEl>
                                          <p:spTgt spid="12"/>
                                        </p:tgtEl>
                                        <p:attrNameLst>
                                          <p:attrName>ppt_x</p:attrName>
                                        </p:attrNameLst>
                                      </p:cBhvr>
                                      <p:tavLst>
                                        <p:tav tm="0">
                                          <p:val>
                                            <p:strVal val="ppt_x"/>
                                          </p:val>
                                        </p:tav>
                                        <p:tav tm="100000">
                                          <p:val>
                                            <p:strVal val="ppt_x"/>
                                          </p:val>
                                        </p:tav>
                                      </p:tavLst>
                                    </p:anim>
                                    <p:anim calcmode="lin" valueType="num">
                                      <p:cBhvr additive="base">
                                        <p:cTn id="45" dur="500"/>
                                        <p:tgtEl>
                                          <p:spTgt spid="12"/>
                                        </p:tgtEl>
                                        <p:attrNameLst>
                                          <p:attrName>ppt_y</p:attrName>
                                        </p:attrNameLst>
                                      </p:cBhvr>
                                      <p:tavLst>
                                        <p:tav tm="0">
                                          <p:val>
                                            <p:strVal val="ppt_y"/>
                                          </p:val>
                                        </p:tav>
                                        <p:tav tm="100000">
                                          <p:val>
                                            <p:strVal val="1+ppt_h/2"/>
                                          </p:val>
                                        </p:tav>
                                      </p:tavLst>
                                    </p:anim>
                                    <p:set>
                                      <p:cBhvr>
                                        <p:cTn id="46" dur="1" fill="hold">
                                          <p:stCondLst>
                                            <p:cond delay="499"/>
                                          </p:stCondLst>
                                        </p:cTn>
                                        <p:tgtEl>
                                          <p:spTgt spid="12"/>
                                        </p:tgtEl>
                                        <p:attrNameLst>
                                          <p:attrName>style.visibility</p:attrName>
                                        </p:attrNameLst>
                                      </p:cBhvr>
                                      <p:to>
                                        <p:strVal val="hidden"/>
                                      </p:to>
                                    </p:set>
                                  </p:childTnLst>
                                </p:cTn>
                              </p:par>
                              <p:par>
                                <p:cTn id="47" presetID="2" presetClass="exit" presetSubtype="4" fill="hold" grpId="1" nodeType="withEffect">
                                  <p:stCondLst>
                                    <p:cond delay="0"/>
                                  </p:stCondLst>
                                  <p:childTnLst>
                                    <p:anim calcmode="lin" valueType="num">
                                      <p:cBhvr additive="base">
                                        <p:cTn id="48" dur="500"/>
                                        <p:tgtEl>
                                          <p:spTgt spid="10"/>
                                        </p:tgtEl>
                                        <p:attrNameLst>
                                          <p:attrName>ppt_x</p:attrName>
                                        </p:attrNameLst>
                                      </p:cBhvr>
                                      <p:tavLst>
                                        <p:tav tm="0">
                                          <p:val>
                                            <p:strVal val="ppt_x"/>
                                          </p:val>
                                        </p:tav>
                                        <p:tav tm="100000">
                                          <p:val>
                                            <p:strVal val="ppt_x"/>
                                          </p:val>
                                        </p:tav>
                                      </p:tavLst>
                                    </p:anim>
                                    <p:anim calcmode="lin" valueType="num">
                                      <p:cBhvr additive="base">
                                        <p:cTn id="49" dur="500"/>
                                        <p:tgtEl>
                                          <p:spTgt spid="10"/>
                                        </p:tgtEl>
                                        <p:attrNameLst>
                                          <p:attrName>ppt_y</p:attrName>
                                        </p:attrNameLst>
                                      </p:cBhvr>
                                      <p:tavLst>
                                        <p:tav tm="0">
                                          <p:val>
                                            <p:strVal val="ppt_y"/>
                                          </p:val>
                                        </p:tav>
                                        <p:tav tm="100000">
                                          <p:val>
                                            <p:strVal val="1+ppt_h/2"/>
                                          </p:val>
                                        </p:tav>
                                      </p:tavLst>
                                    </p:anim>
                                    <p:set>
                                      <p:cBhvr>
                                        <p:cTn id="50" dur="1" fill="hold">
                                          <p:stCondLst>
                                            <p:cond delay="499"/>
                                          </p:stCondLst>
                                        </p:cTn>
                                        <p:tgtEl>
                                          <p:spTgt spid="10"/>
                                        </p:tgtEl>
                                        <p:attrNameLst>
                                          <p:attrName>style.visibility</p:attrName>
                                        </p:attrNameLst>
                                      </p:cBhvr>
                                      <p:to>
                                        <p:strVal val="hidden"/>
                                      </p:to>
                                    </p:set>
                                  </p:childTnLst>
                                </p:cTn>
                              </p:par>
                              <p:par>
                                <p:cTn id="51" presetID="2" presetClass="exit" presetSubtype="4" fill="hold" grpId="1" nodeType="withEffect">
                                  <p:stCondLst>
                                    <p:cond delay="0"/>
                                  </p:stCondLst>
                                  <p:childTnLst>
                                    <p:anim calcmode="lin" valueType="num">
                                      <p:cBhvr additive="base">
                                        <p:cTn id="52" dur="500"/>
                                        <p:tgtEl>
                                          <p:spTgt spid="13"/>
                                        </p:tgtEl>
                                        <p:attrNameLst>
                                          <p:attrName>ppt_x</p:attrName>
                                        </p:attrNameLst>
                                      </p:cBhvr>
                                      <p:tavLst>
                                        <p:tav tm="0">
                                          <p:val>
                                            <p:strVal val="ppt_x"/>
                                          </p:val>
                                        </p:tav>
                                        <p:tav tm="100000">
                                          <p:val>
                                            <p:strVal val="ppt_x"/>
                                          </p:val>
                                        </p:tav>
                                      </p:tavLst>
                                    </p:anim>
                                    <p:anim calcmode="lin" valueType="num">
                                      <p:cBhvr additive="base">
                                        <p:cTn id="53" dur="500"/>
                                        <p:tgtEl>
                                          <p:spTgt spid="13"/>
                                        </p:tgtEl>
                                        <p:attrNameLst>
                                          <p:attrName>ppt_y</p:attrName>
                                        </p:attrNameLst>
                                      </p:cBhvr>
                                      <p:tavLst>
                                        <p:tav tm="0">
                                          <p:val>
                                            <p:strVal val="ppt_y"/>
                                          </p:val>
                                        </p:tav>
                                        <p:tav tm="100000">
                                          <p:val>
                                            <p:strVal val="1+ppt_h/2"/>
                                          </p:val>
                                        </p:tav>
                                      </p:tavLst>
                                    </p:anim>
                                    <p:set>
                                      <p:cBhvr>
                                        <p:cTn id="54" dur="1" fill="hold">
                                          <p:stCondLst>
                                            <p:cond delay="499"/>
                                          </p:stCondLst>
                                        </p:cTn>
                                        <p:tgtEl>
                                          <p:spTgt spid="13"/>
                                        </p:tgtEl>
                                        <p:attrNameLst>
                                          <p:attrName>style.visibility</p:attrName>
                                        </p:attrNameLst>
                                      </p:cBhvr>
                                      <p:to>
                                        <p:strVal val="hidden"/>
                                      </p:to>
                                    </p:set>
                                  </p:childTnLst>
                                </p:cTn>
                              </p:par>
                              <p:par>
                                <p:cTn id="55" presetID="2" presetClass="exit" presetSubtype="4" fill="hold" grpId="1" nodeType="withEffect">
                                  <p:stCondLst>
                                    <p:cond delay="0"/>
                                  </p:stCondLst>
                                  <p:childTnLst>
                                    <p:anim calcmode="lin" valueType="num">
                                      <p:cBhvr additive="base">
                                        <p:cTn id="56" dur="500"/>
                                        <p:tgtEl>
                                          <p:spTgt spid="11"/>
                                        </p:tgtEl>
                                        <p:attrNameLst>
                                          <p:attrName>ppt_x</p:attrName>
                                        </p:attrNameLst>
                                      </p:cBhvr>
                                      <p:tavLst>
                                        <p:tav tm="0">
                                          <p:val>
                                            <p:strVal val="ppt_x"/>
                                          </p:val>
                                        </p:tav>
                                        <p:tav tm="100000">
                                          <p:val>
                                            <p:strVal val="ppt_x"/>
                                          </p:val>
                                        </p:tav>
                                      </p:tavLst>
                                    </p:anim>
                                    <p:anim calcmode="lin" valueType="num">
                                      <p:cBhvr additive="base">
                                        <p:cTn id="57" dur="500"/>
                                        <p:tgtEl>
                                          <p:spTgt spid="11"/>
                                        </p:tgtEl>
                                        <p:attrNameLst>
                                          <p:attrName>ppt_y</p:attrName>
                                        </p:attrNameLst>
                                      </p:cBhvr>
                                      <p:tavLst>
                                        <p:tav tm="0">
                                          <p:val>
                                            <p:strVal val="ppt_y"/>
                                          </p:val>
                                        </p:tav>
                                        <p:tav tm="100000">
                                          <p:val>
                                            <p:strVal val="1+ppt_h/2"/>
                                          </p:val>
                                        </p:tav>
                                      </p:tavLst>
                                    </p:anim>
                                    <p:set>
                                      <p:cBhvr>
                                        <p:cTn id="58" dur="1" fill="hold">
                                          <p:stCondLst>
                                            <p:cond delay="499"/>
                                          </p:stCondLst>
                                        </p:cTn>
                                        <p:tgtEl>
                                          <p:spTgt spid="11"/>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63" dur="500"/>
                                        <p:tgtEl>
                                          <p:spTgt spid="2">
                                            <p:txEl>
                                              <p:pRg st="5" end="5"/>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 calcmode="lin" valueType="num">
                                      <p:cBhvr additive="base">
                                        <p:cTn id="68" dur="500" fill="hold"/>
                                        <p:tgtEl>
                                          <p:spTgt spid="15"/>
                                        </p:tgtEl>
                                        <p:attrNameLst>
                                          <p:attrName>ppt_x</p:attrName>
                                        </p:attrNameLst>
                                      </p:cBhvr>
                                      <p:tavLst>
                                        <p:tav tm="0">
                                          <p:val>
                                            <p:strVal val="#ppt_x"/>
                                          </p:val>
                                        </p:tav>
                                        <p:tav tm="100000">
                                          <p:val>
                                            <p:strVal val="#ppt_x"/>
                                          </p:val>
                                        </p:tav>
                                      </p:tavLst>
                                    </p:anim>
                                    <p:anim calcmode="lin" valueType="num">
                                      <p:cBhvr additive="base">
                                        <p:cTn id="69" dur="500" fill="hold"/>
                                        <p:tgtEl>
                                          <p:spTgt spid="15"/>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ppt_x</p:attrName>
                                        </p:attrNameLst>
                                      </p:cBhvr>
                                      <p:tavLst>
                                        <p:tav tm="0">
                                          <p:val>
                                            <p:strVal val="#ppt_x"/>
                                          </p:val>
                                        </p:tav>
                                        <p:tav tm="100000">
                                          <p:val>
                                            <p:strVal val="#ppt_x"/>
                                          </p:val>
                                        </p:tav>
                                      </p:tavLst>
                                    </p:anim>
                                    <p:anim calcmode="lin" valueType="num">
                                      <p:cBhvr additive="base">
                                        <p:cTn id="73" dur="500" fill="hold"/>
                                        <p:tgtEl>
                                          <p:spTgt spid="18"/>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 calcmode="lin" valueType="num">
                                      <p:cBhvr additive="base">
                                        <p:cTn id="76" dur="500" fill="hold"/>
                                        <p:tgtEl>
                                          <p:spTgt spid="20"/>
                                        </p:tgtEl>
                                        <p:attrNameLst>
                                          <p:attrName>ppt_x</p:attrName>
                                        </p:attrNameLst>
                                      </p:cBhvr>
                                      <p:tavLst>
                                        <p:tav tm="0">
                                          <p:val>
                                            <p:strVal val="#ppt_x"/>
                                          </p:val>
                                        </p:tav>
                                        <p:tav tm="100000">
                                          <p:val>
                                            <p:strVal val="#ppt_x"/>
                                          </p:val>
                                        </p:tav>
                                      </p:tavLst>
                                    </p:anim>
                                    <p:anim calcmode="lin" valueType="num">
                                      <p:cBhvr additive="base">
                                        <p:cTn id="7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nodeType="clickEffect">
                                  <p:stCondLst>
                                    <p:cond delay="0"/>
                                  </p:stCondLst>
                                  <p:childTnLst>
                                    <p:set>
                                      <p:cBhvr>
                                        <p:cTn id="8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82" dur="500"/>
                                        <p:tgtEl>
                                          <p:spTgt spid="2">
                                            <p:txEl>
                                              <p:pRg st="6" end="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 calcmode="lin" valueType="num">
                                      <p:cBhvr>
                                        <p:cTn id="87" dur="500" fill="hold"/>
                                        <p:tgtEl>
                                          <p:spTgt spid="8"/>
                                        </p:tgtEl>
                                        <p:attrNameLst>
                                          <p:attrName>ppt_w</p:attrName>
                                        </p:attrNameLst>
                                      </p:cBhvr>
                                      <p:tavLst>
                                        <p:tav tm="0">
                                          <p:val>
                                            <p:fltVal val="0"/>
                                          </p:val>
                                        </p:tav>
                                        <p:tav tm="100000">
                                          <p:val>
                                            <p:strVal val="#ppt_w"/>
                                          </p:val>
                                        </p:tav>
                                      </p:tavLst>
                                    </p:anim>
                                    <p:anim calcmode="lin" valueType="num">
                                      <p:cBhvr>
                                        <p:cTn id="88" dur="500" fill="hold"/>
                                        <p:tgtEl>
                                          <p:spTgt spid="8"/>
                                        </p:tgtEl>
                                        <p:attrNameLst>
                                          <p:attrName>ppt_h</p:attrName>
                                        </p:attrNameLst>
                                      </p:cBhvr>
                                      <p:tavLst>
                                        <p:tav tm="0">
                                          <p:val>
                                            <p:fltVal val="0"/>
                                          </p:val>
                                        </p:tav>
                                        <p:tav tm="100000">
                                          <p:val>
                                            <p:strVal val="#ppt_h"/>
                                          </p:val>
                                        </p:tav>
                                      </p:tavLst>
                                    </p:anim>
                                    <p:animEffect transition="in" filter="fade">
                                      <p:cBhvr>
                                        <p:cTn id="89" dur="500"/>
                                        <p:tgtEl>
                                          <p:spTgt spid="8"/>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xit" presetSubtype="4" fill="hold" grpId="1" nodeType="clickEffect">
                                  <p:stCondLst>
                                    <p:cond delay="0"/>
                                  </p:stCondLst>
                                  <p:childTnLst>
                                    <p:anim calcmode="lin" valueType="num">
                                      <p:cBhvr additive="base">
                                        <p:cTn id="93" dur="500"/>
                                        <p:tgtEl>
                                          <p:spTgt spid="8"/>
                                        </p:tgtEl>
                                        <p:attrNameLst>
                                          <p:attrName>ppt_x</p:attrName>
                                        </p:attrNameLst>
                                      </p:cBhvr>
                                      <p:tavLst>
                                        <p:tav tm="0">
                                          <p:val>
                                            <p:strVal val="ppt_x"/>
                                          </p:val>
                                        </p:tav>
                                        <p:tav tm="100000">
                                          <p:val>
                                            <p:strVal val="ppt_x"/>
                                          </p:val>
                                        </p:tav>
                                      </p:tavLst>
                                    </p:anim>
                                    <p:anim calcmode="lin" valueType="num">
                                      <p:cBhvr additive="base">
                                        <p:cTn id="94" dur="500"/>
                                        <p:tgtEl>
                                          <p:spTgt spid="8"/>
                                        </p:tgtEl>
                                        <p:attrNameLst>
                                          <p:attrName>ppt_y</p:attrName>
                                        </p:attrNameLst>
                                      </p:cBhvr>
                                      <p:tavLst>
                                        <p:tav tm="0">
                                          <p:val>
                                            <p:strVal val="ppt_y"/>
                                          </p:val>
                                        </p:tav>
                                        <p:tav tm="100000">
                                          <p:val>
                                            <p:strVal val="1+ppt_h/2"/>
                                          </p:val>
                                        </p:tav>
                                      </p:tavLst>
                                    </p:anim>
                                    <p:set>
                                      <p:cBhvr>
                                        <p:cTn id="95" dur="1" fill="hold">
                                          <p:stCondLst>
                                            <p:cond delay="499"/>
                                          </p:stCondLst>
                                        </p:cTn>
                                        <p:tgtEl>
                                          <p:spTgt spid="8"/>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nodeType="clickEffect">
                                  <p:stCondLst>
                                    <p:cond delay="0"/>
                                  </p:stCondLst>
                                  <p:childTnLst>
                                    <p:set>
                                      <p:cBhvr>
                                        <p:cTn id="99"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00" dur="500"/>
                                        <p:tgtEl>
                                          <p:spTgt spid="2">
                                            <p:txEl>
                                              <p:pRg st="7" end="7"/>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9"/>
                                        </p:tgtEl>
                                        <p:attrNameLst>
                                          <p:attrName>style.visibility</p:attrName>
                                        </p:attrNameLst>
                                      </p:cBhvr>
                                      <p:to>
                                        <p:strVal val="visible"/>
                                      </p:to>
                                    </p:set>
                                    <p:anim calcmode="lin" valueType="num">
                                      <p:cBhvr>
                                        <p:cTn id="105" dur="500" fill="hold"/>
                                        <p:tgtEl>
                                          <p:spTgt spid="9"/>
                                        </p:tgtEl>
                                        <p:attrNameLst>
                                          <p:attrName>ppt_w</p:attrName>
                                        </p:attrNameLst>
                                      </p:cBhvr>
                                      <p:tavLst>
                                        <p:tav tm="0">
                                          <p:val>
                                            <p:fltVal val="0"/>
                                          </p:val>
                                        </p:tav>
                                        <p:tav tm="100000">
                                          <p:val>
                                            <p:strVal val="#ppt_w"/>
                                          </p:val>
                                        </p:tav>
                                      </p:tavLst>
                                    </p:anim>
                                    <p:anim calcmode="lin" valueType="num">
                                      <p:cBhvr>
                                        <p:cTn id="106" dur="500" fill="hold"/>
                                        <p:tgtEl>
                                          <p:spTgt spid="9"/>
                                        </p:tgtEl>
                                        <p:attrNameLst>
                                          <p:attrName>ppt_h</p:attrName>
                                        </p:attrNameLst>
                                      </p:cBhvr>
                                      <p:tavLst>
                                        <p:tav tm="0">
                                          <p:val>
                                            <p:fltVal val="0"/>
                                          </p:val>
                                        </p:tav>
                                        <p:tav tm="100000">
                                          <p:val>
                                            <p:strVal val="#ppt_h"/>
                                          </p:val>
                                        </p:tav>
                                      </p:tavLst>
                                    </p:anim>
                                    <p:animEffect transition="in" filter="fade">
                                      <p:cBhvr>
                                        <p:cTn id="107" dur="500"/>
                                        <p:tgtEl>
                                          <p:spTgt spid="9"/>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21"/>
                                        </p:tgtEl>
                                        <p:attrNameLst>
                                          <p:attrName>style.visibility</p:attrName>
                                        </p:attrNameLst>
                                      </p:cBhvr>
                                      <p:to>
                                        <p:strVal val="visible"/>
                                      </p:to>
                                    </p:set>
                                    <p:anim calcmode="lin" valueType="num">
                                      <p:cBhvr>
                                        <p:cTn id="110" dur="500" fill="hold"/>
                                        <p:tgtEl>
                                          <p:spTgt spid="21"/>
                                        </p:tgtEl>
                                        <p:attrNameLst>
                                          <p:attrName>ppt_w</p:attrName>
                                        </p:attrNameLst>
                                      </p:cBhvr>
                                      <p:tavLst>
                                        <p:tav tm="0">
                                          <p:val>
                                            <p:fltVal val="0"/>
                                          </p:val>
                                        </p:tav>
                                        <p:tav tm="100000">
                                          <p:val>
                                            <p:strVal val="#ppt_w"/>
                                          </p:val>
                                        </p:tav>
                                      </p:tavLst>
                                    </p:anim>
                                    <p:anim calcmode="lin" valueType="num">
                                      <p:cBhvr>
                                        <p:cTn id="111" dur="500" fill="hold"/>
                                        <p:tgtEl>
                                          <p:spTgt spid="21"/>
                                        </p:tgtEl>
                                        <p:attrNameLst>
                                          <p:attrName>ppt_h</p:attrName>
                                        </p:attrNameLst>
                                      </p:cBhvr>
                                      <p:tavLst>
                                        <p:tav tm="0">
                                          <p:val>
                                            <p:fltVal val="0"/>
                                          </p:val>
                                        </p:tav>
                                        <p:tav tm="100000">
                                          <p:val>
                                            <p:strVal val="#ppt_h"/>
                                          </p:val>
                                        </p:tav>
                                      </p:tavLst>
                                    </p:anim>
                                    <p:animEffect transition="in" filter="fade">
                                      <p:cBhvr>
                                        <p:cTn id="112" dur="500"/>
                                        <p:tgtEl>
                                          <p:spTgt spid="21"/>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14"/>
                                        </p:tgtEl>
                                        <p:attrNameLst>
                                          <p:attrName>style.visibility</p:attrName>
                                        </p:attrNameLst>
                                      </p:cBhvr>
                                      <p:to>
                                        <p:strVal val="visible"/>
                                      </p:to>
                                    </p:set>
                                    <p:anim calcmode="lin" valueType="num">
                                      <p:cBhvr>
                                        <p:cTn id="115" dur="500" fill="hold"/>
                                        <p:tgtEl>
                                          <p:spTgt spid="14"/>
                                        </p:tgtEl>
                                        <p:attrNameLst>
                                          <p:attrName>ppt_w</p:attrName>
                                        </p:attrNameLst>
                                      </p:cBhvr>
                                      <p:tavLst>
                                        <p:tav tm="0">
                                          <p:val>
                                            <p:fltVal val="0"/>
                                          </p:val>
                                        </p:tav>
                                        <p:tav tm="100000">
                                          <p:val>
                                            <p:strVal val="#ppt_w"/>
                                          </p:val>
                                        </p:tav>
                                      </p:tavLst>
                                    </p:anim>
                                    <p:anim calcmode="lin" valueType="num">
                                      <p:cBhvr>
                                        <p:cTn id="116" dur="500" fill="hold"/>
                                        <p:tgtEl>
                                          <p:spTgt spid="14"/>
                                        </p:tgtEl>
                                        <p:attrNameLst>
                                          <p:attrName>ppt_h</p:attrName>
                                        </p:attrNameLst>
                                      </p:cBhvr>
                                      <p:tavLst>
                                        <p:tav tm="0">
                                          <p:val>
                                            <p:fltVal val="0"/>
                                          </p:val>
                                        </p:tav>
                                        <p:tav tm="100000">
                                          <p:val>
                                            <p:strVal val="#ppt_h"/>
                                          </p:val>
                                        </p:tav>
                                      </p:tavLst>
                                    </p:anim>
                                    <p:animEffect transition="in" filter="fade">
                                      <p:cBhvr>
                                        <p:cTn id="117" dur="500"/>
                                        <p:tgtEl>
                                          <p:spTgt spid="14"/>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22"/>
                                        </p:tgtEl>
                                        <p:attrNameLst>
                                          <p:attrName>style.visibility</p:attrName>
                                        </p:attrNameLst>
                                      </p:cBhvr>
                                      <p:to>
                                        <p:strVal val="visible"/>
                                      </p:to>
                                    </p:set>
                                    <p:anim calcmode="lin" valueType="num">
                                      <p:cBhvr>
                                        <p:cTn id="120" dur="500" fill="hold"/>
                                        <p:tgtEl>
                                          <p:spTgt spid="22"/>
                                        </p:tgtEl>
                                        <p:attrNameLst>
                                          <p:attrName>ppt_w</p:attrName>
                                        </p:attrNameLst>
                                      </p:cBhvr>
                                      <p:tavLst>
                                        <p:tav tm="0">
                                          <p:val>
                                            <p:fltVal val="0"/>
                                          </p:val>
                                        </p:tav>
                                        <p:tav tm="100000">
                                          <p:val>
                                            <p:strVal val="#ppt_w"/>
                                          </p:val>
                                        </p:tav>
                                      </p:tavLst>
                                    </p:anim>
                                    <p:anim calcmode="lin" valueType="num">
                                      <p:cBhvr>
                                        <p:cTn id="121" dur="500" fill="hold"/>
                                        <p:tgtEl>
                                          <p:spTgt spid="22"/>
                                        </p:tgtEl>
                                        <p:attrNameLst>
                                          <p:attrName>ppt_h</p:attrName>
                                        </p:attrNameLst>
                                      </p:cBhvr>
                                      <p:tavLst>
                                        <p:tav tm="0">
                                          <p:val>
                                            <p:fltVal val="0"/>
                                          </p:val>
                                        </p:tav>
                                        <p:tav tm="100000">
                                          <p:val>
                                            <p:strVal val="#ppt_h"/>
                                          </p:val>
                                        </p:tav>
                                      </p:tavLst>
                                    </p:anim>
                                    <p:animEffect transition="in" filter="fade">
                                      <p:cBhvr>
                                        <p:cTn id="1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2" grpId="1" animBg="1"/>
      <p:bldP spid="13" grpId="0" animBg="1"/>
      <p:bldP spid="13" grpId="1" animBg="1"/>
      <p:bldP spid="10" grpId="0"/>
      <p:bldP spid="10" grpId="1"/>
      <p:bldP spid="11" grpId="0"/>
      <p:bldP spid="11" grpId="1"/>
      <p:bldP spid="14" grpId="0"/>
      <p:bldP spid="15" grpId="0"/>
      <p:bldP spid="18" grpId="0"/>
      <p:bldP spid="20" grpId="0"/>
      <p:bldP spid="21" grpId="0" animBg="1"/>
      <p:bldP spid="22" grpId="0"/>
      <p:bldP spid="8" grpId="0" animBg="1"/>
      <p:bldP spid="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35449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marL="285750" indent="-285750">
              <a:lnSpc>
                <a:spcPct val="150000"/>
              </a:lnSpc>
              <a:buFont typeface="Arial" panose="020B0604020202020204" pitchFamily="34" charset="0"/>
              <a:buChar char="•"/>
            </a:pPr>
            <a:endParaRPr lang="zh-CN" altLang="en-US" sz="1400" dirty="0"/>
          </a:p>
          <a:p>
            <a:pPr marL="285750" indent="-285750">
              <a:lnSpc>
                <a:spcPct val="150000"/>
              </a:lnSpc>
              <a:buFont typeface="Arial" panose="020B0604020202020204" pitchFamily="34" charset="0"/>
              <a:buChar char="•"/>
            </a:pPr>
            <a:r>
              <a:rPr lang="zh-CN" altLang="en-US" sz="1400" dirty="0" smtClean="0"/>
              <a:t>数据分析（主要依赖</a:t>
            </a:r>
            <a:r>
              <a:rPr lang="en-US" altLang="zh-CN" sz="1400" dirty="0" smtClean="0"/>
              <a:t>Excel</a:t>
            </a:r>
            <a:r>
              <a:rPr lang="zh-CN" altLang="en-US" sz="1400" dirty="0" smtClean="0"/>
              <a:t>表格工具）：</a:t>
            </a:r>
            <a:endParaRPr lang="en-US" altLang="zh-CN" sz="1400" dirty="0" smtClean="0"/>
          </a:p>
          <a:p>
            <a:pPr marL="742950" lvl="1" indent="-285750">
              <a:lnSpc>
                <a:spcPct val="150000"/>
              </a:lnSpc>
              <a:buFont typeface="Arial" panose="020B0604020202020204" pitchFamily="34" charset="0"/>
              <a:buChar char="•"/>
            </a:pPr>
            <a:r>
              <a:rPr lang="zh-CN" altLang="en-US" sz="1400" dirty="0"/>
              <a:t>原始</a:t>
            </a:r>
            <a:r>
              <a:rPr lang="zh-CN" altLang="en-US" sz="1400" dirty="0" smtClean="0"/>
              <a:t>表格</a:t>
            </a:r>
            <a:r>
              <a:rPr lang="zh-CN" altLang="en-US" sz="1400" dirty="0" smtClean="0">
                <a:solidFill>
                  <a:srgbClr val="FF0000"/>
                </a:solidFill>
              </a:rPr>
              <a:t>手动拆分</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数据子表</a:t>
            </a:r>
            <a:r>
              <a:rPr lang="zh-CN" altLang="en-US" sz="1400" dirty="0">
                <a:solidFill>
                  <a:srgbClr val="FF0000"/>
                </a:solidFill>
              </a:rPr>
              <a:t>手动合并</a:t>
            </a:r>
            <a:endParaRPr lang="en-US" altLang="zh-CN" sz="1400" dirty="0">
              <a:solidFill>
                <a:srgbClr val="FF0000"/>
              </a:solidFill>
            </a:endParaRPr>
          </a:p>
          <a:p>
            <a:pPr marL="742950" lvl="1" indent="-285750">
              <a:lnSpc>
                <a:spcPct val="150000"/>
              </a:lnSpc>
              <a:buFont typeface="Arial" panose="020B0604020202020204" pitchFamily="34" charset="0"/>
              <a:buChar char="•"/>
            </a:pPr>
            <a:r>
              <a:rPr lang="zh-CN" altLang="en-US" sz="1400" dirty="0" smtClean="0"/>
              <a:t>处理过程</a:t>
            </a:r>
            <a:r>
              <a:rPr lang="zh-CN" altLang="en-US" sz="1400" dirty="0">
                <a:solidFill>
                  <a:srgbClr val="FF0000"/>
                </a:solidFill>
              </a:rPr>
              <a:t>经验指导</a:t>
            </a:r>
            <a:endParaRPr lang="en-US" altLang="zh-CN" sz="1400" dirty="0">
              <a:solidFill>
                <a:srgbClr val="FF0000"/>
              </a:solidFill>
            </a:endParaRPr>
          </a:p>
          <a:p>
            <a:pPr marL="742950" lvl="1" indent="-285750">
              <a:lnSpc>
                <a:spcPct val="150000"/>
              </a:lnSpc>
              <a:buFont typeface="Arial" panose="020B0604020202020204" pitchFamily="34" charset="0"/>
              <a:buChar char="•"/>
            </a:pPr>
            <a:r>
              <a:rPr lang="zh-CN" altLang="en-US" sz="1400" dirty="0" smtClean="0"/>
              <a:t>数据分析</a:t>
            </a:r>
            <a:r>
              <a:rPr lang="zh-CN" altLang="en-US" sz="1400" dirty="0">
                <a:solidFill>
                  <a:srgbClr val="FF0000"/>
                </a:solidFill>
              </a:rPr>
              <a:t>缺乏深度</a:t>
            </a:r>
            <a:endParaRPr lang="en-US" altLang="zh-CN" sz="1400" dirty="0">
              <a:solidFill>
                <a:srgbClr val="FF0000"/>
              </a:solidFill>
            </a:endParaRPr>
          </a:p>
        </p:txBody>
      </p:sp>
      <p:sp>
        <p:nvSpPr>
          <p:cNvPr id="7" name="文本框 6"/>
          <p:cNvSpPr txBox="1"/>
          <p:nvPr/>
        </p:nvSpPr>
        <p:spPr>
          <a:xfrm>
            <a:off x="7267575" y="5395740"/>
            <a:ext cx="2247900" cy="1027397"/>
          </a:xfrm>
          <a:prstGeom prst="rect">
            <a:avLst/>
          </a:prstGeom>
          <a:noFill/>
        </p:spPr>
        <p:txBody>
          <a:bodyPr wrap="square" rtlCol="0">
            <a:spAutoFit/>
          </a:bodyPr>
          <a:lstStyle/>
          <a:p>
            <a:pPr indent="457200">
              <a:lnSpc>
                <a:spcPct val="150000"/>
              </a:lnSpc>
            </a:pPr>
            <a:r>
              <a:rPr lang="zh-CN" altLang="en-US" sz="1400" dirty="0" smtClean="0"/>
              <a:t>月报还需基于本月数据对业务容量作出预测以及扩容需求分析</a:t>
            </a:r>
            <a:endParaRPr lang="zh-CN" altLang="en-US" sz="1400" dirty="0"/>
          </a:p>
        </p:txBody>
      </p:sp>
      <p:pic>
        <p:nvPicPr>
          <p:cNvPr id="9" name="图片 8"/>
          <p:cNvPicPr>
            <a:picLocks noChangeAspect="1"/>
          </p:cNvPicPr>
          <p:nvPr/>
        </p:nvPicPr>
        <p:blipFill>
          <a:blip r:embed="rId3"/>
          <a:stretch>
            <a:fillRect/>
          </a:stretch>
        </p:blipFill>
        <p:spPr>
          <a:xfrm>
            <a:off x="5194424" y="447983"/>
            <a:ext cx="6997576" cy="5044088"/>
          </a:xfrm>
          <a:prstGeom prst="rect">
            <a:avLst/>
          </a:prstGeom>
        </p:spPr>
      </p:pic>
      <p:sp>
        <p:nvSpPr>
          <p:cNvPr id="8" name="矩形 7"/>
          <p:cNvSpPr/>
          <p:nvPr/>
        </p:nvSpPr>
        <p:spPr>
          <a:xfrm>
            <a:off x="5194424" y="3781425"/>
            <a:ext cx="6997576" cy="1614315"/>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1" name="矩形 10"/>
          <p:cNvSpPr/>
          <p:nvPr/>
        </p:nvSpPr>
        <p:spPr>
          <a:xfrm>
            <a:off x="5194424" y="2328450"/>
            <a:ext cx="6997576" cy="1614315"/>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Tree>
    <p:extLst>
      <p:ext uri="{BB962C8B-B14F-4D97-AF65-F5344CB8AC3E}">
        <p14:creationId xmlns:p14="http://schemas.microsoft.com/office/powerpoint/2010/main" val="402090088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xit" presetSubtype="32" fill="hold" grpId="0" nodeType="clickEffect">
                                  <p:stCondLst>
                                    <p:cond delay="0"/>
                                  </p:stCondLst>
                                  <p:childTnLst>
                                    <p:anim calcmode="lin" valueType="num">
                                      <p:cBhvr>
                                        <p:cTn id="11" dur="500"/>
                                        <p:tgtEl>
                                          <p:spTgt spid="11"/>
                                        </p:tgtEl>
                                        <p:attrNameLst>
                                          <p:attrName>ppt_w</p:attrName>
                                        </p:attrNameLst>
                                      </p:cBhvr>
                                      <p:tavLst>
                                        <p:tav tm="0">
                                          <p:val>
                                            <p:strVal val="ppt_w"/>
                                          </p:val>
                                        </p:tav>
                                        <p:tav tm="100000">
                                          <p:val>
                                            <p:fltVal val="0"/>
                                          </p:val>
                                        </p:tav>
                                      </p:tavLst>
                                    </p:anim>
                                    <p:anim calcmode="lin" valueType="num">
                                      <p:cBhvr>
                                        <p:cTn id="12" dur="500"/>
                                        <p:tgtEl>
                                          <p:spTgt spid="11"/>
                                        </p:tgtEl>
                                        <p:attrNameLst>
                                          <p:attrName>ppt_h</p:attrName>
                                        </p:attrNameLst>
                                      </p:cBhvr>
                                      <p:tavLst>
                                        <p:tav tm="0">
                                          <p:val>
                                            <p:strVal val="ppt_h"/>
                                          </p:val>
                                        </p:tav>
                                        <p:tav tm="100000">
                                          <p:val>
                                            <p:fltVal val="0"/>
                                          </p:val>
                                        </p:tav>
                                      </p:tavLst>
                                    </p:anim>
                                    <p:animEffect transition="out" filter="fade">
                                      <p:cBhvr>
                                        <p:cTn id="13" dur="500"/>
                                        <p:tgtEl>
                                          <p:spTgt spid="11"/>
                                        </p:tgtEl>
                                      </p:cBhvr>
                                    </p:animEffect>
                                    <p:set>
                                      <p:cBhvr>
                                        <p:cTn id="14" dur="1" fill="hold">
                                          <p:stCondLst>
                                            <p:cond delay="499"/>
                                          </p:stCondLst>
                                        </p:cTn>
                                        <p:tgtEl>
                                          <p:spTgt spid="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xit" presetSubtype="32" fill="hold" grpId="0" nodeType="clickEffect">
                                  <p:stCondLst>
                                    <p:cond delay="0"/>
                                  </p:stCondLst>
                                  <p:childTnLst>
                                    <p:anim calcmode="lin" valueType="num">
                                      <p:cBhvr>
                                        <p:cTn id="23" dur="500"/>
                                        <p:tgtEl>
                                          <p:spTgt spid="8"/>
                                        </p:tgtEl>
                                        <p:attrNameLst>
                                          <p:attrName>ppt_w</p:attrName>
                                        </p:attrNameLst>
                                      </p:cBhvr>
                                      <p:tavLst>
                                        <p:tav tm="0">
                                          <p:val>
                                            <p:strVal val="ppt_w"/>
                                          </p:val>
                                        </p:tav>
                                        <p:tav tm="100000">
                                          <p:val>
                                            <p:fltVal val="0"/>
                                          </p:val>
                                        </p:tav>
                                      </p:tavLst>
                                    </p:anim>
                                    <p:anim calcmode="lin" valueType="num">
                                      <p:cBhvr>
                                        <p:cTn id="24" dur="500"/>
                                        <p:tgtEl>
                                          <p:spTgt spid="8"/>
                                        </p:tgtEl>
                                        <p:attrNameLst>
                                          <p:attrName>ppt_h</p:attrName>
                                        </p:attrNameLst>
                                      </p:cBhvr>
                                      <p:tavLst>
                                        <p:tav tm="0">
                                          <p:val>
                                            <p:strVal val="ppt_h"/>
                                          </p:val>
                                        </p:tav>
                                        <p:tav tm="100000">
                                          <p:val>
                                            <p:fltVal val="0"/>
                                          </p:val>
                                        </p:tav>
                                      </p:tavLst>
                                    </p:anim>
                                    <p:animEffect transition="out" filter="fade">
                                      <p:cBhvr>
                                        <p:cTn id="25" dur="500"/>
                                        <p:tgtEl>
                                          <p:spTgt spid="8"/>
                                        </p:tgtEl>
                                      </p:cBhvr>
                                    </p:animEffect>
                                    <p:set>
                                      <p:cBhvr>
                                        <p:cTn id="26" dur="1" fill="hold">
                                          <p:stCondLst>
                                            <p:cond delay="499"/>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randombar(horizontal)">
                                      <p:cBhvr>
                                        <p:cTn id="31" dur="500"/>
                                        <p:tgtEl>
                                          <p:spTgt spid="2">
                                            <p:txEl>
                                              <p:pRg st="5" end="5"/>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randombar(horizontal)">
                                      <p:cBhvr>
                                        <p:cTn id="34" dur="500"/>
                                        <p:tgtEl>
                                          <p:spTgt spid="2">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35449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a:lnSpc>
                <a:spcPct val="150000"/>
              </a:lnSpc>
            </a:pPr>
            <a:endParaRPr lang="zh-CN" altLang="en-US" sz="1400" dirty="0"/>
          </a:p>
          <a:p>
            <a:pPr marL="285750" indent="-285750">
              <a:lnSpc>
                <a:spcPct val="150000"/>
              </a:lnSpc>
              <a:buFont typeface="Arial" panose="020B0604020202020204" pitchFamily="34" charset="0"/>
              <a:buChar char="•"/>
            </a:pPr>
            <a:r>
              <a:rPr lang="zh-CN" altLang="en-US" sz="1400" dirty="0"/>
              <a:t>数据呈现</a:t>
            </a:r>
            <a:r>
              <a:rPr lang="zh-CN" altLang="en-US" sz="1400" dirty="0" smtClean="0"/>
              <a:t>：</a:t>
            </a:r>
            <a:endParaRPr lang="en-US" altLang="zh-CN" sz="1400" dirty="0"/>
          </a:p>
          <a:p>
            <a:pPr marL="742950" lvl="1" indent="-285750">
              <a:lnSpc>
                <a:spcPct val="150000"/>
              </a:lnSpc>
              <a:buFont typeface="Arial" panose="020B0604020202020204" pitchFamily="34" charset="0"/>
              <a:buChar char="•"/>
            </a:pPr>
            <a:r>
              <a:rPr lang="zh-CN" altLang="en-US" sz="1400" dirty="0" smtClean="0"/>
              <a:t>呈现数据</a:t>
            </a:r>
            <a:r>
              <a:rPr lang="zh-CN" altLang="en-US" sz="1400" dirty="0" smtClean="0">
                <a:solidFill>
                  <a:srgbClr val="FF0000"/>
                </a:solidFill>
              </a:rPr>
              <a:t>手动整理</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通报途径</a:t>
            </a:r>
            <a:r>
              <a:rPr lang="zh-CN" altLang="en-US" sz="1400" dirty="0" smtClean="0">
                <a:solidFill>
                  <a:srgbClr val="FF0000"/>
                </a:solidFill>
              </a:rPr>
              <a:t>不够有效</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呈现</a:t>
            </a:r>
            <a:r>
              <a:rPr lang="zh-CN" altLang="en-US" sz="1400" dirty="0"/>
              <a:t>形式</a:t>
            </a:r>
            <a:r>
              <a:rPr lang="zh-CN" altLang="en-US" sz="1400" dirty="0">
                <a:solidFill>
                  <a:srgbClr val="FF0000"/>
                </a:solidFill>
              </a:rPr>
              <a:t>单一固化</a:t>
            </a:r>
            <a:endParaRPr lang="en-US" altLang="zh-CN" sz="1400" dirty="0">
              <a:solidFill>
                <a:srgbClr val="FF0000"/>
              </a:solidFill>
            </a:endParaRPr>
          </a:p>
          <a:p>
            <a:pPr marL="742950" lvl="1" indent="-285750">
              <a:lnSpc>
                <a:spcPct val="150000"/>
              </a:lnSpc>
              <a:buFont typeface="Arial" panose="020B0604020202020204" pitchFamily="34" charset="0"/>
              <a:buChar char="•"/>
            </a:pPr>
            <a:endParaRPr lang="zh-CN" altLang="en-US" sz="1400" dirty="0">
              <a:solidFill>
                <a:srgbClr val="FF0000"/>
              </a:solidFill>
            </a:endParaRPr>
          </a:p>
        </p:txBody>
      </p:sp>
      <p:pic>
        <p:nvPicPr>
          <p:cNvPr id="7" name="图片 6"/>
          <p:cNvPicPr>
            <a:picLocks noChangeAspect="1"/>
          </p:cNvPicPr>
          <p:nvPr/>
        </p:nvPicPr>
        <p:blipFill>
          <a:blip r:embed="rId2"/>
          <a:stretch>
            <a:fillRect/>
          </a:stretch>
        </p:blipFill>
        <p:spPr>
          <a:xfrm>
            <a:off x="5765071" y="155727"/>
            <a:ext cx="5169629" cy="6702274"/>
          </a:xfrm>
          <a:prstGeom prst="rect">
            <a:avLst/>
          </a:prstGeom>
        </p:spPr>
      </p:pic>
      <p:sp>
        <p:nvSpPr>
          <p:cNvPr id="8" name="左大括号 7"/>
          <p:cNvSpPr/>
          <p:nvPr/>
        </p:nvSpPr>
        <p:spPr>
          <a:xfrm>
            <a:off x="5553075" y="199830"/>
            <a:ext cx="211996" cy="6372421"/>
          </a:xfrm>
          <a:prstGeom prst="leftBrace">
            <a:avLst/>
          </a:prstGeom>
          <a:ln w="19050"/>
        </p:spPr>
        <p:style>
          <a:lnRef idx="1">
            <a:schemeClr val="accent5"/>
          </a:lnRef>
          <a:fillRef idx="0">
            <a:schemeClr val="accent5"/>
          </a:fillRef>
          <a:effectRef idx="0">
            <a:schemeClr val="accent5"/>
          </a:effectRef>
          <a:fontRef idx="minor">
            <a:schemeClr val="tx1"/>
          </a:fontRef>
        </p:style>
        <p:txBody>
          <a:bodyPr rtlCol="0" anchor="ctr"/>
          <a:lstStyle/>
          <a:p>
            <a:pPr algn="ctr"/>
            <a:endParaRPr lang="zh-CN" altLang="en-US"/>
          </a:p>
        </p:txBody>
      </p:sp>
      <p:sp>
        <p:nvSpPr>
          <p:cNvPr id="11" name="文本框 10"/>
          <p:cNvSpPr txBox="1"/>
          <p:nvPr/>
        </p:nvSpPr>
        <p:spPr>
          <a:xfrm>
            <a:off x="4955446" y="2505075"/>
            <a:ext cx="561975" cy="1815882"/>
          </a:xfrm>
          <a:prstGeom prst="rect">
            <a:avLst/>
          </a:prstGeom>
          <a:noFill/>
        </p:spPr>
        <p:txBody>
          <a:bodyPr wrap="square" rtlCol="0">
            <a:spAutoFit/>
          </a:bodyPr>
          <a:lstStyle/>
          <a:p>
            <a:r>
              <a:rPr lang="zh-CN" altLang="en-US" sz="1600" dirty="0" smtClean="0"/>
              <a:t>近</a:t>
            </a:r>
            <a:r>
              <a:rPr lang="en-US" altLang="zh-CN" sz="1600" dirty="0" smtClean="0"/>
              <a:t>20</a:t>
            </a:r>
            <a:r>
              <a:rPr lang="zh-CN" altLang="en-US" sz="1600" dirty="0" smtClean="0"/>
              <a:t>项数据表格</a:t>
            </a:r>
            <a:endParaRPr lang="zh-CN" altLang="en-US" sz="1600" dirty="0"/>
          </a:p>
        </p:txBody>
      </p:sp>
      <p:sp>
        <p:nvSpPr>
          <p:cNvPr id="15" name="矩形 14"/>
          <p:cNvSpPr/>
          <p:nvPr/>
        </p:nvSpPr>
        <p:spPr>
          <a:xfrm>
            <a:off x="9713093" y="1320634"/>
            <a:ext cx="1605053" cy="461676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6" name="矩形 15"/>
          <p:cNvSpPr/>
          <p:nvPr/>
        </p:nvSpPr>
        <p:spPr>
          <a:xfrm>
            <a:off x="7577263" y="916044"/>
            <a:ext cx="2135830" cy="493999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pic>
        <p:nvPicPr>
          <p:cNvPr id="12" name="图片 11"/>
          <p:cNvPicPr>
            <a:picLocks noChangeAspect="1"/>
          </p:cNvPicPr>
          <p:nvPr/>
        </p:nvPicPr>
        <p:blipFill>
          <a:blip r:embed="rId3"/>
          <a:stretch>
            <a:fillRect/>
          </a:stretch>
        </p:blipFill>
        <p:spPr>
          <a:xfrm>
            <a:off x="6864982" y="964663"/>
            <a:ext cx="5143048" cy="4635510"/>
          </a:xfrm>
          <a:prstGeom prst="rect">
            <a:avLst/>
          </a:prstGeom>
        </p:spPr>
      </p:pic>
      <p:sp>
        <p:nvSpPr>
          <p:cNvPr id="14" name="文本框 13"/>
          <p:cNvSpPr txBox="1"/>
          <p:nvPr/>
        </p:nvSpPr>
        <p:spPr>
          <a:xfrm>
            <a:off x="8469411" y="2992514"/>
            <a:ext cx="1879275" cy="371475"/>
          </a:xfrm>
          <a:prstGeom prst="rect">
            <a:avLst/>
          </a:prstGeom>
          <a:solidFill>
            <a:schemeClr val="tx1"/>
          </a:solidFill>
        </p:spPr>
        <p:txBody>
          <a:bodyPr wrap="square" rtlCol="0">
            <a:spAutoFit/>
          </a:bodyPr>
          <a:lstStyle/>
          <a:p>
            <a:r>
              <a:rPr lang="zh-CN" altLang="en-US" dirty="0" smtClean="0">
                <a:solidFill>
                  <a:schemeClr val="bg1"/>
                </a:solidFill>
              </a:rPr>
              <a:t>单纯的数据罗列</a:t>
            </a:r>
            <a:endParaRPr lang="zh-CN" altLang="en-US" dirty="0">
              <a:solidFill>
                <a:schemeClr val="bg1"/>
              </a:solidFill>
            </a:endParaRPr>
          </a:p>
        </p:txBody>
      </p:sp>
      <p:pic>
        <p:nvPicPr>
          <p:cNvPr id="10" name="图片 9"/>
          <p:cNvPicPr>
            <a:picLocks noChangeAspect="1"/>
          </p:cNvPicPr>
          <p:nvPr/>
        </p:nvPicPr>
        <p:blipFill>
          <a:blip r:embed="rId4"/>
          <a:stretch>
            <a:fillRect/>
          </a:stretch>
        </p:blipFill>
        <p:spPr>
          <a:xfrm>
            <a:off x="6836620" y="2930394"/>
            <a:ext cx="5476190" cy="2857143"/>
          </a:xfrm>
          <a:prstGeom prst="rect">
            <a:avLst/>
          </a:prstGeom>
        </p:spPr>
      </p:pic>
      <p:sp>
        <p:nvSpPr>
          <p:cNvPr id="18" name="文本框 17"/>
          <p:cNvSpPr txBox="1"/>
          <p:nvPr/>
        </p:nvSpPr>
        <p:spPr>
          <a:xfrm>
            <a:off x="8636344" y="4296343"/>
            <a:ext cx="1879275" cy="371475"/>
          </a:xfrm>
          <a:prstGeom prst="rect">
            <a:avLst/>
          </a:prstGeom>
          <a:solidFill>
            <a:schemeClr val="tx1"/>
          </a:solidFill>
        </p:spPr>
        <p:txBody>
          <a:bodyPr wrap="square" rtlCol="0">
            <a:spAutoFit/>
          </a:bodyPr>
          <a:lstStyle/>
          <a:p>
            <a:r>
              <a:rPr lang="zh-CN" altLang="en-US" dirty="0" smtClean="0">
                <a:solidFill>
                  <a:schemeClr val="bg1"/>
                </a:solidFill>
              </a:rPr>
              <a:t>简单的数据同比</a:t>
            </a:r>
            <a:endParaRPr lang="zh-CN" altLang="en-US" dirty="0">
              <a:solidFill>
                <a:schemeClr val="bg1"/>
              </a:solidFill>
            </a:endParaRPr>
          </a:p>
        </p:txBody>
      </p:sp>
    </p:spTree>
    <p:extLst>
      <p:ext uri="{BB962C8B-B14F-4D97-AF65-F5344CB8AC3E}">
        <p14:creationId xmlns:p14="http://schemas.microsoft.com/office/powerpoint/2010/main" val="123090535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grpId="0" nodeType="clickEffect">
                                  <p:stCondLst>
                                    <p:cond delay="0"/>
                                  </p:stCondLst>
                                  <p:childTnLst>
                                    <p:animEffect transition="out" filter="randombar(horizontal)">
                                      <p:cBhvr>
                                        <p:cTn id="17" dur="500"/>
                                        <p:tgtEl>
                                          <p:spTgt spid="16"/>
                                        </p:tgtEl>
                                      </p:cBhvr>
                                    </p:animEffect>
                                    <p:set>
                                      <p:cBhvr>
                                        <p:cTn id="18" dur="1" fill="hold">
                                          <p:stCondLst>
                                            <p:cond delay="499"/>
                                          </p:stCondLst>
                                        </p:cTn>
                                        <p:tgtEl>
                                          <p:spTgt spid="1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xit" presetSubtype="10" fill="hold" grpId="0" nodeType="clickEffect">
                                  <p:stCondLst>
                                    <p:cond delay="0"/>
                                  </p:stCondLst>
                                  <p:childTnLst>
                                    <p:animEffect transition="out" filter="randombar(horizontal)">
                                      <p:cBhvr>
                                        <p:cTn id="27" dur="500"/>
                                        <p:tgtEl>
                                          <p:spTgt spid="15"/>
                                        </p:tgtEl>
                                      </p:cBhvr>
                                    </p:animEffect>
                                    <p:set>
                                      <p:cBhvr>
                                        <p:cTn id="28" dur="1" fill="hold">
                                          <p:stCondLst>
                                            <p:cond delay="499"/>
                                          </p:stCondLst>
                                        </p:cTn>
                                        <p:tgtEl>
                                          <p:spTgt spid="1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33" dur="500"/>
                                        <p:tgtEl>
                                          <p:spTgt spid="2">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p:cTn id="38" dur="500" fill="hold"/>
                                        <p:tgtEl>
                                          <p:spTgt spid="12"/>
                                        </p:tgtEl>
                                        <p:attrNameLst>
                                          <p:attrName>ppt_w</p:attrName>
                                        </p:attrNameLst>
                                      </p:cBhvr>
                                      <p:tavLst>
                                        <p:tav tm="0">
                                          <p:val>
                                            <p:fltVal val="0"/>
                                          </p:val>
                                        </p:tav>
                                        <p:tav tm="100000">
                                          <p:val>
                                            <p:strVal val="#ppt_w"/>
                                          </p:val>
                                        </p:tav>
                                      </p:tavLst>
                                    </p:anim>
                                    <p:anim calcmode="lin" valueType="num">
                                      <p:cBhvr>
                                        <p:cTn id="39" dur="500" fill="hold"/>
                                        <p:tgtEl>
                                          <p:spTgt spid="12"/>
                                        </p:tgtEl>
                                        <p:attrNameLst>
                                          <p:attrName>ppt_h</p:attrName>
                                        </p:attrNameLst>
                                      </p:cBhvr>
                                      <p:tavLst>
                                        <p:tav tm="0">
                                          <p:val>
                                            <p:fltVal val="0"/>
                                          </p:val>
                                        </p:tav>
                                        <p:tav tm="100000">
                                          <p:val>
                                            <p:strVal val="#ppt_h"/>
                                          </p:val>
                                        </p:tav>
                                      </p:tavLst>
                                    </p:anim>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p:cTn id="45" dur="1000" fill="hold"/>
                                        <p:tgtEl>
                                          <p:spTgt spid="14"/>
                                        </p:tgtEl>
                                        <p:attrNameLst>
                                          <p:attrName>ppt_w</p:attrName>
                                        </p:attrNameLst>
                                      </p:cBhvr>
                                      <p:tavLst>
                                        <p:tav tm="0">
                                          <p:val>
                                            <p:fltVal val="0"/>
                                          </p:val>
                                        </p:tav>
                                        <p:tav tm="100000">
                                          <p:val>
                                            <p:strVal val="#ppt_w"/>
                                          </p:val>
                                        </p:tav>
                                      </p:tavLst>
                                    </p:anim>
                                    <p:anim calcmode="lin" valueType="num">
                                      <p:cBhvr>
                                        <p:cTn id="46" dur="1000" fill="hold"/>
                                        <p:tgtEl>
                                          <p:spTgt spid="14"/>
                                        </p:tgtEl>
                                        <p:attrNameLst>
                                          <p:attrName>ppt_h</p:attrName>
                                        </p:attrNameLst>
                                      </p:cBhvr>
                                      <p:tavLst>
                                        <p:tav tm="0">
                                          <p:val>
                                            <p:fltVal val="0"/>
                                          </p:val>
                                        </p:tav>
                                        <p:tav tm="100000">
                                          <p:val>
                                            <p:strVal val="#ppt_h"/>
                                          </p:val>
                                        </p:tav>
                                      </p:tavLst>
                                    </p:anim>
                                    <p:anim calcmode="lin" valueType="num">
                                      <p:cBhvr>
                                        <p:cTn id="47" dur="1000" fill="hold"/>
                                        <p:tgtEl>
                                          <p:spTgt spid="14"/>
                                        </p:tgtEl>
                                        <p:attrNameLst>
                                          <p:attrName>style.rotation</p:attrName>
                                        </p:attrNameLst>
                                      </p:cBhvr>
                                      <p:tavLst>
                                        <p:tav tm="0">
                                          <p:val>
                                            <p:fltVal val="90"/>
                                          </p:val>
                                        </p:tav>
                                        <p:tav tm="100000">
                                          <p:val>
                                            <p:fltVal val="0"/>
                                          </p:val>
                                        </p:tav>
                                      </p:tavLst>
                                    </p:anim>
                                    <p:animEffect transition="in" filter="fade">
                                      <p:cBhvr>
                                        <p:cTn id="48" dur="10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xit" presetSubtype="4" fill="hold" nodeType="clickEffect">
                                  <p:stCondLst>
                                    <p:cond delay="0"/>
                                  </p:stCondLst>
                                  <p:childTnLst>
                                    <p:animEffect transition="out" filter="wipe(down)">
                                      <p:cBhvr>
                                        <p:cTn id="52" dur="500"/>
                                        <p:tgtEl>
                                          <p:spTgt spid="12"/>
                                        </p:tgtEl>
                                      </p:cBhvr>
                                    </p:animEffect>
                                    <p:set>
                                      <p:cBhvr>
                                        <p:cTn id="53" dur="1" fill="hold">
                                          <p:stCondLst>
                                            <p:cond delay="499"/>
                                          </p:stCondLst>
                                        </p:cTn>
                                        <p:tgtEl>
                                          <p:spTgt spid="12"/>
                                        </p:tgtEl>
                                        <p:attrNameLst>
                                          <p:attrName>style.visibility</p:attrName>
                                        </p:attrNameLst>
                                      </p:cBhvr>
                                      <p:to>
                                        <p:strVal val="hidden"/>
                                      </p:to>
                                    </p:set>
                                  </p:childTnLst>
                                </p:cTn>
                              </p:par>
                              <p:par>
                                <p:cTn id="54" presetID="22" presetClass="exit" presetSubtype="4" fill="hold" grpId="1" nodeType="withEffect">
                                  <p:stCondLst>
                                    <p:cond delay="0"/>
                                  </p:stCondLst>
                                  <p:childTnLst>
                                    <p:animEffect transition="out" filter="wipe(down)">
                                      <p:cBhvr>
                                        <p:cTn id="55" dur="500"/>
                                        <p:tgtEl>
                                          <p:spTgt spid="14"/>
                                        </p:tgtEl>
                                      </p:cBhvr>
                                    </p:animEffect>
                                    <p:set>
                                      <p:cBhvr>
                                        <p:cTn id="56" dur="1" fill="hold">
                                          <p:stCondLst>
                                            <p:cond delay="499"/>
                                          </p:stCondLst>
                                        </p:cTn>
                                        <p:tgtEl>
                                          <p:spTgt spid="14"/>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500" fill="hold"/>
                                        <p:tgtEl>
                                          <p:spTgt spid="10"/>
                                        </p:tgtEl>
                                        <p:attrNameLst>
                                          <p:attrName>ppt_x</p:attrName>
                                        </p:attrNameLst>
                                      </p:cBhvr>
                                      <p:tavLst>
                                        <p:tav tm="0">
                                          <p:val>
                                            <p:strVal val="#ppt_x"/>
                                          </p:val>
                                        </p:tav>
                                        <p:tav tm="100000">
                                          <p:val>
                                            <p:strVal val="#ppt_x"/>
                                          </p:val>
                                        </p:tav>
                                      </p:tavLst>
                                    </p:anim>
                                    <p:anim calcmode="lin" valueType="num">
                                      <p:cBhvr additive="base">
                                        <p:cTn id="6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p:cTn id="67" dur="1000" fill="hold"/>
                                        <p:tgtEl>
                                          <p:spTgt spid="18"/>
                                        </p:tgtEl>
                                        <p:attrNameLst>
                                          <p:attrName>ppt_w</p:attrName>
                                        </p:attrNameLst>
                                      </p:cBhvr>
                                      <p:tavLst>
                                        <p:tav tm="0">
                                          <p:val>
                                            <p:fltVal val="0"/>
                                          </p:val>
                                        </p:tav>
                                        <p:tav tm="100000">
                                          <p:val>
                                            <p:strVal val="#ppt_w"/>
                                          </p:val>
                                        </p:tav>
                                      </p:tavLst>
                                    </p:anim>
                                    <p:anim calcmode="lin" valueType="num">
                                      <p:cBhvr>
                                        <p:cTn id="68" dur="1000" fill="hold"/>
                                        <p:tgtEl>
                                          <p:spTgt spid="18"/>
                                        </p:tgtEl>
                                        <p:attrNameLst>
                                          <p:attrName>ppt_h</p:attrName>
                                        </p:attrNameLst>
                                      </p:cBhvr>
                                      <p:tavLst>
                                        <p:tav tm="0">
                                          <p:val>
                                            <p:fltVal val="0"/>
                                          </p:val>
                                        </p:tav>
                                        <p:tav tm="100000">
                                          <p:val>
                                            <p:strVal val="#ppt_h"/>
                                          </p:val>
                                        </p:tav>
                                      </p:tavLst>
                                    </p:anim>
                                    <p:anim calcmode="lin" valueType="num">
                                      <p:cBhvr>
                                        <p:cTn id="69" dur="1000" fill="hold"/>
                                        <p:tgtEl>
                                          <p:spTgt spid="18"/>
                                        </p:tgtEl>
                                        <p:attrNameLst>
                                          <p:attrName>style.rotation</p:attrName>
                                        </p:attrNameLst>
                                      </p:cBhvr>
                                      <p:tavLst>
                                        <p:tav tm="0">
                                          <p:val>
                                            <p:fltVal val="90"/>
                                          </p:val>
                                        </p:tav>
                                        <p:tav tm="100000">
                                          <p:val>
                                            <p:fltVal val="0"/>
                                          </p:val>
                                        </p:tav>
                                      </p:tavLst>
                                    </p:anim>
                                    <p:animEffect transition="in" filter="fade">
                                      <p:cBhvr>
                                        <p:cTn id="70" dur="1000"/>
                                        <p:tgtEl>
                                          <p:spTgt spid="18"/>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xit" presetSubtype="0" fill="hold" grpId="1" nodeType="clickEffect">
                                  <p:stCondLst>
                                    <p:cond delay="0"/>
                                  </p:stCondLst>
                                  <p:childTnLst>
                                    <p:animEffect transition="out" filter="fade">
                                      <p:cBhvr>
                                        <p:cTn id="74" dur="1000"/>
                                        <p:tgtEl>
                                          <p:spTgt spid="18"/>
                                        </p:tgtEl>
                                      </p:cBhvr>
                                    </p:animEffect>
                                    <p:anim calcmode="lin" valueType="num">
                                      <p:cBhvr>
                                        <p:cTn id="75" dur="1000"/>
                                        <p:tgtEl>
                                          <p:spTgt spid="18"/>
                                        </p:tgtEl>
                                        <p:attrNameLst>
                                          <p:attrName>ppt_x</p:attrName>
                                        </p:attrNameLst>
                                      </p:cBhvr>
                                      <p:tavLst>
                                        <p:tav tm="0">
                                          <p:val>
                                            <p:strVal val="ppt_x"/>
                                          </p:val>
                                        </p:tav>
                                        <p:tav tm="100000">
                                          <p:val>
                                            <p:strVal val="ppt_x"/>
                                          </p:val>
                                        </p:tav>
                                      </p:tavLst>
                                    </p:anim>
                                    <p:anim calcmode="lin" valueType="num">
                                      <p:cBhvr>
                                        <p:cTn id="76" dur="1000"/>
                                        <p:tgtEl>
                                          <p:spTgt spid="18"/>
                                        </p:tgtEl>
                                        <p:attrNameLst>
                                          <p:attrName>ppt_y</p:attrName>
                                        </p:attrNameLst>
                                      </p:cBhvr>
                                      <p:tavLst>
                                        <p:tav tm="0">
                                          <p:val>
                                            <p:strVal val="ppt_y"/>
                                          </p:val>
                                        </p:tav>
                                        <p:tav tm="100000">
                                          <p:val>
                                            <p:strVal val="ppt_y+.1"/>
                                          </p:val>
                                        </p:tav>
                                      </p:tavLst>
                                    </p:anim>
                                    <p:set>
                                      <p:cBhvr>
                                        <p:cTn id="77" dur="1" fill="hold">
                                          <p:stCondLst>
                                            <p:cond delay="999"/>
                                          </p:stCondLst>
                                        </p:cTn>
                                        <p:tgtEl>
                                          <p:spTgt spid="18"/>
                                        </p:tgtEl>
                                        <p:attrNameLst>
                                          <p:attrName>style.visibility</p:attrName>
                                        </p:attrNameLst>
                                      </p:cBhvr>
                                      <p:to>
                                        <p:strVal val="hidden"/>
                                      </p:to>
                                    </p:set>
                                  </p:childTnLst>
                                </p:cTn>
                              </p:par>
                              <p:par>
                                <p:cTn id="78" presetID="42" presetClass="exit" presetSubtype="0" fill="hold" nodeType="withEffect">
                                  <p:stCondLst>
                                    <p:cond delay="0"/>
                                  </p:stCondLst>
                                  <p:childTnLst>
                                    <p:animEffect transition="out" filter="fade">
                                      <p:cBhvr>
                                        <p:cTn id="79" dur="1000"/>
                                        <p:tgtEl>
                                          <p:spTgt spid="10"/>
                                        </p:tgtEl>
                                      </p:cBhvr>
                                    </p:animEffect>
                                    <p:anim calcmode="lin" valueType="num">
                                      <p:cBhvr>
                                        <p:cTn id="80" dur="1000"/>
                                        <p:tgtEl>
                                          <p:spTgt spid="10"/>
                                        </p:tgtEl>
                                        <p:attrNameLst>
                                          <p:attrName>ppt_x</p:attrName>
                                        </p:attrNameLst>
                                      </p:cBhvr>
                                      <p:tavLst>
                                        <p:tav tm="0">
                                          <p:val>
                                            <p:strVal val="ppt_x"/>
                                          </p:val>
                                        </p:tav>
                                        <p:tav tm="100000">
                                          <p:val>
                                            <p:strVal val="ppt_x"/>
                                          </p:val>
                                        </p:tav>
                                      </p:tavLst>
                                    </p:anim>
                                    <p:anim calcmode="lin" valueType="num">
                                      <p:cBhvr>
                                        <p:cTn id="81" dur="1000"/>
                                        <p:tgtEl>
                                          <p:spTgt spid="10"/>
                                        </p:tgtEl>
                                        <p:attrNameLst>
                                          <p:attrName>ppt_y</p:attrName>
                                        </p:attrNameLst>
                                      </p:cBhvr>
                                      <p:tavLst>
                                        <p:tav tm="0">
                                          <p:val>
                                            <p:strVal val="ppt_y"/>
                                          </p:val>
                                        </p:tav>
                                        <p:tav tm="100000">
                                          <p:val>
                                            <p:strVal val="ppt_y+.1"/>
                                          </p:val>
                                        </p:tav>
                                      </p:tavLst>
                                    </p:anim>
                                    <p:set>
                                      <p:cBhvr>
                                        <p:cTn id="82" dur="1" fill="hold">
                                          <p:stCondLst>
                                            <p:cond delay="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4" grpId="0" animBg="1"/>
      <p:bldP spid="14" grpId="1" animBg="1"/>
      <p:bldP spid="18" grpId="0" animBg="1"/>
      <p:bldP spid="18"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736015" cy="369332"/>
          </a:xfrm>
          <a:prstGeom prst="rect">
            <a:avLst/>
          </a:prstGeom>
          <a:noFill/>
        </p:spPr>
        <p:txBody>
          <a:bodyPr wrap="square" rtlCol="0">
            <a:spAutoFit/>
          </a:bodyPr>
          <a:lstStyle/>
          <a:p>
            <a:r>
              <a:rPr lang="zh-CN" altLang="en-US" dirty="0" smtClean="0">
                <a:solidFill>
                  <a:srgbClr val="333F50"/>
                </a:solidFill>
              </a:rPr>
              <a:t>网维</a:t>
            </a:r>
            <a:r>
              <a:rPr lang="zh-CN" altLang="en-US" dirty="0">
                <a:solidFill>
                  <a:srgbClr val="333F50"/>
                </a:solidFill>
              </a:rPr>
              <a:t>工作</a:t>
            </a:r>
            <a:r>
              <a:rPr lang="zh-CN" altLang="en-US" dirty="0" smtClean="0">
                <a:solidFill>
                  <a:srgbClr val="333F50"/>
                </a:solidFill>
              </a:rPr>
              <a:t>的现况（维护报表制作为例</a:t>
            </a:r>
            <a:r>
              <a:rPr lang="en-US" altLang="zh-CN" dirty="0" smtClean="0">
                <a:solidFill>
                  <a:srgbClr val="333F50"/>
                </a:solidFill>
                <a:sym typeface="Wingdings" panose="05000000000000000000" pitchFamily="2" charset="2"/>
              </a:rPr>
              <a:t></a:t>
            </a:r>
            <a:r>
              <a:rPr lang="zh-CN" altLang="en-US" dirty="0" smtClean="0">
                <a:solidFill>
                  <a:srgbClr val="333F50"/>
                </a:solidFill>
              </a:rPr>
              <a:t>总结）</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315882" y="2036245"/>
            <a:ext cx="1725561" cy="1401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t>维护报表制作</a:t>
            </a:r>
            <a:endParaRPr lang="zh-CN" altLang="en-US" dirty="0"/>
          </a:p>
        </p:txBody>
      </p:sp>
      <p:sp>
        <p:nvSpPr>
          <p:cNvPr id="12" name="矩形 11"/>
          <p:cNvSpPr/>
          <p:nvPr/>
        </p:nvSpPr>
        <p:spPr>
          <a:xfrm>
            <a:off x="817624" y="1596834"/>
            <a:ext cx="2998839" cy="235449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n-US" altLang="zh-CN" sz="1600" dirty="0" smtClean="0"/>
              <a:t>1   </a:t>
            </a:r>
            <a:r>
              <a:rPr lang="zh-CN" altLang="en-US" dirty="0" smtClean="0"/>
              <a:t>数据获取</a:t>
            </a:r>
            <a:r>
              <a:rPr lang="zh-CN" altLang="en-US" sz="1600" dirty="0" smtClean="0"/>
              <a:t>：</a:t>
            </a:r>
            <a:endParaRPr lang="en-US" altLang="zh-CN" sz="1600" dirty="0" smtClean="0"/>
          </a:p>
          <a:p>
            <a:pPr marL="742950" lvl="1" indent="-285750">
              <a:lnSpc>
                <a:spcPct val="150000"/>
              </a:lnSpc>
              <a:buFont typeface="Arial" panose="020B0604020202020204" pitchFamily="34" charset="0"/>
              <a:buChar char="•"/>
            </a:pPr>
            <a:r>
              <a:rPr lang="zh-CN" altLang="en-US" sz="1600" dirty="0"/>
              <a:t>数据来源</a:t>
            </a:r>
            <a:r>
              <a:rPr lang="zh-CN" altLang="en-US" sz="1600" dirty="0">
                <a:solidFill>
                  <a:srgbClr val="FF0000"/>
                </a:solidFill>
              </a:rPr>
              <a:t>较分散</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原始数据</a:t>
            </a:r>
            <a:r>
              <a:rPr lang="zh-CN" altLang="en-US" sz="1600" dirty="0">
                <a:solidFill>
                  <a:srgbClr val="FF0000"/>
                </a:solidFill>
              </a:rPr>
              <a:t>无备份</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获取方式</a:t>
            </a:r>
            <a:r>
              <a:rPr lang="zh-CN" altLang="en-US" sz="1600" dirty="0">
                <a:solidFill>
                  <a:srgbClr val="FF0000"/>
                </a:solidFill>
              </a:rPr>
              <a:t>未统一</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沟通成本</a:t>
            </a:r>
            <a:r>
              <a:rPr lang="zh-CN" altLang="en-US" sz="1600" dirty="0">
                <a:solidFill>
                  <a:srgbClr val="FF0000"/>
                </a:solidFill>
              </a:rPr>
              <a:t>代价高</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人力劳动</a:t>
            </a:r>
            <a:r>
              <a:rPr lang="zh-CN" altLang="en-US" sz="1600" dirty="0">
                <a:solidFill>
                  <a:srgbClr val="FF0000"/>
                </a:solidFill>
              </a:rPr>
              <a:t>较重复</a:t>
            </a:r>
            <a:endParaRPr lang="en-US" altLang="zh-CN" sz="1600" dirty="0">
              <a:solidFill>
                <a:srgbClr val="FF0000"/>
              </a:solidFill>
            </a:endParaRPr>
          </a:p>
        </p:txBody>
      </p:sp>
      <p:cxnSp>
        <p:nvCxnSpPr>
          <p:cNvPr id="13" name="直接连接符 12"/>
          <p:cNvCxnSpPr/>
          <p:nvPr/>
        </p:nvCxnSpPr>
        <p:spPr>
          <a:xfrm>
            <a:off x="1392812" y="3997780"/>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直接连接符 13"/>
          <p:cNvCxnSpPr>
            <a:endCxn id="11" idx="2"/>
          </p:cNvCxnSpPr>
          <p:nvPr/>
        </p:nvCxnSpPr>
        <p:spPr>
          <a:xfrm flipV="1">
            <a:off x="3934451" y="2736793"/>
            <a:ext cx="1381431" cy="12659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9" idx="0"/>
            <a:endCxn id="11" idx="4"/>
          </p:cNvCxnSpPr>
          <p:nvPr/>
        </p:nvCxnSpPr>
        <p:spPr>
          <a:xfrm flipH="1" flipV="1">
            <a:off x="6178663" y="3437341"/>
            <a:ext cx="6413" cy="80374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671871" y="6288697"/>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8157420" y="1897445"/>
            <a:ext cx="2674339" cy="193899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n-US" altLang="zh-CN" sz="1600" dirty="0" smtClean="0"/>
              <a:t>2  </a:t>
            </a:r>
            <a:r>
              <a:rPr lang="zh-CN" altLang="en-US" sz="1600" dirty="0" smtClean="0"/>
              <a:t>数据分析：</a:t>
            </a:r>
            <a:endParaRPr lang="en-US" altLang="zh-CN" sz="1600" dirty="0" smtClean="0"/>
          </a:p>
          <a:p>
            <a:pPr marL="742950" lvl="1" indent="-285750">
              <a:lnSpc>
                <a:spcPct val="150000"/>
              </a:lnSpc>
              <a:buFont typeface="Arial" panose="020B0604020202020204" pitchFamily="34" charset="0"/>
              <a:buChar char="•"/>
            </a:pPr>
            <a:r>
              <a:rPr lang="zh-CN" altLang="en-US" sz="1600" dirty="0"/>
              <a:t>原始表格</a:t>
            </a:r>
            <a:r>
              <a:rPr lang="zh-CN" altLang="en-US" sz="1600" dirty="0">
                <a:solidFill>
                  <a:srgbClr val="FF0000"/>
                </a:solidFill>
              </a:rPr>
              <a:t>手动拆分</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数据子表</a:t>
            </a:r>
            <a:r>
              <a:rPr lang="zh-CN" altLang="en-US" sz="1600" dirty="0">
                <a:solidFill>
                  <a:srgbClr val="FF0000"/>
                </a:solidFill>
              </a:rPr>
              <a:t>手动合并</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处理过程</a:t>
            </a:r>
            <a:r>
              <a:rPr lang="zh-CN" altLang="en-US" sz="1600" dirty="0">
                <a:solidFill>
                  <a:srgbClr val="FF0000"/>
                </a:solidFill>
              </a:rPr>
              <a:t>经验指导</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数据分析</a:t>
            </a:r>
            <a:r>
              <a:rPr lang="zh-CN" altLang="en-US" sz="1600" dirty="0">
                <a:solidFill>
                  <a:srgbClr val="FF0000"/>
                </a:solidFill>
              </a:rPr>
              <a:t>缺乏深度</a:t>
            </a:r>
            <a:endParaRPr lang="en-US" altLang="zh-CN" sz="1600" dirty="0">
              <a:solidFill>
                <a:srgbClr val="FF0000"/>
              </a:solidFill>
            </a:endParaRPr>
          </a:p>
        </p:txBody>
      </p:sp>
      <p:cxnSp>
        <p:nvCxnSpPr>
          <p:cNvPr id="18" name="直接连接符 17"/>
          <p:cNvCxnSpPr/>
          <p:nvPr/>
        </p:nvCxnSpPr>
        <p:spPr>
          <a:xfrm>
            <a:off x="8580008" y="4002700"/>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文本框 1"/>
          <p:cNvSpPr txBox="1"/>
          <p:nvPr/>
        </p:nvSpPr>
        <p:spPr>
          <a:xfrm>
            <a:off x="4664953" y="4241085"/>
            <a:ext cx="3040245" cy="19389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1600" dirty="0"/>
          </a:p>
          <a:p>
            <a:pPr marL="285750" indent="-285750">
              <a:lnSpc>
                <a:spcPct val="150000"/>
              </a:lnSpc>
              <a:buFont typeface="Arial" panose="020B0604020202020204" pitchFamily="34" charset="0"/>
              <a:buChar char="•"/>
            </a:pPr>
            <a:r>
              <a:rPr lang="zh-CN" altLang="en-US" sz="1600" dirty="0"/>
              <a:t>数据呈现</a:t>
            </a:r>
            <a:r>
              <a:rPr lang="zh-CN" altLang="en-US" sz="1600" dirty="0" smtClean="0"/>
              <a:t>：</a:t>
            </a:r>
            <a:endParaRPr lang="en-US" altLang="zh-CN" sz="1600" dirty="0"/>
          </a:p>
          <a:p>
            <a:pPr marL="742950" lvl="1" indent="-285750">
              <a:lnSpc>
                <a:spcPct val="150000"/>
              </a:lnSpc>
              <a:buFont typeface="Arial" panose="020B0604020202020204" pitchFamily="34" charset="0"/>
              <a:buChar char="•"/>
            </a:pPr>
            <a:r>
              <a:rPr lang="zh-CN" altLang="en-US" sz="1600" dirty="0"/>
              <a:t>呈现数据</a:t>
            </a:r>
            <a:r>
              <a:rPr lang="zh-CN" altLang="en-US" sz="1600" dirty="0">
                <a:solidFill>
                  <a:srgbClr val="FF0000"/>
                </a:solidFill>
              </a:rPr>
              <a:t>手动整理</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通报途径</a:t>
            </a:r>
            <a:r>
              <a:rPr lang="zh-CN" altLang="en-US" sz="1600" dirty="0">
                <a:solidFill>
                  <a:srgbClr val="FF0000"/>
                </a:solidFill>
              </a:rPr>
              <a:t>不够有效</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呈现形式</a:t>
            </a:r>
            <a:r>
              <a:rPr lang="zh-CN" altLang="en-US" sz="1600" dirty="0">
                <a:solidFill>
                  <a:srgbClr val="FF0000"/>
                </a:solidFill>
              </a:rPr>
              <a:t>单一固化</a:t>
            </a:r>
            <a:endParaRPr lang="en-US" altLang="zh-CN" sz="1600" dirty="0">
              <a:solidFill>
                <a:srgbClr val="FF0000"/>
              </a:solidFill>
            </a:endParaRPr>
          </a:p>
        </p:txBody>
      </p:sp>
      <p:cxnSp>
        <p:nvCxnSpPr>
          <p:cNvPr id="20" name="直接连接符 19"/>
          <p:cNvCxnSpPr/>
          <p:nvPr/>
        </p:nvCxnSpPr>
        <p:spPr>
          <a:xfrm rot="10800000">
            <a:off x="7041443" y="2739244"/>
            <a:ext cx="1533833" cy="1260999"/>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175779"/>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运维管理的对象</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705225" y="5802535"/>
            <a:ext cx="5734050" cy="338554"/>
          </a:xfrm>
          <a:prstGeom prst="rect">
            <a:avLst/>
          </a:prstGeom>
          <a:noFill/>
        </p:spPr>
        <p:txBody>
          <a:bodyPr wrap="square" rtlCol="0">
            <a:spAutoFit/>
          </a:bodyPr>
          <a:lstStyle/>
          <a:p>
            <a:r>
              <a:rPr lang="zh-CN" altLang="en-US" sz="1600" dirty="0" smtClean="0">
                <a:latin typeface="+mn-ea"/>
              </a:rPr>
              <a:t>城域网维护报表制作只是众多运维工作中的“冰山一角”</a:t>
            </a:r>
            <a:endParaRPr lang="zh-CN" altLang="en-US" sz="1600" dirty="0">
              <a:latin typeface="+mn-ea"/>
            </a:endParaRPr>
          </a:p>
        </p:txBody>
      </p:sp>
      <p:sp>
        <p:nvSpPr>
          <p:cNvPr id="11" name="等腰三角形 10"/>
          <p:cNvSpPr/>
          <p:nvPr/>
        </p:nvSpPr>
        <p:spPr>
          <a:xfrm>
            <a:off x="2442331" y="2033390"/>
            <a:ext cx="3906308" cy="3337983"/>
          </a:xfrm>
          <a:prstGeom prst="triangl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12" name="组合 11"/>
          <p:cNvGrpSpPr/>
          <p:nvPr/>
        </p:nvGrpSpPr>
        <p:grpSpPr>
          <a:xfrm>
            <a:off x="4395485" y="2160862"/>
            <a:ext cx="2300590" cy="600477"/>
            <a:chOff x="3657599" y="542395"/>
            <a:chExt cx="3522133" cy="963083"/>
          </a:xfrm>
        </p:grpSpPr>
        <p:sp>
          <p:nvSpPr>
            <p:cNvPr id="22" name="圆角矩形 21"/>
            <p:cNvSpPr/>
            <p:nvPr/>
          </p:nvSpPr>
          <p:spPr>
            <a:xfrm>
              <a:off x="3657599" y="542395"/>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3" name="圆角矩形 5"/>
            <p:cNvSpPr txBox="1"/>
            <p:nvPr/>
          </p:nvSpPr>
          <p:spPr>
            <a:xfrm>
              <a:off x="3704613" y="589409"/>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zh-CN" altLang="en-US" sz="2400" kern="1200" dirty="0" smtClean="0"/>
                <a:t>用户</a:t>
              </a:r>
              <a:endParaRPr lang="zh-CN" altLang="en-US" sz="2400" kern="1200" dirty="0"/>
            </a:p>
          </p:txBody>
        </p:sp>
      </p:grpSp>
      <p:grpSp>
        <p:nvGrpSpPr>
          <p:cNvPr id="13" name="组合 12"/>
          <p:cNvGrpSpPr/>
          <p:nvPr/>
        </p:nvGrpSpPr>
        <p:grpSpPr>
          <a:xfrm>
            <a:off x="4395484" y="2946591"/>
            <a:ext cx="2300590" cy="689690"/>
            <a:chOff x="3657599" y="1625864"/>
            <a:chExt cx="3522133" cy="963083"/>
          </a:xfrm>
        </p:grpSpPr>
        <p:sp>
          <p:nvSpPr>
            <p:cNvPr id="20" name="圆角矩形 19"/>
            <p:cNvSpPr/>
            <p:nvPr/>
          </p:nvSpPr>
          <p:spPr>
            <a:xfrm>
              <a:off x="3657599" y="1625864"/>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1" name="圆角矩形 7"/>
            <p:cNvSpPr txBox="1"/>
            <p:nvPr/>
          </p:nvSpPr>
          <p:spPr>
            <a:xfrm>
              <a:off x="3704613" y="1672878"/>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zh-CN" altLang="en-US" sz="2400" kern="1200" dirty="0" smtClean="0"/>
                <a:t>业务</a:t>
              </a:r>
              <a:endParaRPr lang="zh-CN" altLang="en-US" sz="2400" kern="1200" dirty="0"/>
            </a:p>
          </p:txBody>
        </p:sp>
      </p:grpSp>
      <p:grpSp>
        <p:nvGrpSpPr>
          <p:cNvPr id="14" name="组合 13"/>
          <p:cNvGrpSpPr/>
          <p:nvPr/>
        </p:nvGrpSpPr>
        <p:grpSpPr>
          <a:xfrm>
            <a:off x="4395483" y="3818074"/>
            <a:ext cx="2300591" cy="661679"/>
            <a:chOff x="3657599" y="2709333"/>
            <a:chExt cx="3522133" cy="963083"/>
          </a:xfrm>
        </p:grpSpPr>
        <p:sp>
          <p:nvSpPr>
            <p:cNvPr id="18" name="圆角矩形 17"/>
            <p:cNvSpPr/>
            <p:nvPr/>
          </p:nvSpPr>
          <p:spPr>
            <a:xfrm>
              <a:off x="3657599" y="2709333"/>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9" name="圆角矩形 9"/>
            <p:cNvSpPr txBox="1"/>
            <p:nvPr/>
          </p:nvSpPr>
          <p:spPr>
            <a:xfrm>
              <a:off x="3704613" y="2756347"/>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zh-CN" altLang="en-US" sz="2400" kern="1200" dirty="0" smtClean="0"/>
                <a:t>网络</a:t>
              </a:r>
              <a:endParaRPr lang="zh-CN" altLang="en-US" sz="2400" kern="1200" dirty="0"/>
            </a:p>
          </p:txBody>
        </p:sp>
      </p:grpSp>
      <p:grpSp>
        <p:nvGrpSpPr>
          <p:cNvPr id="15" name="组合 14"/>
          <p:cNvGrpSpPr/>
          <p:nvPr/>
        </p:nvGrpSpPr>
        <p:grpSpPr>
          <a:xfrm>
            <a:off x="4395483" y="4656407"/>
            <a:ext cx="2300591" cy="714966"/>
            <a:chOff x="3657599" y="3792802"/>
            <a:chExt cx="3522133" cy="963083"/>
          </a:xfrm>
        </p:grpSpPr>
        <p:sp>
          <p:nvSpPr>
            <p:cNvPr id="16" name="圆角矩形 15"/>
            <p:cNvSpPr/>
            <p:nvPr/>
          </p:nvSpPr>
          <p:spPr>
            <a:xfrm>
              <a:off x="3657599" y="3792802"/>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7" name="圆角矩形 11"/>
            <p:cNvSpPr txBox="1"/>
            <p:nvPr/>
          </p:nvSpPr>
          <p:spPr>
            <a:xfrm>
              <a:off x="3704613" y="3839816"/>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780" tIns="144780" rIns="144780" bIns="144780" numCol="1" spcCol="1270" anchor="ctr" anchorCtr="0">
              <a:noAutofit/>
            </a:bodyPr>
            <a:lstStyle/>
            <a:p>
              <a:pPr lvl="0" algn="ctr" defTabSz="1689100">
                <a:lnSpc>
                  <a:spcPct val="90000"/>
                </a:lnSpc>
                <a:spcBef>
                  <a:spcPct val="0"/>
                </a:spcBef>
                <a:spcAft>
                  <a:spcPct val="35000"/>
                </a:spcAft>
              </a:pPr>
              <a:r>
                <a:rPr lang="zh-CN" altLang="en-US" sz="2400" kern="1200" dirty="0" smtClean="0"/>
                <a:t>设备</a:t>
              </a:r>
              <a:endParaRPr lang="zh-CN" altLang="en-US" sz="2400" kern="1200" dirty="0"/>
            </a:p>
          </p:txBody>
        </p:sp>
      </p:grpSp>
      <p:cxnSp>
        <p:nvCxnSpPr>
          <p:cNvPr id="24" name="直接连接符 23"/>
          <p:cNvCxnSpPr/>
          <p:nvPr/>
        </p:nvCxnSpPr>
        <p:spPr>
          <a:xfrm>
            <a:off x="6696074" y="2516800"/>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962775" y="2033391"/>
            <a:ext cx="1552575" cy="369332"/>
          </a:xfrm>
          <a:prstGeom prst="rect">
            <a:avLst/>
          </a:prstGeom>
          <a:noFill/>
        </p:spPr>
        <p:txBody>
          <a:bodyPr wrap="square" rtlCol="0">
            <a:spAutoFit/>
          </a:bodyPr>
          <a:lstStyle/>
          <a:p>
            <a:r>
              <a:rPr lang="zh-CN" altLang="en-US" dirty="0" smtClean="0"/>
              <a:t>十二类用户</a:t>
            </a:r>
            <a:endParaRPr lang="zh-CN" altLang="en-US" dirty="0"/>
          </a:p>
        </p:txBody>
      </p:sp>
      <p:cxnSp>
        <p:nvCxnSpPr>
          <p:cNvPr id="25" name="直接连接符 24"/>
          <p:cNvCxnSpPr/>
          <p:nvPr/>
        </p:nvCxnSpPr>
        <p:spPr>
          <a:xfrm>
            <a:off x="6696074" y="3417128"/>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962775" y="2933719"/>
            <a:ext cx="1552575" cy="369332"/>
          </a:xfrm>
          <a:prstGeom prst="rect">
            <a:avLst/>
          </a:prstGeom>
          <a:noFill/>
        </p:spPr>
        <p:txBody>
          <a:bodyPr wrap="square" rtlCol="0">
            <a:spAutoFit/>
          </a:bodyPr>
          <a:lstStyle/>
          <a:p>
            <a:r>
              <a:rPr lang="zh-CN" altLang="en-US" dirty="0" smtClean="0"/>
              <a:t>十二类业务</a:t>
            </a:r>
            <a:endParaRPr lang="zh-CN" altLang="en-US" dirty="0"/>
          </a:p>
        </p:txBody>
      </p:sp>
      <p:cxnSp>
        <p:nvCxnSpPr>
          <p:cNvPr id="27" name="直接连接符 26"/>
          <p:cNvCxnSpPr/>
          <p:nvPr/>
        </p:nvCxnSpPr>
        <p:spPr>
          <a:xfrm>
            <a:off x="6696074" y="4276935"/>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962775" y="3793526"/>
            <a:ext cx="1552575" cy="369332"/>
          </a:xfrm>
          <a:prstGeom prst="rect">
            <a:avLst/>
          </a:prstGeom>
          <a:noFill/>
        </p:spPr>
        <p:txBody>
          <a:bodyPr wrap="square" rtlCol="0">
            <a:spAutoFit/>
          </a:bodyPr>
          <a:lstStyle/>
          <a:p>
            <a:r>
              <a:rPr lang="zh-CN" altLang="en-US" dirty="0" smtClean="0"/>
              <a:t>十三类网络</a:t>
            </a:r>
            <a:endParaRPr lang="zh-CN" altLang="en-US" dirty="0"/>
          </a:p>
        </p:txBody>
      </p:sp>
      <p:cxnSp>
        <p:nvCxnSpPr>
          <p:cNvPr id="29" name="直接连接符 28"/>
          <p:cNvCxnSpPr/>
          <p:nvPr/>
        </p:nvCxnSpPr>
        <p:spPr>
          <a:xfrm>
            <a:off x="6696074" y="5136742"/>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6962775" y="4653333"/>
            <a:ext cx="1552575" cy="369332"/>
          </a:xfrm>
          <a:prstGeom prst="rect">
            <a:avLst/>
          </a:prstGeom>
          <a:noFill/>
        </p:spPr>
        <p:txBody>
          <a:bodyPr wrap="square" rtlCol="0">
            <a:spAutoFit/>
          </a:bodyPr>
          <a:lstStyle/>
          <a:p>
            <a:r>
              <a:rPr lang="zh-CN" altLang="en-US" dirty="0"/>
              <a:t>四大</a:t>
            </a:r>
            <a:r>
              <a:rPr lang="zh-CN" altLang="en-US" dirty="0" smtClean="0"/>
              <a:t>类设备</a:t>
            </a:r>
            <a:endParaRPr lang="zh-CN" altLang="en-US" dirty="0"/>
          </a:p>
        </p:txBody>
      </p:sp>
      <p:sp>
        <p:nvSpPr>
          <p:cNvPr id="32" name="圆角矩形 31"/>
          <p:cNvSpPr/>
          <p:nvPr/>
        </p:nvSpPr>
        <p:spPr>
          <a:xfrm>
            <a:off x="6726783" y="3783386"/>
            <a:ext cx="1788567" cy="419949"/>
          </a:xfrm>
          <a:prstGeom prst="round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34" name="矩形 33"/>
          <p:cNvSpPr/>
          <p:nvPr/>
        </p:nvSpPr>
        <p:spPr>
          <a:xfrm>
            <a:off x="2136916" y="1762445"/>
            <a:ext cx="9118315" cy="3747671"/>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pic>
        <p:nvPicPr>
          <p:cNvPr id="33" name="图片 32"/>
          <p:cNvPicPr>
            <a:picLocks noChangeAspect="1"/>
          </p:cNvPicPr>
          <p:nvPr/>
        </p:nvPicPr>
        <p:blipFill>
          <a:blip r:embed="rId3"/>
          <a:stretch>
            <a:fillRect/>
          </a:stretch>
        </p:blipFill>
        <p:spPr>
          <a:xfrm>
            <a:off x="-15375" y="1331283"/>
            <a:ext cx="12207375" cy="4103110"/>
          </a:xfrm>
          <a:prstGeom prst="rect">
            <a:avLst/>
          </a:prstGeom>
        </p:spPr>
      </p:pic>
      <p:sp>
        <p:nvSpPr>
          <p:cNvPr id="35" name="矩形 34"/>
          <p:cNvSpPr/>
          <p:nvPr/>
        </p:nvSpPr>
        <p:spPr>
          <a:xfrm>
            <a:off x="4390162" y="4152901"/>
            <a:ext cx="629513" cy="514350"/>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36" name="矩形 35"/>
          <p:cNvSpPr/>
          <p:nvPr/>
        </p:nvSpPr>
        <p:spPr>
          <a:xfrm>
            <a:off x="11362" y="1721368"/>
            <a:ext cx="12192000" cy="188843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400" b="1" dirty="0" smtClean="0">
                <a:solidFill>
                  <a:srgbClr val="FFFF00"/>
                </a:solidFill>
              </a:rPr>
              <a:t>构建“网络大脑”，实现对网维工作统一调控，全局管理。</a:t>
            </a:r>
            <a:endParaRPr lang="zh-CN" altLang="en-US" sz="2400" b="1" dirty="0">
              <a:solidFill>
                <a:srgbClr val="FFFF00"/>
              </a:solidFill>
            </a:endParaRPr>
          </a:p>
        </p:txBody>
      </p:sp>
      <p:sp>
        <p:nvSpPr>
          <p:cNvPr id="8" name="椭圆形标注 7"/>
          <p:cNvSpPr/>
          <p:nvPr/>
        </p:nvSpPr>
        <p:spPr>
          <a:xfrm rot="8310084">
            <a:off x="4780068" y="4876087"/>
            <a:ext cx="1094424" cy="1114053"/>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8751540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down)">
                                      <p:cBhvr>
                                        <p:cTn id="13" dur="500"/>
                                        <p:tgtEl>
                                          <p:spTgt spid="26"/>
                                        </p:tgtEl>
                                      </p:cBhvr>
                                    </p:animEffect>
                                  </p:childTnLst>
                                </p:cTn>
                              </p:par>
                              <p:par>
                                <p:cTn id="14" presetID="22" presetClass="entr" presetSubtype="4"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down)">
                                      <p:cBhvr>
                                        <p:cTn id="16" dur="500"/>
                                        <p:tgtEl>
                                          <p:spTgt spid="2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down)">
                                      <p:cBhvr>
                                        <p:cTn id="19" dur="500"/>
                                        <p:tgtEl>
                                          <p:spTgt spid="28"/>
                                        </p:tgtEl>
                                      </p:cBhvr>
                                    </p:animEffect>
                                  </p:childTnLst>
                                </p:cTn>
                              </p:par>
                              <p:par>
                                <p:cTn id="20" presetID="22" presetClass="entr" presetSubtype="4"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down)">
                                      <p:cBhvr>
                                        <p:cTn id="22" dur="500"/>
                                        <p:tgtEl>
                                          <p:spTgt spid="2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down)">
                                      <p:cBhvr>
                                        <p:cTn id="25" dur="500"/>
                                        <p:tgtEl>
                                          <p:spTgt spid="30"/>
                                        </p:tgtEl>
                                      </p:cBhvr>
                                    </p:animEffect>
                                  </p:childTnLst>
                                </p:cTn>
                              </p:par>
                              <p:par>
                                <p:cTn id="26" presetID="22" presetClass="entr" presetSubtype="4"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down)">
                                      <p:cBhvr>
                                        <p:cTn id="28" dur="50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p:cTn id="33" dur="1000" fill="hold"/>
                                        <p:tgtEl>
                                          <p:spTgt spid="32"/>
                                        </p:tgtEl>
                                        <p:attrNameLst>
                                          <p:attrName>ppt_w</p:attrName>
                                        </p:attrNameLst>
                                      </p:cBhvr>
                                      <p:tavLst>
                                        <p:tav tm="0">
                                          <p:val>
                                            <p:fltVal val="0"/>
                                          </p:val>
                                        </p:tav>
                                        <p:tav tm="100000">
                                          <p:val>
                                            <p:strVal val="#ppt_w"/>
                                          </p:val>
                                        </p:tav>
                                      </p:tavLst>
                                    </p:anim>
                                    <p:anim calcmode="lin" valueType="num">
                                      <p:cBhvr>
                                        <p:cTn id="34" dur="1000" fill="hold"/>
                                        <p:tgtEl>
                                          <p:spTgt spid="32"/>
                                        </p:tgtEl>
                                        <p:attrNameLst>
                                          <p:attrName>ppt_h</p:attrName>
                                        </p:attrNameLst>
                                      </p:cBhvr>
                                      <p:tavLst>
                                        <p:tav tm="0">
                                          <p:val>
                                            <p:fltVal val="0"/>
                                          </p:val>
                                        </p:tav>
                                        <p:tav tm="100000">
                                          <p:val>
                                            <p:strVal val="#ppt_h"/>
                                          </p:val>
                                        </p:tav>
                                      </p:tavLst>
                                    </p:anim>
                                    <p:anim calcmode="lin" valueType="num">
                                      <p:cBhvr>
                                        <p:cTn id="35" dur="1000" fill="hold"/>
                                        <p:tgtEl>
                                          <p:spTgt spid="32"/>
                                        </p:tgtEl>
                                        <p:attrNameLst>
                                          <p:attrName>style.rotation</p:attrName>
                                        </p:attrNameLst>
                                      </p:cBhvr>
                                      <p:tavLst>
                                        <p:tav tm="0">
                                          <p:val>
                                            <p:fltVal val="90"/>
                                          </p:val>
                                        </p:tav>
                                        <p:tav tm="100000">
                                          <p:val>
                                            <p:fltVal val="0"/>
                                          </p:val>
                                        </p:tav>
                                      </p:tavLst>
                                    </p:anim>
                                    <p:animEffect transition="in" filter="fade">
                                      <p:cBhvr>
                                        <p:cTn id="36" dur="10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anim calcmode="lin" valueType="num">
                                      <p:cBhvr>
                                        <p:cTn id="41" dur="500" fill="hold"/>
                                        <p:tgtEl>
                                          <p:spTgt spid="34"/>
                                        </p:tgtEl>
                                        <p:attrNameLst>
                                          <p:attrName>ppt_w</p:attrName>
                                        </p:attrNameLst>
                                      </p:cBhvr>
                                      <p:tavLst>
                                        <p:tav tm="0">
                                          <p:val>
                                            <p:fltVal val="0"/>
                                          </p:val>
                                        </p:tav>
                                        <p:tav tm="100000">
                                          <p:val>
                                            <p:strVal val="#ppt_w"/>
                                          </p:val>
                                        </p:tav>
                                      </p:tavLst>
                                    </p:anim>
                                    <p:anim calcmode="lin" valueType="num">
                                      <p:cBhvr>
                                        <p:cTn id="42" dur="500" fill="hold"/>
                                        <p:tgtEl>
                                          <p:spTgt spid="34"/>
                                        </p:tgtEl>
                                        <p:attrNameLst>
                                          <p:attrName>ppt_h</p:attrName>
                                        </p:attrNameLst>
                                      </p:cBhvr>
                                      <p:tavLst>
                                        <p:tav tm="0">
                                          <p:val>
                                            <p:fltVal val="0"/>
                                          </p:val>
                                        </p:tav>
                                        <p:tav tm="100000">
                                          <p:val>
                                            <p:strVal val="#ppt_h"/>
                                          </p:val>
                                        </p:tav>
                                      </p:tavLst>
                                    </p:anim>
                                    <p:animEffect transition="in" filter="fade">
                                      <p:cBhvr>
                                        <p:cTn id="43" dur="500"/>
                                        <p:tgtEl>
                                          <p:spTgt spid="34"/>
                                        </p:tgtEl>
                                      </p:cBhvr>
                                    </p:animEffect>
                                  </p:childTnLst>
                                </p:cTn>
                              </p:par>
                              <p:par>
                                <p:cTn id="44" presetID="53" presetClass="entr" presetSubtype="16" fill="hold" nodeType="with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p:cTn id="46" dur="500" fill="hold"/>
                                        <p:tgtEl>
                                          <p:spTgt spid="33"/>
                                        </p:tgtEl>
                                        <p:attrNameLst>
                                          <p:attrName>ppt_w</p:attrName>
                                        </p:attrNameLst>
                                      </p:cBhvr>
                                      <p:tavLst>
                                        <p:tav tm="0">
                                          <p:val>
                                            <p:fltVal val="0"/>
                                          </p:val>
                                        </p:tav>
                                        <p:tav tm="100000">
                                          <p:val>
                                            <p:strVal val="#ppt_w"/>
                                          </p:val>
                                        </p:tav>
                                      </p:tavLst>
                                    </p:anim>
                                    <p:anim calcmode="lin" valueType="num">
                                      <p:cBhvr>
                                        <p:cTn id="47" dur="500" fill="hold"/>
                                        <p:tgtEl>
                                          <p:spTgt spid="33"/>
                                        </p:tgtEl>
                                        <p:attrNameLst>
                                          <p:attrName>ppt_h</p:attrName>
                                        </p:attrNameLst>
                                      </p:cBhvr>
                                      <p:tavLst>
                                        <p:tav tm="0">
                                          <p:val>
                                            <p:fltVal val="0"/>
                                          </p:val>
                                        </p:tav>
                                        <p:tav tm="100000">
                                          <p:val>
                                            <p:strVal val="#ppt_h"/>
                                          </p:val>
                                        </p:tav>
                                      </p:tavLst>
                                    </p:anim>
                                    <p:animEffect transition="in" filter="fade">
                                      <p:cBhvr>
                                        <p:cTn id="48" dur="500"/>
                                        <p:tgtEl>
                                          <p:spTgt spid="33"/>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35"/>
                                        </p:tgtEl>
                                        <p:attrNameLst>
                                          <p:attrName>style.visibility</p:attrName>
                                        </p:attrNameLst>
                                      </p:cBhvr>
                                      <p:to>
                                        <p:strVal val="visible"/>
                                      </p:to>
                                    </p:set>
                                    <p:anim calcmode="lin" valueType="num">
                                      <p:cBhvr>
                                        <p:cTn id="53" dur="1000" fill="hold"/>
                                        <p:tgtEl>
                                          <p:spTgt spid="35"/>
                                        </p:tgtEl>
                                        <p:attrNameLst>
                                          <p:attrName>ppt_w</p:attrName>
                                        </p:attrNameLst>
                                      </p:cBhvr>
                                      <p:tavLst>
                                        <p:tav tm="0">
                                          <p:val>
                                            <p:fltVal val="0"/>
                                          </p:val>
                                        </p:tav>
                                        <p:tav tm="100000">
                                          <p:val>
                                            <p:strVal val="#ppt_w"/>
                                          </p:val>
                                        </p:tav>
                                      </p:tavLst>
                                    </p:anim>
                                    <p:anim calcmode="lin" valueType="num">
                                      <p:cBhvr>
                                        <p:cTn id="54" dur="1000" fill="hold"/>
                                        <p:tgtEl>
                                          <p:spTgt spid="35"/>
                                        </p:tgtEl>
                                        <p:attrNameLst>
                                          <p:attrName>ppt_h</p:attrName>
                                        </p:attrNameLst>
                                      </p:cBhvr>
                                      <p:tavLst>
                                        <p:tav tm="0">
                                          <p:val>
                                            <p:fltVal val="0"/>
                                          </p:val>
                                        </p:tav>
                                        <p:tav tm="100000">
                                          <p:val>
                                            <p:strVal val="#ppt_h"/>
                                          </p:val>
                                        </p:tav>
                                      </p:tavLst>
                                    </p:anim>
                                    <p:anim calcmode="lin" valueType="num">
                                      <p:cBhvr>
                                        <p:cTn id="55" dur="1000" fill="hold"/>
                                        <p:tgtEl>
                                          <p:spTgt spid="35"/>
                                        </p:tgtEl>
                                        <p:attrNameLst>
                                          <p:attrName>style.rotation</p:attrName>
                                        </p:attrNameLst>
                                      </p:cBhvr>
                                      <p:tavLst>
                                        <p:tav tm="0">
                                          <p:val>
                                            <p:fltVal val="90"/>
                                          </p:val>
                                        </p:tav>
                                        <p:tav tm="100000">
                                          <p:val>
                                            <p:fltVal val="0"/>
                                          </p:val>
                                        </p:tav>
                                      </p:tavLst>
                                    </p:anim>
                                    <p:animEffect transition="in" filter="fade">
                                      <p:cBhvr>
                                        <p:cTn id="56" dur="10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fade">
                                      <p:cBhvr>
                                        <p:cTn id="61" dur="5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36"/>
                                        </p:tgtEl>
                                        <p:attrNameLst>
                                          <p:attrName>style.visibility</p:attrName>
                                        </p:attrNameLst>
                                      </p:cBhvr>
                                      <p:to>
                                        <p:strVal val="visible"/>
                                      </p:to>
                                    </p:set>
                                    <p:anim calcmode="lin" valueType="num">
                                      <p:cBhvr additive="base">
                                        <p:cTn id="66" dur="500" fill="hold"/>
                                        <p:tgtEl>
                                          <p:spTgt spid="36"/>
                                        </p:tgtEl>
                                        <p:attrNameLst>
                                          <p:attrName>ppt_x</p:attrName>
                                        </p:attrNameLst>
                                      </p:cBhvr>
                                      <p:tavLst>
                                        <p:tav tm="0">
                                          <p:val>
                                            <p:strVal val="#ppt_x"/>
                                          </p:val>
                                        </p:tav>
                                        <p:tav tm="100000">
                                          <p:val>
                                            <p:strVal val="#ppt_x"/>
                                          </p:val>
                                        </p:tav>
                                      </p:tavLst>
                                    </p:anim>
                                    <p:anim calcmode="lin" valueType="num">
                                      <p:cBhvr additive="base">
                                        <p:cTn id="67"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26" grpId="0"/>
      <p:bldP spid="28" grpId="0"/>
      <p:bldP spid="30" grpId="0"/>
      <p:bldP spid="32" grpId="0" animBg="1"/>
      <p:bldP spid="34" grpId="0" animBg="1"/>
      <p:bldP spid="35" grpId="0" animBg="1"/>
      <p:bldP spid="3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77545" y="2399132"/>
            <a:ext cx="2689225" cy="2711450"/>
            <a:chOff x="1219" y="-53"/>
            <a:chExt cx="3321" cy="3348"/>
          </a:xfrm>
        </p:grpSpPr>
        <p:sp>
          <p:nvSpPr>
            <p:cNvPr id="55" name="Freeform 14"/>
            <p:cNvSpPr>
              <a:spLocks/>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6" name="Freeform 15"/>
            <p:cNvSpPr>
              <a:spLocks/>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7" name="Freeform 16"/>
            <p:cNvSpPr>
              <a:spLocks/>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8" name="Freeform 17"/>
            <p:cNvSpPr>
              <a:spLocks/>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9" name="Freeform 18"/>
            <p:cNvSpPr>
              <a:spLocks/>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60" name="Freeform 19"/>
            <p:cNvSpPr>
              <a:spLocks/>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2" name="Group 18"/>
          <p:cNvGrpSpPr>
            <a:grpSpLocks/>
          </p:cNvGrpSpPr>
          <p:nvPr/>
        </p:nvGrpSpPr>
        <p:grpSpPr bwMode="auto">
          <a:xfrm>
            <a:off x="2577438" y="2525713"/>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分散管理</a:t>
              </a:r>
              <a:endParaRPr lang="en-US" b="1" dirty="0">
                <a:solidFill>
                  <a:schemeClr val="tx1">
                    <a:lumMod val="75000"/>
                    <a:lumOff val="25000"/>
                  </a:schemeClr>
                </a:solidFill>
                <a:latin typeface="Arial"/>
                <a:ea typeface="微软雅黑 Light"/>
                <a:cs typeface="+mn-ea"/>
                <a:sym typeface="Arial"/>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各专业“各自为政”，投入产出比不高，无人掌控全网网络质量</a:t>
              </a:r>
              <a:endParaRPr lang="en-US" altLang="zh-CN" sz="1400" dirty="0">
                <a:latin typeface="+mn-lt"/>
                <a:ea typeface="微软雅黑 Light"/>
                <a:cs typeface="Lato Light" charset="0"/>
                <a:sym typeface="Arial"/>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6" name="Group 22"/>
          <p:cNvGrpSpPr>
            <a:grpSpLocks/>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被动管理</a:t>
              </a:r>
              <a:endParaRPr lang="en-US" b="1" dirty="0">
                <a:solidFill>
                  <a:schemeClr val="tx1">
                    <a:lumMod val="75000"/>
                    <a:lumOff val="25000"/>
                  </a:schemeClr>
                </a:solidFill>
                <a:latin typeface="Arial"/>
                <a:ea typeface="微软雅黑 Light"/>
                <a:cs typeface="+mn-ea"/>
                <a:sym typeface="Arial"/>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接到故障申告后才进行测试和故障分析，不能满足主动监控和主动维护需求</a:t>
              </a: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0" name="Group 26"/>
          <p:cNvGrpSpPr>
            <a:grpSpLocks/>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人工管理</a:t>
              </a:r>
              <a:endParaRPr lang="en-US" b="1" dirty="0">
                <a:solidFill>
                  <a:schemeClr val="tx1">
                    <a:lumMod val="75000"/>
                    <a:lumOff val="25000"/>
                  </a:schemeClr>
                </a:solidFill>
                <a:latin typeface="Arial"/>
                <a:ea typeface="微软雅黑 Light"/>
                <a:cs typeface="+mn-ea"/>
                <a:sym typeface="Arial"/>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依靠个人经验管理网络，工作重复性高，难以满足日益增长的网络运维需求</a:t>
              </a:r>
              <a:endParaRPr lang="en-US" altLang="zh-CN" sz="1400" dirty="0">
                <a:latin typeface="+mn-lt"/>
                <a:ea typeface="微软雅黑 Light"/>
                <a:sym typeface="Arial"/>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4" name="Group 30"/>
          <p:cNvGrpSpPr>
            <a:grpSpLocks/>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a:ea typeface="微软雅黑 Light"/>
                <a:cs typeface="+mn-ea"/>
                <a:sym typeface="Arial"/>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未充分发挥新技术在规划、维护、优化、分析、用户感知管理中的技术优势，管理效率低下</a:t>
              </a:r>
              <a:endParaRPr lang="en-US" altLang="zh-CN" sz="1400" dirty="0">
                <a:latin typeface="+mn-lt"/>
                <a:ea typeface="微软雅黑 Light"/>
                <a:sym typeface="Arial"/>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传统管理</a:t>
            </a:r>
            <a:endParaRPr lang="en-US" b="1" dirty="0">
              <a:solidFill>
                <a:schemeClr val="tx1">
                  <a:lumMod val="75000"/>
                  <a:lumOff val="25000"/>
                </a:schemeClr>
              </a:solidFill>
              <a:latin typeface="Arial"/>
              <a:ea typeface="微软雅黑 Light"/>
              <a:cs typeface="+mn-ea"/>
              <a:sym typeface="Arial"/>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487456" y="54218"/>
            <a:ext cx="9554622" cy="6660908"/>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4"/>
          <a:stretch>
            <a:fillRect/>
          </a:stretch>
        </p:blipFill>
        <p:spPr>
          <a:xfrm>
            <a:off x="6264767" y="2237188"/>
            <a:ext cx="1638300" cy="1634067"/>
          </a:xfrm>
          <a:prstGeom prst="rect">
            <a:avLst/>
          </a:prstGeom>
        </p:spPr>
      </p:pic>
      <p:sp>
        <p:nvSpPr>
          <p:cNvPr id="13" name="矩形 12"/>
          <p:cNvSpPr/>
          <p:nvPr/>
        </p:nvSpPr>
        <p:spPr>
          <a:xfrm>
            <a:off x="3662143" y="4736268"/>
            <a:ext cx="6956938" cy="1818681"/>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4" name="矩形 13"/>
          <p:cNvSpPr/>
          <p:nvPr/>
        </p:nvSpPr>
        <p:spPr>
          <a:xfrm>
            <a:off x="4448602" y="13016"/>
            <a:ext cx="5384019" cy="1904167"/>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5" name="矩形 14"/>
          <p:cNvSpPr/>
          <p:nvPr/>
        </p:nvSpPr>
        <p:spPr>
          <a:xfrm>
            <a:off x="1097318" y="2038823"/>
            <a:ext cx="4717848" cy="216309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6" name="矩形 15"/>
          <p:cNvSpPr/>
          <p:nvPr/>
        </p:nvSpPr>
        <p:spPr>
          <a:xfrm>
            <a:off x="8188969" y="2009815"/>
            <a:ext cx="3302710" cy="1834356"/>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1" name="文本框 10"/>
          <p:cNvSpPr txBox="1"/>
          <p:nvPr/>
        </p:nvSpPr>
        <p:spPr>
          <a:xfrm>
            <a:off x="2864359" y="195425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感知</a:t>
            </a:r>
            <a:endParaRPr lang="zh-CN" altLang="en-US" dirty="0"/>
          </a:p>
        </p:txBody>
      </p:sp>
      <p:sp>
        <p:nvSpPr>
          <p:cNvPr id="18" name="文本框 17"/>
          <p:cNvSpPr txBox="1"/>
          <p:nvPr/>
        </p:nvSpPr>
        <p:spPr>
          <a:xfrm>
            <a:off x="6676807"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决策</a:t>
            </a:r>
            <a:endParaRPr lang="zh-CN" altLang="en-US" dirty="0"/>
          </a:p>
        </p:txBody>
      </p:sp>
      <p:sp>
        <p:nvSpPr>
          <p:cNvPr id="19" name="文本框 18"/>
          <p:cNvSpPr txBox="1"/>
          <p:nvPr/>
        </p:nvSpPr>
        <p:spPr>
          <a:xfrm>
            <a:off x="9775956"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控制</a:t>
            </a:r>
            <a:endParaRPr lang="zh-CN" altLang="en-US" dirty="0"/>
          </a:p>
        </p:txBody>
      </p:sp>
      <p:sp>
        <p:nvSpPr>
          <p:cNvPr id="20" name="文本框 19"/>
          <p:cNvSpPr txBox="1"/>
          <p:nvPr/>
        </p:nvSpPr>
        <p:spPr>
          <a:xfrm>
            <a:off x="7734299" y="4614628"/>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面向</a:t>
            </a:r>
            <a:endParaRPr lang="zh-CN" altLang="en-US" dirty="0"/>
          </a:p>
        </p:txBody>
      </p:sp>
      <p:sp>
        <p:nvSpPr>
          <p:cNvPr id="23" name="文本框 22"/>
          <p:cNvSpPr txBox="1"/>
          <p:nvPr/>
        </p:nvSpPr>
        <p:spPr>
          <a:xfrm>
            <a:off x="7667159" y="1518843"/>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呈现</a:t>
            </a:r>
            <a:endParaRPr lang="zh-CN" altLang="en-US" dirty="0"/>
          </a:p>
        </p:txBody>
      </p:sp>
      <p:sp>
        <p:nvSpPr>
          <p:cNvPr id="21" name="矩形 20"/>
          <p:cNvSpPr/>
          <p:nvPr/>
        </p:nvSpPr>
        <p:spPr>
          <a:xfrm>
            <a:off x="0" y="2284873"/>
            <a:ext cx="12192000" cy="23115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400" b="1" dirty="0" smtClean="0">
                <a:solidFill>
                  <a:srgbClr val="FFFF00"/>
                </a:solidFill>
              </a:rPr>
              <a:t>网络大脑是一个以数据为驱动的，结合人工智能算法与自动化技术，充分挖掘数据价值、解放人力、改变传统网络运维模式的网络智能管理中枢。</a:t>
            </a:r>
            <a:endParaRPr lang="zh-CN" altLang="en-US" sz="2400" b="1" dirty="0">
              <a:solidFill>
                <a:srgbClr val="FFFF00"/>
              </a:solidFill>
            </a:endParaRPr>
          </a:p>
        </p:txBody>
      </p:sp>
    </p:spTree>
    <p:extLst>
      <p:ext uri="{BB962C8B-B14F-4D97-AF65-F5344CB8AC3E}">
        <p14:creationId xmlns:p14="http://schemas.microsoft.com/office/powerpoint/2010/main" val="8352885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15"/>
                                        </p:tgtEl>
                                        <p:attrNameLst>
                                          <p:attrName>ppt_w</p:attrName>
                                        </p:attrNameLst>
                                      </p:cBhvr>
                                      <p:tavLst>
                                        <p:tav tm="0">
                                          <p:val>
                                            <p:strVal val="ppt_w"/>
                                          </p:val>
                                        </p:tav>
                                        <p:tav tm="100000">
                                          <p:val>
                                            <p:fltVal val="0"/>
                                          </p:val>
                                        </p:tav>
                                      </p:tavLst>
                                    </p:anim>
                                    <p:anim calcmode="lin" valueType="num">
                                      <p:cBhvr>
                                        <p:cTn id="7" dur="500"/>
                                        <p:tgtEl>
                                          <p:spTgt spid="15"/>
                                        </p:tgtEl>
                                        <p:attrNameLst>
                                          <p:attrName>ppt_h</p:attrName>
                                        </p:attrNameLst>
                                      </p:cBhvr>
                                      <p:tavLst>
                                        <p:tav tm="0">
                                          <p:val>
                                            <p:strVal val="ppt_h"/>
                                          </p:val>
                                        </p:tav>
                                        <p:tav tm="100000">
                                          <p:val>
                                            <p:fltVal val="0"/>
                                          </p:val>
                                        </p:tav>
                                      </p:tavLst>
                                    </p:anim>
                                    <p:animEffect transition="out" filter="fade">
                                      <p:cBhvr>
                                        <p:cTn id="8" dur="500"/>
                                        <p:tgtEl>
                                          <p:spTgt spid="15"/>
                                        </p:tgtEl>
                                      </p:cBhvr>
                                    </p:animEffect>
                                    <p:set>
                                      <p:cBhvr>
                                        <p:cTn id="9" dur="1" fill="hold">
                                          <p:stCondLst>
                                            <p:cond delay="499"/>
                                          </p:stCondLst>
                                        </p:cTn>
                                        <p:tgtEl>
                                          <p:spTgt spid="15"/>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down)">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xit" presetSubtype="32" fill="hold" grpId="0" nodeType="clickEffect">
                                  <p:stCondLst>
                                    <p:cond delay="0"/>
                                  </p:stCondLst>
                                  <p:childTnLst>
                                    <p:anim calcmode="lin" valueType="num">
                                      <p:cBhvr>
                                        <p:cTn id="30" dur="500"/>
                                        <p:tgtEl>
                                          <p:spTgt spid="16"/>
                                        </p:tgtEl>
                                        <p:attrNameLst>
                                          <p:attrName>ppt_w</p:attrName>
                                        </p:attrNameLst>
                                      </p:cBhvr>
                                      <p:tavLst>
                                        <p:tav tm="0">
                                          <p:val>
                                            <p:strVal val="ppt_w"/>
                                          </p:val>
                                        </p:tav>
                                        <p:tav tm="100000">
                                          <p:val>
                                            <p:fltVal val="0"/>
                                          </p:val>
                                        </p:tav>
                                      </p:tavLst>
                                    </p:anim>
                                    <p:anim calcmode="lin" valueType="num">
                                      <p:cBhvr>
                                        <p:cTn id="31" dur="500"/>
                                        <p:tgtEl>
                                          <p:spTgt spid="16"/>
                                        </p:tgtEl>
                                        <p:attrNameLst>
                                          <p:attrName>ppt_h</p:attrName>
                                        </p:attrNameLst>
                                      </p:cBhvr>
                                      <p:tavLst>
                                        <p:tav tm="0">
                                          <p:val>
                                            <p:strVal val="ppt_h"/>
                                          </p:val>
                                        </p:tav>
                                        <p:tav tm="100000">
                                          <p:val>
                                            <p:fltVal val="0"/>
                                          </p:val>
                                        </p:tav>
                                      </p:tavLst>
                                    </p:anim>
                                    <p:animEffect transition="out" filter="fade">
                                      <p:cBhvr>
                                        <p:cTn id="32" dur="500"/>
                                        <p:tgtEl>
                                          <p:spTgt spid="16"/>
                                        </p:tgtEl>
                                      </p:cBhvr>
                                    </p:animEffect>
                                    <p:set>
                                      <p:cBhvr>
                                        <p:cTn id="33" dur="1" fill="hold">
                                          <p:stCondLst>
                                            <p:cond delay="499"/>
                                          </p:stCondLst>
                                        </p:cTn>
                                        <p:tgtEl>
                                          <p:spTgt spid="16"/>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down)">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xit" presetSubtype="32" fill="hold" grpId="0" nodeType="clickEffect">
                                  <p:stCondLst>
                                    <p:cond delay="0"/>
                                  </p:stCondLst>
                                  <p:childTnLst>
                                    <p:anim calcmode="lin" valueType="num">
                                      <p:cBhvr>
                                        <p:cTn id="47" dur="500"/>
                                        <p:tgtEl>
                                          <p:spTgt spid="13"/>
                                        </p:tgtEl>
                                        <p:attrNameLst>
                                          <p:attrName>ppt_w</p:attrName>
                                        </p:attrNameLst>
                                      </p:cBhvr>
                                      <p:tavLst>
                                        <p:tav tm="0">
                                          <p:val>
                                            <p:strVal val="ppt_w"/>
                                          </p:val>
                                        </p:tav>
                                        <p:tav tm="100000">
                                          <p:val>
                                            <p:fltVal val="0"/>
                                          </p:val>
                                        </p:tav>
                                      </p:tavLst>
                                    </p:anim>
                                    <p:anim calcmode="lin" valueType="num">
                                      <p:cBhvr>
                                        <p:cTn id="48" dur="500"/>
                                        <p:tgtEl>
                                          <p:spTgt spid="13"/>
                                        </p:tgtEl>
                                        <p:attrNameLst>
                                          <p:attrName>ppt_h</p:attrName>
                                        </p:attrNameLst>
                                      </p:cBhvr>
                                      <p:tavLst>
                                        <p:tav tm="0">
                                          <p:val>
                                            <p:strVal val="ppt_h"/>
                                          </p:val>
                                        </p:tav>
                                        <p:tav tm="100000">
                                          <p:val>
                                            <p:fltVal val="0"/>
                                          </p:val>
                                        </p:tav>
                                      </p:tavLst>
                                    </p:anim>
                                    <p:animEffect transition="out" filter="fade">
                                      <p:cBhvr>
                                        <p:cTn id="49" dur="500"/>
                                        <p:tgtEl>
                                          <p:spTgt spid="13"/>
                                        </p:tgtEl>
                                      </p:cBhvr>
                                    </p:animEffect>
                                    <p:set>
                                      <p:cBhvr>
                                        <p:cTn id="50" dur="1" fill="hold">
                                          <p:stCondLst>
                                            <p:cond delay="499"/>
                                          </p:stCondLst>
                                        </p:cTn>
                                        <p:tgtEl>
                                          <p:spTgt spid="1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down)">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32" fill="hold" grpId="0" nodeType="clickEffect">
                                  <p:stCondLst>
                                    <p:cond delay="0"/>
                                  </p:stCondLst>
                                  <p:childTnLst>
                                    <p:anim calcmode="lin" valueType="num">
                                      <p:cBhvr>
                                        <p:cTn id="59" dur="500"/>
                                        <p:tgtEl>
                                          <p:spTgt spid="14"/>
                                        </p:tgtEl>
                                        <p:attrNameLst>
                                          <p:attrName>ppt_w</p:attrName>
                                        </p:attrNameLst>
                                      </p:cBhvr>
                                      <p:tavLst>
                                        <p:tav tm="0">
                                          <p:val>
                                            <p:strVal val="ppt_w"/>
                                          </p:val>
                                        </p:tav>
                                        <p:tav tm="100000">
                                          <p:val>
                                            <p:fltVal val="0"/>
                                          </p:val>
                                        </p:tav>
                                      </p:tavLst>
                                    </p:anim>
                                    <p:anim calcmode="lin" valueType="num">
                                      <p:cBhvr>
                                        <p:cTn id="60" dur="500"/>
                                        <p:tgtEl>
                                          <p:spTgt spid="14"/>
                                        </p:tgtEl>
                                        <p:attrNameLst>
                                          <p:attrName>ppt_h</p:attrName>
                                        </p:attrNameLst>
                                      </p:cBhvr>
                                      <p:tavLst>
                                        <p:tav tm="0">
                                          <p:val>
                                            <p:strVal val="ppt_h"/>
                                          </p:val>
                                        </p:tav>
                                        <p:tav tm="100000">
                                          <p:val>
                                            <p:fltVal val="0"/>
                                          </p:val>
                                        </p:tav>
                                      </p:tavLst>
                                    </p:anim>
                                    <p:animEffect transition="out" filter="fade">
                                      <p:cBhvr>
                                        <p:cTn id="61" dur="500"/>
                                        <p:tgtEl>
                                          <p:spTgt spid="14"/>
                                        </p:tgtEl>
                                      </p:cBhvr>
                                    </p:animEffect>
                                    <p:set>
                                      <p:cBhvr>
                                        <p:cTn id="62" dur="1" fill="hold">
                                          <p:stCondLst>
                                            <p:cond delay="499"/>
                                          </p:stCondLst>
                                        </p:cTn>
                                        <p:tgtEl>
                                          <p:spTgt spid="1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1" grpId="0" animBg="1"/>
      <p:bldP spid="18" grpId="0" animBg="1"/>
      <p:bldP spid="19" grpId="0" animBg="1"/>
      <p:bldP spid="20" grpId="0" animBg="1"/>
      <p:bldP spid="23"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sp>
        <p:nvSpPr>
          <p:cNvPr id="3" name="矩形 2"/>
          <p:cNvSpPr/>
          <p:nvPr/>
        </p:nvSpPr>
        <p:spPr>
          <a:xfrm>
            <a:off x="1329324" y="2323974"/>
            <a:ext cx="2266765"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项目目标</a:t>
            </a:r>
            <a:endParaRPr lang="zh-CN" altLang="en-US" sz="3200" b="1" dirty="0"/>
          </a:p>
        </p:txBody>
      </p:sp>
      <p:sp>
        <p:nvSpPr>
          <p:cNvPr id="4" name="矩形 3"/>
          <p:cNvSpPr/>
          <p:nvPr/>
        </p:nvSpPr>
        <p:spPr>
          <a:xfrm>
            <a:off x="1329324" y="3244537"/>
            <a:ext cx="3486247" cy="678261"/>
          </a:xfrm>
          <a:prstGeom prst="rect">
            <a:avLst/>
          </a:prstGeom>
        </p:spPr>
        <p:txBody>
          <a:bodyPr wrap="square" lIns="68570" tIns="34289" rIns="68570" bIns="34289">
            <a:spAutoFit/>
          </a:bodyPr>
          <a:lstStyle/>
          <a:p>
            <a:pPr defTabSz="685165">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展现珠海网络情况、能力</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defTabSz="685165">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实现珠海网络智慧运维</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5" name="矩形 4"/>
          <p:cNvSpPr/>
          <p:nvPr/>
        </p:nvSpPr>
        <p:spPr>
          <a:xfrm>
            <a:off x="8962730" y="2323974"/>
            <a:ext cx="2266765" cy="613356"/>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平台功能</a:t>
            </a:r>
            <a:endParaRPr lang="zh-CN" altLang="en-US" sz="3200" b="1" dirty="0"/>
          </a:p>
        </p:txBody>
      </p:sp>
      <p:sp>
        <p:nvSpPr>
          <p:cNvPr id="6" name="矩形 5"/>
          <p:cNvSpPr/>
          <p:nvPr/>
        </p:nvSpPr>
        <p:spPr>
          <a:xfrm>
            <a:off x="4896875" y="2323974"/>
            <a:ext cx="2266765"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平台面向</a:t>
            </a:r>
            <a:endParaRPr lang="zh-CN" altLang="en-US" sz="3200" b="1" dirty="0"/>
          </a:p>
        </p:txBody>
      </p:sp>
      <p:sp>
        <p:nvSpPr>
          <p:cNvPr id="7" name="矩形 6"/>
          <p:cNvSpPr/>
          <p:nvPr/>
        </p:nvSpPr>
        <p:spPr>
          <a:xfrm>
            <a:off x="4986972" y="3119512"/>
            <a:ext cx="2218055" cy="166687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领导</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外部</a:t>
            </a: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人员等</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8" name="矩形 7"/>
          <p:cNvSpPr/>
          <p:nvPr/>
        </p:nvSpPr>
        <p:spPr>
          <a:xfrm>
            <a:off x="8296927" y="3374976"/>
            <a:ext cx="3598370" cy="134683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实时直观感知网络状态</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快速确切获取网络参数</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智能精准挖掘有效信息</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高效规范管理网络运维</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2869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FF0000"/>
                </a:solidFill>
                <a:latin typeface="微软雅黑" panose="020B0503020204020204" pitchFamily="34" charset="-122"/>
                <a:ea typeface="微软雅黑" panose="020B0503020204020204" pitchFamily="34" charset="-122"/>
              </a:rPr>
              <a:t>平台应用</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技术实现</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具体安排</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076190"/>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410981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平台应用</a:t>
            </a:r>
            <a:r>
              <a:rPr lang="en-US" altLang="zh-CN" sz="3200" b="1" dirty="0" smtClean="0">
                <a:latin typeface="微软雅黑" panose="020B0503020204020204" pitchFamily="34" charset="-122"/>
                <a:ea typeface="微软雅黑" panose="020B0503020204020204" pitchFamily="34" charset="-122"/>
              </a:rPr>
              <a:t>-</a:t>
            </a:r>
            <a:r>
              <a:rPr lang="zh-CN" altLang="en-US" sz="3200" b="1" dirty="0" smtClean="0">
                <a:latin typeface="微软雅黑" panose="020B0503020204020204" pitchFamily="34" charset="-122"/>
                <a:ea typeface="微软雅黑" panose="020B0503020204020204" pitchFamily="34" charset="-122"/>
              </a:rPr>
              <a:t>网络全景图</a:t>
            </a:r>
            <a:r>
              <a:rPr lang="en-US" altLang="zh-CN" sz="3200" b="1" dirty="0" smtClean="0">
                <a:latin typeface="微软雅黑" panose="020B0503020204020204" pitchFamily="34" charset="-122"/>
                <a:ea typeface="微软雅黑" panose="020B0503020204020204" pitchFamily="34" charset="-122"/>
              </a:rPr>
              <a:t> </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24113" y="896821"/>
            <a:ext cx="8058150" cy="463588"/>
          </a:xfrm>
          <a:prstGeom prst="rect">
            <a:avLst/>
          </a:prstGeom>
          <a:noFill/>
        </p:spPr>
        <p:txBody>
          <a:bodyPr wrap="square" rtlCol="0">
            <a:spAutoFit/>
          </a:bodyPr>
          <a:lstStyle/>
          <a:p>
            <a:pPr indent="457200">
              <a:lnSpc>
                <a:spcPct val="150000"/>
              </a:lnSpc>
            </a:pPr>
            <a:r>
              <a:rPr lang="zh-CN" altLang="en-US" dirty="0" smtClean="0"/>
              <a:t>驾驶舱简介</a:t>
            </a:r>
            <a:endParaRPr lang="zh-CN" altLang="en-US" dirty="0"/>
          </a:p>
        </p:txBody>
      </p:sp>
      <p:sp>
        <p:nvSpPr>
          <p:cNvPr id="3" name="文本框 2"/>
          <p:cNvSpPr txBox="1"/>
          <p:nvPr/>
        </p:nvSpPr>
        <p:spPr>
          <a:xfrm>
            <a:off x="624113" y="1562100"/>
            <a:ext cx="4732019"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全局总览，整体把控</a:t>
            </a:r>
            <a:endParaRPr lang="en-US" altLang="zh-CN" dirty="0" smtClean="0"/>
          </a:p>
          <a:p>
            <a:pPr marL="285750" indent="285750">
              <a:lnSpc>
                <a:spcPct val="150000"/>
              </a:lnSpc>
              <a:buFont typeface="Arial" panose="020B0604020202020204" pitchFamily="34" charset="0"/>
              <a:buChar char="•"/>
            </a:pPr>
            <a:endParaRPr lang="zh-CN" altLang="en-US" dirty="0"/>
          </a:p>
        </p:txBody>
      </p:sp>
      <p:pic>
        <p:nvPicPr>
          <p:cNvPr id="7" name="图片 6"/>
          <p:cNvPicPr>
            <a:picLocks noChangeAspect="1"/>
          </p:cNvPicPr>
          <p:nvPr/>
        </p:nvPicPr>
        <p:blipFill>
          <a:blip r:embed="rId2"/>
          <a:stretch>
            <a:fillRect/>
          </a:stretch>
        </p:blipFill>
        <p:spPr>
          <a:xfrm>
            <a:off x="1570875" y="2023765"/>
            <a:ext cx="9459076" cy="4373346"/>
          </a:xfrm>
          <a:prstGeom prst="rect">
            <a:avLst/>
          </a:prstGeom>
        </p:spPr>
      </p:pic>
    </p:spTree>
    <p:extLst>
      <p:ext uri="{BB962C8B-B14F-4D97-AF65-F5344CB8AC3E}">
        <p14:creationId xmlns:p14="http://schemas.microsoft.com/office/powerpoint/2010/main" val="4224749760"/>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3819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平台应用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智慧化网络运维（</a:t>
            </a:r>
            <a:r>
              <a:rPr lang="en-US" altLang="zh-CN" sz="2400" b="1" dirty="0" err="1">
                <a:latin typeface="微软雅黑" panose="020B0503020204020204" pitchFamily="34" charset="-122"/>
                <a:ea typeface="微软雅黑" panose="020B0503020204020204" pitchFamily="34" charset="-122"/>
              </a:rPr>
              <a:t>AIOps</a:t>
            </a:r>
            <a:r>
              <a:rPr lang="zh-CN" altLang="en-US" sz="2400" b="1" dirty="0">
                <a:latin typeface="微软雅黑" panose="020B0503020204020204" pitchFamily="34" charset="-122"/>
                <a:ea typeface="微软雅黑" panose="020B0503020204020204" pitchFamily="34" charset="-122"/>
              </a:rPr>
              <a:t>）</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en-US" altLang="zh-CN" sz="2400" dirty="0" smtClean="0"/>
          </a:p>
        </p:txBody>
      </p:sp>
      <p:sp>
        <p:nvSpPr>
          <p:cNvPr id="7" name="上箭头 6"/>
          <p:cNvSpPr/>
          <p:nvPr/>
        </p:nvSpPr>
        <p:spPr>
          <a:xfrm rot="5400000">
            <a:off x="3764643" y="1516011"/>
            <a:ext cx="490764" cy="1143000"/>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7955" y="1494294"/>
            <a:ext cx="490764" cy="1190625"/>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2" name="文本框 31"/>
          <p:cNvSpPr txBox="1"/>
          <p:nvPr/>
        </p:nvSpPr>
        <p:spPr>
          <a:xfrm>
            <a:off x="7862311" y="3630237"/>
            <a:ext cx="4082039" cy="2031325"/>
          </a:xfrm>
          <a:prstGeom prst="rect">
            <a:avLst/>
          </a:prstGeom>
          <a:noFill/>
        </p:spPr>
        <p:txBody>
          <a:bodyPr wrap="square" rtlCol="0">
            <a:spAutoFit/>
          </a:bodyPr>
          <a:lstStyle/>
          <a:p>
            <a:pPr indent="457200">
              <a:lnSpc>
                <a:spcPct val="150000"/>
              </a:lnSpc>
            </a:pPr>
            <a:r>
              <a:rPr lang="zh-CN" altLang="en-US" sz="1400" dirty="0" smtClean="0"/>
              <a:t>新的挑战：</a:t>
            </a:r>
            <a:endParaRPr lang="en-US" altLang="zh-CN" sz="1400" dirty="0" smtClean="0"/>
          </a:p>
          <a:p>
            <a:pPr marL="285750" indent="-285750">
              <a:lnSpc>
                <a:spcPct val="150000"/>
              </a:lnSpc>
              <a:buFont typeface="Arial" panose="020B0604020202020204" pitchFamily="34" charset="0"/>
              <a:buChar char="•"/>
            </a:pPr>
            <a:r>
              <a:rPr lang="zh-CN" altLang="en-US" sz="1400" dirty="0" smtClean="0"/>
              <a:t>海量监测</a:t>
            </a:r>
            <a:r>
              <a:rPr lang="en-US" altLang="zh-CN" sz="1400" dirty="0" smtClean="0"/>
              <a:t>KPI</a:t>
            </a:r>
            <a:r>
              <a:rPr lang="zh-CN" altLang="en-US" sz="1400" dirty="0" smtClean="0"/>
              <a:t>如何快速发现异常（带宽利用率、</a:t>
            </a:r>
            <a:r>
              <a:rPr lang="en-US" altLang="zh-CN" sz="1400" dirty="0" smtClean="0"/>
              <a:t>CPU</a:t>
            </a:r>
            <a:r>
              <a:rPr lang="zh-CN" altLang="en-US" sz="1400" dirty="0" smtClean="0"/>
              <a:t>利用率、家宽用户数等）</a:t>
            </a:r>
            <a:endParaRPr lang="en-US" altLang="zh-CN" sz="1400" dirty="0" smtClean="0"/>
          </a:p>
          <a:p>
            <a:pPr marL="285750" indent="-285750">
              <a:lnSpc>
                <a:spcPct val="150000"/>
              </a:lnSpc>
              <a:buFont typeface="Arial" panose="020B0604020202020204" pitchFamily="34" charset="0"/>
              <a:buChar char="•"/>
            </a:pPr>
            <a:r>
              <a:rPr lang="zh-CN" altLang="en-US" sz="1400" dirty="0" smtClean="0"/>
              <a:t>繁杂的报警信息（硬件设备、传输、环境、性能）</a:t>
            </a:r>
            <a:endParaRPr lang="en-US" altLang="zh-CN" sz="1400" dirty="0" smtClean="0">
              <a:solidFill>
                <a:srgbClr val="FF0000"/>
              </a:solidFill>
            </a:endParaRPr>
          </a:p>
          <a:p>
            <a:pPr marL="285750" indent="-285750">
              <a:lnSpc>
                <a:spcPct val="150000"/>
              </a:lnSpc>
              <a:buFont typeface="Arial" panose="020B0604020202020204" pitchFamily="34" charset="0"/>
              <a:buChar char="•"/>
            </a:pPr>
            <a:r>
              <a:rPr lang="zh-CN" altLang="en-US" sz="1400" dirty="0" smtClean="0"/>
              <a:t>故障发生如何定位（线网组成复杂）</a:t>
            </a:r>
            <a:endParaRPr lang="en-US" altLang="zh-CN" sz="1400" dirty="0" smtClean="0">
              <a:solidFill>
                <a:srgbClr val="FF0000"/>
              </a:solidFill>
            </a:endParaRPr>
          </a:p>
        </p:txBody>
      </p:sp>
      <p:sp>
        <p:nvSpPr>
          <p:cNvPr id="9" name="下箭头 8"/>
          <p:cNvSpPr/>
          <p:nvPr/>
        </p:nvSpPr>
        <p:spPr>
          <a:xfrm rot="10800000">
            <a:off x="9326889" y="2758525"/>
            <a:ext cx="576441" cy="681246"/>
          </a:xfrm>
          <a:prstGeom prst="downArrow">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9740190" y="3035382"/>
            <a:ext cx="729031" cy="369332"/>
          </a:xfrm>
          <a:prstGeom prst="rect">
            <a:avLst/>
          </a:prstGeom>
          <a:noFill/>
        </p:spPr>
        <p:txBody>
          <a:bodyPr wrap="square" rtlCol="0">
            <a:spAutoFit/>
          </a:bodyPr>
          <a:lstStyle/>
          <a:p>
            <a:r>
              <a:rPr lang="zh-CN" altLang="en-US" dirty="0" smtClean="0"/>
              <a:t>需要</a:t>
            </a:r>
            <a:endParaRPr lang="zh-CN" altLang="en-US" dirty="0"/>
          </a:p>
        </p:txBody>
      </p:sp>
      <p:sp>
        <p:nvSpPr>
          <p:cNvPr id="12" name="文本框 11"/>
          <p:cNvSpPr txBox="1"/>
          <p:nvPr/>
        </p:nvSpPr>
        <p:spPr>
          <a:xfrm>
            <a:off x="805867" y="3076086"/>
            <a:ext cx="2850935" cy="215335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solidFill>
                  <a:srgbClr val="A27B00"/>
                </a:solidFill>
              </a:rPr>
              <a:t>手动运维工作</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准确率及效率低下</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重复性劳动</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个人经验驱动</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人力资源耗费</a:t>
            </a:r>
            <a:endParaRPr lang="en-US" altLang="zh-CN" dirty="0" smtClean="0">
              <a:solidFill>
                <a:srgbClr val="A27B00"/>
              </a:solidFill>
            </a:endParaRPr>
          </a:p>
        </p:txBody>
      </p:sp>
      <p:sp>
        <p:nvSpPr>
          <p:cNvPr id="24" name="文本框 23"/>
          <p:cNvSpPr txBox="1"/>
          <p:nvPr/>
        </p:nvSpPr>
        <p:spPr>
          <a:xfrm>
            <a:off x="770681" y="843119"/>
            <a:ext cx="3944865" cy="369332"/>
          </a:xfrm>
          <a:prstGeom prst="rect">
            <a:avLst/>
          </a:prstGeom>
          <a:noFill/>
        </p:spPr>
        <p:txBody>
          <a:bodyPr wrap="square" rtlCol="0">
            <a:spAutoFit/>
          </a:bodyPr>
          <a:lstStyle/>
          <a:p>
            <a:r>
              <a:rPr lang="zh-CN" altLang="en-US" dirty="0">
                <a:solidFill>
                  <a:srgbClr val="333F50"/>
                </a:solidFill>
              </a:rPr>
              <a:t>运</a:t>
            </a:r>
            <a:r>
              <a:rPr lang="zh-CN" altLang="en-US" dirty="0" smtClean="0">
                <a:solidFill>
                  <a:srgbClr val="333F50"/>
                </a:solidFill>
              </a:rPr>
              <a:t>维发展方向</a:t>
            </a:r>
            <a:endParaRPr lang="zh-CN" altLang="en-US" dirty="0">
              <a:solidFill>
                <a:srgbClr val="333F50"/>
              </a:solidFill>
            </a:endParaRPr>
          </a:p>
        </p:txBody>
      </p:sp>
      <p:sp>
        <p:nvSpPr>
          <p:cNvPr id="11" name="矩形 10"/>
          <p:cNvSpPr/>
          <p:nvPr/>
        </p:nvSpPr>
        <p:spPr>
          <a:xfrm>
            <a:off x="3418323" y="1537206"/>
            <a:ext cx="1107996" cy="369332"/>
          </a:xfrm>
          <a:prstGeom prst="rect">
            <a:avLst/>
          </a:prstGeom>
        </p:spPr>
        <p:txBody>
          <a:bodyPr wrap="none">
            <a:spAutoFit/>
          </a:bodyPr>
          <a:lstStyle/>
          <a:p>
            <a:r>
              <a:rPr lang="zh-CN" altLang="en-US" dirty="0">
                <a:solidFill>
                  <a:srgbClr val="333F50"/>
                </a:solidFill>
              </a:rPr>
              <a:t>系统辅助</a:t>
            </a:r>
          </a:p>
        </p:txBody>
      </p:sp>
      <p:sp>
        <p:nvSpPr>
          <p:cNvPr id="25" name="矩形 24"/>
          <p:cNvSpPr/>
          <p:nvPr/>
        </p:nvSpPr>
        <p:spPr>
          <a:xfrm>
            <a:off x="7050417" y="1537206"/>
            <a:ext cx="1107996" cy="369332"/>
          </a:xfrm>
          <a:prstGeom prst="rect">
            <a:avLst/>
          </a:prstGeom>
        </p:spPr>
        <p:txBody>
          <a:bodyPr wrap="none">
            <a:spAutoFit/>
          </a:bodyPr>
          <a:lstStyle/>
          <a:p>
            <a:r>
              <a:rPr lang="zh-CN" altLang="en-US" dirty="0" smtClean="0">
                <a:solidFill>
                  <a:srgbClr val="333F50"/>
                </a:solidFill>
              </a:rPr>
              <a:t>智能学习</a:t>
            </a:r>
            <a:endParaRPr lang="zh-CN" altLang="en-US" dirty="0">
              <a:solidFill>
                <a:srgbClr val="333F50"/>
              </a:solidFill>
            </a:endParaRPr>
          </a:p>
        </p:txBody>
      </p:sp>
      <p:sp>
        <p:nvSpPr>
          <p:cNvPr id="26" name="文本框 25"/>
          <p:cNvSpPr txBox="1"/>
          <p:nvPr/>
        </p:nvSpPr>
        <p:spPr>
          <a:xfrm>
            <a:off x="4408018" y="3075226"/>
            <a:ext cx="2850935"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提高工作效率、质量</a:t>
            </a:r>
            <a:endParaRPr lang="en-US" altLang="zh-CN" dirty="0" smtClean="0"/>
          </a:p>
          <a:p>
            <a:pPr marL="285750" indent="285750">
              <a:lnSpc>
                <a:spcPct val="150000"/>
              </a:lnSpc>
              <a:buFont typeface="Arial" panose="020B0604020202020204" pitchFamily="34" charset="0"/>
              <a:buChar char="•"/>
            </a:pPr>
            <a:r>
              <a:rPr lang="zh-CN" altLang="en-US" dirty="0" smtClean="0"/>
              <a:t>重复工作流程自动化</a:t>
            </a:r>
            <a:endParaRPr lang="en-US" altLang="zh-CN" dirty="0" smtClean="0"/>
          </a:p>
          <a:p>
            <a:pPr marL="285750" indent="285750">
              <a:lnSpc>
                <a:spcPct val="150000"/>
              </a:lnSpc>
              <a:buFont typeface="Arial" panose="020B0604020202020204" pitchFamily="34" charset="0"/>
              <a:buChar char="•"/>
            </a:pPr>
            <a:r>
              <a:rPr lang="zh-CN" altLang="en-US" dirty="0" smtClean="0"/>
              <a:t>解决人员及流程问题</a:t>
            </a:r>
            <a:endParaRPr lang="en-US" altLang="zh-CN" dirty="0" smtClean="0"/>
          </a:p>
          <a:p>
            <a:pPr marL="285750" indent="285750">
              <a:lnSpc>
                <a:spcPct val="150000"/>
              </a:lnSpc>
              <a:buFont typeface="Arial" panose="020B0604020202020204" pitchFamily="34" charset="0"/>
              <a:buChar char="•"/>
            </a:pPr>
            <a:r>
              <a:rPr lang="zh-CN" altLang="en-US" dirty="0">
                <a:solidFill>
                  <a:srgbClr val="A27B00"/>
                </a:solidFill>
              </a:rPr>
              <a:t>无法自动适应新问题</a:t>
            </a:r>
            <a:endParaRPr lang="en-US" altLang="zh-CN" dirty="0">
              <a:solidFill>
                <a:srgbClr val="A27B00"/>
              </a:solidFill>
            </a:endParaRPr>
          </a:p>
          <a:p>
            <a:pPr marL="285750" indent="285750">
              <a:lnSpc>
                <a:spcPct val="150000"/>
              </a:lnSpc>
              <a:buFont typeface="Arial" panose="020B0604020202020204" pitchFamily="34" charset="0"/>
              <a:buChar char="•"/>
            </a:pPr>
            <a:r>
              <a:rPr lang="zh-CN" altLang="en-US" dirty="0">
                <a:solidFill>
                  <a:srgbClr val="A27B00"/>
                </a:solidFill>
              </a:rPr>
              <a:t>无法挖掘数据关联性</a:t>
            </a:r>
            <a:endParaRPr lang="en-US" altLang="zh-CN" dirty="0">
              <a:solidFill>
                <a:srgbClr val="A27B00"/>
              </a:solidFill>
            </a:endParaRPr>
          </a:p>
        </p:txBody>
      </p:sp>
      <p:sp>
        <p:nvSpPr>
          <p:cNvPr id="22" name="矩形 21"/>
          <p:cNvSpPr/>
          <p:nvPr/>
        </p:nvSpPr>
        <p:spPr>
          <a:xfrm>
            <a:off x="219075" y="421605"/>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400" b="1" dirty="0">
                <a:solidFill>
                  <a:srgbClr val="FFFF00"/>
                </a:solidFill>
              </a:rPr>
              <a:t>在自动化运维的基础上，</a:t>
            </a:r>
            <a:r>
              <a:rPr lang="zh-CN" altLang="zh-CN" sz="2400" b="1" dirty="0">
                <a:solidFill>
                  <a:srgbClr val="FFFF00"/>
                </a:solidFill>
              </a:rPr>
              <a:t>通过人工智能的方式，进一步提升运维效率，包括运维决策、</a:t>
            </a:r>
            <a:r>
              <a:rPr lang="zh-CN" altLang="zh-CN" sz="2400" b="1" dirty="0" smtClean="0">
                <a:solidFill>
                  <a:srgbClr val="FFFF00"/>
                </a:solidFill>
              </a:rPr>
              <a:t>故障</a:t>
            </a:r>
            <a:r>
              <a:rPr lang="zh-CN" altLang="en-US" sz="2400" b="1" dirty="0" smtClean="0">
                <a:solidFill>
                  <a:srgbClr val="FFFF00"/>
                </a:solidFill>
              </a:rPr>
              <a:t>处理</a:t>
            </a:r>
            <a:r>
              <a:rPr lang="zh-CN" altLang="zh-CN" sz="2400" b="1" dirty="0" smtClean="0">
                <a:solidFill>
                  <a:srgbClr val="FFFF00"/>
                </a:solidFill>
              </a:rPr>
              <a:t>和</a:t>
            </a:r>
            <a:r>
              <a:rPr lang="zh-CN" altLang="en-US" sz="2400" b="1" dirty="0" smtClean="0">
                <a:solidFill>
                  <a:srgbClr val="FFFF00"/>
                </a:solidFill>
              </a:rPr>
              <a:t>数据</a:t>
            </a:r>
            <a:r>
              <a:rPr lang="zh-CN" altLang="zh-CN" sz="2400" b="1" dirty="0" smtClean="0">
                <a:solidFill>
                  <a:srgbClr val="FFFF00"/>
                </a:solidFill>
              </a:rPr>
              <a:t>分析</a:t>
            </a:r>
            <a:r>
              <a:rPr lang="zh-CN" altLang="zh-CN" sz="2400" b="1" dirty="0">
                <a:solidFill>
                  <a:srgbClr val="FFFF00"/>
                </a:solidFill>
              </a:rPr>
              <a:t>等</a:t>
            </a:r>
            <a:endParaRPr lang="zh-CN" altLang="en-US" sz="2400" b="1" dirty="0">
              <a:solidFill>
                <a:srgbClr val="FFFF00"/>
              </a:solidFill>
            </a:endParaRPr>
          </a:p>
        </p:txBody>
      </p:sp>
    </p:spTree>
    <p:extLst>
      <p:ext uri="{BB962C8B-B14F-4D97-AF65-F5344CB8AC3E}">
        <p14:creationId xmlns:p14="http://schemas.microsoft.com/office/powerpoint/2010/main" val="3862449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randombar(horizontal)">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1000"/>
                                        <p:tgtEl>
                                          <p:spTgt spid="9"/>
                                        </p:tgtEl>
                                      </p:cBhvr>
                                    </p:animEffect>
                                    <p:anim calcmode="lin" valueType="num">
                                      <p:cBhvr>
                                        <p:cTn id="38" dur="1000" fill="hold"/>
                                        <p:tgtEl>
                                          <p:spTgt spid="9"/>
                                        </p:tgtEl>
                                        <p:attrNameLst>
                                          <p:attrName>ppt_x</p:attrName>
                                        </p:attrNameLst>
                                      </p:cBhvr>
                                      <p:tavLst>
                                        <p:tav tm="0">
                                          <p:val>
                                            <p:strVal val="#ppt_x"/>
                                          </p:val>
                                        </p:tav>
                                        <p:tav tm="100000">
                                          <p:val>
                                            <p:strVal val="#ppt_x"/>
                                          </p:val>
                                        </p:tav>
                                      </p:tavLst>
                                    </p:anim>
                                    <p:anim calcmode="lin" valueType="num">
                                      <p:cBhvr>
                                        <p:cTn id="39" dur="1000" fill="hold"/>
                                        <p:tgtEl>
                                          <p:spTgt spid="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1000"/>
                                        <p:tgtEl>
                                          <p:spTgt spid="21"/>
                                        </p:tgtEl>
                                      </p:cBhvr>
                                    </p:animEffect>
                                    <p:anim calcmode="lin" valueType="num">
                                      <p:cBhvr>
                                        <p:cTn id="48" dur="1000" fill="hold"/>
                                        <p:tgtEl>
                                          <p:spTgt spid="21"/>
                                        </p:tgtEl>
                                        <p:attrNameLst>
                                          <p:attrName>ppt_x</p:attrName>
                                        </p:attrNameLst>
                                      </p:cBhvr>
                                      <p:tavLst>
                                        <p:tav tm="0">
                                          <p:val>
                                            <p:strVal val="#ppt_x"/>
                                          </p:val>
                                        </p:tav>
                                        <p:tav tm="100000">
                                          <p:val>
                                            <p:strVal val="#ppt_x"/>
                                          </p:val>
                                        </p:tav>
                                      </p:tavLst>
                                    </p:anim>
                                    <p:anim calcmode="lin" valueType="num">
                                      <p:cBhvr>
                                        <p:cTn id="49" dur="1000" fill="hold"/>
                                        <p:tgtEl>
                                          <p:spTgt spid="2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1000"/>
                                        <p:tgtEl>
                                          <p:spTgt spid="19"/>
                                        </p:tgtEl>
                                      </p:cBhvr>
                                    </p:animEffect>
                                    <p:anim calcmode="lin" valueType="num">
                                      <p:cBhvr>
                                        <p:cTn id="53" dur="1000" fill="hold"/>
                                        <p:tgtEl>
                                          <p:spTgt spid="19"/>
                                        </p:tgtEl>
                                        <p:attrNameLst>
                                          <p:attrName>ppt_x</p:attrName>
                                        </p:attrNameLst>
                                      </p:cBhvr>
                                      <p:tavLst>
                                        <p:tav tm="0">
                                          <p:val>
                                            <p:strVal val="#ppt_x"/>
                                          </p:val>
                                        </p:tav>
                                        <p:tav tm="100000">
                                          <p:val>
                                            <p:strVal val="#ppt_x"/>
                                          </p:val>
                                        </p:tav>
                                      </p:tavLst>
                                    </p:anim>
                                    <p:anim calcmode="lin" valueType="num">
                                      <p:cBhvr>
                                        <p:cTn id="54" dur="1000" fill="hold"/>
                                        <p:tgtEl>
                                          <p:spTgt spid="19"/>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1000"/>
                                        <p:tgtEl>
                                          <p:spTgt spid="25"/>
                                        </p:tgtEl>
                                      </p:cBhvr>
                                    </p:animEffect>
                                    <p:anim calcmode="lin" valueType="num">
                                      <p:cBhvr>
                                        <p:cTn id="58" dur="1000" fill="hold"/>
                                        <p:tgtEl>
                                          <p:spTgt spid="25"/>
                                        </p:tgtEl>
                                        <p:attrNameLst>
                                          <p:attrName>ppt_x</p:attrName>
                                        </p:attrNameLst>
                                      </p:cBhvr>
                                      <p:tavLst>
                                        <p:tav tm="0">
                                          <p:val>
                                            <p:strVal val="#ppt_x"/>
                                          </p:val>
                                        </p:tav>
                                        <p:tav tm="100000">
                                          <p:val>
                                            <p:strVal val="#ppt_x"/>
                                          </p:val>
                                        </p:tav>
                                      </p:tavLst>
                                    </p:anim>
                                    <p:anim calcmode="lin" valueType="num">
                                      <p:cBhvr>
                                        <p:cTn id="5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22"/>
                                        </p:tgtEl>
                                        <p:attrNameLst>
                                          <p:attrName>style.visibility</p:attrName>
                                        </p:attrNameLst>
                                      </p:cBhvr>
                                      <p:to>
                                        <p:strVal val="visible"/>
                                      </p:to>
                                    </p:set>
                                    <p:anim calcmode="lin" valueType="num">
                                      <p:cBhvr additive="base">
                                        <p:cTn id="64" dur="500" fill="hold"/>
                                        <p:tgtEl>
                                          <p:spTgt spid="22"/>
                                        </p:tgtEl>
                                        <p:attrNameLst>
                                          <p:attrName>ppt_x</p:attrName>
                                        </p:attrNameLst>
                                      </p:cBhvr>
                                      <p:tavLst>
                                        <p:tav tm="0">
                                          <p:val>
                                            <p:strVal val="#ppt_x"/>
                                          </p:val>
                                        </p:tav>
                                        <p:tav tm="100000">
                                          <p:val>
                                            <p:strVal val="#ppt_x"/>
                                          </p:val>
                                        </p:tav>
                                      </p:tavLst>
                                    </p:anim>
                                    <p:anim calcmode="lin" valueType="num">
                                      <p:cBhvr additive="base">
                                        <p:cTn id="6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P spid="32" grpId="0"/>
      <p:bldP spid="9" grpId="0" animBg="1"/>
      <p:bldP spid="19" grpId="0"/>
      <p:bldP spid="12" grpId="0"/>
      <p:bldP spid="11" grpId="0"/>
      <p:bldP spid="25" grpId="0"/>
      <p:bldP spid="26" grpId="0"/>
      <p:bldP spid="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solidFill>
                  <a:srgbClr val="C00000"/>
                </a:solidFill>
                <a:latin typeface="微软雅黑" panose="020B0503020204020204" pitchFamily="34" charset="-122"/>
                <a:ea typeface="微软雅黑" panose="020B0503020204020204" pitchFamily="34" charset="-122"/>
              </a:rPr>
              <a:t>智慧</a:t>
            </a:r>
            <a:r>
              <a:rPr lang="zh-CN" altLang="en-US" sz="2400" b="1" dirty="0" smtClean="0">
                <a:latin typeface="微软雅黑" panose="020B0503020204020204" pitchFamily="34" charset="-122"/>
                <a:ea typeface="微软雅黑" panose="020B0503020204020204" pitchFamily="34" charset="-122"/>
              </a:rPr>
              <a:t>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919389" y="1570146"/>
            <a:ext cx="9362135"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解决自动化运维中规则需要人为制定的缺点</a:t>
            </a:r>
            <a:endParaRPr lang="en-US" altLang="zh-CN" dirty="0" smtClean="0"/>
          </a:p>
          <a:p>
            <a:pPr marL="285750" indent="-285750">
              <a:lnSpc>
                <a:spcPct val="150000"/>
              </a:lnSpc>
              <a:buFont typeface="Arial" panose="020B0604020202020204" pitchFamily="34" charset="0"/>
              <a:buChar char="•"/>
            </a:pPr>
            <a:r>
              <a:rPr lang="zh-CN" altLang="en-US" dirty="0" smtClean="0"/>
              <a:t>通过机器学习等方式自动</a:t>
            </a:r>
            <a:r>
              <a:rPr lang="zh-CN" altLang="en-US" dirty="0"/>
              <a:t>地从海量运维数据中不断地学习，不断地提炼并总结</a:t>
            </a:r>
            <a:r>
              <a:rPr lang="zh-CN" altLang="en-US" dirty="0" smtClean="0"/>
              <a:t>规则</a:t>
            </a:r>
            <a:endParaRPr lang="en-US" altLang="zh-CN" dirty="0" smtClean="0"/>
          </a:p>
          <a:p>
            <a:pPr marL="285750" indent="-285750">
              <a:lnSpc>
                <a:spcPct val="150000"/>
              </a:lnSpc>
              <a:buFont typeface="Arial" panose="020B0604020202020204" pitchFamily="34" charset="0"/>
              <a:buChar char="•"/>
            </a:pPr>
            <a:r>
              <a:rPr lang="zh-CN" altLang="en-US" dirty="0" smtClean="0"/>
              <a:t>能够更好更快的适应新的业务挑战</a:t>
            </a:r>
            <a:endParaRPr lang="zh-CN" altLang="en-US" dirty="0"/>
          </a:p>
        </p:txBody>
      </p:sp>
      <p:sp>
        <p:nvSpPr>
          <p:cNvPr id="25" name="矩形 24"/>
          <p:cNvSpPr/>
          <p:nvPr/>
        </p:nvSpPr>
        <p:spPr>
          <a:xfrm>
            <a:off x="919388" y="3782826"/>
            <a:ext cx="3722563" cy="2291759"/>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26" name="文本框 25"/>
          <p:cNvSpPr txBox="1"/>
          <p:nvPr/>
        </p:nvSpPr>
        <p:spPr>
          <a:xfrm>
            <a:off x="944002" y="3843843"/>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27" name="矩形 26"/>
          <p:cNvSpPr/>
          <p:nvPr/>
        </p:nvSpPr>
        <p:spPr>
          <a:xfrm>
            <a:off x="6908364" y="3782725"/>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28" name="圆角矩形 27"/>
          <p:cNvSpPr/>
          <p:nvPr/>
        </p:nvSpPr>
        <p:spPr>
          <a:xfrm>
            <a:off x="7181849" y="4011410"/>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29" name="圆角矩形 28"/>
          <p:cNvSpPr/>
          <p:nvPr/>
        </p:nvSpPr>
        <p:spPr>
          <a:xfrm>
            <a:off x="7181849" y="4391733"/>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30" name="圆角矩形 29"/>
          <p:cNvSpPr/>
          <p:nvPr/>
        </p:nvSpPr>
        <p:spPr>
          <a:xfrm>
            <a:off x="7181849" y="4837126"/>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32" name="圆角矩形 31"/>
          <p:cNvSpPr/>
          <p:nvPr/>
        </p:nvSpPr>
        <p:spPr>
          <a:xfrm>
            <a:off x="7181849" y="5232019"/>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33" name="圆角矩形 32"/>
          <p:cNvSpPr/>
          <p:nvPr/>
        </p:nvSpPr>
        <p:spPr>
          <a:xfrm>
            <a:off x="7181849" y="5618543"/>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34" name="右箭头 33"/>
          <p:cNvSpPr/>
          <p:nvPr/>
        </p:nvSpPr>
        <p:spPr>
          <a:xfrm>
            <a:off x="4864253" y="4529845"/>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919388" y="3155332"/>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的前提条件</a:t>
            </a:r>
            <a:endParaRPr lang="zh-CN" altLang="en-US" dirty="0">
              <a:solidFill>
                <a:srgbClr val="333F50"/>
              </a:solidFill>
            </a:endParaRPr>
          </a:p>
        </p:txBody>
      </p:sp>
      <p:sp>
        <p:nvSpPr>
          <p:cNvPr id="36" name="文本框 35"/>
          <p:cNvSpPr txBox="1"/>
          <p:nvPr/>
        </p:nvSpPr>
        <p:spPr>
          <a:xfrm>
            <a:off x="919388" y="1092750"/>
            <a:ext cx="3944865" cy="369332"/>
          </a:xfrm>
          <a:prstGeom prst="rect">
            <a:avLst/>
          </a:prstGeom>
          <a:noFill/>
        </p:spPr>
        <p:txBody>
          <a:bodyPr wrap="square" rtlCol="0">
            <a:spAutoFit/>
          </a:bodyPr>
          <a:lstStyle/>
          <a:p>
            <a:r>
              <a:rPr lang="zh-CN" altLang="en-US" dirty="0" smtClean="0">
                <a:solidFill>
                  <a:srgbClr val="333F50"/>
                </a:solidFill>
              </a:rPr>
              <a:t>目标</a:t>
            </a:r>
            <a:endParaRPr lang="zh-CN" altLang="en-US" dirty="0">
              <a:solidFill>
                <a:srgbClr val="333F50"/>
              </a:solidFill>
            </a:endParaRPr>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down)">
                                      <p:cBhvr>
                                        <p:cTn id="10" dur="500"/>
                                        <p:tgtEl>
                                          <p:spTgt spid="3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down)">
                                      <p:cBhvr>
                                        <p:cTn id="13" dur="500"/>
                                        <p:tgtEl>
                                          <p:spTgt spid="3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animBg="1"/>
      <p:bldP spid="28" grpId="0" animBg="1"/>
      <p:bldP spid="29" grpId="0" animBg="1"/>
      <p:bldP spid="30" grpId="0" animBg="1"/>
      <p:bldP spid="32" grpId="0" animBg="1"/>
      <p:bldP spid="33" grpId="0" animBg="1"/>
      <p:bldP spid="34" grpId="0" animBg="1"/>
      <p:bldP spid="35" grpId="0"/>
      <p:bldP spid="3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95325" y="2506450"/>
            <a:ext cx="7448550" cy="2031325"/>
          </a:xfrm>
          <a:prstGeom prst="rect">
            <a:avLst/>
          </a:prstGeom>
          <a:noFill/>
        </p:spPr>
        <p:txBody>
          <a:bodyPr wrap="square" rtlCol="0">
            <a:spAutoFit/>
          </a:bodyPr>
          <a:lstStyle/>
          <a:p>
            <a:r>
              <a:rPr lang="zh-CN" altLang="en-US" dirty="0">
                <a:solidFill>
                  <a:srgbClr val="333F50"/>
                </a:solidFill>
              </a:rPr>
              <a:t>什么是机器学习？</a:t>
            </a:r>
            <a:endParaRPr lang="en-US" altLang="zh-CN" dirty="0">
              <a:solidFill>
                <a:srgbClr val="333F50"/>
              </a:solidFill>
            </a:endParaRPr>
          </a:p>
          <a:p>
            <a:endParaRPr lang="en-US" altLang="zh-CN" dirty="0"/>
          </a:p>
          <a:p>
            <a:r>
              <a:rPr lang="zh-CN" altLang="en-US" dirty="0"/>
              <a:t>“对于某类任务</a:t>
            </a:r>
            <a:r>
              <a:rPr lang="en-US" altLang="zh-CN" dirty="0"/>
              <a:t>T</a:t>
            </a:r>
            <a:r>
              <a:rPr lang="zh-CN" altLang="en-US" dirty="0"/>
              <a:t>和性能度量</a:t>
            </a:r>
            <a:r>
              <a:rPr lang="en-US" altLang="zh-CN" dirty="0"/>
              <a:t>P</a:t>
            </a:r>
            <a:r>
              <a:rPr lang="zh-CN" altLang="en-US" dirty="0"/>
              <a:t>，如果一个计算机程序在</a:t>
            </a:r>
            <a:r>
              <a:rPr lang="en-US" altLang="zh-CN" dirty="0"/>
              <a:t>T</a:t>
            </a:r>
            <a:r>
              <a:rPr lang="zh-CN" altLang="en-US" dirty="0"/>
              <a:t>上以</a:t>
            </a:r>
            <a:r>
              <a:rPr lang="en-US" altLang="zh-CN" dirty="0"/>
              <a:t>P</a:t>
            </a:r>
            <a:r>
              <a:rPr lang="zh-CN" altLang="en-US" dirty="0"/>
              <a:t>衡量的性能随着经验</a:t>
            </a:r>
            <a:r>
              <a:rPr lang="en-US" altLang="zh-CN" dirty="0"/>
              <a:t>E</a:t>
            </a:r>
            <a:r>
              <a:rPr lang="zh-CN" altLang="en-US" dirty="0"/>
              <a:t>而自我完善，那么我们称这个计算机程序在从经验</a:t>
            </a:r>
            <a:r>
              <a:rPr lang="en-US" altLang="zh-CN" dirty="0"/>
              <a:t>E</a:t>
            </a:r>
            <a:r>
              <a:rPr lang="zh-CN" altLang="en-US" dirty="0"/>
              <a:t>学习。</a:t>
            </a:r>
            <a:r>
              <a:rPr lang="zh-CN" altLang="en-US" dirty="0" smtClean="0"/>
              <a:t>”</a:t>
            </a:r>
            <a:endParaRPr lang="en-US" altLang="zh-CN" dirty="0" smtClean="0"/>
          </a:p>
          <a:p>
            <a:endParaRPr lang="en-US" altLang="zh-CN" dirty="0"/>
          </a:p>
          <a:p>
            <a:r>
              <a:rPr lang="en-US" altLang="zh-CN" dirty="0"/>
              <a:t>						-Tom Mitchell</a:t>
            </a:r>
            <a:endParaRPr lang="en-US" altLang="zh-CN" dirty="0" smtClean="0"/>
          </a:p>
          <a:p>
            <a:endParaRPr lang="en-US" altLang="zh-CN" dirty="0"/>
          </a:p>
        </p:txBody>
      </p:sp>
      <p:pic>
        <p:nvPicPr>
          <p:cNvPr id="1026" name="Picture 2" descr="https://timgsa.baidu.com/timg?image&amp;quality=80&amp;size=b9999_10000&amp;sec=1516865876729&amp;di=5c759be69438ffe9bc7b4c29e1b54267&amp;imgtype=0&amp;src=http%3A%2F%2F5b0988e595225.cdn.sohucs.com%2Fimages%2F20180102%2Fa48b18b7b52b40168b2d6798aab8f2ca.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2841" y="1647825"/>
            <a:ext cx="3719159" cy="3221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134895"/>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descr="What's the difference between Artificial Intelligence (AI), Machine Learning, and Deep Learning?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600" y="884908"/>
            <a:ext cx="8940800" cy="5687343"/>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803612" y="884908"/>
            <a:ext cx="4339650" cy="369332"/>
          </a:xfrm>
          <a:prstGeom prst="rect">
            <a:avLst/>
          </a:prstGeom>
        </p:spPr>
        <p:txBody>
          <a:bodyPr wrap="none">
            <a:spAutoFit/>
          </a:bodyPr>
          <a:lstStyle/>
          <a:p>
            <a:r>
              <a:rPr lang="zh-CN" altLang="en-US" dirty="0" smtClean="0">
                <a:solidFill>
                  <a:srgbClr val="333F50"/>
                </a:solidFill>
              </a:rPr>
              <a:t>人工智能、机器学习、深度学习的关系？</a:t>
            </a:r>
            <a:endParaRPr lang="en-US" altLang="zh-CN" dirty="0">
              <a:solidFill>
                <a:srgbClr val="333F50"/>
              </a:solidFill>
            </a:endParaRPr>
          </a:p>
        </p:txBody>
      </p:sp>
    </p:spTree>
    <p:extLst>
      <p:ext uri="{BB962C8B-B14F-4D97-AF65-F5344CB8AC3E}">
        <p14:creationId xmlns:p14="http://schemas.microsoft.com/office/powerpoint/2010/main" val="1201235184"/>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a:ln>
            <a:noFill/>
          </a:ln>
        </p:spPr>
        <p:style>
          <a:lnRef idx="0">
            <a:scrgbClr r="0" g="0" b="0"/>
          </a:lnRef>
          <a:fillRef idx="0">
            <a:scrgbClr r="0" g="0" b="0"/>
          </a:fillRef>
          <a:effectRef idx="0">
            <a:scrgbClr r="0" g="0" b="0"/>
          </a:effectRef>
          <a:fontRef idx="minor">
            <a:schemeClr val="accent5"/>
          </a:fontRef>
        </p:style>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496047" y="2895008"/>
            <a:ext cx="3757386" cy="1708160"/>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数据获取：</a:t>
            </a:r>
            <a:endParaRPr lang="en-US" altLang="zh-CN" sz="1400" dirty="0"/>
          </a:p>
          <a:p>
            <a:pPr marL="742950" lvl="1" indent="-285750">
              <a:lnSpc>
                <a:spcPct val="150000"/>
              </a:lnSpc>
              <a:buFont typeface="Arial" panose="020B0604020202020204" pitchFamily="34" charset="0"/>
              <a:buChar char="•"/>
            </a:pPr>
            <a:r>
              <a:rPr lang="zh-CN" altLang="en-US" sz="1400" dirty="0" smtClean="0"/>
              <a:t>异源数据统一采集</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本地库结构化存储</a:t>
            </a:r>
            <a:endParaRPr lang="en-US" altLang="zh-CN" sz="1400" dirty="0" smtClean="0"/>
          </a:p>
          <a:p>
            <a:pPr marL="742950" lvl="1" indent="-285750">
              <a:lnSpc>
                <a:spcPct val="150000"/>
              </a:lnSpc>
              <a:buFont typeface="Arial" panose="020B0604020202020204" pitchFamily="34" charset="0"/>
              <a:buChar char="•"/>
            </a:pPr>
            <a:r>
              <a:rPr lang="zh-CN" altLang="en-US" sz="1400" dirty="0"/>
              <a:t>一键</a:t>
            </a:r>
            <a:r>
              <a:rPr lang="zh-CN" altLang="en-US" sz="1400" dirty="0" smtClean="0"/>
              <a:t>式数据调用</a:t>
            </a:r>
            <a:endParaRPr lang="en-US" altLang="zh-CN" sz="1400" dirty="0" smtClean="0"/>
          </a:p>
        </p:txBody>
      </p:sp>
      <p:sp>
        <p:nvSpPr>
          <p:cNvPr id="26" name="KSO_Shape"/>
          <p:cNvSpPr/>
          <p:nvPr/>
        </p:nvSpPr>
        <p:spPr bwMode="auto">
          <a:xfrm>
            <a:off x="8307003" y="1885623"/>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28" name="KSO_Shape"/>
          <p:cNvSpPr/>
          <p:nvPr/>
        </p:nvSpPr>
        <p:spPr>
          <a:xfrm>
            <a:off x="6016879" y="2525592"/>
            <a:ext cx="1021276" cy="825399"/>
          </a:xfrm>
          <a:custGeom>
            <a:avLst/>
            <a:gdLst>
              <a:gd name="connsiteX0" fmla="*/ 876522 w 1879600"/>
              <a:gd name="connsiteY0" fmla="*/ 1026915 h 1901723"/>
              <a:gd name="connsiteX1" fmla="*/ 1879600 w 1879600"/>
              <a:gd name="connsiteY1" fmla="*/ 1035310 h 1901723"/>
              <a:gd name="connsiteX2" fmla="*/ 1879600 w 1879600"/>
              <a:gd name="connsiteY2" fmla="*/ 1901723 h 1901723"/>
              <a:gd name="connsiteX3" fmla="*/ 876522 w 1879600"/>
              <a:gd name="connsiteY3" fmla="*/ 1775813 h 1901723"/>
              <a:gd name="connsiteX4" fmla="*/ 0 w 1879600"/>
              <a:gd name="connsiteY4" fmla="*/ 1014080 h 1901723"/>
              <a:gd name="connsiteX5" fmla="*/ 717549 w 1879600"/>
              <a:gd name="connsiteY5" fmla="*/ 1026818 h 1901723"/>
              <a:gd name="connsiteX6" fmla="*/ 717549 w 1879600"/>
              <a:gd name="connsiteY6" fmla="*/ 1753167 h 1901723"/>
              <a:gd name="connsiteX7" fmla="*/ 0 w 1879600"/>
              <a:gd name="connsiteY7" fmla="*/ 1642117 h 1901723"/>
              <a:gd name="connsiteX8" fmla="*/ 717549 w 1879600"/>
              <a:gd name="connsiteY8" fmla="*/ 159389 h 1901723"/>
              <a:gd name="connsiteX9" fmla="*/ 717549 w 1879600"/>
              <a:gd name="connsiteY9" fmla="*/ 883871 h 1901723"/>
              <a:gd name="connsiteX10" fmla="*/ 0 w 1879600"/>
              <a:gd name="connsiteY10" fmla="*/ 908194 h 1901723"/>
              <a:gd name="connsiteX11" fmla="*/ 0 w 1879600"/>
              <a:gd name="connsiteY11" fmla="*/ 256684 h 1901723"/>
              <a:gd name="connsiteX12" fmla="*/ 1879600 w 1879600"/>
              <a:gd name="connsiteY12" fmla="*/ 0 h 1901723"/>
              <a:gd name="connsiteX13" fmla="*/ 1879600 w 1879600"/>
              <a:gd name="connsiteY13" fmla="*/ 872112 h 1901723"/>
              <a:gd name="connsiteX14" fmla="*/ 879497 w 1879600"/>
              <a:gd name="connsiteY14" fmla="*/ 880660 h 1901723"/>
              <a:gd name="connsiteX15" fmla="*/ 876522 w 1879600"/>
              <a:gd name="connsiteY15" fmla="*/ 626314 h 1901723"/>
              <a:gd name="connsiteX16" fmla="*/ 876522 w 1879600"/>
              <a:gd name="connsiteY16" fmla="*/ 144511 h 19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79600" h="1901723">
                <a:moveTo>
                  <a:pt x="876522" y="1026915"/>
                </a:moveTo>
                <a:lnTo>
                  <a:pt x="1879600" y="1035310"/>
                </a:lnTo>
                <a:lnTo>
                  <a:pt x="1879600" y="1901723"/>
                </a:lnTo>
                <a:lnTo>
                  <a:pt x="876522" y="1775813"/>
                </a:lnTo>
                <a:close/>
                <a:moveTo>
                  <a:pt x="0" y="1014080"/>
                </a:moveTo>
                <a:lnTo>
                  <a:pt x="717549" y="1026818"/>
                </a:lnTo>
                <a:lnTo>
                  <a:pt x="717549" y="1753167"/>
                </a:lnTo>
                <a:lnTo>
                  <a:pt x="0" y="1642117"/>
                </a:lnTo>
                <a:close/>
                <a:moveTo>
                  <a:pt x="717549" y="159389"/>
                </a:moveTo>
                <a:lnTo>
                  <a:pt x="717549" y="883871"/>
                </a:lnTo>
                <a:lnTo>
                  <a:pt x="0" y="908194"/>
                </a:lnTo>
                <a:lnTo>
                  <a:pt x="0" y="256684"/>
                </a:lnTo>
                <a:close/>
                <a:moveTo>
                  <a:pt x="1879600" y="0"/>
                </a:moveTo>
                <a:lnTo>
                  <a:pt x="1879600" y="872112"/>
                </a:lnTo>
                <a:lnTo>
                  <a:pt x="879497" y="880660"/>
                </a:lnTo>
                <a:lnTo>
                  <a:pt x="876522" y="626314"/>
                </a:lnTo>
                <a:lnTo>
                  <a:pt x="876522" y="144511"/>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endParaRPr>
          </a:p>
        </p:txBody>
      </p:sp>
      <p:sp>
        <p:nvSpPr>
          <p:cNvPr id="29" name="KSO_Shape"/>
          <p:cNvSpPr/>
          <p:nvPr/>
        </p:nvSpPr>
        <p:spPr bwMode="auto">
          <a:xfrm>
            <a:off x="3934308" y="191406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cxnSp>
        <p:nvCxnSpPr>
          <p:cNvPr id="30" name="直接连接符 29"/>
          <p:cNvCxnSpPr/>
          <p:nvPr/>
        </p:nvCxnSpPr>
        <p:spPr>
          <a:xfrm>
            <a:off x="5570855" y="1580856"/>
            <a:ext cx="36195" cy="3771900"/>
          </a:xfrm>
          <a:prstGeom prst="line">
            <a:avLst/>
          </a:prstGeom>
          <a:ln w="19050" cmpd="sng"/>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917180" y="1436711"/>
            <a:ext cx="43180" cy="3641725"/>
          </a:xfrm>
          <a:prstGeom prst="line">
            <a:avLst/>
          </a:prstGeom>
          <a:ln w="19050" cmpd="sng">
            <a:prstDash val="sys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095462" y="287122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1</a:t>
            </a:r>
          </a:p>
        </p:txBody>
      </p:sp>
      <p:sp>
        <p:nvSpPr>
          <p:cNvPr id="34" name="文本框 33"/>
          <p:cNvSpPr txBox="1"/>
          <p:nvPr/>
        </p:nvSpPr>
        <p:spPr>
          <a:xfrm>
            <a:off x="6083017" y="2279550"/>
            <a:ext cx="95410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数据采集系统</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sp>
        <p:nvSpPr>
          <p:cNvPr id="35" name="KSO_Shape"/>
          <p:cNvSpPr/>
          <p:nvPr/>
        </p:nvSpPr>
        <p:spPr bwMode="auto">
          <a:xfrm>
            <a:off x="8477183" y="3810308"/>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6" name="文本框 35"/>
          <p:cNvSpPr txBox="1"/>
          <p:nvPr/>
        </p:nvSpPr>
        <p:spPr>
          <a:xfrm>
            <a:off x="8476987" y="3474619"/>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应用服务器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
        <p:nvSpPr>
          <p:cNvPr id="37" name="KSO_Shape"/>
          <p:cNvSpPr/>
          <p:nvPr/>
        </p:nvSpPr>
        <p:spPr bwMode="auto">
          <a:xfrm>
            <a:off x="3919703" y="312564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8" name="文本框 37"/>
          <p:cNvSpPr txBox="1"/>
          <p:nvPr/>
        </p:nvSpPr>
        <p:spPr>
          <a:xfrm>
            <a:off x="4109432" y="401930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2</a:t>
            </a:r>
          </a:p>
        </p:txBody>
      </p:sp>
      <p:sp>
        <p:nvSpPr>
          <p:cNvPr id="39" name="文本框 38"/>
          <p:cNvSpPr txBox="1"/>
          <p:nvPr/>
        </p:nvSpPr>
        <p:spPr>
          <a:xfrm>
            <a:off x="4313555" y="4352631"/>
            <a:ext cx="459740" cy="427355"/>
          </a:xfrm>
          <a:prstGeom prst="rect">
            <a:avLst/>
          </a:prstGeom>
          <a:noFill/>
        </p:spPr>
        <p:txBody>
          <a:bodyPr vert="eaVert" wrap="square" rtlCol="0">
            <a:spAutoFit/>
          </a:bodyPr>
          <a:lstStyle/>
          <a:p>
            <a:r>
              <a:rPr lang="en-US" altLang="zh-CN"/>
              <a:t>...</a:t>
            </a:r>
          </a:p>
        </p:txBody>
      </p:sp>
      <p:sp>
        <p:nvSpPr>
          <p:cNvPr id="40" name="KSO_Shape"/>
          <p:cNvSpPr/>
          <p:nvPr/>
        </p:nvSpPr>
        <p:spPr bwMode="auto">
          <a:xfrm>
            <a:off x="3919703" y="459249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41" name="文本框 40"/>
          <p:cNvSpPr txBox="1"/>
          <p:nvPr/>
        </p:nvSpPr>
        <p:spPr>
          <a:xfrm>
            <a:off x="4111972" y="5475980"/>
            <a:ext cx="89344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k</a:t>
            </a:r>
          </a:p>
        </p:txBody>
      </p:sp>
      <p:sp>
        <p:nvSpPr>
          <p:cNvPr id="42" name="左右箭头 41"/>
          <p:cNvSpPr/>
          <p:nvPr/>
        </p:nvSpPr>
        <p:spPr>
          <a:xfrm>
            <a:off x="5313680" y="3293451"/>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折角形 42"/>
          <p:cNvSpPr/>
          <p:nvPr/>
        </p:nvSpPr>
        <p:spPr>
          <a:xfrm>
            <a:off x="6035675" y="381034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折角形 43"/>
          <p:cNvSpPr/>
          <p:nvPr/>
        </p:nvSpPr>
        <p:spPr>
          <a:xfrm>
            <a:off x="6035675" y="3728426"/>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左右箭头 44"/>
          <p:cNvSpPr/>
          <p:nvPr/>
        </p:nvSpPr>
        <p:spPr>
          <a:xfrm>
            <a:off x="7663815" y="3351236"/>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折角形 45"/>
          <p:cNvSpPr/>
          <p:nvPr/>
        </p:nvSpPr>
        <p:spPr>
          <a:xfrm>
            <a:off x="6704965" y="386749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折角形 46"/>
          <p:cNvSpPr/>
          <p:nvPr/>
        </p:nvSpPr>
        <p:spPr>
          <a:xfrm>
            <a:off x="6704965" y="3729061"/>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6130642" y="3425725"/>
            <a:ext cx="1082348"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工程和投诉信息</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a:off x="6330315" y="4871426"/>
            <a:ext cx="575945" cy="344170"/>
            <a:chOff x="3186113" y="530112"/>
            <a:chExt cx="2625725" cy="2338387"/>
          </a:xfrm>
        </p:grpSpPr>
        <p:sp>
          <p:nvSpPr>
            <p:cNvPr id="50" name="Rectangle 9"/>
            <p:cNvSpPr>
              <a:spLocks noChangeArrowheads="1"/>
            </p:cNvSpPr>
            <p:nvPr/>
          </p:nvSpPr>
          <p:spPr bwMode="auto">
            <a:xfrm>
              <a:off x="3338513" y="693625"/>
              <a:ext cx="2320925" cy="163512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1" name="Freeform 11"/>
            <p:cNvSpPr>
              <a:spLocks noEditPoints="1"/>
            </p:cNvSpPr>
            <p:nvPr/>
          </p:nvSpPr>
          <p:spPr bwMode="auto">
            <a:xfrm>
              <a:off x="3186113" y="530112"/>
              <a:ext cx="2625725" cy="1895475"/>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2"/>
            <p:cNvSpPr/>
            <p:nvPr/>
          </p:nvSpPr>
          <p:spPr bwMode="auto">
            <a:xfrm>
              <a:off x="3867150" y="2546237"/>
              <a:ext cx="1257300" cy="322262"/>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3"/>
            <p:cNvSpPr/>
            <p:nvPr/>
          </p:nvSpPr>
          <p:spPr bwMode="auto">
            <a:xfrm>
              <a:off x="4340225" y="2546237"/>
              <a:ext cx="784225" cy="322262"/>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4" name="文本框 53"/>
          <p:cNvSpPr txBox="1"/>
          <p:nvPr/>
        </p:nvSpPr>
        <p:spPr>
          <a:xfrm>
            <a:off x="6208112" y="4585870"/>
            <a:ext cx="944880" cy="254635"/>
          </a:xfrm>
          <a:prstGeom prst="rect">
            <a:avLst/>
          </a:prstGeom>
          <a:noFill/>
        </p:spPr>
        <p:txBody>
          <a:bodyPr wrap="none" rtlCol="0">
            <a:spAutoFit/>
          </a:bodyPr>
          <a:lstStyle/>
          <a:p>
            <a:r>
              <a:rPr lang="zh-CN" altLang="en-US" sz="1000" b="1" dirty="0">
                <a:solidFill>
                  <a:srgbClr val="0070C0"/>
                </a:solidFill>
                <a:latin typeface="微软雅黑" panose="020B0503020204020204" pitchFamily="34" charset="-122"/>
                <a:ea typeface="微软雅黑" panose="020B0503020204020204" pitchFamily="34" charset="-122"/>
              </a:rPr>
              <a:t>其他项目数据</a:t>
            </a:r>
          </a:p>
        </p:txBody>
      </p:sp>
      <p:sp>
        <p:nvSpPr>
          <p:cNvPr id="55" name="圆角矩形标注 54"/>
          <p:cNvSpPr/>
          <p:nvPr/>
        </p:nvSpPr>
        <p:spPr>
          <a:xfrm>
            <a:off x="9803765" y="785201"/>
            <a:ext cx="2189480" cy="1296670"/>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a:p>
            <a:pPr algn="l"/>
            <a:endParaRPr lang="en-US" altLang="zh-CN" sz="1400" dirty="0">
              <a:solidFill>
                <a:schemeClr val="tx1"/>
              </a:solidFill>
            </a:endParaRPr>
          </a:p>
          <a:p>
            <a:pPr algn="l"/>
            <a:endParaRPr lang="en-US" altLang="zh-CN" sz="1400" dirty="0">
              <a:solidFill>
                <a:schemeClr val="tx1"/>
              </a:solidFill>
            </a:endParaRPr>
          </a:p>
          <a:p>
            <a:pPr algn="l"/>
            <a:r>
              <a:rPr lang="zh-CN" altLang="zh-CN" sz="1600" dirty="0" smtClean="0">
                <a:solidFill>
                  <a:schemeClr val="tx1"/>
                </a:solidFill>
              </a:rPr>
              <a:t>功能</a:t>
            </a:r>
            <a:r>
              <a:rPr lang="en-US" altLang="zh-CN" sz="1600" dirty="0">
                <a:solidFill>
                  <a:schemeClr val="tx1"/>
                </a:solidFill>
              </a:rPr>
              <a:t>:</a:t>
            </a:r>
          </a:p>
          <a:p>
            <a:pPr algn="l"/>
            <a:r>
              <a:rPr lang="en-US" altLang="zh-CN" sz="1600" dirty="0">
                <a:solidFill>
                  <a:schemeClr val="tx1"/>
                </a:solidFill>
              </a:rPr>
              <a:t>1.ftp</a:t>
            </a:r>
            <a:r>
              <a:rPr lang="zh-CN" altLang="en-US" sz="1600" dirty="0">
                <a:solidFill>
                  <a:schemeClr val="tx1"/>
                </a:solidFill>
              </a:rPr>
              <a:t>服务器</a:t>
            </a:r>
          </a:p>
          <a:p>
            <a:pPr algn="l"/>
            <a:r>
              <a:rPr lang="en-US" altLang="zh-CN" sz="1600" dirty="0">
                <a:solidFill>
                  <a:schemeClr val="tx1"/>
                </a:solidFill>
              </a:rPr>
              <a:t>2.</a:t>
            </a:r>
            <a:r>
              <a:rPr lang="zh-CN" altLang="en-US" sz="1600" dirty="0">
                <a:solidFill>
                  <a:schemeClr val="tx1"/>
                </a:solidFill>
              </a:rPr>
              <a:t>解析存储业务数据</a:t>
            </a:r>
          </a:p>
          <a:p>
            <a:pPr algn="l"/>
            <a:r>
              <a:rPr lang="en-US" altLang="zh-CN" sz="1600" dirty="0">
                <a:solidFill>
                  <a:schemeClr val="tx1"/>
                </a:solidFill>
              </a:rPr>
              <a:t>3.</a:t>
            </a:r>
            <a:r>
              <a:rPr lang="zh-CN" altLang="en-US" sz="1600" dirty="0">
                <a:solidFill>
                  <a:schemeClr val="tx1"/>
                </a:solidFill>
              </a:rPr>
              <a:t>支撑客户端</a:t>
            </a:r>
            <a:endParaRPr lang="en-US" altLang="zh-CN" sz="1600" dirty="0">
              <a:solidFill>
                <a:schemeClr val="tx1"/>
              </a:solidFill>
            </a:endParaRPr>
          </a:p>
          <a:p>
            <a:pPr algn="ctr"/>
            <a:endParaRPr lang="zh-CN" altLang="en-US" dirty="0">
              <a:solidFill>
                <a:schemeClr val="tx1"/>
              </a:solidFill>
            </a:endParaRPr>
          </a:p>
          <a:p>
            <a:pPr algn="ctr"/>
            <a:endParaRPr lang="en-US" altLang="zh-CN" dirty="0">
              <a:solidFill>
                <a:schemeClr val="tx1"/>
              </a:solidFill>
            </a:endParaRPr>
          </a:p>
        </p:txBody>
      </p:sp>
      <p:sp>
        <p:nvSpPr>
          <p:cNvPr id="56" name="圆角矩形标注 55"/>
          <p:cNvSpPr/>
          <p:nvPr/>
        </p:nvSpPr>
        <p:spPr>
          <a:xfrm>
            <a:off x="9968230" y="3043261"/>
            <a:ext cx="1978660" cy="1116965"/>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1400" dirty="0">
                <a:solidFill>
                  <a:schemeClr val="tx1"/>
                </a:solidFill>
                <a:sym typeface="+mn-ea"/>
              </a:rPr>
              <a:t> </a:t>
            </a:r>
          </a:p>
          <a:p>
            <a:pPr algn="l"/>
            <a:r>
              <a:rPr lang="zh-CN" altLang="zh-CN" sz="1600" dirty="0" smtClean="0">
                <a:solidFill>
                  <a:schemeClr val="tx1"/>
                </a:solidFill>
                <a:sym typeface="+mn-ea"/>
              </a:rPr>
              <a:t>功能</a:t>
            </a:r>
            <a:r>
              <a:rPr lang="en-US" altLang="zh-CN" sz="1400" dirty="0">
                <a:solidFill>
                  <a:schemeClr val="tx1"/>
                </a:solidFill>
                <a:sym typeface="+mn-ea"/>
              </a:rPr>
              <a:t>:</a:t>
            </a:r>
          </a:p>
          <a:p>
            <a:pPr algn="l"/>
            <a:r>
              <a:rPr lang="zh-CN" altLang="en-US" sz="1600" dirty="0" smtClean="0">
                <a:solidFill>
                  <a:schemeClr val="tx1"/>
                </a:solidFill>
                <a:sym typeface="+mn-ea"/>
              </a:rPr>
              <a:t>支撑</a:t>
            </a:r>
            <a:r>
              <a:rPr lang="en-US" altLang="zh-CN" sz="1600" dirty="0">
                <a:solidFill>
                  <a:schemeClr val="tx1"/>
                </a:solidFill>
                <a:sym typeface="+mn-ea"/>
              </a:rPr>
              <a:t>web</a:t>
            </a:r>
            <a:r>
              <a:rPr lang="zh-CN" altLang="en-US" sz="1600" dirty="0">
                <a:solidFill>
                  <a:schemeClr val="tx1"/>
                </a:solidFill>
                <a:sym typeface="+mn-ea"/>
              </a:rPr>
              <a:t>系统</a:t>
            </a:r>
          </a:p>
          <a:p>
            <a:pPr algn="l"/>
            <a:endParaRPr lang="zh-CN" altLang="en-US" sz="1600" dirty="0">
              <a:solidFill>
                <a:schemeClr val="tx1"/>
              </a:solidFill>
              <a:sym typeface="+mn-ea"/>
            </a:endParaRPr>
          </a:p>
        </p:txBody>
      </p:sp>
      <p:sp>
        <p:nvSpPr>
          <p:cNvPr id="86" name="文本框 85"/>
          <p:cNvSpPr txBox="1"/>
          <p:nvPr/>
        </p:nvSpPr>
        <p:spPr>
          <a:xfrm>
            <a:off x="8476987" y="1617768"/>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
        <p:nvSpPr>
          <p:cNvPr id="3" name="圆角矩形 2"/>
          <p:cNvSpPr/>
          <p:nvPr/>
        </p:nvSpPr>
        <p:spPr>
          <a:xfrm>
            <a:off x="5417675" y="1245632"/>
            <a:ext cx="2705100" cy="4572000"/>
          </a:xfrm>
          <a:prstGeom prst="roundRect">
            <a:avLst/>
          </a:prstGeom>
          <a:noFill/>
          <a:ln w="28575" cap="flat" cmpd="sng" algn="ctr">
            <a:solidFill>
              <a:srgbClr val="E73A1C"/>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7" name="文本框 6"/>
          <p:cNvSpPr txBox="1"/>
          <p:nvPr/>
        </p:nvSpPr>
        <p:spPr>
          <a:xfrm>
            <a:off x="5879355" y="1433536"/>
            <a:ext cx="1685730" cy="369332"/>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zh-CN" altLang="en-US" dirty="0" smtClean="0"/>
              <a:t>数据来源分散</a:t>
            </a:r>
            <a:endParaRPr lang="zh-CN" altLang="en-US" dirty="0"/>
          </a:p>
        </p:txBody>
      </p:sp>
      <p:sp>
        <p:nvSpPr>
          <p:cNvPr id="57" name="圆角矩形 56"/>
          <p:cNvSpPr/>
          <p:nvPr/>
        </p:nvSpPr>
        <p:spPr>
          <a:xfrm>
            <a:off x="8134535" y="1245632"/>
            <a:ext cx="2705100" cy="4572000"/>
          </a:xfrm>
          <a:prstGeom prst="roundRect">
            <a:avLst/>
          </a:prstGeom>
          <a:noFill/>
          <a:ln w="28575" cap="flat" cmpd="sng" algn="ctr">
            <a:solidFill>
              <a:srgbClr val="E73A1C"/>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8" name="文本框 57"/>
          <p:cNvSpPr txBox="1"/>
          <p:nvPr/>
        </p:nvSpPr>
        <p:spPr>
          <a:xfrm>
            <a:off x="8767155" y="1411306"/>
            <a:ext cx="1803646"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zh-CN" altLang="en-US" dirty="0" smtClean="0"/>
              <a:t>本地</a:t>
            </a:r>
            <a:r>
              <a:rPr lang="zh-CN" altLang="en-US" dirty="0"/>
              <a:t>数据</a:t>
            </a:r>
            <a:r>
              <a:rPr lang="zh-CN" altLang="en-US" dirty="0" smtClean="0"/>
              <a:t>无备份</a:t>
            </a:r>
            <a:endParaRPr lang="zh-CN" altLang="en-US" dirty="0"/>
          </a:p>
        </p:txBody>
      </p:sp>
      <p:sp>
        <p:nvSpPr>
          <p:cNvPr id="59" name="文本框 58"/>
          <p:cNvSpPr txBox="1"/>
          <p:nvPr/>
        </p:nvSpPr>
        <p:spPr>
          <a:xfrm>
            <a:off x="5881983" y="1460241"/>
            <a:ext cx="168573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dirty="0" smtClean="0">
                <a:solidFill>
                  <a:schemeClr val="bg1"/>
                </a:solidFill>
              </a:rPr>
              <a:t>数据统一采集</a:t>
            </a:r>
            <a:endParaRPr lang="zh-CN" altLang="en-US" dirty="0">
              <a:solidFill>
                <a:schemeClr val="bg1"/>
              </a:solidFill>
            </a:endParaRPr>
          </a:p>
        </p:txBody>
      </p:sp>
      <p:sp>
        <p:nvSpPr>
          <p:cNvPr id="60" name="文本框 59"/>
          <p:cNvSpPr txBox="1"/>
          <p:nvPr/>
        </p:nvSpPr>
        <p:spPr>
          <a:xfrm>
            <a:off x="8760170" y="1421680"/>
            <a:ext cx="180364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dirty="0" smtClean="0">
                <a:solidFill>
                  <a:schemeClr val="bg1"/>
                </a:solidFill>
              </a:rPr>
              <a:t>数据本地化存储</a:t>
            </a:r>
            <a:endParaRPr lang="zh-CN" altLang="en-US" dirty="0">
              <a:solidFill>
                <a:schemeClr val="bg1"/>
              </a:solidFill>
            </a:endParaRPr>
          </a:p>
        </p:txBody>
      </p:sp>
    </p:spTree>
    <p:extLst>
      <p:ext uri="{BB962C8B-B14F-4D97-AF65-F5344CB8AC3E}">
        <p14:creationId xmlns:p14="http://schemas.microsoft.com/office/powerpoint/2010/main" val="13290787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1"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4" presetClass="exit" presetSubtype="10" fill="hold" grpId="0" nodeType="clickEffect">
                                  <p:stCondLst>
                                    <p:cond delay="0"/>
                                  </p:stCondLst>
                                  <p:childTnLst>
                                    <p:animEffect transition="out" filter="randombar(horizontal)">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14" presetClass="entr" presetSubtype="1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randombar(horizontal)">
                                      <p:cBhvr>
                                        <p:cTn id="23" dur="500"/>
                                        <p:tgtEl>
                                          <p:spTgt spid="5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7"/>
                                        </p:tgtEl>
                                        <p:attrNameLst>
                                          <p:attrName>style.visibility</p:attrName>
                                        </p:attrNameLst>
                                      </p:cBhvr>
                                      <p:to>
                                        <p:strVal val="visible"/>
                                      </p:to>
                                    </p:set>
                                    <p:anim calcmode="lin" valueType="num">
                                      <p:cBhvr>
                                        <p:cTn id="28" dur="500" fill="hold"/>
                                        <p:tgtEl>
                                          <p:spTgt spid="57"/>
                                        </p:tgtEl>
                                        <p:attrNameLst>
                                          <p:attrName>ppt_w</p:attrName>
                                        </p:attrNameLst>
                                      </p:cBhvr>
                                      <p:tavLst>
                                        <p:tav tm="0">
                                          <p:val>
                                            <p:fltVal val="0"/>
                                          </p:val>
                                        </p:tav>
                                        <p:tav tm="100000">
                                          <p:val>
                                            <p:strVal val="#ppt_w"/>
                                          </p:val>
                                        </p:tav>
                                      </p:tavLst>
                                    </p:anim>
                                    <p:anim calcmode="lin" valueType="num">
                                      <p:cBhvr>
                                        <p:cTn id="29" dur="500" fill="hold"/>
                                        <p:tgtEl>
                                          <p:spTgt spid="57"/>
                                        </p:tgtEl>
                                        <p:attrNameLst>
                                          <p:attrName>ppt_h</p:attrName>
                                        </p:attrNameLst>
                                      </p:cBhvr>
                                      <p:tavLst>
                                        <p:tav tm="0">
                                          <p:val>
                                            <p:fltVal val="0"/>
                                          </p:val>
                                        </p:tav>
                                        <p:tav tm="100000">
                                          <p:val>
                                            <p:strVal val="#ppt_h"/>
                                          </p:val>
                                        </p:tav>
                                      </p:tavLst>
                                    </p:anim>
                                    <p:animEffect transition="in" filter="fade">
                                      <p:cBhvr>
                                        <p:cTn id="30" dur="500"/>
                                        <p:tgtEl>
                                          <p:spTgt spid="57"/>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1000"/>
                                        <p:tgtEl>
                                          <p:spTgt spid="55"/>
                                        </p:tgtEl>
                                      </p:cBhvr>
                                    </p:animEffect>
                                    <p:anim calcmode="lin" valueType="num">
                                      <p:cBhvr>
                                        <p:cTn id="36" dur="1000" fill="hold"/>
                                        <p:tgtEl>
                                          <p:spTgt spid="55"/>
                                        </p:tgtEl>
                                        <p:attrNameLst>
                                          <p:attrName>ppt_x</p:attrName>
                                        </p:attrNameLst>
                                      </p:cBhvr>
                                      <p:tavLst>
                                        <p:tav tm="0">
                                          <p:val>
                                            <p:strVal val="#ppt_x"/>
                                          </p:val>
                                        </p:tav>
                                        <p:tav tm="100000">
                                          <p:val>
                                            <p:strVal val="#ppt_x"/>
                                          </p:val>
                                        </p:tav>
                                      </p:tavLst>
                                    </p:anim>
                                    <p:anim calcmode="lin" valueType="num">
                                      <p:cBhvr>
                                        <p:cTn id="37"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xit" presetSubtype="0" fill="hold" grpId="1" nodeType="clickEffect">
                                  <p:stCondLst>
                                    <p:cond delay="0"/>
                                  </p:stCondLst>
                                  <p:childTnLst>
                                    <p:animEffect transition="out" filter="fade">
                                      <p:cBhvr>
                                        <p:cTn id="41" dur="1000"/>
                                        <p:tgtEl>
                                          <p:spTgt spid="55"/>
                                        </p:tgtEl>
                                      </p:cBhvr>
                                    </p:animEffect>
                                    <p:anim calcmode="lin" valueType="num">
                                      <p:cBhvr>
                                        <p:cTn id="42" dur="1000"/>
                                        <p:tgtEl>
                                          <p:spTgt spid="55"/>
                                        </p:tgtEl>
                                        <p:attrNameLst>
                                          <p:attrName>ppt_x</p:attrName>
                                        </p:attrNameLst>
                                      </p:cBhvr>
                                      <p:tavLst>
                                        <p:tav tm="0">
                                          <p:val>
                                            <p:strVal val="ppt_x"/>
                                          </p:val>
                                        </p:tav>
                                        <p:tav tm="100000">
                                          <p:val>
                                            <p:strVal val="ppt_x"/>
                                          </p:val>
                                        </p:tav>
                                      </p:tavLst>
                                    </p:anim>
                                    <p:anim calcmode="lin" valueType="num">
                                      <p:cBhvr>
                                        <p:cTn id="43" dur="1000"/>
                                        <p:tgtEl>
                                          <p:spTgt spid="55"/>
                                        </p:tgtEl>
                                        <p:attrNameLst>
                                          <p:attrName>ppt_y</p:attrName>
                                        </p:attrNameLst>
                                      </p:cBhvr>
                                      <p:tavLst>
                                        <p:tav tm="0">
                                          <p:val>
                                            <p:strVal val="ppt_y"/>
                                          </p:val>
                                        </p:tav>
                                        <p:tav tm="100000">
                                          <p:val>
                                            <p:strVal val="ppt_y+.1"/>
                                          </p:val>
                                        </p:tav>
                                      </p:tavLst>
                                    </p:anim>
                                    <p:set>
                                      <p:cBhvr>
                                        <p:cTn id="44" dur="1" fill="hold">
                                          <p:stCondLst>
                                            <p:cond delay="999"/>
                                          </p:stCondLst>
                                        </p:cTn>
                                        <p:tgtEl>
                                          <p:spTgt spid="5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fade">
                                      <p:cBhvr>
                                        <p:cTn id="49" dur="1000"/>
                                        <p:tgtEl>
                                          <p:spTgt spid="56"/>
                                        </p:tgtEl>
                                      </p:cBhvr>
                                    </p:animEffect>
                                    <p:anim calcmode="lin" valueType="num">
                                      <p:cBhvr>
                                        <p:cTn id="50" dur="1000" fill="hold"/>
                                        <p:tgtEl>
                                          <p:spTgt spid="56"/>
                                        </p:tgtEl>
                                        <p:attrNameLst>
                                          <p:attrName>ppt_x</p:attrName>
                                        </p:attrNameLst>
                                      </p:cBhvr>
                                      <p:tavLst>
                                        <p:tav tm="0">
                                          <p:val>
                                            <p:strVal val="#ppt_x"/>
                                          </p:val>
                                        </p:tav>
                                        <p:tav tm="100000">
                                          <p:val>
                                            <p:strVal val="#ppt_x"/>
                                          </p:val>
                                        </p:tav>
                                      </p:tavLst>
                                    </p:anim>
                                    <p:anim calcmode="lin" valueType="num">
                                      <p:cBhvr>
                                        <p:cTn id="51"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xit" presetSubtype="0" fill="hold" grpId="1" nodeType="clickEffect">
                                  <p:stCondLst>
                                    <p:cond delay="0"/>
                                  </p:stCondLst>
                                  <p:childTnLst>
                                    <p:animEffect transition="out" filter="fade">
                                      <p:cBhvr>
                                        <p:cTn id="55" dur="1000"/>
                                        <p:tgtEl>
                                          <p:spTgt spid="56"/>
                                        </p:tgtEl>
                                      </p:cBhvr>
                                    </p:animEffect>
                                    <p:anim calcmode="lin" valueType="num">
                                      <p:cBhvr>
                                        <p:cTn id="56" dur="1000"/>
                                        <p:tgtEl>
                                          <p:spTgt spid="56"/>
                                        </p:tgtEl>
                                        <p:attrNameLst>
                                          <p:attrName>ppt_x</p:attrName>
                                        </p:attrNameLst>
                                      </p:cBhvr>
                                      <p:tavLst>
                                        <p:tav tm="0">
                                          <p:val>
                                            <p:strVal val="ppt_x"/>
                                          </p:val>
                                        </p:tav>
                                        <p:tav tm="100000">
                                          <p:val>
                                            <p:strVal val="ppt_x"/>
                                          </p:val>
                                        </p:tav>
                                      </p:tavLst>
                                    </p:anim>
                                    <p:anim calcmode="lin" valueType="num">
                                      <p:cBhvr>
                                        <p:cTn id="57" dur="1000"/>
                                        <p:tgtEl>
                                          <p:spTgt spid="56"/>
                                        </p:tgtEl>
                                        <p:attrNameLst>
                                          <p:attrName>ppt_y</p:attrName>
                                        </p:attrNameLst>
                                      </p:cBhvr>
                                      <p:tavLst>
                                        <p:tav tm="0">
                                          <p:val>
                                            <p:strVal val="ppt_y"/>
                                          </p:val>
                                        </p:tav>
                                        <p:tav tm="100000">
                                          <p:val>
                                            <p:strVal val="ppt_y+.1"/>
                                          </p:val>
                                        </p:tav>
                                      </p:tavLst>
                                    </p:anim>
                                    <p:set>
                                      <p:cBhvr>
                                        <p:cTn id="58" dur="1" fill="hold">
                                          <p:stCondLst>
                                            <p:cond delay="999"/>
                                          </p:stCondLst>
                                        </p:cTn>
                                        <p:tgtEl>
                                          <p:spTgt spid="5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1" nodeType="clickEffect">
                                  <p:stCondLst>
                                    <p:cond delay="0"/>
                                  </p:stCondLst>
                                  <p:childTnLst>
                                    <p:set>
                                      <p:cBhvr>
                                        <p:cTn id="62" dur="1" fill="hold">
                                          <p:stCondLst>
                                            <p:cond delay="0"/>
                                          </p:stCondLst>
                                        </p:cTn>
                                        <p:tgtEl>
                                          <p:spTgt spid="58"/>
                                        </p:tgtEl>
                                        <p:attrNameLst>
                                          <p:attrName>style.visibility</p:attrName>
                                        </p:attrNameLst>
                                      </p:cBhvr>
                                      <p:to>
                                        <p:strVal val="visible"/>
                                      </p:to>
                                    </p:set>
                                    <p:anim calcmode="lin" valueType="num">
                                      <p:cBhvr additive="base">
                                        <p:cTn id="63" dur="500" fill="hold"/>
                                        <p:tgtEl>
                                          <p:spTgt spid="58"/>
                                        </p:tgtEl>
                                        <p:attrNameLst>
                                          <p:attrName>ppt_x</p:attrName>
                                        </p:attrNameLst>
                                      </p:cBhvr>
                                      <p:tavLst>
                                        <p:tav tm="0">
                                          <p:val>
                                            <p:strVal val="#ppt_x"/>
                                          </p:val>
                                        </p:tav>
                                        <p:tav tm="100000">
                                          <p:val>
                                            <p:strVal val="#ppt_x"/>
                                          </p:val>
                                        </p:tav>
                                      </p:tavLst>
                                    </p:anim>
                                    <p:anim calcmode="lin" valueType="num">
                                      <p:cBhvr additive="base">
                                        <p:cTn id="64"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4" presetClass="exit" presetSubtype="10" fill="hold" grpId="0" nodeType="clickEffect">
                                  <p:stCondLst>
                                    <p:cond delay="0"/>
                                  </p:stCondLst>
                                  <p:childTnLst>
                                    <p:animEffect transition="out" filter="randombar(horizontal)">
                                      <p:cBhvr>
                                        <p:cTn id="68" dur="500"/>
                                        <p:tgtEl>
                                          <p:spTgt spid="58"/>
                                        </p:tgtEl>
                                      </p:cBhvr>
                                    </p:animEffect>
                                    <p:set>
                                      <p:cBhvr>
                                        <p:cTn id="69" dur="1" fill="hold">
                                          <p:stCondLst>
                                            <p:cond delay="499"/>
                                          </p:stCondLst>
                                        </p:cTn>
                                        <p:tgtEl>
                                          <p:spTgt spid="58"/>
                                        </p:tgtEl>
                                        <p:attrNameLst>
                                          <p:attrName>style.visibility</p:attrName>
                                        </p:attrNameLst>
                                      </p:cBhvr>
                                      <p:to>
                                        <p:strVal val="hidden"/>
                                      </p:to>
                                    </p:set>
                                  </p:childTnLst>
                                </p:cTn>
                              </p:par>
                              <p:par>
                                <p:cTn id="70" presetID="14" presetClass="entr" presetSubtype="10" fill="hold" grpId="0" nodeType="with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randombar(horizontal)">
                                      <p:cBhvr>
                                        <p:cTn id="7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4" grpId="0"/>
      <p:bldP spid="43" grpId="0" animBg="1"/>
      <p:bldP spid="44" grpId="0" animBg="1"/>
      <p:bldP spid="46" grpId="0" animBg="1"/>
      <p:bldP spid="47" grpId="0" animBg="1"/>
      <p:bldP spid="48" grpId="0"/>
      <p:bldP spid="54" grpId="0"/>
      <p:bldP spid="55" grpId="0" animBg="1"/>
      <p:bldP spid="55" grpId="1" animBg="1"/>
      <p:bldP spid="56" grpId="0" animBg="1"/>
      <p:bldP spid="56" grpId="1" animBg="1"/>
      <p:bldP spid="3" grpId="0" animBg="1"/>
      <p:bldP spid="7" grpId="0" animBg="1"/>
      <p:bldP spid="7" grpId="1" animBg="1"/>
      <p:bldP spid="57" grpId="0" animBg="1"/>
      <p:bldP spid="58" grpId="0" animBg="1"/>
      <p:bldP spid="58" grpId="1" animBg="1"/>
      <p:bldP spid="59" grpId="0" animBg="1"/>
      <p:bldP spid="6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957488" y="1827128"/>
            <a:ext cx="3757386" cy="3323987"/>
          </a:xfrm>
          <a:prstGeom prst="rect">
            <a:avLst/>
          </a:prstGeom>
          <a:noFill/>
        </p:spPr>
        <p:txBody>
          <a:bodyPr wrap="square" rtlCol="0">
            <a:spAutoFit/>
          </a:bodyPr>
          <a:lstStyle/>
          <a:p>
            <a:pPr indent="457200">
              <a:lnSpc>
                <a:spcPct val="150000"/>
              </a:lnSpc>
            </a:pPr>
            <a:endParaRPr lang="en-US" altLang="zh-CN" sz="2000" b="1" dirty="0" smtClean="0">
              <a:latin typeface="+mn-ea"/>
            </a:endParaRPr>
          </a:p>
          <a:p>
            <a:pPr marL="285750" indent="-285750">
              <a:lnSpc>
                <a:spcPct val="150000"/>
              </a:lnSpc>
              <a:buFont typeface="Arial" panose="020B0604020202020204" pitchFamily="34" charset="0"/>
              <a:buChar char="•"/>
            </a:pPr>
            <a:r>
              <a:rPr lang="zh-CN" altLang="en-US" sz="2000" b="1" dirty="0" smtClean="0">
                <a:latin typeface="+mn-ea"/>
              </a:rPr>
              <a:t>数据分析</a:t>
            </a:r>
            <a:r>
              <a:rPr lang="zh-CN" altLang="en-US" sz="2000" b="1" dirty="0" smtClean="0">
                <a:latin typeface="+mn-ea"/>
              </a:rPr>
              <a:t>：自动化</a:t>
            </a:r>
            <a:r>
              <a:rPr lang="en-US" altLang="zh-CN" sz="2000" b="1" dirty="0" smtClean="0">
                <a:latin typeface="+mn-ea"/>
              </a:rPr>
              <a:t>--</a:t>
            </a:r>
            <a:r>
              <a:rPr lang="zh-CN" altLang="en-US" sz="2000" b="1" dirty="0" smtClean="0">
                <a:latin typeface="+mn-ea"/>
              </a:rPr>
              <a:t>智能化</a:t>
            </a:r>
            <a:endParaRPr lang="en-US" altLang="zh-CN" sz="2000" b="1" dirty="0">
              <a:latin typeface="+mn-ea"/>
            </a:endParaRPr>
          </a:p>
          <a:p>
            <a:pPr marL="742950" lvl="1" indent="-285750">
              <a:lnSpc>
                <a:spcPct val="150000"/>
              </a:lnSpc>
              <a:buFont typeface="Arial" panose="020B0604020202020204" pitchFamily="34" charset="0"/>
              <a:buChar char="•"/>
            </a:pPr>
            <a:r>
              <a:rPr lang="zh-CN" altLang="en-US" sz="2000" dirty="0">
                <a:latin typeface="+mn-ea"/>
              </a:rPr>
              <a:t>日常</a:t>
            </a:r>
            <a:r>
              <a:rPr lang="zh-CN" altLang="en-US" sz="2000" dirty="0" smtClean="0">
                <a:latin typeface="+mn-ea"/>
              </a:rPr>
              <a:t>分析</a:t>
            </a:r>
            <a:r>
              <a:rPr lang="zh-CN" altLang="en-US" sz="2000" dirty="0" smtClean="0">
                <a:solidFill>
                  <a:srgbClr val="C00000"/>
                </a:solidFill>
                <a:latin typeface="+mn-ea"/>
              </a:rPr>
              <a:t>自动完成</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门限阈值</a:t>
            </a:r>
            <a:r>
              <a:rPr lang="zh-CN" altLang="en-US" sz="2000" dirty="0" smtClean="0">
                <a:solidFill>
                  <a:srgbClr val="C00000"/>
                </a:solidFill>
                <a:latin typeface="+mn-ea"/>
              </a:rPr>
              <a:t>自动调整</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数据</a:t>
            </a:r>
            <a:r>
              <a:rPr lang="zh-CN" altLang="en-US" sz="2000" dirty="0" smtClean="0">
                <a:latin typeface="+mn-ea"/>
              </a:rPr>
              <a:t>关系</a:t>
            </a:r>
            <a:r>
              <a:rPr lang="zh-CN" altLang="en-US" sz="2000" dirty="0">
                <a:solidFill>
                  <a:srgbClr val="C00000"/>
                </a:solidFill>
                <a:latin typeface="+mn-ea"/>
              </a:rPr>
              <a:t>智能挖掘</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数据</a:t>
            </a:r>
            <a:r>
              <a:rPr lang="zh-CN" altLang="en-US" sz="2000" dirty="0" smtClean="0">
                <a:latin typeface="+mn-ea"/>
              </a:rPr>
              <a:t>异常及时告警</a:t>
            </a:r>
            <a:endParaRPr lang="en-US" altLang="zh-CN" sz="2000" dirty="0" smtClean="0">
              <a:latin typeface="+mn-ea"/>
            </a:endParaRPr>
          </a:p>
          <a:p>
            <a:pPr marL="742950" lvl="1" indent="-285750">
              <a:lnSpc>
                <a:spcPct val="150000"/>
              </a:lnSpc>
              <a:buFont typeface="Arial" panose="020B0604020202020204" pitchFamily="34" charset="0"/>
              <a:buChar char="•"/>
            </a:pPr>
            <a:r>
              <a:rPr lang="zh-CN" altLang="en-US" sz="2000" dirty="0" smtClean="0">
                <a:latin typeface="+mn-ea"/>
              </a:rPr>
              <a:t>潜在问题提前</a:t>
            </a:r>
            <a:r>
              <a:rPr lang="zh-CN" altLang="en-US" sz="2000" dirty="0" smtClean="0">
                <a:latin typeface="+mn-ea"/>
              </a:rPr>
              <a:t>预测</a:t>
            </a:r>
            <a:endParaRPr lang="en-US" altLang="zh-CN" sz="2000" dirty="0" smtClean="0">
              <a:latin typeface="+mn-ea"/>
            </a:endParaRPr>
          </a:p>
        </p:txBody>
      </p:sp>
      <p:sp>
        <p:nvSpPr>
          <p:cNvPr id="3" name="文本框 2"/>
          <p:cNvSpPr txBox="1"/>
          <p:nvPr/>
        </p:nvSpPr>
        <p:spPr>
          <a:xfrm>
            <a:off x="6629400" y="2049565"/>
            <a:ext cx="3324225" cy="369332"/>
          </a:xfrm>
          <a:prstGeom prst="rect">
            <a:avLst/>
          </a:prstGeom>
          <a:noFill/>
        </p:spPr>
        <p:txBody>
          <a:bodyPr wrap="square" rtlCol="0">
            <a:spAutoFit/>
          </a:bodyPr>
          <a:lstStyle/>
          <a:p>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725" y="523504"/>
            <a:ext cx="5314286" cy="1333333"/>
          </a:xfrm>
          <a:prstGeom prst="rect">
            <a:avLst/>
          </a:prstGeom>
        </p:spPr>
      </p:pic>
      <p:sp>
        <p:nvSpPr>
          <p:cNvPr id="11" name="文本框 10"/>
          <p:cNvSpPr txBox="1"/>
          <p:nvPr/>
        </p:nvSpPr>
        <p:spPr>
          <a:xfrm>
            <a:off x="6276975" y="2049565"/>
            <a:ext cx="4267200" cy="369332"/>
          </a:xfrm>
          <a:prstGeom prst="rect">
            <a:avLst/>
          </a:prstGeom>
          <a:noFill/>
        </p:spPr>
        <p:txBody>
          <a:bodyPr wrap="square" rtlCol="0">
            <a:spAutoFit/>
          </a:bodyPr>
          <a:lstStyle/>
          <a:p>
            <a:pPr algn="ctr"/>
            <a:r>
              <a:rPr lang="zh-CN" altLang="en-US" dirty="0" smtClean="0"/>
              <a:t>预警门限自动调整</a:t>
            </a:r>
            <a:endParaRPr lang="zh-CN" altLang="en-US" dirty="0"/>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6976" y="2703966"/>
            <a:ext cx="4362450" cy="3200669"/>
          </a:xfrm>
          <a:prstGeom prst="rect">
            <a:avLst/>
          </a:prstGeom>
        </p:spPr>
      </p:pic>
      <p:sp>
        <p:nvSpPr>
          <p:cNvPr id="14" name="文本框 13"/>
          <p:cNvSpPr txBox="1"/>
          <p:nvPr/>
        </p:nvSpPr>
        <p:spPr>
          <a:xfrm>
            <a:off x="6629400" y="3600450"/>
            <a:ext cx="1104900" cy="369332"/>
          </a:xfrm>
          <a:prstGeom prst="rect">
            <a:avLst/>
          </a:prstGeom>
          <a:noFill/>
        </p:spPr>
        <p:txBody>
          <a:bodyPr wrap="square" rtlCol="0">
            <a:spAutoFit/>
          </a:bodyPr>
          <a:lstStyle/>
          <a:p>
            <a:r>
              <a:rPr lang="zh-CN" altLang="en-US" dirty="0" smtClean="0"/>
              <a:t>原始数据</a:t>
            </a:r>
            <a:endParaRPr lang="zh-CN" altLang="en-US" dirty="0"/>
          </a:p>
        </p:txBody>
      </p:sp>
      <p:sp>
        <p:nvSpPr>
          <p:cNvPr id="16" name="文本框 15"/>
          <p:cNvSpPr txBox="1"/>
          <p:nvPr/>
        </p:nvSpPr>
        <p:spPr>
          <a:xfrm>
            <a:off x="7886700" y="4114799"/>
            <a:ext cx="914400" cy="523220"/>
          </a:xfrm>
          <a:prstGeom prst="rect">
            <a:avLst/>
          </a:prstGeom>
          <a:noFill/>
        </p:spPr>
        <p:txBody>
          <a:bodyPr wrap="square" rtlCol="0">
            <a:spAutoFit/>
          </a:bodyPr>
          <a:lstStyle/>
          <a:p>
            <a:r>
              <a:rPr lang="zh-CN" altLang="en-US" sz="1400" dirty="0" smtClean="0"/>
              <a:t>数据关联分析</a:t>
            </a:r>
            <a:endParaRPr lang="zh-CN" altLang="en-US" dirty="0"/>
          </a:p>
        </p:txBody>
      </p:sp>
      <p:sp>
        <p:nvSpPr>
          <p:cNvPr id="18" name="文本框 17"/>
          <p:cNvSpPr txBox="1"/>
          <p:nvPr/>
        </p:nvSpPr>
        <p:spPr>
          <a:xfrm>
            <a:off x="8162925" y="4638019"/>
            <a:ext cx="914400" cy="276999"/>
          </a:xfrm>
          <a:prstGeom prst="rect">
            <a:avLst/>
          </a:prstGeom>
          <a:noFill/>
        </p:spPr>
        <p:txBody>
          <a:bodyPr wrap="square" rtlCol="0">
            <a:spAutoFit/>
          </a:bodyPr>
          <a:lstStyle/>
          <a:p>
            <a:r>
              <a:rPr lang="zh-CN" altLang="en-US" sz="1200" dirty="0" smtClean="0"/>
              <a:t>数据聚类</a:t>
            </a:r>
            <a:endParaRPr lang="zh-CN" altLang="en-US" sz="1200" dirty="0"/>
          </a:p>
        </p:txBody>
      </p:sp>
      <p:sp>
        <p:nvSpPr>
          <p:cNvPr id="19" name="文本框 18"/>
          <p:cNvSpPr txBox="1"/>
          <p:nvPr/>
        </p:nvSpPr>
        <p:spPr>
          <a:xfrm>
            <a:off x="9263063" y="4613937"/>
            <a:ext cx="1057502" cy="276999"/>
          </a:xfrm>
          <a:prstGeom prst="rect">
            <a:avLst/>
          </a:prstGeom>
          <a:noFill/>
        </p:spPr>
        <p:txBody>
          <a:bodyPr wrap="square" rtlCol="0">
            <a:spAutoFit/>
          </a:bodyPr>
          <a:lstStyle/>
          <a:p>
            <a:r>
              <a:rPr lang="zh-CN" altLang="en-US" sz="1200" dirty="0" smtClean="0"/>
              <a:t>数据聚类簇</a:t>
            </a:r>
            <a:endParaRPr lang="zh-CN" altLang="en-US" sz="1200" dirty="0"/>
          </a:p>
        </p:txBody>
      </p:sp>
      <p:sp>
        <p:nvSpPr>
          <p:cNvPr id="20" name="文本框 19"/>
          <p:cNvSpPr txBox="1"/>
          <p:nvPr/>
        </p:nvSpPr>
        <p:spPr>
          <a:xfrm>
            <a:off x="6276975" y="6058523"/>
            <a:ext cx="4267200" cy="369332"/>
          </a:xfrm>
          <a:prstGeom prst="rect">
            <a:avLst/>
          </a:prstGeom>
          <a:noFill/>
        </p:spPr>
        <p:txBody>
          <a:bodyPr wrap="square" rtlCol="0">
            <a:spAutoFit/>
          </a:bodyPr>
          <a:lstStyle/>
          <a:p>
            <a:pPr algn="ctr"/>
            <a:r>
              <a:rPr lang="zh-CN" altLang="en-US" dirty="0" smtClean="0"/>
              <a:t>智能数据关联</a:t>
            </a:r>
            <a:endParaRPr lang="zh-CN" altLang="en-US" dirty="0"/>
          </a:p>
        </p:txBody>
      </p:sp>
    </p:spTree>
    <p:extLst>
      <p:ext uri="{BB962C8B-B14F-4D97-AF65-F5344CB8AC3E}">
        <p14:creationId xmlns:p14="http://schemas.microsoft.com/office/powerpoint/2010/main" val="1363911426"/>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061829"/>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呈现：</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通过全景图直观全面呈现</a:t>
            </a:r>
            <a:endParaRPr lang="en-US" altLang="zh-CN" sz="1400" dirty="0"/>
          </a:p>
        </p:txBody>
      </p:sp>
      <p:sp>
        <p:nvSpPr>
          <p:cNvPr id="2" name="文本框 1"/>
          <p:cNvSpPr txBox="1"/>
          <p:nvPr/>
        </p:nvSpPr>
        <p:spPr>
          <a:xfrm>
            <a:off x="6429375" y="3373380"/>
            <a:ext cx="1838325" cy="369332"/>
          </a:xfrm>
          <a:prstGeom prst="rect">
            <a:avLst/>
          </a:prstGeom>
          <a:noFill/>
        </p:spPr>
        <p:txBody>
          <a:bodyPr wrap="square" rtlCol="0">
            <a:spAutoFit/>
          </a:bodyPr>
          <a:lstStyle/>
          <a:p>
            <a:r>
              <a:rPr lang="zh-CN" altLang="en-US" dirty="0" smtClean="0"/>
              <a:t>驾驶舱演示</a:t>
            </a:r>
            <a:endParaRPr lang="zh-CN" altLang="en-US" dirty="0"/>
          </a:p>
        </p:txBody>
      </p:sp>
    </p:spTree>
    <p:extLst>
      <p:ext uri="{BB962C8B-B14F-4D97-AF65-F5344CB8AC3E}">
        <p14:creationId xmlns:p14="http://schemas.microsoft.com/office/powerpoint/2010/main" val="924282353"/>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平台应用</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FF0000"/>
                </a:solidFill>
                <a:latin typeface="微软雅黑" panose="020B0503020204020204" pitchFamily="34" charset="-122"/>
                <a:ea typeface="微软雅黑" panose="020B0503020204020204" pitchFamily="34" charset="-122"/>
              </a:rPr>
              <a:t>技术实现</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具体安排</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828034"/>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29" name="矩形 28"/>
          <p:cNvSpPr/>
          <p:nvPr/>
        </p:nvSpPr>
        <p:spPr>
          <a:xfrm>
            <a:off x="1072023" y="5043340"/>
            <a:ext cx="1415846" cy="5604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数据源</a:t>
            </a:r>
            <a:endParaRPr lang="zh-CN" altLang="en-US" dirty="0"/>
          </a:p>
        </p:txBody>
      </p:sp>
      <p:sp>
        <p:nvSpPr>
          <p:cNvPr id="30" name="矩形 29"/>
          <p:cNvSpPr/>
          <p:nvPr/>
        </p:nvSpPr>
        <p:spPr>
          <a:xfrm>
            <a:off x="1076943" y="4394411"/>
            <a:ext cx="1415846" cy="5309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感知系统</a:t>
            </a:r>
            <a:endParaRPr lang="zh-CN" altLang="en-US" dirty="0"/>
          </a:p>
        </p:txBody>
      </p:sp>
      <p:sp>
        <p:nvSpPr>
          <p:cNvPr id="32" name="矩形 31"/>
          <p:cNvSpPr/>
          <p:nvPr/>
        </p:nvSpPr>
        <p:spPr>
          <a:xfrm>
            <a:off x="1076943" y="2673816"/>
            <a:ext cx="1415846" cy="164685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决策系统</a:t>
            </a:r>
            <a:endParaRPr lang="zh-CN" altLang="en-US" dirty="0"/>
          </a:p>
        </p:txBody>
      </p:sp>
      <p:sp>
        <p:nvSpPr>
          <p:cNvPr id="33" name="矩形 32"/>
          <p:cNvSpPr/>
          <p:nvPr/>
        </p:nvSpPr>
        <p:spPr>
          <a:xfrm>
            <a:off x="1091688" y="1788862"/>
            <a:ext cx="1415846"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应用中心</a:t>
            </a:r>
            <a:endParaRPr lang="zh-CN" altLang="en-US" dirty="0"/>
          </a:p>
        </p:txBody>
      </p:sp>
      <p:sp>
        <p:nvSpPr>
          <p:cNvPr id="34" name="矩形 33"/>
          <p:cNvSpPr/>
          <p:nvPr/>
        </p:nvSpPr>
        <p:spPr>
          <a:xfrm>
            <a:off x="8721507" y="2678376"/>
            <a:ext cx="1415846" cy="16518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控制系统</a:t>
            </a:r>
            <a:endParaRPr lang="en-US" altLang="zh-CN" dirty="0" smtClean="0"/>
          </a:p>
          <a:p>
            <a:pPr algn="ctr"/>
            <a:r>
              <a:rPr lang="zh-CN" altLang="en-US" sz="1600" dirty="0"/>
              <a:t>决策结果执行</a:t>
            </a:r>
          </a:p>
          <a:p>
            <a:pPr algn="ctr"/>
            <a:r>
              <a:rPr lang="zh-CN" altLang="en-US" sz="1600" dirty="0"/>
              <a:t>事件</a:t>
            </a:r>
            <a:r>
              <a:rPr lang="zh-CN" altLang="en-US" sz="1600" dirty="0" smtClean="0"/>
              <a:t>日志</a:t>
            </a:r>
            <a:endParaRPr lang="zh-CN" altLang="en-US" sz="1600" dirty="0"/>
          </a:p>
        </p:txBody>
      </p:sp>
      <p:sp>
        <p:nvSpPr>
          <p:cNvPr id="35" name="矩形 34"/>
          <p:cNvSpPr/>
          <p:nvPr/>
        </p:nvSpPr>
        <p:spPr>
          <a:xfrm>
            <a:off x="2517366" y="1788555"/>
            <a:ext cx="7639664"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网络全景图、运维场景应用、故障跟踪处理、信息查询、多维分析等</a:t>
            </a:r>
            <a:endParaRPr lang="zh-CN" altLang="en-US" dirty="0"/>
          </a:p>
        </p:txBody>
      </p:sp>
      <p:sp>
        <p:nvSpPr>
          <p:cNvPr id="36" name="矩形 35"/>
          <p:cNvSpPr/>
          <p:nvPr/>
        </p:nvSpPr>
        <p:spPr>
          <a:xfrm>
            <a:off x="2517365" y="5038109"/>
            <a:ext cx="8967020" cy="5604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网络设备数据、监控设备数据、其他系统数据、台账数据</a:t>
            </a:r>
            <a:endParaRPr lang="zh-CN" altLang="en-US" dirty="0"/>
          </a:p>
        </p:txBody>
      </p:sp>
      <p:sp>
        <p:nvSpPr>
          <p:cNvPr id="37" name="矩形 36"/>
          <p:cNvSpPr/>
          <p:nvPr/>
        </p:nvSpPr>
        <p:spPr>
          <a:xfrm>
            <a:off x="2517365" y="4389187"/>
            <a:ext cx="7639665" cy="54567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数据采集、数据处理</a:t>
            </a:r>
            <a:endParaRPr lang="zh-CN" altLang="en-US" dirty="0"/>
          </a:p>
        </p:txBody>
      </p:sp>
      <p:sp>
        <p:nvSpPr>
          <p:cNvPr id="38" name="矩形 37"/>
          <p:cNvSpPr/>
          <p:nvPr/>
        </p:nvSpPr>
        <p:spPr>
          <a:xfrm>
            <a:off x="2517365" y="2688207"/>
            <a:ext cx="6061587" cy="47686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配置管理</a:t>
            </a:r>
            <a:endParaRPr lang="zh-CN" altLang="en-US" dirty="0"/>
          </a:p>
        </p:txBody>
      </p:sp>
      <p:sp>
        <p:nvSpPr>
          <p:cNvPr id="39" name="矩形 38"/>
          <p:cNvSpPr/>
          <p:nvPr/>
        </p:nvSpPr>
        <p:spPr>
          <a:xfrm>
            <a:off x="10260256" y="1798388"/>
            <a:ext cx="1238861" cy="3121742"/>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管理中心 </a:t>
            </a:r>
            <a:endParaRPr lang="en-US" altLang="zh-CN" dirty="0" smtClean="0"/>
          </a:p>
          <a:p>
            <a:pPr algn="ctr"/>
            <a:endParaRPr lang="en-US" altLang="zh-CN" dirty="0" smtClean="0"/>
          </a:p>
          <a:p>
            <a:pPr algn="ctr"/>
            <a:r>
              <a:rPr lang="zh-CN" altLang="en-US" dirty="0" smtClean="0"/>
              <a:t>用户管理</a:t>
            </a:r>
            <a:endParaRPr lang="en-US" altLang="zh-CN" dirty="0" smtClean="0"/>
          </a:p>
          <a:p>
            <a:pPr algn="ctr"/>
            <a:r>
              <a:rPr lang="zh-CN" altLang="en-US" dirty="0" smtClean="0"/>
              <a:t>安全管理</a:t>
            </a:r>
            <a:endParaRPr lang="en-US" altLang="zh-CN" dirty="0" smtClean="0"/>
          </a:p>
          <a:p>
            <a:pPr algn="ctr"/>
            <a:r>
              <a:rPr lang="zh-CN" altLang="en-US" dirty="0" smtClean="0"/>
              <a:t>日志管理</a:t>
            </a:r>
            <a:endParaRPr lang="zh-CN" altLang="en-US" dirty="0"/>
          </a:p>
        </p:txBody>
      </p:sp>
      <p:sp>
        <p:nvSpPr>
          <p:cNvPr id="40" name="矩形 39"/>
          <p:cNvSpPr/>
          <p:nvPr/>
        </p:nvSpPr>
        <p:spPr>
          <a:xfrm>
            <a:off x="2517365" y="3224067"/>
            <a:ext cx="6076336" cy="53094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智库管理：算法库、模型库、特征库、机器学习机制</a:t>
            </a:r>
            <a:endParaRPr lang="zh-CN" altLang="en-US" dirty="0"/>
          </a:p>
        </p:txBody>
      </p:sp>
      <p:sp>
        <p:nvSpPr>
          <p:cNvPr id="41" name="矩形 40"/>
          <p:cNvSpPr/>
          <p:nvPr/>
        </p:nvSpPr>
        <p:spPr>
          <a:xfrm>
            <a:off x="2517365" y="3804166"/>
            <a:ext cx="6056670" cy="51127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大数据处理引擎、人工智能引擎、可视化呈现处理引擎</a:t>
            </a:r>
            <a:endParaRPr lang="zh-CN" altLang="en-US" dirty="0"/>
          </a:p>
        </p:txBody>
      </p:sp>
    </p:spTree>
    <p:extLst>
      <p:ext uri="{BB962C8B-B14F-4D97-AF65-F5344CB8AC3E}">
        <p14:creationId xmlns:p14="http://schemas.microsoft.com/office/powerpoint/2010/main" val="2045259614"/>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5637974" y="2408303"/>
            <a:ext cx="2653452"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数据采集模块</a:t>
            </a:r>
          </a:p>
          <a:p>
            <a:pPr marL="285750" indent="-285750">
              <a:lnSpc>
                <a:spcPct val="150000"/>
              </a:lnSpc>
              <a:buFont typeface="Arial" panose="020B0604020202020204" pitchFamily="34" charset="0"/>
              <a:buChar char="•"/>
            </a:pPr>
            <a:r>
              <a:rPr lang="zh-CN" altLang="en-US" dirty="0" smtClean="0"/>
              <a:t>数据</a:t>
            </a:r>
            <a:r>
              <a:rPr lang="zh-CN" altLang="en-US" dirty="0"/>
              <a:t>处理</a:t>
            </a:r>
            <a:r>
              <a:rPr lang="zh-CN" altLang="en-US" dirty="0" smtClean="0"/>
              <a:t>模块</a:t>
            </a:r>
            <a:endParaRPr lang="zh-CN" altLang="en-US" dirty="0"/>
          </a:p>
          <a:p>
            <a:pPr marL="285750" indent="-285750">
              <a:lnSpc>
                <a:spcPct val="150000"/>
              </a:lnSpc>
              <a:buFont typeface="Arial" panose="020B0604020202020204" pitchFamily="34" charset="0"/>
              <a:buChar char="•"/>
            </a:pPr>
            <a:r>
              <a:rPr lang="zh-CN" altLang="en-US" dirty="0" smtClean="0"/>
              <a:t>智能分析模块</a:t>
            </a:r>
            <a:endParaRPr lang="zh-CN" altLang="en-US" dirty="0"/>
          </a:p>
          <a:p>
            <a:pPr marL="285750" indent="-285750">
              <a:lnSpc>
                <a:spcPct val="150000"/>
              </a:lnSpc>
              <a:buFont typeface="Arial" panose="020B0604020202020204" pitchFamily="34" charset="0"/>
              <a:buChar char="•"/>
            </a:pPr>
            <a:r>
              <a:rPr lang="zh-CN" altLang="en-US" dirty="0" smtClean="0"/>
              <a:t>自主学习模块</a:t>
            </a:r>
            <a:endParaRPr lang="zh-CN" altLang="en-US" dirty="0"/>
          </a:p>
          <a:p>
            <a:pPr marL="285750" indent="-285750">
              <a:lnSpc>
                <a:spcPct val="150000"/>
              </a:lnSpc>
              <a:buFont typeface="Arial" panose="020B0604020202020204" pitchFamily="34" charset="0"/>
              <a:buChar char="•"/>
            </a:pPr>
            <a:r>
              <a:rPr lang="zh-CN" altLang="en-US" dirty="0"/>
              <a:t>流程</a:t>
            </a:r>
            <a:r>
              <a:rPr lang="zh-CN" altLang="en-US" dirty="0" smtClean="0"/>
              <a:t>处理模块</a:t>
            </a:r>
            <a:endParaRPr lang="zh-CN" altLang="en-US" dirty="0"/>
          </a:p>
          <a:p>
            <a:pPr marL="285750" indent="-285750">
              <a:lnSpc>
                <a:spcPct val="150000"/>
              </a:lnSpc>
              <a:buFont typeface="Arial" panose="020B0604020202020204" pitchFamily="34" charset="0"/>
              <a:buChar char="•"/>
            </a:pPr>
            <a:r>
              <a:rPr lang="zh-CN" altLang="en-US" dirty="0" smtClean="0"/>
              <a:t>信息通报模块</a:t>
            </a:r>
            <a:endParaRPr lang="zh-CN" altLang="en-US" dirty="0"/>
          </a:p>
        </p:txBody>
      </p:sp>
      <p:sp>
        <p:nvSpPr>
          <p:cNvPr id="20" name="文本框 19"/>
          <p:cNvSpPr txBox="1"/>
          <p:nvPr/>
        </p:nvSpPr>
        <p:spPr>
          <a:xfrm>
            <a:off x="4029710" y="2675858"/>
            <a:ext cx="1097280" cy="368300"/>
          </a:xfrm>
          <a:prstGeom prst="rect">
            <a:avLst/>
          </a:prstGeom>
          <a:noFill/>
        </p:spPr>
        <p:txBody>
          <a:bodyPr wrap="none" rtlCol="0">
            <a:spAutoFit/>
          </a:bodyPr>
          <a:lstStyle/>
          <a:p>
            <a:r>
              <a:rPr lang="zh-CN" altLang="en-US" dirty="0"/>
              <a:t>感知系统</a:t>
            </a:r>
          </a:p>
        </p:txBody>
      </p:sp>
      <p:sp>
        <p:nvSpPr>
          <p:cNvPr id="21" name="文本框 20"/>
          <p:cNvSpPr txBox="1"/>
          <p:nvPr/>
        </p:nvSpPr>
        <p:spPr>
          <a:xfrm>
            <a:off x="4029710" y="3506709"/>
            <a:ext cx="1097280" cy="368300"/>
          </a:xfrm>
          <a:prstGeom prst="rect">
            <a:avLst/>
          </a:prstGeom>
          <a:noFill/>
        </p:spPr>
        <p:txBody>
          <a:bodyPr wrap="none" rtlCol="0">
            <a:spAutoFit/>
          </a:bodyPr>
          <a:lstStyle/>
          <a:p>
            <a:r>
              <a:rPr lang="zh-CN" altLang="en-US" dirty="0"/>
              <a:t>决策系统</a:t>
            </a:r>
          </a:p>
        </p:txBody>
      </p:sp>
      <p:sp>
        <p:nvSpPr>
          <p:cNvPr id="22" name="文本框 21"/>
          <p:cNvSpPr txBox="1"/>
          <p:nvPr/>
        </p:nvSpPr>
        <p:spPr>
          <a:xfrm>
            <a:off x="4029710" y="4291179"/>
            <a:ext cx="1097280" cy="368300"/>
          </a:xfrm>
          <a:prstGeom prst="rect">
            <a:avLst/>
          </a:prstGeom>
          <a:noFill/>
        </p:spPr>
        <p:txBody>
          <a:bodyPr wrap="none" rtlCol="0">
            <a:spAutoFit/>
          </a:bodyPr>
          <a:lstStyle/>
          <a:p>
            <a:r>
              <a:rPr lang="zh-CN" altLang="en-US"/>
              <a:t>控制系统</a:t>
            </a:r>
          </a:p>
        </p:txBody>
      </p:sp>
      <p:sp>
        <p:nvSpPr>
          <p:cNvPr id="23" name="左大括号 22"/>
          <p:cNvSpPr/>
          <p:nvPr/>
        </p:nvSpPr>
        <p:spPr>
          <a:xfrm>
            <a:off x="5403215" y="2672080"/>
            <a:ext cx="234759" cy="454597"/>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4" name="左大括号 23"/>
          <p:cNvSpPr/>
          <p:nvPr/>
        </p:nvSpPr>
        <p:spPr>
          <a:xfrm>
            <a:off x="5403120" y="3481889"/>
            <a:ext cx="234950" cy="43815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5" name="左大括号 24"/>
          <p:cNvSpPr/>
          <p:nvPr/>
        </p:nvSpPr>
        <p:spPr>
          <a:xfrm>
            <a:off x="5398488" y="4291179"/>
            <a:ext cx="234950" cy="517973"/>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603808529"/>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2070901" y="894080"/>
            <a:ext cx="3450077" cy="5107305"/>
          </a:xfrm>
          <a:prstGeom prst="roundRect">
            <a:avLst/>
          </a:prstGeom>
          <a:ln w="38100">
            <a:prstDash val="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57250"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5774" y="646483"/>
            <a:ext cx="1169292" cy="369332"/>
          </a:xfrm>
          <a:prstGeom prst="rect">
            <a:avLst/>
          </a:prstGeom>
          <a:noFill/>
        </p:spPr>
        <p:txBody>
          <a:bodyPr wrap="square" rtlCol="0">
            <a:spAutoFit/>
          </a:bodyPr>
          <a:lstStyle/>
          <a:p>
            <a:r>
              <a:rPr lang="zh-CN" altLang="en-US" dirty="0" smtClean="0">
                <a:solidFill>
                  <a:srgbClr val="333F50"/>
                </a:solidFill>
              </a:rPr>
              <a:t>感知系统</a:t>
            </a:r>
            <a:endParaRPr lang="zh-CN" altLang="en-US" dirty="0">
              <a:solidFill>
                <a:srgbClr val="333F50"/>
              </a:solidFill>
            </a:endParaRPr>
          </a:p>
        </p:txBody>
      </p:sp>
      <p:sp>
        <p:nvSpPr>
          <p:cNvPr id="10" name="文本框 9"/>
          <p:cNvSpPr txBox="1"/>
          <p:nvPr/>
        </p:nvSpPr>
        <p:spPr>
          <a:xfrm>
            <a:off x="42076" y="3116558"/>
            <a:ext cx="1325880" cy="645160"/>
          </a:xfrm>
          <a:prstGeom prst="rect">
            <a:avLst/>
          </a:prstGeom>
          <a:noFill/>
        </p:spPr>
        <p:txBody>
          <a:bodyPr wrap="none" rtlCol="0">
            <a:spAutoFit/>
          </a:bodyPr>
          <a:lstStyle/>
          <a:p>
            <a:r>
              <a:rPr lang="zh-CN" altLang="en-US" dirty="0"/>
              <a:t>感知对象：</a:t>
            </a:r>
          </a:p>
          <a:p>
            <a:r>
              <a:rPr lang="zh-CN" altLang="en-US" dirty="0"/>
              <a:t>各类数据源</a:t>
            </a:r>
          </a:p>
        </p:txBody>
      </p:sp>
      <p:sp>
        <p:nvSpPr>
          <p:cNvPr id="11" name="KSO_Shape"/>
          <p:cNvSpPr/>
          <p:nvPr/>
        </p:nvSpPr>
        <p:spPr bwMode="auto">
          <a:xfrm>
            <a:off x="2264576" y="1171553"/>
            <a:ext cx="925195" cy="70802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p:spPr>
        <p:style>
          <a:lnRef idx="0">
            <a:schemeClr val="dk1"/>
          </a:lnRef>
          <a:fillRef idx="3">
            <a:schemeClr val="dk1"/>
          </a:fillRef>
          <a:effectRef idx="3">
            <a:schemeClr val="dk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sp>
        <p:nvSpPr>
          <p:cNvPr id="12" name="文本框 11"/>
          <p:cNvSpPr txBox="1"/>
          <p:nvPr/>
        </p:nvSpPr>
        <p:spPr>
          <a:xfrm>
            <a:off x="3300261" y="1341733"/>
            <a:ext cx="1097280" cy="368300"/>
          </a:xfrm>
          <a:prstGeom prst="rect">
            <a:avLst/>
          </a:prstGeom>
          <a:noFill/>
        </p:spPr>
        <p:txBody>
          <a:bodyPr wrap="none" rtlCol="0">
            <a:spAutoFit/>
          </a:bodyPr>
          <a:lstStyle/>
          <a:p>
            <a:r>
              <a:rPr lang="zh-CN" altLang="en-US" dirty="0"/>
              <a:t>用户数据</a:t>
            </a:r>
          </a:p>
        </p:txBody>
      </p:sp>
      <p:pic>
        <p:nvPicPr>
          <p:cNvPr id="13" name="图片 12" descr="business_Card_47.481081081081px_1197727_easyicon.net"/>
          <p:cNvPicPr>
            <a:picLocks noChangeAspect="1"/>
          </p:cNvPicPr>
          <p:nvPr/>
        </p:nvPicPr>
        <p:blipFill>
          <a:blip r:embed="rId3"/>
          <a:stretch>
            <a:fillRect/>
          </a:stretch>
        </p:blipFill>
        <p:spPr>
          <a:xfrm>
            <a:off x="2335696" y="2242163"/>
            <a:ext cx="782955" cy="799465"/>
          </a:xfrm>
          <a:prstGeom prst="rect">
            <a:avLst/>
          </a:prstGeom>
        </p:spPr>
      </p:pic>
      <p:sp>
        <p:nvSpPr>
          <p:cNvPr id="14" name="文本框 13"/>
          <p:cNvSpPr txBox="1"/>
          <p:nvPr/>
        </p:nvSpPr>
        <p:spPr>
          <a:xfrm>
            <a:off x="3300261" y="2458063"/>
            <a:ext cx="1097280" cy="368300"/>
          </a:xfrm>
          <a:prstGeom prst="rect">
            <a:avLst/>
          </a:prstGeom>
          <a:noFill/>
        </p:spPr>
        <p:txBody>
          <a:bodyPr wrap="none" rtlCol="0">
            <a:spAutoFit/>
          </a:bodyPr>
          <a:lstStyle/>
          <a:p>
            <a:r>
              <a:rPr lang="zh-CN" altLang="en-US"/>
              <a:t>业务数据</a:t>
            </a:r>
          </a:p>
        </p:txBody>
      </p:sp>
      <p:pic>
        <p:nvPicPr>
          <p:cNvPr id="15" name="图片 14" descr="electronic_132.97691373026px_1156647_easyicon.net"/>
          <p:cNvPicPr>
            <a:picLocks noChangeAspect="1"/>
          </p:cNvPicPr>
          <p:nvPr/>
        </p:nvPicPr>
        <p:blipFill>
          <a:blip r:embed="rId4"/>
          <a:stretch>
            <a:fillRect/>
          </a:stretch>
        </p:blipFill>
        <p:spPr>
          <a:xfrm>
            <a:off x="2223936" y="4738348"/>
            <a:ext cx="1005840" cy="967740"/>
          </a:xfrm>
          <a:prstGeom prst="rect">
            <a:avLst/>
          </a:prstGeom>
        </p:spPr>
      </p:pic>
      <p:sp>
        <p:nvSpPr>
          <p:cNvPr id="16" name="文本框 15"/>
          <p:cNvSpPr txBox="1"/>
          <p:nvPr/>
        </p:nvSpPr>
        <p:spPr>
          <a:xfrm>
            <a:off x="3300261" y="4922498"/>
            <a:ext cx="1097280" cy="368300"/>
          </a:xfrm>
          <a:prstGeom prst="rect">
            <a:avLst/>
          </a:prstGeom>
          <a:noFill/>
        </p:spPr>
        <p:txBody>
          <a:bodyPr wrap="none" rtlCol="0">
            <a:spAutoFit/>
          </a:bodyPr>
          <a:lstStyle/>
          <a:p>
            <a:r>
              <a:rPr lang="zh-CN" altLang="en-US"/>
              <a:t>设备数据</a:t>
            </a:r>
          </a:p>
        </p:txBody>
      </p:sp>
      <p:pic>
        <p:nvPicPr>
          <p:cNvPr id="17" name="图片 16" descr="Network_Disconnected_128px_1104178_easyicon.net"/>
          <p:cNvPicPr>
            <a:picLocks noChangeAspect="1"/>
          </p:cNvPicPr>
          <p:nvPr/>
        </p:nvPicPr>
        <p:blipFill>
          <a:blip r:embed="rId5"/>
          <a:stretch>
            <a:fillRect/>
          </a:stretch>
        </p:blipFill>
        <p:spPr>
          <a:xfrm>
            <a:off x="2239811" y="3402308"/>
            <a:ext cx="975360" cy="975360"/>
          </a:xfrm>
          <a:prstGeom prst="rect">
            <a:avLst/>
          </a:prstGeom>
        </p:spPr>
      </p:pic>
      <p:sp>
        <p:nvSpPr>
          <p:cNvPr id="19" name="文本框 18"/>
          <p:cNvSpPr txBox="1"/>
          <p:nvPr/>
        </p:nvSpPr>
        <p:spPr>
          <a:xfrm>
            <a:off x="3300261" y="3705838"/>
            <a:ext cx="1097280" cy="368300"/>
          </a:xfrm>
          <a:prstGeom prst="rect">
            <a:avLst/>
          </a:prstGeom>
          <a:noFill/>
        </p:spPr>
        <p:txBody>
          <a:bodyPr wrap="none" rtlCol="0">
            <a:spAutoFit/>
          </a:bodyPr>
          <a:lstStyle/>
          <a:p>
            <a:r>
              <a:rPr lang="zh-CN" altLang="en-US" dirty="0"/>
              <a:t>网络数据</a:t>
            </a:r>
          </a:p>
        </p:txBody>
      </p:sp>
      <p:sp>
        <p:nvSpPr>
          <p:cNvPr id="20" name="左大括号 19"/>
          <p:cNvSpPr/>
          <p:nvPr/>
        </p:nvSpPr>
        <p:spPr>
          <a:xfrm>
            <a:off x="1432726" y="1171553"/>
            <a:ext cx="360680" cy="4534535"/>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6" name="文本框 25"/>
          <p:cNvSpPr txBox="1"/>
          <p:nvPr/>
        </p:nvSpPr>
        <p:spPr>
          <a:xfrm>
            <a:off x="3485681" y="610213"/>
            <a:ext cx="1783080" cy="645160"/>
          </a:xfrm>
          <a:prstGeom prst="rect">
            <a:avLst/>
          </a:prstGeom>
          <a:solidFill>
            <a:schemeClr val="accent5">
              <a:lumMod val="40000"/>
              <a:lumOff val="60000"/>
            </a:schemeClr>
          </a:solidFill>
        </p:spPr>
        <p:txBody>
          <a:bodyPr wrap="none" rtlCol="0">
            <a:spAutoFit/>
          </a:bodyPr>
          <a:lstStyle/>
          <a:p>
            <a:r>
              <a:rPr lang="zh-CN" altLang="en-US" dirty="0"/>
              <a:t>感知渠道：</a:t>
            </a:r>
          </a:p>
          <a:p>
            <a:r>
              <a:rPr lang="zh-CN" altLang="en-US" dirty="0"/>
              <a:t>丰富的数据接口</a:t>
            </a:r>
          </a:p>
        </p:txBody>
      </p:sp>
      <p:sp>
        <p:nvSpPr>
          <p:cNvPr id="27" name="文本框 26"/>
          <p:cNvSpPr txBox="1"/>
          <p:nvPr/>
        </p:nvSpPr>
        <p:spPr>
          <a:xfrm>
            <a:off x="10952368" y="3633199"/>
            <a:ext cx="1107996" cy="369332"/>
          </a:xfrm>
          <a:prstGeom prst="rect">
            <a:avLst/>
          </a:prstGeom>
          <a:noFill/>
        </p:spPr>
        <p:txBody>
          <a:bodyPr wrap="none" rtlCol="0">
            <a:spAutoFit/>
          </a:bodyPr>
          <a:lstStyle/>
          <a:p>
            <a:r>
              <a:rPr lang="zh-CN" altLang="en-US" dirty="0" smtClean="0"/>
              <a:t>数据仓库</a:t>
            </a:r>
            <a:endParaRPr lang="zh-CN" altLang="en-US" dirty="0"/>
          </a:p>
        </p:txBody>
      </p:sp>
      <p:pic>
        <p:nvPicPr>
          <p:cNvPr id="28" name="图片 27" descr="STORAGE_135.26977687627px_1199104_easyicon.net"/>
          <p:cNvPicPr>
            <a:picLocks noChangeAspect="1"/>
          </p:cNvPicPr>
          <p:nvPr/>
        </p:nvPicPr>
        <p:blipFill>
          <a:blip r:embed="rId6"/>
          <a:stretch>
            <a:fillRect/>
          </a:stretch>
        </p:blipFill>
        <p:spPr>
          <a:xfrm>
            <a:off x="10818026" y="2237718"/>
            <a:ext cx="1376680" cy="1305560"/>
          </a:xfrm>
          <a:prstGeom prst="rect">
            <a:avLst/>
          </a:prstGeom>
        </p:spPr>
      </p:pic>
      <p:sp>
        <p:nvSpPr>
          <p:cNvPr id="29" name="燕尾形箭头 28"/>
          <p:cNvSpPr/>
          <p:nvPr/>
        </p:nvSpPr>
        <p:spPr>
          <a:xfrm>
            <a:off x="8105941" y="2720318"/>
            <a:ext cx="2712085"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17" name="燕尾形箭头 116"/>
          <p:cNvSpPr/>
          <p:nvPr/>
        </p:nvSpPr>
        <p:spPr>
          <a:xfrm>
            <a:off x="5530046" y="2784224"/>
            <a:ext cx="628650"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p:cNvSpPr txBox="1"/>
          <p:nvPr/>
        </p:nvSpPr>
        <p:spPr>
          <a:xfrm>
            <a:off x="2453171" y="6108065"/>
            <a:ext cx="1554480" cy="368300"/>
          </a:xfrm>
          <a:prstGeom prst="rect">
            <a:avLst/>
          </a:prstGeom>
          <a:noFill/>
        </p:spPr>
        <p:txBody>
          <a:bodyPr wrap="none" rtlCol="0">
            <a:spAutoFit/>
          </a:bodyPr>
          <a:lstStyle/>
          <a:p>
            <a:r>
              <a:rPr lang="zh-CN" altLang="en-US" b="1">
                <a:ln/>
                <a:solidFill>
                  <a:schemeClr val="accent1"/>
                </a:solidFill>
                <a:effectLst>
                  <a:outerShdw blurRad="38100" dist="25400" dir="5400000" algn="ctr" rotWithShape="0">
                    <a:srgbClr val="6E747A">
                      <a:alpha val="43000"/>
                    </a:srgbClr>
                  </a:outerShdw>
                </a:effectLst>
              </a:rPr>
              <a:t>数据采集模块</a:t>
            </a:r>
          </a:p>
        </p:txBody>
      </p:sp>
      <p:sp>
        <p:nvSpPr>
          <p:cNvPr id="32" name="文本框 31"/>
          <p:cNvSpPr txBox="1"/>
          <p:nvPr/>
        </p:nvSpPr>
        <p:spPr>
          <a:xfrm>
            <a:off x="8521815" y="6041296"/>
            <a:ext cx="1569660" cy="369332"/>
          </a:xfrm>
          <a:prstGeom prst="rect">
            <a:avLst/>
          </a:prstGeom>
          <a:noFill/>
        </p:spPr>
        <p:txBody>
          <a:bodyPr wrap="none" rtlCol="0">
            <a:spAutoFit/>
          </a:bodyPr>
          <a:lstStyle/>
          <a:p>
            <a:r>
              <a:rPr lang="zh-CN" altLang="en-US" b="1" dirty="0" smtClean="0">
                <a:solidFill>
                  <a:schemeClr val="accent1"/>
                </a:solidFill>
                <a:effectLst>
                  <a:outerShdw blurRad="38100" dist="25400" dir="5400000" algn="ctr" rotWithShape="0">
                    <a:srgbClr val="6E747A">
                      <a:alpha val="43000"/>
                    </a:srgbClr>
                  </a:outerShdw>
                </a:effectLst>
              </a:rPr>
              <a:t>数据</a:t>
            </a:r>
            <a:r>
              <a:rPr lang="zh-CN" altLang="en-US" b="1" dirty="0">
                <a:solidFill>
                  <a:schemeClr val="accent1"/>
                </a:solidFill>
                <a:effectLst>
                  <a:outerShdw blurRad="38100" dist="25400" dir="5400000" algn="ctr" rotWithShape="0">
                    <a:srgbClr val="6E747A">
                      <a:alpha val="43000"/>
                    </a:srgbClr>
                  </a:outerShdw>
                </a:effectLst>
              </a:rPr>
              <a:t>处理</a:t>
            </a:r>
            <a:r>
              <a:rPr lang="zh-CN" altLang="en-US" b="1" dirty="0" smtClean="0">
                <a:solidFill>
                  <a:schemeClr val="accent1"/>
                </a:solidFill>
                <a:effectLst>
                  <a:outerShdw blurRad="38100" dist="25400" dir="5400000" algn="ctr" rotWithShape="0">
                    <a:srgbClr val="6E747A">
                      <a:alpha val="43000"/>
                    </a:srgbClr>
                  </a:outerShdw>
                </a:effectLst>
              </a:rPr>
              <a:t>模块</a:t>
            </a:r>
            <a:endParaRPr lang="zh-CN" altLang="en-US" b="1" dirty="0">
              <a:solidFill>
                <a:schemeClr val="accent1"/>
              </a:solidFill>
              <a:effectLst>
                <a:outerShdw blurRad="38100" dist="25400" dir="5400000" algn="ctr" rotWithShape="0">
                  <a:srgbClr val="6E747A">
                    <a:alpha val="43000"/>
                  </a:srgbClr>
                </a:outerShdw>
              </a:effectLst>
            </a:endParaRPr>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矩形 2"/>
          <p:cNvSpPr/>
          <p:nvPr/>
        </p:nvSpPr>
        <p:spPr>
          <a:xfrm>
            <a:off x="6181845" y="2084547"/>
            <a:ext cx="1869493" cy="162129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8" name="矩形 17"/>
          <p:cNvSpPr/>
          <p:nvPr/>
        </p:nvSpPr>
        <p:spPr>
          <a:xfrm>
            <a:off x="6345420" y="298935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335794" y="224981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6678694" y="224980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7022884" y="224980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7362434" y="225392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7711138" y="225186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6335794" y="2610893"/>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6345420"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669834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706089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6684581"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7022884"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7363851" y="2989357"/>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6698343"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8448246" y="1099053"/>
            <a:ext cx="1870605" cy="163248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68" name="矩形 67"/>
          <p:cNvSpPr/>
          <p:nvPr/>
        </p:nvSpPr>
        <p:spPr>
          <a:xfrm>
            <a:off x="8602195" y="126431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8945095" y="126431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9289285" y="1254371"/>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9631010" y="1264315"/>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9972735" y="125577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8618238" y="1620383"/>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8961138" y="1620382"/>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9305328" y="1610437"/>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9647053" y="1620381"/>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9988778" y="1611841"/>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8605418" y="200245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8948318" y="200244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a:off x="9292508" y="1992504"/>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a:off x="9634233" y="200244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9975958" y="1993908"/>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a:off x="8605418" y="235585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8948318" y="235585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nvSpPr>
        <p:spPr>
          <a:xfrm>
            <a:off x="9292508" y="234591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p:cNvSpPr/>
          <p:nvPr/>
        </p:nvSpPr>
        <p:spPr>
          <a:xfrm>
            <a:off x="9634233" y="2355856"/>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p:cNvSpPr/>
          <p:nvPr/>
        </p:nvSpPr>
        <p:spPr>
          <a:xfrm>
            <a:off x="9975958" y="2347316"/>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6524433" y="3862634"/>
            <a:ext cx="1054041" cy="338554"/>
          </a:xfrm>
          <a:prstGeom prst="rect">
            <a:avLst/>
          </a:prstGeom>
          <a:noFill/>
        </p:spPr>
        <p:txBody>
          <a:bodyPr wrap="square" rtlCol="0">
            <a:spAutoFit/>
          </a:bodyPr>
          <a:lstStyle/>
          <a:p>
            <a:r>
              <a:rPr lang="zh-CN" altLang="en-US" sz="1600" dirty="0" smtClean="0"/>
              <a:t>数据解码</a:t>
            </a:r>
            <a:endParaRPr lang="zh-CN" altLang="en-US" sz="1600" dirty="0"/>
          </a:p>
        </p:txBody>
      </p:sp>
      <p:sp>
        <p:nvSpPr>
          <p:cNvPr id="97" name="文本框 96"/>
          <p:cNvSpPr txBox="1"/>
          <p:nvPr/>
        </p:nvSpPr>
        <p:spPr>
          <a:xfrm>
            <a:off x="8861641" y="3100981"/>
            <a:ext cx="1201787" cy="338554"/>
          </a:xfrm>
          <a:prstGeom prst="rect">
            <a:avLst/>
          </a:prstGeom>
          <a:noFill/>
        </p:spPr>
        <p:txBody>
          <a:bodyPr wrap="square" rtlCol="0">
            <a:spAutoFit/>
          </a:bodyPr>
          <a:lstStyle/>
          <a:p>
            <a:r>
              <a:rPr lang="zh-CN" altLang="en-US" sz="1600" dirty="0" smtClean="0"/>
              <a:t>数据结构化</a:t>
            </a:r>
            <a:endParaRPr lang="zh-CN" altLang="en-US" sz="1600" dirty="0"/>
          </a:p>
        </p:txBody>
      </p:sp>
      <p:pic>
        <p:nvPicPr>
          <p:cNvPr id="98" name="Picture 2"/>
          <p:cNvPicPr>
            <a:picLocks noChangeAspect="1" noChangeArrowheads="1"/>
          </p:cNvPicPr>
          <p:nvPr/>
        </p:nvPicPr>
        <p:blipFill>
          <a:blip r:embed="rId7" cstate="print"/>
          <a:srcRect/>
          <a:stretch>
            <a:fillRect/>
          </a:stretch>
        </p:blipFill>
        <p:spPr bwMode="auto">
          <a:xfrm>
            <a:off x="4690855" y="2610892"/>
            <a:ext cx="785640" cy="874917"/>
          </a:xfrm>
          <a:prstGeom prst="rect">
            <a:avLst/>
          </a:prstGeom>
          <a:noFill/>
          <a:ln w="9525">
            <a:noFill/>
            <a:miter lim="800000"/>
            <a:headEnd/>
            <a:tailEnd/>
          </a:ln>
        </p:spPr>
      </p:pic>
      <p:cxnSp>
        <p:nvCxnSpPr>
          <p:cNvPr id="100" name="肘形连接符 99"/>
          <p:cNvCxnSpPr>
            <a:stCxn id="12" idx="1"/>
            <a:endCxn id="98" idx="1"/>
          </p:cNvCxnSpPr>
          <p:nvPr/>
        </p:nvCxnSpPr>
        <p:spPr>
          <a:xfrm rot="10800000" flipH="1" flipV="1">
            <a:off x="3300261" y="1525883"/>
            <a:ext cx="1390594" cy="1522468"/>
          </a:xfrm>
          <a:prstGeom prst="bentConnector3">
            <a:avLst>
              <a:gd name="adj1" fmla="val 294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4" name="肘形连接符 103"/>
          <p:cNvCxnSpPr>
            <a:stCxn id="13" idx="3"/>
          </p:cNvCxnSpPr>
          <p:nvPr/>
        </p:nvCxnSpPr>
        <p:spPr>
          <a:xfrm>
            <a:off x="3118651" y="2641896"/>
            <a:ext cx="1562578" cy="423656"/>
          </a:xfrm>
          <a:prstGeom prst="bentConnector3">
            <a:avLst>
              <a:gd name="adj1" fmla="val 14889"/>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7" name="肘形连接符 106"/>
          <p:cNvCxnSpPr>
            <a:stCxn id="17" idx="3"/>
            <a:endCxn id="98" idx="1"/>
          </p:cNvCxnSpPr>
          <p:nvPr/>
        </p:nvCxnSpPr>
        <p:spPr>
          <a:xfrm flipV="1">
            <a:off x="3215171" y="3048351"/>
            <a:ext cx="1475684" cy="841637"/>
          </a:xfrm>
          <a:prstGeom prst="bentConnector3">
            <a:avLst>
              <a:gd name="adj1" fmla="val 956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15" idx="3"/>
            <a:endCxn id="98" idx="1"/>
          </p:cNvCxnSpPr>
          <p:nvPr/>
        </p:nvCxnSpPr>
        <p:spPr>
          <a:xfrm flipV="1">
            <a:off x="3229776" y="3048351"/>
            <a:ext cx="1461079" cy="2173867"/>
          </a:xfrm>
          <a:prstGeom prst="bentConnector3">
            <a:avLst>
              <a:gd name="adj1" fmla="val 8497"/>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8" name="椭圆 117"/>
          <p:cNvSpPr/>
          <p:nvPr/>
        </p:nvSpPr>
        <p:spPr>
          <a:xfrm>
            <a:off x="3708571" y="2781651"/>
            <a:ext cx="251530" cy="25939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平行四边形 118"/>
          <p:cNvSpPr/>
          <p:nvPr/>
        </p:nvSpPr>
        <p:spPr>
          <a:xfrm>
            <a:off x="3682867" y="4088743"/>
            <a:ext cx="258084" cy="184150"/>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等腰三角形 119"/>
          <p:cNvSpPr/>
          <p:nvPr/>
        </p:nvSpPr>
        <p:spPr>
          <a:xfrm>
            <a:off x="3668399" y="1708436"/>
            <a:ext cx="287020" cy="2095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正五边形 120"/>
          <p:cNvSpPr/>
          <p:nvPr/>
        </p:nvSpPr>
        <p:spPr>
          <a:xfrm>
            <a:off x="3671635" y="5346888"/>
            <a:ext cx="280547" cy="266700"/>
          </a:xfrm>
          <a:prstGeom prst="pentagon">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圆角矩形 122"/>
          <p:cNvSpPr/>
          <p:nvPr/>
        </p:nvSpPr>
        <p:spPr>
          <a:xfrm>
            <a:off x="6161402" y="894080"/>
            <a:ext cx="6030598" cy="5107304"/>
          </a:xfrm>
          <a:prstGeom prst="roundRect">
            <a:avLst/>
          </a:prstGeom>
          <a:noFill/>
          <a:ln w="38100" cap="flat" cmpd="sng" algn="ctr">
            <a:solidFill>
              <a:srgbClr val="D71DCA"/>
            </a:solidFill>
            <a:prstDash val="dash"/>
            <a:round/>
            <a:headEnd type="none" w="med" len="med"/>
            <a:tailEnd type="none" w="med" len="med"/>
          </a:ln>
          <a:extLst/>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24" name="文本框 123"/>
          <p:cNvSpPr txBox="1"/>
          <p:nvPr/>
        </p:nvSpPr>
        <p:spPr>
          <a:xfrm>
            <a:off x="4533848" y="3515753"/>
            <a:ext cx="902811" cy="307777"/>
          </a:xfrm>
          <a:prstGeom prst="rect">
            <a:avLst/>
          </a:prstGeom>
          <a:noFill/>
        </p:spPr>
        <p:txBody>
          <a:bodyPr wrap="none" rtlCol="0">
            <a:spAutoFit/>
          </a:bodyPr>
          <a:lstStyle/>
          <a:p>
            <a:r>
              <a:rPr lang="zh-CN" altLang="en-US" sz="1400" dirty="0" smtClean="0"/>
              <a:t>采集工具</a:t>
            </a:r>
            <a:endParaRPr lang="zh-CN" altLang="en-US" sz="1400" dirty="0"/>
          </a:p>
        </p:txBody>
      </p:sp>
      <p:sp>
        <p:nvSpPr>
          <p:cNvPr id="125" name="文本框 124"/>
          <p:cNvSpPr txBox="1"/>
          <p:nvPr/>
        </p:nvSpPr>
        <p:spPr>
          <a:xfrm>
            <a:off x="6052623" y="647670"/>
            <a:ext cx="1800493" cy="646331"/>
          </a:xfrm>
          <a:prstGeom prst="rect">
            <a:avLst/>
          </a:prstGeom>
          <a:solidFill>
            <a:schemeClr val="accent5">
              <a:lumMod val="40000"/>
              <a:lumOff val="60000"/>
            </a:schemeClr>
          </a:solidFill>
        </p:spPr>
        <p:txBody>
          <a:bodyPr wrap="none" rtlCol="0">
            <a:spAutoFit/>
          </a:bodyPr>
          <a:lstStyle/>
          <a:p>
            <a:r>
              <a:rPr lang="zh-CN" altLang="en-US" dirty="0" smtClean="0"/>
              <a:t>感知</a:t>
            </a:r>
            <a:r>
              <a:rPr lang="zh-CN" altLang="en-US" dirty="0"/>
              <a:t>结果</a:t>
            </a:r>
            <a:r>
              <a:rPr lang="zh-CN" altLang="en-US" dirty="0" smtClean="0"/>
              <a:t>：</a:t>
            </a:r>
            <a:endParaRPr lang="zh-CN" altLang="en-US" dirty="0"/>
          </a:p>
          <a:p>
            <a:r>
              <a:rPr lang="zh-CN" altLang="en-US" dirty="0" smtClean="0"/>
              <a:t>统一结构化数据</a:t>
            </a:r>
            <a:endParaRPr lang="zh-CN" altLang="en-US" dirty="0"/>
          </a:p>
        </p:txBody>
      </p:sp>
      <p:pic>
        <p:nvPicPr>
          <p:cNvPr id="126" name="图片 125" descr="model_vrml_72px_1078125_easyicon.net"/>
          <p:cNvPicPr>
            <a:picLocks noChangeAspect="1"/>
          </p:cNvPicPr>
          <p:nvPr/>
        </p:nvPicPr>
        <p:blipFill>
          <a:blip r:embed="rId8"/>
          <a:stretch>
            <a:fillRect/>
          </a:stretch>
        </p:blipFill>
        <p:spPr>
          <a:xfrm>
            <a:off x="8961138" y="4081290"/>
            <a:ext cx="914400" cy="914400"/>
          </a:xfrm>
          <a:prstGeom prst="rect">
            <a:avLst/>
          </a:prstGeom>
        </p:spPr>
      </p:pic>
      <p:sp>
        <p:nvSpPr>
          <p:cNvPr id="127" name="文本框 126"/>
          <p:cNvSpPr txBox="1"/>
          <p:nvPr/>
        </p:nvSpPr>
        <p:spPr>
          <a:xfrm>
            <a:off x="8406514" y="5182837"/>
            <a:ext cx="2031325" cy="369332"/>
          </a:xfrm>
          <a:prstGeom prst="rect">
            <a:avLst/>
          </a:prstGeom>
          <a:noFill/>
        </p:spPr>
        <p:txBody>
          <a:bodyPr wrap="none" rtlCol="0">
            <a:spAutoFit/>
          </a:bodyPr>
          <a:lstStyle/>
          <a:p>
            <a:r>
              <a:rPr lang="zh-CN" altLang="en-US" dirty="0" smtClean="0"/>
              <a:t>经验模型、算法库</a:t>
            </a:r>
            <a:endParaRPr lang="zh-CN" altLang="en-US" dirty="0"/>
          </a:p>
        </p:txBody>
      </p:sp>
      <p:sp>
        <p:nvSpPr>
          <p:cNvPr id="128" name="直角上箭头 127"/>
          <p:cNvSpPr/>
          <p:nvPr/>
        </p:nvSpPr>
        <p:spPr>
          <a:xfrm>
            <a:off x="10363939" y="3916202"/>
            <a:ext cx="1430464" cy="1474344"/>
          </a:xfrm>
          <a:prstGeom prst="bentUpArrow">
            <a:avLst>
              <a:gd name="adj1" fmla="val 15678"/>
              <a:gd name="adj2" fmla="val 25000"/>
              <a:gd name="adj3" fmla="val 35654"/>
            </a:avLst>
          </a:prstGeom>
          <a:solidFill>
            <a:srgbClr val="323F4F"/>
          </a:solidFill>
          <a:ln>
            <a:solidFill>
              <a:srgbClr val="323F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077126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par>
                                <p:cTn id="16" presetID="16" presetClass="entr" presetSubtype="2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par>
                                <p:cTn id="19" presetID="16" presetClass="entr" presetSubtype="21"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par>
                                <p:cTn id="22" presetID="16" presetClass="entr" presetSubtype="21"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arn(inVertical)">
                                      <p:cBhvr>
                                        <p:cTn id="27" dur="500"/>
                                        <p:tgtEl>
                                          <p:spTgt spid="1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barn(inVertical)">
                                      <p:cBhvr>
                                        <p:cTn id="30" dur="500"/>
                                        <p:tgtEl>
                                          <p:spTgt spid="19"/>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arn(inVertical)">
                                      <p:cBhvr>
                                        <p:cTn id="33" dur="500"/>
                                        <p:tgtEl>
                                          <p:spTgt spid="14"/>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arn(inVertical)">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00"/>
                                        </p:tgtEl>
                                        <p:attrNameLst>
                                          <p:attrName>style.visibility</p:attrName>
                                        </p:attrNameLst>
                                      </p:cBhvr>
                                      <p:to>
                                        <p:strVal val="visible"/>
                                      </p:to>
                                    </p:set>
                                    <p:animEffect transition="in" filter="barn(inVertical)">
                                      <p:cBhvr>
                                        <p:cTn id="41" dur="500"/>
                                        <p:tgtEl>
                                          <p:spTgt spid="100"/>
                                        </p:tgtEl>
                                      </p:cBhvr>
                                    </p:animEffect>
                                  </p:childTnLst>
                                </p:cTn>
                              </p:par>
                              <p:par>
                                <p:cTn id="42" presetID="16" presetClass="entr" presetSubtype="21" fill="hold" nodeType="withEffect">
                                  <p:stCondLst>
                                    <p:cond delay="0"/>
                                  </p:stCondLst>
                                  <p:childTnLst>
                                    <p:set>
                                      <p:cBhvr>
                                        <p:cTn id="43" dur="1" fill="hold">
                                          <p:stCondLst>
                                            <p:cond delay="0"/>
                                          </p:stCondLst>
                                        </p:cTn>
                                        <p:tgtEl>
                                          <p:spTgt spid="104"/>
                                        </p:tgtEl>
                                        <p:attrNameLst>
                                          <p:attrName>style.visibility</p:attrName>
                                        </p:attrNameLst>
                                      </p:cBhvr>
                                      <p:to>
                                        <p:strVal val="visible"/>
                                      </p:to>
                                    </p:set>
                                    <p:animEffect transition="in" filter="barn(inVertical)">
                                      <p:cBhvr>
                                        <p:cTn id="44" dur="500"/>
                                        <p:tgtEl>
                                          <p:spTgt spid="104"/>
                                        </p:tgtEl>
                                      </p:cBhvr>
                                    </p:animEffect>
                                  </p:childTnLst>
                                </p:cTn>
                              </p:par>
                              <p:par>
                                <p:cTn id="45" presetID="16" presetClass="entr" presetSubtype="21" fill="hold" nodeType="withEffect">
                                  <p:stCondLst>
                                    <p:cond delay="0"/>
                                  </p:stCondLst>
                                  <p:childTnLst>
                                    <p:set>
                                      <p:cBhvr>
                                        <p:cTn id="46" dur="1" fill="hold">
                                          <p:stCondLst>
                                            <p:cond delay="0"/>
                                          </p:stCondLst>
                                        </p:cTn>
                                        <p:tgtEl>
                                          <p:spTgt spid="109"/>
                                        </p:tgtEl>
                                        <p:attrNameLst>
                                          <p:attrName>style.visibility</p:attrName>
                                        </p:attrNameLst>
                                      </p:cBhvr>
                                      <p:to>
                                        <p:strVal val="visible"/>
                                      </p:to>
                                    </p:set>
                                    <p:animEffect transition="in" filter="barn(inVertical)">
                                      <p:cBhvr>
                                        <p:cTn id="47" dur="500"/>
                                        <p:tgtEl>
                                          <p:spTgt spid="109"/>
                                        </p:tgtEl>
                                      </p:cBhvr>
                                    </p:animEffect>
                                  </p:childTnLst>
                                </p:cTn>
                              </p:par>
                              <p:par>
                                <p:cTn id="48" presetID="16" presetClass="entr" presetSubtype="21" fill="hold" nodeType="withEffect">
                                  <p:stCondLst>
                                    <p:cond delay="0"/>
                                  </p:stCondLst>
                                  <p:childTnLst>
                                    <p:set>
                                      <p:cBhvr>
                                        <p:cTn id="49" dur="1" fill="hold">
                                          <p:stCondLst>
                                            <p:cond delay="0"/>
                                          </p:stCondLst>
                                        </p:cTn>
                                        <p:tgtEl>
                                          <p:spTgt spid="107"/>
                                        </p:tgtEl>
                                        <p:attrNameLst>
                                          <p:attrName>style.visibility</p:attrName>
                                        </p:attrNameLst>
                                      </p:cBhvr>
                                      <p:to>
                                        <p:strVal val="visible"/>
                                      </p:to>
                                    </p:set>
                                    <p:animEffect transition="in" filter="barn(inVertical)">
                                      <p:cBhvr>
                                        <p:cTn id="50" dur="500"/>
                                        <p:tgtEl>
                                          <p:spTgt spid="107"/>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120"/>
                                        </p:tgtEl>
                                        <p:attrNameLst>
                                          <p:attrName>style.visibility</p:attrName>
                                        </p:attrNameLst>
                                      </p:cBhvr>
                                      <p:to>
                                        <p:strVal val="visible"/>
                                      </p:to>
                                    </p:set>
                                    <p:animEffect transition="in" filter="barn(inVertical)">
                                      <p:cBhvr>
                                        <p:cTn id="53" dur="500"/>
                                        <p:tgtEl>
                                          <p:spTgt spid="120"/>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118"/>
                                        </p:tgtEl>
                                        <p:attrNameLst>
                                          <p:attrName>style.visibility</p:attrName>
                                        </p:attrNameLst>
                                      </p:cBhvr>
                                      <p:to>
                                        <p:strVal val="visible"/>
                                      </p:to>
                                    </p:set>
                                    <p:animEffect transition="in" filter="barn(inVertical)">
                                      <p:cBhvr>
                                        <p:cTn id="56" dur="500"/>
                                        <p:tgtEl>
                                          <p:spTgt spid="118"/>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119"/>
                                        </p:tgtEl>
                                        <p:attrNameLst>
                                          <p:attrName>style.visibility</p:attrName>
                                        </p:attrNameLst>
                                      </p:cBhvr>
                                      <p:to>
                                        <p:strVal val="visible"/>
                                      </p:to>
                                    </p:set>
                                    <p:animEffect transition="in" filter="barn(inVertical)">
                                      <p:cBhvr>
                                        <p:cTn id="59" dur="500"/>
                                        <p:tgtEl>
                                          <p:spTgt spid="119"/>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121"/>
                                        </p:tgtEl>
                                        <p:attrNameLst>
                                          <p:attrName>style.visibility</p:attrName>
                                        </p:attrNameLst>
                                      </p:cBhvr>
                                      <p:to>
                                        <p:strVal val="visible"/>
                                      </p:to>
                                    </p:set>
                                    <p:animEffect transition="in" filter="barn(inVertical)">
                                      <p:cBhvr>
                                        <p:cTn id="62" dur="500"/>
                                        <p:tgtEl>
                                          <p:spTgt spid="121"/>
                                        </p:tgtEl>
                                      </p:cBhvr>
                                    </p:animEffect>
                                  </p:childTnLst>
                                </p:cTn>
                              </p:par>
                              <p:par>
                                <p:cTn id="63" presetID="16" presetClass="entr" presetSubtype="21" fill="hold" nodeType="withEffect">
                                  <p:stCondLst>
                                    <p:cond delay="0"/>
                                  </p:stCondLst>
                                  <p:childTnLst>
                                    <p:set>
                                      <p:cBhvr>
                                        <p:cTn id="64" dur="1" fill="hold">
                                          <p:stCondLst>
                                            <p:cond delay="0"/>
                                          </p:stCondLst>
                                        </p:cTn>
                                        <p:tgtEl>
                                          <p:spTgt spid="98"/>
                                        </p:tgtEl>
                                        <p:attrNameLst>
                                          <p:attrName>style.visibility</p:attrName>
                                        </p:attrNameLst>
                                      </p:cBhvr>
                                      <p:to>
                                        <p:strVal val="visible"/>
                                      </p:to>
                                    </p:set>
                                    <p:animEffect transition="in" filter="barn(inVertical)">
                                      <p:cBhvr>
                                        <p:cTn id="65" dur="500"/>
                                        <p:tgtEl>
                                          <p:spTgt spid="98"/>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124"/>
                                        </p:tgtEl>
                                        <p:attrNameLst>
                                          <p:attrName>style.visibility</p:attrName>
                                        </p:attrNameLst>
                                      </p:cBhvr>
                                      <p:to>
                                        <p:strVal val="visible"/>
                                      </p:to>
                                    </p:set>
                                    <p:animEffect transition="in" filter="barn(inVertical)">
                                      <p:cBhvr>
                                        <p:cTn id="68" dur="500"/>
                                        <p:tgtEl>
                                          <p:spTgt spid="124"/>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barn(inVertical)">
                                      <p:cBhvr>
                                        <p:cTn id="73" dur="500"/>
                                        <p:tgtEl>
                                          <p:spTgt spid="26"/>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barn(inVertical)">
                                      <p:cBhvr>
                                        <p:cTn id="76" dur="500"/>
                                        <p:tgtEl>
                                          <p:spTgt spid="25"/>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barn(inVertical)">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17"/>
                                        </p:tgtEl>
                                        <p:attrNameLst>
                                          <p:attrName>style.visibility</p:attrName>
                                        </p:attrNameLst>
                                      </p:cBhvr>
                                      <p:to>
                                        <p:strVal val="visible"/>
                                      </p:to>
                                    </p:set>
                                    <p:animEffect transition="in" filter="wipe(down)">
                                      <p:cBhvr>
                                        <p:cTn id="84" dur="500"/>
                                        <p:tgtEl>
                                          <p:spTgt spid="117"/>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wipe(down)">
                                      <p:cBhvr>
                                        <p:cTn id="87" dur="500"/>
                                        <p:tgtEl>
                                          <p:spTgt spid="3"/>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65"/>
                                        </p:tgtEl>
                                        <p:attrNameLst>
                                          <p:attrName>style.visibility</p:attrName>
                                        </p:attrNameLst>
                                      </p:cBhvr>
                                      <p:to>
                                        <p:strVal val="visible"/>
                                      </p:to>
                                    </p:set>
                                    <p:animEffect transition="in" filter="wipe(down)">
                                      <p:cBhvr>
                                        <p:cTn id="90" dur="500"/>
                                        <p:tgtEl>
                                          <p:spTgt spid="65"/>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animEffect transition="in" filter="wipe(down)">
                                      <p:cBhvr>
                                        <p:cTn id="93" dur="500"/>
                                        <p:tgtEl>
                                          <p:spTgt spid="59"/>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wipe(down)">
                                      <p:cBhvr>
                                        <p:cTn id="96" dur="500"/>
                                        <p:tgtEl>
                                          <p:spTgt spid="18"/>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62"/>
                                        </p:tgtEl>
                                        <p:attrNameLst>
                                          <p:attrName>style.visibility</p:attrName>
                                        </p:attrNameLst>
                                      </p:cBhvr>
                                      <p:to>
                                        <p:strVal val="visible"/>
                                      </p:to>
                                    </p:set>
                                    <p:animEffect transition="in" filter="wipe(down)">
                                      <p:cBhvr>
                                        <p:cTn id="99" dur="500"/>
                                        <p:tgtEl>
                                          <p:spTgt spid="62"/>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wipe(down)">
                                      <p:cBhvr>
                                        <p:cTn id="102" dur="500"/>
                                        <p:tgtEl>
                                          <p:spTgt spid="63"/>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64"/>
                                        </p:tgtEl>
                                        <p:attrNameLst>
                                          <p:attrName>style.visibility</p:attrName>
                                        </p:attrNameLst>
                                      </p:cBhvr>
                                      <p:to>
                                        <p:strVal val="visible"/>
                                      </p:to>
                                    </p:set>
                                    <p:animEffect transition="in" filter="wipe(down)">
                                      <p:cBhvr>
                                        <p:cTn id="105" dur="500"/>
                                        <p:tgtEl>
                                          <p:spTgt spid="64"/>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wipe(down)">
                                      <p:cBhvr>
                                        <p:cTn id="108" dur="500"/>
                                        <p:tgtEl>
                                          <p:spTgt spid="61"/>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60"/>
                                        </p:tgtEl>
                                        <p:attrNameLst>
                                          <p:attrName>style.visibility</p:attrName>
                                        </p:attrNameLst>
                                      </p:cBhvr>
                                      <p:to>
                                        <p:strVal val="visible"/>
                                      </p:to>
                                    </p:set>
                                    <p:animEffect transition="in" filter="wipe(down)">
                                      <p:cBhvr>
                                        <p:cTn id="111" dur="500"/>
                                        <p:tgtEl>
                                          <p:spTgt spid="60"/>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wipe(down)">
                                      <p:cBhvr>
                                        <p:cTn id="114" dur="500"/>
                                        <p:tgtEl>
                                          <p:spTgt spid="56"/>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50"/>
                                        </p:tgtEl>
                                        <p:attrNameLst>
                                          <p:attrName>style.visibility</p:attrName>
                                        </p:attrNameLst>
                                      </p:cBhvr>
                                      <p:to>
                                        <p:strVal val="visible"/>
                                      </p:to>
                                    </p:set>
                                    <p:animEffect transition="in" filter="wipe(down)">
                                      <p:cBhvr>
                                        <p:cTn id="117" dur="500"/>
                                        <p:tgtEl>
                                          <p:spTgt spid="50"/>
                                        </p:tgtEl>
                                      </p:cBhvr>
                                    </p:animEffect>
                                  </p:childTnLst>
                                </p:cTn>
                              </p:par>
                              <p:par>
                                <p:cTn id="118" presetID="22" presetClass="entr" presetSubtype="4" fill="hold" grpId="0" nodeType="withEffect">
                                  <p:stCondLst>
                                    <p:cond delay="0"/>
                                  </p:stCondLst>
                                  <p:childTnLst>
                                    <p:set>
                                      <p:cBhvr>
                                        <p:cTn id="119" dur="1" fill="hold">
                                          <p:stCondLst>
                                            <p:cond delay="0"/>
                                          </p:stCondLst>
                                        </p:cTn>
                                        <p:tgtEl>
                                          <p:spTgt spid="51"/>
                                        </p:tgtEl>
                                        <p:attrNameLst>
                                          <p:attrName>style.visibility</p:attrName>
                                        </p:attrNameLst>
                                      </p:cBhvr>
                                      <p:to>
                                        <p:strVal val="visible"/>
                                      </p:to>
                                    </p:set>
                                    <p:animEffect transition="in" filter="wipe(down)">
                                      <p:cBhvr>
                                        <p:cTn id="120" dur="500"/>
                                        <p:tgtEl>
                                          <p:spTgt spid="51"/>
                                        </p:tgtEl>
                                      </p:cBhvr>
                                    </p:animEffect>
                                  </p:childTnLst>
                                </p:cTn>
                              </p:par>
                              <p:par>
                                <p:cTn id="121" presetID="22" presetClass="entr" presetSubtype="4"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animEffect transition="in" filter="wipe(down)">
                                      <p:cBhvr>
                                        <p:cTn id="123" dur="500"/>
                                        <p:tgtEl>
                                          <p:spTgt spid="52"/>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53"/>
                                        </p:tgtEl>
                                        <p:attrNameLst>
                                          <p:attrName>style.visibility</p:attrName>
                                        </p:attrNameLst>
                                      </p:cBhvr>
                                      <p:to>
                                        <p:strVal val="visible"/>
                                      </p:to>
                                    </p:set>
                                    <p:animEffect transition="in" filter="wipe(down)">
                                      <p:cBhvr>
                                        <p:cTn id="126" dur="500"/>
                                        <p:tgtEl>
                                          <p:spTgt spid="53"/>
                                        </p:tgtEl>
                                      </p:cBhvr>
                                    </p:animEffect>
                                  </p:childTnLst>
                                </p:cTn>
                              </p:par>
                              <p:par>
                                <p:cTn id="127" presetID="22" presetClass="entr" presetSubtype="4" fill="hold" grpId="0"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wipe(down)">
                                      <p:cBhvr>
                                        <p:cTn id="129" dur="500"/>
                                        <p:tgtEl>
                                          <p:spTgt spid="54"/>
                                        </p:tgtEl>
                                      </p:cBhvr>
                                    </p:animEffect>
                                  </p:childTnLst>
                                </p:cTn>
                              </p:par>
                              <p:par>
                                <p:cTn id="130" presetID="22" presetClass="entr" presetSubtype="4" fill="hold" grpId="0" nodeType="withEffect">
                                  <p:stCondLst>
                                    <p:cond delay="0"/>
                                  </p:stCondLst>
                                  <p:childTnLst>
                                    <p:set>
                                      <p:cBhvr>
                                        <p:cTn id="131" dur="1" fill="hold">
                                          <p:stCondLst>
                                            <p:cond delay="0"/>
                                          </p:stCondLst>
                                        </p:cTn>
                                        <p:tgtEl>
                                          <p:spTgt spid="96"/>
                                        </p:tgtEl>
                                        <p:attrNameLst>
                                          <p:attrName>style.visibility</p:attrName>
                                        </p:attrNameLst>
                                      </p:cBhvr>
                                      <p:to>
                                        <p:strVal val="visible"/>
                                      </p:to>
                                    </p:set>
                                    <p:animEffect transition="in" filter="wipe(down)">
                                      <p:cBhvr>
                                        <p:cTn id="132" dur="500"/>
                                        <p:tgtEl>
                                          <p:spTgt spid="96"/>
                                        </p:tgtEl>
                                      </p:cBhvr>
                                    </p:animEffect>
                                  </p:childTnLst>
                                </p:cTn>
                              </p:par>
                            </p:childTnLst>
                          </p:cTn>
                        </p:par>
                      </p:childTnLst>
                    </p:cTn>
                  </p:par>
                  <p:par>
                    <p:cTn id="133" fill="hold">
                      <p:stCondLst>
                        <p:cond delay="indefinite"/>
                      </p:stCondLst>
                      <p:childTnLst>
                        <p:par>
                          <p:cTn id="134" fill="hold">
                            <p:stCondLst>
                              <p:cond delay="0"/>
                            </p:stCondLst>
                            <p:childTnLst>
                              <p:par>
                                <p:cTn id="135" presetID="53" presetClass="entr" presetSubtype="16" fill="hold" grpId="0" nodeType="clickEffect">
                                  <p:stCondLst>
                                    <p:cond delay="0"/>
                                  </p:stCondLst>
                                  <p:childTnLst>
                                    <p:set>
                                      <p:cBhvr>
                                        <p:cTn id="136" dur="1" fill="hold">
                                          <p:stCondLst>
                                            <p:cond delay="0"/>
                                          </p:stCondLst>
                                        </p:cTn>
                                        <p:tgtEl>
                                          <p:spTgt spid="29"/>
                                        </p:tgtEl>
                                        <p:attrNameLst>
                                          <p:attrName>style.visibility</p:attrName>
                                        </p:attrNameLst>
                                      </p:cBhvr>
                                      <p:to>
                                        <p:strVal val="visible"/>
                                      </p:to>
                                    </p:set>
                                    <p:anim calcmode="lin" valueType="num">
                                      <p:cBhvr>
                                        <p:cTn id="137" dur="500" fill="hold"/>
                                        <p:tgtEl>
                                          <p:spTgt spid="29"/>
                                        </p:tgtEl>
                                        <p:attrNameLst>
                                          <p:attrName>ppt_w</p:attrName>
                                        </p:attrNameLst>
                                      </p:cBhvr>
                                      <p:tavLst>
                                        <p:tav tm="0">
                                          <p:val>
                                            <p:fltVal val="0"/>
                                          </p:val>
                                        </p:tav>
                                        <p:tav tm="100000">
                                          <p:val>
                                            <p:strVal val="#ppt_w"/>
                                          </p:val>
                                        </p:tav>
                                      </p:tavLst>
                                    </p:anim>
                                    <p:anim calcmode="lin" valueType="num">
                                      <p:cBhvr>
                                        <p:cTn id="138" dur="500" fill="hold"/>
                                        <p:tgtEl>
                                          <p:spTgt spid="29"/>
                                        </p:tgtEl>
                                        <p:attrNameLst>
                                          <p:attrName>ppt_h</p:attrName>
                                        </p:attrNameLst>
                                      </p:cBhvr>
                                      <p:tavLst>
                                        <p:tav tm="0">
                                          <p:val>
                                            <p:fltVal val="0"/>
                                          </p:val>
                                        </p:tav>
                                        <p:tav tm="100000">
                                          <p:val>
                                            <p:strVal val="#ppt_h"/>
                                          </p:val>
                                        </p:tav>
                                      </p:tavLst>
                                    </p:anim>
                                    <p:animEffect transition="in" filter="fade">
                                      <p:cBhvr>
                                        <p:cTn id="139" dur="500"/>
                                        <p:tgtEl>
                                          <p:spTgt spid="29"/>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66"/>
                                        </p:tgtEl>
                                        <p:attrNameLst>
                                          <p:attrName>style.visibility</p:attrName>
                                        </p:attrNameLst>
                                      </p:cBhvr>
                                      <p:to>
                                        <p:strVal val="visible"/>
                                      </p:to>
                                    </p:set>
                                    <p:anim calcmode="lin" valueType="num">
                                      <p:cBhvr>
                                        <p:cTn id="142" dur="500" fill="hold"/>
                                        <p:tgtEl>
                                          <p:spTgt spid="66"/>
                                        </p:tgtEl>
                                        <p:attrNameLst>
                                          <p:attrName>ppt_w</p:attrName>
                                        </p:attrNameLst>
                                      </p:cBhvr>
                                      <p:tavLst>
                                        <p:tav tm="0">
                                          <p:val>
                                            <p:fltVal val="0"/>
                                          </p:val>
                                        </p:tav>
                                        <p:tav tm="100000">
                                          <p:val>
                                            <p:strVal val="#ppt_w"/>
                                          </p:val>
                                        </p:tav>
                                      </p:tavLst>
                                    </p:anim>
                                    <p:anim calcmode="lin" valueType="num">
                                      <p:cBhvr>
                                        <p:cTn id="143" dur="500" fill="hold"/>
                                        <p:tgtEl>
                                          <p:spTgt spid="66"/>
                                        </p:tgtEl>
                                        <p:attrNameLst>
                                          <p:attrName>ppt_h</p:attrName>
                                        </p:attrNameLst>
                                      </p:cBhvr>
                                      <p:tavLst>
                                        <p:tav tm="0">
                                          <p:val>
                                            <p:fltVal val="0"/>
                                          </p:val>
                                        </p:tav>
                                        <p:tav tm="100000">
                                          <p:val>
                                            <p:strVal val="#ppt_h"/>
                                          </p:val>
                                        </p:tav>
                                      </p:tavLst>
                                    </p:anim>
                                    <p:animEffect transition="in" filter="fade">
                                      <p:cBhvr>
                                        <p:cTn id="144" dur="500"/>
                                        <p:tgtEl>
                                          <p:spTgt spid="66"/>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91"/>
                                        </p:tgtEl>
                                        <p:attrNameLst>
                                          <p:attrName>style.visibility</p:attrName>
                                        </p:attrNameLst>
                                      </p:cBhvr>
                                      <p:to>
                                        <p:strVal val="visible"/>
                                      </p:to>
                                    </p:set>
                                    <p:anim calcmode="lin" valueType="num">
                                      <p:cBhvr>
                                        <p:cTn id="147" dur="500" fill="hold"/>
                                        <p:tgtEl>
                                          <p:spTgt spid="91"/>
                                        </p:tgtEl>
                                        <p:attrNameLst>
                                          <p:attrName>ppt_w</p:attrName>
                                        </p:attrNameLst>
                                      </p:cBhvr>
                                      <p:tavLst>
                                        <p:tav tm="0">
                                          <p:val>
                                            <p:fltVal val="0"/>
                                          </p:val>
                                        </p:tav>
                                        <p:tav tm="100000">
                                          <p:val>
                                            <p:strVal val="#ppt_w"/>
                                          </p:val>
                                        </p:tav>
                                      </p:tavLst>
                                    </p:anim>
                                    <p:anim calcmode="lin" valueType="num">
                                      <p:cBhvr>
                                        <p:cTn id="148" dur="500" fill="hold"/>
                                        <p:tgtEl>
                                          <p:spTgt spid="91"/>
                                        </p:tgtEl>
                                        <p:attrNameLst>
                                          <p:attrName>ppt_h</p:attrName>
                                        </p:attrNameLst>
                                      </p:cBhvr>
                                      <p:tavLst>
                                        <p:tav tm="0">
                                          <p:val>
                                            <p:fltVal val="0"/>
                                          </p:val>
                                        </p:tav>
                                        <p:tav tm="100000">
                                          <p:val>
                                            <p:strVal val="#ppt_h"/>
                                          </p:val>
                                        </p:tav>
                                      </p:tavLst>
                                    </p:anim>
                                    <p:animEffect transition="in" filter="fade">
                                      <p:cBhvr>
                                        <p:cTn id="149" dur="500"/>
                                        <p:tgtEl>
                                          <p:spTgt spid="91"/>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86"/>
                                        </p:tgtEl>
                                        <p:attrNameLst>
                                          <p:attrName>style.visibility</p:attrName>
                                        </p:attrNameLst>
                                      </p:cBhvr>
                                      <p:to>
                                        <p:strVal val="visible"/>
                                      </p:to>
                                    </p:set>
                                    <p:anim calcmode="lin" valueType="num">
                                      <p:cBhvr>
                                        <p:cTn id="152" dur="500" fill="hold"/>
                                        <p:tgtEl>
                                          <p:spTgt spid="86"/>
                                        </p:tgtEl>
                                        <p:attrNameLst>
                                          <p:attrName>ppt_w</p:attrName>
                                        </p:attrNameLst>
                                      </p:cBhvr>
                                      <p:tavLst>
                                        <p:tav tm="0">
                                          <p:val>
                                            <p:fltVal val="0"/>
                                          </p:val>
                                        </p:tav>
                                        <p:tav tm="100000">
                                          <p:val>
                                            <p:strVal val="#ppt_w"/>
                                          </p:val>
                                        </p:tav>
                                      </p:tavLst>
                                    </p:anim>
                                    <p:anim calcmode="lin" valueType="num">
                                      <p:cBhvr>
                                        <p:cTn id="153" dur="500" fill="hold"/>
                                        <p:tgtEl>
                                          <p:spTgt spid="86"/>
                                        </p:tgtEl>
                                        <p:attrNameLst>
                                          <p:attrName>ppt_h</p:attrName>
                                        </p:attrNameLst>
                                      </p:cBhvr>
                                      <p:tavLst>
                                        <p:tav tm="0">
                                          <p:val>
                                            <p:fltVal val="0"/>
                                          </p:val>
                                        </p:tav>
                                        <p:tav tm="100000">
                                          <p:val>
                                            <p:strVal val="#ppt_h"/>
                                          </p:val>
                                        </p:tav>
                                      </p:tavLst>
                                    </p:anim>
                                    <p:animEffect transition="in" filter="fade">
                                      <p:cBhvr>
                                        <p:cTn id="154" dur="500"/>
                                        <p:tgtEl>
                                          <p:spTgt spid="86"/>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81"/>
                                        </p:tgtEl>
                                        <p:attrNameLst>
                                          <p:attrName>style.visibility</p:attrName>
                                        </p:attrNameLst>
                                      </p:cBhvr>
                                      <p:to>
                                        <p:strVal val="visible"/>
                                      </p:to>
                                    </p:set>
                                    <p:anim calcmode="lin" valueType="num">
                                      <p:cBhvr>
                                        <p:cTn id="157" dur="500" fill="hold"/>
                                        <p:tgtEl>
                                          <p:spTgt spid="81"/>
                                        </p:tgtEl>
                                        <p:attrNameLst>
                                          <p:attrName>ppt_w</p:attrName>
                                        </p:attrNameLst>
                                      </p:cBhvr>
                                      <p:tavLst>
                                        <p:tav tm="0">
                                          <p:val>
                                            <p:fltVal val="0"/>
                                          </p:val>
                                        </p:tav>
                                        <p:tav tm="100000">
                                          <p:val>
                                            <p:strVal val="#ppt_w"/>
                                          </p:val>
                                        </p:tav>
                                      </p:tavLst>
                                    </p:anim>
                                    <p:anim calcmode="lin" valueType="num">
                                      <p:cBhvr>
                                        <p:cTn id="158" dur="500" fill="hold"/>
                                        <p:tgtEl>
                                          <p:spTgt spid="81"/>
                                        </p:tgtEl>
                                        <p:attrNameLst>
                                          <p:attrName>ppt_h</p:attrName>
                                        </p:attrNameLst>
                                      </p:cBhvr>
                                      <p:tavLst>
                                        <p:tav tm="0">
                                          <p:val>
                                            <p:fltVal val="0"/>
                                          </p:val>
                                        </p:tav>
                                        <p:tav tm="100000">
                                          <p:val>
                                            <p:strVal val="#ppt_h"/>
                                          </p:val>
                                        </p:tav>
                                      </p:tavLst>
                                    </p:anim>
                                    <p:animEffect transition="in" filter="fade">
                                      <p:cBhvr>
                                        <p:cTn id="159" dur="500"/>
                                        <p:tgtEl>
                                          <p:spTgt spid="81"/>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68"/>
                                        </p:tgtEl>
                                        <p:attrNameLst>
                                          <p:attrName>style.visibility</p:attrName>
                                        </p:attrNameLst>
                                      </p:cBhvr>
                                      <p:to>
                                        <p:strVal val="visible"/>
                                      </p:to>
                                    </p:set>
                                    <p:anim calcmode="lin" valueType="num">
                                      <p:cBhvr>
                                        <p:cTn id="162" dur="500" fill="hold"/>
                                        <p:tgtEl>
                                          <p:spTgt spid="68"/>
                                        </p:tgtEl>
                                        <p:attrNameLst>
                                          <p:attrName>ppt_w</p:attrName>
                                        </p:attrNameLst>
                                      </p:cBhvr>
                                      <p:tavLst>
                                        <p:tav tm="0">
                                          <p:val>
                                            <p:fltVal val="0"/>
                                          </p:val>
                                        </p:tav>
                                        <p:tav tm="100000">
                                          <p:val>
                                            <p:strVal val="#ppt_w"/>
                                          </p:val>
                                        </p:tav>
                                      </p:tavLst>
                                    </p:anim>
                                    <p:anim calcmode="lin" valueType="num">
                                      <p:cBhvr>
                                        <p:cTn id="163" dur="500" fill="hold"/>
                                        <p:tgtEl>
                                          <p:spTgt spid="68"/>
                                        </p:tgtEl>
                                        <p:attrNameLst>
                                          <p:attrName>ppt_h</p:attrName>
                                        </p:attrNameLst>
                                      </p:cBhvr>
                                      <p:tavLst>
                                        <p:tav tm="0">
                                          <p:val>
                                            <p:fltVal val="0"/>
                                          </p:val>
                                        </p:tav>
                                        <p:tav tm="100000">
                                          <p:val>
                                            <p:strVal val="#ppt_h"/>
                                          </p:val>
                                        </p:tav>
                                      </p:tavLst>
                                    </p:anim>
                                    <p:animEffect transition="in" filter="fade">
                                      <p:cBhvr>
                                        <p:cTn id="164" dur="500"/>
                                        <p:tgtEl>
                                          <p:spTgt spid="68"/>
                                        </p:tgtEl>
                                      </p:cBhvr>
                                    </p:animEffect>
                                  </p:childTnLst>
                                </p:cTn>
                              </p:par>
                              <p:par>
                                <p:cTn id="165" presetID="53" presetClass="entr" presetSubtype="16" fill="hold" grpId="0" nodeType="withEffect">
                                  <p:stCondLst>
                                    <p:cond delay="0"/>
                                  </p:stCondLst>
                                  <p:childTnLst>
                                    <p:set>
                                      <p:cBhvr>
                                        <p:cTn id="166" dur="1" fill="hold">
                                          <p:stCondLst>
                                            <p:cond delay="0"/>
                                          </p:stCondLst>
                                        </p:cTn>
                                        <p:tgtEl>
                                          <p:spTgt spid="69"/>
                                        </p:tgtEl>
                                        <p:attrNameLst>
                                          <p:attrName>style.visibility</p:attrName>
                                        </p:attrNameLst>
                                      </p:cBhvr>
                                      <p:to>
                                        <p:strVal val="visible"/>
                                      </p:to>
                                    </p:set>
                                    <p:anim calcmode="lin" valueType="num">
                                      <p:cBhvr>
                                        <p:cTn id="167" dur="500" fill="hold"/>
                                        <p:tgtEl>
                                          <p:spTgt spid="69"/>
                                        </p:tgtEl>
                                        <p:attrNameLst>
                                          <p:attrName>ppt_w</p:attrName>
                                        </p:attrNameLst>
                                      </p:cBhvr>
                                      <p:tavLst>
                                        <p:tav tm="0">
                                          <p:val>
                                            <p:fltVal val="0"/>
                                          </p:val>
                                        </p:tav>
                                        <p:tav tm="100000">
                                          <p:val>
                                            <p:strVal val="#ppt_w"/>
                                          </p:val>
                                        </p:tav>
                                      </p:tavLst>
                                    </p:anim>
                                    <p:anim calcmode="lin" valueType="num">
                                      <p:cBhvr>
                                        <p:cTn id="168" dur="500" fill="hold"/>
                                        <p:tgtEl>
                                          <p:spTgt spid="69"/>
                                        </p:tgtEl>
                                        <p:attrNameLst>
                                          <p:attrName>ppt_h</p:attrName>
                                        </p:attrNameLst>
                                      </p:cBhvr>
                                      <p:tavLst>
                                        <p:tav tm="0">
                                          <p:val>
                                            <p:fltVal val="0"/>
                                          </p:val>
                                        </p:tav>
                                        <p:tav tm="100000">
                                          <p:val>
                                            <p:strVal val="#ppt_h"/>
                                          </p:val>
                                        </p:tav>
                                      </p:tavLst>
                                    </p:anim>
                                    <p:animEffect transition="in" filter="fade">
                                      <p:cBhvr>
                                        <p:cTn id="169" dur="500"/>
                                        <p:tgtEl>
                                          <p:spTgt spid="69"/>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82"/>
                                        </p:tgtEl>
                                        <p:attrNameLst>
                                          <p:attrName>style.visibility</p:attrName>
                                        </p:attrNameLst>
                                      </p:cBhvr>
                                      <p:to>
                                        <p:strVal val="visible"/>
                                      </p:to>
                                    </p:set>
                                    <p:anim calcmode="lin" valueType="num">
                                      <p:cBhvr>
                                        <p:cTn id="172" dur="500" fill="hold"/>
                                        <p:tgtEl>
                                          <p:spTgt spid="82"/>
                                        </p:tgtEl>
                                        <p:attrNameLst>
                                          <p:attrName>ppt_w</p:attrName>
                                        </p:attrNameLst>
                                      </p:cBhvr>
                                      <p:tavLst>
                                        <p:tav tm="0">
                                          <p:val>
                                            <p:fltVal val="0"/>
                                          </p:val>
                                        </p:tav>
                                        <p:tav tm="100000">
                                          <p:val>
                                            <p:strVal val="#ppt_w"/>
                                          </p:val>
                                        </p:tav>
                                      </p:tavLst>
                                    </p:anim>
                                    <p:anim calcmode="lin" valueType="num">
                                      <p:cBhvr>
                                        <p:cTn id="173" dur="500" fill="hold"/>
                                        <p:tgtEl>
                                          <p:spTgt spid="82"/>
                                        </p:tgtEl>
                                        <p:attrNameLst>
                                          <p:attrName>ppt_h</p:attrName>
                                        </p:attrNameLst>
                                      </p:cBhvr>
                                      <p:tavLst>
                                        <p:tav tm="0">
                                          <p:val>
                                            <p:fltVal val="0"/>
                                          </p:val>
                                        </p:tav>
                                        <p:tav tm="100000">
                                          <p:val>
                                            <p:strVal val="#ppt_h"/>
                                          </p:val>
                                        </p:tav>
                                      </p:tavLst>
                                    </p:anim>
                                    <p:animEffect transition="in" filter="fade">
                                      <p:cBhvr>
                                        <p:cTn id="174" dur="500"/>
                                        <p:tgtEl>
                                          <p:spTgt spid="82"/>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87"/>
                                        </p:tgtEl>
                                        <p:attrNameLst>
                                          <p:attrName>style.visibility</p:attrName>
                                        </p:attrNameLst>
                                      </p:cBhvr>
                                      <p:to>
                                        <p:strVal val="visible"/>
                                      </p:to>
                                    </p:set>
                                    <p:anim calcmode="lin" valueType="num">
                                      <p:cBhvr>
                                        <p:cTn id="177" dur="500" fill="hold"/>
                                        <p:tgtEl>
                                          <p:spTgt spid="87"/>
                                        </p:tgtEl>
                                        <p:attrNameLst>
                                          <p:attrName>ppt_w</p:attrName>
                                        </p:attrNameLst>
                                      </p:cBhvr>
                                      <p:tavLst>
                                        <p:tav tm="0">
                                          <p:val>
                                            <p:fltVal val="0"/>
                                          </p:val>
                                        </p:tav>
                                        <p:tav tm="100000">
                                          <p:val>
                                            <p:strVal val="#ppt_w"/>
                                          </p:val>
                                        </p:tav>
                                      </p:tavLst>
                                    </p:anim>
                                    <p:anim calcmode="lin" valueType="num">
                                      <p:cBhvr>
                                        <p:cTn id="178" dur="500" fill="hold"/>
                                        <p:tgtEl>
                                          <p:spTgt spid="87"/>
                                        </p:tgtEl>
                                        <p:attrNameLst>
                                          <p:attrName>ppt_h</p:attrName>
                                        </p:attrNameLst>
                                      </p:cBhvr>
                                      <p:tavLst>
                                        <p:tav tm="0">
                                          <p:val>
                                            <p:fltVal val="0"/>
                                          </p:val>
                                        </p:tav>
                                        <p:tav tm="100000">
                                          <p:val>
                                            <p:strVal val="#ppt_h"/>
                                          </p:val>
                                        </p:tav>
                                      </p:tavLst>
                                    </p:anim>
                                    <p:animEffect transition="in" filter="fade">
                                      <p:cBhvr>
                                        <p:cTn id="179" dur="500"/>
                                        <p:tgtEl>
                                          <p:spTgt spid="87"/>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92"/>
                                        </p:tgtEl>
                                        <p:attrNameLst>
                                          <p:attrName>style.visibility</p:attrName>
                                        </p:attrNameLst>
                                      </p:cBhvr>
                                      <p:to>
                                        <p:strVal val="visible"/>
                                      </p:to>
                                    </p:set>
                                    <p:anim calcmode="lin" valueType="num">
                                      <p:cBhvr>
                                        <p:cTn id="182" dur="500" fill="hold"/>
                                        <p:tgtEl>
                                          <p:spTgt spid="92"/>
                                        </p:tgtEl>
                                        <p:attrNameLst>
                                          <p:attrName>ppt_w</p:attrName>
                                        </p:attrNameLst>
                                      </p:cBhvr>
                                      <p:tavLst>
                                        <p:tav tm="0">
                                          <p:val>
                                            <p:fltVal val="0"/>
                                          </p:val>
                                        </p:tav>
                                        <p:tav tm="100000">
                                          <p:val>
                                            <p:strVal val="#ppt_w"/>
                                          </p:val>
                                        </p:tav>
                                      </p:tavLst>
                                    </p:anim>
                                    <p:anim calcmode="lin" valueType="num">
                                      <p:cBhvr>
                                        <p:cTn id="183" dur="500" fill="hold"/>
                                        <p:tgtEl>
                                          <p:spTgt spid="92"/>
                                        </p:tgtEl>
                                        <p:attrNameLst>
                                          <p:attrName>ppt_h</p:attrName>
                                        </p:attrNameLst>
                                      </p:cBhvr>
                                      <p:tavLst>
                                        <p:tav tm="0">
                                          <p:val>
                                            <p:fltVal val="0"/>
                                          </p:val>
                                        </p:tav>
                                        <p:tav tm="100000">
                                          <p:val>
                                            <p:strVal val="#ppt_h"/>
                                          </p:val>
                                        </p:tav>
                                      </p:tavLst>
                                    </p:anim>
                                    <p:animEffect transition="in" filter="fade">
                                      <p:cBhvr>
                                        <p:cTn id="184" dur="500"/>
                                        <p:tgtEl>
                                          <p:spTgt spid="92"/>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93"/>
                                        </p:tgtEl>
                                        <p:attrNameLst>
                                          <p:attrName>style.visibility</p:attrName>
                                        </p:attrNameLst>
                                      </p:cBhvr>
                                      <p:to>
                                        <p:strVal val="visible"/>
                                      </p:to>
                                    </p:set>
                                    <p:anim calcmode="lin" valueType="num">
                                      <p:cBhvr>
                                        <p:cTn id="187" dur="500" fill="hold"/>
                                        <p:tgtEl>
                                          <p:spTgt spid="93"/>
                                        </p:tgtEl>
                                        <p:attrNameLst>
                                          <p:attrName>ppt_w</p:attrName>
                                        </p:attrNameLst>
                                      </p:cBhvr>
                                      <p:tavLst>
                                        <p:tav tm="0">
                                          <p:val>
                                            <p:fltVal val="0"/>
                                          </p:val>
                                        </p:tav>
                                        <p:tav tm="100000">
                                          <p:val>
                                            <p:strVal val="#ppt_w"/>
                                          </p:val>
                                        </p:tav>
                                      </p:tavLst>
                                    </p:anim>
                                    <p:anim calcmode="lin" valueType="num">
                                      <p:cBhvr>
                                        <p:cTn id="188" dur="500" fill="hold"/>
                                        <p:tgtEl>
                                          <p:spTgt spid="93"/>
                                        </p:tgtEl>
                                        <p:attrNameLst>
                                          <p:attrName>ppt_h</p:attrName>
                                        </p:attrNameLst>
                                      </p:cBhvr>
                                      <p:tavLst>
                                        <p:tav tm="0">
                                          <p:val>
                                            <p:fltVal val="0"/>
                                          </p:val>
                                        </p:tav>
                                        <p:tav tm="100000">
                                          <p:val>
                                            <p:strVal val="#ppt_h"/>
                                          </p:val>
                                        </p:tav>
                                      </p:tavLst>
                                    </p:anim>
                                    <p:animEffect transition="in" filter="fade">
                                      <p:cBhvr>
                                        <p:cTn id="189" dur="500"/>
                                        <p:tgtEl>
                                          <p:spTgt spid="93"/>
                                        </p:tgtEl>
                                      </p:cBhvr>
                                    </p:animEffect>
                                  </p:childTnLst>
                                </p:cTn>
                              </p:par>
                              <p:par>
                                <p:cTn id="190" presetID="53" presetClass="entr" presetSubtype="16" fill="hold" grpId="0" nodeType="withEffect">
                                  <p:stCondLst>
                                    <p:cond delay="0"/>
                                  </p:stCondLst>
                                  <p:childTnLst>
                                    <p:set>
                                      <p:cBhvr>
                                        <p:cTn id="191" dur="1" fill="hold">
                                          <p:stCondLst>
                                            <p:cond delay="0"/>
                                          </p:stCondLst>
                                        </p:cTn>
                                        <p:tgtEl>
                                          <p:spTgt spid="88"/>
                                        </p:tgtEl>
                                        <p:attrNameLst>
                                          <p:attrName>style.visibility</p:attrName>
                                        </p:attrNameLst>
                                      </p:cBhvr>
                                      <p:to>
                                        <p:strVal val="visible"/>
                                      </p:to>
                                    </p:set>
                                    <p:anim calcmode="lin" valueType="num">
                                      <p:cBhvr>
                                        <p:cTn id="192" dur="500" fill="hold"/>
                                        <p:tgtEl>
                                          <p:spTgt spid="88"/>
                                        </p:tgtEl>
                                        <p:attrNameLst>
                                          <p:attrName>ppt_w</p:attrName>
                                        </p:attrNameLst>
                                      </p:cBhvr>
                                      <p:tavLst>
                                        <p:tav tm="0">
                                          <p:val>
                                            <p:fltVal val="0"/>
                                          </p:val>
                                        </p:tav>
                                        <p:tav tm="100000">
                                          <p:val>
                                            <p:strVal val="#ppt_w"/>
                                          </p:val>
                                        </p:tav>
                                      </p:tavLst>
                                    </p:anim>
                                    <p:anim calcmode="lin" valueType="num">
                                      <p:cBhvr>
                                        <p:cTn id="193" dur="500" fill="hold"/>
                                        <p:tgtEl>
                                          <p:spTgt spid="88"/>
                                        </p:tgtEl>
                                        <p:attrNameLst>
                                          <p:attrName>ppt_h</p:attrName>
                                        </p:attrNameLst>
                                      </p:cBhvr>
                                      <p:tavLst>
                                        <p:tav tm="0">
                                          <p:val>
                                            <p:fltVal val="0"/>
                                          </p:val>
                                        </p:tav>
                                        <p:tav tm="100000">
                                          <p:val>
                                            <p:strVal val="#ppt_h"/>
                                          </p:val>
                                        </p:tav>
                                      </p:tavLst>
                                    </p:anim>
                                    <p:animEffect transition="in" filter="fade">
                                      <p:cBhvr>
                                        <p:cTn id="194" dur="500"/>
                                        <p:tgtEl>
                                          <p:spTgt spid="88"/>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83"/>
                                        </p:tgtEl>
                                        <p:attrNameLst>
                                          <p:attrName>style.visibility</p:attrName>
                                        </p:attrNameLst>
                                      </p:cBhvr>
                                      <p:to>
                                        <p:strVal val="visible"/>
                                      </p:to>
                                    </p:set>
                                    <p:anim calcmode="lin" valueType="num">
                                      <p:cBhvr>
                                        <p:cTn id="197" dur="500" fill="hold"/>
                                        <p:tgtEl>
                                          <p:spTgt spid="83"/>
                                        </p:tgtEl>
                                        <p:attrNameLst>
                                          <p:attrName>ppt_w</p:attrName>
                                        </p:attrNameLst>
                                      </p:cBhvr>
                                      <p:tavLst>
                                        <p:tav tm="0">
                                          <p:val>
                                            <p:fltVal val="0"/>
                                          </p:val>
                                        </p:tav>
                                        <p:tav tm="100000">
                                          <p:val>
                                            <p:strVal val="#ppt_w"/>
                                          </p:val>
                                        </p:tav>
                                      </p:tavLst>
                                    </p:anim>
                                    <p:anim calcmode="lin" valueType="num">
                                      <p:cBhvr>
                                        <p:cTn id="198" dur="500" fill="hold"/>
                                        <p:tgtEl>
                                          <p:spTgt spid="83"/>
                                        </p:tgtEl>
                                        <p:attrNameLst>
                                          <p:attrName>ppt_h</p:attrName>
                                        </p:attrNameLst>
                                      </p:cBhvr>
                                      <p:tavLst>
                                        <p:tav tm="0">
                                          <p:val>
                                            <p:fltVal val="0"/>
                                          </p:val>
                                        </p:tav>
                                        <p:tav tm="100000">
                                          <p:val>
                                            <p:strVal val="#ppt_h"/>
                                          </p:val>
                                        </p:tav>
                                      </p:tavLst>
                                    </p:anim>
                                    <p:animEffect transition="in" filter="fade">
                                      <p:cBhvr>
                                        <p:cTn id="199" dur="500"/>
                                        <p:tgtEl>
                                          <p:spTgt spid="83"/>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70"/>
                                        </p:tgtEl>
                                        <p:attrNameLst>
                                          <p:attrName>style.visibility</p:attrName>
                                        </p:attrNameLst>
                                      </p:cBhvr>
                                      <p:to>
                                        <p:strVal val="visible"/>
                                      </p:to>
                                    </p:set>
                                    <p:anim calcmode="lin" valueType="num">
                                      <p:cBhvr>
                                        <p:cTn id="202" dur="500" fill="hold"/>
                                        <p:tgtEl>
                                          <p:spTgt spid="70"/>
                                        </p:tgtEl>
                                        <p:attrNameLst>
                                          <p:attrName>ppt_w</p:attrName>
                                        </p:attrNameLst>
                                      </p:cBhvr>
                                      <p:tavLst>
                                        <p:tav tm="0">
                                          <p:val>
                                            <p:fltVal val="0"/>
                                          </p:val>
                                        </p:tav>
                                        <p:tav tm="100000">
                                          <p:val>
                                            <p:strVal val="#ppt_w"/>
                                          </p:val>
                                        </p:tav>
                                      </p:tavLst>
                                    </p:anim>
                                    <p:anim calcmode="lin" valueType="num">
                                      <p:cBhvr>
                                        <p:cTn id="203" dur="500" fill="hold"/>
                                        <p:tgtEl>
                                          <p:spTgt spid="70"/>
                                        </p:tgtEl>
                                        <p:attrNameLst>
                                          <p:attrName>ppt_h</p:attrName>
                                        </p:attrNameLst>
                                      </p:cBhvr>
                                      <p:tavLst>
                                        <p:tav tm="0">
                                          <p:val>
                                            <p:fltVal val="0"/>
                                          </p:val>
                                        </p:tav>
                                        <p:tav tm="100000">
                                          <p:val>
                                            <p:strVal val="#ppt_h"/>
                                          </p:val>
                                        </p:tav>
                                      </p:tavLst>
                                    </p:anim>
                                    <p:animEffect transition="in" filter="fade">
                                      <p:cBhvr>
                                        <p:cTn id="204" dur="500"/>
                                        <p:tgtEl>
                                          <p:spTgt spid="70"/>
                                        </p:tgtEl>
                                      </p:cBhvr>
                                    </p:animEffect>
                                  </p:childTnLst>
                                </p:cTn>
                              </p:par>
                              <p:par>
                                <p:cTn id="205" presetID="53" presetClass="entr" presetSubtype="16" fill="hold" grpId="0" nodeType="withEffect">
                                  <p:stCondLst>
                                    <p:cond delay="0"/>
                                  </p:stCondLst>
                                  <p:childTnLst>
                                    <p:set>
                                      <p:cBhvr>
                                        <p:cTn id="206" dur="1" fill="hold">
                                          <p:stCondLst>
                                            <p:cond delay="0"/>
                                          </p:stCondLst>
                                        </p:cTn>
                                        <p:tgtEl>
                                          <p:spTgt spid="79"/>
                                        </p:tgtEl>
                                        <p:attrNameLst>
                                          <p:attrName>style.visibility</p:attrName>
                                        </p:attrNameLst>
                                      </p:cBhvr>
                                      <p:to>
                                        <p:strVal val="visible"/>
                                      </p:to>
                                    </p:set>
                                    <p:anim calcmode="lin" valueType="num">
                                      <p:cBhvr>
                                        <p:cTn id="207" dur="500" fill="hold"/>
                                        <p:tgtEl>
                                          <p:spTgt spid="79"/>
                                        </p:tgtEl>
                                        <p:attrNameLst>
                                          <p:attrName>ppt_w</p:attrName>
                                        </p:attrNameLst>
                                      </p:cBhvr>
                                      <p:tavLst>
                                        <p:tav tm="0">
                                          <p:val>
                                            <p:fltVal val="0"/>
                                          </p:val>
                                        </p:tav>
                                        <p:tav tm="100000">
                                          <p:val>
                                            <p:strVal val="#ppt_w"/>
                                          </p:val>
                                        </p:tav>
                                      </p:tavLst>
                                    </p:anim>
                                    <p:anim calcmode="lin" valueType="num">
                                      <p:cBhvr>
                                        <p:cTn id="208" dur="500" fill="hold"/>
                                        <p:tgtEl>
                                          <p:spTgt spid="79"/>
                                        </p:tgtEl>
                                        <p:attrNameLst>
                                          <p:attrName>ppt_h</p:attrName>
                                        </p:attrNameLst>
                                      </p:cBhvr>
                                      <p:tavLst>
                                        <p:tav tm="0">
                                          <p:val>
                                            <p:fltVal val="0"/>
                                          </p:val>
                                        </p:tav>
                                        <p:tav tm="100000">
                                          <p:val>
                                            <p:strVal val="#ppt_h"/>
                                          </p:val>
                                        </p:tav>
                                      </p:tavLst>
                                    </p:anim>
                                    <p:animEffect transition="in" filter="fade">
                                      <p:cBhvr>
                                        <p:cTn id="209" dur="500"/>
                                        <p:tgtEl>
                                          <p:spTgt spid="79"/>
                                        </p:tgtEl>
                                      </p:cBhvr>
                                    </p:animEffect>
                                  </p:childTnLst>
                                </p:cTn>
                              </p:par>
                              <p:par>
                                <p:cTn id="210" presetID="53" presetClass="entr" presetSubtype="16" fill="hold" grpId="0" nodeType="withEffect">
                                  <p:stCondLst>
                                    <p:cond delay="0"/>
                                  </p:stCondLst>
                                  <p:childTnLst>
                                    <p:set>
                                      <p:cBhvr>
                                        <p:cTn id="211" dur="1" fill="hold">
                                          <p:stCondLst>
                                            <p:cond delay="0"/>
                                          </p:stCondLst>
                                        </p:cTn>
                                        <p:tgtEl>
                                          <p:spTgt spid="84"/>
                                        </p:tgtEl>
                                        <p:attrNameLst>
                                          <p:attrName>style.visibility</p:attrName>
                                        </p:attrNameLst>
                                      </p:cBhvr>
                                      <p:to>
                                        <p:strVal val="visible"/>
                                      </p:to>
                                    </p:set>
                                    <p:anim calcmode="lin" valueType="num">
                                      <p:cBhvr>
                                        <p:cTn id="212" dur="500" fill="hold"/>
                                        <p:tgtEl>
                                          <p:spTgt spid="84"/>
                                        </p:tgtEl>
                                        <p:attrNameLst>
                                          <p:attrName>ppt_w</p:attrName>
                                        </p:attrNameLst>
                                      </p:cBhvr>
                                      <p:tavLst>
                                        <p:tav tm="0">
                                          <p:val>
                                            <p:fltVal val="0"/>
                                          </p:val>
                                        </p:tav>
                                        <p:tav tm="100000">
                                          <p:val>
                                            <p:strVal val="#ppt_w"/>
                                          </p:val>
                                        </p:tav>
                                      </p:tavLst>
                                    </p:anim>
                                    <p:anim calcmode="lin" valueType="num">
                                      <p:cBhvr>
                                        <p:cTn id="213" dur="500" fill="hold"/>
                                        <p:tgtEl>
                                          <p:spTgt spid="84"/>
                                        </p:tgtEl>
                                        <p:attrNameLst>
                                          <p:attrName>ppt_h</p:attrName>
                                        </p:attrNameLst>
                                      </p:cBhvr>
                                      <p:tavLst>
                                        <p:tav tm="0">
                                          <p:val>
                                            <p:fltVal val="0"/>
                                          </p:val>
                                        </p:tav>
                                        <p:tav tm="100000">
                                          <p:val>
                                            <p:strVal val="#ppt_h"/>
                                          </p:val>
                                        </p:tav>
                                      </p:tavLst>
                                    </p:anim>
                                    <p:animEffect transition="in" filter="fade">
                                      <p:cBhvr>
                                        <p:cTn id="214" dur="500"/>
                                        <p:tgtEl>
                                          <p:spTgt spid="84"/>
                                        </p:tgtEl>
                                      </p:cBhvr>
                                    </p:animEffect>
                                  </p:childTnLst>
                                </p:cTn>
                              </p:par>
                              <p:par>
                                <p:cTn id="215" presetID="53" presetClass="entr" presetSubtype="16" fill="hold" grpId="0" nodeType="withEffect">
                                  <p:stCondLst>
                                    <p:cond delay="0"/>
                                  </p:stCondLst>
                                  <p:childTnLst>
                                    <p:set>
                                      <p:cBhvr>
                                        <p:cTn id="216" dur="1" fill="hold">
                                          <p:stCondLst>
                                            <p:cond delay="0"/>
                                          </p:stCondLst>
                                        </p:cTn>
                                        <p:tgtEl>
                                          <p:spTgt spid="89"/>
                                        </p:tgtEl>
                                        <p:attrNameLst>
                                          <p:attrName>style.visibility</p:attrName>
                                        </p:attrNameLst>
                                      </p:cBhvr>
                                      <p:to>
                                        <p:strVal val="visible"/>
                                      </p:to>
                                    </p:set>
                                    <p:anim calcmode="lin" valueType="num">
                                      <p:cBhvr>
                                        <p:cTn id="217" dur="500" fill="hold"/>
                                        <p:tgtEl>
                                          <p:spTgt spid="89"/>
                                        </p:tgtEl>
                                        <p:attrNameLst>
                                          <p:attrName>ppt_w</p:attrName>
                                        </p:attrNameLst>
                                      </p:cBhvr>
                                      <p:tavLst>
                                        <p:tav tm="0">
                                          <p:val>
                                            <p:fltVal val="0"/>
                                          </p:val>
                                        </p:tav>
                                        <p:tav tm="100000">
                                          <p:val>
                                            <p:strVal val="#ppt_w"/>
                                          </p:val>
                                        </p:tav>
                                      </p:tavLst>
                                    </p:anim>
                                    <p:anim calcmode="lin" valueType="num">
                                      <p:cBhvr>
                                        <p:cTn id="218" dur="500" fill="hold"/>
                                        <p:tgtEl>
                                          <p:spTgt spid="89"/>
                                        </p:tgtEl>
                                        <p:attrNameLst>
                                          <p:attrName>ppt_h</p:attrName>
                                        </p:attrNameLst>
                                      </p:cBhvr>
                                      <p:tavLst>
                                        <p:tav tm="0">
                                          <p:val>
                                            <p:fltVal val="0"/>
                                          </p:val>
                                        </p:tav>
                                        <p:tav tm="100000">
                                          <p:val>
                                            <p:strVal val="#ppt_h"/>
                                          </p:val>
                                        </p:tav>
                                      </p:tavLst>
                                    </p:anim>
                                    <p:animEffect transition="in" filter="fade">
                                      <p:cBhvr>
                                        <p:cTn id="219" dur="500"/>
                                        <p:tgtEl>
                                          <p:spTgt spid="89"/>
                                        </p:tgtEl>
                                      </p:cBhvr>
                                    </p:animEffect>
                                  </p:childTnLst>
                                </p:cTn>
                              </p:par>
                              <p:par>
                                <p:cTn id="220" presetID="53" presetClass="entr" presetSubtype="16" fill="hold" grpId="0" nodeType="withEffect">
                                  <p:stCondLst>
                                    <p:cond delay="0"/>
                                  </p:stCondLst>
                                  <p:childTnLst>
                                    <p:set>
                                      <p:cBhvr>
                                        <p:cTn id="221" dur="1" fill="hold">
                                          <p:stCondLst>
                                            <p:cond delay="0"/>
                                          </p:stCondLst>
                                        </p:cTn>
                                        <p:tgtEl>
                                          <p:spTgt spid="94"/>
                                        </p:tgtEl>
                                        <p:attrNameLst>
                                          <p:attrName>style.visibility</p:attrName>
                                        </p:attrNameLst>
                                      </p:cBhvr>
                                      <p:to>
                                        <p:strVal val="visible"/>
                                      </p:to>
                                    </p:set>
                                    <p:anim calcmode="lin" valueType="num">
                                      <p:cBhvr>
                                        <p:cTn id="222" dur="500" fill="hold"/>
                                        <p:tgtEl>
                                          <p:spTgt spid="94"/>
                                        </p:tgtEl>
                                        <p:attrNameLst>
                                          <p:attrName>ppt_w</p:attrName>
                                        </p:attrNameLst>
                                      </p:cBhvr>
                                      <p:tavLst>
                                        <p:tav tm="0">
                                          <p:val>
                                            <p:fltVal val="0"/>
                                          </p:val>
                                        </p:tav>
                                        <p:tav tm="100000">
                                          <p:val>
                                            <p:strVal val="#ppt_w"/>
                                          </p:val>
                                        </p:tav>
                                      </p:tavLst>
                                    </p:anim>
                                    <p:anim calcmode="lin" valueType="num">
                                      <p:cBhvr>
                                        <p:cTn id="223" dur="500" fill="hold"/>
                                        <p:tgtEl>
                                          <p:spTgt spid="94"/>
                                        </p:tgtEl>
                                        <p:attrNameLst>
                                          <p:attrName>ppt_h</p:attrName>
                                        </p:attrNameLst>
                                      </p:cBhvr>
                                      <p:tavLst>
                                        <p:tav tm="0">
                                          <p:val>
                                            <p:fltVal val="0"/>
                                          </p:val>
                                        </p:tav>
                                        <p:tav tm="100000">
                                          <p:val>
                                            <p:strVal val="#ppt_h"/>
                                          </p:val>
                                        </p:tav>
                                      </p:tavLst>
                                    </p:anim>
                                    <p:animEffect transition="in" filter="fade">
                                      <p:cBhvr>
                                        <p:cTn id="224" dur="500"/>
                                        <p:tgtEl>
                                          <p:spTgt spid="94"/>
                                        </p:tgtEl>
                                      </p:cBhvr>
                                    </p:animEffect>
                                  </p:childTnLst>
                                </p:cTn>
                              </p:par>
                              <p:par>
                                <p:cTn id="225" presetID="53" presetClass="entr" presetSubtype="16" fill="hold" grpId="0" nodeType="withEffect">
                                  <p:stCondLst>
                                    <p:cond delay="0"/>
                                  </p:stCondLst>
                                  <p:childTnLst>
                                    <p:set>
                                      <p:cBhvr>
                                        <p:cTn id="226" dur="1" fill="hold">
                                          <p:stCondLst>
                                            <p:cond delay="0"/>
                                          </p:stCondLst>
                                        </p:cTn>
                                        <p:tgtEl>
                                          <p:spTgt spid="95"/>
                                        </p:tgtEl>
                                        <p:attrNameLst>
                                          <p:attrName>style.visibility</p:attrName>
                                        </p:attrNameLst>
                                      </p:cBhvr>
                                      <p:to>
                                        <p:strVal val="visible"/>
                                      </p:to>
                                    </p:set>
                                    <p:anim calcmode="lin" valueType="num">
                                      <p:cBhvr>
                                        <p:cTn id="227" dur="500" fill="hold"/>
                                        <p:tgtEl>
                                          <p:spTgt spid="95"/>
                                        </p:tgtEl>
                                        <p:attrNameLst>
                                          <p:attrName>ppt_w</p:attrName>
                                        </p:attrNameLst>
                                      </p:cBhvr>
                                      <p:tavLst>
                                        <p:tav tm="0">
                                          <p:val>
                                            <p:fltVal val="0"/>
                                          </p:val>
                                        </p:tav>
                                        <p:tav tm="100000">
                                          <p:val>
                                            <p:strVal val="#ppt_w"/>
                                          </p:val>
                                        </p:tav>
                                      </p:tavLst>
                                    </p:anim>
                                    <p:anim calcmode="lin" valueType="num">
                                      <p:cBhvr>
                                        <p:cTn id="228" dur="500" fill="hold"/>
                                        <p:tgtEl>
                                          <p:spTgt spid="95"/>
                                        </p:tgtEl>
                                        <p:attrNameLst>
                                          <p:attrName>ppt_h</p:attrName>
                                        </p:attrNameLst>
                                      </p:cBhvr>
                                      <p:tavLst>
                                        <p:tav tm="0">
                                          <p:val>
                                            <p:fltVal val="0"/>
                                          </p:val>
                                        </p:tav>
                                        <p:tav tm="100000">
                                          <p:val>
                                            <p:strVal val="#ppt_h"/>
                                          </p:val>
                                        </p:tav>
                                      </p:tavLst>
                                    </p:anim>
                                    <p:animEffect transition="in" filter="fade">
                                      <p:cBhvr>
                                        <p:cTn id="229" dur="500"/>
                                        <p:tgtEl>
                                          <p:spTgt spid="95"/>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90"/>
                                        </p:tgtEl>
                                        <p:attrNameLst>
                                          <p:attrName>style.visibility</p:attrName>
                                        </p:attrNameLst>
                                      </p:cBhvr>
                                      <p:to>
                                        <p:strVal val="visible"/>
                                      </p:to>
                                    </p:set>
                                    <p:anim calcmode="lin" valueType="num">
                                      <p:cBhvr>
                                        <p:cTn id="232" dur="500" fill="hold"/>
                                        <p:tgtEl>
                                          <p:spTgt spid="90"/>
                                        </p:tgtEl>
                                        <p:attrNameLst>
                                          <p:attrName>ppt_w</p:attrName>
                                        </p:attrNameLst>
                                      </p:cBhvr>
                                      <p:tavLst>
                                        <p:tav tm="0">
                                          <p:val>
                                            <p:fltVal val="0"/>
                                          </p:val>
                                        </p:tav>
                                        <p:tav tm="100000">
                                          <p:val>
                                            <p:strVal val="#ppt_w"/>
                                          </p:val>
                                        </p:tav>
                                      </p:tavLst>
                                    </p:anim>
                                    <p:anim calcmode="lin" valueType="num">
                                      <p:cBhvr>
                                        <p:cTn id="233" dur="500" fill="hold"/>
                                        <p:tgtEl>
                                          <p:spTgt spid="90"/>
                                        </p:tgtEl>
                                        <p:attrNameLst>
                                          <p:attrName>ppt_h</p:attrName>
                                        </p:attrNameLst>
                                      </p:cBhvr>
                                      <p:tavLst>
                                        <p:tav tm="0">
                                          <p:val>
                                            <p:fltVal val="0"/>
                                          </p:val>
                                        </p:tav>
                                        <p:tav tm="100000">
                                          <p:val>
                                            <p:strVal val="#ppt_h"/>
                                          </p:val>
                                        </p:tav>
                                      </p:tavLst>
                                    </p:anim>
                                    <p:animEffect transition="in" filter="fade">
                                      <p:cBhvr>
                                        <p:cTn id="234" dur="500"/>
                                        <p:tgtEl>
                                          <p:spTgt spid="90"/>
                                        </p:tgtEl>
                                      </p:cBhvr>
                                    </p:animEffect>
                                  </p:childTnLst>
                                </p:cTn>
                              </p:par>
                              <p:par>
                                <p:cTn id="235" presetID="53" presetClass="entr" presetSubtype="16" fill="hold" grpId="0" nodeType="withEffect">
                                  <p:stCondLst>
                                    <p:cond delay="0"/>
                                  </p:stCondLst>
                                  <p:childTnLst>
                                    <p:set>
                                      <p:cBhvr>
                                        <p:cTn id="236" dur="1" fill="hold">
                                          <p:stCondLst>
                                            <p:cond delay="0"/>
                                          </p:stCondLst>
                                        </p:cTn>
                                        <p:tgtEl>
                                          <p:spTgt spid="85"/>
                                        </p:tgtEl>
                                        <p:attrNameLst>
                                          <p:attrName>style.visibility</p:attrName>
                                        </p:attrNameLst>
                                      </p:cBhvr>
                                      <p:to>
                                        <p:strVal val="visible"/>
                                      </p:to>
                                    </p:set>
                                    <p:anim calcmode="lin" valueType="num">
                                      <p:cBhvr>
                                        <p:cTn id="237" dur="500" fill="hold"/>
                                        <p:tgtEl>
                                          <p:spTgt spid="85"/>
                                        </p:tgtEl>
                                        <p:attrNameLst>
                                          <p:attrName>ppt_w</p:attrName>
                                        </p:attrNameLst>
                                      </p:cBhvr>
                                      <p:tavLst>
                                        <p:tav tm="0">
                                          <p:val>
                                            <p:fltVal val="0"/>
                                          </p:val>
                                        </p:tav>
                                        <p:tav tm="100000">
                                          <p:val>
                                            <p:strVal val="#ppt_w"/>
                                          </p:val>
                                        </p:tav>
                                      </p:tavLst>
                                    </p:anim>
                                    <p:anim calcmode="lin" valueType="num">
                                      <p:cBhvr>
                                        <p:cTn id="238" dur="500" fill="hold"/>
                                        <p:tgtEl>
                                          <p:spTgt spid="85"/>
                                        </p:tgtEl>
                                        <p:attrNameLst>
                                          <p:attrName>ppt_h</p:attrName>
                                        </p:attrNameLst>
                                      </p:cBhvr>
                                      <p:tavLst>
                                        <p:tav tm="0">
                                          <p:val>
                                            <p:fltVal val="0"/>
                                          </p:val>
                                        </p:tav>
                                        <p:tav tm="100000">
                                          <p:val>
                                            <p:strVal val="#ppt_h"/>
                                          </p:val>
                                        </p:tav>
                                      </p:tavLst>
                                    </p:anim>
                                    <p:animEffect transition="in" filter="fade">
                                      <p:cBhvr>
                                        <p:cTn id="239" dur="500"/>
                                        <p:tgtEl>
                                          <p:spTgt spid="85"/>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80"/>
                                        </p:tgtEl>
                                        <p:attrNameLst>
                                          <p:attrName>style.visibility</p:attrName>
                                        </p:attrNameLst>
                                      </p:cBhvr>
                                      <p:to>
                                        <p:strVal val="visible"/>
                                      </p:to>
                                    </p:set>
                                    <p:anim calcmode="lin" valueType="num">
                                      <p:cBhvr>
                                        <p:cTn id="242" dur="500" fill="hold"/>
                                        <p:tgtEl>
                                          <p:spTgt spid="80"/>
                                        </p:tgtEl>
                                        <p:attrNameLst>
                                          <p:attrName>ppt_w</p:attrName>
                                        </p:attrNameLst>
                                      </p:cBhvr>
                                      <p:tavLst>
                                        <p:tav tm="0">
                                          <p:val>
                                            <p:fltVal val="0"/>
                                          </p:val>
                                        </p:tav>
                                        <p:tav tm="100000">
                                          <p:val>
                                            <p:strVal val="#ppt_w"/>
                                          </p:val>
                                        </p:tav>
                                      </p:tavLst>
                                    </p:anim>
                                    <p:anim calcmode="lin" valueType="num">
                                      <p:cBhvr>
                                        <p:cTn id="243" dur="500" fill="hold"/>
                                        <p:tgtEl>
                                          <p:spTgt spid="80"/>
                                        </p:tgtEl>
                                        <p:attrNameLst>
                                          <p:attrName>ppt_h</p:attrName>
                                        </p:attrNameLst>
                                      </p:cBhvr>
                                      <p:tavLst>
                                        <p:tav tm="0">
                                          <p:val>
                                            <p:fltVal val="0"/>
                                          </p:val>
                                        </p:tav>
                                        <p:tav tm="100000">
                                          <p:val>
                                            <p:strVal val="#ppt_h"/>
                                          </p:val>
                                        </p:tav>
                                      </p:tavLst>
                                    </p:anim>
                                    <p:animEffect transition="in" filter="fade">
                                      <p:cBhvr>
                                        <p:cTn id="244" dur="500"/>
                                        <p:tgtEl>
                                          <p:spTgt spid="80"/>
                                        </p:tgtEl>
                                      </p:cBhvr>
                                    </p:animEffect>
                                  </p:childTnLst>
                                </p:cTn>
                              </p:par>
                              <p:par>
                                <p:cTn id="245" presetID="53" presetClass="entr" presetSubtype="16" fill="hold" nodeType="withEffect">
                                  <p:stCondLst>
                                    <p:cond delay="0"/>
                                  </p:stCondLst>
                                  <p:childTnLst>
                                    <p:set>
                                      <p:cBhvr>
                                        <p:cTn id="246" dur="1" fill="hold">
                                          <p:stCondLst>
                                            <p:cond delay="0"/>
                                          </p:stCondLst>
                                        </p:cTn>
                                        <p:tgtEl>
                                          <p:spTgt spid="28"/>
                                        </p:tgtEl>
                                        <p:attrNameLst>
                                          <p:attrName>style.visibility</p:attrName>
                                        </p:attrNameLst>
                                      </p:cBhvr>
                                      <p:to>
                                        <p:strVal val="visible"/>
                                      </p:to>
                                    </p:set>
                                    <p:anim calcmode="lin" valueType="num">
                                      <p:cBhvr>
                                        <p:cTn id="247" dur="500" fill="hold"/>
                                        <p:tgtEl>
                                          <p:spTgt spid="28"/>
                                        </p:tgtEl>
                                        <p:attrNameLst>
                                          <p:attrName>ppt_w</p:attrName>
                                        </p:attrNameLst>
                                      </p:cBhvr>
                                      <p:tavLst>
                                        <p:tav tm="0">
                                          <p:val>
                                            <p:fltVal val="0"/>
                                          </p:val>
                                        </p:tav>
                                        <p:tav tm="100000">
                                          <p:val>
                                            <p:strVal val="#ppt_w"/>
                                          </p:val>
                                        </p:tav>
                                      </p:tavLst>
                                    </p:anim>
                                    <p:anim calcmode="lin" valueType="num">
                                      <p:cBhvr>
                                        <p:cTn id="248" dur="500" fill="hold"/>
                                        <p:tgtEl>
                                          <p:spTgt spid="28"/>
                                        </p:tgtEl>
                                        <p:attrNameLst>
                                          <p:attrName>ppt_h</p:attrName>
                                        </p:attrNameLst>
                                      </p:cBhvr>
                                      <p:tavLst>
                                        <p:tav tm="0">
                                          <p:val>
                                            <p:fltVal val="0"/>
                                          </p:val>
                                        </p:tav>
                                        <p:tav tm="100000">
                                          <p:val>
                                            <p:strVal val="#ppt_h"/>
                                          </p:val>
                                        </p:tav>
                                      </p:tavLst>
                                    </p:anim>
                                    <p:animEffect transition="in" filter="fade">
                                      <p:cBhvr>
                                        <p:cTn id="249" dur="500"/>
                                        <p:tgtEl>
                                          <p:spTgt spid="28"/>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97"/>
                                        </p:tgtEl>
                                        <p:attrNameLst>
                                          <p:attrName>style.visibility</p:attrName>
                                        </p:attrNameLst>
                                      </p:cBhvr>
                                      <p:to>
                                        <p:strVal val="visible"/>
                                      </p:to>
                                    </p:set>
                                    <p:anim calcmode="lin" valueType="num">
                                      <p:cBhvr>
                                        <p:cTn id="252" dur="500" fill="hold"/>
                                        <p:tgtEl>
                                          <p:spTgt spid="97"/>
                                        </p:tgtEl>
                                        <p:attrNameLst>
                                          <p:attrName>ppt_w</p:attrName>
                                        </p:attrNameLst>
                                      </p:cBhvr>
                                      <p:tavLst>
                                        <p:tav tm="0">
                                          <p:val>
                                            <p:fltVal val="0"/>
                                          </p:val>
                                        </p:tav>
                                        <p:tav tm="100000">
                                          <p:val>
                                            <p:strVal val="#ppt_w"/>
                                          </p:val>
                                        </p:tav>
                                      </p:tavLst>
                                    </p:anim>
                                    <p:anim calcmode="lin" valueType="num">
                                      <p:cBhvr>
                                        <p:cTn id="253" dur="500" fill="hold"/>
                                        <p:tgtEl>
                                          <p:spTgt spid="97"/>
                                        </p:tgtEl>
                                        <p:attrNameLst>
                                          <p:attrName>ppt_h</p:attrName>
                                        </p:attrNameLst>
                                      </p:cBhvr>
                                      <p:tavLst>
                                        <p:tav tm="0">
                                          <p:val>
                                            <p:fltVal val="0"/>
                                          </p:val>
                                        </p:tav>
                                        <p:tav tm="100000">
                                          <p:val>
                                            <p:strVal val="#ppt_h"/>
                                          </p:val>
                                        </p:tav>
                                      </p:tavLst>
                                    </p:anim>
                                    <p:animEffect transition="in" filter="fade">
                                      <p:cBhvr>
                                        <p:cTn id="254" dur="500"/>
                                        <p:tgtEl>
                                          <p:spTgt spid="97"/>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27"/>
                                        </p:tgtEl>
                                        <p:attrNameLst>
                                          <p:attrName>style.visibility</p:attrName>
                                        </p:attrNameLst>
                                      </p:cBhvr>
                                      <p:to>
                                        <p:strVal val="visible"/>
                                      </p:to>
                                    </p:set>
                                    <p:anim calcmode="lin" valueType="num">
                                      <p:cBhvr>
                                        <p:cTn id="257" dur="500" fill="hold"/>
                                        <p:tgtEl>
                                          <p:spTgt spid="27"/>
                                        </p:tgtEl>
                                        <p:attrNameLst>
                                          <p:attrName>ppt_w</p:attrName>
                                        </p:attrNameLst>
                                      </p:cBhvr>
                                      <p:tavLst>
                                        <p:tav tm="0">
                                          <p:val>
                                            <p:fltVal val="0"/>
                                          </p:val>
                                        </p:tav>
                                        <p:tav tm="100000">
                                          <p:val>
                                            <p:strVal val="#ppt_w"/>
                                          </p:val>
                                        </p:tav>
                                      </p:tavLst>
                                    </p:anim>
                                    <p:anim calcmode="lin" valueType="num">
                                      <p:cBhvr>
                                        <p:cTn id="258" dur="500" fill="hold"/>
                                        <p:tgtEl>
                                          <p:spTgt spid="27"/>
                                        </p:tgtEl>
                                        <p:attrNameLst>
                                          <p:attrName>ppt_h</p:attrName>
                                        </p:attrNameLst>
                                      </p:cBhvr>
                                      <p:tavLst>
                                        <p:tav tm="0">
                                          <p:val>
                                            <p:fltVal val="0"/>
                                          </p:val>
                                        </p:tav>
                                        <p:tav tm="100000">
                                          <p:val>
                                            <p:strVal val="#ppt_h"/>
                                          </p:val>
                                        </p:tav>
                                      </p:tavLst>
                                    </p:anim>
                                    <p:animEffect transition="in" filter="fade">
                                      <p:cBhvr>
                                        <p:cTn id="259" dur="500"/>
                                        <p:tgtEl>
                                          <p:spTgt spid="27"/>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ntr" presetSubtype="4" fill="hold" nodeType="clickEffect">
                                  <p:stCondLst>
                                    <p:cond delay="0"/>
                                  </p:stCondLst>
                                  <p:childTnLst>
                                    <p:set>
                                      <p:cBhvr>
                                        <p:cTn id="263" dur="1" fill="hold">
                                          <p:stCondLst>
                                            <p:cond delay="0"/>
                                          </p:stCondLst>
                                        </p:cTn>
                                        <p:tgtEl>
                                          <p:spTgt spid="126"/>
                                        </p:tgtEl>
                                        <p:attrNameLst>
                                          <p:attrName>style.visibility</p:attrName>
                                        </p:attrNameLst>
                                      </p:cBhvr>
                                      <p:to>
                                        <p:strVal val="visible"/>
                                      </p:to>
                                    </p:set>
                                    <p:animEffect transition="in" filter="wipe(down)">
                                      <p:cBhvr>
                                        <p:cTn id="264" dur="500"/>
                                        <p:tgtEl>
                                          <p:spTgt spid="126"/>
                                        </p:tgtEl>
                                      </p:cBhvr>
                                    </p:animEffect>
                                  </p:childTnLst>
                                </p:cTn>
                              </p:par>
                              <p:par>
                                <p:cTn id="265" presetID="22" presetClass="entr" presetSubtype="4" fill="hold" grpId="0" nodeType="withEffect">
                                  <p:stCondLst>
                                    <p:cond delay="0"/>
                                  </p:stCondLst>
                                  <p:childTnLst>
                                    <p:set>
                                      <p:cBhvr>
                                        <p:cTn id="266" dur="1" fill="hold">
                                          <p:stCondLst>
                                            <p:cond delay="0"/>
                                          </p:stCondLst>
                                        </p:cTn>
                                        <p:tgtEl>
                                          <p:spTgt spid="128"/>
                                        </p:tgtEl>
                                        <p:attrNameLst>
                                          <p:attrName>style.visibility</p:attrName>
                                        </p:attrNameLst>
                                      </p:cBhvr>
                                      <p:to>
                                        <p:strVal val="visible"/>
                                      </p:to>
                                    </p:set>
                                    <p:animEffect transition="in" filter="wipe(down)">
                                      <p:cBhvr>
                                        <p:cTn id="267" dur="500"/>
                                        <p:tgtEl>
                                          <p:spTgt spid="128"/>
                                        </p:tgtEl>
                                      </p:cBhvr>
                                    </p:animEffect>
                                  </p:childTnLst>
                                </p:cTn>
                              </p:par>
                              <p:par>
                                <p:cTn id="268" presetID="22" presetClass="entr" presetSubtype="4" fill="hold" grpId="0" nodeType="withEffect">
                                  <p:stCondLst>
                                    <p:cond delay="0"/>
                                  </p:stCondLst>
                                  <p:childTnLst>
                                    <p:set>
                                      <p:cBhvr>
                                        <p:cTn id="269" dur="1" fill="hold">
                                          <p:stCondLst>
                                            <p:cond delay="0"/>
                                          </p:stCondLst>
                                        </p:cTn>
                                        <p:tgtEl>
                                          <p:spTgt spid="127"/>
                                        </p:tgtEl>
                                        <p:attrNameLst>
                                          <p:attrName>style.visibility</p:attrName>
                                        </p:attrNameLst>
                                      </p:cBhvr>
                                      <p:to>
                                        <p:strVal val="visible"/>
                                      </p:to>
                                    </p:set>
                                    <p:animEffect transition="in" filter="wipe(down)">
                                      <p:cBhvr>
                                        <p:cTn id="270" dur="500"/>
                                        <p:tgtEl>
                                          <p:spTgt spid="127"/>
                                        </p:tgtEl>
                                      </p:cBhvr>
                                    </p:animEffect>
                                  </p:childTnLst>
                                </p:cTn>
                              </p:par>
                            </p:childTnLst>
                          </p:cTn>
                        </p:par>
                      </p:childTnLst>
                    </p:cTn>
                  </p:par>
                  <p:par>
                    <p:cTn id="271" fill="hold">
                      <p:stCondLst>
                        <p:cond delay="indefinite"/>
                      </p:stCondLst>
                      <p:childTnLst>
                        <p:par>
                          <p:cTn id="272" fill="hold">
                            <p:stCondLst>
                              <p:cond delay="0"/>
                            </p:stCondLst>
                            <p:childTnLst>
                              <p:par>
                                <p:cTn id="273" presetID="53" presetClass="entr" presetSubtype="16" fill="hold" grpId="0" nodeType="clickEffect">
                                  <p:stCondLst>
                                    <p:cond delay="0"/>
                                  </p:stCondLst>
                                  <p:childTnLst>
                                    <p:set>
                                      <p:cBhvr>
                                        <p:cTn id="274" dur="1" fill="hold">
                                          <p:stCondLst>
                                            <p:cond delay="0"/>
                                          </p:stCondLst>
                                        </p:cTn>
                                        <p:tgtEl>
                                          <p:spTgt spid="123"/>
                                        </p:tgtEl>
                                        <p:attrNameLst>
                                          <p:attrName>style.visibility</p:attrName>
                                        </p:attrNameLst>
                                      </p:cBhvr>
                                      <p:to>
                                        <p:strVal val="visible"/>
                                      </p:to>
                                    </p:set>
                                    <p:anim calcmode="lin" valueType="num">
                                      <p:cBhvr>
                                        <p:cTn id="275" dur="500" fill="hold"/>
                                        <p:tgtEl>
                                          <p:spTgt spid="123"/>
                                        </p:tgtEl>
                                        <p:attrNameLst>
                                          <p:attrName>ppt_w</p:attrName>
                                        </p:attrNameLst>
                                      </p:cBhvr>
                                      <p:tavLst>
                                        <p:tav tm="0">
                                          <p:val>
                                            <p:fltVal val="0"/>
                                          </p:val>
                                        </p:tav>
                                        <p:tav tm="100000">
                                          <p:val>
                                            <p:strVal val="#ppt_w"/>
                                          </p:val>
                                        </p:tav>
                                      </p:tavLst>
                                    </p:anim>
                                    <p:anim calcmode="lin" valueType="num">
                                      <p:cBhvr>
                                        <p:cTn id="276" dur="500" fill="hold"/>
                                        <p:tgtEl>
                                          <p:spTgt spid="123"/>
                                        </p:tgtEl>
                                        <p:attrNameLst>
                                          <p:attrName>ppt_h</p:attrName>
                                        </p:attrNameLst>
                                      </p:cBhvr>
                                      <p:tavLst>
                                        <p:tav tm="0">
                                          <p:val>
                                            <p:fltVal val="0"/>
                                          </p:val>
                                        </p:tav>
                                        <p:tav tm="100000">
                                          <p:val>
                                            <p:strVal val="#ppt_h"/>
                                          </p:val>
                                        </p:tav>
                                      </p:tavLst>
                                    </p:anim>
                                    <p:animEffect transition="in" filter="fade">
                                      <p:cBhvr>
                                        <p:cTn id="277" dur="500"/>
                                        <p:tgtEl>
                                          <p:spTgt spid="123"/>
                                        </p:tgtEl>
                                      </p:cBhvr>
                                    </p:animEffect>
                                  </p:childTnLst>
                                </p:cTn>
                              </p:par>
                              <p:par>
                                <p:cTn id="278" presetID="53" presetClass="entr" presetSubtype="16" fill="hold" grpId="0" nodeType="withEffect">
                                  <p:stCondLst>
                                    <p:cond delay="0"/>
                                  </p:stCondLst>
                                  <p:childTnLst>
                                    <p:set>
                                      <p:cBhvr>
                                        <p:cTn id="279" dur="1" fill="hold">
                                          <p:stCondLst>
                                            <p:cond delay="0"/>
                                          </p:stCondLst>
                                        </p:cTn>
                                        <p:tgtEl>
                                          <p:spTgt spid="32"/>
                                        </p:tgtEl>
                                        <p:attrNameLst>
                                          <p:attrName>style.visibility</p:attrName>
                                        </p:attrNameLst>
                                      </p:cBhvr>
                                      <p:to>
                                        <p:strVal val="visible"/>
                                      </p:to>
                                    </p:set>
                                    <p:anim calcmode="lin" valueType="num">
                                      <p:cBhvr>
                                        <p:cTn id="280" dur="500" fill="hold"/>
                                        <p:tgtEl>
                                          <p:spTgt spid="32"/>
                                        </p:tgtEl>
                                        <p:attrNameLst>
                                          <p:attrName>ppt_w</p:attrName>
                                        </p:attrNameLst>
                                      </p:cBhvr>
                                      <p:tavLst>
                                        <p:tav tm="0">
                                          <p:val>
                                            <p:fltVal val="0"/>
                                          </p:val>
                                        </p:tav>
                                        <p:tav tm="100000">
                                          <p:val>
                                            <p:strVal val="#ppt_w"/>
                                          </p:val>
                                        </p:tav>
                                      </p:tavLst>
                                    </p:anim>
                                    <p:anim calcmode="lin" valueType="num">
                                      <p:cBhvr>
                                        <p:cTn id="281" dur="500" fill="hold"/>
                                        <p:tgtEl>
                                          <p:spTgt spid="32"/>
                                        </p:tgtEl>
                                        <p:attrNameLst>
                                          <p:attrName>ppt_h</p:attrName>
                                        </p:attrNameLst>
                                      </p:cBhvr>
                                      <p:tavLst>
                                        <p:tav tm="0">
                                          <p:val>
                                            <p:fltVal val="0"/>
                                          </p:val>
                                        </p:tav>
                                        <p:tav tm="100000">
                                          <p:val>
                                            <p:strVal val="#ppt_h"/>
                                          </p:val>
                                        </p:tav>
                                      </p:tavLst>
                                    </p:anim>
                                    <p:animEffect transition="in" filter="fade">
                                      <p:cBhvr>
                                        <p:cTn id="282" dur="500"/>
                                        <p:tgtEl>
                                          <p:spTgt spid="32"/>
                                        </p:tgtEl>
                                      </p:cBhvr>
                                    </p:animEffect>
                                  </p:childTnLst>
                                </p:cTn>
                              </p:par>
                              <p:par>
                                <p:cTn id="283" presetID="16" presetClass="entr" presetSubtype="21" fill="hold" grpId="0" nodeType="withEffect">
                                  <p:stCondLst>
                                    <p:cond delay="0"/>
                                  </p:stCondLst>
                                  <p:childTnLst>
                                    <p:set>
                                      <p:cBhvr>
                                        <p:cTn id="284" dur="1" fill="hold">
                                          <p:stCondLst>
                                            <p:cond delay="0"/>
                                          </p:stCondLst>
                                        </p:cTn>
                                        <p:tgtEl>
                                          <p:spTgt spid="125"/>
                                        </p:tgtEl>
                                        <p:attrNameLst>
                                          <p:attrName>style.visibility</p:attrName>
                                        </p:attrNameLst>
                                      </p:cBhvr>
                                      <p:to>
                                        <p:strVal val="visible"/>
                                      </p:to>
                                    </p:set>
                                    <p:animEffect transition="in" filter="barn(inVertical)">
                                      <p:cBhvr>
                                        <p:cTn id="285"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0" grpId="0"/>
      <p:bldP spid="11" grpId="0" animBg="1"/>
      <p:bldP spid="12" grpId="0"/>
      <p:bldP spid="14" grpId="0"/>
      <p:bldP spid="16" grpId="0"/>
      <p:bldP spid="19" grpId="0"/>
      <p:bldP spid="20" grpId="0" animBg="1"/>
      <p:bldP spid="26" grpId="0" animBg="1"/>
      <p:bldP spid="27" grpId="0"/>
      <p:bldP spid="29" grpId="0" animBg="1"/>
      <p:bldP spid="117" grpId="0" animBg="1"/>
      <p:bldP spid="30" grpId="0"/>
      <p:bldP spid="32" grpId="0"/>
      <p:bldP spid="3" grpId="0" animBg="1"/>
      <p:bldP spid="18" grpId="0" animBg="1"/>
      <p:bldP spid="50" grpId="0" animBg="1"/>
      <p:bldP spid="51" grpId="0" animBg="1"/>
      <p:bldP spid="52" grpId="0" animBg="1"/>
      <p:bldP spid="53" grpId="0" animBg="1"/>
      <p:bldP spid="54" grpId="0" animBg="1"/>
      <p:bldP spid="56" grpId="0" animBg="1"/>
      <p:bldP spid="59" grpId="0" animBg="1"/>
      <p:bldP spid="60" grpId="0" animBg="1"/>
      <p:bldP spid="61" grpId="0" animBg="1"/>
      <p:bldP spid="62" grpId="0" animBg="1"/>
      <p:bldP spid="63" grpId="0" animBg="1"/>
      <p:bldP spid="64" grpId="0" animBg="1"/>
      <p:bldP spid="65" grpId="0" animBg="1"/>
      <p:bldP spid="66" grpId="0" animBg="1"/>
      <p:bldP spid="68" grpId="0" animBg="1"/>
      <p:bldP spid="69" grpId="0" animBg="1"/>
      <p:bldP spid="70"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p:bldP spid="97" grpId="0"/>
      <p:bldP spid="118" grpId="0" animBg="1"/>
      <p:bldP spid="119" grpId="0" animBg="1"/>
      <p:bldP spid="120" grpId="0" animBg="1"/>
      <p:bldP spid="121" grpId="0" animBg="1"/>
      <p:bldP spid="123" grpId="0" animBg="1"/>
      <p:bldP spid="124" grpId="0"/>
      <p:bldP spid="125" grpId="0" animBg="1"/>
      <p:bldP spid="127" grpId="0"/>
      <p:bldP spid="1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865025" y="1700530"/>
            <a:ext cx="8228596" cy="4243247"/>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决策系统</a:t>
            </a:r>
            <a:endParaRPr lang="zh-CN" altLang="en-US" dirty="0">
              <a:solidFill>
                <a:srgbClr val="333F50"/>
              </a:solidFill>
            </a:endParaRPr>
          </a:p>
        </p:txBody>
      </p:sp>
      <p:sp>
        <p:nvSpPr>
          <p:cNvPr id="59" name="圆角矩形 58"/>
          <p:cNvSpPr/>
          <p:nvPr/>
        </p:nvSpPr>
        <p:spPr>
          <a:xfrm>
            <a:off x="4813300" y="1460205"/>
            <a:ext cx="1830705" cy="4495800"/>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0" name="文本框 59"/>
          <p:cNvSpPr txBox="1"/>
          <p:nvPr/>
        </p:nvSpPr>
        <p:spPr>
          <a:xfrm>
            <a:off x="4722812" y="6044269"/>
            <a:ext cx="2011680" cy="368300"/>
          </a:xfrm>
          <a:prstGeom prst="rect">
            <a:avLst/>
          </a:prstGeom>
          <a:noFill/>
        </p:spPr>
        <p:txBody>
          <a:bodyPr wrap="none" rtlCol="0">
            <a:spAutoFit/>
          </a:bodyPr>
          <a:lstStyle/>
          <a:p>
            <a:r>
              <a:rPr lang="zh-CN" altLang="en-US" b="1" dirty="0">
                <a:solidFill>
                  <a:schemeClr val="accent1"/>
                </a:solidFill>
                <a:effectLst>
                  <a:outerShdw blurRad="38100" dist="25400" dir="5400000" algn="ctr" rotWithShape="0">
                    <a:srgbClr val="6E747A">
                      <a:alpha val="43000"/>
                    </a:srgbClr>
                  </a:outerShdw>
                </a:effectLst>
              </a:rPr>
              <a:t>决策系统核心模块</a:t>
            </a:r>
          </a:p>
        </p:txBody>
      </p:sp>
      <p:sp>
        <p:nvSpPr>
          <p:cNvPr id="38" name="文本框 37"/>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9" name="矩形 38"/>
          <p:cNvSpPr/>
          <p:nvPr/>
        </p:nvSpPr>
        <p:spPr>
          <a:xfrm>
            <a:off x="3556428" y="3503490"/>
            <a:ext cx="4344445" cy="282887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40" name="矩形 39"/>
          <p:cNvSpPr/>
          <p:nvPr/>
        </p:nvSpPr>
        <p:spPr>
          <a:xfrm>
            <a:off x="4800269" y="943949"/>
            <a:ext cx="1830388" cy="2739145"/>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87" name="矩形 86"/>
          <p:cNvSpPr/>
          <p:nvPr/>
        </p:nvSpPr>
        <p:spPr>
          <a:xfrm>
            <a:off x="3569372" y="1390642"/>
            <a:ext cx="1343537" cy="2402678"/>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88" name="矩形 87"/>
          <p:cNvSpPr/>
          <p:nvPr/>
        </p:nvSpPr>
        <p:spPr>
          <a:xfrm>
            <a:off x="6321141" y="1171477"/>
            <a:ext cx="2226869" cy="1449458"/>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89" name="矩形 88"/>
          <p:cNvSpPr/>
          <p:nvPr/>
        </p:nvSpPr>
        <p:spPr>
          <a:xfrm>
            <a:off x="8574291" y="1701052"/>
            <a:ext cx="1747540" cy="4027977"/>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034" name="矩形标注 1033"/>
          <p:cNvSpPr/>
          <p:nvPr/>
        </p:nvSpPr>
        <p:spPr>
          <a:xfrm>
            <a:off x="5728651" y="471975"/>
            <a:ext cx="2356569" cy="1160730"/>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利用智库中的算法及模型对数据进行判别及分析</a:t>
            </a:r>
            <a:endParaRPr lang="zh-CN" altLang="en-US" dirty="0"/>
          </a:p>
        </p:txBody>
      </p:sp>
      <p:sp>
        <p:nvSpPr>
          <p:cNvPr id="92" name="矩形标注 91"/>
          <p:cNvSpPr/>
          <p:nvPr/>
        </p:nvSpPr>
        <p:spPr>
          <a:xfrm flipH="1">
            <a:off x="4129253" y="3127740"/>
            <a:ext cx="2356569" cy="1160730"/>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使用反馈的数据对算法模型进行完善，达到自我学习的功能</a:t>
            </a:r>
            <a:endParaRPr lang="zh-CN" altLang="en-US" dirty="0"/>
          </a:p>
        </p:txBody>
      </p:sp>
      <p:sp>
        <p:nvSpPr>
          <p:cNvPr id="1038" name="左右箭头 1037"/>
          <p:cNvSpPr/>
          <p:nvPr/>
        </p:nvSpPr>
        <p:spPr>
          <a:xfrm>
            <a:off x="6884773" y="4288470"/>
            <a:ext cx="1438639" cy="370157"/>
          </a:xfrm>
          <a:prstGeom prst="leftRightArrow">
            <a:avLst/>
          </a:prstGeom>
          <a:solidFill>
            <a:srgbClr val="FFFFFF"/>
          </a:solidFill>
          <a:ln w="2857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文本框 1038"/>
          <p:cNvSpPr txBox="1"/>
          <p:nvPr/>
        </p:nvSpPr>
        <p:spPr>
          <a:xfrm>
            <a:off x="6906935" y="3708105"/>
            <a:ext cx="1521065" cy="646331"/>
          </a:xfrm>
          <a:prstGeom prst="rect">
            <a:avLst/>
          </a:prstGeom>
          <a:noFill/>
        </p:spPr>
        <p:txBody>
          <a:bodyPr wrap="square" rtlCol="0">
            <a:spAutoFit/>
          </a:bodyPr>
          <a:lstStyle/>
          <a:p>
            <a:r>
              <a:rPr lang="zh-CN" altLang="en-US" dirty="0" smtClean="0"/>
              <a:t>通过感知系统闭环反馈</a:t>
            </a:r>
            <a:endParaRPr lang="zh-CN" altLang="en-US" dirty="0"/>
          </a:p>
        </p:txBody>
      </p:sp>
    </p:spTree>
    <p:extLst>
      <p:ext uri="{BB962C8B-B14F-4D97-AF65-F5344CB8AC3E}">
        <p14:creationId xmlns:p14="http://schemas.microsoft.com/office/powerpoint/2010/main" val="362038057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87"/>
                                        </p:tgtEl>
                                      </p:cBhvr>
                                    </p:animEffect>
                                    <p:set>
                                      <p:cBhvr>
                                        <p:cTn id="7" dur="1" fill="hold">
                                          <p:stCondLst>
                                            <p:cond delay="499"/>
                                          </p:stCondLst>
                                        </p:cTn>
                                        <p:tgtEl>
                                          <p:spTgt spid="8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40"/>
                                        </p:tgtEl>
                                      </p:cBhvr>
                                    </p:animEffect>
                                    <p:set>
                                      <p:cBhvr>
                                        <p:cTn id="12" dur="1" fill="hold">
                                          <p:stCondLst>
                                            <p:cond delay="499"/>
                                          </p:stCondLst>
                                        </p:cTn>
                                        <p:tgtEl>
                                          <p:spTgt spid="4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034"/>
                                        </p:tgtEl>
                                        <p:attrNameLst>
                                          <p:attrName>style.visibility</p:attrName>
                                        </p:attrNameLst>
                                      </p:cBhvr>
                                      <p:to>
                                        <p:strVal val="visible"/>
                                      </p:to>
                                    </p:set>
                                    <p:animEffect transition="in" filter="fade">
                                      <p:cBhvr>
                                        <p:cTn id="17" dur="1000"/>
                                        <p:tgtEl>
                                          <p:spTgt spid="1034"/>
                                        </p:tgtEl>
                                      </p:cBhvr>
                                    </p:animEffect>
                                    <p:anim calcmode="lin" valueType="num">
                                      <p:cBhvr>
                                        <p:cTn id="18" dur="1000" fill="hold"/>
                                        <p:tgtEl>
                                          <p:spTgt spid="1034"/>
                                        </p:tgtEl>
                                        <p:attrNameLst>
                                          <p:attrName>ppt_x</p:attrName>
                                        </p:attrNameLst>
                                      </p:cBhvr>
                                      <p:tavLst>
                                        <p:tav tm="0">
                                          <p:val>
                                            <p:strVal val="#ppt_x"/>
                                          </p:val>
                                        </p:tav>
                                        <p:tav tm="100000">
                                          <p:val>
                                            <p:strVal val="#ppt_x"/>
                                          </p:val>
                                        </p:tav>
                                      </p:tavLst>
                                    </p:anim>
                                    <p:anim calcmode="lin" valueType="num">
                                      <p:cBhvr>
                                        <p:cTn id="19" dur="1000" fill="hold"/>
                                        <p:tgtEl>
                                          <p:spTgt spid="103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xit" presetSubtype="0" fill="hold" grpId="1" nodeType="clickEffect">
                                  <p:stCondLst>
                                    <p:cond delay="0"/>
                                  </p:stCondLst>
                                  <p:childTnLst>
                                    <p:animEffect transition="out" filter="fade">
                                      <p:cBhvr>
                                        <p:cTn id="23" dur="1000"/>
                                        <p:tgtEl>
                                          <p:spTgt spid="1034"/>
                                        </p:tgtEl>
                                      </p:cBhvr>
                                    </p:animEffect>
                                    <p:anim calcmode="lin" valueType="num">
                                      <p:cBhvr>
                                        <p:cTn id="24" dur="1000"/>
                                        <p:tgtEl>
                                          <p:spTgt spid="1034"/>
                                        </p:tgtEl>
                                        <p:attrNameLst>
                                          <p:attrName>ppt_x</p:attrName>
                                        </p:attrNameLst>
                                      </p:cBhvr>
                                      <p:tavLst>
                                        <p:tav tm="0">
                                          <p:val>
                                            <p:strVal val="ppt_x"/>
                                          </p:val>
                                        </p:tav>
                                        <p:tav tm="100000">
                                          <p:val>
                                            <p:strVal val="ppt_x"/>
                                          </p:val>
                                        </p:tav>
                                      </p:tavLst>
                                    </p:anim>
                                    <p:anim calcmode="lin" valueType="num">
                                      <p:cBhvr>
                                        <p:cTn id="25" dur="1000"/>
                                        <p:tgtEl>
                                          <p:spTgt spid="1034"/>
                                        </p:tgtEl>
                                        <p:attrNameLst>
                                          <p:attrName>ppt_y</p:attrName>
                                        </p:attrNameLst>
                                      </p:cBhvr>
                                      <p:tavLst>
                                        <p:tav tm="0">
                                          <p:val>
                                            <p:strVal val="ppt_y"/>
                                          </p:val>
                                        </p:tav>
                                        <p:tav tm="100000">
                                          <p:val>
                                            <p:strVal val="ppt_y+.1"/>
                                          </p:val>
                                        </p:tav>
                                      </p:tavLst>
                                    </p:anim>
                                    <p:set>
                                      <p:cBhvr>
                                        <p:cTn id="26" dur="1" fill="hold">
                                          <p:stCondLst>
                                            <p:cond delay="999"/>
                                          </p:stCondLst>
                                        </p:cTn>
                                        <p:tgtEl>
                                          <p:spTgt spid="103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grpId="0" nodeType="clickEffect">
                                  <p:stCondLst>
                                    <p:cond delay="0"/>
                                  </p:stCondLst>
                                  <p:childTnLst>
                                    <p:animEffect transition="out" filter="wipe(down)">
                                      <p:cBhvr>
                                        <p:cTn id="30" dur="500"/>
                                        <p:tgtEl>
                                          <p:spTgt spid="88"/>
                                        </p:tgtEl>
                                      </p:cBhvr>
                                    </p:animEffect>
                                    <p:set>
                                      <p:cBhvr>
                                        <p:cTn id="31" dur="1" fill="hold">
                                          <p:stCondLst>
                                            <p:cond delay="499"/>
                                          </p:stCondLst>
                                        </p:cTn>
                                        <p:tgtEl>
                                          <p:spTgt spid="88"/>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4" fill="hold" grpId="0" nodeType="clickEffect">
                                  <p:stCondLst>
                                    <p:cond delay="0"/>
                                  </p:stCondLst>
                                  <p:childTnLst>
                                    <p:animEffect transition="out" filter="wipe(down)">
                                      <p:cBhvr>
                                        <p:cTn id="35" dur="500"/>
                                        <p:tgtEl>
                                          <p:spTgt spid="89"/>
                                        </p:tgtEl>
                                      </p:cBhvr>
                                    </p:animEffect>
                                    <p:set>
                                      <p:cBhvr>
                                        <p:cTn id="36" dur="1" fill="hold">
                                          <p:stCondLst>
                                            <p:cond delay="499"/>
                                          </p:stCondLst>
                                        </p:cTn>
                                        <p:tgtEl>
                                          <p:spTgt spid="8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2" presetClass="exit" presetSubtype="4" fill="hold" grpId="0" nodeType="clickEffect">
                                  <p:stCondLst>
                                    <p:cond delay="0"/>
                                  </p:stCondLst>
                                  <p:childTnLst>
                                    <p:animEffect transition="out" filter="wipe(down)">
                                      <p:cBhvr>
                                        <p:cTn id="40" dur="500"/>
                                        <p:tgtEl>
                                          <p:spTgt spid="39"/>
                                        </p:tgtEl>
                                      </p:cBhvr>
                                    </p:animEffect>
                                    <p:set>
                                      <p:cBhvr>
                                        <p:cTn id="41" dur="1" fill="hold">
                                          <p:stCondLst>
                                            <p:cond delay="499"/>
                                          </p:stCondLst>
                                        </p:cTn>
                                        <p:tgtEl>
                                          <p:spTgt spid="39"/>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92"/>
                                        </p:tgtEl>
                                        <p:attrNameLst>
                                          <p:attrName>style.visibility</p:attrName>
                                        </p:attrNameLst>
                                      </p:cBhvr>
                                      <p:to>
                                        <p:strVal val="visible"/>
                                      </p:to>
                                    </p:set>
                                    <p:animEffect transition="in" filter="fade">
                                      <p:cBhvr>
                                        <p:cTn id="46" dur="1000"/>
                                        <p:tgtEl>
                                          <p:spTgt spid="92"/>
                                        </p:tgtEl>
                                      </p:cBhvr>
                                    </p:animEffect>
                                    <p:anim calcmode="lin" valueType="num">
                                      <p:cBhvr>
                                        <p:cTn id="47" dur="1000" fill="hold"/>
                                        <p:tgtEl>
                                          <p:spTgt spid="92"/>
                                        </p:tgtEl>
                                        <p:attrNameLst>
                                          <p:attrName>ppt_x</p:attrName>
                                        </p:attrNameLst>
                                      </p:cBhvr>
                                      <p:tavLst>
                                        <p:tav tm="0">
                                          <p:val>
                                            <p:strVal val="#ppt_x"/>
                                          </p:val>
                                        </p:tav>
                                        <p:tav tm="100000">
                                          <p:val>
                                            <p:strVal val="#ppt_x"/>
                                          </p:val>
                                        </p:tav>
                                      </p:tavLst>
                                    </p:anim>
                                    <p:anim calcmode="lin" valueType="num">
                                      <p:cBhvr>
                                        <p:cTn id="48"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xit" presetSubtype="0" fill="hold" grpId="1" nodeType="clickEffect">
                                  <p:stCondLst>
                                    <p:cond delay="0"/>
                                  </p:stCondLst>
                                  <p:childTnLst>
                                    <p:animEffect transition="out" filter="fade">
                                      <p:cBhvr>
                                        <p:cTn id="52" dur="1000"/>
                                        <p:tgtEl>
                                          <p:spTgt spid="92"/>
                                        </p:tgtEl>
                                      </p:cBhvr>
                                    </p:animEffect>
                                    <p:anim calcmode="lin" valueType="num">
                                      <p:cBhvr>
                                        <p:cTn id="53" dur="1000"/>
                                        <p:tgtEl>
                                          <p:spTgt spid="92"/>
                                        </p:tgtEl>
                                        <p:attrNameLst>
                                          <p:attrName>ppt_x</p:attrName>
                                        </p:attrNameLst>
                                      </p:cBhvr>
                                      <p:tavLst>
                                        <p:tav tm="0">
                                          <p:val>
                                            <p:strVal val="ppt_x"/>
                                          </p:val>
                                        </p:tav>
                                        <p:tav tm="100000">
                                          <p:val>
                                            <p:strVal val="ppt_x"/>
                                          </p:val>
                                        </p:tav>
                                      </p:tavLst>
                                    </p:anim>
                                    <p:anim calcmode="lin" valueType="num">
                                      <p:cBhvr>
                                        <p:cTn id="54" dur="1000"/>
                                        <p:tgtEl>
                                          <p:spTgt spid="92"/>
                                        </p:tgtEl>
                                        <p:attrNameLst>
                                          <p:attrName>ppt_y</p:attrName>
                                        </p:attrNameLst>
                                      </p:cBhvr>
                                      <p:tavLst>
                                        <p:tav tm="0">
                                          <p:val>
                                            <p:strVal val="ppt_y"/>
                                          </p:val>
                                        </p:tav>
                                        <p:tav tm="100000">
                                          <p:val>
                                            <p:strVal val="ppt_y+.1"/>
                                          </p:val>
                                        </p:tav>
                                      </p:tavLst>
                                    </p:anim>
                                    <p:set>
                                      <p:cBhvr>
                                        <p:cTn id="55" dur="1" fill="hold">
                                          <p:stCondLst>
                                            <p:cond delay="999"/>
                                          </p:stCondLst>
                                        </p:cTn>
                                        <p:tgtEl>
                                          <p:spTgt spid="92"/>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039"/>
                                        </p:tgtEl>
                                        <p:attrNameLst>
                                          <p:attrName>style.visibility</p:attrName>
                                        </p:attrNameLst>
                                      </p:cBhvr>
                                      <p:to>
                                        <p:strVal val="visible"/>
                                      </p:to>
                                    </p:set>
                                    <p:animEffect transition="in" filter="wipe(down)">
                                      <p:cBhvr>
                                        <p:cTn id="60" dur="500"/>
                                        <p:tgtEl>
                                          <p:spTgt spid="1039"/>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038"/>
                                        </p:tgtEl>
                                        <p:attrNameLst>
                                          <p:attrName>style.visibility</p:attrName>
                                        </p:attrNameLst>
                                      </p:cBhvr>
                                      <p:to>
                                        <p:strVal val="visible"/>
                                      </p:to>
                                    </p:set>
                                    <p:animEffect transition="in" filter="wipe(down)">
                                      <p:cBhvr>
                                        <p:cTn id="63" dur="500"/>
                                        <p:tgtEl>
                                          <p:spTgt spid="1038"/>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59"/>
                                        </p:tgtEl>
                                        <p:attrNameLst>
                                          <p:attrName>style.visibility</p:attrName>
                                        </p:attrNameLst>
                                      </p:cBhvr>
                                      <p:to>
                                        <p:strVal val="visible"/>
                                      </p:to>
                                    </p:set>
                                    <p:anim calcmode="lin" valueType="num">
                                      <p:cBhvr>
                                        <p:cTn id="68" dur="500" fill="hold"/>
                                        <p:tgtEl>
                                          <p:spTgt spid="59"/>
                                        </p:tgtEl>
                                        <p:attrNameLst>
                                          <p:attrName>ppt_w</p:attrName>
                                        </p:attrNameLst>
                                      </p:cBhvr>
                                      <p:tavLst>
                                        <p:tav tm="0">
                                          <p:val>
                                            <p:fltVal val="0"/>
                                          </p:val>
                                        </p:tav>
                                        <p:tav tm="100000">
                                          <p:val>
                                            <p:strVal val="#ppt_w"/>
                                          </p:val>
                                        </p:tav>
                                      </p:tavLst>
                                    </p:anim>
                                    <p:anim calcmode="lin" valueType="num">
                                      <p:cBhvr>
                                        <p:cTn id="69" dur="500" fill="hold"/>
                                        <p:tgtEl>
                                          <p:spTgt spid="59"/>
                                        </p:tgtEl>
                                        <p:attrNameLst>
                                          <p:attrName>ppt_h</p:attrName>
                                        </p:attrNameLst>
                                      </p:cBhvr>
                                      <p:tavLst>
                                        <p:tav tm="0">
                                          <p:val>
                                            <p:fltVal val="0"/>
                                          </p:val>
                                        </p:tav>
                                        <p:tav tm="100000">
                                          <p:val>
                                            <p:strVal val="#ppt_h"/>
                                          </p:val>
                                        </p:tav>
                                      </p:tavLst>
                                    </p:anim>
                                    <p:animEffect transition="in" filter="fade">
                                      <p:cBhvr>
                                        <p:cTn id="70" dur="500"/>
                                        <p:tgtEl>
                                          <p:spTgt spid="59"/>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60"/>
                                        </p:tgtEl>
                                        <p:attrNameLst>
                                          <p:attrName>style.visibility</p:attrName>
                                        </p:attrNameLst>
                                      </p:cBhvr>
                                      <p:to>
                                        <p:strVal val="visible"/>
                                      </p:to>
                                    </p:set>
                                    <p:anim calcmode="lin" valueType="num">
                                      <p:cBhvr>
                                        <p:cTn id="73" dur="500" fill="hold"/>
                                        <p:tgtEl>
                                          <p:spTgt spid="60"/>
                                        </p:tgtEl>
                                        <p:attrNameLst>
                                          <p:attrName>ppt_w</p:attrName>
                                        </p:attrNameLst>
                                      </p:cBhvr>
                                      <p:tavLst>
                                        <p:tav tm="0">
                                          <p:val>
                                            <p:fltVal val="0"/>
                                          </p:val>
                                        </p:tav>
                                        <p:tav tm="100000">
                                          <p:val>
                                            <p:strVal val="#ppt_w"/>
                                          </p:val>
                                        </p:tav>
                                      </p:tavLst>
                                    </p:anim>
                                    <p:anim calcmode="lin" valueType="num">
                                      <p:cBhvr>
                                        <p:cTn id="74" dur="500" fill="hold"/>
                                        <p:tgtEl>
                                          <p:spTgt spid="60"/>
                                        </p:tgtEl>
                                        <p:attrNameLst>
                                          <p:attrName>ppt_h</p:attrName>
                                        </p:attrNameLst>
                                      </p:cBhvr>
                                      <p:tavLst>
                                        <p:tav tm="0">
                                          <p:val>
                                            <p:fltVal val="0"/>
                                          </p:val>
                                        </p:tav>
                                        <p:tav tm="100000">
                                          <p:val>
                                            <p:strVal val="#ppt_h"/>
                                          </p:val>
                                        </p:tav>
                                      </p:tavLst>
                                    </p:anim>
                                    <p:animEffect transition="in" filter="fade">
                                      <p:cBhvr>
                                        <p:cTn id="7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p:bldP spid="39" grpId="0" animBg="1"/>
      <p:bldP spid="40" grpId="0" animBg="1"/>
      <p:bldP spid="87" grpId="0" animBg="1"/>
      <p:bldP spid="88" grpId="0" animBg="1"/>
      <p:bldP spid="89" grpId="0" animBg="1"/>
      <p:bldP spid="1034" grpId="0" animBg="1"/>
      <p:bldP spid="1034" grpId="1" animBg="1"/>
      <p:bldP spid="92" grpId="0" animBg="1"/>
      <p:bldP spid="92" grpId="1" animBg="1"/>
      <p:bldP spid="1038" grpId="0" animBg="1"/>
      <p:bldP spid="103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rgbClr val="323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控制系统</a:t>
            </a:r>
            <a:endParaRPr lang="zh-CN" altLang="en-US" dirty="0">
              <a:solidFill>
                <a:srgbClr val="333F50"/>
              </a:solidFill>
            </a:endParaRPr>
          </a:p>
        </p:txBody>
      </p:sp>
      <p:sp>
        <p:nvSpPr>
          <p:cNvPr id="23" name="文本框 22"/>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1664970" y="1708905"/>
            <a:ext cx="7820660" cy="3446145"/>
            <a:chOff x="2580" y="2211"/>
            <a:chExt cx="12316" cy="5427"/>
          </a:xfrm>
        </p:grpSpPr>
        <p:grpSp>
          <p:nvGrpSpPr>
            <p:cNvPr id="9" name="组合 8"/>
            <p:cNvGrpSpPr/>
            <p:nvPr/>
          </p:nvGrpSpPr>
          <p:grpSpPr>
            <a:xfrm>
              <a:off x="4972" y="2211"/>
              <a:ext cx="2270" cy="1369"/>
              <a:chOff x="5053" y="1918"/>
              <a:chExt cx="2270" cy="1369"/>
            </a:xfrm>
          </p:grpSpPr>
          <p:sp>
            <p:nvSpPr>
              <p:cNvPr id="20" name="右箭头 19"/>
              <p:cNvSpPr/>
              <p:nvPr/>
            </p:nvSpPr>
            <p:spPr>
              <a:xfrm>
                <a:off x="5053" y="267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 name="文本框 20"/>
              <p:cNvSpPr txBox="1"/>
              <p:nvPr/>
            </p:nvSpPr>
            <p:spPr>
              <a:xfrm>
                <a:off x="5403" y="1918"/>
                <a:ext cx="1728" cy="580"/>
              </a:xfrm>
              <a:prstGeom prst="rect">
                <a:avLst/>
              </a:prstGeom>
              <a:noFill/>
            </p:spPr>
            <p:txBody>
              <a:bodyPr wrap="none" rtlCol="0">
                <a:spAutoFit/>
              </a:bodyPr>
              <a:lstStyle/>
              <a:p>
                <a:r>
                  <a:rPr lang="zh-CN" altLang="en-US"/>
                  <a:t>决策指令</a:t>
                </a:r>
              </a:p>
            </p:txBody>
          </p:sp>
        </p:grpSp>
        <p:sp>
          <p:nvSpPr>
            <p:cNvPr id="11" name="右箭头 10"/>
            <p:cNvSpPr/>
            <p:nvPr/>
          </p:nvSpPr>
          <p:spPr>
            <a:xfrm rot="10800000">
              <a:off x="5002" y="6666"/>
              <a:ext cx="213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3" name="圆角矩形 12"/>
            <p:cNvSpPr/>
            <p:nvPr/>
          </p:nvSpPr>
          <p:spPr>
            <a:xfrm>
              <a:off x="7723" y="2430"/>
              <a:ext cx="2069" cy="499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流程处理模块</a:t>
              </a:r>
              <a:endParaRPr lang="zh-CN" altLang="en-US" dirty="0"/>
            </a:p>
          </p:txBody>
        </p:sp>
        <p:sp>
          <p:nvSpPr>
            <p:cNvPr id="14" name="圆角矩形 13"/>
            <p:cNvSpPr/>
            <p:nvPr/>
          </p:nvSpPr>
          <p:spPr>
            <a:xfrm>
              <a:off x="2580" y="4551"/>
              <a:ext cx="2069" cy="308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感知系统</a:t>
              </a:r>
              <a:endParaRPr lang="zh-CN" altLang="en-US" dirty="0"/>
            </a:p>
          </p:txBody>
        </p:sp>
        <p:sp>
          <p:nvSpPr>
            <p:cNvPr id="15" name="圆角矩形 14"/>
            <p:cNvSpPr/>
            <p:nvPr/>
          </p:nvSpPr>
          <p:spPr>
            <a:xfrm>
              <a:off x="2580" y="2584"/>
              <a:ext cx="2069" cy="167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决策系统</a:t>
              </a:r>
            </a:p>
          </p:txBody>
        </p:sp>
        <p:sp>
          <p:nvSpPr>
            <p:cNvPr id="17" name="右箭头 16"/>
            <p:cNvSpPr/>
            <p:nvPr/>
          </p:nvSpPr>
          <p:spPr>
            <a:xfrm>
              <a:off x="10110" y="4131"/>
              <a:ext cx="2398" cy="158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 name="圆角矩形 18"/>
            <p:cNvSpPr/>
            <p:nvPr/>
          </p:nvSpPr>
          <p:spPr>
            <a:xfrm>
              <a:off x="12827" y="2430"/>
              <a:ext cx="2069" cy="520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信息通报模块</a:t>
              </a:r>
              <a:endParaRPr lang="zh-CN" altLang="en-US" dirty="0"/>
            </a:p>
          </p:txBody>
        </p:sp>
      </p:grpSp>
      <p:sp>
        <p:nvSpPr>
          <p:cNvPr id="22" name="圆角矩形 21"/>
          <p:cNvSpPr/>
          <p:nvPr/>
        </p:nvSpPr>
        <p:spPr>
          <a:xfrm>
            <a:off x="4760595" y="1503680"/>
            <a:ext cx="5026025" cy="4158615"/>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 name="文本框 1"/>
          <p:cNvSpPr txBox="1"/>
          <p:nvPr/>
        </p:nvSpPr>
        <p:spPr>
          <a:xfrm>
            <a:off x="3370580" y="5131555"/>
            <a:ext cx="1588770" cy="369332"/>
          </a:xfrm>
          <a:prstGeom prst="rect">
            <a:avLst/>
          </a:prstGeom>
          <a:noFill/>
        </p:spPr>
        <p:txBody>
          <a:bodyPr wrap="square" rtlCol="0">
            <a:spAutoFit/>
          </a:bodyPr>
          <a:lstStyle/>
          <a:p>
            <a:r>
              <a:rPr lang="zh-CN" altLang="en-US" dirty="0" smtClean="0"/>
              <a:t>完成闭环</a:t>
            </a:r>
            <a:endParaRPr lang="zh-CN" altLang="en-US" dirty="0"/>
          </a:p>
        </p:txBody>
      </p:sp>
    </p:spTree>
    <p:extLst>
      <p:ext uri="{BB962C8B-B14F-4D97-AF65-F5344CB8AC3E}">
        <p14:creationId xmlns:p14="http://schemas.microsoft.com/office/powerpoint/2010/main" val="1468419878"/>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控制系统</a:t>
            </a:r>
            <a:endParaRPr lang="zh-CN" altLang="en-US" dirty="0">
              <a:solidFill>
                <a:srgbClr val="333F50"/>
              </a:solidFill>
            </a:endParaRPr>
          </a:p>
        </p:txBody>
      </p:sp>
      <p:sp>
        <p:nvSpPr>
          <p:cNvPr id="23" name="文本框 22"/>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pic>
        <p:nvPicPr>
          <p:cNvPr id="25" name="Picture 2"/>
          <p:cNvPicPr>
            <a:picLocks noChangeAspect="1" noChangeArrowheads="1"/>
          </p:cNvPicPr>
          <p:nvPr/>
        </p:nvPicPr>
        <p:blipFill>
          <a:blip r:embed="rId3" cstate="print"/>
          <a:srcRect/>
          <a:stretch>
            <a:fillRect/>
          </a:stretch>
        </p:blipFill>
        <p:spPr bwMode="auto">
          <a:xfrm>
            <a:off x="2395537" y="1496796"/>
            <a:ext cx="7400925" cy="4429125"/>
          </a:xfrm>
          <a:prstGeom prst="rect">
            <a:avLst/>
          </a:prstGeom>
          <a:noFill/>
          <a:ln w="9525">
            <a:noFill/>
            <a:miter lim="800000"/>
            <a:headEnd/>
            <a:tailEnd/>
          </a:ln>
        </p:spPr>
      </p:pic>
    </p:spTree>
    <p:extLst>
      <p:ext uri="{BB962C8B-B14F-4D97-AF65-F5344CB8AC3E}">
        <p14:creationId xmlns:p14="http://schemas.microsoft.com/office/powerpoint/2010/main" val="1475670304"/>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733425" y="3332696"/>
            <a:ext cx="1781175" cy="507831"/>
          </a:xfrm>
          <a:prstGeom prst="rect">
            <a:avLst/>
          </a:prstGeom>
          <a:solidFill>
            <a:schemeClr val="tx2">
              <a:lumMod val="75000"/>
            </a:schemeClr>
          </a:solidFill>
        </p:spPr>
        <p:txBody>
          <a:bodyPr wrap="square" rtlCol="0">
            <a:spAutoFit/>
          </a:bodyPr>
          <a:lstStyle/>
          <a:p>
            <a:pPr marL="285750" algn="ctr">
              <a:lnSpc>
                <a:spcPct val="150000"/>
              </a:lnSpc>
            </a:pPr>
            <a:r>
              <a:rPr lang="zh-CN" altLang="en-US" dirty="0" smtClean="0">
                <a:solidFill>
                  <a:schemeClr val="bg1"/>
                </a:solidFill>
              </a:rPr>
              <a:t>故障管理</a:t>
            </a:r>
            <a:endParaRPr lang="en-US" altLang="zh-CN" dirty="0" smtClean="0">
              <a:solidFill>
                <a:schemeClr val="bg1"/>
              </a:solidFill>
            </a:endParaRPr>
          </a:p>
        </p:txBody>
      </p:sp>
      <p:sp>
        <p:nvSpPr>
          <p:cNvPr id="9" name="圆角矩形 8"/>
          <p:cNvSpPr/>
          <p:nvPr/>
        </p:nvSpPr>
        <p:spPr>
          <a:xfrm>
            <a:off x="4748439" y="1193115"/>
            <a:ext cx="3385911" cy="4735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5058000" y="4659081"/>
            <a:ext cx="2766787" cy="1095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采集数据（</a:t>
            </a:r>
            <a:r>
              <a:rPr lang="zh-CN" altLang="en-US" dirty="0" smtClean="0">
                <a:solidFill>
                  <a:schemeClr val="tx1"/>
                </a:solidFill>
              </a:rPr>
              <a:t>感知</a:t>
            </a:r>
            <a:r>
              <a:rPr lang="zh-CN" altLang="en-US" dirty="0" smtClean="0"/>
              <a:t>）</a:t>
            </a:r>
            <a:endParaRPr lang="zh-CN" altLang="en-US" dirty="0"/>
          </a:p>
        </p:txBody>
      </p:sp>
      <p:sp>
        <p:nvSpPr>
          <p:cNvPr id="11" name="圆角矩形 10"/>
          <p:cNvSpPr/>
          <p:nvPr/>
        </p:nvSpPr>
        <p:spPr>
          <a:xfrm>
            <a:off x="5058002" y="3071128"/>
            <a:ext cx="2766786" cy="1054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异常检测、根因分析（</a:t>
            </a:r>
            <a:r>
              <a:rPr lang="zh-CN" altLang="en-US" dirty="0" smtClean="0">
                <a:solidFill>
                  <a:schemeClr val="tx1"/>
                </a:solidFill>
              </a:rPr>
              <a:t>决策</a:t>
            </a:r>
            <a:r>
              <a:rPr lang="zh-CN" altLang="en-US" dirty="0" smtClean="0"/>
              <a:t>）</a:t>
            </a:r>
            <a:endParaRPr lang="zh-CN" altLang="en-US" dirty="0"/>
          </a:p>
        </p:txBody>
      </p:sp>
      <p:sp>
        <p:nvSpPr>
          <p:cNvPr id="12" name="圆角矩形 11"/>
          <p:cNvSpPr/>
          <p:nvPr/>
        </p:nvSpPr>
        <p:spPr>
          <a:xfrm>
            <a:off x="5058000" y="1418313"/>
            <a:ext cx="2766787" cy="111895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故障处理（</a:t>
            </a:r>
            <a:r>
              <a:rPr lang="zh-CN" altLang="en-US" dirty="0" smtClean="0">
                <a:solidFill>
                  <a:schemeClr val="tx1"/>
                </a:solidFill>
              </a:rPr>
              <a:t>控制</a:t>
            </a:r>
            <a:r>
              <a:rPr lang="zh-CN" altLang="en-US" dirty="0" smtClean="0"/>
              <a:t>）</a:t>
            </a:r>
            <a:endParaRPr lang="zh-CN" altLang="en-US" dirty="0"/>
          </a:p>
        </p:txBody>
      </p:sp>
      <p:sp>
        <p:nvSpPr>
          <p:cNvPr id="13" name="左大括号 12"/>
          <p:cNvSpPr/>
          <p:nvPr/>
        </p:nvSpPr>
        <p:spPr>
          <a:xfrm>
            <a:off x="3248025" y="1135279"/>
            <a:ext cx="1009650" cy="49257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p:cNvSpPr txBox="1"/>
          <p:nvPr/>
        </p:nvSpPr>
        <p:spPr>
          <a:xfrm>
            <a:off x="8625114" y="2097766"/>
            <a:ext cx="3228975" cy="2169825"/>
          </a:xfrm>
          <a:prstGeom prst="rect">
            <a:avLst/>
          </a:prstGeom>
          <a:noFill/>
        </p:spPr>
        <p:txBody>
          <a:bodyPr wrap="square" rtlCol="0">
            <a:spAutoFit/>
          </a:bodyPr>
          <a:lstStyle/>
          <a:p>
            <a:pPr indent="457200">
              <a:lnSpc>
                <a:spcPct val="150000"/>
              </a:lnSpc>
            </a:pPr>
            <a:r>
              <a:rPr lang="zh-CN" altLang="en-US" dirty="0" smtClean="0"/>
              <a:t>智能化故障管理由采集数据、异常检测及根因分析、故障</a:t>
            </a:r>
            <a:r>
              <a:rPr lang="zh-CN" altLang="en-US" dirty="0"/>
              <a:t>处理</a:t>
            </a:r>
            <a:r>
              <a:rPr lang="zh-CN" altLang="en-US" dirty="0" smtClean="0"/>
              <a:t>组成，这三部分分别对应了大脑“感知决策控制”三元组。。</a:t>
            </a:r>
            <a:endParaRPr lang="zh-CN" altLang="en-US" dirty="0"/>
          </a:p>
        </p:txBody>
      </p:sp>
      <p:sp>
        <p:nvSpPr>
          <p:cNvPr id="3" name="文本框 2"/>
          <p:cNvSpPr txBox="1"/>
          <p:nvPr/>
        </p:nvSpPr>
        <p:spPr>
          <a:xfrm>
            <a:off x="914400" y="800100"/>
            <a:ext cx="1943100" cy="369332"/>
          </a:xfrm>
          <a:prstGeom prst="rect">
            <a:avLst/>
          </a:prstGeom>
          <a:noFill/>
        </p:spPr>
        <p:txBody>
          <a:bodyPr wrap="square" rtlCol="0">
            <a:spAutoFit/>
          </a:bodyPr>
          <a:lstStyle/>
          <a:p>
            <a:r>
              <a:rPr lang="zh-CN" altLang="en-US" dirty="0" smtClean="0"/>
              <a:t>以故障管理为例</a:t>
            </a:r>
            <a:endParaRPr lang="zh-CN" altLang="en-US" dirty="0"/>
          </a:p>
        </p:txBody>
      </p:sp>
    </p:spTree>
    <p:extLst>
      <p:ext uri="{BB962C8B-B14F-4D97-AF65-F5344CB8AC3E}">
        <p14:creationId xmlns:p14="http://schemas.microsoft.com/office/powerpoint/2010/main" val="3348270215"/>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24114" y="657028"/>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721810" y="1958290"/>
            <a:ext cx="46101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在城域网维护过程中，存在着大量的</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指标（链路利用率、端口状态、</a:t>
            </a:r>
            <a:r>
              <a:rPr lang="en-US" altLang="zh-CN" sz="1600" dirty="0" smtClean="0">
                <a:latin typeface="微软雅黑" panose="020B0503020204020204" pitchFamily="34" charset="-122"/>
                <a:ea typeface="微软雅黑" panose="020B0503020204020204" pitchFamily="34" charset="-122"/>
              </a:rPr>
              <a:t>CPU</a:t>
            </a:r>
            <a:r>
              <a:rPr lang="zh-CN" altLang="en-US" sz="1600" dirty="0" smtClean="0">
                <a:latin typeface="微软雅黑" panose="020B0503020204020204" pitchFamily="34" charset="-122"/>
                <a:ea typeface="微软雅黑" panose="020B0503020204020204" pitchFamily="34" charset="-122"/>
              </a:rPr>
              <a:t>利用率、内存利用率</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），当这些</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指标发生异常时，如何能够快速检测。</a:t>
            </a:r>
            <a:endParaRPr lang="en-US" altLang="zh-CN" sz="1600" dirty="0" smtClean="0">
              <a:latin typeface="微软雅黑" panose="020B0503020204020204" pitchFamily="34" charset="-122"/>
              <a:ea typeface="微软雅黑" panose="020B0503020204020204" pitchFamily="34" charset="-122"/>
            </a:endParaRPr>
          </a:p>
        </p:txBody>
      </p:sp>
      <p:pic>
        <p:nvPicPr>
          <p:cNvPr id="1026" name="Picture 2" descr="“aiops 异常检测”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
        <p:nvSpPr>
          <p:cNvPr id="16" name="矩形 15"/>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7" name="文本框 1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9113598"/>
      </p:ext>
    </p:extLst>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3310164" y="1972725"/>
            <a:ext cx="4610100" cy="3416320"/>
          </a:xfrm>
          <a:prstGeom prst="rect">
            <a:avLst/>
          </a:prstGeom>
          <a:noFill/>
        </p:spPr>
        <p:txBody>
          <a:bodyPr wrap="square" rtlCol="0">
            <a:spAutoFit/>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3751297"/>
      </p:ext>
    </p:extLst>
  </p:cSld>
  <p:clrMapOvr>
    <a:masterClrMapping/>
  </p:clrMapOvr>
  <p:transition spd="med">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924898" y="2558412"/>
            <a:ext cx="1157060" cy="369332"/>
          </a:xfrm>
          <a:prstGeom prst="rect">
            <a:avLst/>
          </a:prstGeom>
          <a:noFill/>
        </p:spPr>
        <p:txBody>
          <a:bodyPr wrap="square" rtlCol="0">
            <a:spAutoFit/>
          </a:bodyPr>
          <a:lstStyle/>
          <a:p>
            <a:r>
              <a:rPr lang="zh-CN" altLang="en-US" dirty="0" smtClean="0">
                <a:solidFill>
                  <a:schemeClr val="accent1">
                    <a:lumMod val="50000"/>
                  </a:schemeClr>
                </a:solidFill>
              </a:rPr>
              <a:t>离线训练</a:t>
            </a:r>
            <a:endParaRPr lang="zh-CN" altLang="en-US" dirty="0">
              <a:solidFill>
                <a:schemeClr val="accent1">
                  <a:lumMod val="50000"/>
                </a:schemeClr>
              </a:solidFill>
            </a:endParaRPr>
          </a:p>
        </p:txBody>
      </p:sp>
      <p:sp>
        <p:nvSpPr>
          <p:cNvPr id="55" name="文本框 5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51750"/>
      </p:ext>
    </p:extLst>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624114" y="1554654"/>
            <a:ext cx="4610100" cy="1338828"/>
          </a:xfrm>
          <a:prstGeom prst="rect">
            <a:avLst/>
          </a:prstGeom>
          <a:noFill/>
        </p:spPr>
        <p:txBody>
          <a:bodyPr wrap="square" rtlCol="0">
            <a:spAutoFit/>
          </a:bodyPr>
          <a:lstStyle/>
          <a:p>
            <a:pPr indent="457200">
              <a:lnSpc>
                <a:spcPct val="150000"/>
              </a:lnSpc>
            </a:pPr>
            <a:r>
              <a:rPr lang="zh-CN" altLang="en-US" dirty="0" smtClean="0"/>
              <a:t>问题：</a:t>
            </a:r>
            <a:endParaRPr lang="en-US" altLang="zh-CN" dirty="0" smtClean="0"/>
          </a:p>
          <a:p>
            <a:pPr marL="285750" indent="-285750">
              <a:lnSpc>
                <a:spcPct val="150000"/>
              </a:lnSpc>
              <a:buFont typeface="Arial" panose="020B0604020202020204" pitchFamily="34" charset="0"/>
              <a:buChar char="•"/>
            </a:pPr>
            <a:r>
              <a:rPr lang="zh-CN" altLang="en-US" dirty="0" smtClean="0"/>
              <a:t>对于几千条监控</a:t>
            </a:r>
            <a:r>
              <a:rPr lang="en-US" altLang="zh-CN" dirty="0" smtClean="0"/>
              <a:t>KPI</a:t>
            </a:r>
            <a:r>
              <a:rPr lang="zh-CN" altLang="en-US" dirty="0" smtClean="0"/>
              <a:t>，是否对于每一条曲线都需要通过反复测验确定算法呢</a:t>
            </a:r>
            <a:r>
              <a:rPr lang="zh-CN" altLang="en-US" dirty="0"/>
              <a:t>？</a:t>
            </a:r>
            <a:endParaRPr lang="en-US" altLang="zh-CN" dirty="0" smtClean="0"/>
          </a:p>
        </p:txBody>
      </p:sp>
      <p:sp>
        <p:nvSpPr>
          <p:cNvPr id="2" name="文本框 1"/>
          <p:cNvSpPr txBox="1"/>
          <p:nvPr/>
        </p:nvSpPr>
        <p:spPr>
          <a:xfrm>
            <a:off x="338364" y="3280303"/>
            <a:ext cx="5181600" cy="2585323"/>
          </a:xfrm>
          <a:prstGeom prst="rect">
            <a:avLst/>
          </a:prstGeom>
          <a:noFill/>
        </p:spPr>
        <p:txBody>
          <a:bodyPr wrap="square" rtlCol="0">
            <a:spAutoFit/>
          </a:bodyPr>
          <a:lstStyle/>
          <a:p>
            <a:pPr indent="457200">
              <a:lnSpc>
                <a:spcPct val="150000"/>
              </a:lnSpc>
            </a:pPr>
            <a:r>
              <a:rPr lang="zh-CN" altLang="en-US" dirty="0" smtClean="0"/>
              <a:t>答： 不需要！</a:t>
            </a:r>
            <a:endParaRPr lang="en-US" altLang="zh-CN" dirty="0" smtClean="0"/>
          </a:p>
          <a:p>
            <a:pPr indent="457200">
              <a:lnSpc>
                <a:spcPct val="150000"/>
              </a:lnSpc>
            </a:pPr>
            <a:r>
              <a:rPr lang="zh-CN" altLang="en-US" dirty="0" smtClean="0"/>
              <a:t>虽然监控</a:t>
            </a:r>
            <a:r>
              <a:rPr lang="en-US" altLang="zh-CN" dirty="0" smtClean="0"/>
              <a:t>KPI</a:t>
            </a:r>
            <a:r>
              <a:rPr lang="zh-CN" altLang="en-US" dirty="0" smtClean="0"/>
              <a:t>数量很多，但是种类却不多。</a:t>
            </a:r>
            <a:endParaRPr lang="en-US" altLang="zh-CN" dirty="0" smtClean="0"/>
          </a:p>
          <a:p>
            <a:pPr indent="457200">
              <a:lnSpc>
                <a:spcPct val="150000"/>
              </a:lnSpc>
            </a:pPr>
            <a:r>
              <a:rPr lang="zh-CN" altLang="en-US" dirty="0" smtClean="0"/>
              <a:t>可以使用</a:t>
            </a:r>
            <a:r>
              <a:rPr lang="en-US" altLang="zh-CN" dirty="0" smtClean="0"/>
              <a:t>KPI</a:t>
            </a:r>
            <a:r>
              <a:rPr lang="zh-CN" altLang="en-US" dirty="0" smtClean="0"/>
              <a:t>聚合算法，对</a:t>
            </a:r>
            <a:r>
              <a:rPr lang="en-US" altLang="zh-CN" dirty="0" smtClean="0"/>
              <a:t>KPI</a:t>
            </a:r>
            <a:r>
              <a:rPr lang="zh-CN" altLang="en-US" dirty="0" smtClean="0"/>
              <a:t>进行分类，然</a:t>
            </a:r>
            <a:r>
              <a:rPr lang="zh-CN" altLang="en-US" dirty="0"/>
              <a:t>后</a:t>
            </a:r>
            <a:r>
              <a:rPr lang="zh-CN" altLang="en-US" dirty="0" smtClean="0"/>
              <a:t>对于每一类选择合适的算法，使用迁移学习的方法，将一个训练好的模型迁移到同类曲线的监控上，同时还可大大减少训练时间。</a:t>
            </a:r>
            <a:endParaRPr lang="zh-CN" altLang="en-US" dirty="0"/>
          </a:p>
        </p:txBody>
      </p:sp>
      <p:pic>
        <p:nvPicPr>
          <p:cNvPr id="4098" name="Picture 2" descr="https://github.com/iopsai/iops/blob/master/pictures/anomaly_detection/figure2.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5078278"/>
      </p:ext>
    </p:extLst>
  </p:cSld>
  <p:clrMapOvr>
    <a:masterClrMapping/>
  </p:clrMapOvr>
  <p:transition spd="med">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平台应用</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技术实现</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FF0000"/>
                </a:solidFill>
                <a:latin typeface="微软雅黑" panose="020B0503020204020204" pitchFamily="34" charset="-122"/>
                <a:ea typeface="微软雅黑" panose="020B0503020204020204" pitchFamily="34" charset="-122"/>
              </a:rPr>
              <a:t>具体安排</a:t>
            </a:r>
            <a:endParaRPr lang="zh-CN" altLang="en-US" dirty="0">
              <a:solidFill>
                <a:srgbClr val="FF0000"/>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3273197"/>
      </p:ext>
    </p:extLst>
  </p:cSld>
  <p:clrMapOvr>
    <a:masterClrMapping/>
  </p:clrMapOvr>
  <p:transition spd="med">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具体安排</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22174339"/>
      </p:ext>
    </p:extLst>
  </p:cSld>
  <p:clrMapOvr>
    <a:masterClrMapping/>
  </p:clrMapOvr>
  <p:transition spd="med">
    <p:pull/>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5680</TotalTime>
  <Words>2118</Words>
  <Application>Microsoft Office PowerPoint</Application>
  <PresentationFormat>宽屏</PresentationFormat>
  <Paragraphs>463</Paragraphs>
  <Slides>36</Slides>
  <Notes>22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36</vt:i4>
      </vt:variant>
    </vt:vector>
  </HeadingPairs>
  <TitlesOfParts>
    <vt:vector size="47" baseType="lpstr">
      <vt:lpstr>Lato Light</vt:lpstr>
      <vt:lpstr>等线</vt:lpstr>
      <vt:lpstr>宋体</vt:lpstr>
      <vt:lpstr>微软雅黑</vt:lpstr>
      <vt:lpstr>微软雅黑 Light</vt:lpstr>
      <vt:lpstr>Arial</vt:lpstr>
      <vt:lpstr>Calibri</vt:lpstr>
      <vt:lpstr>Calibri Light</vt:lpstr>
      <vt:lpstr>Segoe UI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312</cp:revision>
  <dcterms:created xsi:type="dcterms:W3CDTF">2015-08-05T01:47:03Z</dcterms:created>
  <dcterms:modified xsi:type="dcterms:W3CDTF">2018-01-27T13:00:49Z</dcterms:modified>
</cp:coreProperties>
</file>