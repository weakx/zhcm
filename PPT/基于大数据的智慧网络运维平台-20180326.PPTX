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80" r:id="rId2"/>
    <p:sldId id="419" r:id="rId3"/>
    <p:sldId id="319" r:id="rId4"/>
    <p:sldId id="406" r:id="rId5"/>
    <p:sldId id="405" r:id="rId6"/>
    <p:sldId id="427" r:id="rId7"/>
    <p:sldId id="420" r:id="rId8"/>
    <p:sldId id="418" r:id="rId9"/>
    <p:sldId id="423" r:id="rId10"/>
    <p:sldId id="351" r:id="rId11"/>
    <p:sldId id="321" r:id="rId12"/>
    <p:sldId id="408" r:id="rId13"/>
    <p:sldId id="409" r:id="rId14"/>
    <p:sldId id="352" r:id="rId15"/>
    <p:sldId id="385" r:id="rId16"/>
    <p:sldId id="421" r:id="rId17"/>
    <p:sldId id="373" r:id="rId18"/>
    <p:sldId id="417" r:id="rId19"/>
    <p:sldId id="374" r:id="rId20"/>
    <p:sldId id="433" r:id="rId21"/>
    <p:sldId id="414" r:id="rId22"/>
    <p:sldId id="404" r:id="rId23"/>
    <p:sldId id="356" r:id="rId24"/>
    <p:sldId id="357" r:id="rId25"/>
    <p:sldId id="415" r:id="rId26"/>
    <p:sldId id="359" r:id="rId27"/>
    <p:sldId id="416" r:id="rId28"/>
    <p:sldId id="424" r:id="rId29"/>
    <p:sldId id="425" r:id="rId30"/>
    <p:sldId id="426" r:id="rId31"/>
    <p:sldId id="434" r:id="rId32"/>
    <p:sldId id="422" r:id="rId33"/>
    <p:sldId id="428" r:id="rId34"/>
    <p:sldId id="430" r:id="rId35"/>
    <p:sldId id="432" r:id="rId36"/>
    <p:sldId id="429" r:id="rId37"/>
    <p:sldId id="277"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ong x" initials="cx" lastIdx="1"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BDE8"/>
    <a:srgbClr val="8FAADC"/>
    <a:srgbClr val="FF5050"/>
    <a:srgbClr val="103154"/>
    <a:srgbClr val="8C8C8C"/>
    <a:srgbClr val="D9D9D9"/>
    <a:srgbClr val="FFFFFF"/>
    <a:srgbClr val="000000"/>
    <a:srgbClr val="E73A1C"/>
    <a:srgbClr val="323F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20" autoAdjust="0"/>
    <p:restoredTop sz="88084" autoAdjust="0"/>
  </p:normalViewPr>
  <p:slideViewPr>
    <p:cSldViewPr snapToGrid="0">
      <p:cViewPr varScale="1">
        <p:scale>
          <a:sx n="101" d="100"/>
          <a:sy n="101" d="100"/>
        </p:scale>
        <p:origin x="660"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276F15-108F-4C55-BA56-B9FB7E9CAE9F}" type="doc">
      <dgm:prSet loTypeId="urn:microsoft.com/office/officeart/2005/8/layout/radial5" loCatId="cycle" qsTypeId="urn:microsoft.com/office/officeart/2005/8/quickstyle/simple1" qsCatId="simple" csTypeId="urn:microsoft.com/office/officeart/2005/8/colors/accent1_2" csCatId="accent1" phldr="1"/>
      <dgm:spPr/>
      <dgm:t>
        <a:bodyPr/>
        <a:lstStyle/>
        <a:p>
          <a:endParaRPr lang="zh-CN" altLang="en-US"/>
        </a:p>
      </dgm:t>
    </dgm:pt>
    <dgm:pt modelId="{C0914B65-E410-426C-8813-8F1383EBC5D9}">
      <dgm:prSet phldrT="[文本]"/>
      <dgm:spPr>
        <a:gradFill flip="none" rotWithShape="0">
          <a:gsLst>
            <a:gs pos="0">
              <a:srgbClr val="00B0F0">
                <a:shade val="30000"/>
                <a:satMod val="115000"/>
              </a:srgbClr>
            </a:gs>
            <a:gs pos="50000">
              <a:srgbClr val="00B0F0">
                <a:shade val="67500"/>
                <a:satMod val="115000"/>
              </a:srgbClr>
            </a:gs>
            <a:gs pos="100000">
              <a:srgbClr val="00B0F0">
                <a:shade val="100000"/>
                <a:satMod val="115000"/>
              </a:srgbClr>
            </a:gs>
          </a:gsLst>
          <a:path path="circle">
            <a:fillToRect l="50000" t="50000" r="50000" b="50000"/>
          </a:path>
          <a:tileRect/>
        </a:gradFill>
        <a:effectLst>
          <a:glow rad="139700">
            <a:schemeClr val="accent1">
              <a:satMod val="175000"/>
              <a:alpha val="40000"/>
            </a:schemeClr>
          </a:glow>
        </a:effectLst>
      </dgm:spPr>
      <dgm:t>
        <a:bodyPr/>
        <a:lstStyle/>
        <a:p>
          <a:r>
            <a:rPr lang="zh-CN" altLang="en-US" dirty="0" smtClean="0"/>
            <a:t>实现</a:t>
          </a:r>
          <a:endParaRPr lang="zh-CN" altLang="en-US" dirty="0"/>
        </a:p>
      </dgm:t>
    </dgm:pt>
    <dgm:pt modelId="{DD366D77-F929-424C-A48D-6C15F40CC869}" type="parTrans" cxnId="{91C80CEF-7B6E-48A6-B026-F06A684C41E3}">
      <dgm:prSet/>
      <dgm:spPr/>
      <dgm:t>
        <a:bodyPr/>
        <a:lstStyle/>
        <a:p>
          <a:endParaRPr lang="zh-CN" altLang="en-US"/>
        </a:p>
      </dgm:t>
    </dgm:pt>
    <dgm:pt modelId="{C0C70AA9-1B4C-4127-AFD0-5C6B3E4E9B83}" type="sibTrans" cxnId="{91C80CEF-7B6E-48A6-B026-F06A684C41E3}">
      <dgm:prSet/>
      <dgm:spPr/>
      <dgm:t>
        <a:bodyPr/>
        <a:lstStyle/>
        <a:p>
          <a:endParaRPr lang="zh-CN" altLang="en-US"/>
        </a:p>
      </dgm:t>
    </dgm:pt>
    <dgm:pt modelId="{FF7A78E0-81F2-4CE8-B593-126637C28859}">
      <dgm:prSet phldrT="[文本]"/>
      <dgm:spPr/>
      <dgm:t>
        <a:bodyPr/>
        <a:lstStyle/>
        <a:p>
          <a:r>
            <a:rPr lang="zh-CN" altLang="en-US" dirty="0" smtClean="0">
              <a:solidFill>
                <a:schemeClr val="tx1"/>
              </a:solidFill>
            </a:rPr>
            <a:t>缓压力</a:t>
          </a:r>
          <a:endParaRPr lang="zh-CN" altLang="en-US" dirty="0">
            <a:solidFill>
              <a:schemeClr val="tx1"/>
            </a:solidFill>
          </a:endParaRPr>
        </a:p>
      </dgm:t>
    </dgm:pt>
    <dgm:pt modelId="{282AB2BC-DB79-4C68-990B-F584A66A3FEE}" type="parTrans" cxnId="{EE9B1E9E-F520-4142-BC07-2D2242EC00DA}">
      <dgm:prSet/>
      <dgm:spPr/>
      <dgm:t>
        <a:bodyPr/>
        <a:lstStyle/>
        <a:p>
          <a:endParaRPr lang="zh-CN" altLang="en-US"/>
        </a:p>
      </dgm:t>
    </dgm:pt>
    <dgm:pt modelId="{F8FF3851-C57E-40D4-BF3F-6330C8AC0351}" type="sibTrans" cxnId="{EE9B1E9E-F520-4142-BC07-2D2242EC00DA}">
      <dgm:prSet/>
      <dgm:spPr/>
      <dgm:t>
        <a:bodyPr/>
        <a:lstStyle/>
        <a:p>
          <a:endParaRPr lang="zh-CN" altLang="en-US"/>
        </a:p>
      </dgm:t>
    </dgm:pt>
    <dgm:pt modelId="{9F2C33E7-F2F4-4491-9FF0-AAFA14EAB71E}">
      <dgm:prSet phldrT="[文本]"/>
      <dgm:spPr/>
      <dgm:t>
        <a:bodyPr/>
        <a:lstStyle/>
        <a:p>
          <a:r>
            <a:rPr lang="zh-CN" altLang="en-US" dirty="0" smtClean="0">
              <a:solidFill>
                <a:schemeClr val="tx1"/>
              </a:solidFill>
            </a:rPr>
            <a:t>拓未来</a:t>
          </a:r>
          <a:endParaRPr lang="zh-CN" altLang="en-US" dirty="0">
            <a:solidFill>
              <a:schemeClr val="tx1"/>
            </a:solidFill>
          </a:endParaRPr>
        </a:p>
      </dgm:t>
    </dgm:pt>
    <dgm:pt modelId="{976B224E-405C-4FE9-A695-EA6A553ADB0A}" type="parTrans" cxnId="{50750962-E0A4-400A-81A0-5FE06A1F5220}">
      <dgm:prSet/>
      <dgm:spPr/>
      <dgm:t>
        <a:bodyPr/>
        <a:lstStyle/>
        <a:p>
          <a:endParaRPr lang="zh-CN" altLang="en-US"/>
        </a:p>
      </dgm:t>
    </dgm:pt>
    <dgm:pt modelId="{7FEE7E87-6119-4496-BA44-451A3EA3F555}" type="sibTrans" cxnId="{50750962-E0A4-400A-81A0-5FE06A1F5220}">
      <dgm:prSet/>
      <dgm:spPr/>
      <dgm:t>
        <a:bodyPr/>
        <a:lstStyle/>
        <a:p>
          <a:endParaRPr lang="zh-CN" altLang="en-US"/>
        </a:p>
      </dgm:t>
    </dgm:pt>
    <dgm:pt modelId="{DB84E6FE-B487-44B5-BD44-45DFAD4D428A}">
      <dgm:prSet phldrT="[文本]"/>
      <dgm:spPr/>
      <dgm:t>
        <a:bodyPr/>
        <a:lstStyle/>
        <a:p>
          <a:r>
            <a:rPr lang="zh-CN" altLang="en-US" dirty="0" smtClean="0">
              <a:solidFill>
                <a:schemeClr val="tx1"/>
              </a:solidFill>
            </a:rPr>
            <a:t>深洞察</a:t>
          </a:r>
          <a:endParaRPr lang="zh-CN" altLang="en-US" dirty="0">
            <a:solidFill>
              <a:schemeClr val="tx1"/>
            </a:solidFill>
          </a:endParaRPr>
        </a:p>
      </dgm:t>
    </dgm:pt>
    <dgm:pt modelId="{0C8CFA46-E907-4E51-9AEF-47C3DB0B8B53}" type="parTrans" cxnId="{53711BD8-280B-475C-9E33-B1135B055AA3}">
      <dgm:prSet/>
      <dgm:spPr/>
      <dgm:t>
        <a:bodyPr/>
        <a:lstStyle/>
        <a:p>
          <a:endParaRPr lang="zh-CN" altLang="en-US"/>
        </a:p>
      </dgm:t>
    </dgm:pt>
    <dgm:pt modelId="{0AEBFD39-EF33-4065-8123-937FA047F024}" type="sibTrans" cxnId="{53711BD8-280B-475C-9E33-B1135B055AA3}">
      <dgm:prSet/>
      <dgm:spPr/>
      <dgm:t>
        <a:bodyPr/>
        <a:lstStyle/>
        <a:p>
          <a:endParaRPr lang="zh-CN" altLang="en-US"/>
        </a:p>
      </dgm:t>
    </dgm:pt>
    <dgm:pt modelId="{5B59A09F-E790-4F33-A672-1CB7B1396A76}">
      <dgm:prSet phldrT="[文本]"/>
      <dgm:spPr/>
      <dgm:t>
        <a:bodyPr/>
        <a:lstStyle/>
        <a:p>
          <a:r>
            <a:rPr lang="zh-CN" altLang="en-US" dirty="0" smtClean="0">
              <a:solidFill>
                <a:schemeClr val="tx1"/>
              </a:solidFill>
            </a:rPr>
            <a:t>知全局</a:t>
          </a:r>
          <a:endParaRPr lang="zh-CN" altLang="en-US" dirty="0">
            <a:solidFill>
              <a:schemeClr val="tx1"/>
            </a:solidFill>
          </a:endParaRPr>
        </a:p>
      </dgm:t>
    </dgm:pt>
    <dgm:pt modelId="{A455F193-082F-418E-9E79-EF166AFFC694}" type="parTrans" cxnId="{D27737C2-67CE-45F9-8B9F-B4B95B03FEE5}">
      <dgm:prSet/>
      <dgm:spPr/>
      <dgm:t>
        <a:bodyPr/>
        <a:lstStyle/>
        <a:p>
          <a:endParaRPr lang="zh-CN" altLang="en-US"/>
        </a:p>
      </dgm:t>
    </dgm:pt>
    <dgm:pt modelId="{ED225231-73A8-4766-9F16-CD0D7D28CCD8}" type="sibTrans" cxnId="{D27737C2-67CE-45F9-8B9F-B4B95B03FEE5}">
      <dgm:prSet/>
      <dgm:spPr/>
      <dgm:t>
        <a:bodyPr/>
        <a:lstStyle/>
        <a:p>
          <a:endParaRPr lang="zh-CN" altLang="en-US"/>
        </a:p>
      </dgm:t>
    </dgm:pt>
    <dgm:pt modelId="{B11D0419-AF85-4BC3-843E-AB93A487CB83}" type="pres">
      <dgm:prSet presAssocID="{26276F15-108F-4C55-BA56-B9FB7E9CAE9F}" presName="Name0" presStyleCnt="0">
        <dgm:presLayoutVars>
          <dgm:chMax val="1"/>
          <dgm:dir/>
          <dgm:animLvl val="ctr"/>
          <dgm:resizeHandles val="exact"/>
        </dgm:presLayoutVars>
      </dgm:prSet>
      <dgm:spPr/>
      <dgm:t>
        <a:bodyPr/>
        <a:lstStyle/>
        <a:p>
          <a:endParaRPr lang="zh-CN" altLang="en-US"/>
        </a:p>
      </dgm:t>
    </dgm:pt>
    <dgm:pt modelId="{D8744FC1-5B5C-4482-9B8A-8EDC1A2069AE}" type="pres">
      <dgm:prSet presAssocID="{C0914B65-E410-426C-8813-8F1383EBC5D9}" presName="centerShape" presStyleLbl="node0" presStyleIdx="0" presStyleCnt="1"/>
      <dgm:spPr/>
      <dgm:t>
        <a:bodyPr/>
        <a:lstStyle/>
        <a:p>
          <a:endParaRPr lang="zh-CN" altLang="en-US"/>
        </a:p>
      </dgm:t>
    </dgm:pt>
    <dgm:pt modelId="{106CA165-AF0C-4F51-B009-25D3FA94D771}" type="pres">
      <dgm:prSet presAssocID="{282AB2BC-DB79-4C68-990B-F584A66A3FEE}" presName="parTrans" presStyleLbl="sibTrans2D1" presStyleIdx="0" presStyleCnt="4"/>
      <dgm:spPr/>
      <dgm:t>
        <a:bodyPr/>
        <a:lstStyle/>
        <a:p>
          <a:endParaRPr lang="zh-CN" altLang="en-US"/>
        </a:p>
      </dgm:t>
    </dgm:pt>
    <dgm:pt modelId="{4EC6FDE2-7799-49FA-9923-9CA2B91DFFEE}" type="pres">
      <dgm:prSet presAssocID="{282AB2BC-DB79-4C68-990B-F584A66A3FEE}" presName="connectorText" presStyleLbl="sibTrans2D1" presStyleIdx="0" presStyleCnt="4"/>
      <dgm:spPr/>
      <dgm:t>
        <a:bodyPr/>
        <a:lstStyle/>
        <a:p>
          <a:endParaRPr lang="zh-CN" altLang="en-US"/>
        </a:p>
      </dgm:t>
    </dgm:pt>
    <dgm:pt modelId="{9517FE74-2D15-4E9B-91C1-5268490B2564}" type="pres">
      <dgm:prSet presAssocID="{FF7A78E0-81F2-4CE8-B593-126637C28859}" presName="node" presStyleLbl="node1" presStyleIdx="0" presStyleCnt="4">
        <dgm:presLayoutVars>
          <dgm:bulletEnabled val="1"/>
        </dgm:presLayoutVars>
      </dgm:prSet>
      <dgm:spPr/>
      <dgm:t>
        <a:bodyPr/>
        <a:lstStyle/>
        <a:p>
          <a:endParaRPr lang="zh-CN" altLang="en-US"/>
        </a:p>
      </dgm:t>
    </dgm:pt>
    <dgm:pt modelId="{8DEA1766-98BF-47B5-AAB1-38E2058C8C43}" type="pres">
      <dgm:prSet presAssocID="{976B224E-405C-4FE9-A695-EA6A553ADB0A}" presName="parTrans" presStyleLbl="sibTrans2D1" presStyleIdx="1" presStyleCnt="4"/>
      <dgm:spPr/>
      <dgm:t>
        <a:bodyPr/>
        <a:lstStyle/>
        <a:p>
          <a:endParaRPr lang="zh-CN" altLang="en-US"/>
        </a:p>
      </dgm:t>
    </dgm:pt>
    <dgm:pt modelId="{6F6A0EB9-4A67-4CC2-9966-FB0B30A9D54C}" type="pres">
      <dgm:prSet presAssocID="{976B224E-405C-4FE9-A695-EA6A553ADB0A}" presName="connectorText" presStyleLbl="sibTrans2D1" presStyleIdx="1" presStyleCnt="4"/>
      <dgm:spPr/>
      <dgm:t>
        <a:bodyPr/>
        <a:lstStyle/>
        <a:p>
          <a:endParaRPr lang="zh-CN" altLang="en-US"/>
        </a:p>
      </dgm:t>
    </dgm:pt>
    <dgm:pt modelId="{91B447E0-ACA7-4F58-A128-B9F377FE763B}" type="pres">
      <dgm:prSet presAssocID="{9F2C33E7-F2F4-4491-9FF0-AAFA14EAB71E}" presName="node" presStyleLbl="node1" presStyleIdx="1" presStyleCnt="4">
        <dgm:presLayoutVars>
          <dgm:bulletEnabled val="1"/>
        </dgm:presLayoutVars>
      </dgm:prSet>
      <dgm:spPr/>
      <dgm:t>
        <a:bodyPr/>
        <a:lstStyle/>
        <a:p>
          <a:endParaRPr lang="zh-CN" altLang="en-US"/>
        </a:p>
      </dgm:t>
    </dgm:pt>
    <dgm:pt modelId="{B3DC6309-B656-4FB5-A682-ACB759D974D5}" type="pres">
      <dgm:prSet presAssocID="{0C8CFA46-E907-4E51-9AEF-47C3DB0B8B53}" presName="parTrans" presStyleLbl="sibTrans2D1" presStyleIdx="2" presStyleCnt="4"/>
      <dgm:spPr/>
      <dgm:t>
        <a:bodyPr/>
        <a:lstStyle/>
        <a:p>
          <a:endParaRPr lang="zh-CN" altLang="en-US"/>
        </a:p>
      </dgm:t>
    </dgm:pt>
    <dgm:pt modelId="{70F11511-9895-4F8C-8053-0E8DA7C97605}" type="pres">
      <dgm:prSet presAssocID="{0C8CFA46-E907-4E51-9AEF-47C3DB0B8B53}" presName="connectorText" presStyleLbl="sibTrans2D1" presStyleIdx="2" presStyleCnt="4"/>
      <dgm:spPr/>
      <dgm:t>
        <a:bodyPr/>
        <a:lstStyle/>
        <a:p>
          <a:endParaRPr lang="zh-CN" altLang="en-US"/>
        </a:p>
      </dgm:t>
    </dgm:pt>
    <dgm:pt modelId="{6E5593AD-6968-4AC3-B5F3-0E715675361D}" type="pres">
      <dgm:prSet presAssocID="{DB84E6FE-B487-44B5-BD44-45DFAD4D428A}" presName="node" presStyleLbl="node1" presStyleIdx="2" presStyleCnt="4">
        <dgm:presLayoutVars>
          <dgm:bulletEnabled val="1"/>
        </dgm:presLayoutVars>
      </dgm:prSet>
      <dgm:spPr/>
      <dgm:t>
        <a:bodyPr/>
        <a:lstStyle/>
        <a:p>
          <a:endParaRPr lang="zh-CN" altLang="en-US"/>
        </a:p>
      </dgm:t>
    </dgm:pt>
    <dgm:pt modelId="{F0E4E402-7BCD-4D7F-B441-06C67C0AD8FB}" type="pres">
      <dgm:prSet presAssocID="{A455F193-082F-418E-9E79-EF166AFFC694}" presName="parTrans" presStyleLbl="sibTrans2D1" presStyleIdx="3" presStyleCnt="4"/>
      <dgm:spPr/>
      <dgm:t>
        <a:bodyPr/>
        <a:lstStyle/>
        <a:p>
          <a:endParaRPr lang="zh-CN" altLang="en-US"/>
        </a:p>
      </dgm:t>
    </dgm:pt>
    <dgm:pt modelId="{56276C71-55D6-4F3C-8C1F-E24637EBF31D}" type="pres">
      <dgm:prSet presAssocID="{A455F193-082F-418E-9E79-EF166AFFC694}" presName="connectorText" presStyleLbl="sibTrans2D1" presStyleIdx="3" presStyleCnt="4"/>
      <dgm:spPr/>
      <dgm:t>
        <a:bodyPr/>
        <a:lstStyle/>
        <a:p>
          <a:endParaRPr lang="zh-CN" altLang="en-US"/>
        </a:p>
      </dgm:t>
    </dgm:pt>
    <dgm:pt modelId="{855022D2-364A-41B0-B450-1921516ACA0C}" type="pres">
      <dgm:prSet presAssocID="{5B59A09F-E790-4F33-A672-1CB7B1396A76}" presName="node" presStyleLbl="node1" presStyleIdx="3" presStyleCnt="4">
        <dgm:presLayoutVars>
          <dgm:bulletEnabled val="1"/>
        </dgm:presLayoutVars>
      </dgm:prSet>
      <dgm:spPr/>
      <dgm:t>
        <a:bodyPr/>
        <a:lstStyle/>
        <a:p>
          <a:endParaRPr lang="zh-CN" altLang="en-US"/>
        </a:p>
      </dgm:t>
    </dgm:pt>
  </dgm:ptLst>
  <dgm:cxnLst>
    <dgm:cxn modelId="{0F5AE17E-C369-4394-A64F-CDE423B34030}" type="presOf" srcId="{0C8CFA46-E907-4E51-9AEF-47C3DB0B8B53}" destId="{70F11511-9895-4F8C-8053-0E8DA7C97605}" srcOrd="1" destOrd="0" presId="urn:microsoft.com/office/officeart/2005/8/layout/radial5"/>
    <dgm:cxn modelId="{8FED07AB-ED33-465D-B898-2FEA6D90FA49}" type="presOf" srcId="{C0914B65-E410-426C-8813-8F1383EBC5D9}" destId="{D8744FC1-5B5C-4482-9B8A-8EDC1A2069AE}" srcOrd="0" destOrd="0" presId="urn:microsoft.com/office/officeart/2005/8/layout/radial5"/>
    <dgm:cxn modelId="{12D20C72-D450-4960-B0B5-628D8EFE7DA8}" type="presOf" srcId="{9F2C33E7-F2F4-4491-9FF0-AAFA14EAB71E}" destId="{91B447E0-ACA7-4F58-A128-B9F377FE763B}" srcOrd="0" destOrd="0" presId="urn:microsoft.com/office/officeart/2005/8/layout/radial5"/>
    <dgm:cxn modelId="{B2D9FA7C-EB2B-41C6-B968-362C10AD9C35}" type="presOf" srcId="{282AB2BC-DB79-4C68-990B-F584A66A3FEE}" destId="{106CA165-AF0C-4F51-B009-25D3FA94D771}" srcOrd="0" destOrd="0" presId="urn:microsoft.com/office/officeart/2005/8/layout/radial5"/>
    <dgm:cxn modelId="{3C856A86-3F39-41F0-9F53-378BD85A210D}" type="presOf" srcId="{DB84E6FE-B487-44B5-BD44-45DFAD4D428A}" destId="{6E5593AD-6968-4AC3-B5F3-0E715675361D}" srcOrd="0" destOrd="0" presId="urn:microsoft.com/office/officeart/2005/8/layout/radial5"/>
    <dgm:cxn modelId="{EE9B1E9E-F520-4142-BC07-2D2242EC00DA}" srcId="{C0914B65-E410-426C-8813-8F1383EBC5D9}" destId="{FF7A78E0-81F2-4CE8-B593-126637C28859}" srcOrd="0" destOrd="0" parTransId="{282AB2BC-DB79-4C68-990B-F584A66A3FEE}" sibTransId="{F8FF3851-C57E-40D4-BF3F-6330C8AC0351}"/>
    <dgm:cxn modelId="{4B23BC51-9A74-4BBA-A5B5-C24E7FFA9286}" type="presOf" srcId="{282AB2BC-DB79-4C68-990B-F584A66A3FEE}" destId="{4EC6FDE2-7799-49FA-9923-9CA2B91DFFEE}" srcOrd="1" destOrd="0" presId="urn:microsoft.com/office/officeart/2005/8/layout/radial5"/>
    <dgm:cxn modelId="{8148A593-8672-49B2-B35B-3C007B88322D}" type="presOf" srcId="{26276F15-108F-4C55-BA56-B9FB7E9CAE9F}" destId="{B11D0419-AF85-4BC3-843E-AB93A487CB83}" srcOrd="0" destOrd="0" presId="urn:microsoft.com/office/officeart/2005/8/layout/radial5"/>
    <dgm:cxn modelId="{96E6C990-92B1-4C15-B8A0-CA905DB42492}" type="presOf" srcId="{5B59A09F-E790-4F33-A672-1CB7B1396A76}" destId="{855022D2-364A-41B0-B450-1921516ACA0C}" srcOrd="0" destOrd="0" presId="urn:microsoft.com/office/officeart/2005/8/layout/radial5"/>
    <dgm:cxn modelId="{939F91CE-565C-487D-B28A-B05C26CD0C10}" type="presOf" srcId="{976B224E-405C-4FE9-A695-EA6A553ADB0A}" destId="{8DEA1766-98BF-47B5-AAB1-38E2058C8C43}" srcOrd="0" destOrd="0" presId="urn:microsoft.com/office/officeart/2005/8/layout/radial5"/>
    <dgm:cxn modelId="{4FF8EB30-82D0-435A-BF1D-B3DD2DC776C7}" type="presOf" srcId="{0C8CFA46-E907-4E51-9AEF-47C3DB0B8B53}" destId="{B3DC6309-B656-4FB5-A682-ACB759D974D5}" srcOrd="0" destOrd="0" presId="urn:microsoft.com/office/officeart/2005/8/layout/radial5"/>
    <dgm:cxn modelId="{CC056373-E91D-4F97-8BDB-2853402E9553}" type="presOf" srcId="{A455F193-082F-418E-9E79-EF166AFFC694}" destId="{F0E4E402-7BCD-4D7F-B441-06C67C0AD8FB}" srcOrd="0" destOrd="0" presId="urn:microsoft.com/office/officeart/2005/8/layout/radial5"/>
    <dgm:cxn modelId="{91C80CEF-7B6E-48A6-B026-F06A684C41E3}" srcId="{26276F15-108F-4C55-BA56-B9FB7E9CAE9F}" destId="{C0914B65-E410-426C-8813-8F1383EBC5D9}" srcOrd="0" destOrd="0" parTransId="{DD366D77-F929-424C-A48D-6C15F40CC869}" sibTransId="{C0C70AA9-1B4C-4127-AFD0-5C6B3E4E9B83}"/>
    <dgm:cxn modelId="{22685842-BD9C-4010-9B54-569207CFC8FB}" type="presOf" srcId="{FF7A78E0-81F2-4CE8-B593-126637C28859}" destId="{9517FE74-2D15-4E9B-91C1-5268490B2564}" srcOrd="0" destOrd="0" presId="urn:microsoft.com/office/officeart/2005/8/layout/radial5"/>
    <dgm:cxn modelId="{1D59D650-CB03-4E58-9B65-394DDFD793AB}" type="presOf" srcId="{A455F193-082F-418E-9E79-EF166AFFC694}" destId="{56276C71-55D6-4F3C-8C1F-E24637EBF31D}" srcOrd="1" destOrd="0" presId="urn:microsoft.com/office/officeart/2005/8/layout/radial5"/>
    <dgm:cxn modelId="{53711BD8-280B-475C-9E33-B1135B055AA3}" srcId="{C0914B65-E410-426C-8813-8F1383EBC5D9}" destId="{DB84E6FE-B487-44B5-BD44-45DFAD4D428A}" srcOrd="2" destOrd="0" parTransId="{0C8CFA46-E907-4E51-9AEF-47C3DB0B8B53}" sibTransId="{0AEBFD39-EF33-4065-8123-937FA047F024}"/>
    <dgm:cxn modelId="{50AF2E1A-AAC7-4389-ADFF-11CE7636AE80}" type="presOf" srcId="{976B224E-405C-4FE9-A695-EA6A553ADB0A}" destId="{6F6A0EB9-4A67-4CC2-9966-FB0B30A9D54C}" srcOrd="1" destOrd="0" presId="urn:microsoft.com/office/officeart/2005/8/layout/radial5"/>
    <dgm:cxn modelId="{50750962-E0A4-400A-81A0-5FE06A1F5220}" srcId="{C0914B65-E410-426C-8813-8F1383EBC5D9}" destId="{9F2C33E7-F2F4-4491-9FF0-AAFA14EAB71E}" srcOrd="1" destOrd="0" parTransId="{976B224E-405C-4FE9-A695-EA6A553ADB0A}" sibTransId="{7FEE7E87-6119-4496-BA44-451A3EA3F555}"/>
    <dgm:cxn modelId="{D27737C2-67CE-45F9-8B9F-B4B95B03FEE5}" srcId="{C0914B65-E410-426C-8813-8F1383EBC5D9}" destId="{5B59A09F-E790-4F33-A672-1CB7B1396A76}" srcOrd="3" destOrd="0" parTransId="{A455F193-082F-418E-9E79-EF166AFFC694}" sibTransId="{ED225231-73A8-4766-9F16-CD0D7D28CCD8}"/>
    <dgm:cxn modelId="{1B709C07-44AE-4D28-B2E9-A8CFD60B9C39}" type="presParOf" srcId="{B11D0419-AF85-4BC3-843E-AB93A487CB83}" destId="{D8744FC1-5B5C-4482-9B8A-8EDC1A2069AE}" srcOrd="0" destOrd="0" presId="urn:microsoft.com/office/officeart/2005/8/layout/radial5"/>
    <dgm:cxn modelId="{07D20E2B-9248-4EE0-B058-CB9307952C9D}" type="presParOf" srcId="{B11D0419-AF85-4BC3-843E-AB93A487CB83}" destId="{106CA165-AF0C-4F51-B009-25D3FA94D771}" srcOrd="1" destOrd="0" presId="urn:microsoft.com/office/officeart/2005/8/layout/radial5"/>
    <dgm:cxn modelId="{4FAC2F25-BA0B-421F-B76B-FC3F2B7A0699}" type="presParOf" srcId="{106CA165-AF0C-4F51-B009-25D3FA94D771}" destId="{4EC6FDE2-7799-49FA-9923-9CA2B91DFFEE}" srcOrd="0" destOrd="0" presId="urn:microsoft.com/office/officeart/2005/8/layout/radial5"/>
    <dgm:cxn modelId="{F4B20CFF-78A4-4AFF-9C9E-C06F9568A2E4}" type="presParOf" srcId="{B11D0419-AF85-4BC3-843E-AB93A487CB83}" destId="{9517FE74-2D15-4E9B-91C1-5268490B2564}" srcOrd="2" destOrd="0" presId="urn:microsoft.com/office/officeart/2005/8/layout/radial5"/>
    <dgm:cxn modelId="{634C479F-B2F0-44E6-9EB7-B16F39092B4C}" type="presParOf" srcId="{B11D0419-AF85-4BC3-843E-AB93A487CB83}" destId="{8DEA1766-98BF-47B5-AAB1-38E2058C8C43}" srcOrd="3" destOrd="0" presId="urn:microsoft.com/office/officeart/2005/8/layout/radial5"/>
    <dgm:cxn modelId="{872F418A-CEBD-4704-8CF7-8A48B18347DC}" type="presParOf" srcId="{8DEA1766-98BF-47B5-AAB1-38E2058C8C43}" destId="{6F6A0EB9-4A67-4CC2-9966-FB0B30A9D54C}" srcOrd="0" destOrd="0" presId="urn:microsoft.com/office/officeart/2005/8/layout/radial5"/>
    <dgm:cxn modelId="{FEEC9107-11D4-42F1-9278-FFD1FDFCF3EF}" type="presParOf" srcId="{B11D0419-AF85-4BC3-843E-AB93A487CB83}" destId="{91B447E0-ACA7-4F58-A128-B9F377FE763B}" srcOrd="4" destOrd="0" presId="urn:microsoft.com/office/officeart/2005/8/layout/radial5"/>
    <dgm:cxn modelId="{3F46F76F-A5B4-432B-96AF-C9DFF2C8A1B7}" type="presParOf" srcId="{B11D0419-AF85-4BC3-843E-AB93A487CB83}" destId="{B3DC6309-B656-4FB5-A682-ACB759D974D5}" srcOrd="5" destOrd="0" presId="urn:microsoft.com/office/officeart/2005/8/layout/radial5"/>
    <dgm:cxn modelId="{2ABC8607-9EF8-4B46-BE6A-89E7DCEF5C5A}" type="presParOf" srcId="{B3DC6309-B656-4FB5-A682-ACB759D974D5}" destId="{70F11511-9895-4F8C-8053-0E8DA7C97605}" srcOrd="0" destOrd="0" presId="urn:microsoft.com/office/officeart/2005/8/layout/radial5"/>
    <dgm:cxn modelId="{43B29074-3199-4C97-B08C-EE403110B505}" type="presParOf" srcId="{B11D0419-AF85-4BC3-843E-AB93A487CB83}" destId="{6E5593AD-6968-4AC3-B5F3-0E715675361D}" srcOrd="6" destOrd="0" presId="urn:microsoft.com/office/officeart/2005/8/layout/radial5"/>
    <dgm:cxn modelId="{22CD6751-5935-4579-9B8E-3230FF83E418}" type="presParOf" srcId="{B11D0419-AF85-4BC3-843E-AB93A487CB83}" destId="{F0E4E402-7BCD-4D7F-B441-06C67C0AD8FB}" srcOrd="7" destOrd="0" presId="urn:microsoft.com/office/officeart/2005/8/layout/radial5"/>
    <dgm:cxn modelId="{CF81E67D-756A-4273-9F34-487874E17B44}" type="presParOf" srcId="{F0E4E402-7BCD-4D7F-B441-06C67C0AD8FB}" destId="{56276C71-55D6-4F3C-8C1F-E24637EBF31D}" srcOrd="0" destOrd="0" presId="urn:microsoft.com/office/officeart/2005/8/layout/radial5"/>
    <dgm:cxn modelId="{EF5B3000-F22C-43EA-8356-EFE3D3ECAEA6}" type="presParOf" srcId="{B11D0419-AF85-4BC3-843E-AB93A487CB83}" destId="{855022D2-364A-41B0-B450-1921516ACA0C}" srcOrd="8"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E91005-1366-4458-96F3-3A81A3B2187C}" type="doc">
      <dgm:prSet loTypeId="urn:microsoft.com/office/officeart/2005/8/layout/radial5" loCatId="relationship" qsTypeId="urn:microsoft.com/office/officeart/2005/8/quickstyle/simple1" qsCatId="simple" csTypeId="urn:microsoft.com/office/officeart/2005/8/colors/accent1_2" csCatId="accent1" phldr="1"/>
      <dgm:spPr/>
      <dgm:t>
        <a:bodyPr/>
        <a:lstStyle/>
        <a:p>
          <a:endParaRPr lang="zh-CN" altLang="en-US"/>
        </a:p>
      </dgm:t>
    </dgm:pt>
    <dgm:pt modelId="{84180E2E-7F12-4397-B79E-CE025847BF28}">
      <dgm:prSet phldrT="[文本]" custT="1"/>
      <dgm:spPr/>
      <dgm:t>
        <a:bodyPr/>
        <a:lstStyle/>
        <a:p>
          <a:r>
            <a:rPr lang="zh-CN" altLang="en-US" sz="1600" dirty="0" smtClean="0"/>
            <a:t>感知系统</a:t>
          </a:r>
          <a:endParaRPr lang="zh-CN" altLang="en-US" sz="1600" dirty="0"/>
        </a:p>
      </dgm:t>
    </dgm:pt>
    <dgm:pt modelId="{11081029-3E1C-4825-B205-205DD021A30D}" type="parTrans" cxnId="{1EE8D2AA-7676-4EF2-BC93-CF7D68692694}">
      <dgm:prSet/>
      <dgm:spPr/>
      <dgm:t>
        <a:bodyPr/>
        <a:lstStyle/>
        <a:p>
          <a:endParaRPr lang="zh-CN" altLang="en-US" sz="1600"/>
        </a:p>
      </dgm:t>
    </dgm:pt>
    <dgm:pt modelId="{B2816B8C-DDEF-4D8A-99FB-6D12707306BF}" type="sibTrans" cxnId="{1EE8D2AA-7676-4EF2-BC93-CF7D68692694}">
      <dgm:prSet/>
      <dgm:spPr/>
      <dgm:t>
        <a:bodyPr/>
        <a:lstStyle/>
        <a:p>
          <a:endParaRPr lang="zh-CN" altLang="en-US" sz="1600"/>
        </a:p>
      </dgm:t>
    </dgm:pt>
    <dgm:pt modelId="{3B847AE6-FA62-4D20-8658-524629718062}">
      <dgm:prSet phldrT="[文本]" custT="1"/>
      <dgm:spPr/>
      <dgm:t>
        <a:bodyPr/>
        <a:lstStyle/>
        <a:p>
          <a:r>
            <a:rPr lang="zh-CN" altLang="en-US" sz="1600" dirty="0" smtClean="0"/>
            <a:t>视觉数据</a:t>
          </a:r>
          <a:endParaRPr lang="zh-CN" altLang="en-US" sz="1600" dirty="0"/>
        </a:p>
      </dgm:t>
    </dgm:pt>
    <dgm:pt modelId="{902E82B4-AB0D-400E-B83A-0296031300C1}" type="parTrans" cxnId="{9BAC16CD-7C2B-4C71-9762-6C598476C537}">
      <dgm:prSet custT="1"/>
      <dgm:spPr/>
      <dgm:t>
        <a:bodyPr/>
        <a:lstStyle/>
        <a:p>
          <a:endParaRPr lang="zh-CN" altLang="en-US" sz="1600"/>
        </a:p>
      </dgm:t>
    </dgm:pt>
    <dgm:pt modelId="{E859C854-89E9-4E74-A4B9-398CD532160B}" type="sibTrans" cxnId="{9BAC16CD-7C2B-4C71-9762-6C598476C537}">
      <dgm:prSet/>
      <dgm:spPr/>
      <dgm:t>
        <a:bodyPr/>
        <a:lstStyle/>
        <a:p>
          <a:endParaRPr lang="zh-CN" altLang="en-US" sz="1600"/>
        </a:p>
      </dgm:t>
    </dgm:pt>
    <dgm:pt modelId="{D4372D2A-5FD1-41CC-BA29-F149420B3161}">
      <dgm:prSet phldrT="[文本]" custT="1"/>
      <dgm:spPr/>
      <dgm:t>
        <a:bodyPr/>
        <a:lstStyle/>
        <a:p>
          <a:r>
            <a:rPr lang="zh-CN" altLang="en-US" sz="1600" dirty="0" smtClean="0"/>
            <a:t>听觉数据</a:t>
          </a:r>
          <a:endParaRPr lang="zh-CN" altLang="en-US" sz="1600" dirty="0"/>
        </a:p>
      </dgm:t>
    </dgm:pt>
    <dgm:pt modelId="{BEC68EEF-898C-4574-B5DC-C1AE0F7910EA}" type="parTrans" cxnId="{1FBF1BF8-CA05-42E9-B04C-8971DAD30A07}">
      <dgm:prSet custT="1"/>
      <dgm:spPr/>
      <dgm:t>
        <a:bodyPr/>
        <a:lstStyle/>
        <a:p>
          <a:endParaRPr lang="zh-CN" altLang="en-US" sz="1600"/>
        </a:p>
      </dgm:t>
    </dgm:pt>
    <dgm:pt modelId="{752363E8-6F85-4DA6-9338-2D5F14D33432}" type="sibTrans" cxnId="{1FBF1BF8-CA05-42E9-B04C-8971DAD30A07}">
      <dgm:prSet/>
      <dgm:spPr/>
      <dgm:t>
        <a:bodyPr/>
        <a:lstStyle/>
        <a:p>
          <a:endParaRPr lang="zh-CN" altLang="en-US" sz="1600"/>
        </a:p>
      </dgm:t>
    </dgm:pt>
    <dgm:pt modelId="{77CBC19C-486F-4B42-94B5-C38B29FCC2DC}">
      <dgm:prSet phldrT="[文本]" custT="1"/>
      <dgm:spPr/>
      <dgm:t>
        <a:bodyPr/>
        <a:lstStyle/>
        <a:p>
          <a:r>
            <a:rPr lang="zh-CN" altLang="en-US" sz="1600" dirty="0" smtClean="0"/>
            <a:t>基础数据</a:t>
          </a:r>
          <a:endParaRPr lang="zh-CN" altLang="en-US" sz="1600" dirty="0"/>
        </a:p>
      </dgm:t>
    </dgm:pt>
    <dgm:pt modelId="{64070FDE-1EDD-49A8-8005-B10B0A18F8E1}" type="parTrans" cxnId="{A3A5B660-A6F4-43BC-B7BF-05744BA549C9}">
      <dgm:prSet custT="1"/>
      <dgm:spPr/>
      <dgm:t>
        <a:bodyPr/>
        <a:lstStyle/>
        <a:p>
          <a:endParaRPr lang="zh-CN" altLang="en-US" sz="1600"/>
        </a:p>
      </dgm:t>
    </dgm:pt>
    <dgm:pt modelId="{33A9FE0C-8149-45F6-BAD2-96EC383167F4}" type="sibTrans" cxnId="{A3A5B660-A6F4-43BC-B7BF-05744BA549C9}">
      <dgm:prSet/>
      <dgm:spPr/>
      <dgm:t>
        <a:bodyPr/>
        <a:lstStyle/>
        <a:p>
          <a:endParaRPr lang="zh-CN" altLang="en-US" sz="1600"/>
        </a:p>
      </dgm:t>
    </dgm:pt>
    <dgm:pt modelId="{4A3FD45A-9790-4367-A1C8-FA24063D1B33}">
      <dgm:prSet phldrT="[文本]" custT="1"/>
      <dgm:spPr/>
      <dgm:t>
        <a:bodyPr/>
        <a:lstStyle/>
        <a:p>
          <a:r>
            <a:rPr lang="zh-CN" altLang="en-US" sz="1600" dirty="0" smtClean="0"/>
            <a:t>触觉数据</a:t>
          </a:r>
          <a:endParaRPr lang="zh-CN" altLang="en-US" sz="1600" dirty="0"/>
        </a:p>
      </dgm:t>
    </dgm:pt>
    <dgm:pt modelId="{3666D2FC-E3E5-45DE-9EE3-53651CDAB9FC}" type="parTrans" cxnId="{09B85AB8-9294-430D-9E37-7E6A9E0673AD}">
      <dgm:prSet custT="1"/>
      <dgm:spPr/>
      <dgm:t>
        <a:bodyPr/>
        <a:lstStyle/>
        <a:p>
          <a:endParaRPr lang="zh-CN" altLang="en-US" sz="1600"/>
        </a:p>
      </dgm:t>
    </dgm:pt>
    <dgm:pt modelId="{814214EB-2B14-45EB-A728-DA9218801F16}" type="sibTrans" cxnId="{09B85AB8-9294-430D-9E37-7E6A9E0673AD}">
      <dgm:prSet/>
      <dgm:spPr/>
      <dgm:t>
        <a:bodyPr/>
        <a:lstStyle/>
        <a:p>
          <a:endParaRPr lang="zh-CN" altLang="en-US" sz="1600"/>
        </a:p>
      </dgm:t>
    </dgm:pt>
    <dgm:pt modelId="{7904757C-6EBC-4F0E-8B1D-9EA106DD0211}" type="pres">
      <dgm:prSet presAssocID="{03E91005-1366-4458-96F3-3A81A3B2187C}" presName="Name0" presStyleCnt="0">
        <dgm:presLayoutVars>
          <dgm:chMax val="1"/>
          <dgm:dir/>
          <dgm:animLvl val="ctr"/>
          <dgm:resizeHandles val="exact"/>
        </dgm:presLayoutVars>
      </dgm:prSet>
      <dgm:spPr/>
      <dgm:t>
        <a:bodyPr/>
        <a:lstStyle/>
        <a:p>
          <a:endParaRPr lang="zh-CN" altLang="en-US"/>
        </a:p>
      </dgm:t>
    </dgm:pt>
    <dgm:pt modelId="{998251C9-14A7-48EB-B8D2-DB0F32AB3596}" type="pres">
      <dgm:prSet presAssocID="{84180E2E-7F12-4397-B79E-CE025847BF28}" presName="centerShape" presStyleLbl="node0" presStyleIdx="0" presStyleCnt="1"/>
      <dgm:spPr/>
      <dgm:t>
        <a:bodyPr/>
        <a:lstStyle/>
        <a:p>
          <a:endParaRPr lang="zh-CN" altLang="en-US"/>
        </a:p>
      </dgm:t>
    </dgm:pt>
    <dgm:pt modelId="{50C4CE79-0C82-4BBC-9FEF-618057A55D5F}" type="pres">
      <dgm:prSet presAssocID="{902E82B4-AB0D-400E-B83A-0296031300C1}" presName="parTrans" presStyleLbl="sibTrans2D1" presStyleIdx="0" presStyleCnt="4"/>
      <dgm:spPr/>
      <dgm:t>
        <a:bodyPr/>
        <a:lstStyle/>
        <a:p>
          <a:endParaRPr lang="zh-CN" altLang="en-US"/>
        </a:p>
      </dgm:t>
    </dgm:pt>
    <dgm:pt modelId="{BFDADF93-0135-4F3C-A277-EC25EE3D4A2D}" type="pres">
      <dgm:prSet presAssocID="{902E82B4-AB0D-400E-B83A-0296031300C1}" presName="connectorText" presStyleLbl="sibTrans2D1" presStyleIdx="0" presStyleCnt="4"/>
      <dgm:spPr/>
      <dgm:t>
        <a:bodyPr/>
        <a:lstStyle/>
        <a:p>
          <a:endParaRPr lang="zh-CN" altLang="en-US"/>
        </a:p>
      </dgm:t>
    </dgm:pt>
    <dgm:pt modelId="{EE0EDA00-A862-4BC0-B431-3E041C367548}" type="pres">
      <dgm:prSet presAssocID="{3B847AE6-FA62-4D20-8658-524629718062}" presName="node" presStyleLbl="node1" presStyleIdx="0" presStyleCnt="4">
        <dgm:presLayoutVars>
          <dgm:bulletEnabled val="1"/>
        </dgm:presLayoutVars>
      </dgm:prSet>
      <dgm:spPr/>
      <dgm:t>
        <a:bodyPr/>
        <a:lstStyle/>
        <a:p>
          <a:endParaRPr lang="zh-CN" altLang="en-US"/>
        </a:p>
      </dgm:t>
    </dgm:pt>
    <dgm:pt modelId="{594F7510-08AF-462F-B048-CC149CF5580E}" type="pres">
      <dgm:prSet presAssocID="{BEC68EEF-898C-4574-B5DC-C1AE0F7910EA}" presName="parTrans" presStyleLbl="sibTrans2D1" presStyleIdx="1" presStyleCnt="4"/>
      <dgm:spPr/>
      <dgm:t>
        <a:bodyPr/>
        <a:lstStyle/>
        <a:p>
          <a:endParaRPr lang="zh-CN" altLang="en-US"/>
        </a:p>
      </dgm:t>
    </dgm:pt>
    <dgm:pt modelId="{BBA2E054-2C6A-4A8E-A679-906354037B87}" type="pres">
      <dgm:prSet presAssocID="{BEC68EEF-898C-4574-B5DC-C1AE0F7910EA}" presName="connectorText" presStyleLbl="sibTrans2D1" presStyleIdx="1" presStyleCnt="4"/>
      <dgm:spPr/>
      <dgm:t>
        <a:bodyPr/>
        <a:lstStyle/>
        <a:p>
          <a:endParaRPr lang="zh-CN" altLang="en-US"/>
        </a:p>
      </dgm:t>
    </dgm:pt>
    <dgm:pt modelId="{39525439-F569-431A-9383-744D05327652}" type="pres">
      <dgm:prSet presAssocID="{D4372D2A-5FD1-41CC-BA29-F149420B3161}" presName="node" presStyleLbl="node1" presStyleIdx="1" presStyleCnt="4">
        <dgm:presLayoutVars>
          <dgm:bulletEnabled val="1"/>
        </dgm:presLayoutVars>
      </dgm:prSet>
      <dgm:spPr/>
      <dgm:t>
        <a:bodyPr/>
        <a:lstStyle/>
        <a:p>
          <a:endParaRPr lang="zh-CN" altLang="en-US"/>
        </a:p>
      </dgm:t>
    </dgm:pt>
    <dgm:pt modelId="{F779CBDD-6686-4615-84A7-A28DCBB3D7F4}" type="pres">
      <dgm:prSet presAssocID="{64070FDE-1EDD-49A8-8005-B10B0A18F8E1}" presName="parTrans" presStyleLbl="sibTrans2D1" presStyleIdx="2" presStyleCnt="4"/>
      <dgm:spPr/>
      <dgm:t>
        <a:bodyPr/>
        <a:lstStyle/>
        <a:p>
          <a:endParaRPr lang="zh-CN" altLang="en-US"/>
        </a:p>
      </dgm:t>
    </dgm:pt>
    <dgm:pt modelId="{BEFCA0BF-1B2E-4394-84F6-BBDBFDF74D52}" type="pres">
      <dgm:prSet presAssocID="{64070FDE-1EDD-49A8-8005-B10B0A18F8E1}" presName="connectorText" presStyleLbl="sibTrans2D1" presStyleIdx="2" presStyleCnt="4"/>
      <dgm:spPr/>
      <dgm:t>
        <a:bodyPr/>
        <a:lstStyle/>
        <a:p>
          <a:endParaRPr lang="zh-CN" altLang="en-US"/>
        </a:p>
      </dgm:t>
    </dgm:pt>
    <dgm:pt modelId="{01FAD28D-E45A-4E6C-8E8B-94DE9924DB75}" type="pres">
      <dgm:prSet presAssocID="{77CBC19C-486F-4B42-94B5-C38B29FCC2DC}" presName="node" presStyleLbl="node1" presStyleIdx="2" presStyleCnt="4">
        <dgm:presLayoutVars>
          <dgm:bulletEnabled val="1"/>
        </dgm:presLayoutVars>
      </dgm:prSet>
      <dgm:spPr/>
      <dgm:t>
        <a:bodyPr/>
        <a:lstStyle/>
        <a:p>
          <a:endParaRPr lang="zh-CN" altLang="en-US"/>
        </a:p>
      </dgm:t>
    </dgm:pt>
    <dgm:pt modelId="{5E2FC4B7-C08B-46C4-B6FE-E8B767C52848}" type="pres">
      <dgm:prSet presAssocID="{3666D2FC-E3E5-45DE-9EE3-53651CDAB9FC}" presName="parTrans" presStyleLbl="sibTrans2D1" presStyleIdx="3" presStyleCnt="4"/>
      <dgm:spPr/>
      <dgm:t>
        <a:bodyPr/>
        <a:lstStyle/>
        <a:p>
          <a:endParaRPr lang="zh-CN" altLang="en-US"/>
        </a:p>
      </dgm:t>
    </dgm:pt>
    <dgm:pt modelId="{4DC39E10-177D-4C4A-9430-9179CDB7DCB7}" type="pres">
      <dgm:prSet presAssocID="{3666D2FC-E3E5-45DE-9EE3-53651CDAB9FC}" presName="connectorText" presStyleLbl="sibTrans2D1" presStyleIdx="3" presStyleCnt="4"/>
      <dgm:spPr/>
      <dgm:t>
        <a:bodyPr/>
        <a:lstStyle/>
        <a:p>
          <a:endParaRPr lang="zh-CN" altLang="en-US"/>
        </a:p>
      </dgm:t>
    </dgm:pt>
    <dgm:pt modelId="{AD18DDE9-E626-4A19-A6C4-F31CD00F57D4}" type="pres">
      <dgm:prSet presAssocID="{4A3FD45A-9790-4367-A1C8-FA24063D1B33}" presName="node" presStyleLbl="node1" presStyleIdx="3" presStyleCnt="4">
        <dgm:presLayoutVars>
          <dgm:bulletEnabled val="1"/>
        </dgm:presLayoutVars>
      </dgm:prSet>
      <dgm:spPr/>
      <dgm:t>
        <a:bodyPr/>
        <a:lstStyle/>
        <a:p>
          <a:endParaRPr lang="zh-CN" altLang="en-US"/>
        </a:p>
      </dgm:t>
    </dgm:pt>
  </dgm:ptLst>
  <dgm:cxnLst>
    <dgm:cxn modelId="{056A4895-5D60-47E0-87A8-6644AAE67B1F}" type="presOf" srcId="{902E82B4-AB0D-400E-B83A-0296031300C1}" destId="{BFDADF93-0135-4F3C-A277-EC25EE3D4A2D}" srcOrd="1" destOrd="0" presId="urn:microsoft.com/office/officeart/2005/8/layout/radial5"/>
    <dgm:cxn modelId="{A30E63F6-B054-41DE-9C12-C49C5A1A5644}" type="presOf" srcId="{902E82B4-AB0D-400E-B83A-0296031300C1}" destId="{50C4CE79-0C82-4BBC-9FEF-618057A55D5F}" srcOrd="0" destOrd="0" presId="urn:microsoft.com/office/officeart/2005/8/layout/radial5"/>
    <dgm:cxn modelId="{1EE8D2AA-7676-4EF2-BC93-CF7D68692694}" srcId="{03E91005-1366-4458-96F3-3A81A3B2187C}" destId="{84180E2E-7F12-4397-B79E-CE025847BF28}" srcOrd="0" destOrd="0" parTransId="{11081029-3E1C-4825-B205-205DD021A30D}" sibTransId="{B2816B8C-DDEF-4D8A-99FB-6D12707306BF}"/>
    <dgm:cxn modelId="{787B8D1B-CFEF-4CB4-94BB-2CB13D8C5B99}" type="presOf" srcId="{BEC68EEF-898C-4574-B5DC-C1AE0F7910EA}" destId="{BBA2E054-2C6A-4A8E-A679-906354037B87}" srcOrd="1" destOrd="0" presId="urn:microsoft.com/office/officeart/2005/8/layout/radial5"/>
    <dgm:cxn modelId="{B5D38008-A9DB-44E9-AF13-F84CAF45770F}" type="presOf" srcId="{3B847AE6-FA62-4D20-8658-524629718062}" destId="{EE0EDA00-A862-4BC0-B431-3E041C367548}" srcOrd="0" destOrd="0" presId="urn:microsoft.com/office/officeart/2005/8/layout/radial5"/>
    <dgm:cxn modelId="{34FB0349-84BE-4B45-AD99-85E9A6C413A3}" type="presOf" srcId="{64070FDE-1EDD-49A8-8005-B10B0A18F8E1}" destId="{BEFCA0BF-1B2E-4394-84F6-BBDBFDF74D52}" srcOrd="1" destOrd="0" presId="urn:microsoft.com/office/officeart/2005/8/layout/radial5"/>
    <dgm:cxn modelId="{8F30B349-04C2-4A50-B1E7-D98AF19D32BA}" type="presOf" srcId="{64070FDE-1EDD-49A8-8005-B10B0A18F8E1}" destId="{F779CBDD-6686-4615-84A7-A28DCBB3D7F4}" srcOrd="0" destOrd="0" presId="urn:microsoft.com/office/officeart/2005/8/layout/radial5"/>
    <dgm:cxn modelId="{7D984543-6B56-4A89-B08C-D3997EF58DDF}" type="presOf" srcId="{D4372D2A-5FD1-41CC-BA29-F149420B3161}" destId="{39525439-F569-431A-9383-744D05327652}" srcOrd="0" destOrd="0" presId="urn:microsoft.com/office/officeart/2005/8/layout/radial5"/>
    <dgm:cxn modelId="{D1F03002-6510-4678-97BA-18FD771B816D}" type="presOf" srcId="{3666D2FC-E3E5-45DE-9EE3-53651CDAB9FC}" destId="{4DC39E10-177D-4C4A-9430-9179CDB7DCB7}" srcOrd="1" destOrd="0" presId="urn:microsoft.com/office/officeart/2005/8/layout/radial5"/>
    <dgm:cxn modelId="{5F53A7B0-5CFD-401C-ABDA-5BAACE8D5386}" type="presOf" srcId="{3666D2FC-E3E5-45DE-9EE3-53651CDAB9FC}" destId="{5E2FC4B7-C08B-46C4-B6FE-E8B767C52848}" srcOrd="0" destOrd="0" presId="urn:microsoft.com/office/officeart/2005/8/layout/radial5"/>
    <dgm:cxn modelId="{FB287C32-1883-4395-824A-915E09AAE543}" type="presOf" srcId="{84180E2E-7F12-4397-B79E-CE025847BF28}" destId="{998251C9-14A7-48EB-B8D2-DB0F32AB3596}" srcOrd="0" destOrd="0" presId="urn:microsoft.com/office/officeart/2005/8/layout/radial5"/>
    <dgm:cxn modelId="{1FBF1BF8-CA05-42E9-B04C-8971DAD30A07}" srcId="{84180E2E-7F12-4397-B79E-CE025847BF28}" destId="{D4372D2A-5FD1-41CC-BA29-F149420B3161}" srcOrd="1" destOrd="0" parTransId="{BEC68EEF-898C-4574-B5DC-C1AE0F7910EA}" sibTransId="{752363E8-6F85-4DA6-9338-2D5F14D33432}"/>
    <dgm:cxn modelId="{CAE44127-2D88-4EA6-9274-C0F66E4E418A}" type="presOf" srcId="{77CBC19C-486F-4B42-94B5-C38B29FCC2DC}" destId="{01FAD28D-E45A-4E6C-8E8B-94DE9924DB75}" srcOrd="0" destOrd="0" presId="urn:microsoft.com/office/officeart/2005/8/layout/radial5"/>
    <dgm:cxn modelId="{09B85AB8-9294-430D-9E37-7E6A9E0673AD}" srcId="{84180E2E-7F12-4397-B79E-CE025847BF28}" destId="{4A3FD45A-9790-4367-A1C8-FA24063D1B33}" srcOrd="3" destOrd="0" parTransId="{3666D2FC-E3E5-45DE-9EE3-53651CDAB9FC}" sibTransId="{814214EB-2B14-45EB-A728-DA9218801F16}"/>
    <dgm:cxn modelId="{A3A5B660-A6F4-43BC-B7BF-05744BA549C9}" srcId="{84180E2E-7F12-4397-B79E-CE025847BF28}" destId="{77CBC19C-486F-4B42-94B5-C38B29FCC2DC}" srcOrd="2" destOrd="0" parTransId="{64070FDE-1EDD-49A8-8005-B10B0A18F8E1}" sibTransId="{33A9FE0C-8149-45F6-BAD2-96EC383167F4}"/>
    <dgm:cxn modelId="{E1B67486-1AAF-4E09-B472-9A14C094B070}" type="presOf" srcId="{BEC68EEF-898C-4574-B5DC-C1AE0F7910EA}" destId="{594F7510-08AF-462F-B048-CC149CF5580E}" srcOrd="0" destOrd="0" presId="urn:microsoft.com/office/officeart/2005/8/layout/radial5"/>
    <dgm:cxn modelId="{2785A40F-AD2D-4C03-B672-25FCD9BA48E9}" type="presOf" srcId="{4A3FD45A-9790-4367-A1C8-FA24063D1B33}" destId="{AD18DDE9-E626-4A19-A6C4-F31CD00F57D4}" srcOrd="0" destOrd="0" presId="urn:microsoft.com/office/officeart/2005/8/layout/radial5"/>
    <dgm:cxn modelId="{9BAC16CD-7C2B-4C71-9762-6C598476C537}" srcId="{84180E2E-7F12-4397-B79E-CE025847BF28}" destId="{3B847AE6-FA62-4D20-8658-524629718062}" srcOrd="0" destOrd="0" parTransId="{902E82B4-AB0D-400E-B83A-0296031300C1}" sibTransId="{E859C854-89E9-4E74-A4B9-398CD532160B}"/>
    <dgm:cxn modelId="{0E21B277-A488-4ED9-AB94-DCEDBE0D515B}" type="presOf" srcId="{03E91005-1366-4458-96F3-3A81A3B2187C}" destId="{7904757C-6EBC-4F0E-8B1D-9EA106DD0211}" srcOrd="0" destOrd="0" presId="urn:microsoft.com/office/officeart/2005/8/layout/radial5"/>
    <dgm:cxn modelId="{626FFA4C-A7CC-46A6-ABCD-DA4320F14E9C}" type="presParOf" srcId="{7904757C-6EBC-4F0E-8B1D-9EA106DD0211}" destId="{998251C9-14A7-48EB-B8D2-DB0F32AB3596}" srcOrd="0" destOrd="0" presId="urn:microsoft.com/office/officeart/2005/8/layout/radial5"/>
    <dgm:cxn modelId="{A18625E0-6C6C-4D67-8098-401596ADA4C3}" type="presParOf" srcId="{7904757C-6EBC-4F0E-8B1D-9EA106DD0211}" destId="{50C4CE79-0C82-4BBC-9FEF-618057A55D5F}" srcOrd="1" destOrd="0" presId="urn:microsoft.com/office/officeart/2005/8/layout/radial5"/>
    <dgm:cxn modelId="{8A0056B5-E780-4856-A021-43CC3724524F}" type="presParOf" srcId="{50C4CE79-0C82-4BBC-9FEF-618057A55D5F}" destId="{BFDADF93-0135-4F3C-A277-EC25EE3D4A2D}" srcOrd="0" destOrd="0" presId="urn:microsoft.com/office/officeart/2005/8/layout/radial5"/>
    <dgm:cxn modelId="{5828F604-D60D-415E-A52C-BFA99D9706E0}" type="presParOf" srcId="{7904757C-6EBC-4F0E-8B1D-9EA106DD0211}" destId="{EE0EDA00-A862-4BC0-B431-3E041C367548}" srcOrd="2" destOrd="0" presId="urn:microsoft.com/office/officeart/2005/8/layout/radial5"/>
    <dgm:cxn modelId="{0F10A3DE-1BA9-4F77-861F-A7FA25C14BFB}" type="presParOf" srcId="{7904757C-6EBC-4F0E-8B1D-9EA106DD0211}" destId="{594F7510-08AF-462F-B048-CC149CF5580E}" srcOrd="3" destOrd="0" presId="urn:microsoft.com/office/officeart/2005/8/layout/radial5"/>
    <dgm:cxn modelId="{7B1524D2-B7A8-465F-A973-DD2F90C51C94}" type="presParOf" srcId="{594F7510-08AF-462F-B048-CC149CF5580E}" destId="{BBA2E054-2C6A-4A8E-A679-906354037B87}" srcOrd="0" destOrd="0" presId="urn:microsoft.com/office/officeart/2005/8/layout/radial5"/>
    <dgm:cxn modelId="{BCB4BC96-0521-403F-B7C4-4EF49AAC72B2}" type="presParOf" srcId="{7904757C-6EBC-4F0E-8B1D-9EA106DD0211}" destId="{39525439-F569-431A-9383-744D05327652}" srcOrd="4" destOrd="0" presId="urn:microsoft.com/office/officeart/2005/8/layout/radial5"/>
    <dgm:cxn modelId="{961D1CD8-6293-46FE-8D57-FB4F34B2BC03}" type="presParOf" srcId="{7904757C-6EBC-4F0E-8B1D-9EA106DD0211}" destId="{F779CBDD-6686-4615-84A7-A28DCBB3D7F4}" srcOrd="5" destOrd="0" presId="urn:microsoft.com/office/officeart/2005/8/layout/radial5"/>
    <dgm:cxn modelId="{FAD0A07A-33FF-4FA2-B0C7-1D5231CA295E}" type="presParOf" srcId="{F779CBDD-6686-4615-84A7-A28DCBB3D7F4}" destId="{BEFCA0BF-1B2E-4394-84F6-BBDBFDF74D52}" srcOrd="0" destOrd="0" presId="urn:microsoft.com/office/officeart/2005/8/layout/radial5"/>
    <dgm:cxn modelId="{AD4EEED7-0829-44ED-825D-4BA9BA1C0E64}" type="presParOf" srcId="{7904757C-6EBC-4F0E-8B1D-9EA106DD0211}" destId="{01FAD28D-E45A-4E6C-8E8B-94DE9924DB75}" srcOrd="6" destOrd="0" presId="urn:microsoft.com/office/officeart/2005/8/layout/radial5"/>
    <dgm:cxn modelId="{1E33500C-7924-46FF-83DA-A764F09238C1}" type="presParOf" srcId="{7904757C-6EBC-4F0E-8B1D-9EA106DD0211}" destId="{5E2FC4B7-C08B-46C4-B6FE-E8B767C52848}" srcOrd="7" destOrd="0" presId="urn:microsoft.com/office/officeart/2005/8/layout/radial5"/>
    <dgm:cxn modelId="{B103E85E-EB3E-4A88-B4B6-FCF04C68F95B}" type="presParOf" srcId="{5E2FC4B7-C08B-46C4-B6FE-E8B767C52848}" destId="{4DC39E10-177D-4C4A-9430-9179CDB7DCB7}" srcOrd="0" destOrd="0" presId="urn:microsoft.com/office/officeart/2005/8/layout/radial5"/>
    <dgm:cxn modelId="{26162535-6FE4-4E0E-8332-B1CF112712B3}" type="presParOf" srcId="{7904757C-6EBC-4F0E-8B1D-9EA106DD0211}" destId="{AD18DDE9-E626-4A19-A6C4-F31CD00F57D4}" srcOrd="8"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7DBE9A6-BE55-4AC5-83C7-2A8EA6CDADAD}" type="doc">
      <dgm:prSet loTypeId="urn:microsoft.com/office/officeart/2005/8/layout/arrow2" loCatId="process" qsTypeId="urn:microsoft.com/office/officeart/2005/8/quickstyle/simple1" qsCatId="simple" csTypeId="urn:microsoft.com/office/officeart/2005/8/colors/accent1_4" csCatId="accent1" phldr="1"/>
      <dgm:spPr/>
    </dgm:pt>
    <dgm:pt modelId="{CA2B94C2-70E2-4680-8021-7F066563A48F}">
      <dgm:prSet phldrT="[文本]" custT="1"/>
      <dgm:spPr/>
      <dgm:t>
        <a:bodyPr/>
        <a:lstStyle/>
        <a:p>
          <a:r>
            <a:rPr lang="zh-CN" altLang="en-US" sz="4000" dirty="0" smtClean="0"/>
            <a:t>城域网</a:t>
          </a:r>
          <a:endParaRPr lang="zh-CN" altLang="en-US" sz="4000" dirty="0"/>
        </a:p>
      </dgm:t>
    </dgm:pt>
    <dgm:pt modelId="{75236272-71BE-4A8D-A5CD-2F03D010FCE9}" type="parTrans" cxnId="{CFDB96C3-8F90-4658-B0C3-923772363B9B}">
      <dgm:prSet/>
      <dgm:spPr/>
      <dgm:t>
        <a:bodyPr/>
        <a:lstStyle/>
        <a:p>
          <a:endParaRPr lang="zh-CN" altLang="en-US"/>
        </a:p>
      </dgm:t>
    </dgm:pt>
    <dgm:pt modelId="{177F1AE4-2ECF-4093-AD73-F9A1DAA795A1}" type="sibTrans" cxnId="{CFDB96C3-8F90-4658-B0C3-923772363B9B}">
      <dgm:prSet/>
      <dgm:spPr/>
      <dgm:t>
        <a:bodyPr/>
        <a:lstStyle/>
        <a:p>
          <a:endParaRPr lang="zh-CN" altLang="en-US"/>
        </a:p>
      </dgm:t>
    </dgm:pt>
    <dgm:pt modelId="{365B15FE-7702-4582-8BE0-D609D4D0E262}">
      <dgm:prSet phldrT="[文本]" custT="1"/>
      <dgm:spPr/>
      <dgm:t>
        <a:bodyPr/>
        <a:lstStyle/>
        <a:p>
          <a:r>
            <a:rPr lang="zh-CN" altLang="en-US" sz="4000" dirty="0" smtClean="0"/>
            <a:t>核心网</a:t>
          </a:r>
          <a:endParaRPr lang="zh-CN" altLang="en-US" sz="4000" dirty="0"/>
        </a:p>
      </dgm:t>
    </dgm:pt>
    <dgm:pt modelId="{E53F41EB-2E19-40DB-9CF6-40CCB2A87055}" type="parTrans" cxnId="{B67CCC9C-172E-44DC-92DE-D1953EF4B4B9}">
      <dgm:prSet/>
      <dgm:spPr/>
      <dgm:t>
        <a:bodyPr/>
        <a:lstStyle/>
        <a:p>
          <a:endParaRPr lang="zh-CN" altLang="en-US"/>
        </a:p>
      </dgm:t>
    </dgm:pt>
    <dgm:pt modelId="{98FECB2F-1509-453A-BF7B-1BF373712408}" type="sibTrans" cxnId="{B67CCC9C-172E-44DC-92DE-D1953EF4B4B9}">
      <dgm:prSet/>
      <dgm:spPr/>
      <dgm:t>
        <a:bodyPr/>
        <a:lstStyle/>
        <a:p>
          <a:endParaRPr lang="zh-CN" altLang="en-US"/>
        </a:p>
      </dgm:t>
    </dgm:pt>
    <dgm:pt modelId="{101D45B3-185E-4D41-BF61-E13383809ECD}">
      <dgm:prSet phldrT="[文本]" custT="1"/>
      <dgm:spPr/>
      <dgm:t>
        <a:bodyPr/>
        <a:lstStyle/>
        <a:p>
          <a:r>
            <a:rPr lang="zh-CN" altLang="en-US" sz="4000" dirty="0" smtClean="0"/>
            <a:t>其他专业</a:t>
          </a:r>
          <a:endParaRPr lang="zh-CN" altLang="en-US" sz="4000" dirty="0"/>
        </a:p>
      </dgm:t>
    </dgm:pt>
    <dgm:pt modelId="{5F36A139-0E86-4CA0-A3C3-87DE9826E9B3}" type="parTrans" cxnId="{BBB17C95-4FB9-4F20-AA6B-DC45834D1C93}">
      <dgm:prSet/>
      <dgm:spPr/>
      <dgm:t>
        <a:bodyPr/>
        <a:lstStyle/>
        <a:p>
          <a:endParaRPr lang="zh-CN" altLang="en-US"/>
        </a:p>
      </dgm:t>
    </dgm:pt>
    <dgm:pt modelId="{243D403A-C17D-4485-8DF2-D20E253BF987}" type="sibTrans" cxnId="{BBB17C95-4FB9-4F20-AA6B-DC45834D1C93}">
      <dgm:prSet/>
      <dgm:spPr/>
      <dgm:t>
        <a:bodyPr/>
        <a:lstStyle/>
        <a:p>
          <a:endParaRPr lang="zh-CN" altLang="en-US"/>
        </a:p>
      </dgm:t>
    </dgm:pt>
    <dgm:pt modelId="{D42294DB-4F5B-42EF-90FD-BFEE51FC61CB}" type="pres">
      <dgm:prSet presAssocID="{27DBE9A6-BE55-4AC5-83C7-2A8EA6CDADAD}" presName="arrowDiagram" presStyleCnt="0">
        <dgm:presLayoutVars>
          <dgm:chMax val="5"/>
          <dgm:dir/>
          <dgm:resizeHandles val="exact"/>
        </dgm:presLayoutVars>
      </dgm:prSet>
      <dgm:spPr/>
    </dgm:pt>
    <dgm:pt modelId="{CD31C3F7-677F-4128-AD89-3B006EC4A3C4}" type="pres">
      <dgm:prSet presAssocID="{27DBE9A6-BE55-4AC5-83C7-2A8EA6CDADAD}" presName="arrow" presStyleLbl="bgShp" presStyleIdx="0" presStyleCnt="1"/>
      <dgm:spPr/>
    </dgm:pt>
    <dgm:pt modelId="{8267BD98-708C-4C68-B5E6-8FB6EDF815E5}" type="pres">
      <dgm:prSet presAssocID="{27DBE9A6-BE55-4AC5-83C7-2A8EA6CDADAD}" presName="arrowDiagram3" presStyleCnt="0"/>
      <dgm:spPr/>
    </dgm:pt>
    <dgm:pt modelId="{DD906F8F-CDD0-4D7D-B525-00CC745136CF}" type="pres">
      <dgm:prSet presAssocID="{CA2B94C2-70E2-4680-8021-7F066563A48F}" presName="bullet3a" presStyleLbl="node1" presStyleIdx="0" presStyleCnt="3"/>
      <dgm:spPr/>
    </dgm:pt>
    <dgm:pt modelId="{A17FABDF-B8E0-490C-A59A-7F31163B7C3D}" type="pres">
      <dgm:prSet presAssocID="{CA2B94C2-70E2-4680-8021-7F066563A48F}" presName="textBox3a" presStyleLbl="revTx" presStyleIdx="0" presStyleCnt="3">
        <dgm:presLayoutVars>
          <dgm:bulletEnabled val="1"/>
        </dgm:presLayoutVars>
      </dgm:prSet>
      <dgm:spPr/>
      <dgm:t>
        <a:bodyPr/>
        <a:lstStyle/>
        <a:p>
          <a:endParaRPr lang="zh-CN" altLang="en-US"/>
        </a:p>
      </dgm:t>
    </dgm:pt>
    <dgm:pt modelId="{C64AB898-1E97-450E-9E13-762A48FC84A6}" type="pres">
      <dgm:prSet presAssocID="{365B15FE-7702-4582-8BE0-D609D4D0E262}" presName="bullet3b" presStyleLbl="node1" presStyleIdx="1" presStyleCnt="3"/>
      <dgm:spPr/>
    </dgm:pt>
    <dgm:pt modelId="{F879C437-B3BE-4CE5-8F2F-51978503346A}" type="pres">
      <dgm:prSet presAssocID="{365B15FE-7702-4582-8BE0-D609D4D0E262}" presName="textBox3b" presStyleLbl="revTx" presStyleIdx="1" presStyleCnt="3">
        <dgm:presLayoutVars>
          <dgm:bulletEnabled val="1"/>
        </dgm:presLayoutVars>
      </dgm:prSet>
      <dgm:spPr/>
      <dgm:t>
        <a:bodyPr/>
        <a:lstStyle/>
        <a:p>
          <a:endParaRPr lang="zh-CN" altLang="en-US"/>
        </a:p>
      </dgm:t>
    </dgm:pt>
    <dgm:pt modelId="{C4C321A8-CB30-4525-8E18-4001EB56C2BD}" type="pres">
      <dgm:prSet presAssocID="{101D45B3-185E-4D41-BF61-E13383809ECD}" presName="bullet3c" presStyleLbl="node1" presStyleIdx="2" presStyleCnt="3"/>
      <dgm:spPr/>
    </dgm:pt>
    <dgm:pt modelId="{61728D37-6858-4022-8006-5EACE42613C2}" type="pres">
      <dgm:prSet presAssocID="{101D45B3-185E-4D41-BF61-E13383809ECD}" presName="textBox3c" presStyleLbl="revTx" presStyleIdx="2" presStyleCnt="3" custScaleX="124204">
        <dgm:presLayoutVars>
          <dgm:bulletEnabled val="1"/>
        </dgm:presLayoutVars>
      </dgm:prSet>
      <dgm:spPr/>
      <dgm:t>
        <a:bodyPr/>
        <a:lstStyle/>
        <a:p>
          <a:endParaRPr lang="zh-CN" altLang="en-US"/>
        </a:p>
      </dgm:t>
    </dgm:pt>
  </dgm:ptLst>
  <dgm:cxnLst>
    <dgm:cxn modelId="{BBB17C95-4FB9-4F20-AA6B-DC45834D1C93}" srcId="{27DBE9A6-BE55-4AC5-83C7-2A8EA6CDADAD}" destId="{101D45B3-185E-4D41-BF61-E13383809ECD}" srcOrd="2" destOrd="0" parTransId="{5F36A139-0E86-4CA0-A3C3-87DE9826E9B3}" sibTransId="{243D403A-C17D-4485-8DF2-D20E253BF987}"/>
    <dgm:cxn modelId="{CFDB96C3-8F90-4658-B0C3-923772363B9B}" srcId="{27DBE9A6-BE55-4AC5-83C7-2A8EA6CDADAD}" destId="{CA2B94C2-70E2-4680-8021-7F066563A48F}" srcOrd="0" destOrd="0" parTransId="{75236272-71BE-4A8D-A5CD-2F03D010FCE9}" sibTransId="{177F1AE4-2ECF-4093-AD73-F9A1DAA795A1}"/>
    <dgm:cxn modelId="{D4AD5A2E-4F9C-44AB-91F4-B4C11E40844D}" type="presOf" srcId="{27DBE9A6-BE55-4AC5-83C7-2A8EA6CDADAD}" destId="{D42294DB-4F5B-42EF-90FD-BFEE51FC61CB}" srcOrd="0" destOrd="0" presId="urn:microsoft.com/office/officeart/2005/8/layout/arrow2"/>
    <dgm:cxn modelId="{27428FBC-B40B-41AE-AA01-BA79258AF516}" type="presOf" srcId="{CA2B94C2-70E2-4680-8021-7F066563A48F}" destId="{A17FABDF-B8E0-490C-A59A-7F31163B7C3D}" srcOrd="0" destOrd="0" presId="urn:microsoft.com/office/officeart/2005/8/layout/arrow2"/>
    <dgm:cxn modelId="{B67CCC9C-172E-44DC-92DE-D1953EF4B4B9}" srcId="{27DBE9A6-BE55-4AC5-83C7-2A8EA6CDADAD}" destId="{365B15FE-7702-4582-8BE0-D609D4D0E262}" srcOrd="1" destOrd="0" parTransId="{E53F41EB-2E19-40DB-9CF6-40CCB2A87055}" sibTransId="{98FECB2F-1509-453A-BF7B-1BF373712408}"/>
    <dgm:cxn modelId="{1D5FC9F8-A1DA-48C2-9785-D0E029FAAFBA}" type="presOf" srcId="{101D45B3-185E-4D41-BF61-E13383809ECD}" destId="{61728D37-6858-4022-8006-5EACE42613C2}" srcOrd="0" destOrd="0" presId="urn:microsoft.com/office/officeart/2005/8/layout/arrow2"/>
    <dgm:cxn modelId="{15E7D536-D1CE-4170-840D-ED220BAA4672}" type="presOf" srcId="{365B15FE-7702-4582-8BE0-D609D4D0E262}" destId="{F879C437-B3BE-4CE5-8F2F-51978503346A}" srcOrd="0" destOrd="0" presId="urn:microsoft.com/office/officeart/2005/8/layout/arrow2"/>
    <dgm:cxn modelId="{C6FD54C7-D0BA-45FC-BAD3-7F875BE4EAC4}" type="presParOf" srcId="{D42294DB-4F5B-42EF-90FD-BFEE51FC61CB}" destId="{CD31C3F7-677F-4128-AD89-3B006EC4A3C4}" srcOrd="0" destOrd="0" presId="urn:microsoft.com/office/officeart/2005/8/layout/arrow2"/>
    <dgm:cxn modelId="{DDEE38E5-5CD2-4AA2-8CA8-103D8D3521B2}" type="presParOf" srcId="{D42294DB-4F5B-42EF-90FD-BFEE51FC61CB}" destId="{8267BD98-708C-4C68-B5E6-8FB6EDF815E5}" srcOrd="1" destOrd="0" presId="urn:microsoft.com/office/officeart/2005/8/layout/arrow2"/>
    <dgm:cxn modelId="{AF51E272-C277-4380-8CDC-C9B8587D6687}" type="presParOf" srcId="{8267BD98-708C-4C68-B5E6-8FB6EDF815E5}" destId="{DD906F8F-CDD0-4D7D-B525-00CC745136CF}" srcOrd="0" destOrd="0" presId="urn:microsoft.com/office/officeart/2005/8/layout/arrow2"/>
    <dgm:cxn modelId="{E0C9B4AD-1DDC-4E28-8229-9EDAACF39DB0}" type="presParOf" srcId="{8267BD98-708C-4C68-B5E6-8FB6EDF815E5}" destId="{A17FABDF-B8E0-490C-A59A-7F31163B7C3D}" srcOrd="1" destOrd="0" presId="urn:microsoft.com/office/officeart/2005/8/layout/arrow2"/>
    <dgm:cxn modelId="{B4BBA3D6-BF43-4FC3-8E14-3B51A283095B}" type="presParOf" srcId="{8267BD98-708C-4C68-B5E6-8FB6EDF815E5}" destId="{C64AB898-1E97-450E-9E13-762A48FC84A6}" srcOrd="2" destOrd="0" presId="urn:microsoft.com/office/officeart/2005/8/layout/arrow2"/>
    <dgm:cxn modelId="{A2331698-6E09-4ACE-A636-96D30F6441A7}" type="presParOf" srcId="{8267BD98-708C-4C68-B5E6-8FB6EDF815E5}" destId="{F879C437-B3BE-4CE5-8F2F-51978503346A}" srcOrd="3" destOrd="0" presId="urn:microsoft.com/office/officeart/2005/8/layout/arrow2"/>
    <dgm:cxn modelId="{EA284139-0E98-4334-AFA6-E337C94AAC3F}" type="presParOf" srcId="{8267BD98-708C-4C68-B5E6-8FB6EDF815E5}" destId="{C4C321A8-CB30-4525-8E18-4001EB56C2BD}" srcOrd="4" destOrd="0" presId="urn:microsoft.com/office/officeart/2005/8/layout/arrow2"/>
    <dgm:cxn modelId="{0C03759E-CBDF-4C4D-8FD5-5EEA9199FAE1}" type="presParOf" srcId="{8267BD98-708C-4C68-B5E6-8FB6EDF815E5}" destId="{61728D37-6858-4022-8006-5EACE42613C2}" srcOrd="5"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2B21511-2535-4A12-AB5D-A1D90E4FD3AE}" type="doc">
      <dgm:prSet loTypeId="urn:microsoft.com/office/officeart/2005/8/layout/hProcess4" loCatId="process" qsTypeId="urn:microsoft.com/office/officeart/2005/8/quickstyle/simple1" qsCatId="simple" csTypeId="urn:microsoft.com/office/officeart/2005/8/colors/colorful1#1" csCatId="colorful" phldr="1"/>
      <dgm:spPr/>
      <dgm:t>
        <a:bodyPr/>
        <a:lstStyle/>
        <a:p>
          <a:endParaRPr lang="zh-CN" altLang="en-US"/>
        </a:p>
      </dgm:t>
    </dgm:pt>
    <dgm:pt modelId="{3B93AB6D-3AE3-4334-80DD-D4D85F749D1A}">
      <dgm:prSet phldrT="[文本]" custT="1"/>
      <dgm:spPr/>
      <dgm:t>
        <a:bodyPr/>
        <a:lstStyle/>
        <a:p>
          <a:r>
            <a:rPr lang="zh-CN" altLang="en-US" sz="2800" dirty="0" smtClean="0"/>
            <a:t>感知系统的搭建</a:t>
          </a:r>
          <a:endParaRPr lang="zh-CN" altLang="en-US" sz="2800" dirty="0"/>
        </a:p>
      </dgm:t>
    </dgm:pt>
    <dgm:pt modelId="{702FC61B-6AD5-4311-A9B8-B61A5FDCC43D}" type="parTrans" cxnId="{E1060AE8-463E-489F-BB36-A547A09FFBC8}">
      <dgm:prSet/>
      <dgm:spPr/>
      <dgm:t>
        <a:bodyPr/>
        <a:lstStyle/>
        <a:p>
          <a:endParaRPr lang="zh-CN" altLang="en-US" sz="2000"/>
        </a:p>
      </dgm:t>
    </dgm:pt>
    <dgm:pt modelId="{6F8A45A0-E0C4-4DEC-B4D3-2637F0862F3C}" type="sibTrans" cxnId="{E1060AE8-463E-489F-BB36-A547A09FFBC8}">
      <dgm:prSet/>
      <dgm:spPr/>
      <dgm:t>
        <a:bodyPr/>
        <a:lstStyle/>
        <a:p>
          <a:endParaRPr lang="zh-CN" altLang="en-US" sz="2000"/>
        </a:p>
      </dgm:t>
    </dgm:pt>
    <dgm:pt modelId="{40CC1F90-2ACC-4CA8-89F4-1328C1F26AC2}">
      <dgm:prSet phldrT="[文本]" custT="1"/>
      <dgm:spPr/>
      <dgm:t>
        <a:bodyPr/>
        <a:lstStyle/>
        <a:p>
          <a:r>
            <a:rPr lang="zh-CN" altLang="en-US" sz="2000" dirty="0" smtClean="0"/>
            <a:t>数据需求的分析</a:t>
          </a:r>
          <a:endParaRPr lang="zh-CN" altLang="en-US" sz="2000" dirty="0"/>
        </a:p>
      </dgm:t>
    </dgm:pt>
    <dgm:pt modelId="{BBE1B7FC-55DD-414F-865B-2A59EEEF2322}" type="parTrans" cxnId="{E9B6D7A5-9F9B-4710-9D5A-5AB6923115F8}">
      <dgm:prSet/>
      <dgm:spPr/>
      <dgm:t>
        <a:bodyPr/>
        <a:lstStyle/>
        <a:p>
          <a:endParaRPr lang="zh-CN" altLang="en-US" sz="2000"/>
        </a:p>
      </dgm:t>
    </dgm:pt>
    <dgm:pt modelId="{04CB4B02-4B27-4FA8-9DC1-F4F2EAA8FEE3}" type="sibTrans" cxnId="{E9B6D7A5-9F9B-4710-9D5A-5AB6923115F8}">
      <dgm:prSet/>
      <dgm:spPr/>
      <dgm:t>
        <a:bodyPr/>
        <a:lstStyle/>
        <a:p>
          <a:endParaRPr lang="zh-CN" altLang="en-US" sz="2000"/>
        </a:p>
      </dgm:t>
    </dgm:pt>
    <dgm:pt modelId="{E7B6FB9B-B90B-46E1-BC70-C6F66A73F77E}">
      <dgm:prSet phldrT="[文本]" custT="1"/>
      <dgm:spPr/>
      <dgm:t>
        <a:bodyPr/>
        <a:lstStyle/>
        <a:p>
          <a:r>
            <a:rPr lang="zh-CN" altLang="en-US" sz="2000" dirty="0" smtClean="0"/>
            <a:t>采集方式的分析</a:t>
          </a:r>
          <a:endParaRPr lang="zh-CN" altLang="en-US" sz="2000" dirty="0"/>
        </a:p>
      </dgm:t>
    </dgm:pt>
    <dgm:pt modelId="{FD9218C1-6BF5-46BA-A883-6FDF7A3890A0}" type="parTrans" cxnId="{94DF71F4-59D1-453D-B539-BFB56CAC0873}">
      <dgm:prSet/>
      <dgm:spPr/>
      <dgm:t>
        <a:bodyPr/>
        <a:lstStyle/>
        <a:p>
          <a:endParaRPr lang="zh-CN" altLang="en-US" sz="2000"/>
        </a:p>
      </dgm:t>
    </dgm:pt>
    <dgm:pt modelId="{89210845-62F1-4F13-9D9E-7AEA458C66C2}" type="sibTrans" cxnId="{94DF71F4-59D1-453D-B539-BFB56CAC0873}">
      <dgm:prSet/>
      <dgm:spPr/>
      <dgm:t>
        <a:bodyPr/>
        <a:lstStyle/>
        <a:p>
          <a:endParaRPr lang="zh-CN" altLang="en-US" sz="2000"/>
        </a:p>
      </dgm:t>
    </dgm:pt>
    <dgm:pt modelId="{C8C3EB5B-D857-4E96-ADE0-EDCF5D6177D4}">
      <dgm:prSet phldrT="[文本]" custT="1"/>
      <dgm:spPr/>
      <dgm:t>
        <a:bodyPr/>
        <a:lstStyle/>
        <a:p>
          <a:r>
            <a:rPr lang="zh-CN" altLang="en-US" sz="2800" dirty="0" smtClean="0"/>
            <a:t>自动运维的完善</a:t>
          </a:r>
          <a:endParaRPr lang="zh-CN" altLang="en-US" sz="2800" dirty="0"/>
        </a:p>
      </dgm:t>
    </dgm:pt>
    <dgm:pt modelId="{0807A18D-81B2-4063-8285-6F10D96F9401}" type="parTrans" cxnId="{64159C73-5689-43AA-95DD-56468626DDA3}">
      <dgm:prSet/>
      <dgm:spPr/>
      <dgm:t>
        <a:bodyPr/>
        <a:lstStyle/>
        <a:p>
          <a:endParaRPr lang="zh-CN" altLang="en-US" sz="2000"/>
        </a:p>
      </dgm:t>
    </dgm:pt>
    <dgm:pt modelId="{341EF6D9-EDC4-47B6-8B94-C9CAED33A382}" type="sibTrans" cxnId="{64159C73-5689-43AA-95DD-56468626DDA3}">
      <dgm:prSet/>
      <dgm:spPr/>
      <dgm:t>
        <a:bodyPr/>
        <a:lstStyle/>
        <a:p>
          <a:endParaRPr lang="zh-CN" altLang="en-US" sz="2000"/>
        </a:p>
      </dgm:t>
    </dgm:pt>
    <dgm:pt modelId="{2BF7E487-1310-41C4-8489-48E5CF2756E6}">
      <dgm:prSet phldrT="[文本]" custT="1"/>
      <dgm:spPr/>
      <dgm:t>
        <a:bodyPr/>
        <a:lstStyle/>
        <a:p>
          <a:r>
            <a:rPr lang="zh-CN" altLang="en-US" sz="2000" dirty="0" smtClean="0"/>
            <a:t>应用需求的分析</a:t>
          </a:r>
          <a:endParaRPr lang="zh-CN" altLang="en-US" sz="2000" dirty="0"/>
        </a:p>
      </dgm:t>
    </dgm:pt>
    <dgm:pt modelId="{2FD989D6-E288-49DF-85EF-C56A0F7635B4}" type="parTrans" cxnId="{07EC7413-6B64-4F1E-8AC5-0F218AEEE3A0}">
      <dgm:prSet/>
      <dgm:spPr/>
      <dgm:t>
        <a:bodyPr/>
        <a:lstStyle/>
        <a:p>
          <a:endParaRPr lang="zh-CN" altLang="en-US" sz="2000"/>
        </a:p>
      </dgm:t>
    </dgm:pt>
    <dgm:pt modelId="{C373D5E9-7AC6-4817-BD12-BDEF62ED3BFE}" type="sibTrans" cxnId="{07EC7413-6B64-4F1E-8AC5-0F218AEEE3A0}">
      <dgm:prSet/>
      <dgm:spPr/>
      <dgm:t>
        <a:bodyPr/>
        <a:lstStyle/>
        <a:p>
          <a:endParaRPr lang="zh-CN" altLang="en-US" sz="2000"/>
        </a:p>
      </dgm:t>
    </dgm:pt>
    <dgm:pt modelId="{E24B6560-7F84-4061-9272-7BE0A1847F51}">
      <dgm:prSet phldrT="[文本]" custT="1"/>
      <dgm:spPr/>
      <dgm:t>
        <a:bodyPr/>
        <a:lstStyle/>
        <a:p>
          <a:r>
            <a:rPr lang="zh-CN" altLang="en-US" sz="2000" dirty="0" smtClean="0"/>
            <a:t>应用功能的设计</a:t>
          </a:r>
          <a:endParaRPr lang="zh-CN" altLang="en-US" sz="2000" dirty="0"/>
        </a:p>
      </dgm:t>
    </dgm:pt>
    <dgm:pt modelId="{F799BF58-C163-411E-B59D-60B98175CD3B}" type="parTrans" cxnId="{EF2814E6-374D-4481-9FC3-9D1469F2F60F}">
      <dgm:prSet/>
      <dgm:spPr/>
      <dgm:t>
        <a:bodyPr/>
        <a:lstStyle/>
        <a:p>
          <a:endParaRPr lang="zh-CN" altLang="en-US" sz="2000"/>
        </a:p>
      </dgm:t>
    </dgm:pt>
    <dgm:pt modelId="{5E552D0F-C644-46AD-8E7D-D631DB596F5E}" type="sibTrans" cxnId="{EF2814E6-374D-4481-9FC3-9D1469F2F60F}">
      <dgm:prSet/>
      <dgm:spPr/>
      <dgm:t>
        <a:bodyPr/>
        <a:lstStyle/>
        <a:p>
          <a:endParaRPr lang="zh-CN" altLang="en-US" sz="2000"/>
        </a:p>
      </dgm:t>
    </dgm:pt>
    <dgm:pt modelId="{1123C2BC-822F-4860-B9CE-5510551F71D3}">
      <dgm:prSet phldrT="[文本]" custT="1"/>
      <dgm:spPr/>
      <dgm:t>
        <a:bodyPr/>
        <a:lstStyle/>
        <a:p>
          <a:r>
            <a:rPr lang="zh-CN" altLang="en-US" sz="2800" dirty="0" smtClean="0"/>
            <a:t>智慧运维的落地</a:t>
          </a:r>
          <a:endParaRPr lang="zh-CN" altLang="en-US" sz="2800" dirty="0"/>
        </a:p>
      </dgm:t>
    </dgm:pt>
    <dgm:pt modelId="{C405587F-5DA5-4B1C-BFED-A06F808E3F41}" type="parTrans" cxnId="{F2B82342-1B0D-46DA-AE88-E35710CD27AB}">
      <dgm:prSet/>
      <dgm:spPr/>
      <dgm:t>
        <a:bodyPr/>
        <a:lstStyle/>
        <a:p>
          <a:endParaRPr lang="zh-CN" altLang="en-US" sz="2000"/>
        </a:p>
      </dgm:t>
    </dgm:pt>
    <dgm:pt modelId="{CD441079-A093-4481-B51D-35E95180A369}" type="sibTrans" cxnId="{F2B82342-1B0D-46DA-AE88-E35710CD27AB}">
      <dgm:prSet/>
      <dgm:spPr/>
      <dgm:t>
        <a:bodyPr/>
        <a:lstStyle/>
        <a:p>
          <a:endParaRPr lang="zh-CN" altLang="en-US" sz="2000"/>
        </a:p>
      </dgm:t>
    </dgm:pt>
    <dgm:pt modelId="{3AF20A24-CD60-41F4-9A66-7EDCCD1CAAE7}">
      <dgm:prSet phldrT="[文本]" custT="1"/>
      <dgm:spPr/>
      <dgm:t>
        <a:bodyPr/>
        <a:lstStyle/>
        <a:p>
          <a:r>
            <a:rPr lang="zh-CN" altLang="en-US" sz="2000" dirty="0" smtClean="0"/>
            <a:t>合适任务的筛选</a:t>
          </a:r>
          <a:endParaRPr lang="zh-CN" altLang="en-US" sz="2000" dirty="0"/>
        </a:p>
      </dgm:t>
    </dgm:pt>
    <dgm:pt modelId="{1D41F53F-B682-4E71-B987-6212C0B04A15}" type="parTrans" cxnId="{F48AA25A-32B4-414F-8281-2107244158A9}">
      <dgm:prSet/>
      <dgm:spPr/>
      <dgm:t>
        <a:bodyPr/>
        <a:lstStyle/>
        <a:p>
          <a:endParaRPr lang="zh-CN" altLang="en-US" sz="2000"/>
        </a:p>
      </dgm:t>
    </dgm:pt>
    <dgm:pt modelId="{F84049BB-A393-48DA-AE74-8378B737A1AD}" type="sibTrans" cxnId="{F48AA25A-32B4-414F-8281-2107244158A9}">
      <dgm:prSet/>
      <dgm:spPr/>
      <dgm:t>
        <a:bodyPr/>
        <a:lstStyle/>
        <a:p>
          <a:endParaRPr lang="zh-CN" altLang="en-US" sz="2000"/>
        </a:p>
      </dgm:t>
    </dgm:pt>
    <dgm:pt modelId="{ED3881F0-C00B-4839-AA44-DB8D1685592F}">
      <dgm:prSet phldrT="[文本]" custT="1"/>
      <dgm:spPr/>
      <dgm:t>
        <a:bodyPr/>
        <a:lstStyle/>
        <a:p>
          <a:r>
            <a:rPr lang="zh-CN" altLang="en-US" sz="2000" dirty="0" smtClean="0"/>
            <a:t>离线训练</a:t>
          </a:r>
          <a:endParaRPr lang="zh-CN" altLang="en-US" sz="2000" dirty="0"/>
        </a:p>
      </dgm:t>
    </dgm:pt>
    <dgm:pt modelId="{0F66465F-AD08-4F4E-8571-8795BF7D90F8}" type="parTrans" cxnId="{4AF7B3B9-051E-45D1-A1C9-54B86DD62771}">
      <dgm:prSet/>
      <dgm:spPr/>
      <dgm:t>
        <a:bodyPr/>
        <a:lstStyle/>
        <a:p>
          <a:endParaRPr lang="zh-CN" altLang="en-US" sz="2000"/>
        </a:p>
      </dgm:t>
    </dgm:pt>
    <dgm:pt modelId="{F7166BA7-FD4B-44F2-8D2C-CB54248FEB34}" type="sibTrans" cxnId="{4AF7B3B9-051E-45D1-A1C9-54B86DD62771}">
      <dgm:prSet/>
      <dgm:spPr/>
      <dgm:t>
        <a:bodyPr/>
        <a:lstStyle/>
        <a:p>
          <a:endParaRPr lang="zh-CN" altLang="en-US" sz="2000"/>
        </a:p>
      </dgm:t>
    </dgm:pt>
    <dgm:pt modelId="{AB8C2496-374F-4049-BB4A-90097394694A}">
      <dgm:prSet phldrT="[文本]" custT="1"/>
      <dgm:spPr/>
      <dgm:t>
        <a:bodyPr/>
        <a:lstStyle/>
        <a:p>
          <a:r>
            <a:rPr lang="zh-CN" altLang="en-US" sz="2000" dirty="0" smtClean="0"/>
            <a:t>数据库的设计</a:t>
          </a:r>
          <a:endParaRPr lang="zh-CN" altLang="en-US" sz="2000" dirty="0"/>
        </a:p>
      </dgm:t>
    </dgm:pt>
    <dgm:pt modelId="{76117C21-C3CB-4088-859B-5D2567E4E59A}" type="parTrans" cxnId="{88D98B82-1B62-49E2-9652-41635E80EFF8}">
      <dgm:prSet/>
      <dgm:spPr/>
      <dgm:t>
        <a:bodyPr/>
        <a:lstStyle/>
        <a:p>
          <a:endParaRPr lang="zh-CN" altLang="en-US"/>
        </a:p>
      </dgm:t>
    </dgm:pt>
    <dgm:pt modelId="{1D87F877-97A0-45FF-A7FF-0243860866C0}" type="sibTrans" cxnId="{88D98B82-1B62-49E2-9652-41635E80EFF8}">
      <dgm:prSet/>
      <dgm:spPr/>
      <dgm:t>
        <a:bodyPr/>
        <a:lstStyle/>
        <a:p>
          <a:endParaRPr lang="zh-CN" altLang="en-US"/>
        </a:p>
      </dgm:t>
    </dgm:pt>
    <dgm:pt modelId="{63D2550C-6674-45AB-9F56-A1285EC11178}">
      <dgm:prSet phldrT="[文本]" custT="1"/>
      <dgm:spPr/>
      <dgm:t>
        <a:bodyPr/>
        <a:lstStyle/>
        <a:p>
          <a:r>
            <a:rPr lang="zh-CN" altLang="en-US" sz="2000" dirty="0" smtClean="0"/>
            <a:t>采集系统的搭建</a:t>
          </a:r>
          <a:endParaRPr lang="zh-CN" altLang="en-US" sz="2000" dirty="0"/>
        </a:p>
      </dgm:t>
    </dgm:pt>
    <dgm:pt modelId="{77A36937-9F53-48CD-8B13-ED21E8913984}" type="parTrans" cxnId="{E86EE1CF-7C20-40D3-BD86-1AA8A1CB2A05}">
      <dgm:prSet/>
      <dgm:spPr/>
      <dgm:t>
        <a:bodyPr/>
        <a:lstStyle/>
        <a:p>
          <a:endParaRPr lang="zh-CN" altLang="en-US"/>
        </a:p>
      </dgm:t>
    </dgm:pt>
    <dgm:pt modelId="{059AF070-02A4-4D39-8352-056C7F4D494A}" type="sibTrans" cxnId="{E86EE1CF-7C20-40D3-BD86-1AA8A1CB2A05}">
      <dgm:prSet/>
      <dgm:spPr/>
      <dgm:t>
        <a:bodyPr/>
        <a:lstStyle/>
        <a:p>
          <a:endParaRPr lang="zh-CN" altLang="en-US"/>
        </a:p>
      </dgm:t>
    </dgm:pt>
    <dgm:pt modelId="{CE0FE976-AD9D-49E8-9CEF-386CE8DF66FD}">
      <dgm:prSet phldrT="[文本]" custT="1"/>
      <dgm:spPr/>
      <dgm:t>
        <a:bodyPr/>
        <a:lstStyle/>
        <a:p>
          <a:r>
            <a:rPr lang="zh-CN" altLang="en-US" sz="2000" dirty="0" smtClean="0"/>
            <a:t>数据库的实施</a:t>
          </a:r>
          <a:endParaRPr lang="zh-CN" altLang="en-US" sz="2000" dirty="0"/>
        </a:p>
      </dgm:t>
    </dgm:pt>
    <dgm:pt modelId="{7550680D-268F-4616-BCA0-48AA55299D9B}" type="parTrans" cxnId="{3EEDE2FF-2A8A-46C2-A96C-8CE8101C2D61}">
      <dgm:prSet/>
      <dgm:spPr/>
      <dgm:t>
        <a:bodyPr/>
        <a:lstStyle/>
        <a:p>
          <a:endParaRPr lang="zh-CN" altLang="en-US"/>
        </a:p>
      </dgm:t>
    </dgm:pt>
    <dgm:pt modelId="{AF882FA4-06B3-4505-96DB-4E6788B508C0}" type="sibTrans" cxnId="{3EEDE2FF-2A8A-46C2-A96C-8CE8101C2D61}">
      <dgm:prSet/>
      <dgm:spPr/>
      <dgm:t>
        <a:bodyPr/>
        <a:lstStyle/>
        <a:p>
          <a:endParaRPr lang="zh-CN" altLang="en-US"/>
        </a:p>
      </dgm:t>
    </dgm:pt>
    <dgm:pt modelId="{70F6BF96-6A79-4BE4-BD77-CFB2D9ED7F81}">
      <dgm:prSet phldrT="[文本]" custT="1"/>
      <dgm:spPr/>
      <dgm:t>
        <a:bodyPr/>
        <a:lstStyle/>
        <a:p>
          <a:r>
            <a:rPr lang="zh-CN" altLang="en-US" sz="2000" dirty="0" smtClean="0"/>
            <a:t>系统功能的设计</a:t>
          </a:r>
          <a:endParaRPr lang="zh-CN" altLang="en-US" sz="2000" dirty="0"/>
        </a:p>
      </dgm:t>
    </dgm:pt>
    <dgm:pt modelId="{60DC1C05-30E3-4FD9-A606-11BDDFED8733}" type="parTrans" cxnId="{E856E5A5-71CE-4C9C-8959-30B9EF4DF123}">
      <dgm:prSet/>
      <dgm:spPr/>
      <dgm:t>
        <a:bodyPr/>
        <a:lstStyle/>
        <a:p>
          <a:endParaRPr lang="zh-CN" altLang="en-US"/>
        </a:p>
      </dgm:t>
    </dgm:pt>
    <dgm:pt modelId="{CD97F75A-0869-421F-B629-28DA74B109E6}" type="sibTrans" cxnId="{E856E5A5-71CE-4C9C-8959-30B9EF4DF123}">
      <dgm:prSet/>
      <dgm:spPr/>
      <dgm:t>
        <a:bodyPr/>
        <a:lstStyle/>
        <a:p>
          <a:endParaRPr lang="zh-CN" altLang="en-US"/>
        </a:p>
      </dgm:t>
    </dgm:pt>
    <dgm:pt modelId="{51C61378-988B-4C9C-8472-72E62203E19A}">
      <dgm:prSet phldrT="[文本]" custT="1"/>
      <dgm:spPr/>
      <dgm:t>
        <a:bodyPr/>
        <a:lstStyle/>
        <a:p>
          <a:r>
            <a:rPr lang="zh-CN" altLang="en-US" sz="2000" dirty="0" smtClean="0"/>
            <a:t>系统功能的开发</a:t>
          </a:r>
          <a:endParaRPr lang="zh-CN" altLang="en-US" sz="2000" dirty="0"/>
        </a:p>
      </dgm:t>
    </dgm:pt>
    <dgm:pt modelId="{7F33ADD9-D127-421B-9940-6A61FF368478}" type="parTrans" cxnId="{3A4D32E7-8C97-4F3C-B27D-B0BF716D7857}">
      <dgm:prSet/>
      <dgm:spPr/>
      <dgm:t>
        <a:bodyPr/>
        <a:lstStyle/>
        <a:p>
          <a:endParaRPr lang="zh-CN" altLang="en-US"/>
        </a:p>
      </dgm:t>
    </dgm:pt>
    <dgm:pt modelId="{CE905886-8784-45EB-B077-947B75378392}" type="sibTrans" cxnId="{3A4D32E7-8C97-4F3C-B27D-B0BF716D7857}">
      <dgm:prSet/>
      <dgm:spPr/>
      <dgm:t>
        <a:bodyPr/>
        <a:lstStyle/>
        <a:p>
          <a:endParaRPr lang="zh-CN" altLang="en-US"/>
        </a:p>
      </dgm:t>
    </dgm:pt>
    <dgm:pt modelId="{5657ED42-7681-491C-8814-AA2FE13C065E}">
      <dgm:prSet phldrT="[文本]" custT="1"/>
      <dgm:spPr/>
      <dgm:t>
        <a:bodyPr/>
        <a:lstStyle/>
        <a:p>
          <a:r>
            <a:rPr lang="zh-CN" altLang="en-US" sz="2000" dirty="0" smtClean="0"/>
            <a:t>上线使用</a:t>
          </a:r>
          <a:endParaRPr lang="zh-CN" altLang="en-US" sz="2000" dirty="0"/>
        </a:p>
      </dgm:t>
    </dgm:pt>
    <dgm:pt modelId="{863E959D-5DC6-438F-BC11-24ED8975162C}" type="parTrans" cxnId="{9DC60784-BBE3-4AC7-9163-8F03A1E31E61}">
      <dgm:prSet/>
      <dgm:spPr/>
      <dgm:t>
        <a:bodyPr/>
        <a:lstStyle/>
        <a:p>
          <a:endParaRPr lang="zh-CN" altLang="en-US"/>
        </a:p>
      </dgm:t>
    </dgm:pt>
    <dgm:pt modelId="{B70E088C-3E13-4660-B00E-662F2088618F}" type="sibTrans" cxnId="{9DC60784-BBE3-4AC7-9163-8F03A1E31E61}">
      <dgm:prSet/>
      <dgm:spPr/>
      <dgm:t>
        <a:bodyPr/>
        <a:lstStyle/>
        <a:p>
          <a:endParaRPr lang="zh-CN" altLang="en-US"/>
        </a:p>
      </dgm:t>
    </dgm:pt>
    <dgm:pt modelId="{3E5DEDFB-F377-41FD-B68F-6DBEA99AFFF5}">
      <dgm:prSet phldrT="[文本]" custT="1"/>
      <dgm:spPr/>
      <dgm:t>
        <a:bodyPr/>
        <a:lstStyle/>
        <a:p>
          <a:r>
            <a:rPr lang="zh-CN" altLang="en-US" sz="2000" dirty="0" smtClean="0"/>
            <a:t>智能机制的搭建</a:t>
          </a:r>
          <a:endParaRPr lang="zh-CN" altLang="en-US" sz="2000" dirty="0"/>
        </a:p>
      </dgm:t>
    </dgm:pt>
    <dgm:pt modelId="{9D6CDC69-A074-425B-A765-EC13121856D3}" type="parTrans" cxnId="{F001134E-5F01-472C-965C-8467C57A6D50}">
      <dgm:prSet/>
      <dgm:spPr/>
      <dgm:t>
        <a:bodyPr/>
        <a:lstStyle/>
        <a:p>
          <a:endParaRPr lang="zh-CN" altLang="en-US"/>
        </a:p>
      </dgm:t>
    </dgm:pt>
    <dgm:pt modelId="{BEB65329-7E0E-4361-BB4D-D46D2AC7CB02}" type="sibTrans" cxnId="{F001134E-5F01-472C-965C-8467C57A6D50}">
      <dgm:prSet/>
      <dgm:spPr/>
      <dgm:t>
        <a:bodyPr/>
        <a:lstStyle/>
        <a:p>
          <a:endParaRPr lang="zh-CN" altLang="en-US"/>
        </a:p>
      </dgm:t>
    </dgm:pt>
    <dgm:pt modelId="{BF5045C7-C0DA-4DEA-BD78-8A51E8905402}" type="pres">
      <dgm:prSet presAssocID="{D2B21511-2535-4A12-AB5D-A1D90E4FD3AE}" presName="Name0" presStyleCnt="0">
        <dgm:presLayoutVars>
          <dgm:dir/>
          <dgm:animLvl val="lvl"/>
          <dgm:resizeHandles val="exact"/>
        </dgm:presLayoutVars>
      </dgm:prSet>
      <dgm:spPr/>
      <dgm:t>
        <a:bodyPr/>
        <a:lstStyle/>
        <a:p>
          <a:endParaRPr lang="zh-CN" altLang="en-US"/>
        </a:p>
      </dgm:t>
    </dgm:pt>
    <dgm:pt modelId="{92C9CD45-114D-49D2-ABDB-7D66254FECD2}" type="pres">
      <dgm:prSet presAssocID="{D2B21511-2535-4A12-AB5D-A1D90E4FD3AE}" presName="tSp" presStyleCnt="0"/>
      <dgm:spPr/>
    </dgm:pt>
    <dgm:pt modelId="{488D2319-3691-487E-B7A2-079624663622}" type="pres">
      <dgm:prSet presAssocID="{D2B21511-2535-4A12-AB5D-A1D90E4FD3AE}" presName="bSp" presStyleCnt="0"/>
      <dgm:spPr/>
    </dgm:pt>
    <dgm:pt modelId="{9064D75A-3B7D-4AEB-BDF8-A4AC52B0E176}" type="pres">
      <dgm:prSet presAssocID="{D2B21511-2535-4A12-AB5D-A1D90E4FD3AE}" presName="process" presStyleCnt="0"/>
      <dgm:spPr/>
    </dgm:pt>
    <dgm:pt modelId="{939F7E02-C1F3-4752-B22C-9B403C88EE7F}" type="pres">
      <dgm:prSet presAssocID="{3B93AB6D-3AE3-4334-80DD-D4D85F749D1A}" presName="composite1" presStyleCnt="0"/>
      <dgm:spPr/>
    </dgm:pt>
    <dgm:pt modelId="{B17CCDE2-BC25-4780-9377-8400F9B062CA}" type="pres">
      <dgm:prSet presAssocID="{3B93AB6D-3AE3-4334-80DD-D4D85F749D1A}" presName="dummyNode1" presStyleLbl="node1" presStyleIdx="0" presStyleCnt="3"/>
      <dgm:spPr/>
    </dgm:pt>
    <dgm:pt modelId="{AA5B985D-B2EA-4969-B4A6-4331ED8FEE37}" type="pres">
      <dgm:prSet presAssocID="{3B93AB6D-3AE3-4334-80DD-D4D85F749D1A}" presName="childNode1" presStyleLbl="bgAcc1" presStyleIdx="0" presStyleCnt="3" custScaleY="109619">
        <dgm:presLayoutVars>
          <dgm:bulletEnabled val="1"/>
        </dgm:presLayoutVars>
      </dgm:prSet>
      <dgm:spPr/>
      <dgm:t>
        <a:bodyPr/>
        <a:lstStyle/>
        <a:p>
          <a:endParaRPr lang="zh-CN" altLang="en-US"/>
        </a:p>
      </dgm:t>
    </dgm:pt>
    <dgm:pt modelId="{B9595BA4-319D-498D-BAD7-A56898B15105}" type="pres">
      <dgm:prSet presAssocID="{3B93AB6D-3AE3-4334-80DD-D4D85F749D1A}" presName="childNode1tx" presStyleLbl="bgAcc1" presStyleIdx="0" presStyleCnt="3">
        <dgm:presLayoutVars>
          <dgm:bulletEnabled val="1"/>
        </dgm:presLayoutVars>
      </dgm:prSet>
      <dgm:spPr/>
      <dgm:t>
        <a:bodyPr/>
        <a:lstStyle/>
        <a:p>
          <a:endParaRPr lang="zh-CN" altLang="en-US"/>
        </a:p>
      </dgm:t>
    </dgm:pt>
    <dgm:pt modelId="{744C96FC-29A9-4ED5-A1F5-9836A0FCB55E}" type="pres">
      <dgm:prSet presAssocID="{3B93AB6D-3AE3-4334-80DD-D4D85F749D1A}" presName="parentNode1" presStyleLbl="node1" presStyleIdx="0" presStyleCnt="3" custScaleX="112820" custLinFactNeighborY="44928">
        <dgm:presLayoutVars>
          <dgm:chMax val="1"/>
          <dgm:bulletEnabled val="1"/>
        </dgm:presLayoutVars>
      </dgm:prSet>
      <dgm:spPr/>
      <dgm:t>
        <a:bodyPr/>
        <a:lstStyle/>
        <a:p>
          <a:endParaRPr lang="zh-CN" altLang="en-US"/>
        </a:p>
      </dgm:t>
    </dgm:pt>
    <dgm:pt modelId="{D290CD9B-58C5-45E6-B9D0-56A537A72B1A}" type="pres">
      <dgm:prSet presAssocID="{3B93AB6D-3AE3-4334-80DD-D4D85F749D1A}" presName="connSite1" presStyleCnt="0"/>
      <dgm:spPr/>
    </dgm:pt>
    <dgm:pt modelId="{7EBB6A7D-0193-4609-B39C-58A55402D728}" type="pres">
      <dgm:prSet presAssocID="{6F8A45A0-E0C4-4DEC-B4D3-2637F0862F3C}" presName="Name9" presStyleLbl="sibTrans2D1" presStyleIdx="0" presStyleCnt="2"/>
      <dgm:spPr/>
      <dgm:t>
        <a:bodyPr/>
        <a:lstStyle/>
        <a:p>
          <a:endParaRPr lang="zh-CN" altLang="en-US"/>
        </a:p>
      </dgm:t>
    </dgm:pt>
    <dgm:pt modelId="{0D95F135-7577-4DC3-BCB8-045BA46F5CCE}" type="pres">
      <dgm:prSet presAssocID="{C8C3EB5B-D857-4E96-ADE0-EDCF5D6177D4}" presName="composite2" presStyleCnt="0"/>
      <dgm:spPr/>
    </dgm:pt>
    <dgm:pt modelId="{0A6A8339-9236-4F3F-AFEC-E8C00CE6D98A}" type="pres">
      <dgm:prSet presAssocID="{C8C3EB5B-D857-4E96-ADE0-EDCF5D6177D4}" presName="dummyNode2" presStyleLbl="node1" presStyleIdx="0" presStyleCnt="3"/>
      <dgm:spPr/>
    </dgm:pt>
    <dgm:pt modelId="{D1EC8B25-F968-4F64-99C5-CC39C738CC3B}" type="pres">
      <dgm:prSet presAssocID="{C8C3EB5B-D857-4E96-ADE0-EDCF5D6177D4}" presName="childNode2" presStyleLbl="bgAcc1" presStyleIdx="1" presStyleCnt="3" custScaleY="109619">
        <dgm:presLayoutVars>
          <dgm:bulletEnabled val="1"/>
        </dgm:presLayoutVars>
      </dgm:prSet>
      <dgm:spPr/>
      <dgm:t>
        <a:bodyPr/>
        <a:lstStyle/>
        <a:p>
          <a:endParaRPr lang="zh-CN" altLang="en-US"/>
        </a:p>
      </dgm:t>
    </dgm:pt>
    <dgm:pt modelId="{EEF11A6A-4485-4C13-94E2-CDB785B47B8D}" type="pres">
      <dgm:prSet presAssocID="{C8C3EB5B-D857-4E96-ADE0-EDCF5D6177D4}" presName="childNode2tx" presStyleLbl="bgAcc1" presStyleIdx="1" presStyleCnt="3">
        <dgm:presLayoutVars>
          <dgm:bulletEnabled val="1"/>
        </dgm:presLayoutVars>
      </dgm:prSet>
      <dgm:spPr/>
      <dgm:t>
        <a:bodyPr/>
        <a:lstStyle/>
        <a:p>
          <a:endParaRPr lang="zh-CN" altLang="en-US"/>
        </a:p>
      </dgm:t>
    </dgm:pt>
    <dgm:pt modelId="{7D4CC2A7-46CE-4B8C-B6C4-1573388EBA43}" type="pres">
      <dgm:prSet presAssocID="{C8C3EB5B-D857-4E96-ADE0-EDCF5D6177D4}" presName="parentNode2" presStyleLbl="node1" presStyleIdx="1" presStyleCnt="3" custScaleX="113207" custLinFactNeighborY="-5184">
        <dgm:presLayoutVars>
          <dgm:chMax val="0"/>
          <dgm:bulletEnabled val="1"/>
        </dgm:presLayoutVars>
      </dgm:prSet>
      <dgm:spPr/>
      <dgm:t>
        <a:bodyPr/>
        <a:lstStyle/>
        <a:p>
          <a:endParaRPr lang="zh-CN" altLang="en-US"/>
        </a:p>
      </dgm:t>
    </dgm:pt>
    <dgm:pt modelId="{088407D1-4D8C-4F96-83EE-F6E3983977C6}" type="pres">
      <dgm:prSet presAssocID="{C8C3EB5B-D857-4E96-ADE0-EDCF5D6177D4}" presName="connSite2" presStyleCnt="0"/>
      <dgm:spPr/>
    </dgm:pt>
    <dgm:pt modelId="{D2F773CE-611A-4445-A9BB-A4471B31F0D9}" type="pres">
      <dgm:prSet presAssocID="{341EF6D9-EDC4-47B6-8B94-C9CAED33A382}" presName="Name18" presStyleLbl="sibTrans2D1" presStyleIdx="1" presStyleCnt="2"/>
      <dgm:spPr/>
      <dgm:t>
        <a:bodyPr/>
        <a:lstStyle/>
        <a:p>
          <a:endParaRPr lang="zh-CN" altLang="en-US"/>
        </a:p>
      </dgm:t>
    </dgm:pt>
    <dgm:pt modelId="{2D435C28-B0E2-487D-AF29-0E0D3DAC481F}" type="pres">
      <dgm:prSet presAssocID="{1123C2BC-822F-4860-B9CE-5510551F71D3}" presName="composite1" presStyleCnt="0"/>
      <dgm:spPr/>
    </dgm:pt>
    <dgm:pt modelId="{6FEB9C45-C67D-4606-8D53-A08FFC50A39E}" type="pres">
      <dgm:prSet presAssocID="{1123C2BC-822F-4860-B9CE-5510551F71D3}" presName="dummyNode1" presStyleLbl="node1" presStyleIdx="1" presStyleCnt="3"/>
      <dgm:spPr/>
    </dgm:pt>
    <dgm:pt modelId="{219E3BE6-2204-46B1-B34D-50955191B5BC}" type="pres">
      <dgm:prSet presAssocID="{1123C2BC-822F-4860-B9CE-5510551F71D3}" presName="childNode1" presStyleLbl="bgAcc1" presStyleIdx="2" presStyleCnt="3">
        <dgm:presLayoutVars>
          <dgm:bulletEnabled val="1"/>
        </dgm:presLayoutVars>
      </dgm:prSet>
      <dgm:spPr/>
      <dgm:t>
        <a:bodyPr/>
        <a:lstStyle/>
        <a:p>
          <a:endParaRPr lang="zh-CN" altLang="en-US"/>
        </a:p>
      </dgm:t>
    </dgm:pt>
    <dgm:pt modelId="{A5504548-E269-495F-8753-95F8ADDF1B0E}" type="pres">
      <dgm:prSet presAssocID="{1123C2BC-822F-4860-B9CE-5510551F71D3}" presName="childNode1tx" presStyleLbl="bgAcc1" presStyleIdx="2" presStyleCnt="3">
        <dgm:presLayoutVars>
          <dgm:bulletEnabled val="1"/>
        </dgm:presLayoutVars>
      </dgm:prSet>
      <dgm:spPr/>
      <dgm:t>
        <a:bodyPr/>
        <a:lstStyle/>
        <a:p>
          <a:endParaRPr lang="zh-CN" altLang="en-US"/>
        </a:p>
      </dgm:t>
    </dgm:pt>
    <dgm:pt modelId="{095B310D-7987-410D-A580-6F317075BB37}" type="pres">
      <dgm:prSet presAssocID="{1123C2BC-822F-4860-B9CE-5510551F71D3}" presName="parentNode1" presStyleLbl="node1" presStyleIdx="2" presStyleCnt="3" custScaleX="119277">
        <dgm:presLayoutVars>
          <dgm:chMax val="1"/>
          <dgm:bulletEnabled val="1"/>
        </dgm:presLayoutVars>
      </dgm:prSet>
      <dgm:spPr/>
      <dgm:t>
        <a:bodyPr/>
        <a:lstStyle/>
        <a:p>
          <a:endParaRPr lang="zh-CN" altLang="en-US"/>
        </a:p>
      </dgm:t>
    </dgm:pt>
    <dgm:pt modelId="{A5B138F9-4292-42B3-A472-5BED2C1303DB}" type="pres">
      <dgm:prSet presAssocID="{1123C2BC-822F-4860-B9CE-5510551F71D3}" presName="connSite1" presStyleCnt="0"/>
      <dgm:spPr/>
    </dgm:pt>
  </dgm:ptLst>
  <dgm:cxnLst>
    <dgm:cxn modelId="{2B825DB0-DA85-4CF0-A5BF-A9198AA03004}" type="presOf" srcId="{AB8C2496-374F-4049-BB4A-90097394694A}" destId="{B9595BA4-319D-498D-BAD7-A56898B15105}" srcOrd="1" destOrd="2" presId="urn:microsoft.com/office/officeart/2005/8/layout/hProcess4"/>
    <dgm:cxn modelId="{E514C26A-ABC2-4625-90CC-593F1E675FF3}" type="presOf" srcId="{CE0FE976-AD9D-49E8-9CEF-386CE8DF66FD}" destId="{B9595BA4-319D-498D-BAD7-A56898B15105}" srcOrd="1" destOrd="4" presId="urn:microsoft.com/office/officeart/2005/8/layout/hProcess4"/>
    <dgm:cxn modelId="{3A4D32E7-8C97-4F3C-B27D-B0BF716D7857}" srcId="{C8C3EB5B-D857-4E96-ADE0-EDCF5D6177D4}" destId="{51C61378-988B-4C9C-8472-72E62203E19A}" srcOrd="3" destOrd="0" parTransId="{7F33ADD9-D127-421B-9940-6A61FF368478}" sibTransId="{CE905886-8784-45EB-B077-947B75378392}"/>
    <dgm:cxn modelId="{E86EE1CF-7C20-40D3-BD86-1AA8A1CB2A05}" srcId="{3B93AB6D-3AE3-4334-80DD-D4D85F749D1A}" destId="{63D2550C-6674-45AB-9F56-A1285EC11178}" srcOrd="3" destOrd="0" parTransId="{77A36937-9F53-48CD-8B13-ED21E8913984}" sibTransId="{059AF070-02A4-4D39-8352-056C7F4D494A}"/>
    <dgm:cxn modelId="{1779EE9A-1969-4667-98C3-F18E4A46A10F}" type="presOf" srcId="{C8C3EB5B-D857-4E96-ADE0-EDCF5D6177D4}" destId="{7D4CC2A7-46CE-4B8C-B6C4-1573388EBA43}" srcOrd="0" destOrd="0" presId="urn:microsoft.com/office/officeart/2005/8/layout/hProcess4"/>
    <dgm:cxn modelId="{88D98B82-1B62-49E2-9652-41635E80EFF8}" srcId="{3B93AB6D-3AE3-4334-80DD-D4D85F749D1A}" destId="{AB8C2496-374F-4049-BB4A-90097394694A}" srcOrd="2" destOrd="0" parTransId="{76117C21-C3CB-4088-859B-5D2567E4E59A}" sibTransId="{1D87F877-97A0-45FF-A7FF-0243860866C0}"/>
    <dgm:cxn modelId="{9A201CF5-368C-47F0-A2D4-52FBD6709B2B}" type="presOf" srcId="{63D2550C-6674-45AB-9F56-A1285EC11178}" destId="{B9595BA4-319D-498D-BAD7-A56898B15105}" srcOrd="1" destOrd="3" presId="urn:microsoft.com/office/officeart/2005/8/layout/hProcess4"/>
    <dgm:cxn modelId="{706EFD8F-AA90-4637-864A-3477D85D90CD}" type="presOf" srcId="{3E5DEDFB-F377-41FD-B68F-6DBEA99AFFF5}" destId="{219E3BE6-2204-46B1-B34D-50955191B5BC}" srcOrd="0" destOrd="0" presId="urn:microsoft.com/office/officeart/2005/8/layout/hProcess4"/>
    <dgm:cxn modelId="{4409C09D-4198-47A9-910D-2642C3EFDE98}" type="presOf" srcId="{341EF6D9-EDC4-47B6-8B94-C9CAED33A382}" destId="{D2F773CE-611A-4445-A9BB-A4471B31F0D9}" srcOrd="0" destOrd="0" presId="urn:microsoft.com/office/officeart/2005/8/layout/hProcess4"/>
    <dgm:cxn modelId="{E9B6D7A5-9F9B-4710-9D5A-5AB6923115F8}" srcId="{3B93AB6D-3AE3-4334-80DD-D4D85F749D1A}" destId="{40CC1F90-2ACC-4CA8-89F4-1328C1F26AC2}" srcOrd="0" destOrd="0" parTransId="{BBE1B7FC-55DD-414F-865B-2A59EEEF2322}" sibTransId="{04CB4B02-4B27-4FA8-9DC1-F4F2EAA8FEE3}"/>
    <dgm:cxn modelId="{EC92D7C5-90A7-4E90-AB77-5167DED21D9D}" type="presOf" srcId="{5657ED42-7681-491C-8814-AA2FE13C065E}" destId="{219E3BE6-2204-46B1-B34D-50955191B5BC}" srcOrd="0" destOrd="3" presId="urn:microsoft.com/office/officeart/2005/8/layout/hProcess4"/>
    <dgm:cxn modelId="{FB51CF96-AD26-4AB9-9D02-851071A96C3D}" type="presOf" srcId="{70F6BF96-6A79-4BE4-BD77-CFB2D9ED7F81}" destId="{EEF11A6A-4485-4C13-94E2-CDB785B47B8D}" srcOrd="1" destOrd="2" presId="urn:microsoft.com/office/officeart/2005/8/layout/hProcess4"/>
    <dgm:cxn modelId="{07EC7413-6B64-4F1E-8AC5-0F218AEEE3A0}" srcId="{C8C3EB5B-D857-4E96-ADE0-EDCF5D6177D4}" destId="{2BF7E487-1310-41C4-8489-48E5CF2756E6}" srcOrd="0" destOrd="0" parTransId="{2FD989D6-E288-49DF-85EF-C56A0F7635B4}" sibTransId="{C373D5E9-7AC6-4817-BD12-BDEF62ED3BFE}"/>
    <dgm:cxn modelId="{8D6D4298-4BE8-4E0C-BB11-979463825B31}" type="presOf" srcId="{6F8A45A0-E0C4-4DEC-B4D3-2637F0862F3C}" destId="{7EBB6A7D-0193-4609-B39C-58A55402D728}" srcOrd="0" destOrd="0" presId="urn:microsoft.com/office/officeart/2005/8/layout/hProcess4"/>
    <dgm:cxn modelId="{4C0AAA9B-D3EC-43BF-8F2C-BB7D464B646B}" type="presOf" srcId="{E24B6560-7F84-4061-9272-7BE0A1847F51}" destId="{D1EC8B25-F968-4F64-99C5-CC39C738CC3B}" srcOrd="0" destOrd="1" presId="urn:microsoft.com/office/officeart/2005/8/layout/hProcess4"/>
    <dgm:cxn modelId="{F2B82342-1B0D-46DA-AE88-E35710CD27AB}" srcId="{D2B21511-2535-4A12-AB5D-A1D90E4FD3AE}" destId="{1123C2BC-822F-4860-B9CE-5510551F71D3}" srcOrd="2" destOrd="0" parTransId="{C405587F-5DA5-4B1C-BFED-A06F808E3F41}" sibTransId="{CD441079-A093-4481-B51D-35E95180A369}"/>
    <dgm:cxn modelId="{97C23F17-24E1-402D-963C-FF523325BD69}" type="presOf" srcId="{CE0FE976-AD9D-49E8-9CEF-386CE8DF66FD}" destId="{AA5B985D-B2EA-4969-B4A6-4331ED8FEE37}" srcOrd="0" destOrd="4" presId="urn:microsoft.com/office/officeart/2005/8/layout/hProcess4"/>
    <dgm:cxn modelId="{09B8BF86-1C40-48AE-AE8D-1443119B9BC9}" type="presOf" srcId="{E7B6FB9B-B90B-46E1-BC70-C6F66A73F77E}" destId="{AA5B985D-B2EA-4969-B4A6-4331ED8FEE37}" srcOrd="0" destOrd="1" presId="urn:microsoft.com/office/officeart/2005/8/layout/hProcess4"/>
    <dgm:cxn modelId="{6C298340-4E34-40B9-A5FE-32E08AAB50F9}" type="presOf" srcId="{51C61378-988B-4C9C-8472-72E62203E19A}" destId="{D1EC8B25-F968-4F64-99C5-CC39C738CC3B}" srcOrd="0" destOrd="3" presId="urn:microsoft.com/office/officeart/2005/8/layout/hProcess4"/>
    <dgm:cxn modelId="{F001134E-5F01-472C-965C-8467C57A6D50}" srcId="{1123C2BC-822F-4860-B9CE-5510551F71D3}" destId="{3E5DEDFB-F377-41FD-B68F-6DBEA99AFFF5}" srcOrd="0" destOrd="0" parTransId="{9D6CDC69-A074-425B-A765-EC13121856D3}" sibTransId="{BEB65329-7E0E-4361-BB4D-D46D2AC7CB02}"/>
    <dgm:cxn modelId="{EB101B97-2E36-4F04-9A09-532429887B66}" type="presOf" srcId="{3E5DEDFB-F377-41FD-B68F-6DBEA99AFFF5}" destId="{A5504548-E269-495F-8753-95F8ADDF1B0E}" srcOrd="1" destOrd="0" presId="urn:microsoft.com/office/officeart/2005/8/layout/hProcess4"/>
    <dgm:cxn modelId="{2BF82A52-208F-4217-B0A0-9EA8C358A5AA}" type="presOf" srcId="{1123C2BC-822F-4860-B9CE-5510551F71D3}" destId="{095B310D-7987-410D-A580-6F317075BB37}" srcOrd="0" destOrd="0" presId="urn:microsoft.com/office/officeart/2005/8/layout/hProcess4"/>
    <dgm:cxn modelId="{4AF7B3B9-051E-45D1-A1C9-54B86DD62771}" srcId="{1123C2BC-822F-4860-B9CE-5510551F71D3}" destId="{ED3881F0-C00B-4839-AA44-DB8D1685592F}" srcOrd="2" destOrd="0" parTransId="{0F66465F-AD08-4F4E-8571-8795BF7D90F8}" sibTransId="{F7166BA7-FD4B-44F2-8D2C-CB54248FEB34}"/>
    <dgm:cxn modelId="{96A5964D-7000-4F16-A09A-6433EF04BB93}" type="presOf" srcId="{D2B21511-2535-4A12-AB5D-A1D90E4FD3AE}" destId="{BF5045C7-C0DA-4DEA-BD78-8A51E8905402}" srcOrd="0" destOrd="0" presId="urn:microsoft.com/office/officeart/2005/8/layout/hProcess4"/>
    <dgm:cxn modelId="{E1060AE8-463E-489F-BB36-A547A09FFBC8}" srcId="{D2B21511-2535-4A12-AB5D-A1D90E4FD3AE}" destId="{3B93AB6D-3AE3-4334-80DD-D4D85F749D1A}" srcOrd="0" destOrd="0" parTransId="{702FC61B-6AD5-4311-A9B8-B61A5FDCC43D}" sibTransId="{6F8A45A0-E0C4-4DEC-B4D3-2637F0862F3C}"/>
    <dgm:cxn modelId="{214B6E2C-5E7D-4940-9149-3A188B33B1F2}" type="presOf" srcId="{2BF7E487-1310-41C4-8489-48E5CF2756E6}" destId="{EEF11A6A-4485-4C13-94E2-CDB785B47B8D}" srcOrd="1" destOrd="0" presId="urn:microsoft.com/office/officeart/2005/8/layout/hProcess4"/>
    <dgm:cxn modelId="{E856E5A5-71CE-4C9C-8959-30B9EF4DF123}" srcId="{C8C3EB5B-D857-4E96-ADE0-EDCF5D6177D4}" destId="{70F6BF96-6A79-4BE4-BD77-CFB2D9ED7F81}" srcOrd="2" destOrd="0" parTransId="{60DC1C05-30E3-4FD9-A606-11BDDFED8733}" sibTransId="{CD97F75A-0869-421F-B629-28DA74B109E6}"/>
    <dgm:cxn modelId="{B4C60BDD-F379-4025-9B14-FB53405901E4}" type="presOf" srcId="{5657ED42-7681-491C-8814-AA2FE13C065E}" destId="{A5504548-E269-495F-8753-95F8ADDF1B0E}" srcOrd="1" destOrd="3" presId="urn:microsoft.com/office/officeart/2005/8/layout/hProcess4"/>
    <dgm:cxn modelId="{64159C73-5689-43AA-95DD-56468626DDA3}" srcId="{D2B21511-2535-4A12-AB5D-A1D90E4FD3AE}" destId="{C8C3EB5B-D857-4E96-ADE0-EDCF5D6177D4}" srcOrd="1" destOrd="0" parTransId="{0807A18D-81B2-4063-8285-6F10D96F9401}" sibTransId="{341EF6D9-EDC4-47B6-8B94-C9CAED33A382}"/>
    <dgm:cxn modelId="{8F566F35-F740-4C0B-A4FC-A9106AA3B084}" type="presOf" srcId="{40CC1F90-2ACC-4CA8-89F4-1328C1F26AC2}" destId="{AA5B985D-B2EA-4969-B4A6-4331ED8FEE37}" srcOrd="0" destOrd="0" presId="urn:microsoft.com/office/officeart/2005/8/layout/hProcess4"/>
    <dgm:cxn modelId="{B2359DE2-3D9F-4ED0-8237-C69F62B1128C}" type="presOf" srcId="{ED3881F0-C00B-4839-AA44-DB8D1685592F}" destId="{219E3BE6-2204-46B1-B34D-50955191B5BC}" srcOrd="0" destOrd="2" presId="urn:microsoft.com/office/officeart/2005/8/layout/hProcess4"/>
    <dgm:cxn modelId="{EF2814E6-374D-4481-9FC3-9D1469F2F60F}" srcId="{C8C3EB5B-D857-4E96-ADE0-EDCF5D6177D4}" destId="{E24B6560-7F84-4061-9272-7BE0A1847F51}" srcOrd="1" destOrd="0" parTransId="{F799BF58-C163-411E-B59D-60B98175CD3B}" sibTransId="{5E552D0F-C644-46AD-8E7D-D631DB596F5E}"/>
    <dgm:cxn modelId="{B4ED3765-97DA-42BF-9BB4-4B1700AAD9E9}" type="presOf" srcId="{AB8C2496-374F-4049-BB4A-90097394694A}" destId="{AA5B985D-B2EA-4969-B4A6-4331ED8FEE37}" srcOrd="0" destOrd="2" presId="urn:microsoft.com/office/officeart/2005/8/layout/hProcess4"/>
    <dgm:cxn modelId="{B4A39D5E-FF36-45EB-82CC-6BF6E3EEF44C}" type="presOf" srcId="{ED3881F0-C00B-4839-AA44-DB8D1685592F}" destId="{A5504548-E269-495F-8753-95F8ADDF1B0E}" srcOrd="1" destOrd="2" presId="urn:microsoft.com/office/officeart/2005/8/layout/hProcess4"/>
    <dgm:cxn modelId="{D8192F24-B528-476E-A4C8-7012ABFB2DEB}" type="presOf" srcId="{2BF7E487-1310-41C4-8489-48E5CF2756E6}" destId="{D1EC8B25-F968-4F64-99C5-CC39C738CC3B}" srcOrd="0" destOrd="0" presId="urn:microsoft.com/office/officeart/2005/8/layout/hProcess4"/>
    <dgm:cxn modelId="{3EEDE2FF-2A8A-46C2-A96C-8CE8101C2D61}" srcId="{3B93AB6D-3AE3-4334-80DD-D4D85F749D1A}" destId="{CE0FE976-AD9D-49E8-9CEF-386CE8DF66FD}" srcOrd="4" destOrd="0" parTransId="{7550680D-268F-4616-BCA0-48AA55299D9B}" sibTransId="{AF882FA4-06B3-4505-96DB-4E6788B508C0}"/>
    <dgm:cxn modelId="{9DC60784-BBE3-4AC7-9163-8F03A1E31E61}" srcId="{1123C2BC-822F-4860-B9CE-5510551F71D3}" destId="{5657ED42-7681-491C-8814-AA2FE13C065E}" srcOrd="3" destOrd="0" parTransId="{863E959D-5DC6-438F-BC11-24ED8975162C}" sibTransId="{B70E088C-3E13-4660-B00E-662F2088618F}"/>
    <dgm:cxn modelId="{433A8271-C6FB-40E7-B62F-BE011FFAF40D}" type="presOf" srcId="{3B93AB6D-3AE3-4334-80DD-D4D85F749D1A}" destId="{744C96FC-29A9-4ED5-A1F5-9836A0FCB55E}" srcOrd="0" destOrd="0" presId="urn:microsoft.com/office/officeart/2005/8/layout/hProcess4"/>
    <dgm:cxn modelId="{F48AA25A-32B4-414F-8281-2107244158A9}" srcId="{1123C2BC-822F-4860-B9CE-5510551F71D3}" destId="{3AF20A24-CD60-41F4-9A66-7EDCCD1CAAE7}" srcOrd="1" destOrd="0" parTransId="{1D41F53F-B682-4E71-B987-6212C0B04A15}" sibTransId="{F84049BB-A393-48DA-AE74-8378B737A1AD}"/>
    <dgm:cxn modelId="{799B3BAC-C1CE-42B3-A221-3A40B0ADA948}" type="presOf" srcId="{40CC1F90-2ACC-4CA8-89F4-1328C1F26AC2}" destId="{B9595BA4-319D-498D-BAD7-A56898B15105}" srcOrd="1" destOrd="0" presId="urn:microsoft.com/office/officeart/2005/8/layout/hProcess4"/>
    <dgm:cxn modelId="{94DF71F4-59D1-453D-B539-BFB56CAC0873}" srcId="{3B93AB6D-3AE3-4334-80DD-D4D85F749D1A}" destId="{E7B6FB9B-B90B-46E1-BC70-C6F66A73F77E}" srcOrd="1" destOrd="0" parTransId="{FD9218C1-6BF5-46BA-A883-6FDF7A3890A0}" sibTransId="{89210845-62F1-4F13-9D9E-7AEA458C66C2}"/>
    <dgm:cxn modelId="{DDBCCE52-2C2F-4AF3-943D-2F78B3318E77}" type="presOf" srcId="{3AF20A24-CD60-41F4-9A66-7EDCCD1CAAE7}" destId="{219E3BE6-2204-46B1-B34D-50955191B5BC}" srcOrd="0" destOrd="1" presId="urn:microsoft.com/office/officeart/2005/8/layout/hProcess4"/>
    <dgm:cxn modelId="{E46F395A-6322-4889-9E9E-3894ECDF427B}" type="presOf" srcId="{63D2550C-6674-45AB-9F56-A1285EC11178}" destId="{AA5B985D-B2EA-4969-B4A6-4331ED8FEE37}" srcOrd="0" destOrd="3" presId="urn:microsoft.com/office/officeart/2005/8/layout/hProcess4"/>
    <dgm:cxn modelId="{91429B94-33AB-407B-92F1-656415E455E5}" type="presOf" srcId="{E7B6FB9B-B90B-46E1-BC70-C6F66A73F77E}" destId="{B9595BA4-319D-498D-BAD7-A56898B15105}" srcOrd="1" destOrd="1" presId="urn:microsoft.com/office/officeart/2005/8/layout/hProcess4"/>
    <dgm:cxn modelId="{5068E6EE-8F8D-405E-947B-9229C81C0AC9}" type="presOf" srcId="{E24B6560-7F84-4061-9272-7BE0A1847F51}" destId="{EEF11A6A-4485-4C13-94E2-CDB785B47B8D}" srcOrd="1" destOrd="1" presId="urn:microsoft.com/office/officeart/2005/8/layout/hProcess4"/>
    <dgm:cxn modelId="{8C401D5F-E6A2-4D97-8749-6B3EA4179DC4}" type="presOf" srcId="{70F6BF96-6A79-4BE4-BD77-CFB2D9ED7F81}" destId="{D1EC8B25-F968-4F64-99C5-CC39C738CC3B}" srcOrd="0" destOrd="2" presId="urn:microsoft.com/office/officeart/2005/8/layout/hProcess4"/>
    <dgm:cxn modelId="{B3EB34B9-1962-42BC-B5D6-A59D0F15A099}" type="presOf" srcId="{51C61378-988B-4C9C-8472-72E62203E19A}" destId="{EEF11A6A-4485-4C13-94E2-CDB785B47B8D}" srcOrd="1" destOrd="3" presId="urn:microsoft.com/office/officeart/2005/8/layout/hProcess4"/>
    <dgm:cxn modelId="{644105F6-DCE8-4188-9723-2BBE0FEC9C87}" type="presOf" srcId="{3AF20A24-CD60-41F4-9A66-7EDCCD1CAAE7}" destId="{A5504548-E269-495F-8753-95F8ADDF1B0E}" srcOrd="1" destOrd="1" presId="urn:microsoft.com/office/officeart/2005/8/layout/hProcess4"/>
    <dgm:cxn modelId="{0CAD019F-FF3A-42BB-98C7-6A528FC1C870}" type="presParOf" srcId="{BF5045C7-C0DA-4DEA-BD78-8A51E8905402}" destId="{92C9CD45-114D-49D2-ABDB-7D66254FECD2}" srcOrd="0" destOrd="0" presId="urn:microsoft.com/office/officeart/2005/8/layout/hProcess4"/>
    <dgm:cxn modelId="{79016239-935C-46BE-B6E0-FAA50A5BF897}" type="presParOf" srcId="{BF5045C7-C0DA-4DEA-BD78-8A51E8905402}" destId="{488D2319-3691-487E-B7A2-079624663622}" srcOrd="1" destOrd="0" presId="urn:microsoft.com/office/officeart/2005/8/layout/hProcess4"/>
    <dgm:cxn modelId="{BF8D92F1-382D-41C4-BFBC-E47CEFB1F76E}" type="presParOf" srcId="{BF5045C7-C0DA-4DEA-BD78-8A51E8905402}" destId="{9064D75A-3B7D-4AEB-BDF8-A4AC52B0E176}" srcOrd="2" destOrd="0" presId="urn:microsoft.com/office/officeart/2005/8/layout/hProcess4"/>
    <dgm:cxn modelId="{C1A256E8-345E-4168-87FB-30D703573903}" type="presParOf" srcId="{9064D75A-3B7D-4AEB-BDF8-A4AC52B0E176}" destId="{939F7E02-C1F3-4752-B22C-9B403C88EE7F}" srcOrd="0" destOrd="0" presId="urn:microsoft.com/office/officeart/2005/8/layout/hProcess4"/>
    <dgm:cxn modelId="{B0D60172-A370-407C-A653-60299B098D58}" type="presParOf" srcId="{939F7E02-C1F3-4752-B22C-9B403C88EE7F}" destId="{B17CCDE2-BC25-4780-9377-8400F9B062CA}" srcOrd="0" destOrd="0" presId="urn:microsoft.com/office/officeart/2005/8/layout/hProcess4"/>
    <dgm:cxn modelId="{9C525708-7298-4250-AE74-2EAE8D8BFC3E}" type="presParOf" srcId="{939F7E02-C1F3-4752-B22C-9B403C88EE7F}" destId="{AA5B985D-B2EA-4969-B4A6-4331ED8FEE37}" srcOrd="1" destOrd="0" presId="urn:microsoft.com/office/officeart/2005/8/layout/hProcess4"/>
    <dgm:cxn modelId="{9D3A0C23-95D1-4A52-A86F-7082851E3951}" type="presParOf" srcId="{939F7E02-C1F3-4752-B22C-9B403C88EE7F}" destId="{B9595BA4-319D-498D-BAD7-A56898B15105}" srcOrd="2" destOrd="0" presId="urn:microsoft.com/office/officeart/2005/8/layout/hProcess4"/>
    <dgm:cxn modelId="{AD5D30D3-D426-4E2B-A92F-3A71C48E734A}" type="presParOf" srcId="{939F7E02-C1F3-4752-B22C-9B403C88EE7F}" destId="{744C96FC-29A9-4ED5-A1F5-9836A0FCB55E}" srcOrd="3" destOrd="0" presId="urn:microsoft.com/office/officeart/2005/8/layout/hProcess4"/>
    <dgm:cxn modelId="{B25D7FDB-7053-451F-A283-FD420B9475CE}" type="presParOf" srcId="{939F7E02-C1F3-4752-B22C-9B403C88EE7F}" destId="{D290CD9B-58C5-45E6-B9D0-56A537A72B1A}" srcOrd="4" destOrd="0" presId="urn:microsoft.com/office/officeart/2005/8/layout/hProcess4"/>
    <dgm:cxn modelId="{1826F815-E00F-4960-8834-6687F4A5F48C}" type="presParOf" srcId="{9064D75A-3B7D-4AEB-BDF8-A4AC52B0E176}" destId="{7EBB6A7D-0193-4609-B39C-58A55402D728}" srcOrd="1" destOrd="0" presId="urn:microsoft.com/office/officeart/2005/8/layout/hProcess4"/>
    <dgm:cxn modelId="{FBC36CED-8ABA-4D82-ABAC-6BE85B836294}" type="presParOf" srcId="{9064D75A-3B7D-4AEB-BDF8-A4AC52B0E176}" destId="{0D95F135-7577-4DC3-BCB8-045BA46F5CCE}" srcOrd="2" destOrd="0" presId="urn:microsoft.com/office/officeart/2005/8/layout/hProcess4"/>
    <dgm:cxn modelId="{8BD0BFAE-C503-40E0-BC0C-46B9B7A3F84E}" type="presParOf" srcId="{0D95F135-7577-4DC3-BCB8-045BA46F5CCE}" destId="{0A6A8339-9236-4F3F-AFEC-E8C00CE6D98A}" srcOrd="0" destOrd="0" presId="urn:microsoft.com/office/officeart/2005/8/layout/hProcess4"/>
    <dgm:cxn modelId="{BE741F5D-AEB8-434C-942F-C1C3384E9A5E}" type="presParOf" srcId="{0D95F135-7577-4DC3-BCB8-045BA46F5CCE}" destId="{D1EC8B25-F968-4F64-99C5-CC39C738CC3B}" srcOrd="1" destOrd="0" presId="urn:microsoft.com/office/officeart/2005/8/layout/hProcess4"/>
    <dgm:cxn modelId="{30F0EABE-37FE-4582-9FBE-6C2534235738}" type="presParOf" srcId="{0D95F135-7577-4DC3-BCB8-045BA46F5CCE}" destId="{EEF11A6A-4485-4C13-94E2-CDB785B47B8D}" srcOrd="2" destOrd="0" presId="urn:microsoft.com/office/officeart/2005/8/layout/hProcess4"/>
    <dgm:cxn modelId="{6A28B87F-419A-44AA-BFE3-EB2017D27CF8}" type="presParOf" srcId="{0D95F135-7577-4DC3-BCB8-045BA46F5CCE}" destId="{7D4CC2A7-46CE-4B8C-B6C4-1573388EBA43}" srcOrd="3" destOrd="0" presId="urn:microsoft.com/office/officeart/2005/8/layout/hProcess4"/>
    <dgm:cxn modelId="{74D90831-81CC-4302-B06D-CA88DE920238}" type="presParOf" srcId="{0D95F135-7577-4DC3-BCB8-045BA46F5CCE}" destId="{088407D1-4D8C-4F96-83EE-F6E3983977C6}" srcOrd="4" destOrd="0" presId="urn:microsoft.com/office/officeart/2005/8/layout/hProcess4"/>
    <dgm:cxn modelId="{D0245039-49EB-4421-B5DE-2E95879E52F2}" type="presParOf" srcId="{9064D75A-3B7D-4AEB-BDF8-A4AC52B0E176}" destId="{D2F773CE-611A-4445-A9BB-A4471B31F0D9}" srcOrd="3" destOrd="0" presId="urn:microsoft.com/office/officeart/2005/8/layout/hProcess4"/>
    <dgm:cxn modelId="{87D51F80-F0CA-4A64-8FDD-410886243851}" type="presParOf" srcId="{9064D75A-3B7D-4AEB-BDF8-A4AC52B0E176}" destId="{2D435C28-B0E2-487D-AF29-0E0D3DAC481F}" srcOrd="4" destOrd="0" presId="urn:microsoft.com/office/officeart/2005/8/layout/hProcess4"/>
    <dgm:cxn modelId="{8C941C24-B7C6-4613-9595-52D7C46358BA}" type="presParOf" srcId="{2D435C28-B0E2-487D-AF29-0E0D3DAC481F}" destId="{6FEB9C45-C67D-4606-8D53-A08FFC50A39E}" srcOrd="0" destOrd="0" presId="urn:microsoft.com/office/officeart/2005/8/layout/hProcess4"/>
    <dgm:cxn modelId="{BC0ADD44-B1C0-42EC-93E9-E0365492A115}" type="presParOf" srcId="{2D435C28-B0E2-487D-AF29-0E0D3DAC481F}" destId="{219E3BE6-2204-46B1-B34D-50955191B5BC}" srcOrd="1" destOrd="0" presId="urn:microsoft.com/office/officeart/2005/8/layout/hProcess4"/>
    <dgm:cxn modelId="{3DE5E2E9-5260-4498-9CC1-61569D6997EA}" type="presParOf" srcId="{2D435C28-B0E2-487D-AF29-0E0D3DAC481F}" destId="{A5504548-E269-495F-8753-95F8ADDF1B0E}" srcOrd="2" destOrd="0" presId="urn:microsoft.com/office/officeart/2005/8/layout/hProcess4"/>
    <dgm:cxn modelId="{79FDC925-044A-4D8A-97C8-6DE699F0D452}" type="presParOf" srcId="{2D435C28-B0E2-487D-AF29-0E0D3DAC481F}" destId="{095B310D-7987-410D-A580-6F317075BB37}" srcOrd="3" destOrd="0" presId="urn:microsoft.com/office/officeart/2005/8/layout/hProcess4"/>
    <dgm:cxn modelId="{6434E014-7A0E-4B49-8178-2307C27E6774}" type="presParOf" srcId="{2D435C28-B0E2-487D-AF29-0E0D3DAC481F}" destId="{A5B138F9-4292-42B3-A472-5BED2C1303DB}"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744FC1-5B5C-4482-9B8A-8EDC1A2069AE}">
      <dsp:nvSpPr>
        <dsp:cNvPr id="0" name=""/>
        <dsp:cNvSpPr/>
      </dsp:nvSpPr>
      <dsp:spPr>
        <a:xfrm>
          <a:off x="3351609" y="1996942"/>
          <a:ext cx="1424781" cy="1424781"/>
        </a:xfrm>
        <a:prstGeom prst="ellipse">
          <a:avLst/>
        </a:prstGeom>
        <a:gradFill flip="none" rotWithShape="0">
          <a:gsLst>
            <a:gs pos="0">
              <a:srgbClr val="00B0F0">
                <a:shade val="30000"/>
                <a:satMod val="115000"/>
              </a:srgbClr>
            </a:gs>
            <a:gs pos="50000">
              <a:srgbClr val="00B0F0">
                <a:shade val="67500"/>
                <a:satMod val="115000"/>
              </a:srgbClr>
            </a:gs>
            <a:gs pos="100000">
              <a:srgbClr val="00B0F0">
                <a:shade val="100000"/>
                <a:satMod val="115000"/>
              </a:srgbClr>
            </a:gs>
          </a:gsLst>
          <a:path path="circle">
            <a:fillToRect l="50000" t="50000" r="50000" b="50000"/>
          </a:path>
          <a:tileRect/>
        </a:gradFill>
        <a:ln w="12700" cap="flat" cmpd="sng" algn="ctr">
          <a:solidFill>
            <a:schemeClr val="lt1">
              <a:hueOff val="0"/>
              <a:satOff val="0"/>
              <a:lumOff val="0"/>
              <a:alphaOff val="0"/>
            </a:schemeClr>
          </a:solidFill>
          <a:prstDash val="solid"/>
          <a:miter lim="800000"/>
        </a:ln>
        <a:effectLst>
          <a:glow rad="139700">
            <a:schemeClr val="accent1">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r>
            <a:rPr lang="zh-CN" altLang="en-US" sz="3600" kern="1200" dirty="0" smtClean="0"/>
            <a:t>实现</a:t>
          </a:r>
          <a:endParaRPr lang="zh-CN" altLang="en-US" sz="3600" kern="1200" dirty="0"/>
        </a:p>
      </dsp:txBody>
      <dsp:txXfrm>
        <a:off x="3560263" y="2205596"/>
        <a:ext cx="1007473" cy="1007473"/>
      </dsp:txXfrm>
    </dsp:sp>
    <dsp:sp modelId="{106CA165-AF0C-4F51-B009-25D3FA94D771}">
      <dsp:nvSpPr>
        <dsp:cNvPr id="0" name=""/>
        <dsp:cNvSpPr/>
      </dsp:nvSpPr>
      <dsp:spPr>
        <a:xfrm rot="16200000">
          <a:off x="3913169" y="1478682"/>
          <a:ext cx="301660" cy="484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89000">
            <a:lnSpc>
              <a:spcPct val="90000"/>
            </a:lnSpc>
            <a:spcBef>
              <a:spcPct val="0"/>
            </a:spcBef>
            <a:spcAft>
              <a:spcPct val="35000"/>
            </a:spcAft>
          </a:pPr>
          <a:endParaRPr lang="zh-CN" altLang="en-US" sz="2000" kern="1200"/>
        </a:p>
      </dsp:txBody>
      <dsp:txXfrm>
        <a:off x="3958418" y="1620816"/>
        <a:ext cx="211162" cy="290655"/>
      </dsp:txXfrm>
    </dsp:sp>
    <dsp:sp modelId="{9517FE74-2D15-4E9B-91C1-5268490B2564}">
      <dsp:nvSpPr>
        <dsp:cNvPr id="0" name=""/>
        <dsp:cNvSpPr/>
      </dsp:nvSpPr>
      <dsp:spPr>
        <a:xfrm>
          <a:off x="3351609" y="2990"/>
          <a:ext cx="1424781" cy="142478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zh-CN" altLang="en-US" sz="2400" kern="1200" dirty="0" smtClean="0">
              <a:solidFill>
                <a:schemeClr val="tx1"/>
              </a:solidFill>
            </a:rPr>
            <a:t>缓压力</a:t>
          </a:r>
          <a:endParaRPr lang="zh-CN" altLang="en-US" sz="2400" kern="1200" dirty="0">
            <a:solidFill>
              <a:schemeClr val="tx1"/>
            </a:solidFill>
          </a:endParaRPr>
        </a:p>
      </dsp:txBody>
      <dsp:txXfrm>
        <a:off x="3560263" y="211644"/>
        <a:ext cx="1007473" cy="1007473"/>
      </dsp:txXfrm>
    </dsp:sp>
    <dsp:sp modelId="{8DEA1766-98BF-47B5-AAB1-38E2058C8C43}">
      <dsp:nvSpPr>
        <dsp:cNvPr id="0" name=""/>
        <dsp:cNvSpPr/>
      </dsp:nvSpPr>
      <dsp:spPr>
        <a:xfrm>
          <a:off x="4901608" y="2467120"/>
          <a:ext cx="301660" cy="484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89000">
            <a:lnSpc>
              <a:spcPct val="90000"/>
            </a:lnSpc>
            <a:spcBef>
              <a:spcPct val="0"/>
            </a:spcBef>
            <a:spcAft>
              <a:spcPct val="35000"/>
            </a:spcAft>
          </a:pPr>
          <a:endParaRPr lang="zh-CN" altLang="en-US" sz="2000" kern="1200"/>
        </a:p>
      </dsp:txBody>
      <dsp:txXfrm>
        <a:off x="4901608" y="2564005"/>
        <a:ext cx="211162" cy="290655"/>
      </dsp:txXfrm>
    </dsp:sp>
    <dsp:sp modelId="{91B447E0-ACA7-4F58-A128-B9F377FE763B}">
      <dsp:nvSpPr>
        <dsp:cNvPr id="0" name=""/>
        <dsp:cNvSpPr/>
      </dsp:nvSpPr>
      <dsp:spPr>
        <a:xfrm>
          <a:off x="5345561" y="1996942"/>
          <a:ext cx="1424781" cy="142478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zh-CN" altLang="en-US" sz="2400" kern="1200" dirty="0" smtClean="0">
              <a:solidFill>
                <a:schemeClr val="tx1"/>
              </a:solidFill>
            </a:rPr>
            <a:t>拓未来</a:t>
          </a:r>
          <a:endParaRPr lang="zh-CN" altLang="en-US" sz="2400" kern="1200" dirty="0">
            <a:solidFill>
              <a:schemeClr val="tx1"/>
            </a:solidFill>
          </a:endParaRPr>
        </a:p>
      </dsp:txBody>
      <dsp:txXfrm>
        <a:off x="5554215" y="2205596"/>
        <a:ext cx="1007473" cy="1007473"/>
      </dsp:txXfrm>
    </dsp:sp>
    <dsp:sp modelId="{B3DC6309-B656-4FB5-A682-ACB759D974D5}">
      <dsp:nvSpPr>
        <dsp:cNvPr id="0" name=""/>
        <dsp:cNvSpPr/>
      </dsp:nvSpPr>
      <dsp:spPr>
        <a:xfrm rot="5400000">
          <a:off x="3913169" y="3455559"/>
          <a:ext cx="301660" cy="484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89000">
            <a:lnSpc>
              <a:spcPct val="90000"/>
            </a:lnSpc>
            <a:spcBef>
              <a:spcPct val="0"/>
            </a:spcBef>
            <a:spcAft>
              <a:spcPct val="35000"/>
            </a:spcAft>
          </a:pPr>
          <a:endParaRPr lang="zh-CN" altLang="en-US" sz="2000" kern="1200"/>
        </a:p>
      </dsp:txBody>
      <dsp:txXfrm>
        <a:off x="3958418" y="3507195"/>
        <a:ext cx="211162" cy="290655"/>
      </dsp:txXfrm>
    </dsp:sp>
    <dsp:sp modelId="{6E5593AD-6968-4AC3-B5F3-0E715675361D}">
      <dsp:nvSpPr>
        <dsp:cNvPr id="0" name=""/>
        <dsp:cNvSpPr/>
      </dsp:nvSpPr>
      <dsp:spPr>
        <a:xfrm>
          <a:off x="3351609" y="3990894"/>
          <a:ext cx="1424781" cy="142478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zh-CN" altLang="en-US" sz="2400" kern="1200" dirty="0" smtClean="0">
              <a:solidFill>
                <a:schemeClr val="tx1"/>
              </a:solidFill>
            </a:rPr>
            <a:t>深洞察</a:t>
          </a:r>
          <a:endParaRPr lang="zh-CN" altLang="en-US" sz="2400" kern="1200" dirty="0">
            <a:solidFill>
              <a:schemeClr val="tx1"/>
            </a:solidFill>
          </a:endParaRPr>
        </a:p>
      </dsp:txBody>
      <dsp:txXfrm>
        <a:off x="3560263" y="4199548"/>
        <a:ext cx="1007473" cy="1007473"/>
      </dsp:txXfrm>
    </dsp:sp>
    <dsp:sp modelId="{F0E4E402-7BCD-4D7F-B441-06C67C0AD8FB}">
      <dsp:nvSpPr>
        <dsp:cNvPr id="0" name=""/>
        <dsp:cNvSpPr/>
      </dsp:nvSpPr>
      <dsp:spPr>
        <a:xfrm rot="10800000">
          <a:off x="2924731" y="2467120"/>
          <a:ext cx="301660" cy="484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89000">
            <a:lnSpc>
              <a:spcPct val="90000"/>
            </a:lnSpc>
            <a:spcBef>
              <a:spcPct val="0"/>
            </a:spcBef>
            <a:spcAft>
              <a:spcPct val="35000"/>
            </a:spcAft>
          </a:pPr>
          <a:endParaRPr lang="zh-CN" altLang="en-US" sz="2000" kern="1200"/>
        </a:p>
      </dsp:txBody>
      <dsp:txXfrm rot="10800000">
        <a:off x="3015229" y="2564005"/>
        <a:ext cx="211162" cy="290655"/>
      </dsp:txXfrm>
    </dsp:sp>
    <dsp:sp modelId="{855022D2-364A-41B0-B450-1921516ACA0C}">
      <dsp:nvSpPr>
        <dsp:cNvPr id="0" name=""/>
        <dsp:cNvSpPr/>
      </dsp:nvSpPr>
      <dsp:spPr>
        <a:xfrm>
          <a:off x="1357657" y="1996942"/>
          <a:ext cx="1424781" cy="142478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zh-CN" altLang="en-US" sz="2400" kern="1200" dirty="0" smtClean="0">
              <a:solidFill>
                <a:schemeClr val="tx1"/>
              </a:solidFill>
            </a:rPr>
            <a:t>知全局</a:t>
          </a:r>
          <a:endParaRPr lang="zh-CN" altLang="en-US" sz="2400" kern="1200" dirty="0">
            <a:solidFill>
              <a:schemeClr val="tx1"/>
            </a:solidFill>
          </a:endParaRPr>
        </a:p>
      </dsp:txBody>
      <dsp:txXfrm>
        <a:off x="1566311" y="2205596"/>
        <a:ext cx="1007473" cy="10074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8251C9-14A7-48EB-B8D2-DB0F32AB3596}">
      <dsp:nvSpPr>
        <dsp:cNvPr id="0" name=""/>
        <dsp:cNvSpPr/>
      </dsp:nvSpPr>
      <dsp:spPr>
        <a:xfrm>
          <a:off x="3351609" y="1996942"/>
          <a:ext cx="1424781" cy="142478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kern="1200" dirty="0" smtClean="0"/>
            <a:t>感知系统</a:t>
          </a:r>
          <a:endParaRPr lang="zh-CN" altLang="en-US" sz="1600" kern="1200" dirty="0"/>
        </a:p>
      </dsp:txBody>
      <dsp:txXfrm>
        <a:off x="3560263" y="2205596"/>
        <a:ext cx="1007473" cy="1007473"/>
      </dsp:txXfrm>
    </dsp:sp>
    <dsp:sp modelId="{50C4CE79-0C82-4BBC-9FEF-618057A55D5F}">
      <dsp:nvSpPr>
        <dsp:cNvPr id="0" name=""/>
        <dsp:cNvSpPr/>
      </dsp:nvSpPr>
      <dsp:spPr>
        <a:xfrm rot="16200000">
          <a:off x="3913169" y="1478682"/>
          <a:ext cx="301660" cy="484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zh-CN" altLang="en-US" sz="1600" kern="1200"/>
        </a:p>
      </dsp:txBody>
      <dsp:txXfrm>
        <a:off x="3958418" y="1620816"/>
        <a:ext cx="211162" cy="290655"/>
      </dsp:txXfrm>
    </dsp:sp>
    <dsp:sp modelId="{EE0EDA00-A862-4BC0-B431-3E041C367548}">
      <dsp:nvSpPr>
        <dsp:cNvPr id="0" name=""/>
        <dsp:cNvSpPr/>
      </dsp:nvSpPr>
      <dsp:spPr>
        <a:xfrm>
          <a:off x="3351609" y="2990"/>
          <a:ext cx="1424781" cy="142478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kern="1200" dirty="0" smtClean="0"/>
            <a:t>视觉数据</a:t>
          </a:r>
          <a:endParaRPr lang="zh-CN" altLang="en-US" sz="1600" kern="1200" dirty="0"/>
        </a:p>
      </dsp:txBody>
      <dsp:txXfrm>
        <a:off x="3560263" y="211644"/>
        <a:ext cx="1007473" cy="1007473"/>
      </dsp:txXfrm>
    </dsp:sp>
    <dsp:sp modelId="{594F7510-08AF-462F-B048-CC149CF5580E}">
      <dsp:nvSpPr>
        <dsp:cNvPr id="0" name=""/>
        <dsp:cNvSpPr/>
      </dsp:nvSpPr>
      <dsp:spPr>
        <a:xfrm>
          <a:off x="4901608" y="2467120"/>
          <a:ext cx="301660" cy="484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zh-CN" altLang="en-US" sz="1600" kern="1200"/>
        </a:p>
      </dsp:txBody>
      <dsp:txXfrm>
        <a:off x="4901608" y="2564005"/>
        <a:ext cx="211162" cy="290655"/>
      </dsp:txXfrm>
    </dsp:sp>
    <dsp:sp modelId="{39525439-F569-431A-9383-744D05327652}">
      <dsp:nvSpPr>
        <dsp:cNvPr id="0" name=""/>
        <dsp:cNvSpPr/>
      </dsp:nvSpPr>
      <dsp:spPr>
        <a:xfrm>
          <a:off x="5345561" y="1996942"/>
          <a:ext cx="1424781" cy="142478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kern="1200" dirty="0" smtClean="0"/>
            <a:t>听觉数据</a:t>
          </a:r>
          <a:endParaRPr lang="zh-CN" altLang="en-US" sz="1600" kern="1200" dirty="0"/>
        </a:p>
      </dsp:txBody>
      <dsp:txXfrm>
        <a:off x="5554215" y="2205596"/>
        <a:ext cx="1007473" cy="1007473"/>
      </dsp:txXfrm>
    </dsp:sp>
    <dsp:sp modelId="{F779CBDD-6686-4615-84A7-A28DCBB3D7F4}">
      <dsp:nvSpPr>
        <dsp:cNvPr id="0" name=""/>
        <dsp:cNvSpPr/>
      </dsp:nvSpPr>
      <dsp:spPr>
        <a:xfrm rot="5400000">
          <a:off x="3913169" y="3455559"/>
          <a:ext cx="301660" cy="484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zh-CN" altLang="en-US" sz="1600" kern="1200"/>
        </a:p>
      </dsp:txBody>
      <dsp:txXfrm>
        <a:off x="3958418" y="3507195"/>
        <a:ext cx="211162" cy="290655"/>
      </dsp:txXfrm>
    </dsp:sp>
    <dsp:sp modelId="{01FAD28D-E45A-4E6C-8E8B-94DE9924DB75}">
      <dsp:nvSpPr>
        <dsp:cNvPr id="0" name=""/>
        <dsp:cNvSpPr/>
      </dsp:nvSpPr>
      <dsp:spPr>
        <a:xfrm>
          <a:off x="3351609" y="3990894"/>
          <a:ext cx="1424781" cy="142478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kern="1200" dirty="0" smtClean="0"/>
            <a:t>基础数据</a:t>
          </a:r>
          <a:endParaRPr lang="zh-CN" altLang="en-US" sz="1600" kern="1200" dirty="0"/>
        </a:p>
      </dsp:txBody>
      <dsp:txXfrm>
        <a:off x="3560263" y="4199548"/>
        <a:ext cx="1007473" cy="1007473"/>
      </dsp:txXfrm>
    </dsp:sp>
    <dsp:sp modelId="{5E2FC4B7-C08B-46C4-B6FE-E8B767C52848}">
      <dsp:nvSpPr>
        <dsp:cNvPr id="0" name=""/>
        <dsp:cNvSpPr/>
      </dsp:nvSpPr>
      <dsp:spPr>
        <a:xfrm rot="10800000">
          <a:off x="2924731" y="2467120"/>
          <a:ext cx="301660" cy="484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zh-CN" altLang="en-US" sz="1600" kern="1200"/>
        </a:p>
      </dsp:txBody>
      <dsp:txXfrm rot="10800000">
        <a:off x="3015229" y="2564005"/>
        <a:ext cx="211162" cy="290655"/>
      </dsp:txXfrm>
    </dsp:sp>
    <dsp:sp modelId="{AD18DDE9-E626-4A19-A6C4-F31CD00F57D4}">
      <dsp:nvSpPr>
        <dsp:cNvPr id="0" name=""/>
        <dsp:cNvSpPr/>
      </dsp:nvSpPr>
      <dsp:spPr>
        <a:xfrm>
          <a:off x="1357657" y="1996942"/>
          <a:ext cx="1424781" cy="142478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kern="1200" dirty="0" smtClean="0"/>
            <a:t>触觉数据</a:t>
          </a:r>
          <a:endParaRPr lang="zh-CN" altLang="en-US" sz="1600" kern="1200" dirty="0"/>
        </a:p>
      </dsp:txBody>
      <dsp:txXfrm>
        <a:off x="1566311" y="2205596"/>
        <a:ext cx="1007473" cy="100747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31C3F7-677F-4128-AD89-3B006EC4A3C4}">
      <dsp:nvSpPr>
        <dsp:cNvPr id="0" name=""/>
        <dsp:cNvSpPr/>
      </dsp:nvSpPr>
      <dsp:spPr>
        <a:xfrm>
          <a:off x="694266" y="0"/>
          <a:ext cx="8669867" cy="5418667"/>
        </a:xfrm>
        <a:prstGeom prst="swooshArrow">
          <a:avLst>
            <a:gd name="adj1" fmla="val 25000"/>
            <a:gd name="adj2" fmla="val 25000"/>
          </a:avLst>
        </a:prstGeom>
        <a:solidFill>
          <a:schemeClr val="accent1">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906F8F-CDD0-4D7D-B525-00CC745136CF}">
      <dsp:nvSpPr>
        <dsp:cNvPr id="0" name=""/>
        <dsp:cNvSpPr/>
      </dsp:nvSpPr>
      <dsp:spPr>
        <a:xfrm>
          <a:off x="1795339" y="3739963"/>
          <a:ext cx="225416" cy="225416"/>
        </a:xfrm>
        <a:prstGeom prst="ellipse">
          <a:avLst/>
        </a:prstGeom>
        <a:solidFill>
          <a:schemeClr val="accent1">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7FABDF-B8E0-490C-A59A-7F31163B7C3D}">
      <dsp:nvSpPr>
        <dsp:cNvPr id="0" name=""/>
        <dsp:cNvSpPr/>
      </dsp:nvSpPr>
      <dsp:spPr>
        <a:xfrm>
          <a:off x="1908047" y="3852672"/>
          <a:ext cx="2020079" cy="1565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444" tIns="0" rIns="0" bIns="0" numCol="1" spcCol="1270" anchor="t" anchorCtr="0">
          <a:noAutofit/>
        </a:bodyPr>
        <a:lstStyle/>
        <a:p>
          <a:pPr lvl="0" algn="l" defTabSz="1778000">
            <a:lnSpc>
              <a:spcPct val="90000"/>
            </a:lnSpc>
            <a:spcBef>
              <a:spcPct val="0"/>
            </a:spcBef>
            <a:spcAft>
              <a:spcPct val="35000"/>
            </a:spcAft>
          </a:pPr>
          <a:r>
            <a:rPr lang="zh-CN" altLang="en-US" sz="4000" kern="1200" dirty="0" smtClean="0"/>
            <a:t>城域网</a:t>
          </a:r>
          <a:endParaRPr lang="zh-CN" altLang="en-US" sz="4000" kern="1200" dirty="0"/>
        </a:p>
      </dsp:txBody>
      <dsp:txXfrm>
        <a:off x="1908047" y="3852672"/>
        <a:ext cx="2020079" cy="1565994"/>
      </dsp:txXfrm>
    </dsp:sp>
    <dsp:sp modelId="{C64AB898-1E97-450E-9E13-762A48FC84A6}">
      <dsp:nvSpPr>
        <dsp:cNvPr id="0" name=""/>
        <dsp:cNvSpPr/>
      </dsp:nvSpPr>
      <dsp:spPr>
        <a:xfrm>
          <a:off x="3785074" y="2267170"/>
          <a:ext cx="407483" cy="407483"/>
        </a:xfrm>
        <a:prstGeom prst="ellipse">
          <a:avLst/>
        </a:prstGeom>
        <a:solidFill>
          <a:schemeClr val="accent1">
            <a:shade val="50000"/>
            <a:hueOff val="-508505"/>
            <a:satOff val="-27623"/>
            <a:lumOff val="3269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79C437-B3BE-4CE5-8F2F-51978503346A}">
      <dsp:nvSpPr>
        <dsp:cNvPr id="0" name=""/>
        <dsp:cNvSpPr/>
      </dsp:nvSpPr>
      <dsp:spPr>
        <a:xfrm>
          <a:off x="3988815" y="2470912"/>
          <a:ext cx="2080768" cy="29477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17" tIns="0" rIns="0" bIns="0" numCol="1" spcCol="1270" anchor="t" anchorCtr="0">
          <a:noAutofit/>
        </a:bodyPr>
        <a:lstStyle/>
        <a:p>
          <a:pPr lvl="0" algn="l" defTabSz="1778000">
            <a:lnSpc>
              <a:spcPct val="90000"/>
            </a:lnSpc>
            <a:spcBef>
              <a:spcPct val="0"/>
            </a:spcBef>
            <a:spcAft>
              <a:spcPct val="35000"/>
            </a:spcAft>
          </a:pPr>
          <a:r>
            <a:rPr lang="zh-CN" altLang="en-US" sz="4000" kern="1200" dirty="0" smtClean="0"/>
            <a:t>核心网</a:t>
          </a:r>
          <a:endParaRPr lang="zh-CN" altLang="en-US" sz="4000" kern="1200" dirty="0"/>
        </a:p>
      </dsp:txBody>
      <dsp:txXfrm>
        <a:off x="3988815" y="2470912"/>
        <a:ext cx="2080768" cy="2947754"/>
      </dsp:txXfrm>
    </dsp:sp>
    <dsp:sp modelId="{C4C321A8-CB30-4525-8E18-4001EB56C2BD}">
      <dsp:nvSpPr>
        <dsp:cNvPr id="0" name=""/>
        <dsp:cNvSpPr/>
      </dsp:nvSpPr>
      <dsp:spPr>
        <a:xfrm>
          <a:off x="6177957" y="1370922"/>
          <a:ext cx="563541" cy="563541"/>
        </a:xfrm>
        <a:prstGeom prst="ellipse">
          <a:avLst/>
        </a:prstGeom>
        <a:solidFill>
          <a:schemeClr val="accent1">
            <a:shade val="50000"/>
            <a:hueOff val="-508505"/>
            <a:satOff val="-27623"/>
            <a:lumOff val="3269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728D37-6858-4022-8006-5EACE42613C2}">
      <dsp:nvSpPr>
        <dsp:cNvPr id="0" name=""/>
        <dsp:cNvSpPr/>
      </dsp:nvSpPr>
      <dsp:spPr>
        <a:xfrm>
          <a:off x="6207913" y="1652693"/>
          <a:ext cx="2584397" cy="3765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8609" tIns="0" rIns="0" bIns="0" numCol="1" spcCol="1270" anchor="t" anchorCtr="0">
          <a:noAutofit/>
        </a:bodyPr>
        <a:lstStyle/>
        <a:p>
          <a:pPr lvl="0" algn="l" defTabSz="1778000">
            <a:lnSpc>
              <a:spcPct val="90000"/>
            </a:lnSpc>
            <a:spcBef>
              <a:spcPct val="0"/>
            </a:spcBef>
            <a:spcAft>
              <a:spcPct val="35000"/>
            </a:spcAft>
          </a:pPr>
          <a:r>
            <a:rPr lang="zh-CN" altLang="en-US" sz="4000" kern="1200" dirty="0" smtClean="0"/>
            <a:t>其他专业</a:t>
          </a:r>
          <a:endParaRPr lang="zh-CN" altLang="en-US" sz="4000" kern="1200" dirty="0"/>
        </a:p>
      </dsp:txBody>
      <dsp:txXfrm>
        <a:off x="6207913" y="1652693"/>
        <a:ext cx="2584397" cy="37659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5B985D-B2EA-4969-B4A6-4331ED8FEE37}">
      <dsp:nvSpPr>
        <dsp:cNvPr id="0" name=""/>
        <dsp:cNvSpPr/>
      </dsp:nvSpPr>
      <dsp:spPr>
        <a:xfrm>
          <a:off x="5601" y="1706522"/>
          <a:ext cx="2878493" cy="2602524"/>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l" defTabSz="889000">
            <a:lnSpc>
              <a:spcPct val="90000"/>
            </a:lnSpc>
            <a:spcBef>
              <a:spcPct val="0"/>
            </a:spcBef>
            <a:spcAft>
              <a:spcPct val="15000"/>
            </a:spcAft>
            <a:buChar char="••"/>
          </a:pPr>
          <a:r>
            <a:rPr lang="zh-CN" altLang="en-US" sz="2000" kern="1200" dirty="0" smtClean="0"/>
            <a:t>数据需求的分析</a:t>
          </a:r>
          <a:endParaRPr lang="zh-CN" altLang="en-US" sz="2000" kern="1200" dirty="0"/>
        </a:p>
        <a:p>
          <a:pPr marL="228600" lvl="1" indent="-228600" algn="l" defTabSz="889000">
            <a:lnSpc>
              <a:spcPct val="90000"/>
            </a:lnSpc>
            <a:spcBef>
              <a:spcPct val="0"/>
            </a:spcBef>
            <a:spcAft>
              <a:spcPct val="15000"/>
            </a:spcAft>
            <a:buChar char="••"/>
          </a:pPr>
          <a:r>
            <a:rPr lang="zh-CN" altLang="en-US" sz="2000" kern="1200" dirty="0" smtClean="0"/>
            <a:t>采集方式的分析</a:t>
          </a:r>
          <a:endParaRPr lang="zh-CN" altLang="en-US" sz="2000" kern="1200" dirty="0"/>
        </a:p>
        <a:p>
          <a:pPr marL="228600" lvl="1" indent="-228600" algn="l" defTabSz="889000">
            <a:lnSpc>
              <a:spcPct val="90000"/>
            </a:lnSpc>
            <a:spcBef>
              <a:spcPct val="0"/>
            </a:spcBef>
            <a:spcAft>
              <a:spcPct val="15000"/>
            </a:spcAft>
            <a:buChar char="••"/>
          </a:pPr>
          <a:r>
            <a:rPr lang="zh-CN" altLang="en-US" sz="2000" kern="1200" dirty="0" smtClean="0"/>
            <a:t>数据库的设计</a:t>
          </a:r>
          <a:endParaRPr lang="zh-CN" altLang="en-US" sz="2000" kern="1200" dirty="0"/>
        </a:p>
        <a:p>
          <a:pPr marL="228600" lvl="1" indent="-228600" algn="l" defTabSz="889000">
            <a:lnSpc>
              <a:spcPct val="90000"/>
            </a:lnSpc>
            <a:spcBef>
              <a:spcPct val="0"/>
            </a:spcBef>
            <a:spcAft>
              <a:spcPct val="15000"/>
            </a:spcAft>
            <a:buChar char="••"/>
          </a:pPr>
          <a:r>
            <a:rPr lang="zh-CN" altLang="en-US" sz="2000" kern="1200" dirty="0" smtClean="0"/>
            <a:t>采集系统的搭建</a:t>
          </a:r>
          <a:endParaRPr lang="zh-CN" altLang="en-US" sz="2000" kern="1200" dirty="0"/>
        </a:p>
        <a:p>
          <a:pPr marL="228600" lvl="1" indent="-228600" algn="l" defTabSz="889000">
            <a:lnSpc>
              <a:spcPct val="90000"/>
            </a:lnSpc>
            <a:spcBef>
              <a:spcPct val="0"/>
            </a:spcBef>
            <a:spcAft>
              <a:spcPct val="15000"/>
            </a:spcAft>
            <a:buChar char="••"/>
          </a:pPr>
          <a:r>
            <a:rPr lang="zh-CN" altLang="en-US" sz="2000" kern="1200" dirty="0" smtClean="0"/>
            <a:t>数据库的实施</a:t>
          </a:r>
          <a:endParaRPr lang="zh-CN" altLang="en-US" sz="2000" kern="1200" dirty="0"/>
        </a:p>
      </dsp:txBody>
      <dsp:txXfrm>
        <a:off x="65492" y="1766413"/>
        <a:ext cx="2758711" cy="1925058"/>
      </dsp:txXfrm>
    </dsp:sp>
    <dsp:sp modelId="{7EBB6A7D-0193-4609-B39C-58A55402D728}">
      <dsp:nvSpPr>
        <dsp:cNvPr id="0" name=""/>
        <dsp:cNvSpPr/>
      </dsp:nvSpPr>
      <dsp:spPr>
        <a:xfrm>
          <a:off x="1468325" y="2484995"/>
          <a:ext cx="3358119" cy="3358119"/>
        </a:xfrm>
        <a:prstGeom prst="leftCircularArrow">
          <a:avLst>
            <a:gd name="adj1" fmla="val 2791"/>
            <a:gd name="adj2" fmla="val 340517"/>
            <a:gd name="adj3" fmla="val 1540531"/>
            <a:gd name="adj4" fmla="val 8448993"/>
            <a:gd name="adj5" fmla="val 3256"/>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44C96FC-29A9-4ED5-A1F5-9836A0FCB55E}">
      <dsp:nvSpPr>
        <dsp:cNvPr id="0" name=""/>
        <dsp:cNvSpPr/>
      </dsp:nvSpPr>
      <dsp:spPr>
        <a:xfrm>
          <a:off x="481256" y="4143254"/>
          <a:ext cx="2886680" cy="1017494"/>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lvl="0" algn="ctr" defTabSz="1244600">
            <a:lnSpc>
              <a:spcPct val="90000"/>
            </a:lnSpc>
            <a:spcBef>
              <a:spcPct val="0"/>
            </a:spcBef>
            <a:spcAft>
              <a:spcPct val="35000"/>
            </a:spcAft>
          </a:pPr>
          <a:r>
            <a:rPr lang="zh-CN" altLang="en-US" sz="2800" kern="1200" dirty="0" smtClean="0"/>
            <a:t>感知系统的搭建</a:t>
          </a:r>
          <a:endParaRPr lang="zh-CN" altLang="en-US" sz="2800" kern="1200" dirty="0"/>
        </a:p>
      </dsp:txBody>
      <dsp:txXfrm>
        <a:off x="511057" y="4173055"/>
        <a:ext cx="2827078" cy="957892"/>
      </dsp:txXfrm>
    </dsp:sp>
    <dsp:sp modelId="{D1EC8B25-F968-4F64-99C5-CC39C738CC3B}">
      <dsp:nvSpPr>
        <dsp:cNvPr id="0" name=""/>
        <dsp:cNvSpPr/>
      </dsp:nvSpPr>
      <dsp:spPr>
        <a:xfrm>
          <a:off x="3814206" y="1704891"/>
          <a:ext cx="2878493" cy="2602524"/>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l" defTabSz="889000">
            <a:lnSpc>
              <a:spcPct val="90000"/>
            </a:lnSpc>
            <a:spcBef>
              <a:spcPct val="0"/>
            </a:spcBef>
            <a:spcAft>
              <a:spcPct val="15000"/>
            </a:spcAft>
            <a:buChar char="••"/>
          </a:pPr>
          <a:r>
            <a:rPr lang="zh-CN" altLang="en-US" sz="2000" kern="1200" dirty="0" smtClean="0"/>
            <a:t>应用需求的分析</a:t>
          </a:r>
          <a:endParaRPr lang="zh-CN" altLang="en-US" sz="2000" kern="1200" dirty="0"/>
        </a:p>
        <a:p>
          <a:pPr marL="228600" lvl="1" indent="-228600" algn="l" defTabSz="889000">
            <a:lnSpc>
              <a:spcPct val="90000"/>
            </a:lnSpc>
            <a:spcBef>
              <a:spcPct val="0"/>
            </a:spcBef>
            <a:spcAft>
              <a:spcPct val="15000"/>
            </a:spcAft>
            <a:buChar char="••"/>
          </a:pPr>
          <a:r>
            <a:rPr lang="zh-CN" altLang="en-US" sz="2000" kern="1200" dirty="0" smtClean="0"/>
            <a:t>应用功能的设计</a:t>
          </a:r>
          <a:endParaRPr lang="zh-CN" altLang="en-US" sz="2000" kern="1200" dirty="0"/>
        </a:p>
        <a:p>
          <a:pPr marL="228600" lvl="1" indent="-228600" algn="l" defTabSz="889000">
            <a:lnSpc>
              <a:spcPct val="90000"/>
            </a:lnSpc>
            <a:spcBef>
              <a:spcPct val="0"/>
            </a:spcBef>
            <a:spcAft>
              <a:spcPct val="15000"/>
            </a:spcAft>
            <a:buChar char="••"/>
          </a:pPr>
          <a:r>
            <a:rPr lang="zh-CN" altLang="en-US" sz="2000" kern="1200" dirty="0" smtClean="0"/>
            <a:t>系统功能的设计</a:t>
          </a:r>
          <a:endParaRPr lang="zh-CN" altLang="en-US" sz="2000" kern="1200" dirty="0"/>
        </a:p>
        <a:p>
          <a:pPr marL="228600" lvl="1" indent="-228600" algn="l" defTabSz="889000">
            <a:lnSpc>
              <a:spcPct val="90000"/>
            </a:lnSpc>
            <a:spcBef>
              <a:spcPct val="0"/>
            </a:spcBef>
            <a:spcAft>
              <a:spcPct val="15000"/>
            </a:spcAft>
            <a:buChar char="••"/>
          </a:pPr>
          <a:r>
            <a:rPr lang="zh-CN" altLang="en-US" sz="2000" kern="1200" dirty="0" smtClean="0"/>
            <a:t>系统功能的开发</a:t>
          </a:r>
          <a:endParaRPr lang="zh-CN" altLang="en-US" sz="2000" kern="1200" dirty="0"/>
        </a:p>
      </dsp:txBody>
      <dsp:txXfrm>
        <a:off x="3874097" y="2322465"/>
        <a:ext cx="2758711" cy="1925058"/>
      </dsp:txXfrm>
    </dsp:sp>
    <dsp:sp modelId="{D2F773CE-611A-4445-A9BB-A4471B31F0D9}">
      <dsp:nvSpPr>
        <dsp:cNvPr id="0" name=""/>
        <dsp:cNvSpPr/>
      </dsp:nvSpPr>
      <dsp:spPr>
        <a:xfrm>
          <a:off x="5388947" y="300678"/>
          <a:ext cx="3688058" cy="3688058"/>
        </a:xfrm>
        <a:prstGeom prst="circularArrow">
          <a:avLst>
            <a:gd name="adj1" fmla="val 2541"/>
            <a:gd name="adj2" fmla="val 308256"/>
            <a:gd name="adj3" fmla="val 19576998"/>
            <a:gd name="adj4" fmla="val 12636276"/>
            <a:gd name="adj5" fmla="val 2965"/>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D4CC2A7-46CE-4B8C-B6C4-1573388EBA43}">
      <dsp:nvSpPr>
        <dsp:cNvPr id="0" name=""/>
        <dsp:cNvSpPr/>
      </dsp:nvSpPr>
      <dsp:spPr>
        <a:xfrm>
          <a:off x="4284910" y="1257581"/>
          <a:ext cx="2896582" cy="1017494"/>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lvl="0" algn="ctr" defTabSz="1244600">
            <a:lnSpc>
              <a:spcPct val="90000"/>
            </a:lnSpc>
            <a:spcBef>
              <a:spcPct val="0"/>
            </a:spcBef>
            <a:spcAft>
              <a:spcPct val="35000"/>
            </a:spcAft>
          </a:pPr>
          <a:r>
            <a:rPr lang="zh-CN" altLang="en-US" sz="2800" kern="1200" dirty="0" smtClean="0"/>
            <a:t>自动运维的完善</a:t>
          </a:r>
          <a:endParaRPr lang="zh-CN" altLang="en-US" sz="2800" kern="1200" dirty="0"/>
        </a:p>
      </dsp:txBody>
      <dsp:txXfrm>
        <a:off x="4314711" y="1287382"/>
        <a:ext cx="2836980" cy="957892"/>
      </dsp:txXfrm>
    </dsp:sp>
    <dsp:sp modelId="{219E3BE6-2204-46B1-B34D-50955191B5BC}">
      <dsp:nvSpPr>
        <dsp:cNvPr id="0" name=""/>
        <dsp:cNvSpPr/>
      </dsp:nvSpPr>
      <dsp:spPr>
        <a:xfrm>
          <a:off x="7627763" y="1819891"/>
          <a:ext cx="2878493" cy="2374154"/>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l" defTabSz="889000">
            <a:lnSpc>
              <a:spcPct val="90000"/>
            </a:lnSpc>
            <a:spcBef>
              <a:spcPct val="0"/>
            </a:spcBef>
            <a:spcAft>
              <a:spcPct val="15000"/>
            </a:spcAft>
            <a:buChar char="••"/>
          </a:pPr>
          <a:r>
            <a:rPr lang="zh-CN" altLang="en-US" sz="2000" kern="1200" dirty="0" smtClean="0"/>
            <a:t>智能机制的搭建</a:t>
          </a:r>
          <a:endParaRPr lang="zh-CN" altLang="en-US" sz="2000" kern="1200" dirty="0"/>
        </a:p>
        <a:p>
          <a:pPr marL="228600" lvl="1" indent="-228600" algn="l" defTabSz="889000">
            <a:lnSpc>
              <a:spcPct val="90000"/>
            </a:lnSpc>
            <a:spcBef>
              <a:spcPct val="0"/>
            </a:spcBef>
            <a:spcAft>
              <a:spcPct val="15000"/>
            </a:spcAft>
            <a:buChar char="••"/>
          </a:pPr>
          <a:r>
            <a:rPr lang="zh-CN" altLang="en-US" sz="2000" kern="1200" dirty="0" smtClean="0"/>
            <a:t>合适任务的筛选</a:t>
          </a:r>
          <a:endParaRPr lang="zh-CN" altLang="en-US" sz="2000" kern="1200" dirty="0"/>
        </a:p>
        <a:p>
          <a:pPr marL="228600" lvl="1" indent="-228600" algn="l" defTabSz="889000">
            <a:lnSpc>
              <a:spcPct val="90000"/>
            </a:lnSpc>
            <a:spcBef>
              <a:spcPct val="0"/>
            </a:spcBef>
            <a:spcAft>
              <a:spcPct val="15000"/>
            </a:spcAft>
            <a:buChar char="••"/>
          </a:pPr>
          <a:r>
            <a:rPr lang="zh-CN" altLang="en-US" sz="2000" kern="1200" dirty="0" smtClean="0"/>
            <a:t>离线训练</a:t>
          </a:r>
          <a:endParaRPr lang="zh-CN" altLang="en-US" sz="2000" kern="1200" dirty="0"/>
        </a:p>
        <a:p>
          <a:pPr marL="228600" lvl="1" indent="-228600" algn="l" defTabSz="889000">
            <a:lnSpc>
              <a:spcPct val="90000"/>
            </a:lnSpc>
            <a:spcBef>
              <a:spcPct val="0"/>
            </a:spcBef>
            <a:spcAft>
              <a:spcPct val="15000"/>
            </a:spcAft>
            <a:buChar char="••"/>
          </a:pPr>
          <a:r>
            <a:rPr lang="zh-CN" altLang="en-US" sz="2000" kern="1200" dirty="0" smtClean="0"/>
            <a:t>上线使用</a:t>
          </a:r>
          <a:endParaRPr lang="zh-CN" altLang="en-US" sz="2000" kern="1200" dirty="0"/>
        </a:p>
      </dsp:txBody>
      <dsp:txXfrm>
        <a:off x="7682399" y="1874527"/>
        <a:ext cx="2769221" cy="1756135"/>
      </dsp:txXfrm>
    </dsp:sp>
    <dsp:sp modelId="{095B310D-7987-410D-A580-6F317075BB37}">
      <dsp:nvSpPr>
        <dsp:cNvPr id="0" name=""/>
        <dsp:cNvSpPr/>
      </dsp:nvSpPr>
      <dsp:spPr>
        <a:xfrm>
          <a:off x="8020812" y="3685298"/>
          <a:ext cx="3051893" cy="1017494"/>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lvl="0" algn="ctr" defTabSz="1244600">
            <a:lnSpc>
              <a:spcPct val="90000"/>
            </a:lnSpc>
            <a:spcBef>
              <a:spcPct val="0"/>
            </a:spcBef>
            <a:spcAft>
              <a:spcPct val="35000"/>
            </a:spcAft>
          </a:pPr>
          <a:r>
            <a:rPr lang="zh-CN" altLang="en-US" sz="2800" kern="1200" dirty="0" smtClean="0"/>
            <a:t>智慧运维的落地</a:t>
          </a:r>
          <a:endParaRPr lang="zh-CN" altLang="en-US" sz="2800" kern="1200" dirty="0"/>
        </a:p>
      </dsp:txBody>
      <dsp:txXfrm>
        <a:off x="8050613" y="3715099"/>
        <a:ext cx="2992291" cy="957892"/>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4.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6BDDE-6A1D-46F5-9C9B-6287E7532B69}" type="datetimeFigureOut">
              <a:rPr lang="zh-CN" altLang="en-US" smtClean="0"/>
              <a:t>2018/3/27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B2AAF-1555-4972-80AC-B14A04437104}" type="slidenum">
              <a:rPr lang="zh-CN" altLang="en-US" smtClean="0"/>
              <a:t>‹#›</a:t>
            </a:fld>
            <a:endParaRPr lang="zh-CN" altLang="en-US"/>
          </a:p>
        </p:txBody>
      </p:sp>
    </p:spTree>
    <p:extLst>
      <p:ext uri="{BB962C8B-B14F-4D97-AF65-F5344CB8AC3E}">
        <p14:creationId xmlns:p14="http://schemas.microsoft.com/office/powerpoint/2010/main" val="4113223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r>
              <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rPr>
              <a:t>1.</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事倍功半：网络、服务、数据规模面临快速增长。通过传统运维方式效率太低。特别是很多例行的检查和备份工作还通过人工去操作。比如设备健康检查、文件备份、局数据对比、还日报月报涉及到的重点关注的指标啊。</a:t>
            </a:r>
            <a:endPar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algn="l">
              <a:lnSpc>
                <a:spcPct val="150000"/>
              </a:lnSpc>
            </a:pPr>
            <a:r>
              <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rPr>
              <a:t>2.</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很多的网络问题知道出现用户投诉才知道，缺少及时有效的隐性故障提前发现或预测的手段。</a:t>
            </a:r>
            <a:endPar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algn="l">
              <a:lnSpc>
                <a:spcPct val="150000"/>
              </a:lnSpc>
            </a:pPr>
            <a:r>
              <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网络告警或性能问题的数量大，缺少快速定位根源有效的手段。或者知道问题存在，但解决需要耗费大量资源。难以开展。</a:t>
            </a:r>
            <a:endPar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algn="l">
              <a:lnSpc>
                <a:spcPct val="150000"/>
              </a:lnSpc>
            </a:pPr>
            <a:r>
              <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rPr>
              <a:t>4.</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多专业存在，专业之间缺乏统一协调渠道。缺少网络的整体性和全局性把控。</a:t>
            </a:r>
            <a:endPar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algn="l">
              <a:lnSpc>
                <a:spcPct val="150000"/>
              </a:lnSpc>
            </a:pPr>
            <a:endPar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EBAB2AAF-1555-4972-80AC-B14A04437104}" type="slidenum">
              <a:rPr lang="zh-CN" altLang="en-US" smtClean="0"/>
              <a:t>3</a:t>
            </a:fld>
            <a:endParaRPr lang="zh-CN" altLang="en-US"/>
          </a:p>
        </p:txBody>
      </p:sp>
    </p:spTree>
    <p:extLst>
      <p:ext uri="{BB962C8B-B14F-4D97-AF65-F5344CB8AC3E}">
        <p14:creationId xmlns:p14="http://schemas.microsoft.com/office/powerpoint/2010/main" val="498716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网络大脑：</a:t>
            </a:r>
            <a:endParaRPr lang="en-US" altLang="zh-CN" dirty="0" smtClean="0"/>
          </a:p>
          <a:p>
            <a:endParaRPr lang="en-US" altLang="zh-CN" dirty="0" smtClean="0"/>
          </a:p>
          <a:p>
            <a:endParaRPr lang="en-US" altLang="zh-CN" dirty="0" smtClean="0"/>
          </a:p>
          <a:p>
            <a:pPr marL="285750" indent="-285750">
              <a:buFont typeface="Arial" panose="020B0604020202020204" pitchFamily="34" charset="0"/>
              <a:buChar char="•"/>
            </a:pPr>
            <a:r>
              <a:rPr lang="zh-CN" altLang="en-US" dirty="0" smtClean="0"/>
              <a:t>数据驱动</a:t>
            </a:r>
            <a:endParaRPr lang="en-US" altLang="zh-CN" dirty="0" smtClean="0"/>
          </a:p>
          <a:p>
            <a:pPr marL="285750" indent="-285750">
              <a:buFont typeface="Arial" panose="020B0604020202020204" pitchFamily="34" charset="0"/>
              <a:buChar char="•"/>
            </a:pPr>
            <a:r>
              <a:rPr lang="zh-CN" altLang="en-US" dirty="0" smtClean="0"/>
              <a:t>自动化流程解放人力</a:t>
            </a:r>
            <a:endParaRPr lang="en-US" altLang="zh-CN" dirty="0" smtClean="0"/>
          </a:p>
          <a:p>
            <a:pPr marL="285750" indent="-285750">
              <a:buFont typeface="Arial" panose="020B0604020202020204" pitchFamily="34" charset="0"/>
              <a:buChar char="•"/>
            </a:pPr>
            <a:r>
              <a:rPr lang="zh-CN" altLang="en-US" dirty="0" smtClean="0"/>
              <a:t>利用数据产生价值</a:t>
            </a:r>
            <a:endParaRPr lang="en-US" altLang="zh-CN" dirty="0" smtClean="0"/>
          </a:p>
          <a:p>
            <a:pPr marL="285750" indent="-285750">
              <a:buFont typeface="Arial" panose="020B0604020202020204" pitchFamily="34" charset="0"/>
              <a:buChar char="•"/>
            </a:pPr>
            <a:r>
              <a:rPr lang="zh-CN" altLang="en-US" dirty="0" smtClean="0"/>
              <a:t>数据和智能是未来的趋势</a:t>
            </a:r>
            <a:endParaRPr lang="en-US" altLang="zh-CN" dirty="0" smtClean="0"/>
          </a:p>
          <a:p>
            <a:pPr marL="285750" indent="-285750">
              <a:buFont typeface="Arial" panose="020B0604020202020204" pitchFamily="34" charset="0"/>
              <a:buChar char="•"/>
            </a:pPr>
            <a:r>
              <a:rPr lang="zh-CN" altLang="en-US" dirty="0" smtClean="0"/>
              <a:t>通过大脑将各种数据统筹规划</a:t>
            </a:r>
            <a:endParaRPr lang="en-US" altLang="zh-CN" dirty="0" smtClean="0"/>
          </a:p>
          <a:p>
            <a:pPr marL="285750" indent="-285750">
              <a:buFont typeface="Arial" panose="020B0604020202020204" pitchFamily="34" charset="0"/>
              <a:buChar char="•"/>
            </a:pPr>
            <a:r>
              <a:rPr lang="zh-CN" altLang="en-US" dirty="0" smtClean="0"/>
              <a:t>自我协调、良性互动</a:t>
            </a:r>
            <a:endParaRPr lang="en-US" altLang="zh-CN" dirty="0" smtClean="0"/>
          </a:p>
          <a:p>
            <a:pPr marL="285750" indent="-285750">
              <a:buFont typeface="Arial" panose="020B0604020202020204" pitchFamily="34" charset="0"/>
              <a:buChar char="•"/>
            </a:pPr>
            <a:r>
              <a:rPr lang="zh-CN" altLang="en-US" dirty="0" smtClean="0"/>
              <a:t>改变网络运维模式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a:t>
            </a:fld>
            <a:endParaRPr lang="zh-CN" altLang="en-US"/>
          </a:p>
        </p:txBody>
      </p:sp>
    </p:spTree>
    <p:extLst>
      <p:ext uri="{BB962C8B-B14F-4D97-AF65-F5344CB8AC3E}">
        <p14:creationId xmlns:p14="http://schemas.microsoft.com/office/powerpoint/2010/main" val="2174604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a:t>
            </a:r>
            <a:r>
              <a:rPr lang="zh-CN" altLang="en-US" dirty="0" smtClean="0"/>
              <a:t>知全局，通过平台可以清晰知道网络整体情况，网络之间的拓扑关系。知道网络有没有什么问题。问题在哪个节点上。</a:t>
            </a:r>
            <a:endParaRPr lang="en-US" altLang="zh-CN" dirty="0" smtClean="0"/>
          </a:p>
          <a:p>
            <a:r>
              <a:rPr lang="en-US" altLang="zh-CN" dirty="0" smtClean="0"/>
              <a:t>2.</a:t>
            </a:r>
            <a:r>
              <a:rPr lang="zh-CN" altLang="en-US" dirty="0" smtClean="0"/>
              <a:t>深洞察，对于存在的问题或者关注的网络问题可以进行入的分析研究。能够定位问题的根源。清楚网络的细节。</a:t>
            </a:r>
            <a:endParaRPr lang="en-US" altLang="zh-CN" dirty="0" smtClean="0"/>
          </a:p>
          <a:p>
            <a:r>
              <a:rPr lang="en-US" altLang="zh-CN" dirty="0" smtClean="0"/>
              <a:t>3.</a:t>
            </a:r>
            <a:r>
              <a:rPr lang="zh-CN" altLang="en-US" dirty="0" smtClean="0"/>
              <a:t>缓压力，通过将更多的成熟的例行工作通过平台自动化完成，有效缓解人力需求的压力。</a:t>
            </a:r>
            <a:endParaRPr lang="en-US" altLang="zh-CN" dirty="0" smtClean="0"/>
          </a:p>
          <a:p>
            <a:r>
              <a:rPr lang="en-US" altLang="zh-CN" dirty="0" smtClean="0"/>
              <a:t>4.</a:t>
            </a:r>
            <a:r>
              <a:rPr lang="zh-CN" altLang="en-US" dirty="0" smtClean="0"/>
              <a:t>拓未来，通过大数据更清楚网络和业务需求之间的现状及发展趋势。可以更好的进行网络规划。通过引入人工智能，让机器学习来解决一下运维问题。向智能运维方向发展。</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6</a:t>
            </a:fld>
            <a:endParaRPr lang="zh-CN" altLang="en-US"/>
          </a:p>
        </p:txBody>
      </p:sp>
    </p:spTree>
    <p:extLst>
      <p:ext uri="{BB962C8B-B14F-4D97-AF65-F5344CB8AC3E}">
        <p14:creationId xmlns:p14="http://schemas.microsoft.com/office/powerpoint/2010/main" val="284450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9</a:t>
            </a:fld>
            <a:endParaRPr lang="zh-CN" altLang="en-US"/>
          </a:p>
        </p:txBody>
      </p:sp>
    </p:spTree>
    <p:extLst>
      <p:ext uri="{BB962C8B-B14F-4D97-AF65-F5344CB8AC3E}">
        <p14:creationId xmlns:p14="http://schemas.microsoft.com/office/powerpoint/2010/main" val="2613564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人工智能最热年</a:t>
            </a:r>
            <a:endParaRPr lang="en-US" altLang="zh-CN" dirty="0" smtClean="0"/>
          </a:p>
          <a:p>
            <a:r>
              <a:rPr lang="zh-CN" altLang="en-US" dirty="0" smtClean="0"/>
              <a:t>自动化运维的推进实施使得人员和流程的问题的到了有效解决</a:t>
            </a:r>
            <a:endParaRPr lang="en-US" altLang="zh-CN" dirty="0" smtClean="0"/>
          </a:p>
          <a:p>
            <a:r>
              <a:rPr lang="zh-CN" altLang="en-US" dirty="0" smtClean="0"/>
              <a:t>新的问题是随着网络和业务的不断发展，运维人员要关注的问题也呈现了指数级增长，虽然自动化运维解决了效率，但是也出现了新的难题如繁杂的报警信息，故障定位等</a:t>
            </a:r>
            <a:endParaRPr lang="en-US" altLang="zh-CN" dirty="0" smtClean="0"/>
          </a:p>
          <a:p>
            <a:r>
              <a:rPr lang="zh-CN" altLang="en-US" dirty="0" smtClean="0"/>
              <a:t>恰好进入了人工智能时代，</a:t>
            </a:r>
            <a:r>
              <a:rPr lang="en-US" altLang="zh-CN" dirty="0" smtClean="0"/>
              <a:t>Gartner</a:t>
            </a:r>
            <a:r>
              <a:rPr lang="zh-CN" altLang="en-US" dirty="0" smtClean="0"/>
              <a:t>在</a:t>
            </a:r>
            <a:r>
              <a:rPr lang="en-US" altLang="zh-CN" dirty="0" smtClean="0"/>
              <a:t>2016</a:t>
            </a:r>
            <a:r>
              <a:rPr lang="zh-CN" altLang="en-US" dirty="0" smtClean="0"/>
              <a:t>年提出了</a:t>
            </a:r>
            <a:r>
              <a:rPr lang="en-US" altLang="zh-CN" dirty="0" err="1" smtClean="0"/>
              <a:t>AIOps</a:t>
            </a:r>
            <a:r>
              <a:rPr lang="zh-CN" altLang="en-US" dirty="0" smtClean="0"/>
              <a:t>的概念，预计在</a:t>
            </a:r>
            <a:r>
              <a:rPr lang="en-US" altLang="zh-CN" dirty="0" smtClean="0"/>
              <a:t>2019</a:t>
            </a:r>
            <a:r>
              <a:rPr lang="zh-CN" altLang="en-US" dirty="0" smtClean="0"/>
              <a:t>年</a:t>
            </a:r>
            <a:r>
              <a:rPr lang="en-US" altLang="zh-CN" dirty="0" err="1" smtClean="0"/>
              <a:t>AIOps</a:t>
            </a:r>
            <a:r>
              <a:rPr lang="zh-CN" altLang="en-US" dirty="0" smtClean="0"/>
              <a:t>会达到</a:t>
            </a:r>
            <a:r>
              <a:rPr lang="en-US" altLang="zh-CN" dirty="0" smtClean="0"/>
              <a:t>25%</a:t>
            </a:r>
            <a:r>
              <a:rPr lang="zh-CN" altLang="en-US" dirty="0" smtClean="0"/>
              <a:t>的部署率，到</a:t>
            </a:r>
            <a:r>
              <a:rPr lang="en-US" altLang="zh-CN" dirty="0" smtClean="0"/>
              <a:t>2020</a:t>
            </a:r>
            <a:r>
              <a:rPr lang="zh-CN" altLang="en-US" dirty="0" smtClean="0"/>
              <a:t>年会达到</a:t>
            </a:r>
            <a:r>
              <a:rPr lang="en-US" altLang="zh-CN" dirty="0" smtClean="0"/>
              <a:t>50%</a:t>
            </a:r>
            <a:r>
              <a:rPr lang="zh-CN" altLang="en-US" dirty="0" smtClean="0"/>
              <a:t>的部署率。</a:t>
            </a:r>
            <a:endParaRPr lang="en-US" altLang="zh-CN" dirty="0" smtClean="0"/>
          </a:p>
          <a:p>
            <a:pPr indent="457200">
              <a:lnSpc>
                <a:spcPct val="150000"/>
              </a:lnSpc>
            </a:pPr>
            <a:r>
              <a:rPr lang="zh-CN" altLang="en-US" dirty="0" smtClean="0"/>
              <a:t>。</a:t>
            </a:r>
            <a:r>
              <a:rPr lang="zh-CN" altLang="en-US" sz="1200" dirty="0" smtClean="0"/>
              <a:t>新的挑战：</a:t>
            </a:r>
            <a:endParaRPr lang="en-US" altLang="zh-CN" sz="1200" dirty="0" smtClean="0"/>
          </a:p>
          <a:p>
            <a:pPr marL="285750" indent="-285750">
              <a:lnSpc>
                <a:spcPct val="150000"/>
              </a:lnSpc>
              <a:buFont typeface="Arial" panose="020B0604020202020204" pitchFamily="34" charset="0"/>
              <a:buChar char="•"/>
            </a:pPr>
            <a:r>
              <a:rPr lang="zh-CN" altLang="en-US" sz="1200" dirty="0" smtClean="0"/>
              <a:t>海量监测</a:t>
            </a:r>
            <a:r>
              <a:rPr lang="en-US" altLang="zh-CN" sz="1200" dirty="0" smtClean="0"/>
              <a:t>KPI</a:t>
            </a:r>
            <a:r>
              <a:rPr lang="zh-CN" altLang="en-US" sz="1200" dirty="0" smtClean="0"/>
              <a:t>如何快速发现异常（带宽利用率、</a:t>
            </a:r>
            <a:r>
              <a:rPr lang="en-US" altLang="zh-CN" sz="1200" dirty="0" smtClean="0"/>
              <a:t>CPU</a:t>
            </a:r>
            <a:r>
              <a:rPr lang="zh-CN" altLang="en-US" sz="1200" dirty="0" smtClean="0"/>
              <a:t>利用率、家宽用户数等）</a:t>
            </a:r>
            <a:endParaRPr lang="en-US" altLang="zh-CN" sz="1200" dirty="0" smtClean="0"/>
          </a:p>
          <a:p>
            <a:pPr marL="285750" indent="-285750">
              <a:lnSpc>
                <a:spcPct val="150000"/>
              </a:lnSpc>
              <a:buFont typeface="Arial" panose="020B0604020202020204" pitchFamily="34" charset="0"/>
              <a:buChar char="•"/>
            </a:pPr>
            <a:r>
              <a:rPr lang="zh-CN" altLang="en-US" sz="1200" dirty="0" smtClean="0"/>
              <a:t>繁杂的报警信息（硬件设备、传输、环境、性能）</a:t>
            </a:r>
            <a:endParaRPr lang="en-US" altLang="zh-CN" sz="1200" dirty="0" smtClean="0">
              <a:solidFill>
                <a:srgbClr val="FF0000"/>
              </a:solidFill>
            </a:endParaRPr>
          </a:p>
          <a:p>
            <a:pPr marL="285750" indent="-285750">
              <a:lnSpc>
                <a:spcPct val="150000"/>
              </a:lnSpc>
              <a:buFont typeface="Arial" panose="020B0604020202020204" pitchFamily="34" charset="0"/>
              <a:buChar char="•"/>
            </a:pPr>
            <a:r>
              <a:rPr lang="zh-CN" altLang="en-US" sz="1200" dirty="0" smtClean="0"/>
              <a:t>故障发生如何定位（线网组成复杂）</a:t>
            </a:r>
            <a:endParaRPr lang="en-US" altLang="zh-CN" sz="1200" dirty="0" smtClean="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10</a:t>
            </a:fld>
            <a:endParaRPr lang="zh-CN" altLang="en-US"/>
          </a:p>
        </p:txBody>
      </p:sp>
    </p:spTree>
    <p:extLst>
      <p:ext uri="{BB962C8B-B14F-4D97-AF65-F5344CB8AC3E}">
        <p14:creationId xmlns:p14="http://schemas.microsoft.com/office/powerpoint/2010/main" val="1180883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网管工具系统集成：是指将类似功能的系统或工具进行平台整合</a:t>
            </a:r>
            <a:endParaRPr lang="en-US" altLang="zh-CN" dirty="0" smtClean="0"/>
          </a:p>
          <a:p>
            <a:r>
              <a:rPr lang="zh-CN" altLang="en-US" dirty="0" smtClean="0"/>
              <a:t>运维动作一致有效：是指日常运维操作规范化及流程化，通过脚本执行解决经验性差异及疏失错误</a:t>
            </a:r>
            <a:endParaRPr lang="en-US" altLang="zh-CN" dirty="0" smtClean="0"/>
          </a:p>
          <a:p>
            <a:r>
              <a:rPr lang="zh-CN" altLang="en-US" dirty="0" smtClean="0"/>
              <a:t>运维语言统一清晰：是指通过结构化存储不同类型的数据，以及统一的对评价体系描述运维质量</a:t>
            </a:r>
            <a:endParaRPr lang="en-US" altLang="zh-CN" dirty="0" smtClean="0"/>
          </a:p>
          <a:p>
            <a:endParaRPr lang="en-US" altLang="zh-CN" dirty="0" smtClean="0"/>
          </a:p>
          <a:p>
            <a:r>
              <a:rPr lang="zh-CN" altLang="en-US" dirty="0" smtClean="0"/>
              <a:t>从自动化运维到智慧化运维，主要是摆脱规则人为制定这一痛点，将海量的运维数据及事件交给智能算法，由它自己发现和总结提炼</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11</a:t>
            </a:fld>
            <a:endParaRPr lang="zh-CN" altLang="en-US"/>
          </a:p>
        </p:txBody>
      </p:sp>
    </p:spTree>
    <p:extLst>
      <p:ext uri="{BB962C8B-B14F-4D97-AF65-F5344CB8AC3E}">
        <p14:creationId xmlns:p14="http://schemas.microsoft.com/office/powerpoint/2010/main" val="110052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
            </a:r>
            <a:br>
              <a:rPr lang="zh-CN" altLang="en-US" dirty="0" smtClean="0"/>
            </a:br>
            <a:r>
              <a:rPr lang="en-US" altLang="zh-CN" dirty="0" smtClean="0"/>
              <a:t>ML</a:t>
            </a:r>
            <a:r>
              <a:rPr lang="zh-CN" altLang="en-US" dirty="0" smtClean="0"/>
              <a:t>算法算是普通算法的一个进化。 允许程序可以根据提供的数据进行自动的学习，它可以使你的程序变得更</a:t>
            </a:r>
            <a:r>
              <a:rPr lang="en-US" altLang="zh-CN" dirty="0" smtClean="0"/>
              <a:t>"</a:t>
            </a:r>
            <a:r>
              <a:rPr lang="zh-CN" altLang="en-US" dirty="0" smtClean="0"/>
              <a:t>聪明</a:t>
            </a:r>
            <a:r>
              <a:rPr lang="en-US" altLang="zh-CN" dirty="0" smtClean="0"/>
              <a:t>"</a:t>
            </a:r>
            <a:r>
              <a:rPr lang="zh-CN" altLang="en-US" dirty="0" smtClean="0"/>
              <a:t>。</a:t>
            </a:r>
          </a:p>
          <a:p>
            <a:r>
              <a:rPr lang="zh-CN" altLang="en-US" dirty="0" smtClean="0"/>
              <a:t>你可以从市场随机购买一些芒果作为样本</a:t>
            </a:r>
            <a:r>
              <a:rPr lang="en-US" altLang="zh-CN" dirty="0" smtClean="0"/>
              <a:t>(</a:t>
            </a:r>
            <a:r>
              <a:rPr lang="en-US" altLang="zh-CN" b="1" dirty="0" smtClean="0"/>
              <a:t>training data</a:t>
            </a:r>
            <a:r>
              <a:rPr lang="en-US" altLang="zh-CN" dirty="0" smtClean="0"/>
              <a:t>)</a:t>
            </a:r>
            <a:r>
              <a:rPr lang="zh-CN" altLang="en-US" dirty="0" smtClean="0"/>
              <a:t>，然后列出所有芒果的属性，比如颜色，大小，形状，产地，经销商，等等</a:t>
            </a:r>
            <a:r>
              <a:rPr lang="en-US" altLang="zh-CN" dirty="0" smtClean="0"/>
              <a:t>(</a:t>
            </a:r>
            <a:r>
              <a:rPr lang="en-US" altLang="zh-CN" b="1" dirty="0" smtClean="0"/>
              <a:t>features</a:t>
            </a:r>
            <a:r>
              <a:rPr lang="en-US" altLang="zh-CN" dirty="0" smtClean="0"/>
              <a:t>)</a:t>
            </a:r>
            <a:r>
              <a:rPr lang="zh-CN" altLang="en-US" dirty="0" smtClean="0"/>
              <a:t>，以及 甜度，成熟度，是否多汁，等等</a:t>
            </a:r>
            <a:r>
              <a:rPr lang="en-US" altLang="zh-CN" dirty="0" smtClean="0"/>
              <a:t>(</a:t>
            </a:r>
            <a:r>
              <a:rPr lang="en-US" altLang="zh-CN" b="1" dirty="0" smtClean="0"/>
              <a:t>output variables</a:t>
            </a:r>
            <a:r>
              <a:rPr lang="en-US" altLang="zh-CN" dirty="0" smtClean="0"/>
              <a:t>)</a:t>
            </a:r>
            <a:r>
              <a:rPr lang="zh-CN" altLang="en-US" dirty="0" smtClean="0"/>
              <a:t>。将这些数据在机器学习算法里运行</a:t>
            </a:r>
            <a:r>
              <a:rPr lang="en-US" altLang="zh-CN" dirty="0" smtClean="0"/>
              <a:t>(</a:t>
            </a:r>
            <a:r>
              <a:rPr lang="en-US" altLang="zh-CN" b="1" dirty="0" smtClean="0"/>
              <a:t>classification/regression</a:t>
            </a:r>
            <a:r>
              <a:rPr lang="en-US" altLang="zh-CN" dirty="0" smtClean="0"/>
              <a:t>)</a:t>
            </a:r>
            <a:r>
              <a:rPr lang="zh-CN" altLang="en-US" dirty="0" smtClean="0"/>
              <a:t>，则</a:t>
            </a:r>
            <a:r>
              <a:rPr lang="en-US" altLang="zh-CN" dirty="0" smtClean="0"/>
              <a:t>ML</a:t>
            </a:r>
            <a:r>
              <a:rPr lang="zh-CN" altLang="en-US" dirty="0" smtClean="0"/>
              <a:t>算法构建一个模型：芒果的属性</a:t>
            </a:r>
            <a:r>
              <a:rPr lang="en-US" altLang="zh-CN" dirty="0" smtClean="0"/>
              <a:t>--</a:t>
            </a:r>
            <a:r>
              <a:rPr lang="zh-CN" altLang="en-US" dirty="0" smtClean="0"/>
              <a:t>芒果质量。</a:t>
            </a:r>
          </a:p>
          <a:p>
            <a:r>
              <a:rPr lang="zh-CN" altLang="en-US" dirty="0" smtClean="0"/>
              <a:t>下次你再去买芒果，你就可以检测一下芒果的属性</a:t>
            </a:r>
            <a:r>
              <a:rPr lang="en-US" altLang="zh-CN" dirty="0" smtClean="0"/>
              <a:t>(</a:t>
            </a:r>
            <a:r>
              <a:rPr lang="zh-CN" altLang="en-US" dirty="0" smtClean="0"/>
              <a:t>颜色，大小等等</a:t>
            </a:r>
            <a:r>
              <a:rPr lang="en-US" altLang="zh-CN" dirty="0" smtClean="0"/>
              <a:t>)(</a:t>
            </a:r>
            <a:r>
              <a:rPr lang="en-US" altLang="zh-CN" b="1" dirty="0" smtClean="0"/>
              <a:t>test data</a:t>
            </a:r>
            <a:r>
              <a:rPr lang="en-US" altLang="zh-CN" dirty="0" smtClean="0"/>
              <a:t>)</a:t>
            </a:r>
            <a:r>
              <a:rPr lang="zh-CN" altLang="en-US" dirty="0" smtClean="0"/>
              <a:t>，然后提供给</a:t>
            </a:r>
            <a:r>
              <a:rPr lang="en-US" altLang="zh-CN" dirty="0" smtClean="0"/>
              <a:t>ML</a:t>
            </a:r>
            <a:r>
              <a:rPr lang="zh-CN" altLang="en-US" dirty="0" smtClean="0"/>
              <a:t>算法。</a:t>
            </a:r>
            <a:r>
              <a:rPr lang="en-US" altLang="zh-CN" dirty="0" smtClean="0"/>
              <a:t>ML</a:t>
            </a:r>
            <a:r>
              <a:rPr lang="zh-CN" altLang="en-US" dirty="0" smtClean="0"/>
              <a:t>算法会根据模型</a:t>
            </a:r>
            <a:r>
              <a:rPr lang="en-US" altLang="zh-CN" dirty="0" smtClean="0"/>
              <a:t>(model)</a:t>
            </a:r>
            <a:r>
              <a:rPr lang="zh-CN" altLang="en-US" dirty="0" smtClean="0"/>
              <a:t>预测哪些芒果是甜的，较成熟的</a:t>
            </a:r>
            <a:r>
              <a:rPr lang="en-US" altLang="zh-CN" dirty="0" smtClean="0"/>
              <a:t>/</a:t>
            </a:r>
            <a:r>
              <a:rPr lang="zh-CN" altLang="en-US" dirty="0" smtClean="0"/>
              <a:t>或者更多汁。算法内部使用的规则也许会类似于你之前手动写的哪些规则</a:t>
            </a:r>
            <a:r>
              <a:rPr lang="en-US" altLang="zh-CN" dirty="0" smtClean="0"/>
              <a:t>(</a:t>
            </a:r>
            <a:r>
              <a:rPr lang="en-US" altLang="zh-CN" b="1" dirty="0" smtClean="0"/>
              <a:t>decision tree</a:t>
            </a:r>
            <a:r>
              <a:rPr lang="en-US" altLang="zh-CN" dirty="0" smtClean="0"/>
              <a:t>)</a:t>
            </a:r>
            <a:r>
              <a:rPr lang="zh-CN" altLang="en-US" dirty="0" smtClean="0"/>
              <a:t>，也或者使用更复杂的规则，但是基本上这些对于用户和使用者而言并不需要关心。</a:t>
            </a:r>
          </a:p>
          <a:p>
            <a:r>
              <a:rPr lang="zh-CN" altLang="en-US" dirty="0" smtClean="0"/>
              <a:t>你现在再去买芒果就有很大信心了，而且并不需要关心这些挑选好的芒果的细节。而且更重要的时候，随着时间你的</a:t>
            </a:r>
            <a:r>
              <a:rPr lang="en-US" altLang="zh-CN" dirty="0" smtClean="0"/>
              <a:t>ML</a:t>
            </a:r>
            <a:r>
              <a:rPr lang="zh-CN" altLang="en-US" dirty="0" smtClean="0"/>
              <a:t>算法会自我提升</a:t>
            </a:r>
            <a:r>
              <a:rPr lang="en-US" altLang="zh-CN" dirty="0" smtClean="0"/>
              <a:t>(</a:t>
            </a:r>
            <a:r>
              <a:rPr lang="en-US" altLang="zh-CN" b="1" dirty="0" smtClean="0"/>
              <a:t>reinforcement learning</a:t>
            </a:r>
            <a:r>
              <a:rPr lang="en-US" altLang="zh-CN" dirty="0" smtClean="0"/>
              <a:t>)</a:t>
            </a:r>
            <a:r>
              <a:rPr lang="zh-CN" altLang="en-US" dirty="0" smtClean="0"/>
              <a:t>，当预测错误的时候矫正自身，随着读取更多的</a:t>
            </a:r>
            <a:r>
              <a:rPr lang="en-US" altLang="zh-CN" dirty="0" smtClean="0"/>
              <a:t>training data</a:t>
            </a:r>
            <a:r>
              <a:rPr lang="zh-CN" altLang="en-US" dirty="0" smtClean="0"/>
              <a:t>预测也会越来越精准。你可以利用相同的算法而训练出不同的模型</a:t>
            </a:r>
            <a:r>
              <a:rPr lang="en-US" altLang="zh-CN" dirty="0" smtClean="0"/>
              <a:t>(model)</a:t>
            </a:r>
            <a:r>
              <a:rPr lang="zh-CN" altLang="en-US" dirty="0" smtClean="0"/>
              <a:t>，比如苹果，橘子，香蕉，西瓜等等。</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12</a:t>
            </a:fld>
            <a:endParaRPr lang="zh-CN" altLang="en-US"/>
          </a:p>
        </p:txBody>
      </p:sp>
    </p:spTree>
    <p:extLst>
      <p:ext uri="{BB962C8B-B14F-4D97-AF65-F5344CB8AC3E}">
        <p14:creationId xmlns:p14="http://schemas.microsoft.com/office/powerpoint/2010/main" val="2778354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机器学习是实现人工智能的一种方法</a:t>
            </a:r>
            <a:endParaRPr lang="en-US" altLang="zh-CN" dirty="0" smtClean="0"/>
          </a:p>
          <a:p>
            <a:r>
              <a:rPr lang="zh-CN" altLang="en-US" dirty="0" smtClean="0"/>
              <a:t>深度</a:t>
            </a:r>
            <a:r>
              <a:rPr lang="zh-CN" altLang="en-US" smtClean="0"/>
              <a:t>学习是实施机器学习</a:t>
            </a:r>
            <a:r>
              <a:rPr lang="zh-CN" altLang="en-US" dirty="0" smtClean="0"/>
              <a:t>的一种技术</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13</a:t>
            </a:fld>
            <a:endParaRPr lang="zh-CN" altLang="en-US"/>
          </a:p>
        </p:txBody>
      </p:sp>
    </p:spTree>
    <p:extLst>
      <p:ext uri="{BB962C8B-B14F-4D97-AF65-F5344CB8AC3E}">
        <p14:creationId xmlns:p14="http://schemas.microsoft.com/office/powerpoint/2010/main" val="2594220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14</a:t>
            </a:fld>
            <a:endParaRPr lang="zh-CN" altLang="en-US"/>
          </a:p>
        </p:txBody>
      </p:sp>
    </p:spTree>
    <p:extLst>
      <p:ext uri="{BB962C8B-B14F-4D97-AF65-F5344CB8AC3E}">
        <p14:creationId xmlns:p14="http://schemas.microsoft.com/office/powerpoint/2010/main" val="899256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17</a:t>
            </a:fld>
            <a:endParaRPr lang="zh-CN" altLang="en-US"/>
          </a:p>
        </p:txBody>
      </p:sp>
    </p:spTree>
    <p:extLst>
      <p:ext uri="{BB962C8B-B14F-4D97-AF65-F5344CB8AC3E}">
        <p14:creationId xmlns:p14="http://schemas.microsoft.com/office/powerpoint/2010/main" val="34406903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18</a:t>
            </a:fld>
            <a:endParaRPr lang="zh-CN" altLang="en-US"/>
          </a:p>
        </p:txBody>
      </p:sp>
    </p:spTree>
    <p:extLst>
      <p:ext uri="{BB962C8B-B14F-4D97-AF65-F5344CB8AC3E}">
        <p14:creationId xmlns:p14="http://schemas.microsoft.com/office/powerpoint/2010/main" val="35703762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indent="457200" algn="l">
              <a:lnSpc>
                <a:spcPct val="150000"/>
              </a:lnSpc>
            </a:pPr>
            <a:r>
              <a:rPr lang="zh-CN" altLang="en-US" b="1" dirty="0" smtClean="0">
                <a:solidFill>
                  <a:srgbClr val="FF0000"/>
                </a:solidFill>
              </a:rPr>
              <a:t>数据采集：</a:t>
            </a:r>
            <a:endParaRPr lang="en-US" altLang="zh-CN" b="1" dirty="0" smtClean="0">
              <a:solidFill>
                <a:srgbClr val="FF0000"/>
              </a:solidFill>
            </a:endParaRPr>
          </a:p>
          <a:p>
            <a:pPr indent="457200" algn="l">
              <a:lnSpc>
                <a:spcPct val="150000"/>
              </a:lnSpc>
            </a:pPr>
            <a:r>
              <a:rPr lang="en-US" altLang="zh-CN" b="1" dirty="0" smtClean="0"/>
              <a:t>	</a:t>
            </a:r>
            <a:r>
              <a:rPr lang="zh-CN" altLang="en-US" b="1" dirty="0" smtClean="0"/>
              <a:t>模块简介</a:t>
            </a:r>
          </a:p>
          <a:p>
            <a:pPr indent="457200" algn="l">
              <a:lnSpc>
                <a:spcPct val="150000"/>
              </a:lnSpc>
            </a:pPr>
            <a:r>
              <a:rPr lang="zh-CN" altLang="en-US" dirty="0" smtClean="0">
                <a:latin typeface="微软雅黑" panose="020B0503020204020204" pitchFamily="34" charset="-122"/>
                <a:ea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rPr>
              <a:t>	</a:t>
            </a:r>
            <a:r>
              <a:rPr lang="zh-CN" altLang="en-US" dirty="0" smtClean="0">
                <a:effectLst/>
                <a:latin typeface="微软雅黑" panose="020B0503020204020204" pitchFamily="34" charset="-122"/>
                <a:ea typeface="微软雅黑" panose="020B0503020204020204" pitchFamily="34" charset="-122"/>
                <a:sym typeface="+mn-ea"/>
              </a:rPr>
              <a:t>网络运维</a:t>
            </a:r>
            <a:r>
              <a:rPr lang="zh-CN" altLang="zh-CN" dirty="0" smtClean="0">
                <a:effectLst/>
                <a:latin typeface="微软雅黑" panose="020B0503020204020204" pitchFamily="34" charset="-122"/>
                <a:ea typeface="微软雅黑" panose="020B0503020204020204" pitchFamily="34" charset="-122"/>
                <a:sym typeface="+mn-ea"/>
              </a:rPr>
              <a:t>日常工作中数据获取</a:t>
            </a:r>
            <a:r>
              <a:rPr lang="zh-CN" altLang="en-US" dirty="0" smtClean="0">
                <a:effectLst/>
                <a:latin typeface="微软雅黑" panose="020B0503020204020204" pitchFamily="34" charset="-122"/>
                <a:ea typeface="微软雅黑" panose="020B0503020204020204" pitchFamily="34" charset="-122"/>
                <a:sym typeface="+mn-ea"/>
              </a:rPr>
              <a:t>需要手工选定，管理繁杂。</a:t>
            </a:r>
          </a:p>
          <a:p>
            <a:pPr indent="457200" algn="l">
              <a:lnSpc>
                <a:spcPct val="150000"/>
              </a:lnSpc>
            </a:pPr>
            <a:r>
              <a:rPr lang="zh-CN" altLang="en-US" dirty="0" smtClean="0">
                <a:effectLst/>
                <a:latin typeface="微软雅黑" panose="020B0503020204020204" pitchFamily="34" charset="-122"/>
                <a:ea typeface="微软雅黑" panose="020B0503020204020204" pitchFamily="34" charset="-122"/>
                <a:sym typeface="+mn-ea"/>
              </a:rPr>
              <a:t>    </a:t>
            </a:r>
            <a:r>
              <a:rPr lang="en-US" altLang="zh-CN" dirty="0" smtClean="0">
                <a:effectLst/>
                <a:latin typeface="微软雅黑" panose="020B0503020204020204" pitchFamily="34" charset="-122"/>
                <a:ea typeface="微软雅黑" panose="020B0503020204020204" pitchFamily="34" charset="-122"/>
                <a:sym typeface="+mn-ea"/>
              </a:rPr>
              <a:t>	</a:t>
            </a:r>
            <a:r>
              <a:rPr lang="zh-CN" altLang="en-US" dirty="0" smtClean="0">
                <a:effectLst/>
                <a:latin typeface="微软雅黑" panose="020B0503020204020204" pitchFamily="34" charset="-122"/>
                <a:ea typeface="微软雅黑" panose="020B0503020204020204" pitchFamily="34" charset="-122"/>
                <a:sym typeface="+mn-ea"/>
              </a:rPr>
              <a:t>采集系统可由用户自定义目标源，实现多个源同时自动实时上传下载文件，解决数据异源端口，手工下载不统一等繁杂问题。</a:t>
            </a:r>
            <a:endParaRPr lang="en-US" altLang="zh-CN" dirty="0" smtClean="0">
              <a:effectLst/>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t>	</a:t>
            </a:r>
            <a:r>
              <a:rPr lang="zh-CN" altLang="en-US" b="1" dirty="0" smtClean="0"/>
              <a:t>模块功能</a:t>
            </a:r>
          </a:p>
          <a:p>
            <a:pPr indent="457200" algn="l">
              <a:lnSpc>
                <a:spcPct val="150000"/>
              </a:lnSpc>
            </a:pPr>
            <a:r>
              <a:rPr lang="zh-CN" altLang="en-US" dirty="0" smtClean="0">
                <a:latin typeface="宋体" panose="02010600030101010101" pitchFamily="2" charset="-122"/>
                <a:ea typeface="宋体" panose="02010600030101010101" pitchFamily="2" charset="-122"/>
              </a:rPr>
              <a:t>    </a:t>
            </a:r>
            <a:r>
              <a:rPr lang="en-US" altLang="zh-CN" dirty="0" smtClean="0">
                <a:latin typeface="宋体" panose="02010600030101010101" pitchFamily="2" charset="-122"/>
                <a:ea typeface="宋体" panose="02010600030101010101" pitchFamily="2" charset="-122"/>
              </a:rPr>
              <a:t>	</a:t>
            </a:r>
            <a:r>
              <a:rPr lang="zh-CN" altLang="en-US" dirty="0" smtClean="0">
                <a:latin typeface="微软雅黑" panose="020B0503020204020204" pitchFamily="34" charset="-122"/>
                <a:ea typeface="微软雅黑" panose="020B0503020204020204" pitchFamily="34" charset="-122"/>
                <a:sym typeface="+mn-ea"/>
              </a:rPr>
              <a:t>自定义任务数据源</a:t>
            </a:r>
          </a:p>
          <a:p>
            <a:pPr indent="457200" algn="l">
              <a:lnSpc>
                <a:spcPct val="150000"/>
              </a:lnSpc>
            </a:pPr>
            <a:r>
              <a:rPr lang="zh-CN" altLang="en-US" dirty="0" smtClean="0">
                <a:latin typeface="微软雅黑" panose="020B0503020204020204" pitchFamily="34" charset="-122"/>
                <a:ea typeface="微软雅黑" panose="020B0503020204020204" pitchFamily="34" charset="-122"/>
                <a:sym typeface="+mn-ea"/>
              </a:rPr>
              <a:t>   </a:t>
            </a:r>
            <a:r>
              <a:rPr lang="en-US" altLang="zh-CN" dirty="0" smtClean="0">
                <a:latin typeface="微软雅黑" panose="020B0503020204020204" pitchFamily="34" charset="-122"/>
                <a:ea typeface="微软雅黑" panose="020B0503020204020204" pitchFamily="34" charset="-122"/>
                <a:sym typeface="+mn-ea"/>
              </a:rPr>
              <a:t>	</a:t>
            </a:r>
            <a:r>
              <a:rPr lang="zh-CN" altLang="en-US" dirty="0" smtClean="0">
                <a:latin typeface="微软雅黑" panose="020B0503020204020204" pitchFamily="34" charset="-122"/>
                <a:ea typeface="微软雅黑" panose="020B0503020204020204" pitchFamily="34" charset="-122"/>
                <a:sym typeface="+mn-ea"/>
              </a:rPr>
              <a:t>自主实时采集上传</a:t>
            </a:r>
            <a:endParaRPr lang="en-US" altLang="zh-CN"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zh-CN" altLang="en-US" b="1" dirty="0" smtClean="0">
                <a:latin typeface="微软雅黑" panose="020B0503020204020204" pitchFamily="34" charset="-122"/>
                <a:ea typeface="微软雅黑" panose="020B0503020204020204" pitchFamily="34" charset="-122"/>
                <a:sym typeface="+mn-ea"/>
              </a:rPr>
              <a:t>数据处理</a:t>
            </a:r>
            <a:endParaRPr lang="en-US" altLang="zh-CN" b="1"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latin typeface="微软雅黑" panose="020B0503020204020204" pitchFamily="34" charset="-122"/>
                <a:ea typeface="微软雅黑" panose="020B0503020204020204" pitchFamily="34" charset="-122"/>
                <a:sym typeface="+mn-ea"/>
              </a:rPr>
              <a:t>	</a:t>
            </a:r>
            <a:r>
              <a:rPr lang="zh-CN" altLang="en-US" b="1" dirty="0" smtClean="0">
                <a:latin typeface="微软雅黑" panose="020B0503020204020204" pitchFamily="34" charset="-122"/>
                <a:ea typeface="微软雅黑" panose="020B0503020204020204" pitchFamily="34" charset="-122"/>
                <a:sym typeface="+mn-ea"/>
              </a:rPr>
              <a:t>模块简介：</a:t>
            </a:r>
            <a:endParaRPr lang="en-US" altLang="zh-CN" b="1" dirty="0" smtClean="0">
              <a:latin typeface="微软雅黑" panose="020B0503020204020204" pitchFamily="34" charset="-122"/>
              <a:ea typeface="微软雅黑" panose="020B0503020204020204" pitchFamily="34" charset="-122"/>
              <a:sym typeface="+mn-ea"/>
            </a:endParaRPr>
          </a:p>
          <a:p>
            <a:pPr marL="0" marR="0" lvl="0" indent="457200" algn="l" defTabSz="914400" rtl="0" eaLnBrk="1" fontAlgn="auto" latinLnBrk="0" hangingPunct="1">
              <a:lnSpc>
                <a:spcPct val="150000"/>
              </a:lnSpc>
              <a:spcBef>
                <a:spcPts val="0"/>
              </a:spcBef>
              <a:spcAft>
                <a:spcPts val="0"/>
              </a:spcAft>
              <a:buClrTx/>
              <a:buSzTx/>
              <a:buFontTx/>
              <a:buNone/>
              <a:tabLst/>
              <a:defRPr/>
            </a:pPr>
            <a:r>
              <a:rPr lang="en-US" altLang="zh-CN" b="1" dirty="0" smtClean="0">
                <a:latin typeface="微软雅黑" panose="020B0503020204020204" pitchFamily="34" charset="-122"/>
                <a:ea typeface="微软雅黑" panose="020B0503020204020204" pitchFamily="34" charset="-122"/>
                <a:sym typeface="+mn-ea"/>
              </a:rPr>
              <a:t>	</a:t>
            </a:r>
            <a:r>
              <a:rPr lang="zh-CN" altLang="en-US" dirty="0" smtClean="0">
                <a:effectLst/>
                <a:latin typeface="+mn-ea"/>
                <a:sym typeface="+mn-ea"/>
              </a:rPr>
              <a:t>通过采集系统采集到的相关数据保留着网管侧的源格式，不具备良好的数据交互接口。需要通过解码模块变成结构化的可读数据，再上传至数据仓库。</a:t>
            </a:r>
            <a:r>
              <a:rPr lang="zh-CN" altLang="zh-CN" dirty="0" smtClean="0">
                <a:effectLst/>
                <a:latin typeface="+mn-ea"/>
                <a:sym typeface="+mn-ea"/>
              </a:rPr>
              <a:t>用于支撑上层决策等应用。</a:t>
            </a:r>
            <a:endParaRPr lang="en-US" altLang="zh-CN" b="1"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latin typeface="微软雅黑" panose="020B0503020204020204" pitchFamily="34" charset="-122"/>
                <a:ea typeface="微软雅黑" panose="020B0503020204020204" pitchFamily="34" charset="-122"/>
                <a:sym typeface="+mn-ea"/>
              </a:rPr>
              <a:t>	</a:t>
            </a:r>
            <a:r>
              <a:rPr lang="zh-CN" altLang="en-US" b="1" dirty="0" smtClean="0">
                <a:latin typeface="微软雅黑" panose="020B0503020204020204" pitchFamily="34" charset="-122"/>
                <a:ea typeface="微软雅黑" panose="020B0503020204020204" pitchFamily="34" charset="-122"/>
                <a:sym typeface="+mn-ea"/>
              </a:rPr>
              <a:t>模块功能：</a:t>
            </a:r>
            <a:endParaRPr lang="en-US" altLang="zh-CN" b="1"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latin typeface="微软雅黑" panose="020B0503020204020204" pitchFamily="34" charset="-122"/>
                <a:ea typeface="微软雅黑" panose="020B0503020204020204" pitchFamily="34" charset="-122"/>
                <a:sym typeface="+mn-ea"/>
              </a:rPr>
              <a:t>	</a:t>
            </a:r>
            <a:r>
              <a:rPr lang="zh-CN" altLang="en-US" dirty="0" smtClean="0">
                <a:effectLst/>
                <a:latin typeface="+mn-ea"/>
                <a:sym typeface="+mn-ea"/>
              </a:rPr>
              <a:t>文件归类</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汇总解析</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数据入库</a:t>
            </a:r>
            <a:endParaRPr lang="en-US" altLang="zh-CN" dirty="0" smtClean="0">
              <a:effectLst/>
              <a:latin typeface="+mn-ea"/>
              <a:sym typeface="+mn-ea"/>
            </a:endParaRPr>
          </a:p>
          <a:p>
            <a:pPr indent="457200" algn="l">
              <a:lnSpc>
                <a:spcPct val="150000"/>
              </a:lnSpc>
            </a:pPr>
            <a:r>
              <a:rPr lang="en-US" altLang="zh-CN" b="1" dirty="0" smtClean="0">
                <a:effectLst/>
                <a:latin typeface="+mn-ea"/>
                <a:ea typeface="微软雅黑" panose="020B0503020204020204" pitchFamily="34" charset="-122"/>
                <a:sym typeface="+mn-ea"/>
              </a:rPr>
              <a:t>	</a:t>
            </a:r>
            <a:r>
              <a:rPr lang="zh-CN" altLang="en-US" b="0" dirty="0" smtClean="0">
                <a:effectLst/>
                <a:latin typeface="+mn-ea"/>
                <a:ea typeface="微软雅黑" panose="020B0503020204020204" pitchFamily="34" charset="-122"/>
                <a:sym typeface="+mn-ea"/>
              </a:rPr>
              <a:t>存储人工经验库</a:t>
            </a:r>
            <a:endParaRPr lang="zh-CN" altLang="en-US" b="0" dirty="0" smtClean="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19</a:t>
            </a:fld>
            <a:endParaRPr lang="zh-CN" altLang="en-US"/>
          </a:p>
        </p:txBody>
      </p:sp>
    </p:spTree>
    <p:extLst>
      <p:ext uri="{BB962C8B-B14F-4D97-AF65-F5344CB8AC3E}">
        <p14:creationId xmlns:p14="http://schemas.microsoft.com/office/powerpoint/2010/main" val="2225599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lvl="0"/>
            <a:r>
              <a:rPr lang="zh-CN" altLang="zh-CN" sz="1200" kern="1200" dirty="0" smtClean="0">
                <a:solidFill>
                  <a:schemeClr val="tx1"/>
                </a:solidFill>
                <a:effectLst/>
                <a:latin typeface="+mn-lt"/>
                <a:ea typeface="+mn-ea"/>
                <a:cs typeface="+mn-cs"/>
              </a:rPr>
              <a:t>感知能力要有：</a:t>
            </a:r>
          </a:p>
          <a:p>
            <a:pPr lvl="0"/>
            <a:r>
              <a:rPr lang="zh-CN" altLang="zh-CN" sz="1200" kern="1200" dirty="0" smtClean="0">
                <a:solidFill>
                  <a:schemeClr val="tx1"/>
                </a:solidFill>
                <a:effectLst/>
                <a:latin typeface="+mn-lt"/>
                <a:ea typeface="+mn-ea"/>
                <a:cs typeface="+mn-cs"/>
              </a:rPr>
              <a:t>视觉数据：能看到来着我们网络的设备的告警和指标告警。</a:t>
            </a:r>
          </a:p>
          <a:p>
            <a:pPr lvl="0"/>
            <a:r>
              <a:rPr lang="zh-CN" altLang="zh-CN" sz="1200" kern="1200" dirty="0" smtClean="0">
                <a:solidFill>
                  <a:schemeClr val="tx1"/>
                </a:solidFill>
                <a:effectLst/>
                <a:latin typeface="+mn-lt"/>
                <a:ea typeface="+mn-ea"/>
                <a:cs typeface="+mn-cs"/>
              </a:rPr>
              <a:t>触觉数据：可以触摸设备的隐性事件。事件日志类。</a:t>
            </a:r>
          </a:p>
          <a:p>
            <a:pPr lvl="0"/>
            <a:r>
              <a:rPr lang="zh-CN" altLang="zh-CN" sz="1200" kern="1200" dirty="0" smtClean="0">
                <a:solidFill>
                  <a:schemeClr val="tx1"/>
                </a:solidFill>
                <a:effectLst/>
                <a:latin typeface="+mn-lt"/>
                <a:ea typeface="+mn-ea"/>
                <a:cs typeface="+mn-cs"/>
              </a:rPr>
              <a:t>听觉数据：来自网络外部的声音。规划事件、工程事件、运维经验。</a:t>
            </a:r>
          </a:p>
          <a:p>
            <a:pPr lvl="0"/>
            <a:r>
              <a:rPr lang="zh-CN" altLang="zh-CN" sz="1200" kern="1200" dirty="0" smtClean="0">
                <a:solidFill>
                  <a:schemeClr val="tx1"/>
                </a:solidFill>
                <a:effectLst/>
                <a:latin typeface="+mn-lt"/>
                <a:ea typeface="+mn-ea"/>
                <a:cs typeface="+mn-cs"/>
              </a:rPr>
              <a:t>基础数据：构成网络的基础数据。</a:t>
            </a: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pPr/>
              <a:t>20</a:t>
            </a:fld>
            <a:endParaRPr lang="zh-CN" altLang="en-US"/>
          </a:p>
        </p:txBody>
      </p:sp>
    </p:spTree>
    <p:extLst>
      <p:ext uri="{BB962C8B-B14F-4D97-AF65-F5344CB8AC3E}">
        <p14:creationId xmlns:p14="http://schemas.microsoft.com/office/powerpoint/2010/main" val="22255999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indent="457200" algn="l">
              <a:lnSpc>
                <a:spcPct val="150000"/>
              </a:lnSpc>
            </a:pPr>
            <a:r>
              <a:rPr lang="zh-CN" altLang="en-US" b="1" dirty="0" smtClean="0">
                <a:latin typeface="+mn-ea"/>
              </a:rPr>
              <a:t>自主学习模块</a:t>
            </a:r>
            <a:endParaRPr lang="en-US" altLang="zh-CN" b="1" dirty="0" smtClean="0">
              <a:latin typeface="+mn-ea"/>
            </a:endParaRPr>
          </a:p>
          <a:p>
            <a:pPr indent="457200" algn="l">
              <a:lnSpc>
                <a:spcPct val="150000"/>
              </a:lnSpc>
            </a:pPr>
            <a:r>
              <a:rPr lang="en-US" altLang="zh-CN" b="1" dirty="0" smtClean="0">
                <a:latin typeface="+mn-ea"/>
              </a:rPr>
              <a:t>	</a:t>
            </a:r>
            <a:r>
              <a:rPr lang="zh-CN" altLang="en-US" b="1" dirty="0" smtClean="0">
                <a:latin typeface="+mn-ea"/>
              </a:rPr>
              <a:t>模块简介</a:t>
            </a:r>
          </a:p>
          <a:p>
            <a:pPr indent="457200" algn="l">
              <a:lnSpc>
                <a:spcPct val="150000"/>
              </a:lnSpc>
            </a:pPr>
            <a:r>
              <a:rPr lang="zh-CN" altLang="en-US" dirty="0" smtClean="0">
                <a:latin typeface="+mn-ea"/>
              </a:rPr>
              <a:t>    </a:t>
            </a:r>
            <a:r>
              <a:rPr lang="en-US" altLang="zh-CN" dirty="0" smtClean="0">
                <a:latin typeface="+mn-ea"/>
              </a:rPr>
              <a:t>	</a:t>
            </a:r>
            <a:r>
              <a:rPr lang="zh-CN" altLang="zh-CN" dirty="0" smtClean="0">
                <a:effectLst/>
                <a:latin typeface="+mn-ea"/>
                <a:sym typeface="+mn-ea"/>
              </a:rPr>
              <a:t>该模块是网络大脑执行决策的控制核心，以现有经验库为依据，</a:t>
            </a:r>
            <a:r>
              <a:rPr lang="zh-CN" altLang="en-US" dirty="0" smtClean="0">
                <a:effectLst/>
                <a:latin typeface="+mn-ea"/>
                <a:sym typeface="+mn-ea"/>
              </a:rPr>
              <a:t>包含大量成熟的机器学习相关算法，</a:t>
            </a:r>
            <a:r>
              <a:rPr lang="zh-CN" altLang="en-US" dirty="0" smtClean="0">
                <a:latin typeface="+mn-ea"/>
                <a:sym typeface="+mn-ea"/>
              </a:rPr>
              <a:t>生成的学习模型为上层模块的数据在线分析、异常检测等应用场景提供支撑。</a:t>
            </a:r>
            <a:endParaRPr lang="en-US" altLang="zh-CN" dirty="0" smtClean="0">
              <a:latin typeface="+mn-ea"/>
              <a:sym typeface="+mn-ea"/>
            </a:endParaRPr>
          </a:p>
          <a:p>
            <a:pPr indent="457200" algn="l">
              <a:lnSpc>
                <a:spcPct val="150000"/>
              </a:lnSpc>
            </a:pPr>
            <a:r>
              <a:rPr lang="en-US" altLang="zh-CN" dirty="0" smtClean="0">
                <a:latin typeface="+mn-ea"/>
                <a:sym typeface="+mn-ea"/>
              </a:rPr>
              <a:t>	</a:t>
            </a:r>
            <a:r>
              <a:rPr lang="zh-CN" altLang="en-US" b="1" dirty="0" smtClean="0">
                <a:latin typeface="+mn-ea"/>
              </a:rPr>
              <a:t>模块功能</a:t>
            </a:r>
          </a:p>
          <a:p>
            <a:pPr indent="457200" algn="l">
              <a:lnSpc>
                <a:spcPct val="150000"/>
              </a:lnSpc>
            </a:pPr>
            <a:r>
              <a:rPr lang="zh-CN" altLang="en-US" dirty="0" smtClean="0">
                <a:latin typeface="+mn-ea"/>
              </a:rPr>
              <a:t>    </a:t>
            </a:r>
            <a:r>
              <a:rPr lang="en-US" altLang="zh-CN" dirty="0" smtClean="0">
                <a:latin typeface="+mn-ea"/>
              </a:rPr>
              <a:t>	</a:t>
            </a:r>
            <a:r>
              <a:rPr lang="zh-CN" altLang="en-US" dirty="0" smtClean="0">
                <a:latin typeface="+mn-ea"/>
              </a:rPr>
              <a:t>数据挖掘</a:t>
            </a:r>
          </a:p>
          <a:p>
            <a:pPr indent="457200" algn="l">
              <a:lnSpc>
                <a:spcPct val="150000"/>
              </a:lnSpc>
            </a:pPr>
            <a:r>
              <a:rPr lang="zh-CN" altLang="en-US" dirty="0" smtClean="0">
                <a:latin typeface="+mn-ea"/>
              </a:rPr>
              <a:t>   </a:t>
            </a:r>
            <a:r>
              <a:rPr lang="en-US" altLang="zh-CN" dirty="0" smtClean="0">
                <a:latin typeface="+mn-ea"/>
              </a:rPr>
              <a:t>	</a:t>
            </a:r>
            <a:r>
              <a:rPr lang="zh-CN" altLang="en-US" dirty="0" smtClean="0">
                <a:latin typeface="+mn-ea"/>
              </a:rPr>
              <a:t> </a:t>
            </a:r>
            <a:r>
              <a:rPr lang="zh-CN" altLang="en-US" dirty="0" smtClean="0">
                <a:effectLst/>
                <a:latin typeface="+mn-ea"/>
                <a:sym typeface="+mn-ea"/>
              </a:rPr>
              <a:t>规则制定</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风险评估</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行为选择。</a:t>
            </a:r>
            <a:endParaRPr lang="en-US" altLang="zh-CN" dirty="0" smtClean="0">
              <a:effectLst/>
              <a:latin typeface="+mn-ea"/>
              <a:sym typeface="+mn-ea"/>
            </a:endParaRPr>
          </a:p>
          <a:p>
            <a:pPr indent="457200" algn="l">
              <a:lnSpc>
                <a:spcPct val="150000"/>
              </a:lnSpc>
            </a:pPr>
            <a:r>
              <a:rPr lang="zh-CN" altLang="en-US" b="1" dirty="0" smtClean="0">
                <a:effectLst/>
                <a:latin typeface="+mn-ea"/>
                <a:sym typeface="+mn-ea"/>
              </a:rPr>
              <a:t>业务管理模块</a:t>
            </a:r>
            <a:endParaRPr lang="zh-CN" altLang="en-US" b="1" dirty="0" smtClean="0">
              <a:latin typeface="+mn-ea"/>
            </a:endParaRPr>
          </a:p>
          <a:p>
            <a:pPr indent="457200" algn="l">
              <a:lnSpc>
                <a:spcPct val="150000"/>
              </a:lnSpc>
            </a:pPr>
            <a:r>
              <a:rPr lang="zh-CN" altLang="en-US" b="1" dirty="0" smtClean="0">
                <a:latin typeface="+mn-ea"/>
              </a:rPr>
              <a:t>模块简介</a:t>
            </a:r>
          </a:p>
          <a:p>
            <a:pPr indent="457200" fontAlgn="auto">
              <a:lnSpc>
                <a:spcPct val="150000"/>
              </a:lnSpc>
              <a:spcBef>
                <a:spcPts val="0"/>
              </a:spcBef>
              <a:spcAft>
                <a:spcPts val="0"/>
              </a:spcAft>
              <a:defRPr/>
            </a:pPr>
            <a:r>
              <a:rPr lang="zh-CN" altLang="en-US" dirty="0" smtClean="0">
                <a:latin typeface="+mn-ea"/>
              </a:rPr>
              <a:t>    </a:t>
            </a:r>
            <a:r>
              <a:rPr lang="zh-CN" altLang="en-US" dirty="0" smtClean="0">
                <a:latin typeface="+mn-ea"/>
                <a:sym typeface="+mn-ea"/>
              </a:rPr>
              <a:t>网维中心各部门数据的格式、类型等不同，数据无法有效的被整合、归类。数据存储、管理、利用与分析工作效率低下。</a:t>
            </a:r>
            <a:endParaRPr lang="en-US" altLang="zh-CN" dirty="0" smtClean="0">
              <a:latin typeface="+mn-ea"/>
              <a:sym typeface="+mn-ea"/>
            </a:endParaRPr>
          </a:p>
          <a:p>
            <a:pPr indent="457200" algn="l">
              <a:lnSpc>
                <a:spcPct val="150000"/>
              </a:lnSpc>
            </a:pPr>
            <a:r>
              <a:rPr lang="zh-CN" altLang="en-US" b="1" dirty="0" smtClean="0">
                <a:latin typeface="+mn-ea"/>
              </a:rPr>
              <a:t>模块功能</a:t>
            </a:r>
          </a:p>
          <a:p>
            <a:pPr indent="457200" algn="l">
              <a:lnSpc>
                <a:spcPct val="150000"/>
              </a:lnSpc>
            </a:pPr>
            <a:r>
              <a:rPr lang="zh-CN" altLang="en-US" dirty="0" smtClean="0">
                <a:latin typeface="+mn-ea"/>
              </a:rPr>
              <a:t>    </a:t>
            </a:r>
            <a:r>
              <a:rPr lang="zh-CN" altLang="en-US" dirty="0" smtClean="0">
                <a:effectLst/>
                <a:latin typeface="+mn-ea"/>
                <a:sym typeface="+mn-ea"/>
              </a:rPr>
              <a:t>指标归类整合</a:t>
            </a:r>
          </a:p>
          <a:p>
            <a:pPr indent="457200" algn="l">
              <a:lnSpc>
                <a:spcPct val="150000"/>
              </a:lnSpc>
            </a:pPr>
            <a:r>
              <a:rPr lang="zh-CN" altLang="en-US" dirty="0" smtClean="0">
                <a:effectLst/>
                <a:latin typeface="+mn-ea"/>
                <a:sym typeface="+mn-ea"/>
              </a:rPr>
              <a:t>    实时自主监控</a:t>
            </a:r>
          </a:p>
          <a:p>
            <a:pPr indent="457200" algn="l">
              <a:lnSpc>
                <a:spcPct val="150000"/>
              </a:lnSpc>
            </a:pPr>
            <a:r>
              <a:rPr lang="zh-CN" altLang="en-US" dirty="0" smtClean="0">
                <a:effectLst/>
                <a:latin typeface="+mn-ea"/>
                <a:sym typeface="+mn-ea"/>
              </a:rPr>
              <a:t>    报表自动生成。</a:t>
            </a:r>
            <a:endParaRPr lang="zh-CN" altLang="en-US" dirty="0" smtClean="0">
              <a:latin typeface="+mn-ea"/>
            </a:endParaRPr>
          </a:p>
          <a:p>
            <a:pPr indent="457200" fontAlgn="auto">
              <a:lnSpc>
                <a:spcPct val="150000"/>
              </a:lnSpc>
              <a:spcBef>
                <a:spcPts val="0"/>
              </a:spcBef>
              <a:spcAft>
                <a:spcPts val="0"/>
              </a:spcAft>
              <a:defRPr/>
            </a:pPr>
            <a:endParaRPr lang="zh-CN" altLang="en-US" dirty="0" smtClean="0">
              <a:latin typeface="+mn-ea"/>
              <a:sym typeface="+mn-ea"/>
            </a:endParaRPr>
          </a:p>
          <a:p>
            <a:pPr indent="457200" fontAlgn="auto">
              <a:lnSpc>
                <a:spcPct val="150000"/>
              </a:lnSpc>
              <a:spcBef>
                <a:spcPts val="0"/>
              </a:spcBef>
              <a:spcAft>
                <a:spcPts val="0"/>
              </a:spcAft>
              <a:defRPr/>
            </a:pPr>
            <a:r>
              <a:rPr lang="zh-CN" altLang="en-US" dirty="0" smtClean="0">
                <a:latin typeface="+mn-ea"/>
                <a:sym typeface="+mn-ea"/>
              </a:rPr>
              <a:t>    业务查询模块为各部门提供开放的数据接口，对业务流量及用户体验情况进行实时主动的监控管理，提高工作效率。</a:t>
            </a:r>
            <a:endParaRPr lang="zh-CN" altLang="zh-CN" dirty="0" smtClean="0">
              <a:latin typeface="+mn-ea"/>
            </a:endParaRPr>
          </a:p>
          <a:p>
            <a:pPr indent="457200" algn="l">
              <a:lnSpc>
                <a:spcPct val="150000"/>
              </a:lnSpc>
            </a:pPr>
            <a:endParaRPr lang="zh-CN" altLang="zh-CN" dirty="0" smtClean="0">
              <a:latin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21</a:t>
            </a:fld>
            <a:endParaRPr lang="zh-CN" altLang="en-US"/>
          </a:p>
        </p:txBody>
      </p:sp>
    </p:spTree>
    <p:extLst>
      <p:ext uri="{BB962C8B-B14F-4D97-AF65-F5344CB8AC3E}">
        <p14:creationId xmlns:p14="http://schemas.microsoft.com/office/powerpoint/2010/main" val="40516248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22</a:t>
            </a:fld>
            <a:endParaRPr lang="zh-CN" altLang="en-US"/>
          </a:p>
        </p:txBody>
      </p:sp>
    </p:spTree>
    <p:extLst>
      <p:ext uri="{BB962C8B-B14F-4D97-AF65-F5344CB8AC3E}">
        <p14:creationId xmlns:p14="http://schemas.microsoft.com/office/powerpoint/2010/main" val="21094514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智能化故障管理由采集数据、异常检测及根因分析、故障处理组成，这三部分分别对应了大脑“感知决策控制”三元组。</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23</a:t>
            </a:fld>
            <a:endParaRPr lang="zh-CN" altLang="en-US"/>
          </a:p>
        </p:txBody>
      </p:sp>
    </p:spTree>
    <p:extLst>
      <p:ext uri="{BB962C8B-B14F-4D97-AF65-F5344CB8AC3E}">
        <p14:creationId xmlns:p14="http://schemas.microsoft.com/office/powerpoint/2010/main" val="2235173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24</a:t>
            </a:fld>
            <a:endParaRPr lang="zh-CN" altLang="en-US"/>
          </a:p>
        </p:txBody>
      </p:sp>
    </p:spTree>
    <p:extLst>
      <p:ext uri="{BB962C8B-B14F-4D97-AF65-F5344CB8AC3E}">
        <p14:creationId xmlns:p14="http://schemas.microsoft.com/office/powerpoint/2010/main" val="638157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25</a:t>
            </a:fld>
            <a:endParaRPr lang="zh-CN" altLang="en-US"/>
          </a:p>
        </p:txBody>
      </p:sp>
    </p:spTree>
    <p:extLst>
      <p:ext uri="{BB962C8B-B14F-4D97-AF65-F5344CB8AC3E}">
        <p14:creationId xmlns:p14="http://schemas.microsoft.com/office/powerpoint/2010/main" val="18651747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r>
              <a:rPr lang="en-US" altLang="zh-CN" dirty="0" err="1" smtClean="0"/>
              <a:t>AIOps</a:t>
            </a:r>
            <a:r>
              <a:rPr lang="zh-CN" altLang="en-US" dirty="0" smtClean="0"/>
              <a:t>搭建后解决思路：</a:t>
            </a:r>
            <a:endParaRPr lang="en-US" altLang="zh-CN" dirty="0" smtClean="0"/>
          </a:p>
          <a:p>
            <a:pPr marL="285750" indent="-285750">
              <a:lnSpc>
                <a:spcPct val="150000"/>
              </a:lnSpc>
              <a:buFont typeface="Arial" panose="020B0604020202020204" pitchFamily="34" charset="0"/>
              <a:buChar char="•"/>
            </a:pPr>
            <a:r>
              <a:rPr lang="zh-CN" altLang="en-US" dirty="0" smtClean="0"/>
              <a:t>对于原始数据，先经过一个无监督分类算法对数据进行预筛选，提高标记效率</a:t>
            </a:r>
            <a:endParaRPr lang="en-US" altLang="zh-CN" dirty="0" smtClean="0"/>
          </a:p>
          <a:p>
            <a:pPr marL="285750" indent="-285750">
              <a:lnSpc>
                <a:spcPct val="150000"/>
              </a:lnSpc>
              <a:buFont typeface="Arial" panose="020B0604020202020204" pitchFamily="34" charset="0"/>
              <a:buChar char="•"/>
            </a:pPr>
            <a:r>
              <a:rPr lang="zh-CN" altLang="en-US" dirty="0" smtClean="0"/>
              <a:t>然后通过运维工程师在预筛选好的数据上对于异常的时序段进行标记</a:t>
            </a:r>
            <a:endParaRPr lang="en-US" altLang="zh-CN" dirty="0" smtClean="0"/>
          </a:p>
          <a:p>
            <a:pPr marL="285750" indent="-285750">
              <a:lnSpc>
                <a:spcPct val="150000"/>
              </a:lnSpc>
              <a:buFont typeface="Arial" panose="020B0604020202020204" pitchFamily="34" charset="0"/>
              <a:buChar char="•"/>
            </a:pPr>
            <a:r>
              <a:rPr lang="zh-CN" altLang="en-US" dirty="0" smtClean="0"/>
              <a:t>将数据、标记、以及工程师制定的对于算法的准确性期望输入到机器学习算法中，让算法对这一过程进行学习和参数调整。</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26</a:t>
            </a:fld>
            <a:endParaRPr lang="zh-CN" altLang="en-US"/>
          </a:p>
        </p:txBody>
      </p:sp>
    </p:spTree>
    <p:extLst>
      <p:ext uri="{BB962C8B-B14F-4D97-AF65-F5344CB8AC3E}">
        <p14:creationId xmlns:p14="http://schemas.microsoft.com/office/powerpoint/2010/main" val="20038724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27</a:t>
            </a:fld>
            <a:endParaRPr lang="zh-CN" altLang="en-US"/>
          </a:p>
        </p:txBody>
      </p:sp>
    </p:spTree>
    <p:extLst>
      <p:ext uri="{BB962C8B-B14F-4D97-AF65-F5344CB8AC3E}">
        <p14:creationId xmlns:p14="http://schemas.microsoft.com/office/powerpoint/2010/main" val="39917131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28</a:t>
            </a:fld>
            <a:endParaRPr lang="zh-CN" altLang="en-US"/>
          </a:p>
        </p:txBody>
      </p:sp>
    </p:spTree>
    <p:extLst>
      <p:ext uri="{BB962C8B-B14F-4D97-AF65-F5344CB8AC3E}">
        <p14:creationId xmlns:p14="http://schemas.microsoft.com/office/powerpoint/2010/main" val="13692261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29</a:t>
            </a:fld>
            <a:endParaRPr lang="zh-CN" altLang="en-US"/>
          </a:p>
        </p:txBody>
      </p:sp>
    </p:spTree>
    <p:extLst>
      <p:ext uri="{BB962C8B-B14F-4D97-AF65-F5344CB8AC3E}">
        <p14:creationId xmlns:p14="http://schemas.microsoft.com/office/powerpoint/2010/main" val="1581349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30</a:t>
            </a:fld>
            <a:endParaRPr lang="zh-CN" altLang="en-US"/>
          </a:p>
        </p:txBody>
      </p:sp>
    </p:spTree>
    <p:extLst>
      <p:ext uri="{BB962C8B-B14F-4D97-AF65-F5344CB8AC3E}">
        <p14:creationId xmlns:p14="http://schemas.microsoft.com/office/powerpoint/2010/main" val="22760614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31</a:t>
            </a:fld>
            <a:endParaRPr lang="zh-CN" altLang="en-US"/>
          </a:p>
        </p:txBody>
      </p:sp>
    </p:spTree>
    <p:extLst>
      <p:ext uri="{BB962C8B-B14F-4D97-AF65-F5344CB8AC3E}">
        <p14:creationId xmlns:p14="http://schemas.microsoft.com/office/powerpoint/2010/main" val="22760614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局数据自动核对：</a:t>
            </a:r>
          </a:p>
          <a:p>
            <a:r>
              <a:rPr lang="zh-CN" altLang="en-US" dirty="0" smtClean="0"/>
              <a:t>  </a:t>
            </a:r>
            <a:r>
              <a:rPr lang="en-US" altLang="zh-CN" dirty="0" smtClean="0"/>
              <a:t>--- </a:t>
            </a:r>
            <a:r>
              <a:rPr lang="zh-CN" altLang="en-US" dirty="0" smtClean="0"/>
              <a:t>重要配置数据核对；</a:t>
            </a:r>
            <a:r>
              <a:rPr lang="en-US" altLang="zh-CN" dirty="0" smtClean="0"/>
              <a:t>--- </a:t>
            </a:r>
            <a:r>
              <a:rPr lang="zh-CN" altLang="en-US" dirty="0" smtClean="0"/>
              <a:t>城域网局数据自动核对（无）</a:t>
            </a:r>
          </a:p>
          <a:p>
            <a:r>
              <a:rPr lang="zh-CN" altLang="en-US" dirty="0" smtClean="0"/>
              <a:t>  </a:t>
            </a:r>
            <a:r>
              <a:rPr lang="en-US" altLang="zh-CN" dirty="0" smtClean="0"/>
              <a:t>--- </a:t>
            </a:r>
            <a:r>
              <a:rPr lang="zh-CN" altLang="en-US" dirty="0" smtClean="0"/>
              <a:t>局数据配置规范核对；</a:t>
            </a:r>
          </a:p>
          <a:p>
            <a:r>
              <a:rPr lang="zh-CN" altLang="en-US" dirty="0" smtClean="0"/>
              <a:t>  </a:t>
            </a:r>
            <a:r>
              <a:rPr lang="en-US" altLang="zh-CN" dirty="0" smtClean="0"/>
              <a:t>--- </a:t>
            </a:r>
            <a:r>
              <a:rPr lang="zh-CN" altLang="en-US" dirty="0" smtClean="0"/>
              <a:t>业务数据，</a:t>
            </a:r>
          </a:p>
          <a:p>
            <a:endParaRPr lang="zh-CN" altLang="en-US" dirty="0" smtClean="0"/>
          </a:p>
          <a:p>
            <a:endParaRPr lang="zh-CN" altLang="en-US" dirty="0" smtClean="0"/>
          </a:p>
          <a:p>
            <a:r>
              <a:rPr lang="zh-CN" altLang="en-US" dirty="0" smtClean="0"/>
              <a:t>日志自动备份：</a:t>
            </a:r>
            <a:r>
              <a:rPr lang="en-US" altLang="zh-CN" dirty="0" smtClean="0"/>
              <a:t>BSC</a:t>
            </a:r>
            <a:r>
              <a:rPr lang="zh-CN" altLang="en-US" dirty="0" smtClean="0"/>
              <a:t>：</a:t>
            </a:r>
            <a:r>
              <a:rPr lang="en-US" altLang="zh-CN" dirty="0" err="1" smtClean="0"/>
              <a:t>CLog</a:t>
            </a:r>
            <a:r>
              <a:rPr lang="en-US" altLang="zh-CN" dirty="0" smtClean="0"/>
              <a:t>\</a:t>
            </a:r>
            <a:r>
              <a:rPr lang="en-US" altLang="zh-CN" dirty="0" err="1" smtClean="0"/>
              <a:t>ALog</a:t>
            </a:r>
            <a:r>
              <a:rPr lang="en-US" altLang="zh-CN" dirty="0" smtClean="0"/>
              <a:t>\CP</a:t>
            </a:r>
            <a:r>
              <a:rPr lang="zh-CN" altLang="en-US" dirty="0" smtClean="0"/>
              <a:t>备份</a:t>
            </a:r>
            <a:r>
              <a:rPr lang="en-US" altLang="zh-CN" dirty="0" smtClean="0"/>
              <a:t>\APG</a:t>
            </a:r>
            <a:r>
              <a:rPr lang="zh-CN" altLang="en-US" dirty="0" smtClean="0"/>
              <a:t>备份；城域网：登录日志、操作日志</a:t>
            </a:r>
          </a:p>
          <a:p>
            <a:r>
              <a:rPr lang="en-US" altLang="zh-CN" dirty="0" smtClean="0"/>
              <a:t>MGW</a:t>
            </a:r>
            <a:r>
              <a:rPr lang="zh-CN" altLang="en-US" dirty="0" smtClean="0"/>
              <a:t>系统自动备份：</a:t>
            </a:r>
            <a:r>
              <a:rPr lang="en-US" altLang="zh-CN" dirty="0" smtClean="0"/>
              <a:t>CV</a:t>
            </a:r>
            <a:r>
              <a:rPr lang="zh-CN" altLang="en-US" dirty="0" smtClean="0"/>
              <a:t>备份</a:t>
            </a:r>
          </a:p>
          <a:p>
            <a:endParaRPr lang="zh-CN" altLang="en-US" dirty="0" smtClean="0"/>
          </a:p>
          <a:p>
            <a:r>
              <a:rPr lang="zh-CN" altLang="en-US" dirty="0" smtClean="0"/>
              <a:t>自动体检：</a:t>
            </a:r>
            <a:r>
              <a:rPr lang="en-US" altLang="zh-CN" dirty="0" smtClean="0"/>
              <a:t>BSC</a:t>
            </a:r>
            <a:r>
              <a:rPr lang="zh-CN" altLang="en-US" dirty="0" smtClean="0"/>
              <a:t>：指令清单、判别标准；</a:t>
            </a:r>
          </a:p>
          <a:p>
            <a:r>
              <a:rPr lang="zh-CN" altLang="en-US" dirty="0" smtClean="0"/>
              <a:t>端口流量自动核查：</a:t>
            </a:r>
            <a:r>
              <a:rPr lang="en-US" altLang="zh-CN" dirty="0" smtClean="0"/>
              <a:t>---- IP</a:t>
            </a:r>
            <a:r>
              <a:rPr lang="zh-CN" altLang="en-US" dirty="0" smtClean="0"/>
              <a:t>承载网、城域网端口</a:t>
            </a:r>
            <a:endParaRPr lang="en-US" altLang="zh-CN" dirty="0" smtClean="0"/>
          </a:p>
          <a:p>
            <a:endParaRPr lang="en-US" altLang="zh-CN" dirty="0" smtClean="0"/>
          </a:p>
          <a:p>
            <a:r>
              <a:rPr lang="zh-CN" altLang="en-US" dirty="0" smtClean="0"/>
              <a:t>业务验证：</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利用大数据手段对网络信令进行自动分析替代传统业务拨测</a:t>
            </a:r>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34</a:t>
            </a:fld>
            <a:endParaRPr lang="zh-CN" altLang="en-US"/>
          </a:p>
        </p:txBody>
      </p:sp>
    </p:spTree>
    <p:extLst>
      <p:ext uri="{BB962C8B-B14F-4D97-AF65-F5344CB8AC3E}">
        <p14:creationId xmlns:p14="http://schemas.microsoft.com/office/powerpoint/2010/main" val="4190531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ffice.msn.com.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42373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43749" y="543840"/>
            <a:ext cx="3808933" cy="825045"/>
          </a:xfrm>
          <a:prstGeom prst="rect">
            <a:avLst/>
          </a:prstGeom>
        </p:spPr>
        <p:txBody>
          <a:bodyPr>
            <a:normAutofit/>
          </a:bodyPr>
          <a:lstStyle>
            <a:lvl1pPr>
              <a:defRPr sz="3200" b="1"/>
            </a:lvl1pPr>
          </a:lstStyle>
          <a:p>
            <a:r>
              <a:rPr lang="zh-CN" altLang="en-US" dirty="0" smtClean="0"/>
              <a:t>单击此处添加标题</a:t>
            </a:r>
            <a:endParaRPr lang="zh-CN" altLang="en-US" dirty="0"/>
          </a:p>
        </p:txBody>
      </p:sp>
      <p:sp>
        <p:nvSpPr>
          <p:cNvPr id="7" name="矩形 6"/>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9568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tx2">
            <a:lumMod val="50000"/>
          </a:schemeClr>
        </a:solidFill>
        <a:effectLst/>
      </p:bgPr>
    </p:bg>
    <p:spTree>
      <p:nvGrpSpPr>
        <p:cNvPr id="1" name=""/>
        <p:cNvGrpSpPr/>
        <p:nvPr/>
      </p:nvGrpSpPr>
      <p:grpSpPr>
        <a:xfrm>
          <a:off x="0" y="0"/>
          <a:ext cx="0" cy="0"/>
          <a:chOff x="0" y="0"/>
          <a:chExt cx="0" cy="0"/>
        </a:xfrm>
      </p:grpSpPr>
      <p:sp>
        <p:nvSpPr>
          <p:cNvPr id="6" name="矩形 5"/>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107780534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42100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67967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lumMod val="95000"/>
          </a:schemeClr>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flipH="1">
            <a:off x="1962237" y="2511771"/>
            <a:ext cx="2599547" cy="2072335"/>
            <a:chOff x="1271166" y="2284597"/>
            <a:chExt cx="2599547" cy="2072335"/>
          </a:xfrm>
          <a:solidFill>
            <a:srgbClr val="88B40F"/>
          </a:solidFill>
        </p:grpSpPr>
        <p:sp>
          <p:nvSpPr>
            <p:cNvPr id="12" name="椭圆 11"/>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 9"/>
          <p:cNvGrpSpPr/>
          <p:nvPr userDrawn="1"/>
        </p:nvGrpSpPr>
        <p:grpSpPr>
          <a:xfrm>
            <a:off x="4143657" y="1469396"/>
            <a:ext cx="3671455" cy="3671455"/>
            <a:chOff x="2736273" y="748180"/>
            <a:chExt cx="3671455" cy="3671455"/>
          </a:xfrm>
        </p:grpSpPr>
        <p:sp>
          <p:nvSpPr>
            <p:cNvPr id="16" name="椭圆 15"/>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17" name="矩形 16"/>
            <p:cNvSpPr/>
            <p:nvPr/>
          </p:nvSpPr>
          <p:spPr>
            <a:xfrm>
              <a:off x="4494148" y="1790555"/>
              <a:ext cx="184731" cy="707886"/>
            </a:xfrm>
            <a:prstGeom prst="rect">
              <a:avLst/>
            </a:prstGeom>
          </p:spPr>
          <p:txBody>
            <a:bodyPr wrap="none">
              <a:spAutoFit/>
            </a:bodyPr>
            <a:lstStyle/>
            <a:p>
              <a:pPr algn="ctr"/>
              <a:endParaRPr kumimoji="1" lang="en-US" altLang="zh-CN" sz="4000" b="1" dirty="0">
                <a:solidFill>
                  <a:schemeClr val="bg1"/>
                </a:solidFill>
              </a:endParaRPr>
            </a:p>
          </p:txBody>
        </p:sp>
      </p:grpSp>
    </p:spTree>
    <p:extLst>
      <p:ext uri="{BB962C8B-B14F-4D97-AF65-F5344CB8AC3E}">
        <p14:creationId xmlns:p14="http://schemas.microsoft.com/office/powerpoint/2010/main" val="351127956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27937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37698044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9585"/>
            <a:r>
              <a:rPr lang="zh-CN" altLang="en-US" sz="1867" dirty="0">
                <a:solidFill>
                  <a:srgbClr val="FFFFFF"/>
                </a:solidFill>
                <a:latin typeface="Segoe UI Light"/>
                <a:cs typeface="Segoe UI Light"/>
              </a:rPr>
              <a:t>标注</a:t>
            </a:r>
          </a:p>
        </p:txBody>
      </p:sp>
      <p:sp>
        <p:nvSpPr>
          <p:cNvPr id="8" name="矩形 7"/>
          <p:cNvSpPr/>
          <p:nvPr userDrawn="1"/>
        </p:nvSpPr>
        <p:spPr>
          <a:xfrm>
            <a:off x="2857674" y="841948"/>
            <a:ext cx="1402001" cy="3292440"/>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字体使用 </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行距</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背景图片出处</a:t>
            </a: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声明</a:t>
            </a:r>
            <a:endParaRPr lang="en-US" altLang="zh-CN" sz="1333" dirty="0">
              <a:solidFill>
                <a:srgbClr val="FFFFFF"/>
              </a:solidFill>
              <a:latin typeface="Segoe UI Light"/>
              <a:cs typeface="Segoe UI Light"/>
            </a:endParaRPr>
          </a:p>
        </p:txBody>
      </p:sp>
      <p:sp>
        <p:nvSpPr>
          <p:cNvPr id="9" name="矩形 8"/>
          <p:cNvSpPr/>
          <p:nvPr userDrawn="1"/>
        </p:nvSpPr>
        <p:spPr>
          <a:xfrm>
            <a:off x="4395052" y="841948"/>
            <a:ext cx="3727457" cy="3825791"/>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英文 </a:t>
            </a:r>
            <a:r>
              <a:rPr lang="en-US" altLang="zh-CN" sz="1333" dirty="0" smtClean="0">
                <a:solidFill>
                  <a:srgbClr val="FFFFFF"/>
                </a:solidFill>
                <a:latin typeface="Segoe UI Light"/>
                <a:cs typeface="Segoe UI Light"/>
              </a:rPr>
              <a:t>Calibri</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中文 微软雅黑</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正文 </a:t>
            </a:r>
            <a:r>
              <a:rPr lang="en-US" altLang="zh-CN" sz="1333" dirty="0">
                <a:solidFill>
                  <a:srgbClr val="FFFFFF"/>
                </a:solidFill>
                <a:latin typeface="Segoe UI Light"/>
                <a:cs typeface="Segoe UI Light"/>
              </a:rPr>
              <a:t>1.3</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en-US" altLang="zh-CN" sz="1333" dirty="0" err="1">
                <a:solidFill>
                  <a:srgbClr val="FFFFFF"/>
                </a:solidFill>
                <a:latin typeface="Segoe UI Light"/>
                <a:cs typeface="Segoe UI Light"/>
              </a:rPr>
              <a:t>cn.bing.com</a:t>
            </a: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prstClr val="white"/>
                </a:solidFill>
              </a:rPr>
              <a:t>互联网是一个开放共享的平台</a:t>
            </a:r>
          </a:p>
          <a:p>
            <a:pPr defTabSz="609585">
              <a:lnSpc>
                <a:spcPct val="130000"/>
              </a:lnSpc>
            </a:pPr>
            <a:r>
              <a:rPr lang="zh-CN" altLang="en-US" sz="1333" dirty="0" smtClean="0">
                <a:solidFill>
                  <a:prstClr val="white"/>
                </a:solidFill>
              </a:rPr>
              <a:t>Office</a:t>
            </a:r>
            <a:r>
              <a:rPr lang="en-US" altLang="zh-CN" sz="1333" dirty="0" smtClean="0">
                <a:solidFill>
                  <a:prstClr val="white"/>
                </a:solidFill>
              </a:rPr>
              <a:t>PLUS</a:t>
            </a:r>
            <a:r>
              <a:rPr lang="zh-CN" altLang="en-US" sz="1333" dirty="0" smtClean="0">
                <a:solidFill>
                  <a:prstClr val="white"/>
                </a:solidFill>
              </a:rPr>
              <a:t> </a:t>
            </a:r>
            <a:r>
              <a:rPr lang="zh-CN" altLang="en-US" sz="1333" dirty="0">
                <a:solidFill>
                  <a:prstClr val="white"/>
                </a:solidFill>
              </a:rPr>
              <a:t>部分设计灵感与元素来源于网络</a:t>
            </a:r>
          </a:p>
          <a:p>
            <a:pPr defTabSz="609585">
              <a:lnSpc>
                <a:spcPct val="130000"/>
              </a:lnSpc>
            </a:pPr>
            <a:r>
              <a:rPr lang="zh-CN" altLang="en-US" sz="1333" dirty="0">
                <a:solidFill>
                  <a:prstClr val="white"/>
                </a:solidFill>
              </a:rPr>
              <a:t>如有建议请联系officeplus@microsoft.com</a:t>
            </a:r>
            <a:endParaRPr lang="en-US" altLang="zh-CN" sz="1333" dirty="0">
              <a:solidFill>
                <a:srgbClr val="FFFFFF"/>
              </a:solidFill>
              <a:latin typeface="Segoe UI Light"/>
              <a:cs typeface="Segoe UI Light"/>
            </a:endParaRPr>
          </a:p>
        </p:txBody>
      </p:sp>
      <p:sp>
        <p:nvSpPr>
          <p:cNvPr id="10" name="矩形 9"/>
          <p:cNvSpPr/>
          <p:nvPr userDrawn="1"/>
        </p:nvSpPr>
        <p:spPr>
          <a:xfrm>
            <a:off x="440603" y="182445"/>
            <a:ext cx="816249" cy="256545"/>
          </a:xfrm>
          <a:prstGeom prst="rect">
            <a:avLst/>
          </a:prstGeom>
        </p:spPr>
        <p:txBody>
          <a:bodyPr wrap="none">
            <a:spAutoFit/>
          </a:bodyPr>
          <a:lstStyle/>
          <a:p>
            <a:pPr defTabSz="609585"/>
            <a:r>
              <a:rPr kumimoji="1" lang="en-US" altLang="zh-CN" sz="1067" dirty="0" err="1" smtClean="0">
                <a:solidFill>
                  <a:srgbClr val="FFFFFF"/>
                </a:solidFill>
                <a:latin typeface="Segoe UI Light"/>
                <a:cs typeface="Segoe UI Light"/>
              </a:rPr>
              <a:t>OfficePLUS</a:t>
            </a:r>
            <a:endParaRPr lang="zh-CN" altLang="en-US" sz="1067" dirty="0">
              <a:solidFill>
                <a:srgbClr val="FFFFFF"/>
              </a:solidFill>
              <a:latin typeface="Segoe UI Light"/>
              <a:cs typeface="Segoe UI Light"/>
            </a:endParaRPr>
          </a:p>
        </p:txBody>
      </p:sp>
    </p:spTree>
    <p:extLst>
      <p:ext uri="{BB962C8B-B14F-4D97-AF65-F5344CB8AC3E}">
        <p14:creationId xmlns:p14="http://schemas.microsoft.com/office/powerpoint/2010/main" val="1982807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86431" y="2521041"/>
            <a:ext cx="3177903" cy="418585"/>
          </a:xfrm>
          <a:prstGeom prst="rect">
            <a:avLst/>
          </a:prstGeom>
        </p:spPr>
      </p:pic>
      <p:sp>
        <p:nvSpPr>
          <p:cNvPr id="9" name="文本框 8"/>
          <p:cNvSpPr txBox="1"/>
          <p:nvPr userDrawn="1"/>
        </p:nvSpPr>
        <p:spPr>
          <a:xfrm>
            <a:off x="4259746" y="3740751"/>
            <a:ext cx="3347390" cy="297454"/>
          </a:xfrm>
          <a:prstGeom prst="rect">
            <a:avLst/>
          </a:prstGeom>
          <a:noFill/>
        </p:spPr>
        <p:txBody>
          <a:bodyPr wrap="none" rtlCol="0">
            <a:spAutoFit/>
          </a:bodyPr>
          <a:lstStyle/>
          <a:p>
            <a:pPr algn="ctr"/>
            <a:r>
              <a:rPr kumimoji="1" lang="zh-CN" altLang="en-US" sz="1333" dirty="0">
                <a:solidFill>
                  <a:schemeClr val="tx1">
                    <a:lumMod val="75000"/>
                    <a:lumOff val="25000"/>
                  </a:schemeClr>
                </a:solidFill>
              </a:rPr>
              <a:t>点击</a:t>
            </a:r>
            <a:r>
              <a:rPr kumimoji="1" lang="en-US" altLang="zh-CN" sz="1333" dirty="0">
                <a:solidFill>
                  <a:schemeClr val="tx1">
                    <a:lumMod val="75000"/>
                    <a:lumOff val="25000"/>
                  </a:schemeClr>
                </a:solidFill>
              </a:rPr>
              <a:t>Logo</a:t>
            </a:r>
            <a:r>
              <a:rPr kumimoji="1" lang="zh-CN" altLang="en-US" sz="1333" dirty="0">
                <a:solidFill>
                  <a:schemeClr val="tx1">
                    <a:lumMod val="75000"/>
                    <a:lumOff val="25000"/>
                  </a:schemeClr>
                </a:solidFill>
              </a:rPr>
              <a:t>获取更多优质模板（放映模式）</a:t>
            </a:r>
          </a:p>
        </p:txBody>
      </p:sp>
    </p:spTree>
    <p:extLst>
      <p:ext uri="{BB962C8B-B14F-4D97-AF65-F5344CB8AC3E}">
        <p14:creationId xmlns:p14="http://schemas.microsoft.com/office/powerpoint/2010/main" val="39118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697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7" r:id="rId4"/>
    <p:sldLayoutId id="2147483651" r:id="rId5"/>
    <p:sldLayoutId id="2147483652" r:id="rId6"/>
    <p:sldLayoutId id="2147483653" r:id="rId7"/>
    <p:sldLayoutId id="2147483655" r:id="rId8"/>
    <p:sldLayoutId id="2147483656"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84481" y="2724835"/>
            <a:ext cx="3987666" cy="1200329"/>
          </a:xfrm>
          <a:prstGeom prst="rect">
            <a:avLst/>
          </a:prstGeom>
        </p:spPr>
        <p:txBody>
          <a:bodyPr wrap="square">
            <a:spAutoFit/>
          </a:bodyPr>
          <a:lstStyle/>
          <a:p>
            <a:pPr algn="ctr"/>
            <a:r>
              <a:rPr kumimoji="1" lang="zh-CN" altLang="en-US" sz="3600" b="1" dirty="0">
                <a:solidFill>
                  <a:schemeClr val="bg1"/>
                </a:solidFill>
              </a:rPr>
              <a:t>基于大数据</a:t>
            </a:r>
            <a:r>
              <a:rPr kumimoji="1" lang="zh-CN" altLang="en-US" sz="3600" b="1" dirty="0" smtClean="0">
                <a:solidFill>
                  <a:schemeClr val="bg1"/>
                </a:solidFill>
              </a:rPr>
              <a:t>的</a:t>
            </a:r>
            <a:endParaRPr kumimoji="1" lang="en-US" altLang="zh-CN" sz="3600" b="1" dirty="0" smtClean="0">
              <a:solidFill>
                <a:schemeClr val="bg1"/>
              </a:solidFill>
            </a:endParaRPr>
          </a:p>
          <a:p>
            <a:pPr algn="ctr"/>
            <a:r>
              <a:rPr kumimoji="1" lang="zh-CN" altLang="en-US" sz="3600" b="1" dirty="0" smtClean="0">
                <a:solidFill>
                  <a:schemeClr val="bg1"/>
                </a:solidFill>
              </a:rPr>
              <a:t>智慧</a:t>
            </a:r>
            <a:r>
              <a:rPr kumimoji="1" lang="zh-CN" altLang="en-US" sz="3600" b="1" dirty="0">
                <a:solidFill>
                  <a:schemeClr val="bg1"/>
                </a:solidFill>
              </a:rPr>
              <a:t>网络运</a:t>
            </a:r>
            <a:r>
              <a:rPr kumimoji="1" lang="zh-CN" altLang="en-US" sz="3600" b="1" dirty="0" smtClean="0">
                <a:solidFill>
                  <a:schemeClr val="bg1"/>
                </a:solidFill>
              </a:rPr>
              <a:t>维</a:t>
            </a:r>
            <a:r>
              <a:rPr kumimoji="1" lang="zh-CN" altLang="en-US" sz="3600" b="1" dirty="0">
                <a:solidFill>
                  <a:schemeClr val="bg1"/>
                </a:solidFill>
              </a:rPr>
              <a:t>平</a:t>
            </a:r>
            <a:r>
              <a:rPr kumimoji="1" lang="zh-CN" altLang="en-US" sz="3600" b="1" dirty="0" smtClean="0">
                <a:solidFill>
                  <a:schemeClr val="bg1"/>
                </a:solidFill>
              </a:rPr>
              <a:t>台</a:t>
            </a:r>
            <a:endParaRPr kumimoji="1" lang="en-US" altLang="zh-CN" sz="3600" b="1" dirty="0">
              <a:solidFill>
                <a:schemeClr val="bg1"/>
              </a:solidFill>
            </a:endParaRPr>
          </a:p>
        </p:txBody>
      </p:sp>
    </p:spTree>
    <p:extLst>
      <p:ext uri="{BB962C8B-B14F-4D97-AF65-F5344CB8AC3E}">
        <p14:creationId xmlns:p14="http://schemas.microsoft.com/office/powerpoint/2010/main" val="3586063360"/>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610995" y="2035175"/>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ONE</a:t>
            </a:r>
          </a:p>
        </p:txBody>
      </p:sp>
      <p:sp>
        <p:nvSpPr>
          <p:cNvPr id="7" name="文本框 6"/>
          <p:cNvSpPr txBox="1"/>
          <p:nvPr/>
        </p:nvSpPr>
        <p:spPr>
          <a:xfrm>
            <a:off x="1610995" y="4165600"/>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TWO</a:t>
            </a:r>
          </a:p>
        </p:txBody>
      </p:sp>
      <p:sp>
        <p:nvSpPr>
          <p:cNvPr id="8" name="矩形 7"/>
          <p:cNvSpPr/>
          <p:nvPr/>
        </p:nvSpPr>
        <p:spPr>
          <a:xfrm>
            <a:off x="1506855" y="2691130"/>
            <a:ext cx="2586990" cy="742319"/>
          </a:xfrm>
          <a:prstGeom prst="rect">
            <a:avLst/>
          </a:prstGeom>
        </p:spPr>
        <p:txBody>
          <a:bodyPr wrap="square">
            <a:spAutoFit/>
          </a:bodyPr>
          <a:lstStyle/>
          <a:p>
            <a:pPr algn="ctr">
              <a:lnSpc>
                <a:spcPct val="130000"/>
              </a:lnSpc>
            </a:pPr>
            <a:r>
              <a:rPr lang="zh-CN" altLang="en-US" sz="3600" dirty="0" smtClean="0">
                <a:solidFill>
                  <a:srgbClr val="FF0000"/>
                </a:solidFill>
                <a:latin typeface="微软雅黑" panose="020B0503020204020204" pitchFamily="34" charset="-122"/>
                <a:ea typeface="微软雅黑" panose="020B0503020204020204" pitchFamily="34" charset="-122"/>
              </a:rPr>
              <a:t>项目提出</a:t>
            </a:r>
          </a:p>
        </p:txBody>
      </p:sp>
      <p:sp>
        <p:nvSpPr>
          <p:cNvPr id="9" name="矩形 8"/>
          <p:cNvSpPr/>
          <p:nvPr/>
        </p:nvSpPr>
        <p:spPr>
          <a:xfrm>
            <a:off x="1506855" y="4783455"/>
            <a:ext cx="261048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平台应用</a:t>
            </a:r>
          </a:p>
        </p:txBody>
      </p:sp>
      <p:sp>
        <p:nvSpPr>
          <p:cNvPr id="10" name="文本框 9"/>
          <p:cNvSpPr txBox="1"/>
          <p:nvPr/>
        </p:nvSpPr>
        <p:spPr>
          <a:xfrm>
            <a:off x="6983095" y="2046605"/>
            <a:ext cx="262128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a:solidFill>
                  <a:schemeClr val="bg1"/>
                </a:solidFill>
              </a:rPr>
              <a:t> </a:t>
            </a:r>
            <a:r>
              <a:rPr kumimoji="1" lang="en-US" altLang="zh-CN" sz="3600" b="1" dirty="0" smtClean="0">
                <a:solidFill>
                  <a:schemeClr val="bg1"/>
                </a:solidFill>
              </a:rPr>
              <a:t>THREE</a:t>
            </a:r>
          </a:p>
        </p:txBody>
      </p:sp>
      <p:sp>
        <p:nvSpPr>
          <p:cNvPr id="11" name="文本框 10"/>
          <p:cNvSpPr txBox="1"/>
          <p:nvPr/>
        </p:nvSpPr>
        <p:spPr>
          <a:xfrm>
            <a:off x="6983095" y="4199890"/>
            <a:ext cx="271272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FOUR</a:t>
            </a:r>
          </a:p>
        </p:txBody>
      </p:sp>
      <p:sp>
        <p:nvSpPr>
          <p:cNvPr id="12" name="矩形 11"/>
          <p:cNvSpPr/>
          <p:nvPr/>
        </p:nvSpPr>
        <p:spPr>
          <a:xfrm>
            <a:off x="6972300" y="2702560"/>
            <a:ext cx="264477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技术实现</a:t>
            </a:r>
          </a:p>
        </p:txBody>
      </p:sp>
      <p:cxnSp>
        <p:nvCxnSpPr>
          <p:cNvPr id="14" name="直线连接符 16"/>
          <p:cNvCxnSpPr/>
          <p:nvPr/>
        </p:nvCxnSpPr>
        <p:spPr>
          <a:xfrm>
            <a:off x="545651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6971030" y="4829175"/>
            <a:ext cx="2715895" cy="742319"/>
          </a:xfrm>
          <a:prstGeom prst="rect">
            <a:avLst/>
          </a:prstGeom>
        </p:spPr>
        <p:txBody>
          <a:bodyPr wrap="square">
            <a:spAutoFit/>
          </a:bodyPr>
          <a:lstStyle/>
          <a:p>
            <a:pPr algn="ctr">
              <a:lnSpc>
                <a:spcPct val="130000"/>
              </a:lnSpc>
            </a:pPr>
            <a:r>
              <a:rPr lang="zh-CN" altLang="en-US" sz="3600" dirty="0" smtClean="0">
                <a:latin typeface="微软雅黑" panose="020B0503020204020204" pitchFamily="34" charset="-122"/>
                <a:ea typeface="微软雅黑" panose="020B0503020204020204" pitchFamily="34" charset="-122"/>
              </a:rPr>
              <a:t>建设规划</a:t>
            </a:r>
          </a:p>
        </p:txBody>
      </p:sp>
    </p:spTree>
    <p:extLst>
      <p:ext uri="{BB962C8B-B14F-4D97-AF65-F5344CB8AC3E}">
        <p14:creationId xmlns:p14="http://schemas.microsoft.com/office/powerpoint/2010/main" val="2255272054"/>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网维工作的现状</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nvSpPr>
        <p:spPr>
          <a:xfrm>
            <a:off x="1111134" y="2550970"/>
            <a:ext cx="2088000" cy="2088000"/>
          </a:xfrm>
          <a:prstGeom prst="ellipse">
            <a:avLst/>
          </a:prstGeom>
          <a:solidFill>
            <a:srgbClr val="1A7BAE"/>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smtClean="0">
                <a:ln>
                  <a:noFill/>
                </a:ln>
                <a:solidFill>
                  <a:prstClr val="white"/>
                </a:solidFill>
                <a:effectLst/>
                <a:uLnTx/>
                <a:uFillTx/>
                <a:latin typeface="Arial"/>
                <a:ea typeface="微软雅黑"/>
                <a:cs typeface="+mn-cs"/>
              </a:rPr>
              <a:t>事倍功半</a:t>
            </a:r>
          </a:p>
        </p:txBody>
      </p:sp>
      <p:sp>
        <p:nvSpPr>
          <p:cNvPr id="91" name="椭圆 90"/>
          <p:cNvSpPr/>
          <p:nvPr/>
        </p:nvSpPr>
        <p:spPr>
          <a:xfrm>
            <a:off x="6618506" y="2556521"/>
            <a:ext cx="2088000" cy="2088000"/>
          </a:xfrm>
          <a:prstGeom prst="ellipse">
            <a:avLst/>
          </a:prstGeom>
          <a:solidFill>
            <a:srgbClr val="1A7BAE"/>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smtClean="0">
                <a:ln>
                  <a:noFill/>
                </a:ln>
                <a:solidFill>
                  <a:prstClr val="white"/>
                </a:solidFill>
                <a:effectLst/>
                <a:uLnTx/>
                <a:uFillTx/>
                <a:latin typeface="Arial"/>
                <a:ea typeface="微软雅黑"/>
                <a:cs typeface="+mn-cs"/>
              </a:rPr>
              <a:t>视而不见</a:t>
            </a:r>
            <a:endParaRPr kumimoji="0" lang="zh-CN" altLang="en-US" sz="1800" b="1" i="0" u="none" strike="noStrike" kern="0" cap="none" spc="0" normalizeH="0" baseline="0" noProof="0" dirty="0" smtClean="0">
              <a:ln>
                <a:noFill/>
              </a:ln>
              <a:solidFill>
                <a:prstClr val="white"/>
              </a:solidFill>
              <a:effectLst/>
              <a:uLnTx/>
              <a:uFillTx/>
              <a:latin typeface="Arial"/>
              <a:ea typeface="微软雅黑"/>
              <a:cs typeface="+mn-cs"/>
            </a:endParaRPr>
          </a:p>
        </p:txBody>
      </p:sp>
      <p:sp>
        <p:nvSpPr>
          <p:cNvPr id="92" name="椭圆 91"/>
          <p:cNvSpPr/>
          <p:nvPr/>
        </p:nvSpPr>
        <p:spPr>
          <a:xfrm>
            <a:off x="3864820" y="2550971"/>
            <a:ext cx="2088000" cy="2088000"/>
          </a:xfrm>
          <a:prstGeom prst="ellipse">
            <a:avLst/>
          </a:prstGeom>
          <a:solidFill>
            <a:srgbClr val="1A7BAE"/>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2400" b="1" kern="0" dirty="0" smtClean="0">
                <a:solidFill>
                  <a:prstClr val="white"/>
                </a:solidFill>
                <a:latin typeface="Arial"/>
                <a:ea typeface="微软雅黑"/>
              </a:rPr>
              <a:t>后知后觉</a:t>
            </a:r>
            <a:endParaRPr lang="zh-CN" altLang="en-US" b="1" kern="0" dirty="0">
              <a:solidFill>
                <a:prstClr val="white"/>
              </a:solidFill>
              <a:latin typeface="Arial"/>
              <a:ea typeface="微软雅黑"/>
            </a:endParaRPr>
          </a:p>
        </p:txBody>
      </p:sp>
      <p:sp>
        <p:nvSpPr>
          <p:cNvPr id="93" name="椭圆 92"/>
          <p:cNvSpPr/>
          <p:nvPr/>
        </p:nvSpPr>
        <p:spPr>
          <a:xfrm>
            <a:off x="9372192" y="2550970"/>
            <a:ext cx="2088000" cy="2088000"/>
          </a:xfrm>
          <a:prstGeom prst="ellipse">
            <a:avLst/>
          </a:prstGeom>
          <a:solidFill>
            <a:srgbClr val="1A7BAE"/>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smtClean="0">
                <a:ln>
                  <a:noFill/>
                </a:ln>
                <a:solidFill>
                  <a:prstClr val="white"/>
                </a:solidFill>
                <a:effectLst/>
                <a:uLnTx/>
                <a:uFillTx/>
                <a:latin typeface="Arial"/>
                <a:ea typeface="微软雅黑"/>
                <a:cs typeface="+mn-cs"/>
              </a:rPr>
              <a:t>各行其是</a:t>
            </a:r>
            <a:endParaRPr kumimoji="0" lang="zh-CN" altLang="en-US" sz="1800" b="1" i="0" u="none" strike="noStrike" kern="0" cap="none" spc="0" normalizeH="0" baseline="0" noProof="0" dirty="0" smtClean="0">
              <a:ln>
                <a:noFill/>
              </a:ln>
              <a:solidFill>
                <a:prstClr val="white"/>
              </a:solidFill>
              <a:effectLst/>
              <a:uLnTx/>
              <a:uFillTx/>
              <a:latin typeface="Arial"/>
              <a:ea typeface="微软雅黑"/>
              <a:cs typeface="+mn-cs"/>
            </a:endParaRPr>
          </a:p>
        </p:txBody>
      </p:sp>
    </p:spTree>
    <p:extLst>
      <p:ext uri="{BB962C8B-B14F-4D97-AF65-F5344CB8AC3E}">
        <p14:creationId xmlns:p14="http://schemas.microsoft.com/office/powerpoint/2010/main" val="248068055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1" grpId="0" animBg="1"/>
      <p:bldP spid="92" grpId="0" animBg="1"/>
      <p:bldP spid="9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1058473" y="-83566"/>
            <a:ext cx="10494151" cy="6638515"/>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4"/>
          <a:stretch>
            <a:fillRect/>
          </a:stretch>
        </p:blipFill>
        <p:spPr>
          <a:xfrm>
            <a:off x="6264767" y="2237188"/>
            <a:ext cx="1638300" cy="1634067"/>
          </a:xfrm>
          <a:prstGeom prst="rect">
            <a:avLst/>
          </a:prstGeom>
        </p:spPr>
      </p:pic>
      <p:sp>
        <p:nvSpPr>
          <p:cNvPr id="13" name="矩形 12"/>
          <p:cNvSpPr/>
          <p:nvPr/>
        </p:nvSpPr>
        <p:spPr>
          <a:xfrm>
            <a:off x="1295400" y="4736268"/>
            <a:ext cx="9915525" cy="1818681"/>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4" name="矩形 13"/>
          <p:cNvSpPr/>
          <p:nvPr/>
        </p:nvSpPr>
        <p:spPr>
          <a:xfrm>
            <a:off x="1295400" y="13016"/>
            <a:ext cx="10020299" cy="1904167"/>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a:t>
            </a:r>
            <a:r>
              <a:rPr lang="zh-CN" altLang="en-US" sz="3200" b="1" dirty="0">
                <a:latin typeface="微软雅黑" panose="020B0503020204020204" pitchFamily="34" charset="-122"/>
                <a:ea typeface="微软雅黑" panose="020B0503020204020204" pitchFamily="34" charset="-122"/>
              </a:rPr>
              <a:t>提出</a:t>
            </a:r>
          </a:p>
        </p:txBody>
      </p: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endParaRPr lang="zh-CN" altLang="en-US" dirty="0">
              <a:solidFill>
                <a:srgbClr val="333F50"/>
              </a:solidFill>
            </a:endParaRPr>
          </a:p>
        </p:txBody>
      </p:sp>
      <p:sp>
        <p:nvSpPr>
          <p:cNvPr id="15" name="矩形 14"/>
          <p:cNvSpPr/>
          <p:nvPr/>
        </p:nvSpPr>
        <p:spPr>
          <a:xfrm>
            <a:off x="942830" y="2038823"/>
            <a:ext cx="4872336" cy="2163093"/>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6" name="矩形 15"/>
          <p:cNvSpPr/>
          <p:nvPr/>
        </p:nvSpPr>
        <p:spPr>
          <a:xfrm>
            <a:off x="8188969" y="2009815"/>
            <a:ext cx="3302710" cy="1834356"/>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1" name="文本框 10"/>
          <p:cNvSpPr txBox="1"/>
          <p:nvPr/>
        </p:nvSpPr>
        <p:spPr>
          <a:xfrm>
            <a:off x="2864359" y="1954258"/>
            <a:ext cx="647700"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smtClean="0"/>
              <a:t>感知</a:t>
            </a:r>
            <a:endParaRPr lang="zh-CN" altLang="en-US" dirty="0"/>
          </a:p>
        </p:txBody>
      </p:sp>
      <p:sp>
        <p:nvSpPr>
          <p:cNvPr id="18" name="文本框 17"/>
          <p:cNvSpPr txBox="1"/>
          <p:nvPr/>
        </p:nvSpPr>
        <p:spPr>
          <a:xfrm>
            <a:off x="6676807" y="1951438"/>
            <a:ext cx="647700"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smtClean="0"/>
              <a:t>决策</a:t>
            </a:r>
            <a:endParaRPr lang="zh-CN" altLang="en-US" dirty="0"/>
          </a:p>
        </p:txBody>
      </p:sp>
      <p:sp>
        <p:nvSpPr>
          <p:cNvPr id="19" name="文本框 18"/>
          <p:cNvSpPr txBox="1"/>
          <p:nvPr/>
        </p:nvSpPr>
        <p:spPr>
          <a:xfrm>
            <a:off x="9775956" y="1951438"/>
            <a:ext cx="647700"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smtClean="0"/>
              <a:t>控制</a:t>
            </a:r>
            <a:endParaRPr lang="zh-CN" altLang="en-US" dirty="0"/>
          </a:p>
        </p:txBody>
      </p:sp>
      <p:sp>
        <p:nvSpPr>
          <p:cNvPr id="20" name="文本框 19"/>
          <p:cNvSpPr txBox="1"/>
          <p:nvPr/>
        </p:nvSpPr>
        <p:spPr>
          <a:xfrm>
            <a:off x="7734299" y="4614628"/>
            <a:ext cx="647700" cy="369332"/>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zh-CN" altLang="en-US" dirty="0" smtClean="0"/>
              <a:t>面向</a:t>
            </a:r>
            <a:endParaRPr lang="zh-CN" altLang="en-US" dirty="0"/>
          </a:p>
        </p:txBody>
      </p:sp>
      <p:sp>
        <p:nvSpPr>
          <p:cNvPr id="23" name="文本框 22"/>
          <p:cNvSpPr txBox="1"/>
          <p:nvPr/>
        </p:nvSpPr>
        <p:spPr>
          <a:xfrm>
            <a:off x="7667159" y="1518843"/>
            <a:ext cx="647700" cy="369332"/>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zh-CN" altLang="en-US" dirty="0" smtClean="0"/>
              <a:t>呈现</a:t>
            </a:r>
            <a:endParaRPr lang="zh-CN" altLang="en-US" dirty="0"/>
          </a:p>
        </p:txBody>
      </p:sp>
      <p:sp>
        <p:nvSpPr>
          <p:cNvPr id="21" name="矩形 20"/>
          <p:cNvSpPr/>
          <p:nvPr/>
        </p:nvSpPr>
        <p:spPr>
          <a:xfrm>
            <a:off x="0" y="2478639"/>
            <a:ext cx="12192000" cy="2802535"/>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endParaRPr lang="zh-CN" altLang="en-US" sz="2400" b="1" dirty="0" smtClean="0">
              <a:solidFill>
                <a:schemeClr val="bg1"/>
              </a:solidFill>
            </a:endParaRPr>
          </a:p>
        </p:txBody>
      </p:sp>
      <p:sp>
        <p:nvSpPr>
          <p:cNvPr id="17" name="矩形 16"/>
          <p:cNvSpPr/>
          <p:nvPr/>
        </p:nvSpPr>
        <p:spPr>
          <a:xfrm>
            <a:off x="3686175" y="4624435"/>
            <a:ext cx="4695824" cy="424415"/>
          </a:xfrm>
          <a:prstGeom prst="rect">
            <a:avLst/>
          </a:prstGeom>
          <a:solidFill>
            <a:srgbClr val="FF505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smtClean="0">
                <a:solidFill>
                  <a:schemeClr val="bg1"/>
                </a:solidFill>
              </a:rPr>
              <a:t>数据价值体现升级</a:t>
            </a:r>
            <a:endParaRPr lang="en-US" altLang="zh-CN" b="1" dirty="0">
              <a:solidFill>
                <a:schemeClr val="bg1"/>
              </a:solidFill>
            </a:endParaRPr>
          </a:p>
        </p:txBody>
      </p:sp>
      <p:sp>
        <p:nvSpPr>
          <p:cNvPr id="24" name="矩形 23"/>
          <p:cNvSpPr/>
          <p:nvPr/>
        </p:nvSpPr>
        <p:spPr>
          <a:xfrm>
            <a:off x="3686175" y="4064262"/>
            <a:ext cx="4695824" cy="452531"/>
          </a:xfrm>
          <a:prstGeom prst="rect">
            <a:avLst/>
          </a:prstGeom>
          <a:solidFill>
            <a:srgbClr val="FF505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smtClean="0">
                <a:solidFill>
                  <a:schemeClr val="bg1"/>
                </a:solidFill>
              </a:rPr>
              <a:t>网络运维方法革新</a:t>
            </a:r>
            <a:endParaRPr lang="en-US" altLang="zh-CN" b="1" dirty="0">
              <a:solidFill>
                <a:schemeClr val="bg1"/>
              </a:solidFill>
            </a:endParaRPr>
          </a:p>
        </p:txBody>
      </p:sp>
      <p:sp>
        <p:nvSpPr>
          <p:cNvPr id="25" name="矩形 24"/>
          <p:cNvSpPr/>
          <p:nvPr/>
        </p:nvSpPr>
        <p:spPr>
          <a:xfrm>
            <a:off x="3686175" y="3485309"/>
            <a:ext cx="4695824" cy="466049"/>
          </a:xfrm>
          <a:prstGeom prst="rect">
            <a:avLst/>
          </a:prstGeom>
          <a:solidFill>
            <a:srgbClr val="FF505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smtClean="0">
                <a:solidFill>
                  <a:schemeClr val="bg1"/>
                </a:solidFill>
              </a:rPr>
              <a:t>网络服务模式突破</a:t>
            </a:r>
            <a:endParaRPr lang="zh-CN" altLang="en-US" b="1" dirty="0">
              <a:solidFill>
                <a:schemeClr val="bg1"/>
              </a:solidFill>
            </a:endParaRPr>
          </a:p>
        </p:txBody>
      </p:sp>
      <p:sp>
        <p:nvSpPr>
          <p:cNvPr id="22" name="文本框 21"/>
          <p:cNvSpPr txBox="1"/>
          <p:nvPr/>
        </p:nvSpPr>
        <p:spPr>
          <a:xfrm>
            <a:off x="3188209" y="2687194"/>
            <a:ext cx="6428320" cy="646331"/>
          </a:xfrm>
          <a:prstGeom prst="rect">
            <a:avLst/>
          </a:prstGeom>
          <a:noFill/>
        </p:spPr>
        <p:txBody>
          <a:bodyPr wrap="square" rtlCol="0">
            <a:spAutoFit/>
          </a:bodyPr>
          <a:lstStyle/>
          <a:p>
            <a:r>
              <a:rPr lang="zh-CN" altLang="en-US" sz="3600" b="1" dirty="0" smtClean="0">
                <a:solidFill>
                  <a:schemeClr val="bg1"/>
                </a:solidFill>
              </a:rPr>
              <a:t>网络大脑</a:t>
            </a:r>
            <a:r>
              <a:rPr lang="en-US" altLang="zh-CN" sz="3600" b="1" dirty="0" smtClean="0">
                <a:solidFill>
                  <a:schemeClr val="bg1"/>
                </a:solidFill>
              </a:rPr>
              <a:t>– </a:t>
            </a:r>
            <a:r>
              <a:rPr lang="zh-CN" altLang="en-US" sz="3600" b="1" dirty="0" smtClean="0">
                <a:solidFill>
                  <a:schemeClr val="bg1"/>
                </a:solidFill>
              </a:rPr>
              <a:t>智能网络管理中枢</a:t>
            </a:r>
            <a:endParaRPr lang="zh-CN" altLang="en-US" sz="3600" b="1" dirty="0">
              <a:solidFill>
                <a:schemeClr val="bg1"/>
              </a:solidFill>
            </a:endParaRPr>
          </a:p>
        </p:txBody>
      </p:sp>
    </p:spTree>
    <p:extLst>
      <p:ext uri="{BB962C8B-B14F-4D97-AF65-F5344CB8AC3E}">
        <p14:creationId xmlns:p14="http://schemas.microsoft.com/office/powerpoint/2010/main" val="83528852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xit" presetSubtype="32" fill="hold" grpId="0" nodeType="clickEffect">
                                  <p:stCondLst>
                                    <p:cond delay="0"/>
                                  </p:stCondLst>
                                  <p:childTnLst>
                                    <p:anim calcmode="lin" valueType="num">
                                      <p:cBhvr>
                                        <p:cTn id="6" dur="500"/>
                                        <p:tgtEl>
                                          <p:spTgt spid="15"/>
                                        </p:tgtEl>
                                        <p:attrNameLst>
                                          <p:attrName>ppt_w</p:attrName>
                                        </p:attrNameLst>
                                      </p:cBhvr>
                                      <p:tavLst>
                                        <p:tav tm="0">
                                          <p:val>
                                            <p:strVal val="ppt_w"/>
                                          </p:val>
                                        </p:tav>
                                        <p:tav tm="100000">
                                          <p:val>
                                            <p:fltVal val="0"/>
                                          </p:val>
                                        </p:tav>
                                      </p:tavLst>
                                    </p:anim>
                                    <p:anim calcmode="lin" valueType="num">
                                      <p:cBhvr>
                                        <p:cTn id="7" dur="500"/>
                                        <p:tgtEl>
                                          <p:spTgt spid="15"/>
                                        </p:tgtEl>
                                        <p:attrNameLst>
                                          <p:attrName>ppt_h</p:attrName>
                                        </p:attrNameLst>
                                      </p:cBhvr>
                                      <p:tavLst>
                                        <p:tav tm="0">
                                          <p:val>
                                            <p:strVal val="ppt_h"/>
                                          </p:val>
                                        </p:tav>
                                        <p:tav tm="100000">
                                          <p:val>
                                            <p:fltVal val="0"/>
                                          </p:val>
                                        </p:tav>
                                      </p:tavLst>
                                    </p:anim>
                                    <p:animEffect transition="out" filter="fade">
                                      <p:cBhvr>
                                        <p:cTn id="8" dur="500"/>
                                        <p:tgtEl>
                                          <p:spTgt spid="15"/>
                                        </p:tgtEl>
                                      </p:cBhvr>
                                    </p:animEffect>
                                    <p:set>
                                      <p:cBhvr>
                                        <p:cTn id="9" dur="1" fill="hold">
                                          <p:stCondLst>
                                            <p:cond delay="499"/>
                                          </p:stCondLst>
                                        </p:cTn>
                                        <p:tgtEl>
                                          <p:spTgt spid="15"/>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down)">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down)">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xit" presetSubtype="32" fill="hold" grpId="0" nodeType="clickEffect">
                                  <p:stCondLst>
                                    <p:cond delay="0"/>
                                  </p:stCondLst>
                                  <p:childTnLst>
                                    <p:anim calcmode="lin" valueType="num">
                                      <p:cBhvr>
                                        <p:cTn id="30" dur="500"/>
                                        <p:tgtEl>
                                          <p:spTgt spid="16"/>
                                        </p:tgtEl>
                                        <p:attrNameLst>
                                          <p:attrName>ppt_w</p:attrName>
                                        </p:attrNameLst>
                                      </p:cBhvr>
                                      <p:tavLst>
                                        <p:tav tm="0">
                                          <p:val>
                                            <p:strVal val="ppt_w"/>
                                          </p:val>
                                        </p:tav>
                                        <p:tav tm="100000">
                                          <p:val>
                                            <p:fltVal val="0"/>
                                          </p:val>
                                        </p:tav>
                                      </p:tavLst>
                                    </p:anim>
                                    <p:anim calcmode="lin" valueType="num">
                                      <p:cBhvr>
                                        <p:cTn id="31" dur="500"/>
                                        <p:tgtEl>
                                          <p:spTgt spid="16"/>
                                        </p:tgtEl>
                                        <p:attrNameLst>
                                          <p:attrName>ppt_h</p:attrName>
                                        </p:attrNameLst>
                                      </p:cBhvr>
                                      <p:tavLst>
                                        <p:tav tm="0">
                                          <p:val>
                                            <p:strVal val="ppt_h"/>
                                          </p:val>
                                        </p:tav>
                                        <p:tav tm="100000">
                                          <p:val>
                                            <p:fltVal val="0"/>
                                          </p:val>
                                        </p:tav>
                                      </p:tavLst>
                                    </p:anim>
                                    <p:animEffect transition="out" filter="fade">
                                      <p:cBhvr>
                                        <p:cTn id="32" dur="500"/>
                                        <p:tgtEl>
                                          <p:spTgt spid="16"/>
                                        </p:tgtEl>
                                      </p:cBhvr>
                                    </p:animEffect>
                                    <p:set>
                                      <p:cBhvr>
                                        <p:cTn id="33" dur="1" fill="hold">
                                          <p:stCondLst>
                                            <p:cond delay="499"/>
                                          </p:stCondLst>
                                        </p:cTn>
                                        <p:tgtEl>
                                          <p:spTgt spid="16"/>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down)">
                                      <p:cBhvr>
                                        <p:cTn id="38" dur="500"/>
                                        <p:tgtEl>
                                          <p:spTgt spid="1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down)">
                                      <p:cBhvr>
                                        <p:cTn id="43" dur="500"/>
                                        <p:tgtEl>
                                          <p:spTgt spid="20"/>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xit" presetSubtype="32" fill="hold" grpId="0" nodeType="clickEffect">
                                  <p:stCondLst>
                                    <p:cond delay="0"/>
                                  </p:stCondLst>
                                  <p:childTnLst>
                                    <p:anim calcmode="lin" valueType="num">
                                      <p:cBhvr>
                                        <p:cTn id="47" dur="500"/>
                                        <p:tgtEl>
                                          <p:spTgt spid="13"/>
                                        </p:tgtEl>
                                        <p:attrNameLst>
                                          <p:attrName>ppt_w</p:attrName>
                                        </p:attrNameLst>
                                      </p:cBhvr>
                                      <p:tavLst>
                                        <p:tav tm="0">
                                          <p:val>
                                            <p:strVal val="ppt_w"/>
                                          </p:val>
                                        </p:tav>
                                        <p:tav tm="100000">
                                          <p:val>
                                            <p:fltVal val="0"/>
                                          </p:val>
                                        </p:tav>
                                      </p:tavLst>
                                    </p:anim>
                                    <p:anim calcmode="lin" valueType="num">
                                      <p:cBhvr>
                                        <p:cTn id="48" dur="500"/>
                                        <p:tgtEl>
                                          <p:spTgt spid="13"/>
                                        </p:tgtEl>
                                        <p:attrNameLst>
                                          <p:attrName>ppt_h</p:attrName>
                                        </p:attrNameLst>
                                      </p:cBhvr>
                                      <p:tavLst>
                                        <p:tav tm="0">
                                          <p:val>
                                            <p:strVal val="ppt_h"/>
                                          </p:val>
                                        </p:tav>
                                        <p:tav tm="100000">
                                          <p:val>
                                            <p:fltVal val="0"/>
                                          </p:val>
                                        </p:tav>
                                      </p:tavLst>
                                    </p:anim>
                                    <p:animEffect transition="out" filter="fade">
                                      <p:cBhvr>
                                        <p:cTn id="49" dur="500"/>
                                        <p:tgtEl>
                                          <p:spTgt spid="13"/>
                                        </p:tgtEl>
                                      </p:cBhvr>
                                    </p:animEffect>
                                    <p:set>
                                      <p:cBhvr>
                                        <p:cTn id="50" dur="1" fill="hold">
                                          <p:stCondLst>
                                            <p:cond delay="499"/>
                                          </p:stCondLst>
                                        </p:cTn>
                                        <p:tgtEl>
                                          <p:spTgt spid="13"/>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wipe(down)">
                                      <p:cBhvr>
                                        <p:cTn id="55" dur="50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xit" presetSubtype="32" fill="hold" grpId="0" nodeType="clickEffect">
                                  <p:stCondLst>
                                    <p:cond delay="0"/>
                                  </p:stCondLst>
                                  <p:childTnLst>
                                    <p:anim calcmode="lin" valueType="num">
                                      <p:cBhvr>
                                        <p:cTn id="59" dur="500"/>
                                        <p:tgtEl>
                                          <p:spTgt spid="14"/>
                                        </p:tgtEl>
                                        <p:attrNameLst>
                                          <p:attrName>ppt_w</p:attrName>
                                        </p:attrNameLst>
                                      </p:cBhvr>
                                      <p:tavLst>
                                        <p:tav tm="0">
                                          <p:val>
                                            <p:strVal val="ppt_w"/>
                                          </p:val>
                                        </p:tav>
                                        <p:tav tm="100000">
                                          <p:val>
                                            <p:fltVal val="0"/>
                                          </p:val>
                                        </p:tav>
                                      </p:tavLst>
                                    </p:anim>
                                    <p:anim calcmode="lin" valueType="num">
                                      <p:cBhvr>
                                        <p:cTn id="60" dur="500"/>
                                        <p:tgtEl>
                                          <p:spTgt spid="14"/>
                                        </p:tgtEl>
                                        <p:attrNameLst>
                                          <p:attrName>ppt_h</p:attrName>
                                        </p:attrNameLst>
                                      </p:cBhvr>
                                      <p:tavLst>
                                        <p:tav tm="0">
                                          <p:val>
                                            <p:strVal val="ppt_h"/>
                                          </p:val>
                                        </p:tav>
                                        <p:tav tm="100000">
                                          <p:val>
                                            <p:fltVal val="0"/>
                                          </p:val>
                                        </p:tav>
                                      </p:tavLst>
                                    </p:anim>
                                    <p:animEffect transition="out" filter="fade">
                                      <p:cBhvr>
                                        <p:cTn id="61" dur="500"/>
                                        <p:tgtEl>
                                          <p:spTgt spid="14"/>
                                        </p:tgtEl>
                                      </p:cBhvr>
                                    </p:animEffect>
                                    <p:set>
                                      <p:cBhvr>
                                        <p:cTn id="62" dur="1" fill="hold">
                                          <p:stCondLst>
                                            <p:cond delay="499"/>
                                          </p:stCondLst>
                                        </p:cTn>
                                        <p:tgtEl>
                                          <p:spTgt spid="14"/>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fill="hold"/>
                                        <p:tgtEl>
                                          <p:spTgt spid="17"/>
                                        </p:tgtEl>
                                        <p:attrNameLst>
                                          <p:attrName>ppt_x</p:attrName>
                                        </p:attrNameLst>
                                      </p:cBhvr>
                                      <p:tavLst>
                                        <p:tav tm="0">
                                          <p:val>
                                            <p:strVal val="#ppt_x"/>
                                          </p:val>
                                        </p:tav>
                                        <p:tav tm="100000">
                                          <p:val>
                                            <p:strVal val="#ppt_x"/>
                                          </p:val>
                                        </p:tav>
                                      </p:tavLst>
                                    </p:anim>
                                    <p:anim calcmode="lin" valueType="num">
                                      <p:cBhvr additive="base">
                                        <p:cTn id="7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fill="hold"/>
                                        <p:tgtEl>
                                          <p:spTgt spid="24"/>
                                        </p:tgtEl>
                                        <p:attrNameLst>
                                          <p:attrName>ppt_x</p:attrName>
                                        </p:attrNameLst>
                                      </p:cBhvr>
                                      <p:tavLst>
                                        <p:tav tm="0">
                                          <p:val>
                                            <p:strVal val="#ppt_x"/>
                                          </p:val>
                                        </p:tav>
                                        <p:tav tm="100000">
                                          <p:val>
                                            <p:strVal val="#ppt_x"/>
                                          </p:val>
                                        </p:tav>
                                      </p:tavLst>
                                    </p:anim>
                                    <p:anim calcmode="lin" valueType="num">
                                      <p:cBhvr additive="base">
                                        <p:cTn id="8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25"/>
                                        </p:tgtEl>
                                        <p:attrNameLst>
                                          <p:attrName>style.visibility</p:attrName>
                                        </p:attrNameLst>
                                      </p:cBhvr>
                                      <p:to>
                                        <p:strVal val="visible"/>
                                      </p:to>
                                    </p:set>
                                    <p:anim calcmode="lin" valueType="num">
                                      <p:cBhvr additive="base">
                                        <p:cTn id="85" dur="500" fill="hold"/>
                                        <p:tgtEl>
                                          <p:spTgt spid="25"/>
                                        </p:tgtEl>
                                        <p:attrNameLst>
                                          <p:attrName>ppt_x</p:attrName>
                                        </p:attrNameLst>
                                      </p:cBhvr>
                                      <p:tavLst>
                                        <p:tav tm="0">
                                          <p:val>
                                            <p:strVal val="#ppt_x"/>
                                          </p:val>
                                        </p:tav>
                                        <p:tav tm="100000">
                                          <p:val>
                                            <p:strVal val="#ppt_x"/>
                                          </p:val>
                                        </p:tav>
                                      </p:tavLst>
                                    </p:anim>
                                    <p:anim calcmode="lin" valueType="num">
                                      <p:cBhvr additive="base">
                                        <p:cTn id="8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14" presetClass="entr" presetSubtype="10" fill="hold" nodeType="clickEffect">
                                  <p:stCondLst>
                                    <p:cond delay="0"/>
                                  </p:stCondLst>
                                  <p:childTnLst>
                                    <p:set>
                                      <p:cBhvr>
                                        <p:cTn id="90" dur="1" fill="hold">
                                          <p:stCondLst>
                                            <p:cond delay="0"/>
                                          </p:stCondLst>
                                        </p:cTn>
                                        <p:tgtEl>
                                          <p:spTgt spid="22">
                                            <p:txEl>
                                              <p:pRg st="0" end="0"/>
                                            </p:txEl>
                                          </p:spTgt>
                                        </p:tgtEl>
                                        <p:attrNameLst>
                                          <p:attrName>style.visibility</p:attrName>
                                        </p:attrNameLst>
                                      </p:cBhvr>
                                      <p:to>
                                        <p:strVal val="visible"/>
                                      </p:to>
                                    </p:set>
                                    <p:animEffect transition="in" filter="randombar(horizontal)">
                                      <p:cBhvr>
                                        <p:cTn id="91" dur="5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1" grpId="0" animBg="1"/>
      <p:bldP spid="18" grpId="0" animBg="1"/>
      <p:bldP spid="19" grpId="0" animBg="1"/>
      <p:bldP spid="20" grpId="0" animBg="1"/>
      <p:bldP spid="23" grpId="0" animBg="1"/>
      <p:bldP spid="21" grpId="0" animBg="1"/>
      <p:bldP spid="17" grpId="0" animBg="1"/>
      <p:bldP spid="24"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a:t>
            </a:r>
            <a:r>
              <a:rPr lang="zh-CN" altLang="en-US" sz="3200" b="1" dirty="0">
                <a:latin typeface="微软雅黑" panose="020B0503020204020204" pitchFamily="34" charset="-122"/>
                <a:ea typeface="微软雅黑" panose="020B0503020204020204" pitchFamily="34" charset="-122"/>
              </a:rPr>
              <a:t>提出</a:t>
            </a:r>
          </a:p>
        </p:txBody>
      </p:sp>
      <p:sp>
        <p:nvSpPr>
          <p:cNvPr id="3" name="矩形 2"/>
          <p:cNvSpPr/>
          <p:nvPr/>
        </p:nvSpPr>
        <p:spPr>
          <a:xfrm>
            <a:off x="1329324" y="2323974"/>
            <a:ext cx="2266765" cy="61335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项目目标</a:t>
            </a:r>
            <a:endParaRPr lang="zh-CN" altLang="en-US" sz="3200" b="1" dirty="0"/>
          </a:p>
        </p:txBody>
      </p:sp>
      <p:sp>
        <p:nvSpPr>
          <p:cNvPr id="4" name="矩形 3"/>
          <p:cNvSpPr/>
          <p:nvPr/>
        </p:nvSpPr>
        <p:spPr>
          <a:xfrm>
            <a:off x="624114" y="3816037"/>
            <a:ext cx="3907870" cy="1029511"/>
          </a:xfrm>
          <a:prstGeom prst="rect">
            <a:avLst/>
          </a:prstGeom>
        </p:spPr>
        <p:txBody>
          <a:bodyPr wrap="square" lIns="68570" tIns="34289" rIns="68570" bIns="34289">
            <a:spAutoFit/>
          </a:bodyPr>
          <a:lstStyle/>
          <a:p>
            <a:pPr marL="285750" indent="-285750" defTabSz="685165">
              <a:lnSpc>
                <a:spcPct val="130000"/>
              </a:lnSpc>
              <a:buFont typeface="Arial" panose="020B0604020202020204" pitchFamily="34" charset="0"/>
              <a:buChar char="•"/>
            </a:pP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展现珠海网络情况、能力</a:t>
            </a:r>
            <a:endParaRPr lang="en-US" altLang="zh-CN" sz="240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marL="285750" indent="-285750" defTabSz="685165">
              <a:lnSpc>
                <a:spcPct val="130000"/>
              </a:lnSpc>
              <a:buFont typeface="Arial" panose="020B0604020202020204" pitchFamily="34" charset="0"/>
              <a:buChar char="•"/>
            </a:pP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实现珠海网络智慧运维</a:t>
            </a:r>
            <a:endParaRPr lang="en-US" altLang="zh-CN" sz="2400" dirty="0" smtClean="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5" name="矩形 4"/>
          <p:cNvSpPr/>
          <p:nvPr/>
        </p:nvSpPr>
        <p:spPr>
          <a:xfrm>
            <a:off x="8962730" y="2323974"/>
            <a:ext cx="2266765" cy="613356"/>
          </a:xfrm>
          <a:prstGeom prst="rect">
            <a:avLst/>
          </a:prstGeom>
          <a:solidFill>
            <a:srgbClr val="333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平台特征</a:t>
            </a:r>
            <a:endParaRPr lang="zh-CN" altLang="en-US" sz="3200" b="1" dirty="0"/>
          </a:p>
        </p:txBody>
      </p:sp>
      <p:sp>
        <p:nvSpPr>
          <p:cNvPr id="6" name="矩形 5"/>
          <p:cNvSpPr/>
          <p:nvPr/>
        </p:nvSpPr>
        <p:spPr>
          <a:xfrm>
            <a:off x="4896875" y="2323974"/>
            <a:ext cx="2266765" cy="613356"/>
          </a:xfrm>
          <a:prstGeom prst="rect">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平台面向</a:t>
            </a:r>
            <a:endParaRPr lang="zh-CN" altLang="en-US" sz="3200" b="1" dirty="0"/>
          </a:p>
        </p:txBody>
      </p:sp>
      <p:sp>
        <p:nvSpPr>
          <p:cNvPr id="7" name="矩形 6"/>
          <p:cNvSpPr/>
          <p:nvPr/>
        </p:nvSpPr>
        <p:spPr>
          <a:xfrm>
            <a:off x="4704218" y="3311531"/>
            <a:ext cx="2652078" cy="2469905"/>
          </a:xfrm>
          <a:prstGeom prst="rect">
            <a:avLst/>
          </a:prstGeom>
        </p:spPr>
        <p:txBody>
          <a:bodyPr wrap="square" lIns="68570" tIns="34289" rIns="68570" bIns="34289">
            <a:spAutoFit/>
          </a:bodyPr>
          <a:lstStyle/>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领导</a:t>
            </a: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监控岗位人员</a:t>
            </a: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专业岗位人员</a:t>
            </a: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其它岗位人员</a:t>
            </a: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外部</a:t>
            </a: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人员等</a:t>
            </a:r>
            <a:endPar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8" name="矩形 7"/>
          <p:cNvSpPr/>
          <p:nvPr/>
        </p:nvSpPr>
        <p:spPr>
          <a:xfrm>
            <a:off x="8255593" y="3575001"/>
            <a:ext cx="3598370" cy="1509642"/>
          </a:xfrm>
          <a:prstGeom prst="rect">
            <a:avLst/>
          </a:prstGeom>
        </p:spPr>
        <p:txBody>
          <a:bodyPr wrap="square" lIns="68570" tIns="34289" rIns="68570" bIns="34289">
            <a:spAutoFit/>
          </a:bodyPr>
          <a:lstStyle/>
          <a:p>
            <a:pPr marL="285750" indent="-285750" algn="ctr" defTabSz="685165">
              <a:lnSpc>
                <a:spcPct val="130000"/>
              </a:lnSpc>
              <a:buFont typeface="Arial" panose="020B0604020202020204" pitchFamily="34" charset="0"/>
              <a:buChar char="•"/>
            </a:pP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即时</a:t>
            </a:r>
            <a:endParaRPr lang="en-US" altLang="zh-CN" sz="240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全</a:t>
            </a: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网</a:t>
            </a:r>
            <a:endParaRPr lang="en-US" altLang="zh-CN" sz="240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全数据</a:t>
            </a:r>
          </a:p>
        </p:txBody>
      </p:sp>
    </p:spTree>
    <p:extLst>
      <p:ext uri="{BB962C8B-B14F-4D97-AF65-F5344CB8AC3E}">
        <p14:creationId xmlns:p14="http://schemas.microsoft.com/office/powerpoint/2010/main" val="3028696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arn(inVertical)">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arn(inVertical)">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animBg="1"/>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a:t>
            </a:r>
            <a:r>
              <a:rPr lang="zh-CN" altLang="en-US" sz="3200" b="1" dirty="0">
                <a:latin typeface="微软雅黑" panose="020B0503020204020204" pitchFamily="34" charset="-122"/>
                <a:ea typeface="微软雅黑" panose="020B0503020204020204" pitchFamily="34" charset="-122"/>
              </a:rPr>
              <a:t>提出</a:t>
            </a:r>
          </a:p>
        </p:txBody>
      </p:sp>
      <p:graphicFrame>
        <p:nvGraphicFramePr>
          <p:cNvPr id="9" name="图示 8"/>
          <p:cNvGraphicFramePr/>
          <p:nvPr>
            <p:extLst>
              <p:ext uri="{D42A27DB-BD31-4B8C-83A1-F6EECF244321}">
                <p14:modId xmlns:p14="http://schemas.microsoft.com/office/powerpoint/2010/main" val="3426686027"/>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30094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610995" y="2035175"/>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ONE</a:t>
            </a:r>
          </a:p>
        </p:txBody>
      </p:sp>
      <p:sp>
        <p:nvSpPr>
          <p:cNvPr id="7" name="文本框 6"/>
          <p:cNvSpPr txBox="1"/>
          <p:nvPr/>
        </p:nvSpPr>
        <p:spPr>
          <a:xfrm>
            <a:off x="1610995" y="4165600"/>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TWO</a:t>
            </a:r>
          </a:p>
        </p:txBody>
      </p:sp>
      <p:sp>
        <p:nvSpPr>
          <p:cNvPr id="8" name="矩形 7"/>
          <p:cNvSpPr/>
          <p:nvPr/>
        </p:nvSpPr>
        <p:spPr>
          <a:xfrm>
            <a:off x="1506855" y="2691130"/>
            <a:ext cx="2586990" cy="742319"/>
          </a:xfrm>
          <a:prstGeom prst="rect">
            <a:avLst/>
          </a:prstGeom>
        </p:spPr>
        <p:txBody>
          <a:bodyPr wrap="square">
            <a:spAutoFit/>
          </a:bodyPr>
          <a:lstStyle/>
          <a:p>
            <a:pPr algn="ctr">
              <a:lnSpc>
                <a:spcPct val="130000"/>
              </a:lnSpc>
            </a:pPr>
            <a:r>
              <a:rPr lang="zh-CN" altLang="en-US" sz="3600" dirty="0" smtClean="0">
                <a:latin typeface="微软雅黑" panose="020B0503020204020204" pitchFamily="34" charset="-122"/>
                <a:ea typeface="微软雅黑" panose="020B0503020204020204" pitchFamily="34" charset="-122"/>
              </a:rPr>
              <a:t>项目</a:t>
            </a:r>
            <a:r>
              <a:rPr lang="zh-CN" altLang="en-US" sz="3600" dirty="0">
                <a:latin typeface="微软雅黑" panose="020B0503020204020204" pitchFamily="34" charset="-122"/>
                <a:ea typeface="微软雅黑" panose="020B0503020204020204" pitchFamily="34" charset="-122"/>
              </a:rPr>
              <a:t>提出</a:t>
            </a:r>
            <a:endParaRPr lang="zh-CN" altLang="en-US" sz="3600" dirty="0" smtClean="0">
              <a:latin typeface="微软雅黑" panose="020B0503020204020204" pitchFamily="34" charset="-122"/>
              <a:ea typeface="微软雅黑" panose="020B0503020204020204" pitchFamily="34" charset="-122"/>
            </a:endParaRPr>
          </a:p>
        </p:txBody>
      </p:sp>
      <p:sp>
        <p:nvSpPr>
          <p:cNvPr id="9" name="矩形 8"/>
          <p:cNvSpPr/>
          <p:nvPr/>
        </p:nvSpPr>
        <p:spPr>
          <a:xfrm>
            <a:off x="1506855" y="4783455"/>
            <a:ext cx="2610485" cy="742319"/>
          </a:xfrm>
          <a:prstGeom prst="rect">
            <a:avLst/>
          </a:prstGeom>
        </p:spPr>
        <p:txBody>
          <a:bodyPr wrap="square">
            <a:spAutoFit/>
          </a:bodyPr>
          <a:lstStyle/>
          <a:p>
            <a:pPr algn="ctr">
              <a:lnSpc>
                <a:spcPct val="130000"/>
              </a:lnSpc>
            </a:pPr>
            <a:r>
              <a:rPr lang="zh-CN" altLang="en-US" sz="3600" dirty="0" smtClean="0">
                <a:solidFill>
                  <a:srgbClr val="FF0000"/>
                </a:solidFill>
                <a:latin typeface="微软雅黑" panose="020B0503020204020204" pitchFamily="34" charset="-122"/>
                <a:ea typeface="微软雅黑" panose="020B0503020204020204" pitchFamily="34" charset="-122"/>
              </a:rPr>
              <a:t>平台应用</a:t>
            </a:r>
          </a:p>
        </p:txBody>
      </p:sp>
      <p:sp>
        <p:nvSpPr>
          <p:cNvPr id="10" name="文本框 9"/>
          <p:cNvSpPr txBox="1"/>
          <p:nvPr/>
        </p:nvSpPr>
        <p:spPr>
          <a:xfrm>
            <a:off x="6983095" y="2046605"/>
            <a:ext cx="262128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a:solidFill>
                  <a:schemeClr val="bg1"/>
                </a:solidFill>
              </a:rPr>
              <a:t> </a:t>
            </a:r>
            <a:r>
              <a:rPr kumimoji="1" lang="en-US" altLang="zh-CN" sz="3600" b="1" dirty="0" smtClean="0">
                <a:solidFill>
                  <a:schemeClr val="bg1"/>
                </a:solidFill>
              </a:rPr>
              <a:t>THREE</a:t>
            </a:r>
          </a:p>
        </p:txBody>
      </p:sp>
      <p:sp>
        <p:nvSpPr>
          <p:cNvPr id="11" name="文本框 10"/>
          <p:cNvSpPr txBox="1"/>
          <p:nvPr/>
        </p:nvSpPr>
        <p:spPr>
          <a:xfrm>
            <a:off x="6983095" y="4199890"/>
            <a:ext cx="271272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FOUR</a:t>
            </a:r>
          </a:p>
        </p:txBody>
      </p:sp>
      <p:sp>
        <p:nvSpPr>
          <p:cNvPr id="12" name="矩形 11"/>
          <p:cNvSpPr/>
          <p:nvPr/>
        </p:nvSpPr>
        <p:spPr>
          <a:xfrm>
            <a:off x="6972300" y="2702560"/>
            <a:ext cx="264477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技术实现</a:t>
            </a:r>
          </a:p>
        </p:txBody>
      </p:sp>
      <p:cxnSp>
        <p:nvCxnSpPr>
          <p:cNvPr id="14" name="直线连接符 16"/>
          <p:cNvCxnSpPr/>
          <p:nvPr/>
        </p:nvCxnSpPr>
        <p:spPr>
          <a:xfrm>
            <a:off x="545651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6971030" y="4829175"/>
            <a:ext cx="2715895" cy="742319"/>
          </a:xfrm>
          <a:prstGeom prst="rect">
            <a:avLst/>
          </a:prstGeom>
        </p:spPr>
        <p:txBody>
          <a:bodyPr wrap="square">
            <a:spAutoFit/>
          </a:bodyPr>
          <a:lstStyle/>
          <a:p>
            <a:pPr algn="ctr">
              <a:lnSpc>
                <a:spcPct val="130000"/>
              </a:lnSpc>
            </a:pPr>
            <a:r>
              <a:rPr lang="zh-CN" altLang="en-US" sz="3600" dirty="0" smtClean="0">
                <a:latin typeface="微软雅黑" panose="020B0503020204020204" pitchFamily="34" charset="-122"/>
                <a:ea typeface="微软雅黑" panose="020B0503020204020204" pitchFamily="34" charset="-122"/>
              </a:rPr>
              <a:t>建设规划</a:t>
            </a:r>
          </a:p>
        </p:txBody>
      </p:sp>
    </p:spTree>
    <p:extLst>
      <p:ext uri="{BB962C8B-B14F-4D97-AF65-F5344CB8AC3E}">
        <p14:creationId xmlns:p14="http://schemas.microsoft.com/office/powerpoint/2010/main" val="413558203"/>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4109811"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平台应用</a:t>
            </a:r>
            <a:r>
              <a:rPr lang="en-US" altLang="zh-CN" sz="3200" b="1" dirty="0" smtClean="0">
                <a:latin typeface="微软雅黑" panose="020B0503020204020204" pitchFamily="34" charset="-122"/>
                <a:ea typeface="微软雅黑" panose="020B0503020204020204" pitchFamily="34" charset="-122"/>
              </a:rPr>
              <a:t>-</a:t>
            </a:r>
            <a:r>
              <a:rPr lang="zh-CN" altLang="en-US" sz="3200" b="1" dirty="0" smtClean="0">
                <a:latin typeface="微软雅黑" panose="020B0503020204020204" pitchFamily="34" charset="-122"/>
                <a:ea typeface="微软雅黑" panose="020B0503020204020204" pitchFamily="34" charset="-122"/>
              </a:rPr>
              <a:t>网络全景图</a:t>
            </a:r>
            <a:r>
              <a:rPr lang="en-US" altLang="zh-CN" sz="3200" b="1" dirty="0" smtClean="0">
                <a:latin typeface="微软雅黑" panose="020B0503020204020204" pitchFamily="34" charset="-122"/>
                <a:ea typeface="微软雅黑" panose="020B0503020204020204" pitchFamily="34" charset="-122"/>
              </a:rPr>
              <a:t> </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478280" y="846455"/>
            <a:ext cx="9375775" cy="737235"/>
          </a:xfrm>
          <a:prstGeom prst="rect">
            <a:avLst/>
          </a:prstGeom>
          <a:noFill/>
        </p:spPr>
        <p:txBody>
          <a:bodyPr wrap="square" rtlCol="0">
            <a:spAutoFit/>
          </a:bodyPr>
          <a:lstStyle/>
          <a:p>
            <a:pPr marL="285750" indent="0" algn="ctr">
              <a:lnSpc>
                <a:spcPct val="150000"/>
              </a:lnSpc>
              <a:buFont typeface="Arial" panose="020B0604020202020204" pitchFamily="34" charset="0"/>
              <a:buNone/>
            </a:pPr>
            <a:r>
              <a:rPr lang="zh-CN" altLang="en-US" sz="2800" dirty="0" smtClean="0"/>
              <a:t>全局总览，整体把控</a:t>
            </a:r>
          </a:p>
        </p:txBody>
      </p:sp>
      <p:pic>
        <p:nvPicPr>
          <p:cNvPr id="7" name="图片 6"/>
          <p:cNvPicPr>
            <a:picLocks noChangeAspect="1"/>
          </p:cNvPicPr>
          <p:nvPr/>
        </p:nvPicPr>
        <p:blipFill>
          <a:blip r:embed="rId2"/>
          <a:stretch>
            <a:fillRect/>
          </a:stretch>
        </p:blipFill>
        <p:spPr>
          <a:xfrm>
            <a:off x="1451495" y="1687215"/>
            <a:ext cx="9459076" cy="4373346"/>
          </a:xfrm>
          <a:prstGeom prst="rect">
            <a:avLst/>
          </a:prstGeom>
        </p:spPr>
      </p:pic>
    </p:spTree>
    <p:extLst>
      <p:ext uri="{BB962C8B-B14F-4D97-AF65-F5344CB8AC3E}">
        <p14:creationId xmlns:p14="http://schemas.microsoft.com/office/powerpoint/2010/main" val="550855145"/>
      </p:ext>
    </p:extLst>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663" y="860861"/>
            <a:ext cx="7381875" cy="525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4109811"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平台应用</a:t>
            </a:r>
            <a:r>
              <a:rPr lang="en-US" altLang="zh-CN" sz="3200" b="1" dirty="0" smtClean="0">
                <a:latin typeface="微软雅黑" panose="020B0503020204020204" pitchFamily="34" charset="-122"/>
                <a:ea typeface="微软雅黑" panose="020B0503020204020204" pitchFamily="34" charset="-122"/>
              </a:rPr>
              <a:t>-</a:t>
            </a:r>
            <a:r>
              <a:rPr lang="zh-CN" altLang="en-US" sz="3200" b="1" dirty="0" smtClean="0">
                <a:latin typeface="微软雅黑" panose="020B0503020204020204" pitchFamily="34" charset="-122"/>
                <a:ea typeface="微软雅黑" panose="020B0503020204020204" pitchFamily="34" charset="-122"/>
              </a:rPr>
              <a:t>网络全景图</a:t>
            </a:r>
            <a:r>
              <a:rPr lang="en-US" altLang="zh-CN" sz="3200" b="1" dirty="0" smtClean="0">
                <a:latin typeface="微软雅黑" panose="020B0503020204020204" pitchFamily="34" charset="-122"/>
                <a:ea typeface="微软雅黑" panose="020B0503020204020204" pitchFamily="34" charset="-122"/>
              </a:rPr>
              <a:t> </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7340599" y="744855"/>
            <a:ext cx="4046855" cy="738664"/>
          </a:xfrm>
          <a:prstGeom prst="rect">
            <a:avLst/>
          </a:prstGeom>
          <a:noFill/>
        </p:spPr>
        <p:txBody>
          <a:bodyPr wrap="square" rtlCol="0">
            <a:spAutoFit/>
          </a:bodyPr>
          <a:lstStyle/>
          <a:p>
            <a:pPr marL="285750" indent="0" algn="ctr">
              <a:lnSpc>
                <a:spcPct val="150000"/>
              </a:lnSpc>
              <a:buFont typeface="Arial" panose="020B0604020202020204" pitchFamily="34" charset="0"/>
              <a:buNone/>
            </a:pPr>
            <a:r>
              <a:rPr lang="zh-CN" altLang="en-US" sz="2800" dirty="0" smtClean="0"/>
              <a:t>网络拓扑，一目了然</a:t>
            </a:r>
          </a:p>
        </p:txBody>
      </p:sp>
      <p:sp>
        <p:nvSpPr>
          <p:cNvPr id="3" name="TextBox 2"/>
          <p:cNvSpPr txBox="1"/>
          <p:nvPr/>
        </p:nvSpPr>
        <p:spPr>
          <a:xfrm>
            <a:off x="8005988" y="2349500"/>
            <a:ext cx="3512912"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自动更新</a:t>
            </a:r>
            <a:endParaRPr lang="en-US" altLang="zh-CN" dirty="0" smtClean="0"/>
          </a:p>
          <a:p>
            <a:pPr marL="285750" indent="-285750">
              <a:lnSpc>
                <a:spcPct val="150000"/>
              </a:lnSpc>
              <a:buFont typeface="Arial" panose="020B0604020202020204" pitchFamily="34" charset="0"/>
              <a:buChar char="•"/>
            </a:pPr>
            <a:r>
              <a:rPr lang="zh-CN" altLang="en-US" dirty="0" smtClean="0"/>
              <a:t>动态呈现</a:t>
            </a:r>
            <a:endParaRPr lang="en-US" altLang="zh-CN" dirty="0" smtClean="0"/>
          </a:p>
          <a:p>
            <a:pPr marL="285750" indent="-285750">
              <a:lnSpc>
                <a:spcPct val="150000"/>
              </a:lnSpc>
              <a:buFont typeface="Arial" panose="020B0604020202020204" pitchFamily="34" charset="0"/>
              <a:buChar char="•"/>
            </a:pPr>
            <a:r>
              <a:rPr lang="zh-CN" altLang="en-US" dirty="0" smtClean="0"/>
              <a:t>网络结构</a:t>
            </a:r>
            <a:endParaRPr lang="en-US" altLang="zh-CN" dirty="0" smtClean="0"/>
          </a:p>
          <a:p>
            <a:pPr marL="285750" indent="-285750">
              <a:lnSpc>
                <a:spcPct val="150000"/>
              </a:lnSpc>
              <a:buFont typeface="Arial" panose="020B0604020202020204" pitchFamily="34" charset="0"/>
              <a:buChar char="•"/>
            </a:pPr>
            <a:r>
              <a:rPr lang="zh-CN" altLang="en-US" dirty="0" smtClean="0"/>
              <a:t>设备状态</a:t>
            </a:r>
            <a:endParaRPr lang="en-US" altLang="zh-CN" dirty="0" smtClean="0"/>
          </a:p>
          <a:p>
            <a:pPr marL="285750" indent="-285750">
              <a:lnSpc>
                <a:spcPct val="150000"/>
              </a:lnSpc>
              <a:buFont typeface="Arial" panose="020B0604020202020204" pitchFamily="34" charset="0"/>
              <a:buChar char="•"/>
            </a:pPr>
            <a:r>
              <a:rPr lang="zh-CN" altLang="en-US" dirty="0" smtClean="0"/>
              <a:t>链路带宽及负荷</a:t>
            </a:r>
            <a:endParaRPr lang="en-US" altLang="zh-CN" dirty="0"/>
          </a:p>
          <a:p>
            <a:pPr marL="285750" indent="-285750">
              <a:lnSpc>
                <a:spcPct val="150000"/>
              </a:lnSpc>
              <a:buFont typeface="Arial" panose="020B0604020202020204" pitchFamily="34" charset="0"/>
              <a:buChar char="•"/>
            </a:pPr>
            <a:endParaRPr lang="en-US" altLang="zh-CN" dirty="0" smtClean="0"/>
          </a:p>
        </p:txBody>
      </p:sp>
    </p:spTree>
    <p:extLst>
      <p:ext uri="{BB962C8B-B14F-4D97-AF65-F5344CB8AC3E}">
        <p14:creationId xmlns:p14="http://schemas.microsoft.com/office/powerpoint/2010/main" val="3714244702"/>
      </p:ext>
    </p:extLst>
  </p:cSld>
  <p:clrMapOvr>
    <a:masterClrMapping/>
  </p:clrMapOvr>
  <p:transition spd="med">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38197"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平台应用</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智慧化网络运维（</a:t>
            </a:r>
            <a:r>
              <a:rPr lang="en-US" altLang="zh-CN" sz="2400" b="1" dirty="0" err="1">
                <a:latin typeface="微软雅黑" panose="020B0503020204020204" pitchFamily="34" charset="-122"/>
                <a:ea typeface="微软雅黑" panose="020B0503020204020204" pitchFamily="34" charset="-122"/>
              </a:rPr>
              <a:t>AIOps</a:t>
            </a:r>
            <a:r>
              <a:rPr lang="zh-CN" altLang="en-US" sz="2400" b="1" dirty="0">
                <a:latin typeface="微软雅黑" panose="020B0503020204020204" pitchFamily="34" charset="-122"/>
                <a:ea typeface="微软雅黑" panose="020B0503020204020204" pitchFamily="34" charset="-122"/>
              </a:rPr>
              <a:t>）</a:t>
            </a: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流程图: 过程 2"/>
          <p:cNvSpPr/>
          <p:nvPr/>
        </p:nvSpPr>
        <p:spPr>
          <a:xfrm>
            <a:off x="1083452" y="1612098"/>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t>手工运维</a:t>
            </a:r>
            <a:endParaRPr lang="zh-CN" altLang="en-US" sz="2400" dirty="0"/>
          </a:p>
        </p:txBody>
      </p:sp>
      <p:sp>
        <p:nvSpPr>
          <p:cNvPr id="20" name="流程图: 过程 19"/>
          <p:cNvSpPr/>
          <p:nvPr/>
        </p:nvSpPr>
        <p:spPr>
          <a:xfrm>
            <a:off x="4715546"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自动</a:t>
            </a:r>
            <a:r>
              <a:rPr lang="zh-CN" altLang="en-US" sz="2400" dirty="0" smtClean="0"/>
              <a:t>运维</a:t>
            </a:r>
            <a:endParaRPr lang="zh-CN" altLang="en-US" sz="2400" dirty="0"/>
          </a:p>
        </p:txBody>
      </p:sp>
      <p:sp>
        <p:nvSpPr>
          <p:cNvPr id="21" name="流程图: 过程 20"/>
          <p:cNvSpPr/>
          <p:nvPr/>
        </p:nvSpPr>
        <p:spPr>
          <a:xfrm>
            <a:off x="8347640"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智慧</a:t>
            </a:r>
            <a:r>
              <a:rPr lang="zh-CN" altLang="en-US" sz="2400" dirty="0" smtClean="0"/>
              <a:t>运维（</a:t>
            </a:r>
            <a:r>
              <a:rPr lang="en-US" altLang="zh-CN" sz="2400" dirty="0" err="1" smtClean="0"/>
              <a:t>AIOps</a:t>
            </a:r>
            <a:r>
              <a:rPr lang="zh-CN" altLang="en-US" sz="2400" dirty="0" smtClean="0"/>
              <a:t>）</a:t>
            </a:r>
            <a:endParaRPr lang="en-US" altLang="zh-CN" sz="2400" dirty="0" smtClean="0"/>
          </a:p>
        </p:txBody>
      </p:sp>
      <p:sp>
        <p:nvSpPr>
          <p:cNvPr id="7" name="上箭头 6"/>
          <p:cNvSpPr/>
          <p:nvPr/>
        </p:nvSpPr>
        <p:spPr>
          <a:xfrm rot="5400000">
            <a:off x="3764643" y="1516011"/>
            <a:ext cx="490764" cy="1143000"/>
          </a:xfrm>
          <a:prstGeom prst="upArrow">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3" name="上箭头 22"/>
          <p:cNvSpPr/>
          <p:nvPr/>
        </p:nvSpPr>
        <p:spPr>
          <a:xfrm rot="5400000">
            <a:off x="7407955" y="1494294"/>
            <a:ext cx="490764" cy="1190625"/>
          </a:xfrm>
          <a:prstGeom prst="up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 name="文本框 11"/>
          <p:cNvSpPr txBox="1"/>
          <p:nvPr/>
        </p:nvSpPr>
        <p:spPr>
          <a:xfrm>
            <a:off x="748865" y="3069788"/>
            <a:ext cx="2850935" cy="175432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solidFill>
                  <a:srgbClr val="A27B00"/>
                </a:solidFill>
              </a:rPr>
              <a:t>手动完成运维工作</a:t>
            </a:r>
            <a:endParaRPr lang="en-US" altLang="zh-CN" dirty="0" smtClean="0">
              <a:solidFill>
                <a:srgbClr val="A27B00"/>
              </a:solidFill>
            </a:endParaRPr>
          </a:p>
          <a:p>
            <a:pPr marL="285750" indent="285750">
              <a:lnSpc>
                <a:spcPct val="150000"/>
              </a:lnSpc>
              <a:buFont typeface="Arial" panose="020B0604020202020204" pitchFamily="34" charset="0"/>
              <a:buChar char="•"/>
            </a:pPr>
            <a:r>
              <a:rPr lang="zh-CN" altLang="en-US" dirty="0" smtClean="0">
                <a:solidFill>
                  <a:srgbClr val="A27B00"/>
                </a:solidFill>
              </a:rPr>
              <a:t>人力</a:t>
            </a:r>
            <a:r>
              <a:rPr lang="zh-CN" altLang="en-US" dirty="0">
                <a:solidFill>
                  <a:srgbClr val="A27B00"/>
                </a:solidFill>
              </a:rPr>
              <a:t>劳动繁琐重复</a:t>
            </a:r>
            <a:endParaRPr lang="en-US" altLang="zh-CN" dirty="0">
              <a:solidFill>
                <a:srgbClr val="A27B00"/>
              </a:solidFill>
            </a:endParaRPr>
          </a:p>
          <a:p>
            <a:pPr marL="285750" indent="285750">
              <a:lnSpc>
                <a:spcPct val="150000"/>
              </a:lnSpc>
              <a:buFont typeface="Arial" panose="020B0604020202020204" pitchFamily="34" charset="0"/>
              <a:buChar char="•"/>
            </a:pPr>
            <a:r>
              <a:rPr lang="zh-CN" altLang="en-US" dirty="0">
                <a:solidFill>
                  <a:srgbClr val="A27B00"/>
                </a:solidFill>
              </a:rPr>
              <a:t>准确率及效率低下</a:t>
            </a:r>
            <a:endParaRPr lang="en-US" altLang="zh-CN" dirty="0" smtClean="0">
              <a:solidFill>
                <a:srgbClr val="A27B00"/>
              </a:solidFill>
            </a:endParaRPr>
          </a:p>
          <a:p>
            <a:pPr marL="285750" indent="285750">
              <a:lnSpc>
                <a:spcPct val="150000"/>
              </a:lnSpc>
              <a:buFont typeface="Arial" panose="020B0604020202020204" pitchFamily="34" charset="0"/>
              <a:buChar char="•"/>
            </a:pPr>
            <a:r>
              <a:rPr lang="zh-CN" altLang="en-US" dirty="0" smtClean="0">
                <a:solidFill>
                  <a:srgbClr val="A27B00"/>
                </a:solidFill>
              </a:rPr>
              <a:t>运维操作经验驱动</a:t>
            </a:r>
            <a:endParaRPr lang="en-US" altLang="zh-CN" dirty="0" smtClean="0">
              <a:solidFill>
                <a:srgbClr val="A27B00"/>
              </a:solidFill>
            </a:endParaRPr>
          </a:p>
        </p:txBody>
      </p:sp>
      <p:sp>
        <p:nvSpPr>
          <p:cNvPr id="24" name="文本框 23"/>
          <p:cNvSpPr txBox="1"/>
          <p:nvPr/>
        </p:nvSpPr>
        <p:spPr>
          <a:xfrm>
            <a:off x="770681" y="843119"/>
            <a:ext cx="3944865" cy="369332"/>
          </a:xfrm>
          <a:prstGeom prst="rect">
            <a:avLst/>
          </a:prstGeom>
          <a:noFill/>
        </p:spPr>
        <p:txBody>
          <a:bodyPr wrap="square" rtlCol="0">
            <a:spAutoFit/>
          </a:bodyPr>
          <a:lstStyle/>
          <a:p>
            <a:r>
              <a:rPr lang="zh-CN" altLang="en-US" dirty="0">
                <a:solidFill>
                  <a:srgbClr val="333F50"/>
                </a:solidFill>
              </a:rPr>
              <a:t>运</a:t>
            </a:r>
            <a:r>
              <a:rPr lang="zh-CN" altLang="en-US" dirty="0" smtClean="0">
                <a:solidFill>
                  <a:srgbClr val="333F50"/>
                </a:solidFill>
              </a:rPr>
              <a:t>维发展阶段</a:t>
            </a:r>
            <a:endParaRPr lang="zh-CN" altLang="en-US" dirty="0">
              <a:solidFill>
                <a:srgbClr val="333F50"/>
              </a:solidFill>
            </a:endParaRPr>
          </a:p>
        </p:txBody>
      </p:sp>
      <p:sp>
        <p:nvSpPr>
          <p:cNvPr id="11" name="矩形 10"/>
          <p:cNvSpPr/>
          <p:nvPr/>
        </p:nvSpPr>
        <p:spPr>
          <a:xfrm>
            <a:off x="3418323" y="1537206"/>
            <a:ext cx="1107996" cy="369332"/>
          </a:xfrm>
          <a:prstGeom prst="rect">
            <a:avLst/>
          </a:prstGeom>
        </p:spPr>
        <p:txBody>
          <a:bodyPr wrap="none">
            <a:spAutoFit/>
          </a:bodyPr>
          <a:lstStyle/>
          <a:p>
            <a:r>
              <a:rPr lang="zh-CN" altLang="en-US" dirty="0">
                <a:solidFill>
                  <a:srgbClr val="333F50"/>
                </a:solidFill>
              </a:rPr>
              <a:t>系统辅助</a:t>
            </a:r>
          </a:p>
        </p:txBody>
      </p:sp>
      <p:sp>
        <p:nvSpPr>
          <p:cNvPr id="25" name="矩形 24"/>
          <p:cNvSpPr/>
          <p:nvPr/>
        </p:nvSpPr>
        <p:spPr>
          <a:xfrm>
            <a:off x="7050417" y="1537206"/>
            <a:ext cx="1107996" cy="369332"/>
          </a:xfrm>
          <a:prstGeom prst="rect">
            <a:avLst/>
          </a:prstGeom>
        </p:spPr>
        <p:txBody>
          <a:bodyPr wrap="none">
            <a:spAutoFit/>
          </a:bodyPr>
          <a:lstStyle/>
          <a:p>
            <a:r>
              <a:rPr lang="zh-CN" altLang="en-US" dirty="0" smtClean="0">
                <a:solidFill>
                  <a:srgbClr val="333F50"/>
                </a:solidFill>
              </a:rPr>
              <a:t>智能学习</a:t>
            </a:r>
            <a:endParaRPr lang="zh-CN" altLang="en-US" dirty="0">
              <a:solidFill>
                <a:srgbClr val="333F50"/>
              </a:solidFill>
            </a:endParaRPr>
          </a:p>
        </p:txBody>
      </p:sp>
      <p:sp>
        <p:nvSpPr>
          <p:cNvPr id="26" name="文本框 25"/>
          <p:cNvSpPr txBox="1"/>
          <p:nvPr/>
        </p:nvSpPr>
        <p:spPr>
          <a:xfrm>
            <a:off x="4408018" y="3076086"/>
            <a:ext cx="2850935"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提高工作效率、质量</a:t>
            </a:r>
            <a:endParaRPr lang="en-US" altLang="zh-CN" dirty="0" smtClean="0"/>
          </a:p>
          <a:p>
            <a:pPr marL="285750" indent="285750">
              <a:lnSpc>
                <a:spcPct val="150000"/>
              </a:lnSpc>
              <a:buFont typeface="Arial" panose="020B0604020202020204" pitchFamily="34" charset="0"/>
              <a:buChar char="•"/>
            </a:pPr>
            <a:r>
              <a:rPr lang="zh-CN" altLang="en-US" dirty="0" smtClean="0"/>
              <a:t>重复工作流程自动化</a:t>
            </a:r>
            <a:endParaRPr lang="en-US" altLang="zh-CN" dirty="0" smtClean="0"/>
          </a:p>
          <a:p>
            <a:pPr marL="285750" indent="285750">
              <a:lnSpc>
                <a:spcPct val="150000"/>
              </a:lnSpc>
              <a:buFont typeface="Arial" panose="020B0604020202020204" pitchFamily="34" charset="0"/>
              <a:buChar char="•"/>
            </a:pPr>
            <a:r>
              <a:rPr lang="zh-CN" altLang="en-US" dirty="0" smtClean="0"/>
              <a:t>解决人员及流程问题</a:t>
            </a:r>
            <a:endParaRPr lang="en-US" altLang="zh-CN" dirty="0" smtClean="0"/>
          </a:p>
          <a:p>
            <a:pPr marL="285750" indent="285750">
              <a:lnSpc>
                <a:spcPct val="150000"/>
              </a:lnSpc>
              <a:buFont typeface="Arial" panose="020B0604020202020204" pitchFamily="34" charset="0"/>
              <a:buChar char="•"/>
            </a:pPr>
            <a:r>
              <a:rPr lang="zh-CN" altLang="en-US" dirty="0">
                <a:solidFill>
                  <a:srgbClr val="A27B00"/>
                </a:solidFill>
              </a:rPr>
              <a:t>无法自动适应新问题</a:t>
            </a:r>
            <a:endParaRPr lang="en-US" altLang="zh-CN" dirty="0">
              <a:solidFill>
                <a:srgbClr val="A27B00"/>
              </a:solidFill>
            </a:endParaRPr>
          </a:p>
          <a:p>
            <a:pPr marL="285750" indent="285750">
              <a:lnSpc>
                <a:spcPct val="150000"/>
              </a:lnSpc>
              <a:buFont typeface="Arial" panose="020B0604020202020204" pitchFamily="34" charset="0"/>
              <a:buChar char="•"/>
            </a:pPr>
            <a:r>
              <a:rPr lang="zh-CN" altLang="en-US" dirty="0">
                <a:solidFill>
                  <a:srgbClr val="A27B00"/>
                </a:solidFill>
              </a:rPr>
              <a:t>无法挖掘数据关联性</a:t>
            </a:r>
            <a:endParaRPr lang="en-US" altLang="zh-CN" dirty="0">
              <a:solidFill>
                <a:srgbClr val="A27B00"/>
              </a:solidFill>
            </a:endParaRPr>
          </a:p>
        </p:txBody>
      </p:sp>
      <p:sp>
        <p:nvSpPr>
          <p:cNvPr id="2" name="文本框 1"/>
          <p:cNvSpPr txBox="1"/>
          <p:nvPr/>
        </p:nvSpPr>
        <p:spPr>
          <a:xfrm>
            <a:off x="8248650" y="3076086"/>
            <a:ext cx="3276956"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海量数据高效处理</a:t>
            </a:r>
            <a:endParaRPr lang="en-US" altLang="zh-CN" dirty="0" smtClean="0"/>
          </a:p>
          <a:p>
            <a:pPr marL="285750" indent="-285750">
              <a:lnSpc>
                <a:spcPct val="150000"/>
              </a:lnSpc>
              <a:buFont typeface="Arial" panose="020B0604020202020204" pitchFamily="34" charset="0"/>
              <a:buChar char="•"/>
            </a:pPr>
            <a:r>
              <a:rPr lang="zh-CN" altLang="en-US" dirty="0" smtClean="0"/>
              <a:t>复杂规则自动挖掘</a:t>
            </a:r>
            <a:endParaRPr lang="en-US" altLang="zh-CN" dirty="0" smtClean="0"/>
          </a:p>
          <a:p>
            <a:pPr marL="285750" indent="-285750">
              <a:lnSpc>
                <a:spcPct val="150000"/>
              </a:lnSpc>
              <a:buFont typeface="Arial" panose="020B0604020202020204" pitchFamily="34" charset="0"/>
              <a:buChar char="•"/>
            </a:pPr>
            <a:r>
              <a:rPr lang="zh-CN" altLang="en-US" dirty="0" smtClean="0"/>
              <a:t>新兴问题快速适应</a:t>
            </a:r>
            <a:endParaRPr lang="en-US" altLang="zh-CN" dirty="0" smtClean="0"/>
          </a:p>
          <a:p>
            <a:pPr marL="285750" indent="-285750">
              <a:lnSpc>
                <a:spcPct val="150000"/>
              </a:lnSpc>
              <a:buFont typeface="Arial" panose="020B0604020202020204" pitchFamily="34" charset="0"/>
              <a:buChar char="•"/>
            </a:pPr>
            <a:r>
              <a:rPr lang="zh-CN" altLang="en-US" dirty="0" smtClean="0"/>
              <a:t>运维决策机器代理</a:t>
            </a:r>
            <a:endParaRPr lang="en-US" altLang="zh-CN" dirty="0" smtClean="0"/>
          </a:p>
          <a:p>
            <a:pPr marL="285750" indent="-285750">
              <a:lnSpc>
                <a:spcPct val="150000"/>
              </a:lnSpc>
              <a:buFont typeface="Arial" panose="020B0604020202020204" pitchFamily="34" charset="0"/>
              <a:buChar char="•"/>
            </a:pPr>
            <a:r>
              <a:rPr lang="zh-CN" altLang="en-US" dirty="0"/>
              <a:t>全网</a:t>
            </a:r>
            <a:r>
              <a:rPr lang="zh-CN" altLang="en-US" dirty="0" smtClean="0"/>
              <a:t>资源整体把控</a:t>
            </a:r>
            <a:endParaRPr lang="en-US" altLang="zh-CN" dirty="0" smtClean="0"/>
          </a:p>
        </p:txBody>
      </p:sp>
      <p:sp>
        <p:nvSpPr>
          <p:cNvPr id="8" name="矩形 7"/>
          <p:cNvSpPr/>
          <p:nvPr/>
        </p:nvSpPr>
        <p:spPr>
          <a:xfrm>
            <a:off x="162281" y="2934311"/>
            <a:ext cx="11363325" cy="30289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1191553" y="3419619"/>
            <a:ext cx="3722563" cy="2291759"/>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39" name="文本框 38"/>
          <p:cNvSpPr txBox="1"/>
          <p:nvPr/>
        </p:nvSpPr>
        <p:spPr>
          <a:xfrm>
            <a:off x="1216167" y="3480636"/>
            <a:ext cx="3556786"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海量的数据</a:t>
            </a:r>
            <a:endParaRPr lang="en-US" altLang="zh-CN" dirty="0" smtClean="0"/>
          </a:p>
          <a:p>
            <a:pPr marL="285750" indent="285750">
              <a:lnSpc>
                <a:spcPct val="150000"/>
              </a:lnSpc>
              <a:buFont typeface="Arial" panose="020B0604020202020204" pitchFamily="34" charset="0"/>
              <a:buChar char="•"/>
            </a:pPr>
            <a:r>
              <a:rPr lang="zh-CN" altLang="en-US" dirty="0" smtClean="0"/>
              <a:t>适合的运维问题</a:t>
            </a:r>
            <a:endParaRPr lang="en-US" altLang="zh-CN" dirty="0" smtClean="0"/>
          </a:p>
          <a:p>
            <a:pPr marL="285750" indent="285750">
              <a:lnSpc>
                <a:spcPct val="150000"/>
              </a:lnSpc>
              <a:buFont typeface="Arial" panose="020B0604020202020204" pitchFamily="34" charset="0"/>
              <a:buChar char="•"/>
            </a:pPr>
            <a:r>
              <a:rPr lang="zh-CN" altLang="en-US" dirty="0" smtClean="0"/>
              <a:t>较为先进的算法</a:t>
            </a:r>
            <a:endParaRPr lang="en-US" altLang="zh-CN" dirty="0" smtClean="0"/>
          </a:p>
          <a:p>
            <a:pPr marL="285750" indent="285750">
              <a:lnSpc>
                <a:spcPct val="150000"/>
              </a:lnSpc>
              <a:buFont typeface="Arial" panose="020B0604020202020204" pitchFamily="34" charset="0"/>
              <a:buChar char="•"/>
            </a:pPr>
            <a:r>
              <a:rPr lang="zh-CN" altLang="en-US" dirty="0" smtClean="0"/>
              <a:t>高速的计算能力</a:t>
            </a:r>
            <a:endParaRPr lang="en-US" altLang="zh-CN" dirty="0" smtClean="0"/>
          </a:p>
          <a:p>
            <a:pPr marL="285750" indent="285750">
              <a:lnSpc>
                <a:spcPct val="150000"/>
              </a:lnSpc>
              <a:buFont typeface="Arial" panose="020B0604020202020204" pitchFamily="34" charset="0"/>
              <a:buChar char="•"/>
            </a:pPr>
            <a:r>
              <a:rPr lang="zh-CN" altLang="en-US" dirty="0" smtClean="0"/>
              <a:t>高度完善的自动化运维体系</a:t>
            </a:r>
            <a:endParaRPr lang="zh-CN" altLang="en-US" dirty="0"/>
          </a:p>
        </p:txBody>
      </p:sp>
      <p:sp>
        <p:nvSpPr>
          <p:cNvPr id="40" name="矩形 39"/>
          <p:cNvSpPr/>
          <p:nvPr/>
        </p:nvSpPr>
        <p:spPr>
          <a:xfrm>
            <a:off x="7180529" y="3419518"/>
            <a:ext cx="3500211" cy="2291860"/>
          </a:xfrm>
          <a:prstGeom prst="rect">
            <a:avLst/>
          </a:prstGeom>
          <a:noFill/>
          <a:ln w="285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41" name="圆角矩形 40"/>
          <p:cNvSpPr/>
          <p:nvPr/>
        </p:nvSpPr>
        <p:spPr>
          <a:xfrm>
            <a:off x="7454014" y="3648203"/>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t>海量运维</a:t>
            </a:r>
            <a:r>
              <a:rPr lang="zh-CN" altLang="en-US" sz="1100" dirty="0"/>
              <a:t>数</a:t>
            </a:r>
            <a:r>
              <a:rPr lang="zh-CN" altLang="en-US" sz="1100" dirty="0" smtClean="0"/>
              <a:t>据（事件、性能、资源、事件等）</a:t>
            </a:r>
            <a:endParaRPr lang="zh-CN" altLang="en-US" sz="1100" dirty="0"/>
          </a:p>
        </p:txBody>
      </p:sp>
      <p:sp>
        <p:nvSpPr>
          <p:cNvPr id="42" name="圆角矩形 41"/>
          <p:cNvSpPr/>
          <p:nvPr/>
        </p:nvSpPr>
        <p:spPr>
          <a:xfrm>
            <a:off x="7454014" y="4028526"/>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异常检测、故障定位、智能规划</a:t>
            </a:r>
            <a:endParaRPr lang="zh-CN" altLang="en-US" sz="1200" dirty="0"/>
          </a:p>
        </p:txBody>
      </p:sp>
      <p:sp>
        <p:nvSpPr>
          <p:cNvPr id="43" name="圆角矩形 42"/>
          <p:cNvSpPr/>
          <p:nvPr/>
        </p:nvSpPr>
        <p:spPr>
          <a:xfrm>
            <a:off x="7454014" y="4473919"/>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存在大量成熟的</a:t>
            </a:r>
            <a:r>
              <a:rPr lang="en-US" altLang="zh-CN" sz="1200" dirty="0" smtClean="0"/>
              <a:t>AI</a:t>
            </a:r>
            <a:r>
              <a:rPr lang="zh-CN" altLang="en-US" sz="1200" dirty="0" smtClean="0"/>
              <a:t>算法可以使用</a:t>
            </a:r>
            <a:endParaRPr lang="zh-CN" altLang="en-US" sz="1200" dirty="0"/>
          </a:p>
        </p:txBody>
      </p:sp>
      <p:sp>
        <p:nvSpPr>
          <p:cNvPr id="44" name="圆角矩形 43"/>
          <p:cNvSpPr/>
          <p:nvPr/>
        </p:nvSpPr>
        <p:spPr>
          <a:xfrm>
            <a:off x="7454014" y="4868812"/>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高速的服务器集群</a:t>
            </a:r>
            <a:endParaRPr lang="zh-CN" altLang="en-US" sz="1200" dirty="0"/>
          </a:p>
        </p:txBody>
      </p:sp>
      <p:sp>
        <p:nvSpPr>
          <p:cNvPr id="45" name="圆角矩形 44"/>
          <p:cNvSpPr/>
          <p:nvPr/>
        </p:nvSpPr>
        <p:spPr>
          <a:xfrm>
            <a:off x="7454014" y="5255336"/>
            <a:ext cx="3004424" cy="27622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目前自动化运维还未完善</a:t>
            </a:r>
            <a:endParaRPr lang="zh-CN" altLang="en-US" sz="1200" dirty="0"/>
          </a:p>
        </p:txBody>
      </p:sp>
      <p:sp>
        <p:nvSpPr>
          <p:cNvPr id="46" name="右箭头 45"/>
          <p:cNvSpPr/>
          <p:nvPr/>
        </p:nvSpPr>
        <p:spPr>
          <a:xfrm>
            <a:off x="5136418" y="4166638"/>
            <a:ext cx="1631796" cy="702174"/>
          </a:xfrm>
          <a:prstGeom prst="rightArrow">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782510" y="2835113"/>
            <a:ext cx="3944865" cy="369332"/>
          </a:xfrm>
          <a:prstGeom prst="rect">
            <a:avLst/>
          </a:prstGeom>
          <a:noFill/>
        </p:spPr>
        <p:txBody>
          <a:bodyPr wrap="square" rtlCol="0">
            <a:spAutoFit/>
          </a:bodyPr>
          <a:lstStyle/>
          <a:p>
            <a:r>
              <a:rPr lang="zh-CN" altLang="en-US" dirty="0" smtClean="0">
                <a:solidFill>
                  <a:srgbClr val="333F50"/>
                </a:solidFill>
              </a:rPr>
              <a:t>运维智慧化需满足：</a:t>
            </a:r>
            <a:endParaRPr lang="zh-CN" altLang="en-US" dirty="0">
              <a:solidFill>
                <a:srgbClr val="333F50"/>
              </a:solidFill>
            </a:endParaRPr>
          </a:p>
        </p:txBody>
      </p:sp>
    </p:spTree>
    <p:extLst>
      <p:ext uri="{BB962C8B-B14F-4D97-AF65-F5344CB8AC3E}">
        <p14:creationId xmlns:p14="http://schemas.microsoft.com/office/powerpoint/2010/main" val="38624499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randombar(horizontal)">
                                      <p:cBhvr>
                                        <p:cTn id="28" dur="500"/>
                                        <p:tgtEl>
                                          <p:spTgt spid="26"/>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1000"/>
                                        <p:tgtEl>
                                          <p:spTgt spid="23"/>
                                        </p:tgtEl>
                                      </p:cBhvr>
                                    </p:animEffect>
                                    <p:anim calcmode="lin" valueType="num">
                                      <p:cBhvr>
                                        <p:cTn id="34" dur="1000" fill="hold"/>
                                        <p:tgtEl>
                                          <p:spTgt spid="23"/>
                                        </p:tgtEl>
                                        <p:attrNameLst>
                                          <p:attrName>ppt_x</p:attrName>
                                        </p:attrNameLst>
                                      </p:cBhvr>
                                      <p:tavLst>
                                        <p:tav tm="0">
                                          <p:val>
                                            <p:strVal val="#ppt_x"/>
                                          </p:val>
                                        </p:tav>
                                        <p:tav tm="100000">
                                          <p:val>
                                            <p:strVal val="#ppt_x"/>
                                          </p:val>
                                        </p:tav>
                                      </p:tavLst>
                                    </p:anim>
                                    <p:anim calcmode="lin" valueType="num">
                                      <p:cBhvr>
                                        <p:cTn id="35" dur="1000" fill="hold"/>
                                        <p:tgtEl>
                                          <p:spTgt spid="23"/>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1000"/>
                                        <p:tgtEl>
                                          <p:spTgt spid="21"/>
                                        </p:tgtEl>
                                      </p:cBhvr>
                                    </p:animEffect>
                                    <p:anim calcmode="lin" valueType="num">
                                      <p:cBhvr>
                                        <p:cTn id="39" dur="1000" fill="hold"/>
                                        <p:tgtEl>
                                          <p:spTgt spid="21"/>
                                        </p:tgtEl>
                                        <p:attrNameLst>
                                          <p:attrName>ppt_x</p:attrName>
                                        </p:attrNameLst>
                                      </p:cBhvr>
                                      <p:tavLst>
                                        <p:tav tm="0">
                                          <p:val>
                                            <p:strVal val="#ppt_x"/>
                                          </p:val>
                                        </p:tav>
                                        <p:tav tm="100000">
                                          <p:val>
                                            <p:strVal val="#ppt_x"/>
                                          </p:val>
                                        </p:tav>
                                      </p:tavLst>
                                    </p:anim>
                                    <p:anim calcmode="lin" valueType="num">
                                      <p:cBhvr>
                                        <p:cTn id="40" dur="1000" fill="hold"/>
                                        <p:tgtEl>
                                          <p:spTgt spid="21"/>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1000"/>
                                        <p:tgtEl>
                                          <p:spTgt spid="25"/>
                                        </p:tgtEl>
                                      </p:cBhvr>
                                    </p:animEffect>
                                    <p:anim calcmode="lin" valueType="num">
                                      <p:cBhvr>
                                        <p:cTn id="44" dur="1000" fill="hold"/>
                                        <p:tgtEl>
                                          <p:spTgt spid="25"/>
                                        </p:tgtEl>
                                        <p:attrNameLst>
                                          <p:attrName>ppt_x</p:attrName>
                                        </p:attrNameLst>
                                      </p:cBhvr>
                                      <p:tavLst>
                                        <p:tav tm="0">
                                          <p:val>
                                            <p:strVal val="#ppt_x"/>
                                          </p:val>
                                        </p:tav>
                                        <p:tav tm="100000">
                                          <p:val>
                                            <p:strVal val="#ppt_x"/>
                                          </p:val>
                                        </p:tav>
                                      </p:tavLst>
                                    </p:anim>
                                    <p:anim calcmode="lin" valueType="num">
                                      <p:cBhvr>
                                        <p:cTn id="45"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grpId="0"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randombar(horizontal)">
                                      <p:cBhvr>
                                        <p:cTn id="50" dur="500"/>
                                        <p:tgtEl>
                                          <p:spTgt spid="2"/>
                                        </p:tgtEl>
                                      </p:cBhvr>
                                    </p:animEffect>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randombar(horizontal)">
                                      <p:cBhvr>
                                        <p:cTn id="55" dur="500"/>
                                        <p:tgtEl>
                                          <p:spTgt spid="8"/>
                                        </p:tgtEl>
                                      </p:cBhvr>
                                    </p:animEffect>
                                  </p:childTnLst>
                                </p:cTn>
                              </p:par>
                              <p:par>
                                <p:cTn id="56" presetID="14" presetClass="entr" presetSubtype="10" fill="hold" grpId="0" nodeType="withEffect">
                                  <p:stCondLst>
                                    <p:cond delay="0"/>
                                  </p:stCondLst>
                                  <p:childTnLst>
                                    <p:set>
                                      <p:cBhvr>
                                        <p:cTn id="57" dur="1" fill="hold">
                                          <p:stCondLst>
                                            <p:cond delay="0"/>
                                          </p:stCondLst>
                                        </p:cTn>
                                        <p:tgtEl>
                                          <p:spTgt spid="47"/>
                                        </p:tgtEl>
                                        <p:attrNameLst>
                                          <p:attrName>style.visibility</p:attrName>
                                        </p:attrNameLst>
                                      </p:cBhvr>
                                      <p:to>
                                        <p:strVal val="visible"/>
                                      </p:to>
                                    </p:set>
                                    <p:animEffect transition="in" filter="randombar(horizontal)">
                                      <p:cBhvr>
                                        <p:cTn id="58" dur="500"/>
                                        <p:tgtEl>
                                          <p:spTgt spid="4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wipe(down)">
                                      <p:cBhvr>
                                        <p:cTn id="63" dur="500"/>
                                        <p:tgtEl>
                                          <p:spTgt spid="39"/>
                                        </p:tgtEl>
                                      </p:cBhvr>
                                    </p:animEffect>
                                  </p:childTnLst>
                                </p:cTn>
                              </p:par>
                              <p:par>
                                <p:cTn id="64" presetID="1"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41"/>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42"/>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43"/>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animBg="1"/>
      <p:bldP spid="21" grpId="0" animBg="1"/>
      <p:bldP spid="7" grpId="0" animBg="1"/>
      <p:bldP spid="23" grpId="0" animBg="1"/>
      <p:bldP spid="12" grpId="0"/>
      <p:bldP spid="11" grpId="0"/>
      <p:bldP spid="25" grpId="0"/>
      <p:bldP spid="26" grpId="0"/>
      <p:bldP spid="2" grpId="0"/>
      <p:bldP spid="8" grpId="0" animBg="1"/>
      <p:bldP spid="38" grpId="0" animBg="1"/>
      <p:bldP spid="39" grpId="0"/>
      <p:bldP spid="40" grpId="0" animBg="1"/>
      <p:bldP spid="41" grpId="0" animBg="1"/>
      <p:bldP spid="42" grpId="0" animBg="1"/>
      <p:bldP spid="43" grpId="0" animBg="1"/>
      <p:bldP spid="44" grpId="0" animBg="1"/>
      <p:bldP spid="45" grpId="0" animBg="1"/>
      <p:bldP spid="46" grpId="0" animBg="1"/>
      <p:bldP spid="4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911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智慧化网络运维（</a:t>
            </a:r>
            <a:r>
              <a:rPr lang="en-US" altLang="zh-CN" sz="2400" b="1" dirty="0" err="1" smtClean="0">
                <a:latin typeface="微软雅黑" panose="020B0503020204020204" pitchFamily="34" charset="-122"/>
                <a:ea typeface="微软雅黑" panose="020B0503020204020204" pitchFamily="34" charset="-122"/>
              </a:rPr>
              <a:t>AIOps</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0"/>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1437756" y="2894640"/>
            <a:ext cx="678608" cy="769441"/>
          </a:xfrm>
          <a:prstGeom prst="rect">
            <a:avLst/>
          </a:prstGeom>
          <a:noFill/>
        </p:spPr>
        <p:txBody>
          <a:bodyPr wrap="square" rtlCol="0">
            <a:spAutoFit/>
          </a:bodyPr>
          <a:lstStyle/>
          <a:p>
            <a:pPr algn="ctr"/>
            <a:r>
              <a:rPr lang="en-US" altLang="zh-CN" sz="4400" b="1" dirty="0" smtClean="0"/>
              <a:t>+</a:t>
            </a:r>
          </a:p>
        </p:txBody>
      </p:sp>
      <p:pic>
        <p:nvPicPr>
          <p:cNvPr id="1028" name="Picture 4" descr="“fist icon”的图片搜索结果"/>
          <p:cNvPicPr>
            <a:picLocks noChangeAspect="1" noChangeArrowheads="1"/>
          </p:cNvPicPr>
          <p:nvPr/>
        </p:nvPicPr>
        <p:blipFill rotWithShape="1">
          <a:blip r:embed="rId3">
            <a:extLst>
              <a:ext uri="{28A0092B-C50C-407E-A947-70E740481C1C}">
                <a14:useLocalDpi xmlns:a14="http://schemas.microsoft.com/office/drawing/2010/main" val="0"/>
              </a:ext>
            </a:extLst>
          </a:blip>
          <a:srcRect t="1" r="-154" b="672"/>
          <a:stretch/>
        </p:blipFill>
        <p:spPr bwMode="auto">
          <a:xfrm>
            <a:off x="259181" y="2556225"/>
            <a:ext cx="1458302" cy="144627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utomatic icon”的图片搜索结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16365" y="2556226"/>
            <a:ext cx="1532550" cy="153000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4748211" y="4852281"/>
            <a:ext cx="2695575" cy="369332"/>
          </a:xfrm>
          <a:prstGeom prst="rect">
            <a:avLst/>
          </a:prstGeom>
          <a:noFill/>
        </p:spPr>
        <p:txBody>
          <a:bodyPr wrap="square" rtlCol="0">
            <a:spAutoFit/>
          </a:bodyPr>
          <a:lstStyle/>
          <a:p>
            <a:pPr algn="ctr"/>
            <a:r>
              <a:rPr lang="zh-CN" altLang="en-US" dirty="0" smtClean="0">
                <a:solidFill>
                  <a:srgbClr val="FF0000"/>
                </a:solidFill>
              </a:rPr>
              <a:t>完善</a:t>
            </a:r>
            <a:r>
              <a:rPr lang="zh-CN" altLang="en-US" dirty="0" smtClean="0"/>
              <a:t>的自动化运维</a:t>
            </a:r>
            <a:endParaRPr lang="zh-CN" altLang="en-US" dirty="0"/>
          </a:p>
        </p:txBody>
      </p:sp>
      <p:sp>
        <p:nvSpPr>
          <p:cNvPr id="10" name="右箭头 9"/>
          <p:cNvSpPr/>
          <p:nvPr/>
        </p:nvSpPr>
        <p:spPr>
          <a:xfrm>
            <a:off x="3618850" y="2901975"/>
            <a:ext cx="986165" cy="547871"/>
          </a:xfrm>
          <a:prstGeom prst="rightArrow">
            <a:avLst/>
          </a:prstGeom>
          <a:solidFill>
            <a:srgbClr val="8C8C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descr="“Automation icon”的图片搜索结果"/>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2940" y="2337123"/>
            <a:ext cx="1903185" cy="1903185"/>
          </a:xfrm>
          <a:prstGeom prst="rect">
            <a:avLst/>
          </a:prstGeom>
          <a:noFill/>
          <a:extLst>
            <a:ext uri="{909E8E84-426E-40DD-AFC4-6F175D3DCCD1}">
              <a14:hiddenFill xmlns:a14="http://schemas.microsoft.com/office/drawing/2010/main">
                <a:solidFill>
                  <a:srgbClr val="FFFFFF"/>
                </a:solidFill>
              </a14:hiddenFill>
            </a:ext>
          </a:extLst>
        </p:spPr>
      </p:pic>
      <p:sp>
        <p:nvSpPr>
          <p:cNvPr id="37" name="文本框 36"/>
          <p:cNvSpPr txBox="1"/>
          <p:nvPr/>
        </p:nvSpPr>
        <p:spPr>
          <a:xfrm>
            <a:off x="619123" y="4852281"/>
            <a:ext cx="2695575" cy="369332"/>
          </a:xfrm>
          <a:prstGeom prst="rect">
            <a:avLst/>
          </a:prstGeom>
          <a:noFill/>
        </p:spPr>
        <p:txBody>
          <a:bodyPr wrap="square" rtlCol="0">
            <a:spAutoFit/>
          </a:bodyPr>
          <a:lstStyle/>
          <a:p>
            <a:pPr algn="ctr"/>
            <a:r>
              <a:rPr lang="zh-CN" altLang="en-US" dirty="0" smtClean="0"/>
              <a:t>手工</a:t>
            </a:r>
            <a:r>
              <a:rPr lang="en-US" altLang="zh-CN" dirty="0" smtClean="0"/>
              <a:t>+</a:t>
            </a:r>
            <a:r>
              <a:rPr lang="zh-CN" altLang="en-US" dirty="0" smtClean="0"/>
              <a:t>自动化</a:t>
            </a:r>
            <a:endParaRPr lang="zh-CN" altLang="en-US" dirty="0"/>
          </a:p>
        </p:txBody>
      </p:sp>
      <p:sp>
        <p:nvSpPr>
          <p:cNvPr id="38" name="右箭头 37"/>
          <p:cNvSpPr/>
          <p:nvPr/>
        </p:nvSpPr>
        <p:spPr>
          <a:xfrm>
            <a:off x="7903192" y="2859897"/>
            <a:ext cx="986165" cy="547871"/>
          </a:xfrm>
          <a:prstGeom prst="rightArrow">
            <a:avLst/>
          </a:prstGeom>
          <a:solidFill>
            <a:srgbClr val="1CBDE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Picture 2" descr="相关图片"/>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12036" y="2433058"/>
            <a:ext cx="1460713" cy="1460713"/>
          </a:xfrm>
          <a:prstGeom prst="rect">
            <a:avLst/>
          </a:prstGeom>
          <a:noFill/>
          <a:extLst>
            <a:ext uri="{909E8E84-426E-40DD-AFC4-6F175D3DCCD1}">
              <a14:hiddenFill xmlns:a14="http://schemas.microsoft.com/office/drawing/2010/main">
                <a:solidFill>
                  <a:srgbClr val="FFFFFF"/>
                </a:solidFill>
              </a14:hiddenFill>
            </a:ext>
          </a:extLst>
        </p:spPr>
      </p:pic>
      <p:sp>
        <p:nvSpPr>
          <p:cNvPr id="42" name="文本框 41"/>
          <p:cNvSpPr txBox="1"/>
          <p:nvPr/>
        </p:nvSpPr>
        <p:spPr>
          <a:xfrm>
            <a:off x="9112036" y="4852281"/>
            <a:ext cx="2695575" cy="369332"/>
          </a:xfrm>
          <a:prstGeom prst="rect">
            <a:avLst/>
          </a:prstGeom>
          <a:noFill/>
        </p:spPr>
        <p:txBody>
          <a:bodyPr wrap="square" rtlCol="0">
            <a:spAutoFit/>
          </a:bodyPr>
          <a:lstStyle/>
          <a:p>
            <a:pPr algn="ctr"/>
            <a:r>
              <a:rPr lang="zh-CN" altLang="en-US" dirty="0" smtClean="0">
                <a:solidFill>
                  <a:srgbClr val="FF0000"/>
                </a:solidFill>
              </a:rPr>
              <a:t>智慧化</a:t>
            </a:r>
            <a:r>
              <a:rPr lang="zh-CN" altLang="en-US" dirty="0" smtClean="0"/>
              <a:t>运维</a:t>
            </a:r>
            <a:endParaRPr lang="zh-CN" altLang="en-US" dirty="0"/>
          </a:p>
        </p:txBody>
      </p:sp>
      <p:sp>
        <p:nvSpPr>
          <p:cNvPr id="15" name="矩形 14"/>
          <p:cNvSpPr/>
          <p:nvPr/>
        </p:nvSpPr>
        <p:spPr>
          <a:xfrm>
            <a:off x="619123" y="841807"/>
            <a:ext cx="2339102" cy="461665"/>
          </a:xfrm>
          <a:prstGeom prst="rect">
            <a:avLst/>
          </a:prstGeom>
        </p:spPr>
        <p:txBody>
          <a:bodyPr wrap="none">
            <a:spAutoFit/>
          </a:bodyPr>
          <a:lstStyle/>
          <a:p>
            <a:r>
              <a:rPr lang="zh-CN" altLang="en-US" sz="2400" b="1" dirty="0" smtClean="0"/>
              <a:t>现状及发展方向</a:t>
            </a:r>
            <a:endParaRPr lang="zh-CN" altLang="en-US" sz="2400" dirty="0"/>
          </a:p>
        </p:txBody>
      </p:sp>
      <p:sp>
        <p:nvSpPr>
          <p:cNvPr id="43" name="圆角矩形标注 42"/>
          <p:cNvSpPr/>
          <p:nvPr/>
        </p:nvSpPr>
        <p:spPr>
          <a:xfrm>
            <a:off x="349316" y="2033201"/>
            <a:ext cx="3209014" cy="2202132"/>
          </a:xfrm>
          <a:prstGeom prst="wedgeRoundRectCallout">
            <a:avLst/>
          </a:prstGeom>
          <a:solidFill>
            <a:schemeClr val="bg1">
              <a:lumMod val="50000"/>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p:cNvSpPr txBox="1"/>
          <p:nvPr/>
        </p:nvSpPr>
        <p:spPr>
          <a:xfrm>
            <a:off x="362403" y="2198867"/>
            <a:ext cx="3076575" cy="193899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b="1" dirty="0" smtClean="0">
                <a:solidFill>
                  <a:schemeClr val="bg1"/>
                </a:solidFill>
              </a:rPr>
              <a:t>自动流程覆盖有限</a:t>
            </a:r>
          </a:p>
          <a:p>
            <a:pPr marL="285750" indent="285750">
              <a:lnSpc>
                <a:spcPct val="150000"/>
              </a:lnSpc>
              <a:buFont typeface="Arial" panose="020B0604020202020204" pitchFamily="34" charset="0"/>
              <a:buChar char="•"/>
            </a:pPr>
            <a:r>
              <a:rPr lang="zh-CN" altLang="en-US" sz="2000" b="1" dirty="0" smtClean="0">
                <a:solidFill>
                  <a:schemeClr val="bg1"/>
                </a:solidFill>
              </a:rPr>
              <a:t>功能类似系统冗余</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a:solidFill>
                  <a:schemeClr val="bg1"/>
                </a:solidFill>
              </a:rPr>
              <a:t>运</a:t>
            </a:r>
            <a:r>
              <a:rPr lang="zh-CN" altLang="en-US" sz="2000" b="1" dirty="0" smtClean="0">
                <a:solidFill>
                  <a:schemeClr val="bg1"/>
                </a:solidFill>
              </a:rPr>
              <a:t>维语言尚未统一</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en-US" altLang="zh-CN" sz="2000" b="1" dirty="0" smtClean="0">
                <a:solidFill>
                  <a:schemeClr val="bg1"/>
                </a:solidFill>
              </a:rPr>
              <a:t>…</a:t>
            </a:r>
          </a:p>
        </p:txBody>
      </p:sp>
      <p:sp>
        <p:nvSpPr>
          <p:cNvPr id="39" name="圆角矩形标注 38"/>
          <p:cNvSpPr/>
          <p:nvPr/>
        </p:nvSpPr>
        <p:spPr>
          <a:xfrm>
            <a:off x="4651723" y="2033938"/>
            <a:ext cx="3209014" cy="2202132"/>
          </a:xfrm>
          <a:prstGeom prst="wedgeRoundRectCallout">
            <a:avLst/>
          </a:prstGeom>
          <a:solidFill>
            <a:srgbClr val="1CBDE8">
              <a:alpha val="9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文本框 39"/>
          <p:cNvSpPr txBox="1"/>
          <p:nvPr/>
        </p:nvSpPr>
        <p:spPr>
          <a:xfrm>
            <a:off x="4603940" y="2038176"/>
            <a:ext cx="3076575" cy="240065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b="1" dirty="0" smtClean="0">
                <a:solidFill>
                  <a:schemeClr val="bg1"/>
                </a:solidFill>
              </a:rPr>
              <a:t>丰富预设脚本仓库</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a:solidFill>
                  <a:schemeClr val="bg1"/>
                </a:solidFill>
              </a:rPr>
              <a:t>网</a:t>
            </a:r>
            <a:r>
              <a:rPr lang="zh-CN" altLang="en-US" sz="2000" b="1" dirty="0" smtClean="0">
                <a:solidFill>
                  <a:schemeClr val="bg1"/>
                </a:solidFill>
              </a:rPr>
              <a:t>管工具系统集成</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a:solidFill>
                  <a:schemeClr val="bg1"/>
                </a:solidFill>
              </a:rPr>
              <a:t>运</a:t>
            </a:r>
            <a:r>
              <a:rPr lang="zh-CN" altLang="en-US" sz="2000" b="1" dirty="0" smtClean="0">
                <a:solidFill>
                  <a:schemeClr val="bg1"/>
                </a:solidFill>
              </a:rPr>
              <a:t>维动作一致有效</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smtClean="0">
                <a:solidFill>
                  <a:schemeClr val="bg1"/>
                </a:solidFill>
              </a:rPr>
              <a:t>运维语言统一清晰</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en-US" altLang="zh-CN" sz="2000" b="1" dirty="0" smtClean="0">
                <a:solidFill>
                  <a:schemeClr val="bg1"/>
                </a:solidFill>
              </a:rPr>
              <a:t>…</a:t>
            </a:r>
          </a:p>
        </p:txBody>
      </p:sp>
      <p:sp>
        <p:nvSpPr>
          <p:cNvPr id="8" name="圆角矩形标注 7"/>
          <p:cNvSpPr/>
          <p:nvPr/>
        </p:nvSpPr>
        <p:spPr>
          <a:xfrm>
            <a:off x="8954130" y="2033201"/>
            <a:ext cx="3209014" cy="2202132"/>
          </a:xfrm>
          <a:prstGeom prst="wedgeRoundRectCallout">
            <a:avLst/>
          </a:prstGeom>
          <a:solidFill>
            <a:schemeClr val="accent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文本框 46"/>
          <p:cNvSpPr txBox="1"/>
          <p:nvPr/>
        </p:nvSpPr>
        <p:spPr>
          <a:xfrm>
            <a:off x="8954130" y="2038176"/>
            <a:ext cx="3076575" cy="240065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b="1" dirty="0" smtClean="0">
                <a:solidFill>
                  <a:schemeClr val="bg1"/>
                </a:solidFill>
              </a:rPr>
              <a:t>运维规则自主学习</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smtClean="0">
                <a:solidFill>
                  <a:schemeClr val="bg1"/>
                </a:solidFill>
              </a:rPr>
              <a:t>海量数据智能分析</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smtClean="0">
                <a:solidFill>
                  <a:schemeClr val="bg1"/>
                </a:solidFill>
              </a:rPr>
              <a:t>线网故障快速定位</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smtClean="0">
                <a:solidFill>
                  <a:schemeClr val="bg1"/>
                </a:solidFill>
              </a:rPr>
              <a:t>任务分配智能调度</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en-US" altLang="zh-CN" sz="2000" b="1" dirty="0" smtClean="0">
                <a:solidFill>
                  <a:schemeClr val="bg1"/>
                </a:solidFill>
              </a:rPr>
              <a:t>…</a:t>
            </a:r>
          </a:p>
        </p:txBody>
      </p:sp>
    </p:spTree>
    <p:extLst>
      <p:ext uri="{BB962C8B-B14F-4D97-AF65-F5344CB8AC3E}">
        <p14:creationId xmlns:p14="http://schemas.microsoft.com/office/powerpoint/2010/main" val="184621032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animEffect transition="in" filter="fade">
                                      <p:cBhvr>
                                        <p:cTn id="7" dur="500"/>
                                        <p:tgtEl>
                                          <p:spTgt spid="10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1028"/>
                                        </p:tgtEl>
                                        <p:attrNameLst>
                                          <p:attrName>style.visibility</p:attrName>
                                        </p:attrNameLst>
                                      </p:cBhvr>
                                      <p:to>
                                        <p:strVal val="visible"/>
                                      </p:to>
                                    </p:set>
                                    <p:animEffect transition="in" filter="fade">
                                      <p:cBhvr>
                                        <p:cTn id="13" dur="500"/>
                                        <p:tgtEl>
                                          <p:spTgt spid="10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fade">
                                      <p:cBhvr>
                                        <p:cTn id="16" dur="500"/>
                                        <p:tgtEl>
                                          <p:spTgt spid="37"/>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fade">
                                      <p:cBhvr>
                                        <p:cTn id="21" dur="1000"/>
                                        <p:tgtEl>
                                          <p:spTgt spid="43"/>
                                        </p:tgtEl>
                                      </p:cBhvr>
                                    </p:animEffect>
                                    <p:anim calcmode="lin" valueType="num">
                                      <p:cBhvr>
                                        <p:cTn id="22" dur="1000" fill="hold"/>
                                        <p:tgtEl>
                                          <p:spTgt spid="43"/>
                                        </p:tgtEl>
                                        <p:attrNameLst>
                                          <p:attrName>ppt_x</p:attrName>
                                        </p:attrNameLst>
                                      </p:cBhvr>
                                      <p:tavLst>
                                        <p:tav tm="0">
                                          <p:val>
                                            <p:strVal val="#ppt_x"/>
                                          </p:val>
                                        </p:tav>
                                        <p:tav tm="100000">
                                          <p:val>
                                            <p:strVal val="#ppt_x"/>
                                          </p:val>
                                        </p:tav>
                                      </p:tavLst>
                                    </p:anim>
                                    <p:anim calcmode="lin" valueType="num">
                                      <p:cBhvr>
                                        <p:cTn id="23" dur="1000" fill="hold"/>
                                        <p:tgtEl>
                                          <p:spTgt spid="43"/>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anim calcmode="lin" valueType="num">
                                      <p:cBhvr>
                                        <p:cTn id="27" dur="1000" fill="hold"/>
                                        <p:tgtEl>
                                          <p:spTgt spid="9"/>
                                        </p:tgtEl>
                                        <p:attrNameLst>
                                          <p:attrName>ppt_x</p:attrName>
                                        </p:attrNameLst>
                                      </p:cBhvr>
                                      <p:tavLst>
                                        <p:tav tm="0">
                                          <p:val>
                                            <p:strVal val="#ppt_x"/>
                                          </p:val>
                                        </p:tav>
                                        <p:tav tm="100000">
                                          <p:val>
                                            <p:strVal val="#ppt_x"/>
                                          </p:val>
                                        </p:tav>
                                      </p:tavLst>
                                    </p:anim>
                                    <p:anim calcmode="lin" valueType="num">
                                      <p:cBhvr>
                                        <p:cTn id="2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32"/>
                                        </p:tgtEl>
                                        <p:attrNameLst>
                                          <p:attrName>style.visibility</p:attrName>
                                        </p:attrNameLst>
                                      </p:cBhvr>
                                      <p:to>
                                        <p:strVal val="visible"/>
                                      </p:to>
                                    </p:set>
                                    <p:animEffect transition="in" filter="fade">
                                      <p:cBhvr>
                                        <p:cTn id="33" dur="500"/>
                                        <p:tgtEl>
                                          <p:spTgt spid="103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42"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1000"/>
                                        <p:tgtEl>
                                          <p:spTgt spid="40"/>
                                        </p:tgtEl>
                                      </p:cBhvr>
                                    </p:animEffect>
                                    <p:anim calcmode="lin" valueType="num">
                                      <p:cBhvr>
                                        <p:cTn id="47" dur="1000" fill="hold"/>
                                        <p:tgtEl>
                                          <p:spTgt spid="40"/>
                                        </p:tgtEl>
                                        <p:attrNameLst>
                                          <p:attrName>ppt_x</p:attrName>
                                        </p:attrNameLst>
                                      </p:cBhvr>
                                      <p:tavLst>
                                        <p:tav tm="0">
                                          <p:val>
                                            <p:strVal val="#ppt_x"/>
                                          </p:val>
                                        </p:tav>
                                        <p:tav tm="100000">
                                          <p:val>
                                            <p:strVal val="#ppt_x"/>
                                          </p:val>
                                        </p:tav>
                                      </p:tavLst>
                                    </p:anim>
                                    <p:anim calcmode="lin" valueType="num">
                                      <p:cBhvr>
                                        <p:cTn id="48" dur="1000" fill="hold"/>
                                        <p:tgtEl>
                                          <p:spTgt spid="40"/>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1000"/>
                                        <p:tgtEl>
                                          <p:spTgt spid="39"/>
                                        </p:tgtEl>
                                      </p:cBhvr>
                                    </p:animEffect>
                                    <p:anim calcmode="lin" valueType="num">
                                      <p:cBhvr>
                                        <p:cTn id="52" dur="1000" fill="hold"/>
                                        <p:tgtEl>
                                          <p:spTgt spid="39"/>
                                        </p:tgtEl>
                                        <p:attrNameLst>
                                          <p:attrName>ppt_x</p:attrName>
                                        </p:attrNameLst>
                                      </p:cBhvr>
                                      <p:tavLst>
                                        <p:tav tm="0">
                                          <p:val>
                                            <p:strVal val="#ppt_x"/>
                                          </p:val>
                                        </p:tav>
                                        <p:tav tm="100000">
                                          <p:val>
                                            <p:strVal val="#ppt_x"/>
                                          </p:val>
                                        </p:tav>
                                      </p:tavLst>
                                    </p:anim>
                                    <p:anim calcmode="lin" valueType="num">
                                      <p:cBhvr>
                                        <p:cTn id="53"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fade">
                                      <p:cBhvr>
                                        <p:cTn id="58" dur="500"/>
                                        <p:tgtEl>
                                          <p:spTgt spid="4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fade">
                                      <p:cBhvr>
                                        <p:cTn id="61" dur="500"/>
                                        <p:tgtEl>
                                          <p:spTgt spid="42"/>
                                        </p:tgtEl>
                                      </p:cBhvr>
                                    </p:animEffect>
                                  </p:childTnLst>
                                </p:cTn>
                              </p:par>
                              <p:par>
                                <p:cTn id="62" presetID="42" presetClass="entr" presetSubtype="0" fill="hold" grpId="0" nodeType="with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1000"/>
                                        <p:tgtEl>
                                          <p:spTgt spid="38"/>
                                        </p:tgtEl>
                                      </p:cBhvr>
                                    </p:animEffect>
                                    <p:anim calcmode="lin" valueType="num">
                                      <p:cBhvr>
                                        <p:cTn id="65" dur="1000" fill="hold"/>
                                        <p:tgtEl>
                                          <p:spTgt spid="38"/>
                                        </p:tgtEl>
                                        <p:attrNameLst>
                                          <p:attrName>ppt_x</p:attrName>
                                        </p:attrNameLst>
                                      </p:cBhvr>
                                      <p:tavLst>
                                        <p:tav tm="0">
                                          <p:val>
                                            <p:strVal val="#ppt_x"/>
                                          </p:val>
                                        </p:tav>
                                        <p:tav tm="100000">
                                          <p:val>
                                            <p:strVal val="#ppt_x"/>
                                          </p:val>
                                        </p:tav>
                                      </p:tavLst>
                                    </p:anim>
                                    <p:anim calcmode="lin" valueType="num">
                                      <p:cBhvr>
                                        <p:cTn id="66"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47"/>
                                        </p:tgtEl>
                                        <p:attrNameLst>
                                          <p:attrName>style.visibility</p:attrName>
                                        </p:attrNameLst>
                                      </p:cBhvr>
                                      <p:to>
                                        <p:strVal val="visible"/>
                                      </p:to>
                                    </p:set>
                                    <p:animEffect transition="in" filter="fade">
                                      <p:cBhvr>
                                        <p:cTn id="71" dur="1000"/>
                                        <p:tgtEl>
                                          <p:spTgt spid="47"/>
                                        </p:tgtEl>
                                      </p:cBhvr>
                                    </p:animEffect>
                                    <p:anim calcmode="lin" valueType="num">
                                      <p:cBhvr>
                                        <p:cTn id="72" dur="1000" fill="hold"/>
                                        <p:tgtEl>
                                          <p:spTgt spid="47"/>
                                        </p:tgtEl>
                                        <p:attrNameLst>
                                          <p:attrName>ppt_x</p:attrName>
                                        </p:attrNameLst>
                                      </p:cBhvr>
                                      <p:tavLst>
                                        <p:tav tm="0">
                                          <p:val>
                                            <p:strVal val="#ppt_x"/>
                                          </p:val>
                                        </p:tav>
                                        <p:tav tm="100000">
                                          <p:val>
                                            <p:strVal val="#ppt_x"/>
                                          </p:val>
                                        </p:tav>
                                      </p:tavLst>
                                    </p:anim>
                                    <p:anim calcmode="lin" valueType="num">
                                      <p:cBhvr>
                                        <p:cTn id="73" dur="1000" fill="hold"/>
                                        <p:tgtEl>
                                          <p:spTgt spid="47"/>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8"/>
                                        </p:tgtEl>
                                        <p:attrNameLst>
                                          <p:attrName>style.visibility</p:attrName>
                                        </p:attrNameLst>
                                      </p:cBhvr>
                                      <p:to>
                                        <p:strVal val="visible"/>
                                      </p:to>
                                    </p:set>
                                    <p:animEffect transition="in" filter="fade">
                                      <p:cBhvr>
                                        <p:cTn id="76" dur="1000"/>
                                        <p:tgtEl>
                                          <p:spTgt spid="8"/>
                                        </p:tgtEl>
                                      </p:cBhvr>
                                    </p:animEffect>
                                    <p:anim calcmode="lin" valueType="num">
                                      <p:cBhvr>
                                        <p:cTn id="77" dur="1000" fill="hold"/>
                                        <p:tgtEl>
                                          <p:spTgt spid="8"/>
                                        </p:tgtEl>
                                        <p:attrNameLst>
                                          <p:attrName>ppt_x</p:attrName>
                                        </p:attrNameLst>
                                      </p:cBhvr>
                                      <p:tavLst>
                                        <p:tav tm="0">
                                          <p:val>
                                            <p:strVal val="#ppt_x"/>
                                          </p:val>
                                        </p:tav>
                                        <p:tav tm="100000">
                                          <p:val>
                                            <p:strVal val="#ppt_x"/>
                                          </p:val>
                                        </p:tav>
                                      </p:tavLst>
                                    </p:anim>
                                    <p:anim calcmode="lin" valueType="num">
                                      <p:cBhvr>
                                        <p:cTn id="7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7" grpId="0"/>
      <p:bldP spid="10" grpId="0" animBg="1"/>
      <p:bldP spid="37" grpId="0"/>
      <p:bldP spid="38" grpId="0" animBg="1"/>
      <p:bldP spid="42" grpId="0"/>
      <p:bldP spid="43" grpId="0" animBg="1"/>
      <p:bldP spid="9" grpId="0"/>
      <p:bldP spid="39" grpId="0" animBg="1"/>
      <p:bldP spid="40" grpId="0"/>
      <p:bldP spid="8" grpId="0" animBg="1"/>
      <p:bldP spid="4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911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智慧化网络运维（</a:t>
            </a:r>
            <a:r>
              <a:rPr lang="en-US" altLang="zh-CN" sz="2400" b="1" dirty="0" err="1" smtClean="0">
                <a:latin typeface="微软雅黑" panose="020B0503020204020204" pitchFamily="34" charset="-122"/>
                <a:ea typeface="微软雅黑" panose="020B0503020204020204" pitchFamily="34" charset="-122"/>
              </a:rPr>
              <a:t>AIOps</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95325" y="2506450"/>
            <a:ext cx="7448550" cy="2031325"/>
          </a:xfrm>
          <a:prstGeom prst="rect">
            <a:avLst/>
          </a:prstGeom>
          <a:noFill/>
        </p:spPr>
        <p:txBody>
          <a:bodyPr wrap="square" rtlCol="0">
            <a:spAutoFit/>
          </a:bodyPr>
          <a:lstStyle/>
          <a:p>
            <a:r>
              <a:rPr lang="zh-CN" altLang="en-US" dirty="0">
                <a:solidFill>
                  <a:srgbClr val="333F50"/>
                </a:solidFill>
              </a:rPr>
              <a:t>什么是机器学习？</a:t>
            </a:r>
            <a:endParaRPr lang="en-US" altLang="zh-CN" dirty="0">
              <a:solidFill>
                <a:srgbClr val="333F50"/>
              </a:solidFill>
            </a:endParaRPr>
          </a:p>
          <a:p>
            <a:endParaRPr lang="en-US" altLang="zh-CN" dirty="0"/>
          </a:p>
          <a:p>
            <a:r>
              <a:rPr lang="zh-CN" altLang="en-US" dirty="0"/>
              <a:t>“对于某类任务</a:t>
            </a:r>
            <a:r>
              <a:rPr lang="en-US" altLang="zh-CN" dirty="0"/>
              <a:t>T</a:t>
            </a:r>
            <a:r>
              <a:rPr lang="zh-CN" altLang="en-US" dirty="0"/>
              <a:t>和性能度量</a:t>
            </a:r>
            <a:r>
              <a:rPr lang="en-US" altLang="zh-CN" dirty="0"/>
              <a:t>P</a:t>
            </a:r>
            <a:r>
              <a:rPr lang="zh-CN" altLang="en-US" dirty="0"/>
              <a:t>，如果一个计算机程序在</a:t>
            </a:r>
            <a:r>
              <a:rPr lang="en-US" altLang="zh-CN" dirty="0"/>
              <a:t>T</a:t>
            </a:r>
            <a:r>
              <a:rPr lang="zh-CN" altLang="en-US" dirty="0"/>
              <a:t>上以</a:t>
            </a:r>
            <a:r>
              <a:rPr lang="en-US" altLang="zh-CN" dirty="0"/>
              <a:t>P</a:t>
            </a:r>
            <a:r>
              <a:rPr lang="zh-CN" altLang="en-US" dirty="0"/>
              <a:t>衡量的性能随着经验</a:t>
            </a:r>
            <a:r>
              <a:rPr lang="en-US" altLang="zh-CN" dirty="0"/>
              <a:t>E</a:t>
            </a:r>
            <a:r>
              <a:rPr lang="zh-CN" altLang="en-US" dirty="0"/>
              <a:t>而自我完善，那么我们称这个计算机程序在从经验</a:t>
            </a:r>
            <a:r>
              <a:rPr lang="en-US" altLang="zh-CN" dirty="0"/>
              <a:t>E</a:t>
            </a:r>
            <a:r>
              <a:rPr lang="zh-CN" altLang="en-US" dirty="0"/>
              <a:t>学习。</a:t>
            </a:r>
            <a:r>
              <a:rPr lang="zh-CN" altLang="en-US" dirty="0" smtClean="0"/>
              <a:t>”</a:t>
            </a:r>
            <a:endParaRPr lang="en-US" altLang="zh-CN" dirty="0" smtClean="0"/>
          </a:p>
          <a:p>
            <a:endParaRPr lang="en-US" altLang="zh-CN" dirty="0"/>
          </a:p>
          <a:p>
            <a:r>
              <a:rPr lang="en-US" altLang="zh-CN" dirty="0"/>
              <a:t>						-Tom Mitchell</a:t>
            </a:r>
            <a:endParaRPr lang="en-US" altLang="zh-CN" dirty="0" smtClean="0"/>
          </a:p>
          <a:p>
            <a:endParaRPr lang="en-US" altLang="zh-CN" dirty="0"/>
          </a:p>
        </p:txBody>
      </p:sp>
      <p:pic>
        <p:nvPicPr>
          <p:cNvPr id="1026" name="Picture 2" descr="https://timgsa.baidu.com/timg?image&amp;quality=80&amp;size=b9999_10000&amp;sec=1516865876729&amp;di=5c759be69438ffe9bc7b4c29e1b54267&amp;imgtype=0&amp;src=http%3A%2F%2F5b0988e595225.cdn.sohucs.com%2Fimages%2F20180102%2Fa48b18b7b52b40168b2d6798aab8f2ca.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2841" y="1647825"/>
            <a:ext cx="3719159" cy="3221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8134895"/>
      </p:ext>
    </p:extLst>
  </p:cSld>
  <p:clrMapOvr>
    <a:masterClrMapping/>
  </p:clrMapOvr>
  <p:transition spd="med">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911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智慧化网络运维（</a:t>
            </a:r>
            <a:r>
              <a:rPr lang="en-US" altLang="zh-CN" sz="2400" b="1" dirty="0" err="1" smtClean="0">
                <a:latin typeface="微软雅黑" panose="020B0503020204020204" pitchFamily="34" charset="-122"/>
                <a:ea typeface="微软雅黑" panose="020B0503020204020204" pitchFamily="34" charset="-122"/>
              </a:rPr>
              <a:t>AIOps</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0" name="Picture 2" descr="What's the difference between Artificial Intelligence (AI), Machine Learning, and Deep Learning?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5600" y="884908"/>
            <a:ext cx="8940800" cy="5687343"/>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803612" y="884908"/>
            <a:ext cx="4339650" cy="369332"/>
          </a:xfrm>
          <a:prstGeom prst="rect">
            <a:avLst/>
          </a:prstGeom>
        </p:spPr>
        <p:txBody>
          <a:bodyPr wrap="none">
            <a:spAutoFit/>
          </a:bodyPr>
          <a:lstStyle/>
          <a:p>
            <a:r>
              <a:rPr lang="zh-CN" altLang="en-US" dirty="0" smtClean="0">
                <a:solidFill>
                  <a:srgbClr val="333F50"/>
                </a:solidFill>
              </a:rPr>
              <a:t>人工智能、机器学习、深度学习的关系？</a:t>
            </a:r>
            <a:endParaRPr lang="en-US" altLang="zh-CN" dirty="0">
              <a:solidFill>
                <a:srgbClr val="333F50"/>
              </a:solidFill>
            </a:endParaRPr>
          </a:p>
        </p:txBody>
      </p:sp>
    </p:spTree>
    <p:extLst>
      <p:ext uri="{BB962C8B-B14F-4D97-AF65-F5344CB8AC3E}">
        <p14:creationId xmlns:p14="http://schemas.microsoft.com/office/powerpoint/2010/main" val="1201235184"/>
      </p:ext>
    </p:extLst>
  </p:cSld>
  <p:clrMapOvr>
    <a:masterClrMapping/>
  </p:clrMapOvr>
  <p:transition spd="med">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a:ln>
            <a:noFill/>
          </a:ln>
        </p:spPr>
        <p:style>
          <a:lnRef idx="0">
            <a:scrgbClr r="0" g="0" b="0"/>
          </a:lnRef>
          <a:fillRef idx="0">
            <a:scrgbClr r="0" g="0" b="0"/>
          </a:fillRef>
          <a:effectRef idx="0">
            <a:scrgbClr r="0" g="0" b="0"/>
          </a:effectRef>
          <a:fontRef idx="minor">
            <a:schemeClr val="accent5"/>
          </a:fontRef>
        </p:style>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261486" y="2396419"/>
            <a:ext cx="3757386" cy="2400657"/>
          </a:xfrm>
          <a:prstGeom prst="rect">
            <a:avLst/>
          </a:prstGeom>
          <a:noFill/>
        </p:spPr>
        <p:txBody>
          <a:bodyPr wrap="square" rtlCol="0">
            <a:spAutoFit/>
          </a:bodyPr>
          <a:lstStyle/>
          <a:p>
            <a:pPr indent="457200">
              <a:lnSpc>
                <a:spcPct val="150000"/>
              </a:lnSpc>
            </a:pPr>
            <a:endParaRPr lang="en-US" altLang="zh-CN" sz="2000" b="1" dirty="0" smtClean="0"/>
          </a:p>
          <a:p>
            <a:pPr marL="285750" indent="-285750">
              <a:lnSpc>
                <a:spcPct val="150000"/>
              </a:lnSpc>
              <a:buFont typeface="Arial" panose="020B0604020202020204" pitchFamily="34" charset="0"/>
              <a:buChar char="•"/>
            </a:pPr>
            <a:r>
              <a:rPr lang="zh-CN" altLang="en-US" sz="2000" b="1" dirty="0" smtClean="0"/>
              <a:t>数据获取</a:t>
            </a:r>
            <a:r>
              <a:rPr lang="zh-CN" altLang="en-US" sz="2000" dirty="0" smtClean="0"/>
              <a:t>：</a:t>
            </a:r>
            <a:endParaRPr lang="en-US" altLang="zh-CN" sz="2000" dirty="0"/>
          </a:p>
          <a:p>
            <a:pPr marL="742950" lvl="1" indent="-285750">
              <a:lnSpc>
                <a:spcPct val="150000"/>
              </a:lnSpc>
              <a:buFont typeface="Arial" panose="020B0604020202020204" pitchFamily="34" charset="0"/>
              <a:buChar char="•"/>
            </a:pPr>
            <a:r>
              <a:rPr lang="zh-CN" altLang="en-US" sz="2000" dirty="0" smtClean="0"/>
              <a:t>异源数据</a:t>
            </a:r>
            <a:r>
              <a:rPr lang="zh-CN" altLang="en-US" sz="2000" dirty="0" smtClean="0">
                <a:solidFill>
                  <a:srgbClr val="C00000"/>
                </a:solidFill>
              </a:rPr>
              <a:t>统一采集</a:t>
            </a:r>
            <a:endParaRPr lang="en-US" altLang="zh-CN" sz="2000" dirty="0" smtClean="0">
              <a:solidFill>
                <a:srgbClr val="C00000"/>
              </a:solidFill>
            </a:endParaRPr>
          </a:p>
          <a:p>
            <a:pPr marL="742950" lvl="1" indent="-285750">
              <a:lnSpc>
                <a:spcPct val="150000"/>
              </a:lnSpc>
              <a:buFont typeface="Arial" panose="020B0604020202020204" pitchFamily="34" charset="0"/>
              <a:buChar char="•"/>
            </a:pPr>
            <a:r>
              <a:rPr lang="zh-CN" altLang="en-US" sz="2000" dirty="0" smtClean="0"/>
              <a:t>本地数据</a:t>
            </a:r>
            <a:r>
              <a:rPr lang="zh-CN" altLang="en-US" sz="2000" dirty="0" smtClean="0">
                <a:solidFill>
                  <a:srgbClr val="C00000"/>
                </a:solidFill>
              </a:rPr>
              <a:t>结构存储</a:t>
            </a:r>
            <a:endParaRPr lang="en-US" altLang="zh-CN" sz="2000" dirty="0" smtClean="0">
              <a:solidFill>
                <a:srgbClr val="C00000"/>
              </a:solidFill>
            </a:endParaRPr>
          </a:p>
          <a:p>
            <a:pPr marL="742950" lvl="1" indent="-285750">
              <a:lnSpc>
                <a:spcPct val="150000"/>
              </a:lnSpc>
              <a:buFont typeface="Arial" panose="020B0604020202020204" pitchFamily="34" charset="0"/>
              <a:buChar char="•"/>
            </a:pPr>
            <a:r>
              <a:rPr lang="zh-CN" altLang="en-US" sz="2000" dirty="0" smtClean="0"/>
              <a:t>数据调用</a:t>
            </a:r>
            <a:r>
              <a:rPr lang="zh-CN" altLang="en-US" sz="2000" dirty="0" smtClean="0">
                <a:solidFill>
                  <a:srgbClr val="C00000"/>
                </a:solidFill>
              </a:rPr>
              <a:t>一键完成</a:t>
            </a:r>
            <a:endParaRPr lang="en-US" altLang="zh-CN" sz="2000" dirty="0" smtClean="0">
              <a:solidFill>
                <a:srgbClr val="C00000"/>
              </a:solidFill>
            </a:endParaRPr>
          </a:p>
        </p:txBody>
      </p:sp>
      <p:sp>
        <p:nvSpPr>
          <p:cNvPr id="26" name="KSO_Shape"/>
          <p:cNvSpPr/>
          <p:nvPr/>
        </p:nvSpPr>
        <p:spPr bwMode="auto">
          <a:xfrm>
            <a:off x="8307003" y="1885623"/>
            <a:ext cx="1432846" cy="1203635"/>
          </a:xfrm>
          <a:custGeom>
            <a:avLst/>
            <a:gdLst>
              <a:gd name="T0" fmla="*/ 2147483646 w 6057"/>
              <a:gd name="T1" fmla="*/ 2147483646 h 5454"/>
              <a:gd name="T2" fmla="*/ 0 w 6057"/>
              <a:gd name="T3" fmla="*/ 2147483646 h 5454"/>
              <a:gd name="T4" fmla="*/ 0 w 6057"/>
              <a:gd name="T5" fmla="*/ 2147483646 h 5454"/>
              <a:gd name="T6" fmla="*/ 2147483646 w 6057"/>
              <a:gd name="T7" fmla="*/ 2147483646 h 5454"/>
              <a:gd name="T8" fmla="*/ 2147483646 w 6057"/>
              <a:gd name="T9" fmla="*/ 2147483646 h 5454"/>
              <a:gd name="T10" fmla="*/ 2147483646 w 6057"/>
              <a:gd name="T11" fmla="*/ 2147483646 h 5454"/>
              <a:gd name="T12" fmla="*/ 2147483646 w 6057"/>
              <a:gd name="T13" fmla="*/ 2147483646 h 5454"/>
              <a:gd name="T14" fmla="*/ 2147483646 w 6057"/>
              <a:gd name="T15" fmla="*/ 2147483646 h 5454"/>
              <a:gd name="T16" fmla="*/ 2147483646 w 6057"/>
              <a:gd name="T17" fmla="*/ 2147483646 h 5454"/>
              <a:gd name="T18" fmla="*/ 2147483646 w 6057"/>
              <a:gd name="T19" fmla="*/ 2147483646 h 5454"/>
              <a:gd name="T20" fmla="*/ 2147483646 w 6057"/>
              <a:gd name="T21" fmla="*/ 2147483646 h 5454"/>
              <a:gd name="T22" fmla="*/ 2147483646 w 6057"/>
              <a:gd name="T23" fmla="*/ 2147483646 h 5454"/>
              <a:gd name="T24" fmla="*/ 2147483646 w 6057"/>
              <a:gd name="T25" fmla="*/ 2147483646 h 5454"/>
              <a:gd name="T26" fmla="*/ 2147483646 w 6057"/>
              <a:gd name="T27" fmla="*/ 2147483646 h 5454"/>
              <a:gd name="T28" fmla="*/ 2147483646 w 6057"/>
              <a:gd name="T29" fmla="*/ 2147483646 h 5454"/>
              <a:gd name="T30" fmla="*/ 2147483646 w 6057"/>
              <a:gd name="T31" fmla="*/ 2147483646 h 5454"/>
              <a:gd name="T32" fmla="*/ 2147483646 w 6057"/>
              <a:gd name="T33" fmla="*/ 2147483646 h 5454"/>
              <a:gd name="T34" fmla="*/ 2147483646 w 6057"/>
              <a:gd name="T35" fmla="*/ 2147483646 h 5454"/>
              <a:gd name="T36" fmla="*/ 2147483646 w 6057"/>
              <a:gd name="T37" fmla="*/ 2147483646 h 5454"/>
              <a:gd name="T38" fmla="*/ 2147483646 w 6057"/>
              <a:gd name="T39" fmla="*/ 2147483646 h 5454"/>
              <a:gd name="T40" fmla="*/ 2147483646 w 6057"/>
              <a:gd name="T41" fmla="*/ 2147483646 h 5454"/>
              <a:gd name="T42" fmla="*/ 2147483646 w 6057"/>
              <a:gd name="T43" fmla="*/ 2147483646 h 5454"/>
              <a:gd name="T44" fmla="*/ 2147483646 w 6057"/>
              <a:gd name="T45" fmla="*/ 2147483646 h 5454"/>
              <a:gd name="T46" fmla="*/ 2147483646 w 6057"/>
              <a:gd name="T47" fmla="*/ 2147483646 h 5454"/>
              <a:gd name="T48" fmla="*/ 2147483646 w 6057"/>
              <a:gd name="T49" fmla="*/ 2147483646 h 5454"/>
              <a:gd name="T50" fmla="*/ 2147483646 w 6057"/>
              <a:gd name="T51" fmla="*/ 2147483646 h 5454"/>
              <a:gd name="T52" fmla="*/ 2147483646 w 6057"/>
              <a:gd name="T53" fmla="*/ 2147483646 h 5454"/>
              <a:gd name="T54" fmla="*/ 2147483646 w 6057"/>
              <a:gd name="T55" fmla="*/ 2147483646 h 5454"/>
              <a:gd name="T56" fmla="*/ 2147483646 w 6057"/>
              <a:gd name="T57" fmla="*/ 2147483646 h 5454"/>
              <a:gd name="T58" fmla="*/ 2147483646 w 6057"/>
              <a:gd name="T59" fmla="*/ 2147483646 h 5454"/>
              <a:gd name="T60" fmla="*/ 2147483646 w 6057"/>
              <a:gd name="T61" fmla="*/ 2147483646 h 5454"/>
              <a:gd name="T62" fmla="*/ 2147483646 w 6057"/>
              <a:gd name="T63" fmla="*/ 2147483646 h 5454"/>
              <a:gd name="T64" fmla="*/ 2147483646 w 6057"/>
              <a:gd name="T65" fmla="*/ 2147483646 h 5454"/>
              <a:gd name="T66" fmla="*/ 2147483646 w 6057"/>
              <a:gd name="T67" fmla="*/ 2147483646 h 5454"/>
              <a:gd name="T68" fmla="*/ 2147483646 w 6057"/>
              <a:gd name="T69" fmla="*/ 2147483646 h 5454"/>
              <a:gd name="T70" fmla="*/ 2147483646 w 6057"/>
              <a:gd name="T71" fmla="*/ 2147483646 h 5454"/>
              <a:gd name="T72" fmla="*/ 2147483646 w 6057"/>
              <a:gd name="T73" fmla="*/ 2147483646 h 5454"/>
              <a:gd name="T74" fmla="*/ 2147483646 w 6057"/>
              <a:gd name="T75" fmla="*/ 2147483646 h 5454"/>
              <a:gd name="T76" fmla="*/ 2147483646 w 6057"/>
              <a:gd name="T77" fmla="*/ 0 h 5454"/>
              <a:gd name="T78" fmla="*/ 2147483646 w 6057"/>
              <a:gd name="T79" fmla="*/ 2147483646 h 545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057" h="5454">
                <a:moveTo>
                  <a:pt x="0" y="959"/>
                </a:moveTo>
                <a:lnTo>
                  <a:pt x="1930" y="1981"/>
                </a:lnTo>
                <a:lnTo>
                  <a:pt x="1930" y="5454"/>
                </a:lnTo>
                <a:lnTo>
                  <a:pt x="0" y="4432"/>
                </a:lnTo>
                <a:lnTo>
                  <a:pt x="0" y="959"/>
                </a:lnTo>
                <a:close/>
                <a:moveTo>
                  <a:pt x="3263" y="849"/>
                </a:moveTo>
                <a:lnTo>
                  <a:pt x="3260" y="1196"/>
                </a:lnTo>
                <a:lnTo>
                  <a:pt x="3082" y="1115"/>
                </a:lnTo>
                <a:lnTo>
                  <a:pt x="3082" y="871"/>
                </a:lnTo>
                <a:lnTo>
                  <a:pt x="2883" y="783"/>
                </a:lnTo>
                <a:lnTo>
                  <a:pt x="2883" y="1024"/>
                </a:lnTo>
                <a:lnTo>
                  <a:pt x="1772" y="520"/>
                </a:lnTo>
                <a:lnTo>
                  <a:pt x="269" y="883"/>
                </a:lnTo>
                <a:lnTo>
                  <a:pt x="2160" y="1837"/>
                </a:lnTo>
                <a:lnTo>
                  <a:pt x="2149" y="5385"/>
                </a:lnTo>
                <a:lnTo>
                  <a:pt x="3705" y="4796"/>
                </a:lnTo>
                <a:lnTo>
                  <a:pt x="3705" y="4070"/>
                </a:lnTo>
                <a:lnTo>
                  <a:pt x="4114" y="3933"/>
                </a:lnTo>
                <a:lnTo>
                  <a:pt x="4114" y="4296"/>
                </a:lnTo>
                <a:lnTo>
                  <a:pt x="4599" y="4524"/>
                </a:lnTo>
                <a:lnTo>
                  <a:pt x="5626" y="4144"/>
                </a:lnTo>
                <a:lnTo>
                  <a:pt x="5627" y="4077"/>
                </a:lnTo>
                <a:lnTo>
                  <a:pt x="5122" y="3921"/>
                </a:lnTo>
                <a:lnTo>
                  <a:pt x="5122" y="3593"/>
                </a:lnTo>
                <a:lnTo>
                  <a:pt x="6057" y="3278"/>
                </a:lnTo>
                <a:lnTo>
                  <a:pt x="6057" y="95"/>
                </a:lnTo>
                <a:lnTo>
                  <a:pt x="3263" y="849"/>
                </a:lnTo>
                <a:close/>
                <a:moveTo>
                  <a:pt x="3705" y="3759"/>
                </a:moveTo>
                <a:lnTo>
                  <a:pt x="3705" y="2603"/>
                </a:lnTo>
                <a:lnTo>
                  <a:pt x="2433" y="2997"/>
                </a:lnTo>
                <a:lnTo>
                  <a:pt x="2433" y="2598"/>
                </a:lnTo>
                <a:lnTo>
                  <a:pt x="3705" y="2204"/>
                </a:lnTo>
                <a:lnTo>
                  <a:pt x="3705" y="1972"/>
                </a:lnTo>
                <a:lnTo>
                  <a:pt x="2433" y="2365"/>
                </a:lnTo>
                <a:lnTo>
                  <a:pt x="2433" y="1966"/>
                </a:lnTo>
                <a:lnTo>
                  <a:pt x="3705" y="1574"/>
                </a:lnTo>
                <a:lnTo>
                  <a:pt x="3705" y="1397"/>
                </a:lnTo>
                <a:lnTo>
                  <a:pt x="3614" y="1356"/>
                </a:lnTo>
                <a:lnTo>
                  <a:pt x="3617" y="1043"/>
                </a:lnTo>
                <a:lnTo>
                  <a:pt x="5797" y="461"/>
                </a:lnTo>
                <a:lnTo>
                  <a:pt x="5797" y="3054"/>
                </a:lnTo>
                <a:lnTo>
                  <a:pt x="3705" y="3759"/>
                </a:lnTo>
                <a:close/>
                <a:moveTo>
                  <a:pt x="215" y="1434"/>
                </a:moveTo>
                <a:lnTo>
                  <a:pt x="215" y="1579"/>
                </a:lnTo>
                <a:lnTo>
                  <a:pt x="862" y="1925"/>
                </a:lnTo>
                <a:lnTo>
                  <a:pt x="862" y="1780"/>
                </a:lnTo>
                <a:lnTo>
                  <a:pt x="215" y="1434"/>
                </a:lnTo>
                <a:close/>
                <a:moveTo>
                  <a:pt x="215" y="1909"/>
                </a:moveTo>
                <a:lnTo>
                  <a:pt x="215" y="2053"/>
                </a:lnTo>
                <a:lnTo>
                  <a:pt x="862" y="2399"/>
                </a:lnTo>
                <a:lnTo>
                  <a:pt x="862" y="2255"/>
                </a:lnTo>
                <a:lnTo>
                  <a:pt x="215" y="1909"/>
                </a:lnTo>
                <a:close/>
                <a:moveTo>
                  <a:pt x="215" y="1670"/>
                </a:moveTo>
                <a:lnTo>
                  <a:pt x="215" y="1814"/>
                </a:lnTo>
                <a:lnTo>
                  <a:pt x="862" y="2160"/>
                </a:lnTo>
                <a:lnTo>
                  <a:pt x="862" y="2016"/>
                </a:lnTo>
                <a:lnTo>
                  <a:pt x="215" y="1670"/>
                </a:lnTo>
                <a:close/>
                <a:moveTo>
                  <a:pt x="2458" y="3255"/>
                </a:moveTo>
                <a:lnTo>
                  <a:pt x="2820" y="3153"/>
                </a:lnTo>
                <a:lnTo>
                  <a:pt x="2820" y="3376"/>
                </a:lnTo>
                <a:lnTo>
                  <a:pt x="2458" y="3478"/>
                </a:lnTo>
                <a:lnTo>
                  <a:pt x="2458" y="3255"/>
                </a:lnTo>
                <a:close/>
                <a:moveTo>
                  <a:pt x="2458" y="3645"/>
                </a:moveTo>
                <a:lnTo>
                  <a:pt x="2820" y="3543"/>
                </a:lnTo>
                <a:lnTo>
                  <a:pt x="2820" y="3764"/>
                </a:lnTo>
                <a:lnTo>
                  <a:pt x="2458" y="3867"/>
                </a:lnTo>
                <a:lnTo>
                  <a:pt x="2458" y="3645"/>
                </a:lnTo>
                <a:close/>
                <a:moveTo>
                  <a:pt x="3097" y="793"/>
                </a:moveTo>
                <a:lnTo>
                  <a:pt x="2938" y="714"/>
                </a:lnTo>
                <a:lnTo>
                  <a:pt x="5774" y="0"/>
                </a:lnTo>
                <a:lnTo>
                  <a:pt x="5915" y="61"/>
                </a:lnTo>
                <a:lnTo>
                  <a:pt x="3097" y="793"/>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28" name="KSO_Shape"/>
          <p:cNvSpPr/>
          <p:nvPr/>
        </p:nvSpPr>
        <p:spPr>
          <a:xfrm>
            <a:off x="6016879" y="2525592"/>
            <a:ext cx="1021276" cy="825399"/>
          </a:xfrm>
          <a:custGeom>
            <a:avLst/>
            <a:gdLst>
              <a:gd name="connsiteX0" fmla="*/ 876522 w 1879600"/>
              <a:gd name="connsiteY0" fmla="*/ 1026915 h 1901723"/>
              <a:gd name="connsiteX1" fmla="*/ 1879600 w 1879600"/>
              <a:gd name="connsiteY1" fmla="*/ 1035310 h 1901723"/>
              <a:gd name="connsiteX2" fmla="*/ 1879600 w 1879600"/>
              <a:gd name="connsiteY2" fmla="*/ 1901723 h 1901723"/>
              <a:gd name="connsiteX3" fmla="*/ 876522 w 1879600"/>
              <a:gd name="connsiteY3" fmla="*/ 1775813 h 1901723"/>
              <a:gd name="connsiteX4" fmla="*/ 0 w 1879600"/>
              <a:gd name="connsiteY4" fmla="*/ 1014080 h 1901723"/>
              <a:gd name="connsiteX5" fmla="*/ 717549 w 1879600"/>
              <a:gd name="connsiteY5" fmla="*/ 1026818 h 1901723"/>
              <a:gd name="connsiteX6" fmla="*/ 717549 w 1879600"/>
              <a:gd name="connsiteY6" fmla="*/ 1753167 h 1901723"/>
              <a:gd name="connsiteX7" fmla="*/ 0 w 1879600"/>
              <a:gd name="connsiteY7" fmla="*/ 1642117 h 1901723"/>
              <a:gd name="connsiteX8" fmla="*/ 717549 w 1879600"/>
              <a:gd name="connsiteY8" fmla="*/ 159389 h 1901723"/>
              <a:gd name="connsiteX9" fmla="*/ 717549 w 1879600"/>
              <a:gd name="connsiteY9" fmla="*/ 883871 h 1901723"/>
              <a:gd name="connsiteX10" fmla="*/ 0 w 1879600"/>
              <a:gd name="connsiteY10" fmla="*/ 908194 h 1901723"/>
              <a:gd name="connsiteX11" fmla="*/ 0 w 1879600"/>
              <a:gd name="connsiteY11" fmla="*/ 256684 h 1901723"/>
              <a:gd name="connsiteX12" fmla="*/ 1879600 w 1879600"/>
              <a:gd name="connsiteY12" fmla="*/ 0 h 1901723"/>
              <a:gd name="connsiteX13" fmla="*/ 1879600 w 1879600"/>
              <a:gd name="connsiteY13" fmla="*/ 872112 h 1901723"/>
              <a:gd name="connsiteX14" fmla="*/ 879497 w 1879600"/>
              <a:gd name="connsiteY14" fmla="*/ 880660 h 1901723"/>
              <a:gd name="connsiteX15" fmla="*/ 876522 w 1879600"/>
              <a:gd name="connsiteY15" fmla="*/ 626314 h 1901723"/>
              <a:gd name="connsiteX16" fmla="*/ 876522 w 1879600"/>
              <a:gd name="connsiteY16" fmla="*/ 144511 h 19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79600" h="1901723">
                <a:moveTo>
                  <a:pt x="876522" y="1026915"/>
                </a:moveTo>
                <a:lnTo>
                  <a:pt x="1879600" y="1035310"/>
                </a:lnTo>
                <a:lnTo>
                  <a:pt x="1879600" y="1901723"/>
                </a:lnTo>
                <a:lnTo>
                  <a:pt x="876522" y="1775813"/>
                </a:lnTo>
                <a:close/>
                <a:moveTo>
                  <a:pt x="0" y="1014080"/>
                </a:moveTo>
                <a:lnTo>
                  <a:pt x="717549" y="1026818"/>
                </a:lnTo>
                <a:lnTo>
                  <a:pt x="717549" y="1753167"/>
                </a:lnTo>
                <a:lnTo>
                  <a:pt x="0" y="1642117"/>
                </a:lnTo>
                <a:close/>
                <a:moveTo>
                  <a:pt x="717549" y="159389"/>
                </a:moveTo>
                <a:lnTo>
                  <a:pt x="717549" y="883871"/>
                </a:lnTo>
                <a:lnTo>
                  <a:pt x="0" y="908194"/>
                </a:lnTo>
                <a:lnTo>
                  <a:pt x="0" y="256684"/>
                </a:lnTo>
                <a:close/>
                <a:moveTo>
                  <a:pt x="1879600" y="0"/>
                </a:moveTo>
                <a:lnTo>
                  <a:pt x="1879600" y="872112"/>
                </a:lnTo>
                <a:lnTo>
                  <a:pt x="879497" y="880660"/>
                </a:lnTo>
                <a:lnTo>
                  <a:pt x="876522" y="626314"/>
                </a:lnTo>
                <a:lnTo>
                  <a:pt x="876522" y="144511"/>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endParaRPr>
          </a:p>
        </p:txBody>
      </p:sp>
      <p:sp>
        <p:nvSpPr>
          <p:cNvPr id="29" name="KSO_Shape"/>
          <p:cNvSpPr/>
          <p:nvPr/>
        </p:nvSpPr>
        <p:spPr bwMode="auto">
          <a:xfrm>
            <a:off x="3934308" y="1914065"/>
            <a:ext cx="1246870" cy="846020"/>
          </a:xfrm>
          <a:custGeom>
            <a:avLst/>
            <a:gdLst>
              <a:gd name="T0" fmla="*/ 1091648 w 2509838"/>
              <a:gd name="T1" fmla="*/ 1608111 h 1787526"/>
              <a:gd name="T2" fmla="*/ 1364673 w 2509838"/>
              <a:gd name="T3" fmla="*/ 1644625 h 1787526"/>
              <a:gd name="T4" fmla="*/ 1419551 w 2509838"/>
              <a:gd name="T5" fmla="*/ 1603152 h 1787526"/>
              <a:gd name="T6" fmla="*/ 2438407 w 2509838"/>
              <a:gd name="T7" fmla="*/ 1567539 h 1787526"/>
              <a:gd name="T8" fmla="*/ 2487842 w 2509838"/>
              <a:gd name="T9" fmla="*/ 1592108 h 1787526"/>
              <a:gd name="T10" fmla="*/ 2509611 w 2509838"/>
              <a:gd name="T11" fmla="*/ 1640568 h 1787526"/>
              <a:gd name="T12" fmla="*/ 2495552 w 2509838"/>
              <a:gd name="T13" fmla="*/ 1753040 h 1787526"/>
              <a:gd name="T14" fmla="*/ 2450426 w 2509838"/>
              <a:gd name="T15" fmla="*/ 1783920 h 1787526"/>
              <a:gd name="T16" fmla="*/ 55558 w 2509838"/>
              <a:gd name="T17" fmla="*/ 1782793 h 1787526"/>
              <a:gd name="T18" fmla="*/ 12472 w 2509838"/>
              <a:gd name="T19" fmla="*/ 1750110 h 1787526"/>
              <a:gd name="T20" fmla="*/ 680 w 2509838"/>
              <a:gd name="T21" fmla="*/ 1636736 h 1787526"/>
              <a:gd name="T22" fmla="*/ 24717 w 2509838"/>
              <a:gd name="T23" fmla="*/ 1589628 h 1787526"/>
              <a:gd name="T24" fmla="*/ 75740 w 2509838"/>
              <a:gd name="T25" fmla="*/ 1567089 h 1787526"/>
              <a:gd name="T26" fmla="*/ 933501 w 2509838"/>
              <a:gd name="T27" fmla="*/ 749091 h 1787526"/>
              <a:gd name="T28" fmla="*/ 932155 w 2509838"/>
              <a:gd name="T29" fmla="*/ 1160902 h 1787526"/>
              <a:gd name="T30" fmla="*/ 829865 w 2509838"/>
              <a:gd name="T31" fmla="*/ 1167944 h 1787526"/>
              <a:gd name="T32" fmla="*/ 814387 w 2509838"/>
              <a:gd name="T33" fmla="*/ 760448 h 1787526"/>
              <a:gd name="T34" fmla="*/ 837043 w 2509838"/>
              <a:gd name="T35" fmla="*/ 738188 h 1787526"/>
              <a:gd name="T36" fmla="*/ 1416304 w 2509838"/>
              <a:gd name="T37" fmla="*/ 686474 h 1787526"/>
              <a:gd name="T38" fmla="*/ 1412034 w 2509838"/>
              <a:gd name="T39" fmla="*/ 1161601 h 1787526"/>
              <a:gd name="T40" fmla="*/ 1308659 w 2509838"/>
              <a:gd name="T41" fmla="*/ 1166588 h 1787526"/>
              <a:gd name="T42" fmla="*/ 1296074 w 2509838"/>
              <a:gd name="T43" fmla="*/ 694181 h 1787526"/>
              <a:gd name="T44" fmla="*/ 988416 w 2509838"/>
              <a:gd name="T45" fmla="*/ 671513 h 1787526"/>
              <a:gd name="T46" fmla="*/ 1088565 w 2509838"/>
              <a:gd name="T47" fmla="*/ 688968 h 1787526"/>
              <a:gd name="T48" fmla="*/ 1081281 w 2509838"/>
              <a:gd name="T49" fmla="*/ 1163414 h 1787526"/>
              <a:gd name="T50" fmla="*/ 976581 w 2509838"/>
              <a:gd name="T51" fmla="*/ 1165228 h 1787526"/>
              <a:gd name="T52" fmla="*/ 966338 w 2509838"/>
              <a:gd name="T53" fmla="*/ 691461 h 1787526"/>
              <a:gd name="T54" fmla="*/ 1546133 w 2509838"/>
              <a:gd name="T55" fmla="*/ 590550 h 1787526"/>
              <a:gd name="T56" fmla="*/ 1571170 w 2509838"/>
              <a:gd name="T57" fmla="*/ 617105 h 1787526"/>
              <a:gd name="T58" fmla="*/ 1558196 w 2509838"/>
              <a:gd name="T59" fmla="*/ 1165903 h 1787526"/>
              <a:gd name="T60" fmla="*/ 1453496 w 2509838"/>
              <a:gd name="T61" fmla="*/ 1160229 h 1787526"/>
              <a:gd name="T62" fmla="*/ 1449399 w 2509838"/>
              <a:gd name="T63" fmla="*/ 608026 h 1787526"/>
              <a:gd name="T64" fmla="*/ 1229322 w 2509838"/>
              <a:gd name="T65" fmla="*/ 590777 h 1787526"/>
              <a:gd name="T66" fmla="*/ 1252538 w 2509838"/>
              <a:gd name="T67" fmla="*/ 620282 h 1787526"/>
              <a:gd name="T68" fmla="*/ 1236833 w 2509838"/>
              <a:gd name="T69" fmla="*/ 1167492 h 1787526"/>
              <a:gd name="T70" fmla="*/ 1132815 w 2509838"/>
              <a:gd name="T71" fmla="*/ 1157959 h 1787526"/>
              <a:gd name="T72" fmla="*/ 1131450 w 2509838"/>
              <a:gd name="T73" fmla="*/ 605303 h 1787526"/>
              <a:gd name="T74" fmla="*/ 1713065 w 2509838"/>
              <a:gd name="T75" fmla="*/ 508680 h 1787526"/>
              <a:gd name="T76" fmla="*/ 1733550 w 2509838"/>
              <a:gd name="T77" fmla="*/ 545860 h 1787526"/>
              <a:gd name="T78" fmla="*/ 1715797 w 2509838"/>
              <a:gd name="T79" fmla="*/ 1168174 h 1787526"/>
              <a:gd name="T80" fmla="*/ 1612689 w 2509838"/>
              <a:gd name="T81" fmla="*/ 1153438 h 1787526"/>
              <a:gd name="T82" fmla="*/ 1614055 w 2509838"/>
              <a:gd name="T83" fmla="*/ 521829 h 1787526"/>
              <a:gd name="T84" fmla="*/ 1733550 w 2509838"/>
              <a:gd name="T85" fmla="*/ 464215 h 1787526"/>
              <a:gd name="T86" fmla="*/ 1501548 w 2509838"/>
              <a:gd name="T87" fmla="*/ 379141 h 1787526"/>
              <a:gd name="T88" fmla="*/ 188232 w 2509838"/>
              <a:gd name="T89" fmla="*/ 103187 h 1787526"/>
              <a:gd name="T90" fmla="*/ 158976 w 2509838"/>
              <a:gd name="T91" fmla="*/ 139700 h 1787526"/>
              <a:gd name="T92" fmla="*/ 160110 w 2509838"/>
              <a:gd name="T93" fmla="*/ 1353684 h 1787526"/>
              <a:gd name="T94" fmla="*/ 191407 w 2509838"/>
              <a:gd name="T95" fmla="*/ 1389063 h 1787526"/>
              <a:gd name="T96" fmla="*/ 2288041 w 2509838"/>
              <a:gd name="T97" fmla="*/ 1398588 h 1787526"/>
              <a:gd name="T98" fmla="*/ 2332945 w 2509838"/>
              <a:gd name="T99" fmla="*/ 1378857 h 1787526"/>
              <a:gd name="T100" fmla="*/ 2354036 w 2509838"/>
              <a:gd name="T101" fmla="*/ 1337129 h 1787526"/>
              <a:gd name="T102" fmla="*/ 2343830 w 2509838"/>
              <a:gd name="T103" fmla="*/ 124505 h 1787526"/>
              <a:gd name="T104" fmla="*/ 2305957 w 2509838"/>
              <a:gd name="T105" fmla="*/ 95704 h 1787526"/>
              <a:gd name="T106" fmla="*/ 2436813 w 2509838"/>
              <a:gd name="T107" fmla="*/ 680 h 1787526"/>
              <a:gd name="T108" fmla="*/ 2486479 w 2509838"/>
              <a:gd name="T109" fmla="*/ 25400 h 1787526"/>
              <a:gd name="T110" fmla="*/ 2508250 w 2509838"/>
              <a:gd name="T111" fmla="*/ 74159 h 1787526"/>
              <a:gd name="T112" fmla="*/ 2493963 w 2509838"/>
              <a:gd name="T113" fmla="*/ 1455965 h 1787526"/>
              <a:gd name="T114" fmla="*/ 2449286 w 2509838"/>
              <a:gd name="T115" fmla="*/ 1487034 h 1787526"/>
              <a:gd name="T116" fmla="*/ 57150 w 2509838"/>
              <a:gd name="T117" fmla="*/ 1485674 h 1787526"/>
              <a:gd name="T118" fmla="*/ 13833 w 2509838"/>
              <a:gd name="T119" fmla="*/ 1452790 h 1787526"/>
              <a:gd name="T120" fmla="*/ 2041 w 2509838"/>
              <a:gd name="T121" fmla="*/ 70304 h 1787526"/>
              <a:gd name="T122" fmla="*/ 26307 w 2509838"/>
              <a:gd name="T123" fmla="*/ 22905 h 1787526"/>
              <a:gd name="T124" fmla="*/ 77333 w 2509838"/>
              <a:gd name="T125" fmla="*/ 227 h 1787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09838" h="1787526">
                <a:moveTo>
                  <a:pt x="80048" y="1566863"/>
                </a:moveTo>
                <a:lnTo>
                  <a:pt x="84357" y="1566863"/>
                </a:lnTo>
                <a:lnTo>
                  <a:pt x="1096637" y="1566863"/>
                </a:lnTo>
                <a:lnTo>
                  <a:pt x="1094823" y="1569568"/>
                </a:lnTo>
                <a:lnTo>
                  <a:pt x="1093235" y="1572498"/>
                </a:lnTo>
                <a:lnTo>
                  <a:pt x="1092102" y="1575879"/>
                </a:lnTo>
                <a:lnTo>
                  <a:pt x="1090968" y="1579035"/>
                </a:lnTo>
                <a:lnTo>
                  <a:pt x="1090287" y="1582415"/>
                </a:lnTo>
                <a:lnTo>
                  <a:pt x="1089607" y="1585571"/>
                </a:lnTo>
                <a:lnTo>
                  <a:pt x="1089380" y="1589177"/>
                </a:lnTo>
                <a:lnTo>
                  <a:pt x="1089154" y="1592558"/>
                </a:lnTo>
                <a:lnTo>
                  <a:pt x="1089380" y="1597968"/>
                </a:lnTo>
                <a:lnTo>
                  <a:pt x="1090287" y="1603152"/>
                </a:lnTo>
                <a:lnTo>
                  <a:pt x="1091648" y="1608111"/>
                </a:lnTo>
                <a:lnTo>
                  <a:pt x="1093689" y="1612844"/>
                </a:lnTo>
                <a:lnTo>
                  <a:pt x="1095957" y="1617352"/>
                </a:lnTo>
                <a:lnTo>
                  <a:pt x="1098678" y="1621634"/>
                </a:lnTo>
                <a:lnTo>
                  <a:pt x="1101853" y="1625692"/>
                </a:lnTo>
                <a:lnTo>
                  <a:pt x="1105481" y="1629523"/>
                </a:lnTo>
                <a:lnTo>
                  <a:pt x="1109563" y="1632679"/>
                </a:lnTo>
                <a:lnTo>
                  <a:pt x="1113871" y="1635834"/>
                </a:lnTo>
                <a:lnTo>
                  <a:pt x="1118633" y="1638314"/>
                </a:lnTo>
                <a:lnTo>
                  <a:pt x="1123395" y="1640568"/>
                </a:lnTo>
                <a:lnTo>
                  <a:pt x="1128611" y="1642371"/>
                </a:lnTo>
                <a:lnTo>
                  <a:pt x="1134053" y="1643498"/>
                </a:lnTo>
                <a:lnTo>
                  <a:pt x="1139496" y="1644174"/>
                </a:lnTo>
                <a:lnTo>
                  <a:pt x="1145391" y="1644625"/>
                </a:lnTo>
                <a:lnTo>
                  <a:pt x="1364673" y="1644625"/>
                </a:lnTo>
                <a:lnTo>
                  <a:pt x="1370343" y="1644174"/>
                </a:lnTo>
                <a:lnTo>
                  <a:pt x="1376012" y="1643498"/>
                </a:lnTo>
                <a:lnTo>
                  <a:pt x="1381227" y="1642371"/>
                </a:lnTo>
                <a:lnTo>
                  <a:pt x="1386443" y="1640568"/>
                </a:lnTo>
                <a:lnTo>
                  <a:pt x="1391432" y="1638314"/>
                </a:lnTo>
                <a:lnTo>
                  <a:pt x="1396194" y="1635834"/>
                </a:lnTo>
                <a:lnTo>
                  <a:pt x="1400502" y="1632679"/>
                </a:lnTo>
                <a:lnTo>
                  <a:pt x="1404357" y="1629523"/>
                </a:lnTo>
                <a:lnTo>
                  <a:pt x="1407986" y="1625692"/>
                </a:lnTo>
                <a:lnTo>
                  <a:pt x="1411160" y="1621634"/>
                </a:lnTo>
                <a:lnTo>
                  <a:pt x="1414108" y="1617352"/>
                </a:lnTo>
                <a:lnTo>
                  <a:pt x="1416376" y="1612844"/>
                </a:lnTo>
                <a:lnTo>
                  <a:pt x="1418417" y="1608111"/>
                </a:lnTo>
                <a:lnTo>
                  <a:pt x="1419551" y="1603152"/>
                </a:lnTo>
                <a:lnTo>
                  <a:pt x="1420684" y="1597968"/>
                </a:lnTo>
                <a:lnTo>
                  <a:pt x="1420911" y="1592558"/>
                </a:lnTo>
                <a:lnTo>
                  <a:pt x="1420684" y="1589177"/>
                </a:lnTo>
                <a:lnTo>
                  <a:pt x="1420231" y="1585571"/>
                </a:lnTo>
                <a:lnTo>
                  <a:pt x="1419551" y="1582415"/>
                </a:lnTo>
                <a:lnTo>
                  <a:pt x="1418870" y="1579035"/>
                </a:lnTo>
                <a:lnTo>
                  <a:pt x="1417737" y="1575879"/>
                </a:lnTo>
                <a:lnTo>
                  <a:pt x="1416603" y="1572498"/>
                </a:lnTo>
                <a:lnTo>
                  <a:pt x="1415015" y="1569568"/>
                </a:lnTo>
                <a:lnTo>
                  <a:pt x="1413201" y="1566863"/>
                </a:lnTo>
                <a:lnTo>
                  <a:pt x="2425481" y="1566863"/>
                </a:lnTo>
                <a:lnTo>
                  <a:pt x="2429790" y="1566863"/>
                </a:lnTo>
                <a:lnTo>
                  <a:pt x="2434099" y="1567089"/>
                </a:lnTo>
                <a:lnTo>
                  <a:pt x="2438407" y="1567539"/>
                </a:lnTo>
                <a:lnTo>
                  <a:pt x="2442489" y="1568216"/>
                </a:lnTo>
                <a:lnTo>
                  <a:pt x="2446571" y="1569117"/>
                </a:lnTo>
                <a:lnTo>
                  <a:pt x="2450426" y="1570244"/>
                </a:lnTo>
                <a:lnTo>
                  <a:pt x="2454507" y="1571596"/>
                </a:lnTo>
                <a:lnTo>
                  <a:pt x="2458362" y="1572723"/>
                </a:lnTo>
                <a:lnTo>
                  <a:pt x="2462217" y="1574301"/>
                </a:lnTo>
                <a:lnTo>
                  <a:pt x="2465619" y="1576104"/>
                </a:lnTo>
                <a:lnTo>
                  <a:pt x="2469247" y="1578133"/>
                </a:lnTo>
                <a:lnTo>
                  <a:pt x="2472422" y="1580162"/>
                </a:lnTo>
                <a:lnTo>
                  <a:pt x="2476050" y="1581965"/>
                </a:lnTo>
                <a:lnTo>
                  <a:pt x="2478998" y="1584669"/>
                </a:lnTo>
                <a:lnTo>
                  <a:pt x="2482173" y="1586923"/>
                </a:lnTo>
                <a:lnTo>
                  <a:pt x="2485121" y="1589628"/>
                </a:lnTo>
                <a:lnTo>
                  <a:pt x="2487842" y="1592108"/>
                </a:lnTo>
                <a:lnTo>
                  <a:pt x="2490336" y="1595038"/>
                </a:lnTo>
                <a:lnTo>
                  <a:pt x="2492831" y="1597968"/>
                </a:lnTo>
                <a:lnTo>
                  <a:pt x="2495552" y="1601123"/>
                </a:lnTo>
                <a:lnTo>
                  <a:pt x="2497366" y="1604054"/>
                </a:lnTo>
                <a:lnTo>
                  <a:pt x="2499407" y="1607434"/>
                </a:lnTo>
                <a:lnTo>
                  <a:pt x="2501448" y="1610815"/>
                </a:lnTo>
                <a:lnTo>
                  <a:pt x="2503035" y="1614196"/>
                </a:lnTo>
                <a:lnTo>
                  <a:pt x="2504623" y="1618028"/>
                </a:lnTo>
                <a:lnTo>
                  <a:pt x="2505983" y="1621409"/>
                </a:lnTo>
                <a:lnTo>
                  <a:pt x="2507117" y="1625241"/>
                </a:lnTo>
                <a:lnTo>
                  <a:pt x="2508024" y="1629073"/>
                </a:lnTo>
                <a:lnTo>
                  <a:pt x="2508704" y="1632679"/>
                </a:lnTo>
                <a:lnTo>
                  <a:pt x="2509385" y="1636736"/>
                </a:lnTo>
                <a:lnTo>
                  <a:pt x="2509611" y="1640568"/>
                </a:lnTo>
                <a:lnTo>
                  <a:pt x="2509838" y="1644625"/>
                </a:lnTo>
                <a:lnTo>
                  <a:pt x="2509838" y="1709764"/>
                </a:lnTo>
                <a:lnTo>
                  <a:pt x="2509611" y="1713822"/>
                </a:lnTo>
                <a:lnTo>
                  <a:pt x="2509385" y="1717428"/>
                </a:lnTo>
                <a:lnTo>
                  <a:pt x="2508704" y="1721485"/>
                </a:lnTo>
                <a:lnTo>
                  <a:pt x="2508024" y="1725317"/>
                </a:lnTo>
                <a:lnTo>
                  <a:pt x="2507117" y="1729148"/>
                </a:lnTo>
                <a:lnTo>
                  <a:pt x="2505983" y="1732755"/>
                </a:lnTo>
                <a:lnTo>
                  <a:pt x="2504623" y="1736361"/>
                </a:lnTo>
                <a:lnTo>
                  <a:pt x="2503035" y="1740193"/>
                </a:lnTo>
                <a:lnTo>
                  <a:pt x="2501448" y="1743348"/>
                </a:lnTo>
                <a:lnTo>
                  <a:pt x="2499407" y="1746955"/>
                </a:lnTo>
                <a:lnTo>
                  <a:pt x="2497366" y="1750110"/>
                </a:lnTo>
                <a:lnTo>
                  <a:pt x="2495552" y="1753040"/>
                </a:lnTo>
                <a:lnTo>
                  <a:pt x="2492831" y="1756421"/>
                </a:lnTo>
                <a:lnTo>
                  <a:pt x="2490336" y="1759126"/>
                </a:lnTo>
                <a:lnTo>
                  <a:pt x="2487842" y="1762282"/>
                </a:lnTo>
                <a:lnTo>
                  <a:pt x="2485121" y="1764761"/>
                </a:lnTo>
                <a:lnTo>
                  <a:pt x="2482173" y="1767466"/>
                </a:lnTo>
                <a:lnTo>
                  <a:pt x="2478998" y="1769720"/>
                </a:lnTo>
                <a:lnTo>
                  <a:pt x="2476050" y="1772199"/>
                </a:lnTo>
                <a:lnTo>
                  <a:pt x="2472422" y="1774228"/>
                </a:lnTo>
                <a:lnTo>
                  <a:pt x="2469247" y="1776256"/>
                </a:lnTo>
                <a:lnTo>
                  <a:pt x="2465619" y="1778285"/>
                </a:lnTo>
                <a:lnTo>
                  <a:pt x="2462217" y="1780088"/>
                </a:lnTo>
                <a:lnTo>
                  <a:pt x="2458362" y="1781440"/>
                </a:lnTo>
                <a:lnTo>
                  <a:pt x="2454507" y="1782793"/>
                </a:lnTo>
                <a:lnTo>
                  <a:pt x="2450426" y="1783920"/>
                </a:lnTo>
                <a:lnTo>
                  <a:pt x="2446571" y="1785272"/>
                </a:lnTo>
                <a:lnTo>
                  <a:pt x="2442489" y="1785948"/>
                </a:lnTo>
                <a:lnTo>
                  <a:pt x="2438407" y="1786850"/>
                </a:lnTo>
                <a:lnTo>
                  <a:pt x="2434099" y="1787301"/>
                </a:lnTo>
                <a:lnTo>
                  <a:pt x="2429790" y="1787526"/>
                </a:lnTo>
                <a:lnTo>
                  <a:pt x="2425481" y="1787526"/>
                </a:lnTo>
                <a:lnTo>
                  <a:pt x="84357" y="1787526"/>
                </a:lnTo>
                <a:lnTo>
                  <a:pt x="80048" y="1787526"/>
                </a:lnTo>
                <a:lnTo>
                  <a:pt x="75740" y="1787301"/>
                </a:lnTo>
                <a:lnTo>
                  <a:pt x="71431" y="1786850"/>
                </a:lnTo>
                <a:lnTo>
                  <a:pt x="67349" y="1785948"/>
                </a:lnTo>
                <a:lnTo>
                  <a:pt x="63494" y="1785272"/>
                </a:lnTo>
                <a:lnTo>
                  <a:pt x="59413" y="1783920"/>
                </a:lnTo>
                <a:lnTo>
                  <a:pt x="55558" y="1782793"/>
                </a:lnTo>
                <a:lnTo>
                  <a:pt x="51476" y="1781440"/>
                </a:lnTo>
                <a:lnTo>
                  <a:pt x="48074" y="1780088"/>
                </a:lnTo>
                <a:lnTo>
                  <a:pt x="44219" y="1778285"/>
                </a:lnTo>
                <a:lnTo>
                  <a:pt x="40591" y="1776256"/>
                </a:lnTo>
                <a:lnTo>
                  <a:pt x="37416" y="1774228"/>
                </a:lnTo>
                <a:lnTo>
                  <a:pt x="33788" y="1772199"/>
                </a:lnTo>
                <a:lnTo>
                  <a:pt x="30840" y="1769720"/>
                </a:lnTo>
                <a:lnTo>
                  <a:pt x="27892" y="1767466"/>
                </a:lnTo>
                <a:lnTo>
                  <a:pt x="24717" y="1764761"/>
                </a:lnTo>
                <a:lnTo>
                  <a:pt x="21996" y="1762282"/>
                </a:lnTo>
                <a:lnTo>
                  <a:pt x="19502" y="1759126"/>
                </a:lnTo>
                <a:lnTo>
                  <a:pt x="17007" y="1756421"/>
                </a:lnTo>
                <a:lnTo>
                  <a:pt x="14513" y="1753040"/>
                </a:lnTo>
                <a:lnTo>
                  <a:pt x="12472" y="1750110"/>
                </a:lnTo>
                <a:lnTo>
                  <a:pt x="10431" y="1746955"/>
                </a:lnTo>
                <a:lnTo>
                  <a:pt x="8390" y="1743348"/>
                </a:lnTo>
                <a:lnTo>
                  <a:pt x="6803" y="1740193"/>
                </a:lnTo>
                <a:lnTo>
                  <a:pt x="5442" y="1736361"/>
                </a:lnTo>
                <a:lnTo>
                  <a:pt x="3855" y="1732755"/>
                </a:lnTo>
                <a:lnTo>
                  <a:pt x="2948" y="1729148"/>
                </a:lnTo>
                <a:lnTo>
                  <a:pt x="1814" y="1725317"/>
                </a:lnTo>
                <a:lnTo>
                  <a:pt x="1134" y="1721485"/>
                </a:lnTo>
                <a:lnTo>
                  <a:pt x="680" y="1717428"/>
                </a:lnTo>
                <a:lnTo>
                  <a:pt x="227" y="1713822"/>
                </a:lnTo>
                <a:lnTo>
                  <a:pt x="0" y="1709764"/>
                </a:lnTo>
                <a:lnTo>
                  <a:pt x="0" y="1644625"/>
                </a:lnTo>
                <a:lnTo>
                  <a:pt x="227" y="1640568"/>
                </a:lnTo>
                <a:lnTo>
                  <a:pt x="680" y="1636736"/>
                </a:lnTo>
                <a:lnTo>
                  <a:pt x="1134" y="1632679"/>
                </a:lnTo>
                <a:lnTo>
                  <a:pt x="1814" y="1629073"/>
                </a:lnTo>
                <a:lnTo>
                  <a:pt x="2948" y="1625241"/>
                </a:lnTo>
                <a:lnTo>
                  <a:pt x="3855" y="1621409"/>
                </a:lnTo>
                <a:lnTo>
                  <a:pt x="5442" y="1618028"/>
                </a:lnTo>
                <a:lnTo>
                  <a:pt x="6803" y="1614196"/>
                </a:lnTo>
                <a:lnTo>
                  <a:pt x="8390" y="1610815"/>
                </a:lnTo>
                <a:lnTo>
                  <a:pt x="10431" y="1607434"/>
                </a:lnTo>
                <a:lnTo>
                  <a:pt x="12472" y="1604054"/>
                </a:lnTo>
                <a:lnTo>
                  <a:pt x="14513" y="1601123"/>
                </a:lnTo>
                <a:lnTo>
                  <a:pt x="17007" y="1597968"/>
                </a:lnTo>
                <a:lnTo>
                  <a:pt x="19502" y="1595038"/>
                </a:lnTo>
                <a:lnTo>
                  <a:pt x="21996" y="1592108"/>
                </a:lnTo>
                <a:lnTo>
                  <a:pt x="24717" y="1589628"/>
                </a:lnTo>
                <a:lnTo>
                  <a:pt x="27892" y="1586923"/>
                </a:lnTo>
                <a:lnTo>
                  <a:pt x="30840" y="1584669"/>
                </a:lnTo>
                <a:lnTo>
                  <a:pt x="33788" y="1581965"/>
                </a:lnTo>
                <a:lnTo>
                  <a:pt x="37416" y="1580162"/>
                </a:lnTo>
                <a:lnTo>
                  <a:pt x="40591" y="1578133"/>
                </a:lnTo>
                <a:lnTo>
                  <a:pt x="44219" y="1576104"/>
                </a:lnTo>
                <a:lnTo>
                  <a:pt x="48074" y="1574301"/>
                </a:lnTo>
                <a:lnTo>
                  <a:pt x="51476" y="1572723"/>
                </a:lnTo>
                <a:lnTo>
                  <a:pt x="55558" y="1571596"/>
                </a:lnTo>
                <a:lnTo>
                  <a:pt x="59413" y="1570244"/>
                </a:lnTo>
                <a:lnTo>
                  <a:pt x="63494" y="1569117"/>
                </a:lnTo>
                <a:lnTo>
                  <a:pt x="67349" y="1568216"/>
                </a:lnTo>
                <a:lnTo>
                  <a:pt x="71431" y="1567539"/>
                </a:lnTo>
                <a:lnTo>
                  <a:pt x="75740" y="1567089"/>
                </a:lnTo>
                <a:lnTo>
                  <a:pt x="80048" y="1566863"/>
                </a:lnTo>
                <a:close/>
                <a:moveTo>
                  <a:pt x="837043" y="738188"/>
                </a:moveTo>
                <a:lnTo>
                  <a:pt x="839735" y="738188"/>
                </a:lnTo>
                <a:lnTo>
                  <a:pt x="912639" y="738188"/>
                </a:lnTo>
                <a:lnTo>
                  <a:pt x="915107" y="738188"/>
                </a:lnTo>
                <a:lnTo>
                  <a:pt x="917575" y="738870"/>
                </a:lnTo>
                <a:lnTo>
                  <a:pt x="920042" y="739324"/>
                </a:lnTo>
                <a:lnTo>
                  <a:pt x="922285" y="740232"/>
                </a:lnTo>
                <a:lnTo>
                  <a:pt x="924529" y="741368"/>
                </a:lnTo>
                <a:lnTo>
                  <a:pt x="926772" y="742504"/>
                </a:lnTo>
                <a:lnTo>
                  <a:pt x="928791" y="743867"/>
                </a:lnTo>
                <a:lnTo>
                  <a:pt x="930585" y="745684"/>
                </a:lnTo>
                <a:lnTo>
                  <a:pt x="932155" y="747047"/>
                </a:lnTo>
                <a:lnTo>
                  <a:pt x="933501" y="749091"/>
                </a:lnTo>
                <a:lnTo>
                  <a:pt x="934847" y="751135"/>
                </a:lnTo>
                <a:lnTo>
                  <a:pt x="936193" y="753407"/>
                </a:lnTo>
                <a:lnTo>
                  <a:pt x="936866" y="755678"/>
                </a:lnTo>
                <a:lnTo>
                  <a:pt x="937315" y="757950"/>
                </a:lnTo>
                <a:lnTo>
                  <a:pt x="937763" y="760448"/>
                </a:lnTo>
                <a:lnTo>
                  <a:pt x="938212" y="762947"/>
                </a:lnTo>
                <a:lnTo>
                  <a:pt x="938212" y="1145229"/>
                </a:lnTo>
                <a:lnTo>
                  <a:pt x="937763" y="1147728"/>
                </a:lnTo>
                <a:lnTo>
                  <a:pt x="937315" y="1150227"/>
                </a:lnTo>
                <a:lnTo>
                  <a:pt x="936866" y="1152498"/>
                </a:lnTo>
                <a:lnTo>
                  <a:pt x="936193" y="1154770"/>
                </a:lnTo>
                <a:lnTo>
                  <a:pt x="934847" y="1157041"/>
                </a:lnTo>
                <a:lnTo>
                  <a:pt x="933501" y="1159085"/>
                </a:lnTo>
                <a:lnTo>
                  <a:pt x="932155" y="1160902"/>
                </a:lnTo>
                <a:lnTo>
                  <a:pt x="930585" y="1162720"/>
                </a:lnTo>
                <a:lnTo>
                  <a:pt x="928791" y="1164537"/>
                </a:lnTo>
                <a:lnTo>
                  <a:pt x="926772" y="1165672"/>
                </a:lnTo>
                <a:lnTo>
                  <a:pt x="924529" y="1167035"/>
                </a:lnTo>
                <a:lnTo>
                  <a:pt x="922285" y="1167944"/>
                </a:lnTo>
                <a:lnTo>
                  <a:pt x="920042" y="1168852"/>
                </a:lnTo>
                <a:lnTo>
                  <a:pt x="917575" y="1169534"/>
                </a:lnTo>
                <a:lnTo>
                  <a:pt x="915107" y="1169761"/>
                </a:lnTo>
                <a:lnTo>
                  <a:pt x="912639" y="1169988"/>
                </a:lnTo>
                <a:lnTo>
                  <a:pt x="839735" y="1169988"/>
                </a:lnTo>
                <a:lnTo>
                  <a:pt x="837043" y="1169761"/>
                </a:lnTo>
                <a:lnTo>
                  <a:pt x="834576" y="1169534"/>
                </a:lnTo>
                <a:lnTo>
                  <a:pt x="832108" y="1168852"/>
                </a:lnTo>
                <a:lnTo>
                  <a:pt x="829865" y="1167944"/>
                </a:lnTo>
                <a:lnTo>
                  <a:pt x="827622" y="1167035"/>
                </a:lnTo>
                <a:lnTo>
                  <a:pt x="825603" y="1165672"/>
                </a:lnTo>
                <a:lnTo>
                  <a:pt x="823584" y="1164537"/>
                </a:lnTo>
                <a:lnTo>
                  <a:pt x="821790" y="1162720"/>
                </a:lnTo>
                <a:lnTo>
                  <a:pt x="819995" y="1160902"/>
                </a:lnTo>
                <a:lnTo>
                  <a:pt x="818649" y="1159085"/>
                </a:lnTo>
                <a:lnTo>
                  <a:pt x="817303" y="1157041"/>
                </a:lnTo>
                <a:lnTo>
                  <a:pt x="816406" y="1154770"/>
                </a:lnTo>
                <a:lnTo>
                  <a:pt x="815284" y="1152498"/>
                </a:lnTo>
                <a:lnTo>
                  <a:pt x="814836" y="1150227"/>
                </a:lnTo>
                <a:lnTo>
                  <a:pt x="814387" y="1147728"/>
                </a:lnTo>
                <a:lnTo>
                  <a:pt x="814387" y="1145229"/>
                </a:lnTo>
                <a:lnTo>
                  <a:pt x="814387" y="762947"/>
                </a:lnTo>
                <a:lnTo>
                  <a:pt x="814387" y="760448"/>
                </a:lnTo>
                <a:lnTo>
                  <a:pt x="814836" y="757950"/>
                </a:lnTo>
                <a:lnTo>
                  <a:pt x="815284" y="755678"/>
                </a:lnTo>
                <a:lnTo>
                  <a:pt x="816406" y="753407"/>
                </a:lnTo>
                <a:lnTo>
                  <a:pt x="817303" y="751135"/>
                </a:lnTo>
                <a:lnTo>
                  <a:pt x="818649" y="749091"/>
                </a:lnTo>
                <a:lnTo>
                  <a:pt x="819995" y="747047"/>
                </a:lnTo>
                <a:lnTo>
                  <a:pt x="821790" y="745684"/>
                </a:lnTo>
                <a:lnTo>
                  <a:pt x="823584" y="743867"/>
                </a:lnTo>
                <a:lnTo>
                  <a:pt x="825603" y="742504"/>
                </a:lnTo>
                <a:lnTo>
                  <a:pt x="827622" y="741368"/>
                </a:lnTo>
                <a:lnTo>
                  <a:pt x="829865" y="740232"/>
                </a:lnTo>
                <a:lnTo>
                  <a:pt x="832108" y="739324"/>
                </a:lnTo>
                <a:lnTo>
                  <a:pt x="834576" y="738870"/>
                </a:lnTo>
                <a:lnTo>
                  <a:pt x="837043" y="738188"/>
                </a:lnTo>
                <a:close/>
                <a:moveTo>
                  <a:pt x="1318322" y="671513"/>
                </a:moveTo>
                <a:lnTo>
                  <a:pt x="1320794" y="671513"/>
                </a:lnTo>
                <a:lnTo>
                  <a:pt x="1394056" y="671513"/>
                </a:lnTo>
                <a:lnTo>
                  <a:pt x="1396528" y="671513"/>
                </a:lnTo>
                <a:lnTo>
                  <a:pt x="1399000" y="671966"/>
                </a:lnTo>
                <a:lnTo>
                  <a:pt x="1401472" y="672873"/>
                </a:lnTo>
                <a:lnTo>
                  <a:pt x="1403719" y="673553"/>
                </a:lnTo>
                <a:lnTo>
                  <a:pt x="1405966" y="674913"/>
                </a:lnTo>
                <a:lnTo>
                  <a:pt x="1408213" y="676273"/>
                </a:lnTo>
                <a:lnTo>
                  <a:pt x="1410011" y="677860"/>
                </a:lnTo>
                <a:lnTo>
                  <a:pt x="1412034" y="679900"/>
                </a:lnTo>
                <a:lnTo>
                  <a:pt x="1413607" y="681941"/>
                </a:lnTo>
                <a:lnTo>
                  <a:pt x="1414955" y="683981"/>
                </a:lnTo>
                <a:lnTo>
                  <a:pt x="1416304" y="686474"/>
                </a:lnTo>
                <a:lnTo>
                  <a:pt x="1417203" y="688968"/>
                </a:lnTo>
                <a:lnTo>
                  <a:pt x="1418326" y="691461"/>
                </a:lnTo>
                <a:lnTo>
                  <a:pt x="1418776" y="694181"/>
                </a:lnTo>
                <a:lnTo>
                  <a:pt x="1419225" y="696902"/>
                </a:lnTo>
                <a:lnTo>
                  <a:pt x="1419225" y="699848"/>
                </a:lnTo>
                <a:lnTo>
                  <a:pt x="1419225" y="1141426"/>
                </a:lnTo>
                <a:lnTo>
                  <a:pt x="1419225" y="1144373"/>
                </a:lnTo>
                <a:lnTo>
                  <a:pt x="1418776" y="1147320"/>
                </a:lnTo>
                <a:lnTo>
                  <a:pt x="1418326" y="1149813"/>
                </a:lnTo>
                <a:lnTo>
                  <a:pt x="1417203" y="1152534"/>
                </a:lnTo>
                <a:lnTo>
                  <a:pt x="1416304" y="1155254"/>
                </a:lnTo>
                <a:lnTo>
                  <a:pt x="1414955" y="1157521"/>
                </a:lnTo>
                <a:lnTo>
                  <a:pt x="1413607" y="1159787"/>
                </a:lnTo>
                <a:lnTo>
                  <a:pt x="1412034" y="1161601"/>
                </a:lnTo>
                <a:lnTo>
                  <a:pt x="1410011" y="1163414"/>
                </a:lnTo>
                <a:lnTo>
                  <a:pt x="1408213" y="1165228"/>
                </a:lnTo>
                <a:lnTo>
                  <a:pt x="1405966" y="1166588"/>
                </a:lnTo>
                <a:lnTo>
                  <a:pt x="1403719" y="1167721"/>
                </a:lnTo>
                <a:lnTo>
                  <a:pt x="1401472" y="1168855"/>
                </a:lnTo>
                <a:lnTo>
                  <a:pt x="1399000" y="1169535"/>
                </a:lnTo>
                <a:lnTo>
                  <a:pt x="1396528" y="1169761"/>
                </a:lnTo>
                <a:lnTo>
                  <a:pt x="1394056" y="1169988"/>
                </a:lnTo>
                <a:lnTo>
                  <a:pt x="1320794" y="1169988"/>
                </a:lnTo>
                <a:lnTo>
                  <a:pt x="1318322" y="1169761"/>
                </a:lnTo>
                <a:lnTo>
                  <a:pt x="1315850" y="1169535"/>
                </a:lnTo>
                <a:lnTo>
                  <a:pt x="1313154" y="1168855"/>
                </a:lnTo>
                <a:lnTo>
                  <a:pt x="1310906" y="1167721"/>
                </a:lnTo>
                <a:lnTo>
                  <a:pt x="1308659" y="1166588"/>
                </a:lnTo>
                <a:lnTo>
                  <a:pt x="1306861" y="1165228"/>
                </a:lnTo>
                <a:lnTo>
                  <a:pt x="1304839" y="1163414"/>
                </a:lnTo>
                <a:lnTo>
                  <a:pt x="1303041" y="1161601"/>
                </a:lnTo>
                <a:lnTo>
                  <a:pt x="1301243" y="1159787"/>
                </a:lnTo>
                <a:lnTo>
                  <a:pt x="1299670" y="1157521"/>
                </a:lnTo>
                <a:lnTo>
                  <a:pt x="1298546" y="1155254"/>
                </a:lnTo>
                <a:lnTo>
                  <a:pt x="1297423" y="1152534"/>
                </a:lnTo>
                <a:lnTo>
                  <a:pt x="1296524" y="1149813"/>
                </a:lnTo>
                <a:lnTo>
                  <a:pt x="1296074" y="1147320"/>
                </a:lnTo>
                <a:lnTo>
                  <a:pt x="1295400" y="1144373"/>
                </a:lnTo>
                <a:lnTo>
                  <a:pt x="1295400" y="1141426"/>
                </a:lnTo>
                <a:lnTo>
                  <a:pt x="1295400" y="699848"/>
                </a:lnTo>
                <a:lnTo>
                  <a:pt x="1295400" y="696902"/>
                </a:lnTo>
                <a:lnTo>
                  <a:pt x="1296074" y="694181"/>
                </a:lnTo>
                <a:lnTo>
                  <a:pt x="1296524" y="691461"/>
                </a:lnTo>
                <a:lnTo>
                  <a:pt x="1297423" y="688968"/>
                </a:lnTo>
                <a:lnTo>
                  <a:pt x="1298546" y="686474"/>
                </a:lnTo>
                <a:lnTo>
                  <a:pt x="1299670" y="683981"/>
                </a:lnTo>
                <a:lnTo>
                  <a:pt x="1301243" y="681941"/>
                </a:lnTo>
                <a:lnTo>
                  <a:pt x="1303041" y="679900"/>
                </a:lnTo>
                <a:lnTo>
                  <a:pt x="1304839" y="677860"/>
                </a:lnTo>
                <a:lnTo>
                  <a:pt x="1306861" y="676273"/>
                </a:lnTo>
                <a:lnTo>
                  <a:pt x="1308659" y="674913"/>
                </a:lnTo>
                <a:lnTo>
                  <a:pt x="1310906" y="673553"/>
                </a:lnTo>
                <a:lnTo>
                  <a:pt x="1313154" y="672873"/>
                </a:lnTo>
                <a:lnTo>
                  <a:pt x="1315850" y="671966"/>
                </a:lnTo>
                <a:lnTo>
                  <a:pt x="1318322" y="671513"/>
                </a:lnTo>
                <a:close/>
                <a:moveTo>
                  <a:pt x="988416" y="671513"/>
                </a:moveTo>
                <a:lnTo>
                  <a:pt x="990920" y="671513"/>
                </a:lnTo>
                <a:lnTo>
                  <a:pt x="1065121" y="671513"/>
                </a:lnTo>
                <a:lnTo>
                  <a:pt x="1067624" y="671513"/>
                </a:lnTo>
                <a:lnTo>
                  <a:pt x="1070128" y="671966"/>
                </a:lnTo>
                <a:lnTo>
                  <a:pt x="1072632" y="672873"/>
                </a:lnTo>
                <a:lnTo>
                  <a:pt x="1074908" y="673553"/>
                </a:lnTo>
                <a:lnTo>
                  <a:pt x="1077184" y="674913"/>
                </a:lnTo>
                <a:lnTo>
                  <a:pt x="1079460" y="676273"/>
                </a:lnTo>
                <a:lnTo>
                  <a:pt x="1081281" y="677860"/>
                </a:lnTo>
                <a:lnTo>
                  <a:pt x="1083330" y="679900"/>
                </a:lnTo>
                <a:lnTo>
                  <a:pt x="1084923" y="681941"/>
                </a:lnTo>
                <a:lnTo>
                  <a:pt x="1086288" y="683981"/>
                </a:lnTo>
                <a:lnTo>
                  <a:pt x="1087654" y="686474"/>
                </a:lnTo>
                <a:lnTo>
                  <a:pt x="1088565" y="688968"/>
                </a:lnTo>
                <a:lnTo>
                  <a:pt x="1089703" y="691461"/>
                </a:lnTo>
                <a:lnTo>
                  <a:pt x="1090158" y="694181"/>
                </a:lnTo>
                <a:lnTo>
                  <a:pt x="1090613" y="696902"/>
                </a:lnTo>
                <a:lnTo>
                  <a:pt x="1090613" y="699848"/>
                </a:lnTo>
                <a:lnTo>
                  <a:pt x="1090613" y="1141426"/>
                </a:lnTo>
                <a:lnTo>
                  <a:pt x="1090613" y="1144373"/>
                </a:lnTo>
                <a:lnTo>
                  <a:pt x="1090158" y="1147320"/>
                </a:lnTo>
                <a:lnTo>
                  <a:pt x="1089703" y="1149813"/>
                </a:lnTo>
                <a:lnTo>
                  <a:pt x="1088565" y="1152534"/>
                </a:lnTo>
                <a:lnTo>
                  <a:pt x="1087654" y="1155254"/>
                </a:lnTo>
                <a:lnTo>
                  <a:pt x="1086288" y="1157521"/>
                </a:lnTo>
                <a:lnTo>
                  <a:pt x="1084923" y="1159787"/>
                </a:lnTo>
                <a:lnTo>
                  <a:pt x="1083330" y="1161601"/>
                </a:lnTo>
                <a:lnTo>
                  <a:pt x="1081281" y="1163414"/>
                </a:lnTo>
                <a:lnTo>
                  <a:pt x="1079460" y="1165228"/>
                </a:lnTo>
                <a:lnTo>
                  <a:pt x="1077184" y="1166588"/>
                </a:lnTo>
                <a:lnTo>
                  <a:pt x="1074908" y="1167721"/>
                </a:lnTo>
                <a:lnTo>
                  <a:pt x="1072632" y="1168855"/>
                </a:lnTo>
                <a:lnTo>
                  <a:pt x="1070128" y="1169535"/>
                </a:lnTo>
                <a:lnTo>
                  <a:pt x="1067624" y="1169761"/>
                </a:lnTo>
                <a:lnTo>
                  <a:pt x="1065121" y="1169988"/>
                </a:lnTo>
                <a:lnTo>
                  <a:pt x="990920" y="1169988"/>
                </a:lnTo>
                <a:lnTo>
                  <a:pt x="988416" y="1169761"/>
                </a:lnTo>
                <a:lnTo>
                  <a:pt x="985685" y="1169535"/>
                </a:lnTo>
                <a:lnTo>
                  <a:pt x="983181" y="1168855"/>
                </a:lnTo>
                <a:lnTo>
                  <a:pt x="980905" y="1167721"/>
                </a:lnTo>
                <a:lnTo>
                  <a:pt x="978629" y="1166588"/>
                </a:lnTo>
                <a:lnTo>
                  <a:pt x="976581" y="1165228"/>
                </a:lnTo>
                <a:lnTo>
                  <a:pt x="974532" y="1163414"/>
                </a:lnTo>
                <a:lnTo>
                  <a:pt x="972939" y="1161601"/>
                </a:lnTo>
                <a:lnTo>
                  <a:pt x="971118" y="1159787"/>
                </a:lnTo>
                <a:lnTo>
                  <a:pt x="969525" y="1157521"/>
                </a:lnTo>
                <a:lnTo>
                  <a:pt x="968387" y="1155254"/>
                </a:lnTo>
                <a:lnTo>
                  <a:pt x="967249" y="1152534"/>
                </a:lnTo>
                <a:lnTo>
                  <a:pt x="966338" y="1149813"/>
                </a:lnTo>
                <a:lnTo>
                  <a:pt x="965883" y="1147320"/>
                </a:lnTo>
                <a:lnTo>
                  <a:pt x="965200" y="1144373"/>
                </a:lnTo>
                <a:lnTo>
                  <a:pt x="965200" y="1141426"/>
                </a:lnTo>
                <a:lnTo>
                  <a:pt x="965200" y="699848"/>
                </a:lnTo>
                <a:lnTo>
                  <a:pt x="965200" y="696902"/>
                </a:lnTo>
                <a:lnTo>
                  <a:pt x="965883" y="694181"/>
                </a:lnTo>
                <a:lnTo>
                  <a:pt x="966338" y="691461"/>
                </a:lnTo>
                <a:lnTo>
                  <a:pt x="967249" y="688968"/>
                </a:lnTo>
                <a:lnTo>
                  <a:pt x="968387" y="686474"/>
                </a:lnTo>
                <a:lnTo>
                  <a:pt x="969525" y="683981"/>
                </a:lnTo>
                <a:lnTo>
                  <a:pt x="971118" y="681941"/>
                </a:lnTo>
                <a:lnTo>
                  <a:pt x="972939" y="679900"/>
                </a:lnTo>
                <a:lnTo>
                  <a:pt x="974532" y="677860"/>
                </a:lnTo>
                <a:lnTo>
                  <a:pt x="976581" y="676273"/>
                </a:lnTo>
                <a:lnTo>
                  <a:pt x="978629" y="674913"/>
                </a:lnTo>
                <a:lnTo>
                  <a:pt x="980905" y="673553"/>
                </a:lnTo>
                <a:lnTo>
                  <a:pt x="983181" y="672873"/>
                </a:lnTo>
                <a:lnTo>
                  <a:pt x="985685" y="671966"/>
                </a:lnTo>
                <a:lnTo>
                  <a:pt x="988416" y="671513"/>
                </a:lnTo>
                <a:close/>
                <a:moveTo>
                  <a:pt x="1471932" y="590550"/>
                </a:moveTo>
                <a:lnTo>
                  <a:pt x="1546133" y="590550"/>
                </a:lnTo>
                <a:lnTo>
                  <a:pt x="1548636" y="590777"/>
                </a:lnTo>
                <a:lnTo>
                  <a:pt x="1551140" y="591231"/>
                </a:lnTo>
                <a:lnTo>
                  <a:pt x="1553644" y="592139"/>
                </a:lnTo>
                <a:lnTo>
                  <a:pt x="1555920" y="593274"/>
                </a:lnTo>
                <a:lnTo>
                  <a:pt x="1558196" y="594635"/>
                </a:lnTo>
                <a:lnTo>
                  <a:pt x="1560472" y="596451"/>
                </a:lnTo>
                <a:lnTo>
                  <a:pt x="1562293" y="598267"/>
                </a:lnTo>
                <a:lnTo>
                  <a:pt x="1564342" y="600537"/>
                </a:lnTo>
                <a:lnTo>
                  <a:pt x="1565707" y="602806"/>
                </a:lnTo>
                <a:lnTo>
                  <a:pt x="1567300" y="605303"/>
                </a:lnTo>
                <a:lnTo>
                  <a:pt x="1568666" y="608026"/>
                </a:lnTo>
                <a:lnTo>
                  <a:pt x="1569577" y="610750"/>
                </a:lnTo>
                <a:lnTo>
                  <a:pt x="1570487" y="613927"/>
                </a:lnTo>
                <a:lnTo>
                  <a:pt x="1571170" y="617105"/>
                </a:lnTo>
                <a:lnTo>
                  <a:pt x="1571625" y="620282"/>
                </a:lnTo>
                <a:lnTo>
                  <a:pt x="1571625" y="623687"/>
                </a:lnTo>
                <a:lnTo>
                  <a:pt x="1571625" y="1136851"/>
                </a:lnTo>
                <a:lnTo>
                  <a:pt x="1571625" y="1140256"/>
                </a:lnTo>
                <a:lnTo>
                  <a:pt x="1571170" y="1143433"/>
                </a:lnTo>
                <a:lnTo>
                  <a:pt x="1570487" y="1146838"/>
                </a:lnTo>
                <a:lnTo>
                  <a:pt x="1569577" y="1149788"/>
                </a:lnTo>
                <a:lnTo>
                  <a:pt x="1568666" y="1152512"/>
                </a:lnTo>
                <a:lnTo>
                  <a:pt x="1567300" y="1155462"/>
                </a:lnTo>
                <a:lnTo>
                  <a:pt x="1565707" y="1157959"/>
                </a:lnTo>
                <a:lnTo>
                  <a:pt x="1564342" y="1160229"/>
                </a:lnTo>
                <a:lnTo>
                  <a:pt x="1562293" y="1162498"/>
                </a:lnTo>
                <a:lnTo>
                  <a:pt x="1560472" y="1164314"/>
                </a:lnTo>
                <a:lnTo>
                  <a:pt x="1558196" y="1165903"/>
                </a:lnTo>
                <a:lnTo>
                  <a:pt x="1555920" y="1167492"/>
                </a:lnTo>
                <a:lnTo>
                  <a:pt x="1553644" y="1168399"/>
                </a:lnTo>
                <a:lnTo>
                  <a:pt x="1551140" y="1169307"/>
                </a:lnTo>
                <a:lnTo>
                  <a:pt x="1548636" y="1169761"/>
                </a:lnTo>
                <a:lnTo>
                  <a:pt x="1546133" y="1169988"/>
                </a:lnTo>
                <a:lnTo>
                  <a:pt x="1471932" y="1169988"/>
                </a:lnTo>
                <a:lnTo>
                  <a:pt x="1469201" y="1169761"/>
                </a:lnTo>
                <a:lnTo>
                  <a:pt x="1466697" y="1169307"/>
                </a:lnTo>
                <a:lnTo>
                  <a:pt x="1464193" y="1168399"/>
                </a:lnTo>
                <a:lnTo>
                  <a:pt x="1461917" y="1167492"/>
                </a:lnTo>
                <a:lnTo>
                  <a:pt x="1459641" y="1165903"/>
                </a:lnTo>
                <a:lnTo>
                  <a:pt x="1457593" y="1164314"/>
                </a:lnTo>
                <a:lnTo>
                  <a:pt x="1455544" y="1162498"/>
                </a:lnTo>
                <a:lnTo>
                  <a:pt x="1453496" y="1160229"/>
                </a:lnTo>
                <a:lnTo>
                  <a:pt x="1452130" y="1157959"/>
                </a:lnTo>
                <a:lnTo>
                  <a:pt x="1450537" y="1155462"/>
                </a:lnTo>
                <a:lnTo>
                  <a:pt x="1449399" y="1152512"/>
                </a:lnTo>
                <a:lnTo>
                  <a:pt x="1448261" y="1149788"/>
                </a:lnTo>
                <a:lnTo>
                  <a:pt x="1447350" y="1146838"/>
                </a:lnTo>
                <a:lnTo>
                  <a:pt x="1446667" y="1143433"/>
                </a:lnTo>
                <a:lnTo>
                  <a:pt x="1446212" y="1140256"/>
                </a:lnTo>
                <a:lnTo>
                  <a:pt x="1446212" y="1136851"/>
                </a:lnTo>
                <a:lnTo>
                  <a:pt x="1446212" y="623687"/>
                </a:lnTo>
                <a:lnTo>
                  <a:pt x="1446212" y="620282"/>
                </a:lnTo>
                <a:lnTo>
                  <a:pt x="1446667" y="617105"/>
                </a:lnTo>
                <a:lnTo>
                  <a:pt x="1447350" y="613927"/>
                </a:lnTo>
                <a:lnTo>
                  <a:pt x="1448261" y="610750"/>
                </a:lnTo>
                <a:lnTo>
                  <a:pt x="1449399" y="608026"/>
                </a:lnTo>
                <a:lnTo>
                  <a:pt x="1450537" y="605303"/>
                </a:lnTo>
                <a:lnTo>
                  <a:pt x="1452130" y="602806"/>
                </a:lnTo>
                <a:lnTo>
                  <a:pt x="1453496" y="600537"/>
                </a:lnTo>
                <a:lnTo>
                  <a:pt x="1455544" y="598267"/>
                </a:lnTo>
                <a:lnTo>
                  <a:pt x="1457593" y="596451"/>
                </a:lnTo>
                <a:lnTo>
                  <a:pt x="1459641" y="594635"/>
                </a:lnTo>
                <a:lnTo>
                  <a:pt x="1461917" y="593274"/>
                </a:lnTo>
                <a:lnTo>
                  <a:pt x="1464193" y="592139"/>
                </a:lnTo>
                <a:lnTo>
                  <a:pt x="1466697" y="591231"/>
                </a:lnTo>
                <a:lnTo>
                  <a:pt x="1469201" y="590777"/>
                </a:lnTo>
                <a:lnTo>
                  <a:pt x="1471932" y="590550"/>
                </a:lnTo>
                <a:close/>
                <a:moveTo>
                  <a:pt x="1152617" y="590550"/>
                </a:moveTo>
                <a:lnTo>
                  <a:pt x="1226818" y="590550"/>
                </a:lnTo>
                <a:lnTo>
                  <a:pt x="1229322" y="590777"/>
                </a:lnTo>
                <a:lnTo>
                  <a:pt x="1232053" y="591231"/>
                </a:lnTo>
                <a:lnTo>
                  <a:pt x="1234557" y="592139"/>
                </a:lnTo>
                <a:lnTo>
                  <a:pt x="1236833" y="593274"/>
                </a:lnTo>
                <a:lnTo>
                  <a:pt x="1239109" y="594635"/>
                </a:lnTo>
                <a:lnTo>
                  <a:pt x="1241158" y="596451"/>
                </a:lnTo>
                <a:lnTo>
                  <a:pt x="1242978" y="598267"/>
                </a:lnTo>
                <a:lnTo>
                  <a:pt x="1244799" y="600537"/>
                </a:lnTo>
                <a:lnTo>
                  <a:pt x="1246620" y="602806"/>
                </a:lnTo>
                <a:lnTo>
                  <a:pt x="1248213" y="605303"/>
                </a:lnTo>
                <a:lnTo>
                  <a:pt x="1249352" y="608026"/>
                </a:lnTo>
                <a:lnTo>
                  <a:pt x="1250490" y="610750"/>
                </a:lnTo>
                <a:lnTo>
                  <a:pt x="1251400" y="613927"/>
                </a:lnTo>
                <a:lnTo>
                  <a:pt x="1251855" y="617105"/>
                </a:lnTo>
                <a:lnTo>
                  <a:pt x="1252538" y="620282"/>
                </a:lnTo>
                <a:lnTo>
                  <a:pt x="1252538" y="623687"/>
                </a:lnTo>
                <a:lnTo>
                  <a:pt x="1252538" y="1136851"/>
                </a:lnTo>
                <a:lnTo>
                  <a:pt x="1252538" y="1140256"/>
                </a:lnTo>
                <a:lnTo>
                  <a:pt x="1251855" y="1143433"/>
                </a:lnTo>
                <a:lnTo>
                  <a:pt x="1251400" y="1146838"/>
                </a:lnTo>
                <a:lnTo>
                  <a:pt x="1250490" y="1149788"/>
                </a:lnTo>
                <a:lnTo>
                  <a:pt x="1249352" y="1152512"/>
                </a:lnTo>
                <a:lnTo>
                  <a:pt x="1248213" y="1155462"/>
                </a:lnTo>
                <a:lnTo>
                  <a:pt x="1246620" y="1157959"/>
                </a:lnTo>
                <a:lnTo>
                  <a:pt x="1244799" y="1160229"/>
                </a:lnTo>
                <a:lnTo>
                  <a:pt x="1242978" y="1162498"/>
                </a:lnTo>
                <a:lnTo>
                  <a:pt x="1241158" y="1164314"/>
                </a:lnTo>
                <a:lnTo>
                  <a:pt x="1239109" y="1165903"/>
                </a:lnTo>
                <a:lnTo>
                  <a:pt x="1236833" y="1167492"/>
                </a:lnTo>
                <a:lnTo>
                  <a:pt x="1234557" y="1168399"/>
                </a:lnTo>
                <a:lnTo>
                  <a:pt x="1232053" y="1169307"/>
                </a:lnTo>
                <a:lnTo>
                  <a:pt x="1229322" y="1169761"/>
                </a:lnTo>
                <a:lnTo>
                  <a:pt x="1226818" y="1169988"/>
                </a:lnTo>
                <a:lnTo>
                  <a:pt x="1152617" y="1169988"/>
                </a:lnTo>
                <a:lnTo>
                  <a:pt x="1150114" y="1169761"/>
                </a:lnTo>
                <a:lnTo>
                  <a:pt x="1147610" y="1169307"/>
                </a:lnTo>
                <a:lnTo>
                  <a:pt x="1145106" y="1168399"/>
                </a:lnTo>
                <a:lnTo>
                  <a:pt x="1142830" y="1167492"/>
                </a:lnTo>
                <a:lnTo>
                  <a:pt x="1140554" y="1165903"/>
                </a:lnTo>
                <a:lnTo>
                  <a:pt x="1138278" y="1164314"/>
                </a:lnTo>
                <a:lnTo>
                  <a:pt x="1136457" y="1162498"/>
                </a:lnTo>
                <a:lnTo>
                  <a:pt x="1134409" y="1160229"/>
                </a:lnTo>
                <a:lnTo>
                  <a:pt x="1132815" y="1157959"/>
                </a:lnTo>
                <a:lnTo>
                  <a:pt x="1131450" y="1155462"/>
                </a:lnTo>
                <a:lnTo>
                  <a:pt x="1130084" y="1152512"/>
                </a:lnTo>
                <a:lnTo>
                  <a:pt x="1129174" y="1149788"/>
                </a:lnTo>
                <a:lnTo>
                  <a:pt x="1128036" y="1146838"/>
                </a:lnTo>
                <a:lnTo>
                  <a:pt x="1127580" y="1143433"/>
                </a:lnTo>
                <a:lnTo>
                  <a:pt x="1127125" y="1140256"/>
                </a:lnTo>
                <a:lnTo>
                  <a:pt x="1127125" y="1136851"/>
                </a:lnTo>
                <a:lnTo>
                  <a:pt x="1127125" y="623687"/>
                </a:lnTo>
                <a:lnTo>
                  <a:pt x="1127125" y="620282"/>
                </a:lnTo>
                <a:lnTo>
                  <a:pt x="1127580" y="617105"/>
                </a:lnTo>
                <a:lnTo>
                  <a:pt x="1128036" y="613927"/>
                </a:lnTo>
                <a:lnTo>
                  <a:pt x="1129174" y="610750"/>
                </a:lnTo>
                <a:lnTo>
                  <a:pt x="1130084" y="608026"/>
                </a:lnTo>
                <a:lnTo>
                  <a:pt x="1131450" y="605303"/>
                </a:lnTo>
                <a:lnTo>
                  <a:pt x="1132815" y="602806"/>
                </a:lnTo>
                <a:lnTo>
                  <a:pt x="1134409" y="600537"/>
                </a:lnTo>
                <a:lnTo>
                  <a:pt x="1136457" y="598267"/>
                </a:lnTo>
                <a:lnTo>
                  <a:pt x="1138278" y="596451"/>
                </a:lnTo>
                <a:lnTo>
                  <a:pt x="1140554" y="594635"/>
                </a:lnTo>
                <a:lnTo>
                  <a:pt x="1142830" y="593274"/>
                </a:lnTo>
                <a:lnTo>
                  <a:pt x="1145106" y="592139"/>
                </a:lnTo>
                <a:lnTo>
                  <a:pt x="1147610" y="591231"/>
                </a:lnTo>
                <a:lnTo>
                  <a:pt x="1150114" y="590777"/>
                </a:lnTo>
                <a:lnTo>
                  <a:pt x="1152617" y="590550"/>
                </a:lnTo>
                <a:close/>
                <a:moveTo>
                  <a:pt x="1633857" y="508000"/>
                </a:moveTo>
                <a:lnTo>
                  <a:pt x="1707830" y="508000"/>
                </a:lnTo>
                <a:lnTo>
                  <a:pt x="1710561" y="508227"/>
                </a:lnTo>
                <a:lnTo>
                  <a:pt x="1713065" y="508680"/>
                </a:lnTo>
                <a:lnTo>
                  <a:pt x="1715797" y="509814"/>
                </a:lnTo>
                <a:lnTo>
                  <a:pt x="1718073" y="510947"/>
                </a:lnTo>
                <a:lnTo>
                  <a:pt x="1720349" y="512534"/>
                </a:lnTo>
                <a:lnTo>
                  <a:pt x="1722170" y="514575"/>
                </a:lnTo>
                <a:lnTo>
                  <a:pt x="1724218" y="516842"/>
                </a:lnTo>
                <a:lnTo>
                  <a:pt x="1726039" y="519109"/>
                </a:lnTo>
                <a:lnTo>
                  <a:pt x="1727860" y="521829"/>
                </a:lnTo>
                <a:lnTo>
                  <a:pt x="1729453" y="524550"/>
                </a:lnTo>
                <a:lnTo>
                  <a:pt x="1730591" y="527950"/>
                </a:lnTo>
                <a:lnTo>
                  <a:pt x="1731729" y="531124"/>
                </a:lnTo>
                <a:lnTo>
                  <a:pt x="1732640" y="534752"/>
                </a:lnTo>
                <a:lnTo>
                  <a:pt x="1733095" y="538152"/>
                </a:lnTo>
                <a:lnTo>
                  <a:pt x="1733550" y="542006"/>
                </a:lnTo>
                <a:lnTo>
                  <a:pt x="1733550" y="545860"/>
                </a:lnTo>
                <a:lnTo>
                  <a:pt x="1733550" y="1132128"/>
                </a:lnTo>
                <a:lnTo>
                  <a:pt x="1733550" y="1135982"/>
                </a:lnTo>
                <a:lnTo>
                  <a:pt x="1733095" y="1139836"/>
                </a:lnTo>
                <a:lnTo>
                  <a:pt x="1732640" y="1143463"/>
                </a:lnTo>
                <a:lnTo>
                  <a:pt x="1731729" y="1146864"/>
                </a:lnTo>
                <a:lnTo>
                  <a:pt x="1730591" y="1150038"/>
                </a:lnTo>
                <a:lnTo>
                  <a:pt x="1729453" y="1153438"/>
                </a:lnTo>
                <a:lnTo>
                  <a:pt x="1727860" y="1156159"/>
                </a:lnTo>
                <a:lnTo>
                  <a:pt x="1726039" y="1158879"/>
                </a:lnTo>
                <a:lnTo>
                  <a:pt x="1724218" y="1161373"/>
                </a:lnTo>
                <a:lnTo>
                  <a:pt x="1722170" y="1163414"/>
                </a:lnTo>
                <a:lnTo>
                  <a:pt x="1720349" y="1165454"/>
                </a:lnTo>
                <a:lnTo>
                  <a:pt x="1718073" y="1167041"/>
                </a:lnTo>
                <a:lnTo>
                  <a:pt x="1715797" y="1168174"/>
                </a:lnTo>
                <a:lnTo>
                  <a:pt x="1713065" y="1169308"/>
                </a:lnTo>
                <a:lnTo>
                  <a:pt x="1710561" y="1169761"/>
                </a:lnTo>
                <a:lnTo>
                  <a:pt x="1707830" y="1169988"/>
                </a:lnTo>
                <a:lnTo>
                  <a:pt x="1633857" y="1169988"/>
                </a:lnTo>
                <a:lnTo>
                  <a:pt x="1631353" y="1169761"/>
                </a:lnTo>
                <a:lnTo>
                  <a:pt x="1628850" y="1169308"/>
                </a:lnTo>
                <a:lnTo>
                  <a:pt x="1626346" y="1168174"/>
                </a:lnTo>
                <a:lnTo>
                  <a:pt x="1624070" y="1167041"/>
                </a:lnTo>
                <a:lnTo>
                  <a:pt x="1621794" y="1165454"/>
                </a:lnTo>
                <a:lnTo>
                  <a:pt x="1619518" y="1163414"/>
                </a:lnTo>
                <a:lnTo>
                  <a:pt x="1617469" y="1161373"/>
                </a:lnTo>
                <a:lnTo>
                  <a:pt x="1615648" y="1158879"/>
                </a:lnTo>
                <a:lnTo>
                  <a:pt x="1614055" y="1156159"/>
                </a:lnTo>
                <a:lnTo>
                  <a:pt x="1612689" y="1153438"/>
                </a:lnTo>
                <a:lnTo>
                  <a:pt x="1611324" y="1150038"/>
                </a:lnTo>
                <a:lnTo>
                  <a:pt x="1610186" y="1146864"/>
                </a:lnTo>
                <a:lnTo>
                  <a:pt x="1609275" y="1143463"/>
                </a:lnTo>
                <a:lnTo>
                  <a:pt x="1608820" y="1139836"/>
                </a:lnTo>
                <a:lnTo>
                  <a:pt x="1608365" y="1135982"/>
                </a:lnTo>
                <a:lnTo>
                  <a:pt x="1608137" y="1132128"/>
                </a:lnTo>
                <a:lnTo>
                  <a:pt x="1608137" y="545860"/>
                </a:lnTo>
                <a:lnTo>
                  <a:pt x="1608365" y="542006"/>
                </a:lnTo>
                <a:lnTo>
                  <a:pt x="1608820" y="538152"/>
                </a:lnTo>
                <a:lnTo>
                  <a:pt x="1609275" y="534752"/>
                </a:lnTo>
                <a:lnTo>
                  <a:pt x="1610186" y="531124"/>
                </a:lnTo>
                <a:lnTo>
                  <a:pt x="1611324" y="527950"/>
                </a:lnTo>
                <a:lnTo>
                  <a:pt x="1612689" y="524550"/>
                </a:lnTo>
                <a:lnTo>
                  <a:pt x="1614055" y="521829"/>
                </a:lnTo>
                <a:lnTo>
                  <a:pt x="1615648" y="519109"/>
                </a:lnTo>
                <a:lnTo>
                  <a:pt x="1617469" y="516842"/>
                </a:lnTo>
                <a:lnTo>
                  <a:pt x="1619518" y="514575"/>
                </a:lnTo>
                <a:lnTo>
                  <a:pt x="1621794" y="512534"/>
                </a:lnTo>
                <a:lnTo>
                  <a:pt x="1624070" y="510947"/>
                </a:lnTo>
                <a:lnTo>
                  <a:pt x="1626346" y="509814"/>
                </a:lnTo>
                <a:lnTo>
                  <a:pt x="1628850" y="508680"/>
                </a:lnTo>
                <a:lnTo>
                  <a:pt x="1631353" y="508227"/>
                </a:lnTo>
                <a:lnTo>
                  <a:pt x="1633857" y="508000"/>
                </a:lnTo>
                <a:close/>
                <a:moveTo>
                  <a:pt x="1501548" y="319088"/>
                </a:moveTo>
                <a:lnTo>
                  <a:pt x="1733323" y="319088"/>
                </a:lnTo>
                <a:lnTo>
                  <a:pt x="1733323" y="319316"/>
                </a:lnTo>
                <a:lnTo>
                  <a:pt x="1733550" y="319316"/>
                </a:lnTo>
                <a:lnTo>
                  <a:pt x="1733550" y="464215"/>
                </a:lnTo>
                <a:lnTo>
                  <a:pt x="1637620" y="464215"/>
                </a:lnTo>
                <a:lnTo>
                  <a:pt x="1637620" y="418038"/>
                </a:lnTo>
                <a:lnTo>
                  <a:pt x="1318759" y="617303"/>
                </a:lnTo>
                <a:lnTo>
                  <a:pt x="1250723" y="574766"/>
                </a:lnTo>
                <a:lnTo>
                  <a:pt x="1253444" y="573174"/>
                </a:lnTo>
                <a:lnTo>
                  <a:pt x="1146628" y="506525"/>
                </a:lnTo>
                <a:lnTo>
                  <a:pt x="844096" y="695326"/>
                </a:lnTo>
                <a:lnTo>
                  <a:pt x="776287" y="653016"/>
                </a:lnTo>
                <a:lnTo>
                  <a:pt x="1147082" y="421450"/>
                </a:lnTo>
                <a:lnTo>
                  <a:pt x="1215118" y="463533"/>
                </a:lnTo>
                <a:lnTo>
                  <a:pt x="1214437" y="464215"/>
                </a:lnTo>
                <a:lnTo>
                  <a:pt x="1321253" y="530637"/>
                </a:lnTo>
                <a:lnTo>
                  <a:pt x="1564368" y="379141"/>
                </a:lnTo>
                <a:lnTo>
                  <a:pt x="1501548" y="379141"/>
                </a:lnTo>
                <a:lnTo>
                  <a:pt x="1501548" y="319088"/>
                </a:lnTo>
                <a:close/>
                <a:moveTo>
                  <a:pt x="229507" y="91395"/>
                </a:moveTo>
                <a:lnTo>
                  <a:pt x="225651" y="91621"/>
                </a:lnTo>
                <a:lnTo>
                  <a:pt x="221796" y="91848"/>
                </a:lnTo>
                <a:lnTo>
                  <a:pt x="218394" y="92075"/>
                </a:lnTo>
                <a:lnTo>
                  <a:pt x="214539" y="92755"/>
                </a:lnTo>
                <a:lnTo>
                  <a:pt x="210910" y="93662"/>
                </a:lnTo>
                <a:lnTo>
                  <a:pt x="207509" y="94570"/>
                </a:lnTo>
                <a:lnTo>
                  <a:pt x="204107" y="95704"/>
                </a:lnTo>
                <a:lnTo>
                  <a:pt x="200705" y="96837"/>
                </a:lnTo>
                <a:lnTo>
                  <a:pt x="197303" y="98198"/>
                </a:lnTo>
                <a:lnTo>
                  <a:pt x="194355" y="99559"/>
                </a:lnTo>
                <a:lnTo>
                  <a:pt x="191407" y="101373"/>
                </a:lnTo>
                <a:lnTo>
                  <a:pt x="188232" y="103187"/>
                </a:lnTo>
                <a:lnTo>
                  <a:pt x="185284" y="105002"/>
                </a:lnTo>
                <a:lnTo>
                  <a:pt x="182562" y="107270"/>
                </a:lnTo>
                <a:lnTo>
                  <a:pt x="179614" y="109311"/>
                </a:lnTo>
                <a:lnTo>
                  <a:pt x="177119" y="111579"/>
                </a:lnTo>
                <a:lnTo>
                  <a:pt x="174851" y="114073"/>
                </a:lnTo>
                <a:lnTo>
                  <a:pt x="172357" y="116568"/>
                </a:lnTo>
                <a:lnTo>
                  <a:pt x="170316" y="119062"/>
                </a:lnTo>
                <a:lnTo>
                  <a:pt x="168275" y="121784"/>
                </a:lnTo>
                <a:lnTo>
                  <a:pt x="166460" y="124505"/>
                </a:lnTo>
                <a:lnTo>
                  <a:pt x="164646" y="127454"/>
                </a:lnTo>
                <a:lnTo>
                  <a:pt x="162832" y="130402"/>
                </a:lnTo>
                <a:lnTo>
                  <a:pt x="161471" y="133350"/>
                </a:lnTo>
                <a:lnTo>
                  <a:pt x="160110" y="136525"/>
                </a:lnTo>
                <a:lnTo>
                  <a:pt x="158976" y="139700"/>
                </a:lnTo>
                <a:lnTo>
                  <a:pt x="158069" y="143102"/>
                </a:lnTo>
                <a:lnTo>
                  <a:pt x="156935" y="146277"/>
                </a:lnTo>
                <a:lnTo>
                  <a:pt x="156482" y="149679"/>
                </a:lnTo>
                <a:lnTo>
                  <a:pt x="156028" y="153080"/>
                </a:lnTo>
                <a:lnTo>
                  <a:pt x="155801" y="156709"/>
                </a:lnTo>
                <a:lnTo>
                  <a:pt x="155801" y="160111"/>
                </a:lnTo>
                <a:lnTo>
                  <a:pt x="155801" y="1330098"/>
                </a:lnTo>
                <a:lnTo>
                  <a:pt x="155801" y="1333500"/>
                </a:lnTo>
                <a:lnTo>
                  <a:pt x="156028" y="1337129"/>
                </a:lnTo>
                <a:lnTo>
                  <a:pt x="156482" y="1340531"/>
                </a:lnTo>
                <a:lnTo>
                  <a:pt x="156935" y="1343932"/>
                </a:lnTo>
                <a:lnTo>
                  <a:pt x="158069" y="1347561"/>
                </a:lnTo>
                <a:lnTo>
                  <a:pt x="158976" y="1350509"/>
                </a:lnTo>
                <a:lnTo>
                  <a:pt x="160110" y="1353684"/>
                </a:lnTo>
                <a:lnTo>
                  <a:pt x="161471" y="1357086"/>
                </a:lnTo>
                <a:lnTo>
                  <a:pt x="162832" y="1360034"/>
                </a:lnTo>
                <a:lnTo>
                  <a:pt x="164646" y="1362756"/>
                </a:lnTo>
                <a:lnTo>
                  <a:pt x="166460" y="1365931"/>
                </a:lnTo>
                <a:lnTo>
                  <a:pt x="168275" y="1368652"/>
                </a:lnTo>
                <a:lnTo>
                  <a:pt x="170316" y="1371373"/>
                </a:lnTo>
                <a:lnTo>
                  <a:pt x="172357" y="1373868"/>
                </a:lnTo>
                <a:lnTo>
                  <a:pt x="174851" y="1376590"/>
                </a:lnTo>
                <a:lnTo>
                  <a:pt x="177119" y="1378857"/>
                </a:lnTo>
                <a:lnTo>
                  <a:pt x="179614" y="1381125"/>
                </a:lnTo>
                <a:lnTo>
                  <a:pt x="182562" y="1383393"/>
                </a:lnTo>
                <a:lnTo>
                  <a:pt x="185284" y="1385207"/>
                </a:lnTo>
                <a:lnTo>
                  <a:pt x="188232" y="1387248"/>
                </a:lnTo>
                <a:lnTo>
                  <a:pt x="191407" y="1389063"/>
                </a:lnTo>
                <a:lnTo>
                  <a:pt x="194355" y="1390650"/>
                </a:lnTo>
                <a:lnTo>
                  <a:pt x="197303" y="1392238"/>
                </a:lnTo>
                <a:lnTo>
                  <a:pt x="200705" y="1393598"/>
                </a:lnTo>
                <a:lnTo>
                  <a:pt x="204107" y="1394959"/>
                </a:lnTo>
                <a:lnTo>
                  <a:pt x="207509" y="1395866"/>
                </a:lnTo>
                <a:lnTo>
                  <a:pt x="210910" y="1397000"/>
                </a:lnTo>
                <a:lnTo>
                  <a:pt x="214539" y="1397681"/>
                </a:lnTo>
                <a:lnTo>
                  <a:pt x="218394" y="1398134"/>
                </a:lnTo>
                <a:lnTo>
                  <a:pt x="221796" y="1398588"/>
                </a:lnTo>
                <a:lnTo>
                  <a:pt x="225651" y="1399041"/>
                </a:lnTo>
                <a:lnTo>
                  <a:pt x="229507" y="1399041"/>
                </a:lnTo>
                <a:lnTo>
                  <a:pt x="2280330" y="1399041"/>
                </a:lnTo>
                <a:lnTo>
                  <a:pt x="2284186" y="1399041"/>
                </a:lnTo>
                <a:lnTo>
                  <a:pt x="2288041" y="1398588"/>
                </a:lnTo>
                <a:lnTo>
                  <a:pt x="2291670" y="1398134"/>
                </a:lnTo>
                <a:lnTo>
                  <a:pt x="2295298" y="1397681"/>
                </a:lnTo>
                <a:lnTo>
                  <a:pt x="2299154" y="1397000"/>
                </a:lnTo>
                <a:lnTo>
                  <a:pt x="2302555" y="1395866"/>
                </a:lnTo>
                <a:lnTo>
                  <a:pt x="2305957" y="1394959"/>
                </a:lnTo>
                <a:lnTo>
                  <a:pt x="2309359" y="1393598"/>
                </a:lnTo>
                <a:lnTo>
                  <a:pt x="2312534" y="1392238"/>
                </a:lnTo>
                <a:lnTo>
                  <a:pt x="2315709" y="1390650"/>
                </a:lnTo>
                <a:lnTo>
                  <a:pt x="2318884" y="1389063"/>
                </a:lnTo>
                <a:lnTo>
                  <a:pt x="2321832" y="1387248"/>
                </a:lnTo>
                <a:lnTo>
                  <a:pt x="2324780" y="1385207"/>
                </a:lnTo>
                <a:lnTo>
                  <a:pt x="2327502" y="1383393"/>
                </a:lnTo>
                <a:lnTo>
                  <a:pt x="2330223" y="1381125"/>
                </a:lnTo>
                <a:lnTo>
                  <a:pt x="2332945" y="1378857"/>
                </a:lnTo>
                <a:lnTo>
                  <a:pt x="2335213" y="1376590"/>
                </a:lnTo>
                <a:lnTo>
                  <a:pt x="2337707" y="1373868"/>
                </a:lnTo>
                <a:lnTo>
                  <a:pt x="2339748" y="1371373"/>
                </a:lnTo>
                <a:lnTo>
                  <a:pt x="2341789" y="1368652"/>
                </a:lnTo>
                <a:lnTo>
                  <a:pt x="2343830" y="1365931"/>
                </a:lnTo>
                <a:lnTo>
                  <a:pt x="2345418" y="1362756"/>
                </a:lnTo>
                <a:lnTo>
                  <a:pt x="2347232" y="1360034"/>
                </a:lnTo>
                <a:lnTo>
                  <a:pt x="2348593" y="1357086"/>
                </a:lnTo>
                <a:lnTo>
                  <a:pt x="2350180" y="1353684"/>
                </a:lnTo>
                <a:lnTo>
                  <a:pt x="2351088" y="1350509"/>
                </a:lnTo>
                <a:lnTo>
                  <a:pt x="2351995" y="1347561"/>
                </a:lnTo>
                <a:lnTo>
                  <a:pt x="2352902" y="1343932"/>
                </a:lnTo>
                <a:lnTo>
                  <a:pt x="2353582" y="1340531"/>
                </a:lnTo>
                <a:lnTo>
                  <a:pt x="2354036" y="1337129"/>
                </a:lnTo>
                <a:lnTo>
                  <a:pt x="2354263" y="1333500"/>
                </a:lnTo>
                <a:lnTo>
                  <a:pt x="2354263" y="1330098"/>
                </a:lnTo>
                <a:lnTo>
                  <a:pt x="2354263" y="160111"/>
                </a:lnTo>
                <a:lnTo>
                  <a:pt x="2354263" y="156709"/>
                </a:lnTo>
                <a:lnTo>
                  <a:pt x="2354036" y="153080"/>
                </a:lnTo>
                <a:lnTo>
                  <a:pt x="2353582" y="149679"/>
                </a:lnTo>
                <a:lnTo>
                  <a:pt x="2352902" y="146277"/>
                </a:lnTo>
                <a:lnTo>
                  <a:pt x="2351995" y="143102"/>
                </a:lnTo>
                <a:lnTo>
                  <a:pt x="2351088" y="139700"/>
                </a:lnTo>
                <a:lnTo>
                  <a:pt x="2350180" y="136525"/>
                </a:lnTo>
                <a:lnTo>
                  <a:pt x="2348593" y="133350"/>
                </a:lnTo>
                <a:lnTo>
                  <a:pt x="2347232" y="130402"/>
                </a:lnTo>
                <a:lnTo>
                  <a:pt x="2345418" y="127454"/>
                </a:lnTo>
                <a:lnTo>
                  <a:pt x="2343830" y="124505"/>
                </a:lnTo>
                <a:lnTo>
                  <a:pt x="2341789" y="121784"/>
                </a:lnTo>
                <a:lnTo>
                  <a:pt x="2339748" y="119062"/>
                </a:lnTo>
                <a:lnTo>
                  <a:pt x="2337707" y="116568"/>
                </a:lnTo>
                <a:lnTo>
                  <a:pt x="2335213" y="114073"/>
                </a:lnTo>
                <a:lnTo>
                  <a:pt x="2332945" y="111579"/>
                </a:lnTo>
                <a:lnTo>
                  <a:pt x="2330223" y="109311"/>
                </a:lnTo>
                <a:lnTo>
                  <a:pt x="2327502" y="107270"/>
                </a:lnTo>
                <a:lnTo>
                  <a:pt x="2324780" y="105002"/>
                </a:lnTo>
                <a:lnTo>
                  <a:pt x="2321832" y="103187"/>
                </a:lnTo>
                <a:lnTo>
                  <a:pt x="2318884" y="101373"/>
                </a:lnTo>
                <a:lnTo>
                  <a:pt x="2315709" y="99559"/>
                </a:lnTo>
                <a:lnTo>
                  <a:pt x="2312534" y="98198"/>
                </a:lnTo>
                <a:lnTo>
                  <a:pt x="2309359" y="96837"/>
                </a:lnTo>
                <a:lnTo>
                  <a:pt x="2305957" y="95704"/>
                </a:lnTo>
                <a:lnTo>
                  <a:pt x="2302555" y="94570"/>
                </a:lnTo>
                <a:lnTo>
                  <a:pt x="2299154" y="93662"/>
                </a:lnTo>
                <a:lnTo>
                  <a:pt x="2295298" y="92755"/>
                </a:lnTo>
                <a:lnTo>
                  <a:pt x="2291670" y="92075"/>
                </a:lnTo>
                <a:lnTo>
                  <a:pt x="2288041" y="91848"/>
                </a:lnTo>
                <a:lnTo>
                  <a:pt x="2284186" y="91621"/>
                </a:lnTo>
                <a:lnTo>
                  <a:pt x="2280330" y="91395"/>
                </a:lnTo>
                <a:lnTo>
                  <a:pt x="229507" y="91395"/>
                </a:lnTo>
                <a:close/>
                <a:moveTo>
                  <a:pt x="81642" y="0"/>
                </a:moveTo>
                <a:lnTo>
                  <a:pt x="86178" y="0"/>
                </a:lnTo>
                <a:lnTo>
                  <a:pt x="2424113" y="0"/>
                </a:lnTo>
                <a:lnTo>
                  <a:pt x="2428648" y="0"/>
                </a:lnTo>
                <a:lnTo>
                  <a:pt x="2432730" y="227"/>
                </a:lnTo>
                <a:lnTo>
                  <a:pt x="2436813" y="680"/>
                </a:lnTo>
                <a:lnTo>
                  <a:pt x="2441122" y="1361"/>
                </a:lnTo>
                <a:lnTo>
                  <a:pt x="2445204" y="2268"/>
                </a:lnTo>
                <a:lnTo>
                  <a:pt x="2449286" y="3402"/>
                </a:lnTo>
                <a:lnTo>
                  <a:pt x="2452914" y="4536"/>
                </a:lnTo>
                <a:lnTo>
                  <a:pt x="2456770" y="5896"/>
                </a:lnTo>
                <a:lnTo>
                  <a:pt x="2460625" y="7484"/>
                </a:lnTo>
                <a:lnTo>
                  <a:pt x="2464480" y="9298"/>
                </a:lnTo>
                <a:lnTo>
                  <a:pt x="2467882" y="11339"/>
                </a:lnTo>
                <a:lnTo>
                  <a:pt x="2471284" y="13380"/>
                </a:lnTo>
                <a:lnTo>
                  <a:pt x="2474459" y="15421"/>
                </a:lnTo>
                <a:lnTo>
                  <a:pt x="2477861" y="17916"/>
                </a:lnTo>
                <a:lnTo>
                  <a:pt x="2480809" y="20184"/>
                </a:lnTo>
                <a:lnTo>
                  <a:pt x="2483757" y="22905"/>
                </a:lnTo>
                <a:lnTo>
                  <a:pt x="2486479" y="25400"/>
                </a:lnTo>
                <a:lnTo>
                  <a:pt x="2489200" y="28348"/>
                </a:lnTo>
                <a:lnTo>
                  <a:pt x="2491695" y="31296"/>
                </a:lnTo>
                <a:lnTo>
                  <a:pt x="2493963" y="34471"/>
                </a:lnTo>
                <a:lnTo>
                  <a:pt x="2496230" y="37646"/>
                </a:lnTo>
                <a:lnTo>
                  <a:pt x="2498272" y="40821"/>
                </a:lnTo>
                <a:lnTo>
                  <a:pt x="2499859" y="44450"/>
                </a:lnTo>
                <a:lnTo>
                  <a:pt x="2501673" y="47625"/>
                </a:lnTo>
                <a:lnTo>
                  <a:pt x="2503261" y="51480"/>
                </a:lnTo>
                <a:lnTo>
                  <a:pt x="2504395" y="54882"/>
                </a:lnTo>
                <a:lnTo>
                  <a:pt x="2505755" y="58737"/>
                </a:lnTo>
                <a:lnTo>
                  <a:pt x="2506663" y="62593"/>
                </a:lnTo>
                <a:lnTo>
                  <a:pt x="2507343" y="66221"/>
                </a:lnTo>
                <a:lnTo>
                  <a:pt x="2508023" y="70304"/>
                </a:lnTo>
                <a:lnTo>
                  <a:pt x="2508250" y="74159"/>
                </a:lnTo>
                <a:lnTo>
                  <a:pt x="2508250" y="78241"/>
                </a:lnTo>
                <a:lnTo>
                  <a:pt x="2508250" y="1411968"/>
                </a:lnTo>
                <a:lnTo>
                  <a:pt x="2508250" y="1416050"/>
                </a:lnTo>
                <a:lnTo>
                  <a:pt x="2508023" y="1420132"/>
                </a:lnTo>
                <a:lnTo>
                  <a:pt x="2507343" y="1423988"/>
                </a:lnTo>
                <a:lnTo>
                  <a:pt x="2506663" y="1427616"/>
                </a:lnTo>
                <a:lnTo>
                  <a:pt x="2505755" y="1431472"/>
                </a:lnTo>
                <a:lnTo>
                  <a:pt x="2504395" y="1435327"/>
                </a:lnTo>
                <a:lnTo>
                  <a:pt x="2503261" y="1439182"/>
                </a:lnTo>
                <a:lnTo>
                  <a:pt x="2501673" y="1442584"/>
                </a:lnTo>
                <a:lnTo>
                  <a:pt x="2499859" y="1446213"/>
                </a:lnTo>
                <a:lnTo>
                  <a:pt x="2498272" y="1449388"/>
                </a:lnTo>
                <a:lnTo>
                  <a:pt x="2496230" y="1452790"/>
                </a:lnTo>
                <a:lnTo>
                  <a:pt x="2493963" y="1455965"/>
                </a:lnTo>
                <a:lnTo>
                  <a:pt x="2491695" y="1458913"/>
                </a:lnTo>
                <a:lnTo>
                  <a:pt x="2489200" y="1462088"/>
                </a:lnTo>
                <a:lnTo>
                  <a:pt x="2486479" y="1464809"/>
                </a:lnTo>
                <a:lnTo>
                  <a:pt x="2483757" y="1467531"/>
                </a:lnTo>
                <a:lnTo>
                  <a:pt x="2480809" y="1470025"/>
                </a:lnTo>
                <a:lnTo>
                  <a:pt x="2477861" y="1472747"/>
                </a:lnTo>
                <a:lnTo>
                  <a:pt x="2474459" y="1475015"/>
                </a:lnTo>
                <a:lnTo>
                  <a:pt x="2471284" y="1477282"/>
                </a:lnTo>
                <a:lnTo>
                  <a:pt x="2467882" y="1479097"/>
                </a:lnTo>
                <a:lnTo>
                  <a:pt x="2464480" y="1480911"/>
                </a:lnTo>
                <a:lnTo>
                  <a:pt x="2460625" y="1482725"/>
                </a:lnTo>
                <a:lnTo>
                  <a:pt x="2456770" y="1484313"/>
                </a:lnTo>
                <a:lnTo>
                  <a:pt x="2452914" y="1485674"/>
                </a:lnTo>
                <a:lnTo>
                  <a:pt x="2449286" y="1487034"/>
                </a:lnTo>
                <a:lnTo>
                  <a:pt x="2445204" y="1487941"/>
                </a:lnTo>
                <a:lnTo>
                  <a:pt x="2441122" y="1488849"/>
                </a:lnTo>
                <a:lnTo>
                  <a:pt x="2436813" y="1489529"/>
                </a:lnTo>
                <a:lnTo>
                  <a:pt x="2432730" y="1489982"/>
                </a:lnTo>
                <a:lnTo>
                  <a:pt x="2428648" y="1490209"/>
                </a:lnTo>
                <a:lnTo>
                  <a:pt x="2424113" y="1490663"/>
                </a:lnTo>
                <a:lnTo>
                  <a:pt x="86178" y="1490663"/>
                </a:lnTo>
                <a:lnTo>
                  <a:pt x="81642" y="1490209"/>
                </a:lnTo>
                <a:lnTo>
                  <a:pt x="77333" y="1489982"/>
                </a:lnTo>
                <a:lnTo>
                  <a:pt x="73251" y="1489529"/>
                </a:lnTo>
                <a:lnTo>
                  <a:pt x="68942" y="1488849"/>
                </a:lnTo>
                <a:lnTo>
                  <a:pt x="64860" y="1487941"/>
                </a:lnTo>
                <a:lnTo>
                  <a:pt x="60778" y="1487034"/>
                </a:lnTo>
                <a:lnTo>
                  <a:pt x="57150" y="1485674"/>
                </a:lnTo>
                <a:lnTo>
                  <a:pt x="53294" y="1484313"/>
                </a:lnTo>
                <a:lnTo>
                  <a:pt x="49439" y="1482725"/>
                </a:lnTo>
                <a:lnTo>
                  <a:pt x="45810" y="1480911"/>
                </a:lnTo>
                <a:lnTo>
                  <a:pt x="42182" y="1479097"/>
                </a:lnTo>
                <a:lnTo>
                  <a:pt x="39007" y="1477282"/>
                </a:lnTo>
                <a:lnTo>
                  <a:pt x="35605" y="1475015"/>
                </a:lnTo>
                <a:lnTo>
                  <a:pt x="32430" y="1472747"/>
                </a:lnTo>
                <a:lnTo>
                  <a:pt x="29255" y="1470025"/>
                </a:lnTo>
                <a:lnTo>
                  <a:pt x="26307" y="1467531"/>
                </a:lnTo>
                <a:lnTo>
                  <a:pt x="23585" y="1464809"/>
                </a:lnTo>
                <a:lnTo>
                  <a:pt x="21091" y="1462088"/>
                </a:lnTo>
                <a:lnTo>
                  <a:pt x="18596" y="1458913"/>
                </a:lnTo>
                <a:lnTo>
                  <a:pt x="16101" y="1455965"/>
                </a:lnTo>
                <a:lnTo>
                  <a:pt x="13833" y="1452790"/>
                </a:lnTo>
                <a:lnTo>
                  <a:pt x="12019" y="1449388"/>
                </a:lnTo>
                <a:lnTo>
                  <a:pt x="9978" y="1446213"/>
                </a:lnTo>
                <a:lnTo>
                  <a:pt x="8391" y="1442584"/>
                </a:lnTo>
                <a:lnTo>
                  <a:pt x="6803" y="1439182"/>
                </a:lnTo>
                <a:lnTo>
                  <a:pt x="5442" y="1435327"/>
                </a:lnTo>
                <a:lnTo>
                  <a:pt x="4308" y="1431472"/>
                </a:lnTo>
                <a:lnTo>
                  <a:pt x="3401" y="1427616"/>
                </a:lnTo>
                <a:lnTo>
                  <a:pt x="2494" y="1423988"/>
                </a:lnTo>
                <a:lnTo>
                  <a:pt x="2041" y="1420132"/>
                </a:lnTo>
                <a:lnTo>
                  <a:pt x="1814" y="1416050"/>
                </a:lnTo>
                <a:lnTo>
                  <a:pt x="1587" y="1411968"/>
                </a:lnTo>
                <a:lnTo>
                  <a:pt x="1587" y="78241"/>
                </a:lnTo>
                <a:lnTo>
                  <a:pt x="1814" y="74159"/>
                </a:lnTo>
                <a:lnTo>
                  <a:pt x="2041" y="70304"/>
                </a:lnTo>
                <a:lnTo>
                  <a:pt x="2494" y="66221"/>
                </a:lnTo>
                <a:lnTo>
                  <a:pt x="3401" y="62593"/>
                </a:lnTo>
                <a:lnTo>
                  <a:pt x="4308" y="58737"/>
                </a:lnTo>
                <a:lnTo>
                  <a:pt x="5442" y="54882"/>
                </a:lnTo>
                <a:lnTo>
                  <a:pt x="6803" y="51480"/>
                </a:lnTo>
                <a:lnTo>
                  <a:pt x="8391" y="47625"/>
                </a:lnTo>
                <a:lnTo>
                  <a:pt x="9978" y="44450"/>
                </a:lnTo>
                <a:lnTo>
                  <a:pt x="12019" y="40821"/>
                </a:lnTo>
                <a:lnTo>
                  <a:pt x="13833" y="37646"/>
                </a:lnTo>
                <a:lnTo>
                  <a:pt x="16101" y="34471"/>
                </a:lnTo>
                <a:lnTo>
                  <a:pt x="18596" y="31296"/>
                </a:lnTo>
                <a:lnTo>
                  <a:pt x="21091" y="28348"/>
                </a:lnTo>
                <a:lnTo>
                  <a:pt x="23585" y="25400"/>
                </a:lnTo>
                <a:lnTo>
                  <a:pt x="26307" y="22905"/>
                </a:lnTo>
                <a:lnTo>
                  <a:pt x="29255" y="20184"/>
                </a:lnTo>
                <a:lnTo>
                  <a:pt x="32430" y="17916"/>
                </a:lnTo>
                <a:lnTo>
                  <a:pt x="35605" y="15421"/>
                </a:lnTo>
                <a:lnTo>
                  <a:pt x="39007" y="13380"/>
                </a:lnTo>
                <a:lnTo>
                  <a:pt x="42182" y="11339"/>
                </a:lnTo>
                <a:lnTo>
                  <a:pt x="45810" y="9298"/>
                </a:lnTo>
                <a:lnTo>
                  <a:pt x="49439" y="7484"/>
                </a:lnTo>
                <a:lnTo>
                  <a:pt x="53294" y="5896"/>
                </a:lnTo>
                <a:lnTo>
                  <a:pt x="57150" y="4536"/>
                </a:lnTo>
                <a:lnTo>
                  <a:pt x="60778" y="3402"/>
                </a:lnTo>
                <a:lnTo>
                  <a:pt x="64860" y="2268"/>
                </a:lnTo>
                <a:lnTo>
                  <a:pt x="68942" y="1361"/>
                </a:lnTo>
                <a:lnTo>
                  <a:pt x="73251" y="680"/>
                </a:lnTo>
                <a:lnTo>
                  <a:pt x="77333" y="227"/>
                </a:lnTo>
                <a:lnTo>
                  <a:pt x="8164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cxnSp>
        <p:nvCxnSpPr>
          <p:cNvPr id="30" name="直接连接符 29"/>
          <p:cNvCxnSpPr/>
          <p:nvPr/>
        </p:nvCxnSpPr>
        <p:spPr>
          <a:xfrm>
            <a:off x="5570855" y="1580856"/>
            <a:ext cx="36195" cy="3771900"/>
          </a:xfrm>
          <a:prstGeom prst="line">
            <a:avLst/>
          </a:prstGeom>
          <a:ln w="19050" cmpd="sng"/>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7917180" y="1436711"/>
            <a:ext cx="43180" cy="3641725"/>
          </a:xfrm>
          <a:prstGeom prst="line">
            <a:avLst/>
          </a:prstGeom>
          <a:ln w="19050" cmpd="sng">
            <a:prstDash val="sysDash"/>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4095462" y="2871221"/>
            <a:ext cx="895985" cy="254635"/>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网管服务器</a:t>
            </a:r>
            <a:r>
              <a:rPr lang="en-US" altLang="zh-CN" sz="1000" b="1" dirty="0" smtClean="0">
                <a:solidFill>
                  <a:srgbClr val="0070C0"/>
                </a:solidFill>
                <a:latin typeface="微软雅黑" panose="020B0503020204020204" pitchFamily="34" charset="-122"/>
                <a:ea typeface="微软雅黑" panose="020B0503020204020204" pitchFamily="34" charset="-122"/>
              </a:rPr>
              <a:t>1</a:t>
            </a:r>
          </a:p>
        </p:txBody>
      </p:sp>
      <p:sp>
        <p:nvSpPr>
          <p:cNvPr id="34" name="文本框 33"/>
          <p:cNvSpPr txBox="1"/>
          <p:nvPr/>
        </p:nvSpPr>
        <p:spPr>
          <a:xfrm>
            <a:off x="6083017" y="2279550"/>
            <a:ext cx="954107"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数据采集系统</a:t>
            </a:r>
            <a:endParaRPr lang="zh-CN" altLang="en-US" sz="1000" b="1" dirty="0">
              <a:solidFill>
                <a:srgbClr val="0070C0"/>
              </a:solidFill>
              <a:latin typeface="微软雅黑" panose="020B0503020204020204" pitchFamily="34" charset="-122"/>
              <a:ea typeface="微软雅黑" panose="020B0503020204020204" pitchFamily="34" charset="-122"/>
            </a:endParaRPr>
          </a:p>
        </p:txBody>
      </p:sp>
      <p:sp>
        <p:nvSpPr>
          <p:cNvPr id="35" name="KSO_Shape"/>
          <p:cNvSpPr/>
          <p:nvPr/>
        </p:nvSpPr>
        <p:spPr bwMode="auto">
          <a:xfrm>
            <a:off x="8477183" y="3810308"/>
            <a:ext cx="1432846" cy="1203635"/>
          </a:xfrm>
          <a:custGeom>
            <a:avLst/>
            <a:gdLst>
              <a:gd name="T0" fmla="*/ 2147483646 w 6057"/>
              <a:gd name="T1" fmla="*/ 2147483646 h 5454"/>
              <a:gd name="T2" fmla="*/ 0 w 6057"/>
              <a:gd name="T3" fmla="*/ 2147483646 h 5454"/>
              <a:gd name="T4" fmla="*/ 0 w 6057"/>
              <a:gd name="T5" fmla="*/ 2147483646 h 5454"/>
              <a:gd name="T6" fmla="*/ 2147483646 w 6057"/>
              <a:gd name="T7" fmla="*/ 2147483646 h 5454"/>
              <a:gd name="T8" fmla="*/ 2147483646 w 6057"/>
              <a:gd name="T9" fmla="*/ 2147483646 h 5454"/>
              <a:gd name="T10" fmla="*/ 2147483646 w 6057"/>
              <a:gd name="T11" fmla="*/ 2147483646 h 5454"/>
              <a:gd name="T12" fmla="*/ 2147483646 w 6057"/>
              <a:gd name="T13" fmla="*/ 2147483646 h 5454"/>
              <a:gd name="T14" fmla="*/ 2147483646 w 6057"/>
              <a:gd name="T15" fmla="*/ 2147483646 h 5454"/>
              <a:gd name="T16" fmla="*/ 2147483646 w 6057"/>
              <a:gd name="T17" fmla="*/ 2147483646 h 5454"/>
              <a:gd name="T18" fmla="*/ 2147483646 w 6057"/>
              <a:gd name="T19" fmla="*/ 2147483646 h 5454"/>
              <a:gd name="T20" fmla="*/ 2147483646 w 6057"/>
              <a:gd name="T21" fmla="*/ 2147483646 h 5454"/>
              <a:gd name="T22" fmla="*/ 2147483646 w 6057"/>
              <a:gd name="T23" fmla="*/ 2147483646 h 5454"/>
              <a:gd name="T24" fmla="*/ 2147483646 w 6057"/>
              <a:gd name="T25" fmla="*/ 2147483646 h 5454"/>
              <a:gd name="T26" fmla="*/ 2147483646 w 6057"/>
              <a:gd name="T27" fmla="*/ 2147483646 h 5454"/>
              <a:gd name="T28" fmla="*/ 2147483646 w 6057"/>
              <a:gd name="T29" fmla="*/ 2147483646 h 5454"/>
              <a:gd name="T30" fmla="*/ 2147483646 w 6057"/>
              <a:gd name="T31" fmla="*/ 2147483646 h 5454"/>
              <a:gd name="T32" fmla="*/ 2147483646 w 6057"/>
              <a:gd name="T33" fmla="*/ 2147483646 h 5454"/>
              <a:gd name="T34" fmla="*/ 2147483646 w 6057"/>
              <a:gd name="T35" fmla="*/ 2147483646 h 5454"/>
              <a:gd name="T36" fmla="*/ 2147483646 w 6057"/>
              <a:gd name="T37" fmla="*/ 2147483646 h 5454"/>
              <a:gd name="T38" fmla="*/ 2147483646 w 6057"/>
              <a:gd name="T39" fmla="*/ 2147483646 h 5454"/>
              <a:gd name="T40" fmla="*/ 2147483646 w 6057"/>
              <a:gd name="T41" fmla="*/ 2147483646 h 5454"/>
              <a:gd name="T42" fmla="*/ 2147483646 w 6057"/>
              <a:gd name="T43" fmla="*/ 2147483646 h 5454"/>
              <a:gd name="T44" fmla="*/ 2147483646 w 6057"/>
              <a:gd name="T45" fmla="*/ 2147483646 h 5454"/>
              <a:gd name="T46" fmla="*/ 2147483646 w 6057"/>
              <a:gd name="T47" fmla="*/ 2147483646 h 5454"/>
              <a:gd name="T48" fmla="*/ 2147483646 w 6057"/>
              <a:gd name="T49" fmla="*/ 2147483646 h 5454"/>
              <a:gd name="T50" fmla="*/ 2147483646 w 6057"/>
              <a:gd name="T51" fmla="*/ 2147483646 h 5454"/>
              <a:gd name="T52" fmla="*/ 2147483646 w 6057"/>
              <a:gd name="T53" fmla="*/ 2147483646 h 5454"/>
              <a:gd name="T54" fmla="*/ 2147483646 w 6057"/>
              <a:gd name="T55" fmla="*/ 2147483646 h 5454"/>
              <a:gd name="T56" fmla="*/ 2147483646 w 6057"/>
              <a:gd name="T57" fmla="*/ 2147483646 h 5454"/>
              <a:gd name="T58" fmla="*/ 2147483646 w 6057"/>
              <a:gd name="T59" fmla="*/ 2147483646 h 5454"/>
              <a:gd name="T60" fmla="*/ 2147483646 w 6057"/>
              <a:gd name="T61" fmla="*/ 2147483646 h 5454"/>
              <a:gd name="T62" fmla="*/ 2147483646 w 6057"/>
              <a:gd name="T63" fmla="*/ 2147483646 h 5454"/>
              <a:gd name="T64" fmla="*/ 2147483646 w 6057"/>
              <a:gd name="T65" fmla="*/ 2147483646 h 5454"/>
              <a:gd name="T66" fmla="*/ 2147483646 w 6057"/>
              <a:gd name="T67" fmla="*/ 2147483646 h 5454"/>
              <a:gd name="T68" fmla="*/ 2147483646 w 6057"/>
              <a:gd name="T69" fmla="*/ 2147483646 h 5454"/>
              <a:gd name="T70" fmla="*/ 2147483646 w 6057"/>
              <a:gd name="T71" fmla="*/ 2147483646 h 5454"/>
              <a:gd name="T72" fmla="*/ 2147483646 w 6057"/>
              <a:gd name="T73" fmla="*/ 2147483646 h 5454"/>
              <a:gd name="T74" fmla="*/ 2147483646 w 6057"/>
              <a:gd name="T75" fmla="*/ 2147483646 h 5454"/>
              <a:gd name="T76" fmla="*/ 2147483646 w 6057"/>
              <a:gd name="T77" fmla="*/ 0 h 5454"/>
              <a:gd name="T78" fmla="*/ 2147483646 w 6057"/>
              <a:gd name="T79" fmla="*/ 2147483646 h 545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057" h="5454">
                <a:moveTo>
                  <a:pt x="0" y="959"/>
                </a:moveTo>
                <a:lnTo>
                  <a:pt x="1930" y="1981"/>
                </a:lnTo>
                <a:lnTo>
                  <a:pt x="1930" y="5454"/>
                </a:lnTo>
                <a:lnTo>
                  <a:pt x="0" y="4432"/>
                </a:lnTo>
                <a:lnTo>
                  <a:pt x="0" y="959"/>
                </a:lnTo>
                <a:close/>
                <a:moveTo>
                  <a:pt x="3263" y="849"/>
                </a:moveTo>
                <a:lnTo>
                  <a:pt x="3260" y="1196"/>
                </a:lnTo>
                <a:lnTo>
                  <a:pt x="3082" y="1115"/>
                </a:lnTo>
                <a:lnTo>
                  <a:pt x="3082" y="871"/>
                </a:lnTo>
                <a:lnTo>
                  <a:pt x="2883" y="783"/>
                </a:lnTo>
                <a:lnTo>
                  <a:pt x="2883" y="1024"/>
                </a:lnTo>
                <a:lnTo>
                  <a:pt x="1772" y="520"/>
                </a:lnTo>
                <a:lnTo>
                  <a:pt x="269" y="883"/>
                </a:lnTo>
                <a:lnTo>
                  <a:pt x="2160" y="1837"/>
                </a:lnTo>
                <a:lnTo>
                  <a:pt x="2149" y="5385"/>
                </a:lnTo>
                <a:lnTo>
                  <a:pt x="3705" y="4796"/>
                </a:lnTo>
                <a:lnTo>
                  <a:pt x="3705" y="4070"/>
                </a:lnTo>
                <a:lnTo>
                  <a:pt x="4114" y="3933"/>
                </a:lnTo>
                <a:lnTo>
                  <a:pt x="4114" y="4296"/>
                </a:lnTo>
                <a:lnTo>
                  <a:pt x="4599" y="4524"/>
                </a:lnTo>
                <a:lnTo>
                  <a:pt x="5626" y="4144"/>
                </a:lnTo>
                <a:lnTo>
                  <a:pt x="5627" y="4077"/>
                </a:lnTo>
                <a:lnTo>
                  <a:pt x="5122" y="3921"/>
                </a:lnTo>
                <a:lnTo>
                  <a:pt x="5122" y="3593"/>
                </a:lnTo>
                <a:lnTo>
                  <a:pt x="6057" y="3278"/>
                </a:lnTo>
                <a:lnTo>
                  <a:pt x="6057" y="95"/>
                </a:lnTo>
                <a:lnTo>
                  <a:pt x="3263" y="849"/>
                </a:lnTo>
                <a:close/>
                <a:moveTo>
                  <a:pt x="3705" y="3759"/>
                </a:moveTo>
                <a:lnTo>
                  <a:pt x="3705" y="2603"/>
                </a:lnTo>
                <a:lnTo>
                  <a:pt x="2433" y="2997"/>
                </a:lnTo>
                <a:lnTo>
                  <a:pt x="2433" y="2598"/>
                </a:lnTo>
                <a:lnTo>
                  <a:pt x="3705" y="2204"/>
                </a:lnTo>
                <a:lnTo>
                  <a:pt x="3705" y="1972"/>
                </a:lnTo>
                <a:lnTo>
                  <a:pt x="2433" y="2365"/>
                </a:lnTo>
                <a:lnTo>
                  <a:pt x="2433" y="1966"/>
                </a:lnTo>
                <a:lnTo>
                  <a:pt x="3705" y="1574"/>
                </a:lnTo>
                <a:lnTo>
                  <a:pt x="3705" y="1397"/>
                </a:lnTo>
                <a:lnTo>
                  <a:pt x="3614" y="1356"/>
                </a:lnTo>
                <a:lnTo>
                  <a:pt x="3617" y="1043"/>
                </a:lnTo>
                <a:lnTo>
                  <a:pt x="5797" y="461"/>
                </a:lnTo>
                <a:lnTo>
                  <a:pt x="5797" y="3054"/>
                </a:lnTo>
                <a:lnTo>
                  <a:pt x="3705" y="3759"/>
                </a:lnTo>
                <a:close/>
                <a:moveTo>
                  <a:pt x="215" y="1434"/>
                </a:moveTo>
                <a:lnTo>
                  <a:pt x="215" y="1579"/>
                </a:lnTo>
                <a:lnTo>
                  <a:pt x="862" y="1925"/>
                </a:lnTo>
                <a:lnTo>
                  <a:pt x="862" y="1780"/>
                </a:lnTo>
                <a:lnTo>
                  <a:pt x="215" y="1434"/>
                </a:lnTo>
                <a:close/>
                <a:moveTo>
                  <a:pt x="215" y="1909"/>
                </a:moveTo>
                <a:lnTo>
                  <a:pt x="215" y="2053"/>
                </a:lnTo>
                <a:lnTo>
                  <a:pt x="862" y="2399"/>
                </a:lnTo>
                <a:lnTo>
                  <a:pt x="862" y="2255"/>
                </a:lnTo>
                <a:lnTo>
                  <a:pt x="215" y="1909"/>
                </a:lnTo>
                <a:close/>
                <a:moveTo>
                  <a:pt x="215" y="1670"/>
                </a:moveTo>
                <a:lnTo>
                  <a:pt x="215" y="1814"/>
                </a:lnTo>
                <a:lnTo>
                  <a:pt x="862" y="2160"/>
                </a:lnTo>
                <a:lnTo>
                  <a:pt x="862" y="2016"/>
                </a:lnTo>
                <a:lnTo>
                  <a:pt x="215" y="1670"/>
                </a:lnTo>
                <a:close/>
                <a:moveTo>
                  <a:pt x="2458" y="3255"/>
                </a:moveTo>
                <a:lnTo>
                  <a:pt x="2820" y="3153"/>
                </a:lnTo>
                <a:lnTo>
                  <a:pt x="2820" y="3376"/>
                </a:lnTo>
                <a:lnTo>
                  <a:pt x="2458" y="3478"/>
                </a:lnTo>
                <a:lnTo>
                  <a:pt x="2458" y="3255"/>
                </a:lnTo>
                <a:close/>
                <a:moveTo>
                  <a:pt x="2458" y="3645"/>
                </a:moveTo>
                <a:lnTo>
                  <a:pt x="2820" y="3543"/>
                </a:lnTo>
                <a:lnTo>
                  <a:pt x="2820" y="3764"/>
                </a:lnTo>
                <a:lnTo>
                  <a:pt x="2458" y="3867"/>
                </a:lnTo>
                <a:lnTo>
                  <a:pt x="2458" y="3645"/>
                </a:lnTo>
                <a:close/>
                <a:moveTo>
                  <a:pt x="3097" y="793"/>
                </a:moveTo>
                <a:lnTo>
                  <a:pt x="2938" y="714"/>
                </a:lnTo>
                <a:lnTo>
                  <a:pt x="5774" y="0"/>
                </a:lnTo>
                <a:lnTo>
                  <a:pt x="5915" y="61"/>
                </a:lnTo>
                <a:lnTo>
                  <a:pt x="3097" y="793"/>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36" name="文本框 35"/>
          <p:cNvSpPr txBox="1"/>
          <p:nvPr/>
        </p:nvSpPr>
        <p:spPr>
          <a:xfrm>
            <a:off x="8476987" y="3474619"/>
            <a:ext cx="825867"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应用服务器</a:t>
            </a:r>
            <a:endParaRPr lang="en-US" altLang="zh-CN" sz="1000" b="1" dirty="0" smtClean="0">
              <a:solidFill>
                <a:srgbClr val="0070C0"/>
              </a:solidFill>
              <a:latin typeface="微软雅黑" panose="020B0503020204020204" pitchFamily="34" charset="-122"/>
              <a:ea typeface="微软雅黑" panose="020B0503020204020204" pitchFamily="34" charset="-122"/>
            </a:endParaRPr>
          </a:p>
        </p:txBody>
      </p:sp>
      <p:sp>
        <p:nvSpPr>
          <p:cNvPr id="37" name="KSO_Shape"/>
          <p:cNvSpPr/>
          <p:nvPr/>
        </p:nvSpPr>
        <p:spPr bwMode="auto">
          <a:xfrm>
            <a:off x="3919703" y="3125645"/>
            <a:ext cx="1246870" cy="846020"/>
          </a:xfrm>
          <a:custGeom>
            <a:avLst/>
            <a:gdLst>
              <a:gd name="T0" fmla="*/ 1091648 w 2509838"/>
              <a:gd name="T1" fmla="*/ 1608111 h 1787526"/>
              <a:gd name="T2" fmla="*/ 1364673 w 2509838"/>
              <a:gd name="T3" fmla="*/ 1644625 h 1787526"/>
              <a:gd name="T4" fmla="*/ 1419551 w 2509838"/>
              <a:gd name="T5" fmla="*/ 1603152 h 1787526"/>
              <a:gd name="T6" fmla="*/ 2438407 w 2509838"/>
              <a:gd name="T7" fmla="*/ 1567539 h 1787526"/>
              <a:gd name="T8" fmla="*/ 2487842 w 2509838"/>
              <a:gd name="T9" fmla="*/ 1592108 h 1787526"/>
              <a:gd name="T10" fmla="*/ 2509611 w 2509838"/>
              <a:gd name="T11" fmla="*/ 1640568 h 1787526"/>
              <a:gd name="T12" fmla="*/ 2495552 w 2509838"/>
              <a:gd name="T13" fmla="*/ 1753040 h 1787526"/>
              <a:gd name="T14" fmla="*/ 2450426 w 2509838"/>
              <a:gd name="T15" fmla="*/ 1783920 h 1787526"/>
              <a:gd name="T16" fmla="*/ 55558 w 2509838"/>
              <a:gd name="T17" fmla="*/ 1782793 h 1787526"/>
              <a:gd name="T18" fmla="*/ 12472 w 2509838"/>
              <a:gd name="T19" fmla="*/ 1750110 h 1787526"/>
              <a:gd name="T20" fmla="*/ 680 w 2509838"/>
              <a:gd name="T21" fmla="*/ 1636736 h 1787526"/>
              <a:gd name="T22" fmla="*/ 24717 w 2509838"/>
              <a:gd name="T23" fmla="*/ 1589628 h 1787526"/>
              <a:gd name="T24" fmla="*/ 75740 w 2509838"/>
              <a:gd name="T25" fmla="*/ 1567089 h 1787526"/>
              <a:gd name="T26" fmla="*/ 933501 w 2509838"/>
              <a:gd name="T27" fmla="*/ 749091 h 1787526"/>
              <a:gd name="T28" fmla="*/ 932155 w 2509838"/>
              <a:gd name="T29" fmla="*/ 1160902 h 1787526"/>
              <a:gd name="T30" fmla="*/ 829865 w 2509838"/>
              <a:gd name="T31" fmla="*/ 1167944 h 1787526"/>
              <a:gd name="T32" fmla="*/ 814387 w 2509838"/>
              <a:gd name="T33" fmla="*/ 760448 h 1787526"/>
              <a:gd name="T34" fmla="*/ 837043 w 2509838"/>
              <a:gd name="T35" fmla="*/ 738188 h 1787526"/>
              <a:gd name="T36" fmla="*/ 1416304 w 2509838"/>
              <a:gd name="T37" fmla="*/ 686474 h 1787526"/>
              <a:gd name="T38" fmla="*/ 1412034 w 2509838"/>
              <a:gd name="T39" fmla="*/ 1161601 h 1787526"/>
              <a:gd name="T40" fmla="*/ 1308659 w 2509838"/>
              <a:gd name="T41" fmla="*/ 1166588 h 1787526"/>
              <a:gd name="T42" fmla="*/ 1296074 w 2509838"/>
              <a:gd name="T43" fmla="*/ 694181 h 1787526"/>
              <a:gd name="T44" fmla="*/ 988416 w 2509838"/>
              <a:gd name="T45" fmla="*/ 671513 h 1787526"/>
              <a:gd name="T46" fmla="*/ 1088565 w 2509838"/>
              <a:gd name="T47" fmla="*/ 688968 h 1787526"/>
              <a:gd name="T48" fmla="*/ 1081281 w 2509838"/>
              <a:gd name="T49" fmla="*/ 1163414 h 1787526"/>
              <a:gd name="T50" fmla="*/ 976581 w 2509838"/>
              <a:gd name="T51" fmla="*/ 1165228 h 1787526"/>
              <a:gd name="T52" fmla="*/ 966338 w 2509838"/>
              <a:gd name="T53" fmla="*/ 691461 h 1787526"/>
              <a:gd name="T54" fmla="*/ 1546133 w 2509838"/>
              <a:gd name="T55" fmla="*/ 590550 h 1787526"/>
              <a:gd name="T56" fmla="*/ 1571170 w 2509838"/>
              <a:gd name="T57" fmla="*/ 617105 h 1787526"/>
              <a:gd name="T58" fmla="*/ 1558196 w 2509838"/>
              <a:gd name="T59" fmla="*/ 1165903 h 1787526"/>
              <a:gd name="T60" fmla="*/ 1453496 w 2509838"/>
              <a:gd name="T61" fmla="*/ 1160229 h 1787526"/>
              <a:gd name="T62" fmla="*/ 1449399 w 2509838"/>
              <a:gd name="T63" fmla="*/ 608026 h 1787526"/>
              <a:gd name="T64" fmla="*/ 1229322 w 2509838"/>
              <a:gd name="T65" fmla="*/ 590777 h 1787526"/>
              <a:gd name="T66" fmla="*/ 1252538 w 2509838"/>
              <a:gd name="T67" fmla="*/ 620282 h 1787526"/>
              <a:gd name="T68" fmla="*/ 1236833 w 2509838"/>
              <a:gd name="T69" fmla="*/ 1167492 h 1787526"/>
              <a:gd name="T70" fmla="*/ 1132815 w 2509838"/>
              <a:gd name="T71" fmla="*/ 1157959 h 1787526"/>
              <a:gd name="T72" fmla="*/ 1131450 w 2509838"/>
              <a:gd name="T73" fmla="*/ 605303 h 1787526"/>
              <a:gd name="T74" fmla="*/ 1713065 w 2509838"/>
              <a:gd name="T75" fmla="*/ 508680 h 1787526"/>
              <a:gd name="T76" fmla="*/ 1733550 w 2509838"/>
              <a:gd name="T77" fmla="*/ 545860 h 1787526"/>
              <a:gd name="T78" fmla="*/ 1715797 w 2509838"/>
              <a:gd name="T79" fmla="*/ 1168174 h 1787526"/>
              <a:gd name="T80" fmla="*/ 1612689 w 2509838"/>
              <a:gd name="T81" fmla="*/ 1153438 h 1787526"/>
              <a:gd name="T82" fmla="*/ 1614055 w 2509838"/>
              <a:gd name="T83" fmla="*/ 521829 h 1787526"/>
              <a:gd name="T84" fmla="*/ 1733550 w 2509838"/>
              <a:gd name="T85" fmla="*/ 464215 h 1787526"/>
              <a:gd name="T86" fmla="*/ 1501548 w 2509838"/>
              <a:gd name="T87" fmla="*/ 379141 h 1787526"/>
              <a:gd name="T88" fmla="*/ 188232 w 2509838"/>
              <a:gd name="T89" fmla="*/ 103187 h 1787526"/>
              <a:gd name="T90" fmla="*/ 158976 w 2509838"/>
              <a:gd name="T91" fmla="*/ 139700 h 1787526"/>
              <a:gd name="T92" fmla="*/ 160110 w 2509838"/>
              <a:gd name="T93" fmla="*/ 1353684 h 1787526"/>
              <a:gd name="T94" fmla="*/ 191407 w 2509838"/>
              <a:gd name="T95" fmla="*/ 1389063 h 1787526"/>
              <a:gd name="T96" fmla="*/ 2288041 w 2509838"/>
              <a:gd name="T97" fmla="*/ 1398588 h 1787526"/>
              <a:gd name="T98" fmla="*/ 2332945 w 2509838"/>
              <a:gd name="T99" fmla="*/ 1378857 h 1787526"/>
              <a:gd name="T100" fmla="*/ 2354036 w 2509838"/>
              <a:gd name="T101" fmla="*/ 1337129 h 1787526"/>
              <a:gd name="T102" fmla="*/ 2343830 w 2509838"/>
              <a:gd name="T103" fmla="*/ 124505 h 1787526"/>
              <a:gd name="T104" fmla="*/ 2305957 w 2509838"/>
              <a:gd name="T105" fmla="*/ 95704 h 1787526"/>
              <a:gd name="T106" fmla="*/ 2436813 w 2509838"/>
              <a:gd name="T107" fmla="*/ 680 h 1787526"/>
              <a:gd name="T108" fmla="*/ 2486479 w 2509838"/>
              <a:gd name="T109" fmla="*/ 25400 h 1787526"/>
              <a:gd name="T110" fmla="*/ 2508250 w 2509838"/>
              <a:gd name="T111" fmla="*/ 74159 h 1787526"/>
              <a:gd name="T112" fmla="*/ 2493963 w 2509838"/>
              <a:gd name="T113" fmla="*/ 1455965 h 1787526"/>
              <a:gd name="T114" fmla="*/ 2449286 w 2509838"/>
              <a:gd name="T115" fmla="*/ 1487034 h 1787526"/>
              <a:gd name="T116" fmla="*/ 57150 w 2509838"/>
              <a:gd name="T117" fmla="*/ 1485674 h 1787526"/>
              <a:gd name="T118" fmla="*/ 13833 w 2509838"/>
              <a:gd name="T119" fmla="*/ 1452790 h 1787526"/>
              <a:gd name="T120" fmla="*/ 2041 w 2509838"/>
              <a:gd name="T121" fmla="*/ 70304 h 1787526"/>
              <a:gd name="T122" fmla="*/ 26307 w 2509838"/>
              <a:gd name="T123" fmla="*/ 22905 h 1787526"/>
              <a:gd name="T124" fmla="*/ 77333 w 2509838"/>
              <a:gd name="T125" fmla="*/ 227 h 1787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09838" h="1787526">
                <a:moveTo>
                  <a:pt x="80048" y="1566863"/>
                </a:moveTo>
                <a:lnTo>
                  <a:pt x="84357" y="1566863"/>
                </a:lnTo>
                <a:lnTo>
                  <a:pt x="1096637" y="1566863"/>
                </a:lnTo>
                <a:lnTo>
                  <a:pt x="1094823" y="1569568"/>
                </a:lnTo>
                <a:lnTo>
                  <a:pt x="1093235" y="1572498"/>
                </a:lnTo>
                <a:lnTo>
                  <a:pt x="1092102" y="1575879"/>
                </a:lnTo>
                <a:lnTo>
                  <a:pt x="1090968" y="1579035"/>
                </a:lnTo>
                <a:lnTo>
                  <a:pt x="1090287" y="1582415"/>
                </a:lnTo>
                <a:lnTo>
                  <a:pt x="1089607" y="1585571"/>
                </a:lnTo>
                <a:lnTo>
                  <a:pt x="1089380" y="1589177"/>
                </a:lnTo>
                <a:lnTo>
                  <a:pt x="1089154" y="1592558"/>
                </a:lnTo>
                <a:lnTo>
                  <a:pt x="1089380" y="1597968"/>
                </a:lnTo>
                <a:lnTo>
                  <a:pt x="1090287" y="1603152"/>
                </a:lnTo>
                <a:lnTo>
                  <a:pt x="1091648" y="1608111"/>
                </a:lnTo>
                <a:lnTo>
                  <a:pt x="1093689" y="1612844"/>
                </a:lnTo>
                <a:lnTo>
                  <a:pt x="1095957" y="1617352"/>
                </a:lnTo>
                <a:lnTo>
                  <a:pt x="1098678" y="1621634"/>
                </a:lnTo>
                <a:lnTo>
                  <a:pt x="1101853" y="1625692"/>
                </a:lnTo>
                <a:lnTo>
                  <a:pt x="1105481" y="1629523"/>
                </a:lnTo>
                <a:lnTo>
                  <a:pt x="1109563" y="1632679"/>
                </a:lnTo>
                <a:lnTo>
                  <a:pt x="1113871" y="1635834"/>
                </a:lnTo>
                <a:lnTo>
                  <a:pt x="1118633" y="1638314"/>
                </a:lnTo>
                <a:lnTo>
                  <a:pt x="1123395" y="1640568"/>
                </a:lnTo>
                <a:lnTo>
                  <a:pt x="1128611" y="1642371"/>
                </a:lnTo>
                <a:lnTo>
                  <a:pt x="1134053" y="1643498"/>
                </a:lnTo>
                <a:lnTo>
                  <a:pt x="1139496" y="1644174"/>
                </a:lnTo>
                <a:lnTo>
                  <a:pt x="1145391" y="1644625"/>
                </a:lnTo>
                <a:lnTo>
                  <a:pt x="1364673" y="1644625"/>
                </a:lnTo>
                <a:lnTo>
                  <a:pt x="1370343" y="1644174"/>
                </a:lnTo>
                <a:lnTo>
                  <a:pt x="1376012" y="1643498"/>
                </a:lnTo>
                <a:lnTo>
                  <a:pt x="1381227" y="1642371"/>
                </a:lnTo>
                <a:lnTo>
                  <a:pt x="1386443" y="1640568"/>
                </a:lnTo>
                <a:lnTo>
                  <a:pt x="1391432" y="1638314"/>
                </a:lnTo>
                <a:lnTo>
                  <a:pt x="1396194" y="1635834"/>
                </a:lnTo>
                <a:lnTo>
                  <a:pt x="1400502" y="1632679"/>
                </a:lnTo>
                <a:lnTo>
                  <a:pt x="1404357" y="1629523"/>
                </a:lnTo>
                <a:lnTo>
                  <a:pt x="1407986" y="1625692"/>
                </a:lnTo>
                <a:lnTo>
                  <a:pt x="1411160" y="1621634"/>
                </a:lnTo>
                <a:lnTo>
                  <a:pt x="1414108" y="1617352"/>
                </a:lnTo>
                <a:lnTo>
                  <a:pt x="1416376" y="1612844"/>
                </a:lnTo>
                <a:lnTo>
                  <a:pt x="1418417" y="1608111"/>
                </a:lnTo>
                <a:lnTo>
                  <a:pt x="1419551" y="1603152"/>
                </a:lnTo>
                <a:lnTo>
                  <a:pt x="1420684" y="1597968"/>
                </a:lnTo>
                <a:lnTo>
                  <a:pt x="1420911" y="1592558"/>
                </a:lnTo>
                <a:lnTo>
                  <a:pt x="1420684" y="1589177"/>
                </a:lnTo>
                <a:lnTo>
                  <a:pt x="1420231" y="1585571"/>
                </a:lnTo>
                <a:lnTo>
                  <a:pt x="1419551" y="1582415"/>
                </a:lnTo>
                <a:lnTo>
                  <a:pt x="1418870" y="1579035"/>
                </a:lnTo>
                <a:lnTo>
                  <a:pt x="1417737" y="1575879"/>
                </a:lnTo>
                <a:lnTo>
                  <a:pt x="1416603" y="1572498"/>
                </a:lnTo>
                <a:lnTo>
                  <a:pt x="1415015" y="1569568"/>
                </a:lnTo>
                <a:lnTo>
                  <a:pt x="1413201" y="1566863"/>
                </a:lnTo>
                <a:lnTo>
                  <a:pt x="2425481" y="1566863"/>
                </a:lnTo>
                <a:lnTo>
                  <a:pt x="2429790" y="1566863"/>
                </a:lnTo>
                <a:lnTo>
                  <a:pt x="2434099" y="1567089"/>
                </a:lnTo>
                <a:lnTo>
                  <a:pt x="2438407" y="1567539"/>
                </a:lnTo>
                <a:lnTo>
                  <a:pt x="2442489" y="1568216"/>
                </a:lnTo>
                <a:lnTo>
                  <a:pt x="2446571" y="1569117"/>
                </a:lnTo>
                <a:lnTo>
                  <a:pt x="2450426" y="1570244"/>
                </a:lnTo>
                <a:lnTo>
                  <a:pt x="2454507" y="1571596"/>
                </a:lnTo>
                <a:lnTo>
                  <a:pt x="2458362" y="1572723"/>
                </a:lnTo>
                <a:lnTo>
                  <a:pt x="2462217" y="1574301"/>
                </a:lnTo>
                <a:lnTo>
                  <a:pt x="2465619" y="1576104"/>
                </a:lnTo>
                <a:lnTo>
                  <a:pt x="2469247" y="1578133"/>
                </a:lnTo>
                <a:lnTo>
                  <a:pt x="2472422" y="1580162"/>
                </a:lnTo>
                <a:lnTo>
                  <a:pt x="2476050" y="1581965"/>
                </a:lnTo>
                <a:lnTo>
                  <a:pt x="2478998" y="1584669"/>
                </a:lnTo>
                <a:lnTo>
                  <a:pt x="2482173" y="1586923"/>
                </a:lnTo>
                <a:lnTo>
                  <a:pt x="2485121" y="1589628"/>
                </a:lnTo>
                <a:lnTo>
                  <a:pt x="2487842" y="1592108"/>
                </a:lnTo>
                <a:lnTo>
                  <a:pt x="2490336" y="1595038"/>
                </a:lnTo>
                <a:lnTo>
                  <a:pt x="2492831" y="1597968"/>
                </a:lnTo>
                <a:lnTo>
                  <a:pt x="2495552" y="1601123"/>
                </a:lnTo>
                <a:lnTo>
                  <a:pt x="2497366" y="1604054"/>
                </a:lnTo>
                <a:lnTo>
                  <a:pt x="2499407" y="1607434"/>
                </a:lnTo>
                <a:lnTo>
                  <a:pt x="2501448" y="1610815"/>
                </a:lnTo>
                <a:lnTo>
                  <a:pt x="2503035" y="1614196"/>
                </a:lnTo>
                <a:lnTo>
                  <a:pt x="2504623" y="1618028"/>
                </a:lnTo>
                <a:lnTo>
                  <a:pt x="2505983" y="1621409"/>
                </a:lnTo>
                <a:lnTo>
                  <a:pt x="2507117" y="1625241"/>
                </a:lnTo>
                <a:lnTo>
                  <a:pt x="2508024" y="1629073"/>
                </a:lnTo>
                <a:lnTo>
                  <a:pt x="2508704" y="1632679"/>
                </a:lnTo>
                <a:lnTo>
                  <a:pt x="2509385" y="1636736"/>
                </a:lnTo>
                <a:lnTo>
                  <a:pt x="2509611" y="1640568"/>
                </a:lnTo>
                <a:lnTo>
                  <a:pt x="2509838" y="1644625"/>
                </a:lnTo>
                <a:lnTo>
                  <a:pt x="2509838" y="1709764"/>
                </a:lnTo>
                <a:lnTo>
                  <a:pt x="2509611" y="1713822"/>
                </a:lnTo>
                <a:lnTo>
                  <a:pt x="2509385" y="1717428"/>
                </a:lnTo>
                <a:lnTo>
                  <a:pt x="2508704" y="1721485"/>
                </a:lnTo>
                <a:lnTo>
                  <a:pt x="2508024" y="1725317"/>
                </a:lnTo>
                <a:lnTo>
                  <a:pt x="2507117" y="1729148"/>
                </a:lnTo>
                <a:lnTo>
                  <a:pt x="2505983" y="1732755"/>
                </a:lnTo>
                <a:lnTo>
                  <a:pt x="2504623" y="1736361"/>
                </a:lnTo>
                <a:lnTo>
                  <a:pt x="2503035" y="1740193"/>
                </a:lnTo>
                <a:lnTo>
                  <a:pt x="2501448" y="1743348"/>
                </a:lnTo>
                <a:lnTo>
                  <a:pt x="2499407" y="1746955"/>
                </a:lnTo>
                <a:lnTo>
                  <a:pt x="2497366" y="1750110"/>
                </a:lnTo>
                <a:lnTo>
                  <a:pt x="2495552" y="1753040"/>
                </a:lnTo>
                <a:lnTo>
                  <a:pt x="2492831" y="1756421"/>
                </a:lnTo>
                <a:lnTo>
                  <a:pt x="2490336" y="1759126"/>
                </a:lnTo>
                <a:lnTo>
                  <a:pt x="2487842" y="1762282"/>
                </a:lnTo>
                <a:lnTo>
                  <a:pt x="2485121" y="1764761"/>
                </a:lnTo>
                <a:lnTo>
                  <a:pt x="2482173" y="1767466"/>
                </a:lnTo>
                <a:lnTo>
                  <a:pt x="2478998" y="1769720"/>
                </a:lnTo>
                <a:lnTo>
                  <a:pt x="2476050" y="1772199"/>
                </a:lnTo>
                <a:lnTo>
                  <a:pt x="2472422" y="1774228"/>
                </a:lnTo>
                <a:lnTo>
                  <a:pt x="2469247" y="1776256"/>
                </a:lnTo>
                <a:lnTo>
                  <a:pt x="2465619" y="1778285"/>
                </a:lnTo>
                <a:lnTo>
                  <a:pt x="2462217" y="1780088"/>
                </a:lnTo>
                <a:lnTo>
                  <a:pt x="2458362" y="1781440"/>
                </a:lnTo>
                <a:lnTo>
                  <a:pt x="2454507" y="1782793"/>
                </a:lnTo>
                <a:lnTo>
                  <a:pt x="2450426" y="1783920"/>
                </a:lnTo>
                <a:lnTo>
                  <a:pt x="2446571" y="1785272"/>
                </a:lnTo>
                <a:lnTo>
                  <a:pt x="2442489" y="1785948"/>
                </a:lnTo>
                <a:lnTo>
                  <a:pt x="2438407" y="1786850"/>
                </a:lnTo>
                <a:lnTo>
                  <a:pt x="2434099" y="1787301"/>
                </a:lnTo>
                <a:lnTo>
                  <a:pt x="2429790" y="1787526"/>
                </a:lnTo>
                <a:lnTo>
                  <a:pt x="2425481" y="1787526"/>
                </a:lnTo>
                <a:lnTo>
                  <a:pt x="84357" y="1787526"/>
                </a:lnTo>
                <a:lnTo>
                  <a:pt x="80048" y="1787526"/>
                </a:lnTo>
                <a:lnTo>
                  <a:pt x="75740" y="1787301"/>
                </a:lnTo>
                <a:lnTo>
                  <a:pt x="71431" y="1786850"/>
                </a:lnTo>
                <a:lnTo>
                  <a:pt x="67349" y="1785948"/>
                </a:lnTo>
                <a:lnTo>
                  <a:pt x="63494" y="1785272"/>
                </a:lnTo>
                <a:lnTo>
                  <a:pt x="59413" y="1783920"/>
                </a:lnTo>
                <a:lnTo>
                  <a:pt x="55558" y="1782793"/>
                </a:lnTo>
                <a:lnTo>
                  <a:pt x="51476" y="1781440"/>
                </a:lnTo>
                <a:lnTo>
                  <a:pt x="48074" y="1780088"/>
                </a:lnTo>
                <a:lnTo>
                  <a:pt x="44219" y="1778285"/>
                </a:lnTo>
                <a:lnTo>
                  <a:pt x="40591" y="1776256"/>
                </a:lnTo>
                <a:lnTo>
                  <a:pt x="37416" y="1774228"/>
                </a:lnTo>
                <a:lnTo>
                  <a:pt x="33788" y="1772199"/>
                </a:lnTo>
                <a:lnTo>
                  <a:pt x="30840" y="1769720"/>
                </a:lnTo>
                <a:lnTo>
                  <a:pt x="27892" y="1767466"/>
                </a:lnTo>
                <a:lnTo>
                  <a:pt x="24717" y="1764761"/>
                </a:lnTo>
                <a:lnTo>
                  <a:pt x="21996" y="1762282"/>
                </a:lnTo>
                <a:lnTo>
                  <a:pt x="19502" y="1759126"/>
                </a:lnTo>
                <a:lnTo>
                  <a:pt x="17007" y="1756421"/>
                </a:lnTo>
                <a:lnTo>
                  <a:pt x="14513" y="1753040"/>
                </a:lnTo>
                <a:lnTo>
                  <a:pt x="12472" y="1750110"/>
                </a:lnTo>
                <a:lnTo>
                  <a:pt x="10431" y="1746955"/>
                </a:lnTo>
                <a:lnTo>
                  <a:pt x="8390" y="1743348"/>
                </a:lnTo>
                <a:lnTo>
                  <a:pt x="6803" y="1740193"/>
                </a:lnTo>
                <a:lnTo>
                  <a:pt x="5442" y="1736361"/>
                </a:lnTo>
                <a:lnTo>
                  <a:pt x="3855" y="1732755"/>
                </a:lnTo>
                <a:lnTo>
                  <a:pt x="2948" y="1729148"/>
                </a:lnTo>
                <a:lnTo>
                  <a:pt x="1814" y="1725317"/>
                </a:lnTo>
                <a:lnTo>
                  <a:pt x="1134" y="1721485"/>
                </a:lnTo>
                <a:lnTo>
                  <a:pt x="680" y="1717428"/>
                </a:lnTo>
                <a:lnTo>
                  <a:pt x="227" y="1713822"/>
                </a:lnTo>
                <a:lnTo>
                  <a:pt x="0" y="1709764"/>
                </a:lnTo>
                <a:lnTo>
                  <a:pt x="0" y="1644625"/>
                </a:lnTo>
                <a:lnTo>
                  <a:pt x="227" y="1640568"/>
                </a:lnTo>
                <a:lnTo>
                  <a:pt x="680" y="1636736"/>
                </a:lnTo>
                <a:lnTo>
                  <a:pt x="1134" y="1632679"/>
                </a:lnTo>
                <a:lnTo>
                  <a:pt x="1814" y="1629073"/>
                </a:lnTo>
                <a:lnTo>
                  <a:pt x="2948" y="1625241"/>
                </a:lnTo>
                <a:lnTo>
                  <a:pt x="3855" y="1621409"/>
                </a:lnTo>
                <a:lnTo>
                  <a:pt x="5442" y="1618028"/>
                </a:lnTo>
                <a:lnTo>
                  <a:pt x="6803" y="1614196"/>
                </a:lnTo>
                <a:lnTo>
                  <a:pt x="8390" y="1610815"/>
                </a:lnTo>
                <a:lnTo>
                  <a:pt x="10431" y="1607434"/>
                </a:lnTo>
                <a:lnTo>
                  <a:pt x="12472" y="1604054"/>
                </a:lnTo>
                <a:lnTo>
                  <a:pt x="14513" y="1601123"/>
                </a:lnTo>
                <a:lnTo>
                  <a:pt x="17007" y="1597968"/>
                </a:lnTo>
                <a:lnTo>
                  <a:pt x="19502" y="1595038"/>
                </a:lnTo>
                <a:lnTo>
                  <a:pt x="21996" y="1592108"/>
                </a:lnTo>
                <a:lnTo>
                  <a:pt x="24717" y="1589628"/>
                </a:lnTo>
                <a:lnTo>
                  <a:pt x="27892" y="1586923"/>
                </a:lnTo>
                <a:lnTo>
                  <a:pt x="30840" y="1584669"/>
                </a:lnTo>
                <a:lnTo>
                  <a:pt x="33788" y="1581965"/>
                </a:lnTo>
                <a:lnTo>
                  <a:pt x="37416" y="1580162"/>
                </a:lnTo>
                <a:lnTo>
                  <a:pt x="40591" y="1578133"/>
                </a:lnTo>
                <a:lnTo>
                  <a:pt x="44219" y="1576104"/>
                </a:lnTo>
                <a:lnTo>
                  <a:pt x="48074" y="1574301"/>
                </a:lnTo>
                <a:lnTo>
                  <a:pt x="51476" y="1572723"/>
                </a:lnTo>
                <a:lnTo>
                  <a:pt x="55558" y="1571596"/>
                </a:lnTo>
                <a:lnTo>
                  <a:pt x="59413" y="1570244"/>
                </a:lnTo>
                <a:lnTo>
                  <a:pt x="63494" y="1569117"/>
                </a:lnTo>
                <a:lnTo>
                  <a:pt x="67349" y="1568216"/>
                </a:lnTo>
                <a:lnTo>
                  <a:pt x="71431" y="1567539"/>
                </a:lnTo>
                <a:lnTo>
                  <a:pt x="75740" y="1567089"/>
                </a:lnTo>
                <a:lnTo>
                  <a:pt x="80048" y="1566863"/>
                </a:lnTo>
                <a:close/>
                <a:moveTo>
                  <a:pt x="837043" y="738188"/>
                </a:moveTo>
                <a:lnTo>
                  <a:pt x="839735" y="738188"/>
                </a:lnTo>
                <a:lnTo>
                  <a:pt x="912639" y="738188"/>
                </a:lnTo>
                <a:lnTo>
                  <a:pt x="915107" y="738188"/>
                </a:lnTo>
                <a:lnTo>
                  <a:pt x="917575" y="738870"/>
                </a:lnTo>
                <a:lnTo>
                  <a:pt x="920042" y="739324"/>
                </a:lnTo>
                <a:lnTo>
                  <a:pt x="922285" y="740232"/>
                </a:lnTo>
                <a:lnTo>
                  <a:pt x="924529" y="741368"/>
                </a:lnTo>
                <a:lnTo>
                  <a:pt x="926772" y="742504"/>
                </a:lnTo>
                <a:lnTo>
                  <a:pt x="928791" y="743867"/>
                </a:lnTo>
                <a:lnTo>
                  <a:pt x="930585" y="745684"/>
                </a:lnTo>
                <a:lnTo>
                  <a:pt x="932155" y="747047"/>
                </a:lnTo>
                <a:lnTo>
                  <a:pt x="933501" y="749091"/>
                </a:lnTo>
                <a:lnTo>
                  <a:pt x="934847" y="751135"/>
                </a:lnTo>
                <a:lnTo>
                  <a:pt x="936193" y="753407"/>
                </a:lnTo>
                <a:lnTo>
                  <a:pt x="936866" y="755678"/>
                </a:lnTo>
                <a:lnTo>
                  <a:pt x="937315" y="757950"/>
                </a:lnTo>
                <a:lnTo>
                  <a:pt x="937763" y="760448"/>
                </a:lnTo>
                <a:lnTo>
                  <a:pt x="938212" y="762947"/>
                </a:lnTo>
                <a:lnTo>
                  <a:pt x="938212" y="1145229"/>
                </a:lnTo>
                <a:lnTo>
                  <a:pt x="937763" y="1147728"/>
                </a:lnTo>
                <a:lnTo>
                  <a:pt x="937315" y="1150227"/>
                </a:lnTo>
                <a:lnTo>
                  <a:pt x="936866" y="1152498"/>
                </a:lnTo>
                <a:lnTo>
                  <a:pt x="936193" y="1154770"/>
                </a:lnTo>
                <a:lnTo>
                  <a:pt x="934847" y="1157041"/>
                </a:lnTo>
                <a:lnTo>
                  <a:pt x="933501" y="1159085"/>
                </a:lnTo>
                <a:lnTo>
                  <a:pt x="932155" y="1160902"/>
                </a:lnTo>
                <a:lnTo>
                  <a:pt x="930585" y="1162720"/>
                </a:lnTo>
                <a:lnTo>
                  <a:pt x="928791" y="1164537"/>
                </a:lnTo>
                <a:lnTo>
                  <a:pt x="926772" y="1165672"/>
                </a:lnTo>
                <a:lnTo>
                  <a:pt x="924529" y="1167035"/>
                </a:lnTo>
                <a:lnTo>
                  <a:pt x="922285" y="1167944"/>
                </a:lnTo>
                <a:lnTo>
                  <a:pt x="920042" y="1168852"/>
                </a:lnTo>
                <a:lnTo>
                  <a:pt x="917575" y="1169534"/>
                </a:lnTo>
                <a:lnTo>
                  <a:pt x="915107" y="1169761"/>
                </a:lnTo>
                <a:lnTo>
                  <a:pt x="912639" y="1169988"/>
                </a:lnTo>
                <a:lnTo>
                  <a:pt x="839735" y="1169988"/>
                </a:lnTo>
                <a:lnTo>
                  <a:pt x="837043" y="1169761"/>
                </a:lnTo>
                <a:lnTo>
                  <a:pt x="834576" y="1169534"/>
                </a:lnTo>
                <a:lnTo>
                  <a:pt x="832108" y="1168852"/>
                </a:lnTo>
                <a:lnTo>
                  <a:pt x="829865" y="1167944"/>
                </a:lnTo>
                <a:lnTo>
                  <a:pt x="827622" y="1167035"/>
                </a:lnTo>
                <a:lnTo>
                  <a:pt x="825603" y="1165672"/>
                </a:lnTo>
                <a:lnTo>
                  <a:pt x="823584" y="1164537"/>
                </a:lnTo>
                <a:lnTo>
                  <a:pt x="821790" y="1162720"/>
                </a:lnTo>
                <a:lnTo>
                  <a:pt x="819995" y="1160902"/>
                </a:lnTo>
                <a:lnTo>
                  <a:pt x="818649" y="1159085"/>
                </a:lnTo>
                <a:lnTo>
                  <a:pt x="817303" y="1157041"/>
                </a:lnTo>
                <a:lnTo>
                  <a:pt x="816406" y="1154770"/>
                </a:lnTo>
                <a:lnTo>
                  <a:pt x="815284" y="1152498"/>
                </a:lnTo>
                <a:lnTo>
                  <a:pt x="814836" y="1150227"/>
                </a:lnTo>
                <a:lnTo>
                  <a:pt x="814387" y="1147728"/>
                </a:lnTo>
                <a:lnTo>
                  <a:pt x="814387" y="1145229"/>
                </a:lnTo>
                <a:lnTo>
                  <a:pt x="814387" y="762947"/>
                </a:lnTo>
                <a:lnTo>
                  <a:pt x="814387" y="760448"/>
                </a:lnTo>
                <a:lnTo>
                  <a:pt x="814836" y="757950"/>
                </a:lnTo>
                <a:lnTo>
                  <a:pt x="815284" y="755678"/>
                </a:lnTo>
                <a:lnTo>
                  <a:pt x="816406" y="753407"/>
                </a:lnTo>
                <a:lnTo>
                  <a:pt x="817303" y="751135"/>
                </a:lnTo>
                <a:lnTo>
                  <a:pt x="818649" y="749091"/>
                </a:lnTo>
                <a:lnTo>
                  <a:pt x="819995" y="747047"/>
                </a:lnTo>
                <a:lnTo>
                  <a:pt x="821790" y="745684"/>
                </a:lnTo>
                <a:lnTo>
                  <a:pt x="823584" y="743867"/>
                </a:lnTo>
                <a:lnTo>
                  <a:pt x="825603" y="742504"/>
                </a:lnTo>
                <a:lnTo>
                  <a:pt x="827622" y="741368"/>
                </a:lnTo>
                <a:lnTo>
                  <a:pt x="829865" y="740232"/>
                </a:lnTo>
                <a:lnTo>
                  <a:pt x="832108" y="739324"/>
                </a:lnTo>
                <a:lnTo>
                  <a:pt x="834576" y="738870"/>
                </a:lnTo>
                <a:lnTo>
                  <a:pt x="837043" y="738188"/>
                </a:lnTo>
                <a:close/>
                <a:moveTo>
                  <a:pt x="1318322" y="671513"/>
                </a:moveTo>
                <a:lnTo>
                  <a:pt x="1320794" y="671513"/>
                </a:lnTo>
                <a:lnTo>
                  <a:pt x="1394056" y="671513"/>
                </a:lnTo>
                <a:lnTo>
                  <a:pt x="1396528" y="671513"/>
                </a:lnTo>
                <a:lnTo>
                  <a:pt x="1399000" y="671966"/>
                </a:lnTo>
                <a:lnTo>
                  <a:pt x="1401472" y="672873"/>
                </a:lnTo>
                <a:lnTo>
                  <a:pt x="1403719" y="673553"/>
                </a:lnTo>
                <a:lnTo>
                  <a:pt x="1405966" y="674913"/>
                </a:lnTo>
                <a:lnTo>
                  <a:pt x="1408213" y="676273"/>
                </a:lnTo>
                <a:lnTo>
                  <a:pt x="1410011" y="677860"/>
                </a:lnTo>
                <a:lnTo>
                  <a:pt x="1412034" y="679900"/>
                </a:lnTo>
                <a:lnTo>
                  <a:pt x="1413607" y="681941"/>
                </a:lnTo>
                <a:lnTo>
                  <a:pt x="1414955" y="683981"/>
                </a:lnTo>
                <a:lnTo>
                  <a:pt x="1416304" y="686474"/>
                </a:lnTo>
                <a:lnTo>
                  <a:pt x="1417203" y="688968"/>
                </a:lnTo>
                <a:lnTo>
                  <a:pt x="1418326" y="691461"/>
                </a:lnTo>
                <a:lnTo>
                  <a:pt x="1418776" y="694181"/>
                </a:lnTo>
                <a:lnTo>
                  <a:pt x="1419225" y="696902"/>
                </a:lnTo>
                <a:lnTo>
                  <a:pt x="1419225" y="699848"/>
                </a:lnTo>
                <a:lnTo>
                  <a:pt x="1419225" y="1141426"/>
                </a:lnTo>
                <a:lnTo>
                  <a:pt x="1419225" y="1144373"/>
                </a:lnTo>
                <a:lnTo>
                  <a:pt x="1418776" y="1147320"/>
                </a:lnTo>
                <a:lnTo>
                  <a:pt x="1418326" y="1149813"/>
                </a:lnTo>
                <a:lnTo>
                  <a:pt x="1417203" y="1152534"/>
                </a:lnTo>
                <a:lnTo>
                  <a:pt x="1416304" y="1155254"/>
                </a:lnTo>
                <a:lnTo>
                  <a:pt x="1414955" y="1157521"/>
                </a:lnTo>
                <a:lnTo>
                  <a:pt x="1413607" y="1159787"/>
                </a:lnTo>
                <a:lnTo>
                  <a:pt x="1412034" y="1161601"/>
                </a:lnTo>
                <a:lnTo>
                  <a:pt x="1410011" y="1163414"/>
                </a:lnTo>
                <a:lnTo>
                  <a:pt x="1408213" y="1165228"/>
                </a:lnTo>
                <a:lnTo>
                  <a:pt x="1405966" y="1166588"/>
                </a:lnTo>
                <a:lnTo>
                  <a:pt x="1403719" y="1167721"/>
                </a:lnTo>
                <a:lnTo>
                  <a:pt x="1401472" y="1168855"/>
                </a:lnTo>
                <a:lnTo>
                  <a:pt x="1399000" y="1169535"/>
                </a:lnTo>
                <a:lnTo>
                  <a:pt x="1396528" y="1169761"/>
                </a:lnTo>
                <a:lnTo>
                  <a:pt x="1394056" y="1169988"/>
                </a:lnTo>
                <a:lnTo>
                  <a:pt x="1320794" y="1169988"/>
                </a:lnTo>
                <a:lnTo>
                  <a:pt x="1318322" y="1169761"/>
                </a:lnTo>
                <a:lnTo>
                  <a:pt x="1315850" y="1169535"/>
                </a:lnTo>
                <a:lnTo>
                  <a:pt x="1313154" y="1168855"/>
                </a:lnTo>
                <a:lnTo>
                  <a:pt x="1310906" y="1167721"/>
                </a:lnTo>
                <a:lnTo>
                  <a:pt x="1308659" y="1166588"/>
                </a:lnTo>
                <a:lnTo>
                  <a:pt x="1306861" y="1165228"/>
                </a:lnTo>
                <a:lnTo>
                  <a:pt x="1304839" y="1163414"/>
                </a:lnTo>
                <a:lnTo>
                  <a:pt x="1303041" y="1161601"/>
                </a:lnTo>
                <a:lnTo>
                  <a:pt x="1301243" y="1159787"/>
                </a:lnTo>
                <a:lnTo>
                  <a:pt x="1299670" y="1157521"/>
                </a:lnTo>
                <a:lnTo>
                  <a:pt x="1298546" y="1155254"/>
                </a:lnTo>
                <a:lnTo>
                  <a:pt x="1297423" y="1152534"/>
                </a:lnTo>
                <a:lnTo>
                  <a:pt x="1296524" y="1149813"/>
                </a:lnTo>
                <a:lnTo>
                  <a:pt x="1296074" y="1147320"/>
                </a:lnTo>
                <a:lnTo>
                  <a:pt x="1295400" y="1144373"/>
                </a:lnTo>
                <a:lnTo>
                  <a:pt x="1295400" y="1141426"/>
                </a:lnTo>
                <a:lnTo>
                  <a:pt x="1295400" y="699848"/>
                </a:lnTo>
                <a:lnTo>
                  <a:pt x="1295400" y="696902"/>
                </a:lnTo>
                <a:lnTo>
                  <a:pt x="1296074" y="694181"/>
                </a:lnTo>
                <a:lnTo>
                  <a:pt x="1296524" y="691461"/>
                </a:lnTo>
                <a:lnTo>
                  <a:pt x="1297423" y="688968"/>
                </a:lnTo>
                <a:lnTo>
                  <a:pt x="1298546" y="686474"/>
                </a:lnTo>
                <a:lnTo>
                  <a:pt x="1299670" y="683981"/>
                </a:lnTo>
                <a:lnTo>
                  <a:pt x="1301243" y="681941"/>
                </a:lnTo>
                <a:lnTo>
                  <a:pt x="1303041" y="679900"/>
                </a:lnTo>
                <a:lnTo>
                  <a:pt x="1304839" y="677860"/>
                </a:lnTo>
                <a:lnTo>
                  <a:pt x="1306861" y="676273"/>
                </a:lnTo>
                <a:lnTo>
                  <a:pt x="1308659" y="674913"/>
                </a:lnTo>
                <a:lnTo>
                  <a:pt x="1310906" y="673553"/>
                </a:lnTo>
                <a:lnTo>
                  <a:pt x="1313154" y="672873"/>
                </a:lnTo>
                <a:lnTo>
                  <a:pt x="1315850" y="671966"/>
                </a:lnTo>
                <a:lnTo>
                  <a:pt x="1318322" y="671513"/>
                </a:lnTo>
                <a:close/>
                <a:moveTo>
                  <a:pt x="988416" y="671513"/>
                </a:moveTo>
                <a:lnTo>
                  <a:pt x="990920" y="671513"/>
                </a:lnTo>
                <a:lnTo>
                  <a:pt x="1065121" y="671513"/>
                </a:lnTo>
                <a:lnTo>
                  <a:pt x="1067624" y="671513"/>
                </a:lnTo>
                <a:lnTo>
                  <a:pt x="1070128" y="671966"/>
                </a:lnTo>
                <a:lnTo>
                  <a:pt x="1072632" y="672873"/>
                </a:lnTo>
                <a:lnTo>
                  <a:pt x="1074908" y="673553"/>
                </a:lnTo>
                <a:lnTo>
                  <a:pt x="1077184" y="674913"/>
                </a:lnTo>
                <a:lnTo>
                  <a:pt x="1079460" y="676273"/>
                </a:lnTo>
                <a:lnTo>
                  <a:pt x="1081281" y="677860"/>
                </a:lnTo>
                <a:lnTo>
                  <a:pt x="1083330" y="679900"/>
                </a:lnTo>
                <a:lnTo>
                  <a:pt x="1084923" y="681941"/>
                </a:lnTo>
                <a:lnTo>
                  <a:pt x="1086288" y="683981"/>
                </a:lnTo>
                <a:lnTo>
                  <a:pt x="1087654" y="686474"/>
                </a:lnTo>
                <a:lnTo>
                  <a:pt x="1088565" y="688968"/>
                </a:lnTo>
                <a:lnTo>
                  <a:pt x="1089703" y="691461"/>
                </a:lnTo>
                <a:lnTo>
                  <a:pt x="1090158" y="694181"/>
                </a:lnTo>
                <a:lnTo>
                  <a:pt x="1090613" y="696902"/>
                </a:lnTo>
                <a:lnTo>
                  <a:pt x="1090613" y="699848"/>
                </a:lnTo>
                <a:lnTo>
                  <a:pt x="1090613" y="1141426"/>
                </a:lnTo>
                <a:lnTo>
                  <a:pt x="1090613" y="1144373"/>
                </a:lnTo>
                <a:lnTo>
                  <a:pt x="1090158" y="1147320"/>
                </a:lnTo>
                <a:lnTo>
                  <a:pt x="1089703" y="1149813"/>
                </a:lnTo>
                <a:lnTo>
                  <a:pt x="1088565" y="1152534"/>
                </a:lnTo>
                <a:lnTo>
                  <a:pt x="1087654" y="1155254"/>
                </a:lnTo>
                <a:lnTo>
                  <a:pt x="1086288" y="1157521"/>
                </a:lnTo>
                <a:lnTo>
                  <a:pt x="1084923" y="1159787"/>
                </a:lnTo>
                <a:lnTo>
                  <a:pt x="1083330" y="1161601"/>
                </a:lnTo>
                <a:lnTo>
                  <a:pt x="1081281" y="1163414"/>
                </a:lnTo>
                <a:lnTo>
                  <a:pt x="1079460" y="1165228"/>
                </a:lnTo>
                <a:lnTo>
                  <a:pt x="1077184" y="1166588"/>
                </a:lnTo>
                <a:lnTo>
                  <a:pt x="1074908" y="1167721"/>
                </a:lnTo>
                <a:lnTo>
                  <a:pt x="1072632" y="1168855"/>
                </a:lnTo>
                <a:lnTo>
                  <a:pt x="1070128" y="1169535"/>
                </a:lnTo>
                <a:lnTo>
                  <a:pt x="1067624" y="1169761"/>
                </a:lnTo>
                <a:lnTo>
                  <a:pt x="1065121" y="1169988"/>
                </a:lnTo>
                <a:lnTo>
                  <a:pt x="990920" y="1169988"/>
                </a:lnTo>
                <a:lnTo>
                  <a:pt x="988416" y="1169761"/>
                </a:lnTo>
                <a:lnTo>
                  <a:pt x="985685" y="1169535"/>
                </a:lnTo>
                <a:lnTo>
                  <a:pt x="983181" y="1168855"/>
                </a:lnTo>
                <a:lnTo>
                  <a:pt x="980905" y="1167721"/>
                </a:lnTo>
                <a:lnTo>
                  <a:pt x="978629" y="1166588"/>
                </a:lnTo>
                <a:lnTo>
                  <a:pt x="976581" y="1165228"/>
                </a:lnTo>
                <a:lnTo>
                  <a:pt x="974532" y="1163414"/>
                </a:lnTo>
                <a:lnTo>
                  <a:pt x="972939" y="1161601"/>
                </a:lnTo>
                <a:lnTo>
                  <a:pt x="971118" y="1159787"/>
                </a:lnTo>
                <a:lnTo>
                  <a:pt x="969525" y="1157521"/>
                </a:lnTo>
                <a:lnTo>
                  <a:pt x="968387" y="1155254"/>
                </a:lnTo>
                <a:lnTo>
                  <a:pt x="967249" y="1152534"/>
                </a:lnTo>
                <a:lnTo>
                  <a:pt x="966338" y="1149813"/>
                </a:lnTo>
                <a:lnTo>
                  <a:pt x="965883" y="1147320"/>
                </a:lnTo>
                <a:lnTo>
                  <a:pt x="965200" y="1144373"/>
                </a:lnTo>
                <a:lnTo>
                  <a:pt x="965200" y="1141426"/>
                </a:lnTo>
                <a:lnTo>
                  <a:pt x="965200" y="699848"/>
                </a:lnTo>
                <a:lnTo>
                  <a:pt x="965200" y="696902"/>
                </a:lnTo>
                <a:lnTo>
                  <a:pt x="965883" y="694181"/>
                </a:lnTo>
                <a:lnTo>
                  <a:pt x="966338" y="691461"/>
                </a:lnTo>
                <a:lnTo>
                  <a:pt x="967249" y="688968"/>
                </a:lnTo>
                <a:lnTo>
                  <a:pt x="968387" y="686474"/>
                </a:lnTo>
                <a:lnTo>
                  <a:pt x="969525" y="683981"/>
                </a:lnTo>
                <a:lnTo>
                  <a:pt x="971118" y="681941"/>
                </a:lnTo>
                <a:lnTo>
                  <a:pt x="972939" y="679900"/>
                </a:lnTo>
                <a:lnTo>
                  <a:pt x="974532" y="677860"/>
                </a:lnTo>
                <a:lnTo>
                  <a:pt x="976581" y="676273"/>
                </a:lnTo>
                <a:lnTo>
                  <a:pt x="978629" y="674913"/>
                </a:lnTo>
                <a:lnTo>
                  <a:pt x="980905" y="673553"/>
                </a:lnTo>
                <a:lnTo>
                  <a:pt x="983181" y="672873"/>
                </a:lnTo>
                <a:lnTo>
                  <a:pt x="985685" y="671966"/>
                </a:lnTo>
                <a:lnTo>
                  <a:pt x="988416" y="671513"/>
                </a:lnTo>
                <a:close/>
                <a:moveTo>
                  <a:pt x="1471932" y="590550"/>
                </a:moveTo>
                <a:lnTo>
                  <a:pt x="1546133" y="590550"/>
                </a:lnTo>
                <a:lnTo>
                  <a:pt x="1548636" y="590777"/>
                </a:lnTo>
                <a:lnTo>
                  <a:pt x="1551140" y="591231"/>
                </a:lnTo>
                <a:lnTo>
                  <a:pt x="1553644" y="592139"/>
                </a:lnTo>
                <a:lnTo>
                  <a:pt x="1555920" y="593274"/>
                </a:lnTo>
                <a:lnTo>
                  <a:pt x="1558196" y="594635"/>
                </a:lnTo>
                <a:lnTo>
                  <a:pt x="1560472" y="596451"/>
                </a:lnTo>
                <a:lnTo>
                  <a:pt x="1562293" y="598267"/>
                </a:lnTo>
                <a:lnTo>
                  <a:pt x="1564342" y="600537"/>
                </a:lnTo>
                <a:lnTo>
                  <a:pt x="1565707" y="602806"/>
                </a:lnTo>
                <a:lnTo>
                  <a:pt x="1567300" y="605303"/>
                </a:lnTo>
                <a:lnTo>
                  <a:pt x="1568666" y="608026"/>
                </a:lnTo>
                <a:lnTo>
                  <a:pt x="1569577" y="610750"/>
                </a:lnTo>
                <a:lnTo>
                  <a:pt x="1570487" y="613927"/>
                </a:lnTo>
                <a:lnTo>
                  <a:pt x="1571170" y="617105"/>
                </a:lnTo>
                <a:lnTo>
                  <a:pt x="1571625" y="620282"/>
                </a:lnTo>
                <a:lnTo>
                  <a:pt x="1571625" y="623687"/>
                </a:lnTo>
                <a:lnTo>
                  <a:pt x="1571625" y="1136851"/>
                </a:lnTo>
                <a:lnTo>
                  <a:pt x="1571625" y="1140256"/>
                </a:lnTo>
                <a:lnTo>
                  <a:pt x="1571170" y="1143433"/>
                </a:lnTo>
                <a:lnTo>
                  <a:pt x="1570487" y="1146838"/>
                </a:lnTo>
                <a:lnTo>
                  <a:pt x="1569577" y="1149788"/>
                </a:lnTo>
                <a:lnTo>
                  <a:pt x="1568666" y="1152512"/>
                </a:lnTo>
                <a:lnTo>
                  <a:pt x="1567300" y="1155462"/>
                </a:lnTo>
                <a:lnTo>
                  <a:pt x="1565707" y="1157959"/>
                </a:lnTo>
                <a:lnTo>
                  <a:pt x="1564342" y="1160229"/>
                </a:lnTo>
                <a:lnTo>
                  <a:pt x="1562293" y="1162498"/>
                </a:lnTo>
                <a:lnTo>
                  <a:pt x="1560472" y="1164314"/>
                </a:lnTo>
                <a:lnTo>
                  <a:pt x="1558196" y="1165903"/>
                </a:lnTo>
                <a:lnTo>
                  <a:pt x="1555920" y="1167492"/>
                </a:lnTo>
                <a:lnTo>
                  <a:pt x="1553644" y="1168399"/>
                </a:lnTo>
                <a:lnTo>
                  <a:pt x="1551140" y="1169307"/>
                </a:lnTo>
                <a:lnTo>
                  <a:pt x="1548636" y="1169761"/>
                </a:lnTo>
                <a:lnTo>
                  <a:pt x="1546133" y="1169988"/>
                </a:lnTo>
                <a:lnTo>
                  <a:pt x="1471932" y="1169988"/>
                </a:lnTo>
                <a:lnTo>
                  <a:pt x="1469201" y="1169761"/>
                </a:lnTo>
                <a:lnTo>
                  <a:pt x="1466697" y="1169307"/>
                </a:lnTo>
                <a:lnTo>
                  <a:pt x="1464193" y="1168399"/>
                </a:lnTo>
                <a:lnTo>
                  <a:pt x="1461917" y="1167492"/>
                </a:lnTo>
                <a:lnTo>
                  <a:pt x="1459641" y="1165903"/>
                </a:lnTo>
                <a:lnTo>
                  <a:pt x="1457593" y="1164314"/>
                </a:lnTo>
                <a:lnTo>
                  <a:pt x="1455544" y="1162498"/>
                </a:lnTo>
                <a:lnTo>
                  <a:pt x="1453496" y="1160229"/>
                </a:lnTo>
                <a:lnTo>
                  <a:pt x="1452130" y="1157959"/>
                </a:lnTo>
                <a:lnTo>
                  <a:pt x="1450537" y="1155462"/>
                </a:lnTo>
                <a:lnTo>
                  <a:pt x="1449399" y="1152512"/>
                </a:lnTo>
                <a:lnTo>
                  <a:pt x="1448261" y="1149788"/>
                </a:lnTo>
                <a:lnTo>
                  <a:pt x="1447350" y="1146838"/>
                </a:lnTo>
                <a:lnTo>
                  <a:pt x="1446667" y="1143433"/>
                </a:lnTo>
                <a:lnTo>
                  <a:pt x="1446212" y="1140256"/>
                </a:lnTo>
                <a:lnTo>
                  <a:pt x="1446212" y="1136851"/>
                </a:lnTo>
                <a:lnTo>
                  <a:pt x="1446212" y="623687"/>
                </a:lnTo>
                <a:lnTo>
                  <a:pt x="1446212" y="620282"/>
                </a:lnTo>
                <a:lnTo>
                  <a:pt x="1446667" y="617105"/>
                </a:lnTo>
                <a:lnTo>
                  <a:pt x="1447350" y="613927"/>
                </a:lnTo>
                <a:lnTo>
                  <a:pt x="1448261" y="610750"/>
                </a:lnTo>
                <a:lnTo>
                  <a:pt x="1449399" y="608026"/>
                </a:lnTo>
                <a:lnTo>
                  <a:pt x="1450537" y="605303"/>
                </a:lnTo>
                <a:lnTo>
                  <a:pt x="1452130" y="602806"/>
                </a:lnTo>
                <a:lnTo>
                  <a:pt x="1453496" y="600537"/>
                </a:lnTo>
                <a:lnTo>
                  <a:pt x="1455544" y="598267"/>
                </a:lnTo>
                <a:lnTo>
                  <a:pt x="1457593" y="596451"/>
                </a:lnTo>
                <a:lnTo>
                  <a:pt x="1459641" y="594635"/>
                </a:lnTo>
                <a:lnTo>
                  <a:pt x="1461917" y="593274"/>
                </a:lnTo>
                <a:lnTo>
                  <a:pt x="1464193" y="592139"/>
                </a:lnTo>
                <a:lnTo>
                  <a:pt x="1466697" y="591231"/>
                </a:lnTo>
                <a:lnTo>
                  <a:pt x="1469201" y="590777"/>
                </a:lnTo>
                <a:lnTo>
                  <a:pt x="1471932" y="590550"/>
                </a:lnTo>
                <a:close/>
                <a:moveTo>
                  <a:pt x="1152617" y="590550"/>
                </a:moveTo>
                <a:lnTo>
                  <a:pt x="1226818" y="590550"/>
                </a:lnTo>
                <a:lnTo>
                  <a:pt x="1229322" y="590777"/>
                </a:lnTo>
                <a:lnTo>
                  <a:pt x="1232053" y="591231"/>
                </a:lnTo>
                <a:lnTo>
                  <a:pt x="1234557" y="592139"/>
                </a:lnTo>
                <a:lnTo>
                  <a:pt x="1236833" y="593274"/>
                </a:lnTo>
                <a:lnTo>
                  <a:pt x="1239109" y="594635"/>
                </a:lnTo>
                <a:lnTo>
                  <a:pt x="1241158" y="596451"/>
                </a:lnTo>
                <a:lnTo>
                  <a:pt x="1242978" y="598267"/>
                </a:lnTo>
                <a:lnTo>
                  <a:pt x="1244799" y="600537"/>
                </a:lnTo>
                <a:lnTo>
                  <a:pt x="1246620" y="602806"/>
                </a:lnTo>
                <a:lnTo>
                  <a:pt x="1248213" y="605303"/>
                </a:lnTo>
                <a:lnTo>
                  <a:pt x="1249352" y="608026"/>
                </a:lnTo>
                <a:lnTo>
                  <a:pt x="1250490" y="610750"/>
                </a:lnTo>
                <a:lnTo>
                  <a:pt x="1251400" y="613927"/>
                </a:lnTo>
                <a:lnTo>
                  <a:pt x="1251855" y="617105"/>
                </a:lnTo>
                <a:lnTo>
                  <a:pt x="1252538" y="620282"/>
                </a:lnTo>
                <a:lnTo>
                  <a:pt x="1252538" y="623687"/>
                </a:lnTo>
                <a:lnTo>
                  <a:pt x="1252538" y="1136851"/>
                </a:lnTo>
                <a:lnTo>
                  <a:pt x="1252538" y="1140256"/>
                </a:lnTo>
                <a:lnTo>
                  <a:pt x="1251855" y="1143433"/>
                </a:lnTo>
                <a:lnTo>
                  <a:pt x="1251400" y="1146838"/>
                </a:lnTo>
                <a:lnTo>
                  <a:pt x="1250490" y="1149788"/>
                </a:lnTo>
                <a:lnTo>
                  <a:pt x="1249352" y="1152512"/>
                </a:lnTo>
                <a:lnTo>
                  <a:pt x="1248213" y="1155462"/>
                </a:lnTo>
                <a:lnTo>
                  <a:pt x="1246620" y="1157959"/>
                </a:lnTo>
                <a:lnTo>
                  <a:pt x="1244799" y="1160229"/>
                </a:lnTo>
                <a:lnTo>
                  <a:pt x="1242978" y="1162498"/>
                </a:lnTo>
                <a:lnTo>
                  <a:pt x="1241158" y="1164314"/>
                </a:lnTo>
                <a:lnTo>
                  <a:pt x="1239109" y="1165903"/>
                </a:lnTo>
                <a:lnTo>
                  <a:pt x="1236833" y="1167492"/>
                </a:lnTo>
                <a:lnTo>
                  <a:pt x="1234557" y="1168399"/>
                </a:lnTo>
                <a:lnTo>
                  <a:pt x="1232053" y="1169307"/>
                </a:lnTo>
                <a:lnTo>
                  <a:pt x="1229322" y="1169761"/>
                </a:lnTo>
                <a:lnTo>
                  <a:pt x="1226818" y="1169988"/>
                </a:lnTo>
                <a:lnTo>
                  <a:pt x="1152617" y="1169988"/>
                </a:lnTo>
                <a:lnTo>
                  <a:pt x="1150114" y="1169761"/>
                </a:lnTo>
                <a:lnTo>
                  <a:pt x="1147610" y="1169307"/>
                </a:lnTo>
                <a:lnTo>
                  <a:pt x="1145106" y="1168399"/>
                </a:lnTo>
                <a:lnTo>
                  <a:pt x="1142830" y="1167492"/>
                </a:lnTo>
                <a:lnTo>
                  <a:pt x="1140554" y="1165903"/>
                </a:lnTo>
                <a:lnTo>
                  <a:pt x="1138278" y="1164314"/>
                </a:lnTo>
                <a:lnTo>
                  <a:pt x="1136457" y="1162498"/>
                </a:lnTo>
                <a:lnTo>
                  <a:pt x="1134409" y="1160229"/>
                </a:lnTo>
                <a:lnTo>
                  <a:pt x="1132815" y="1157959"/>
                </a:lnTo>
                <a:lnTo>
                  <a:pt x="1131450" y="1155462"/>
                </a:lnTo>
                <a:lnTo>
                  <a:pt x="1130084" y="1152512"/>
                </a:lnTo>
                <a:lnTo>
                  <a:pt x="1129174" y="1149788"/>
                </a:lnTo>
                <a:lnTo>
                  <a:pt x="1128036" y="1146838"/>
                </a:lnTo>
                <a:lnTo>
                  <a:pt x="1127580" y="1143433"/>
                </a:lnTo>
                <a:lnTo>
                  <a:pt x="1127125" y="1140256"/>
                </a:lnTo>
                <a:lnTo>
                  <a:pt x="1127125" y="1136851"/>
                </a:lnTo>
                <a:lnTo>
                  <a:pt x="1127125" y="623687"/>
                </a:lnTo>
                <a:lnTo>
                  <a:pt x="1127125" y="620282"/>
                </a:lnTo>
                <a:lnTo>
                  <a:pt x="1127580" y="617105"/>
                </a:lnTo>
                <a:lnTo>
                  <a:pt x="1128036" y="613927"/>
                </a:lnTo>
                <a:lnTo>
                  <a:pt x="1129174" y="610750"/>
                </a:lnTo>
                <a:lnTo>
                  <a:pt x="1130084" y="608026"/>
                </a:lnTo>
                <a:lnTo>
                  <a:pt x="1131450" y="605303"/>
                </a:lnTo>
                <a:lnTo>
                  <a:pt x="1132815" y="602806"/>
                </a:lnTo>
                <a:lnTo>
                  <a:pt x="1134409" y="600537"/>
                </a:lnTo>
                <a:lnTo>
                  <a:pt x="1136457" y="598267"/>
                </a:lnTo>
                <a:lnTo>
                  <a:pt x="1138278" y="596451"/>
                </a:lnTo>
                <a:lnTo>
                  <a:pt x="1140554" y="594635"/>
                </a:lnTo>
                <a:lnTo>
                  <a:pt x="1142830" y="593274"/>
                </a:lnTo>
                <a:lnTo>
                  <a:pt x="1145106" y="592139"/>
                </a:lnTo>
                <a:lnTo>
                  <a:pt x="1147610" y="591231"/>
                </a:lnTo>
                <a:lnTo>
                  <a:pt x="1150114" y="590777"/>
                </a:lnTo>
                <a:lnTo>
                  <a:pt x="1152617" y="590550"/>
                </a:lnTo>
                <a:close/>
                <a:moveTo>
                  <a:pt x="1633857" y="508000"/>
                </a:moveTo>
                <a:lnTo>
                  <a:pt x="1707830" y="508000"/>
                </a:lnTo>
                <a:lnTo>
                  <a:pt x="1710561" y="508227"/>
                </a:lnTo>
                <a:lnTo>
                  <a:pt x="1713065" y="508680"/>
                </a:lnTo>
                <a:lnTo>
                  <a:pt x="1715797" y="509814"/>
                </a:lnTo>
                <a:lnTo>
                  <a:pt x="1718073" y="510947"/>
                </a:lnTo>
                <a:lnTo>
                  <a:pt x="1720349" y="512534"/>
                </a:lnTo>
                <a:lnTo>
                  <a:pt x="1722170" y="514575"/>
                </a:lnTo>
                <a:lnTo>
                  <a:pt x="1724218" y="516842"/>
                </a:lnTo>
                <a:lnTo>
                  <a:pt x="1726039" y="519109"/>
                </a:lnTo>
                <a:lnTo>
                  <a:pt x="1727860" y="521829"/>
                </a:lnTo>
                <a:lnTo>
                  <a:pt x="1729453" y="524550"/>
                </a:lnTo>
                <a:lnTo>
                  <a:pt x="1730591" y="527950"/>
                </a:lnTo>
                <a:lnTo>
                  <a:pt x="1731729" y="531124"/>
                </a:lnTo>
                <a:lnTo>
                  <a:pt x="1732640" y="534752"/>
                </a:lnTo>
                <a:lnTo>
                  <a:pt x="1733095" y="538152"/>
                </a:lnTo>
                <a:lnTo>
                  <a:pt x="1733550" y="542006"/>
                </a:lnTo>
                <a:lnTo>
                  <a:pt x="1733550" y="545860"/>
                </a:lnTo>
                <a:lnTo>
                  <a:pt x="1733550" y="1132128"/>
                </a:lnTo>
                <a:lnTo>
                  <a:pt x="1733550" y="1135982"/>
                </a:lnTo>
                <a:lnTo>
                  <a:pt x="1733095" y="1139836"/>
                </a:lnTo>
                <a:lnTo>
                  <a:pt x="1732640" y="1143463"/>
                </a:lnTo>
                <a:lnTo>
                  <a:pt x="1731729" y="1146864"/>
                </a:lnTo>
                <a:lnTo>
                  <a:pt x="1730591" y="1150038"/>
                </a:lnTo>
                <a:lnTo>
                  <a:pt x="1729453" y="1153438"/>
                </a:lnTo>
                <a:lnTo>
                  <a:pt x="1727860" y="1156159"/>
                </a:lnTo>
                <a:lnTo>
                  <a:pt x="1726039" y="1158879"/>
                </a:lnTo>
                <a:lnTo>
                  <a:pt x="1724218" y="1161373"/>
                </a:lnTo>
                <a:lnTo>
                  <a:pt x="1722170" y="1163414"/>
                </a:lnTo>
                <a:lnTo>
                  <a:pt x="1720349" y="1165454"/>
                </a:lnTo>
                <a:lnTo>
                  <a:pt x="1718073" y="1167041"/>
                </a:lnTo>
                <a:lnTo>
                  <a:pt x="1715797" y="1168174"/>
                </a:lnTo>
                <a:lnTo>
                  <a:pt x="1713065" y="1169308"/>
                </a:lnTo>
                <a:lnTo>
                  <a:pt x="1710561" y="1169761"/>
                </a:lnTo>
                <a:lnTo>
                  <a:pt x="1707830" y="1169988"/>
                </a:lnTo>
                <a:lnTo>
                  <a:pt x="1633857" y="1169988"/>
                </a:lnTo>
                <a:lnTo>
                  <a:pt x="1631353" y="1169761"/>
                </a:lnTo>
                <a:lnTo>
                  <a:pt x="1628850" y="1169308"/>
                </a:lnTo>
                <a:lnTo>
                  <a:pt x="1626346" y="1168174"/>
                </a:lnTo>
                <a:lnTo>
                  <a:pt x="1624070" y="1167041"/>
                </a:lnTo>
                <a:lnTo>
                  <a:pt x="1621794" y="1165454"/>
                </a:lnTo>
                <a:lnTo>
                  <a:pt x="1619518" y="1163414"/>
                </a:lnTo>
                <a:lnTo>
                  <a:pt x="1617469" y="1161373"/>
                </a:lnTo>
                <a:lnTo>
                  <a:pt x="1615648" y="1158879"/>
                </a:lnTo>
                <a:lnTo>
                  <a:pt x="1614055" y="1156159"/>
                </a:lnTo>
                <a:lnTo>
                  <a:pt x="1612689" y="1153438"/>
                </a:lnTo>
                <a:lnTo>
                  <a:pt x="1611324" y="1150038"/>
                </a:lnTo>
                <a:lnTo>
                  <a:pt x="1610186" y="1146864"/>
                </a:lnTo>
                <a:lnTo>
                  <a:pt x="1609275" y="1143463"/>
                </a:lnTo>
                <a:lnTo>
                  <a:pt x="1608820" y="1139836"/>
                </a:lnTo>
                <a:lnTo>
                  <a:pt x="1608365" y="1135982"/>
                </a:lnTo>
                <a:lnTo>
                  <a:pt x="1608137" y="1132128"/>
                </a:lnTo>
                <a:lnTo>
                  <a:pt x="1608137" y="545860"/>
                </a:lnTo>
                <a:lnTo>
                  <a:pt x="1608365" y="542006"/>
                </a:lnTo>
                <a:lnTo>
                  <a:pt x="1608820" y="538152"/>
                </a:lnTo>
                <a:lnTo>
                  <a:pt x="1609275" y="534752"/>
                </a:lnTo>
                <a:lnTo>
                  <a:pt x="1610186" y="531124"/>
                </a:lnTo>
                <a:lnTo>
                  <a:pt x="1611324" y="527950"/>
                </a:lnTo>
                <a:lnTo>
                  <a:pt x="1612689" y="524550"/>
                </a:lnTo>
                <a:lnTo>
                  <a:pt x="1614055" y="521829"/>
                </a:lnTo>
                <a:lnTo>
                  <a:pt x="1615648" y="519109"/>
                </a:lnTo>
                <a:lnTo>
                  <a:pt x="1617469" y="516842"/>
                </a:lnTo>
                <a:lnTo>
                  <a:pt x="1619518" y="514575"/>
                </a:lnTo>
                <a:lnTo>
                  <a:pt x="1621794" y="512534"/>
                </a:lnTo>
                <a:lnTo>
                  <a:pt x="1624070" y="510947"/>
                </a:lnTo>
                <a:lnTo>
                  <a:pt x="1626346" y="509814"/>
                </a:lnTo>
                <a:lnTo>
                  <a:pt x="1628850" y="508680"/>
                </a:lnTo>
                <a:lnTo>
                  <a:pt x="1631353" y="508227"/>
                </a:lnTo>
                <a:lnTo>
                  <a:pt x="1633857" y="508000"/>
                </a:lnTo>
                <a:close/>
                <a:moveTo>
                  <a:pt x="1501548" y="319088"/>
                </a:moveTo>
                <a:lnTo>
                  <a:pt x="1733323" y="319088"/>
                </a:lnTo>
                <a:lnTo>
                  <a:pt x="1733323" y="319316"/>
                </a:lnTo>
                <a:lnTo>
                  <a:pt x="1733550" y="319316"/>
                </a:lnTo>
                <a:lnTo>
                  <a:pt x="1733550" y="464215"/>
                </a:lnTo>
                <a:lnTo>
                  <a:pt x="1637620" y="464215"/>
                </a:lnTo>
                <a:lnTo>
                  <a:pt x="1637620" y="418038"/>
                </a:lnTo>
                <a:lnTo>
                  <a:pt x="1318759" y="617303"/>
                </a:lnTo>
                <a:lnTo>
                  <a:pt x="1250723" y="574766"/>
                </a:lnTo>
                <a:lnTo>
                  <a:pt x="1253444" y="573174"/>
                </a:lnTo>
                <a:lnTo>
                  <a:pt x="1146628" y="506525"/>
                </a:lnTo>
                <a:lnTo>
                  <a:pt x="844096" y="695326"/>
                </a:lnTo>
                <a:lnTo>
                  <a:pt x="776287" y="653016"/>
                </a:lnTo>
                <a:lnTo>
                  <a:pt x="1147082" y="421450"/>
                </a:lnTo>
                <a:lnTo>
                  <a:pt x="1215118" y="463533"/>
                </a:lnTo>
                <a:lnTo>
                  <a:pt x="1214437" y="464215"/>
                </a:lnTo>
                <a:lnTo>
                  <a:pt x="1321253" y="530637"/>
                </a:lnTo>
                <a:lnTo>
                  <a:pt x="1564368" y="379141"/>
                </a:lnTo>
                <a:lnTo>
                  <a:pt x="1501548" y="379141"/>
                </a:lnTo>
                <a:lnTo>
                  <a:pt x="1501548" y="319088"/>
                </a:lnTo>
                <a:close/>
                <a:moveTo>
                  <a:pt x="229507" y="91395"/>
                </a:moveTo>
                <a:lnTo>
                  <a:pt x="225651" y="91621"/>
                </a:lnTo>
                <a:lnTo>
                  <a:pt x="221796" y="91848"/>
                </a:lnTo>
                <a:lnTo>
                  <a:pt x="218394" y="92075"/>
                </a:lnTo>
                <a:lnTo>
                  <a:pt x="214539" y="92755"/>
                </a:lnTo>
                <a:lnTo>
                  <a:pt x="210910" y="93662"/>
                </a:lnTo>
                <a:lnTo>
                  <a:pt x="207509" y="94570"/>
                </a:lnTo>
                <a:lnTo>
                  <a:pt x="204107" y="95704"/>
                </a:lnTo>
                <a:lnTo>
                  <a:pt x="200705" y="96837"/>
                </a:lnTo>
                <a:lnTo>
                  <a:pt x="197303" y="98198"/>
                </a:lnTo>
                <a:lnTo>
                  <a:pt x="194355" y="99559"/>
                </a:lnTo>
                <a:lnTo>
                  <a:pt x="191407" y="101373"/>
                </a:lnTo>
                <a:lnTo>
                  <a:pt x="188232" y="103187"/>
                </a:lnTo>
                <a:lnTo>
                  <a:pt x="185284" y="105002"/>
                </a:lnTo>
                <a:lnTo>
                  <a:pt x="182562" y="107270"/>
                </a:lnTo>
                <a:lnTo>
                  <a:pt x="179614" y="109311"/>
                </a:lnTo>
                <a:lnTo>
                  <a:pt x="177119" y="111579"/>
                </a:lnTo>
                <a:lnTo>
                  <a:pt x="174851" y="114073"/>
                </a:lnTo>
                <a:lnTo>
                  <a:pt x="172357" y="116568"/>
                </a:lnTo>
                <a:lnTo>
                  <a:pt x="170316" y="119062"/>
                </a:lnTo>
                <a:lnTo>
                  <a:pt x="168275" y="121784"/>
                </a:lnTo>
                <a:lnTo>
                  <a:pt x="166460" y="124505"/>
                </a:lnTo>
                <a:lnTo>
                  <a:pt x="164646" y="127454"/>
                </a:lnTo>
                <a:lnTo>
                  <a:pt x="162832" y="130402"/>
                </a:lnTo>
                <a:lnTo>
                  <a:pt x="161471" y="133350"/>
                </a:lnTo>
                <a:lnTo>
                  <a:pt x="160110" y="136525"/>
                </a:lnTo>
                <a:lnTo>
                  <a:pt x="158976" y="139700"/>
                </a:lnTo>
                <a:lnTo>
                  <a:pt x="158069" y="143102"/>
                </a:lnTo>
                <a:lnTo>
                  <a:pt x="156935" y="146277"/>
                </a:lnTo>
                <a:lnTo>
                  <a:pt x="156482" y="149679"/>
                </a:lnTo>
                <a:lnTo>
                  <a:pt x="156028" y="153080"/>
                </a:lnTo>
                <a:lnTo>
                  <a:pt x="155801" y="156709"/>
                </a:lnTo>
                <a:lnTo>
                  <a:pt x="155801" y="160111"/>
                </a:lnTo>
                <a:lnTo>
                  <a:pt x="155801" y="1330098"/>
                </a:lnTo>
                <a:lnTo>
                  <a:pt x="155801" y="1333500"/>
                </a:lnTo>
                <a:lnTo>
                  <a:pt x="156028" y="1337129"/>
                </a:lnTo>
                <a:lnTo>
                  <a:pt x="156482" y="1340531"/>
                </a:lnTo>
                <a:lnTo>
                  <a:pt x="156935" y="1343932"/>
                </a:lnTo>
                <a:lnTo>
                  <a:pt x="158069" y="1347561"/>
                </a:lnTo>
                <a:lnTo>
                  <a:pt x="158976" y="1350509"/>
                </a:lnTo>
                <a:lnTo>
                  <a:pt x="160110" y="1353684"/>
                </a:lnTo>
                <a:lnTo>
                  <a:pt x="161471" y="1357086"/>
                </a:lnTo>
                <a:lnTo>
                  <a:pt x="162832" y="1360034"/>
                </a:lnTo>
                <a:lnTo>
                  <a:pt x="164646" y="1362756"/>
                </a:lnTo>
                <a:lnTo>
                  <a:pt x="166460" y="1365931"/>
                </a:lnTo>
                <a:lnTo>
                  <a:pt x="168275" y="1368652"/>
                </a:lnTo>
                <a:lnTo>
                  <a:pt x="170316" y="1371373"/>
                </a:lnTo>
                <a:lnTo>
                  <a:pt x="172357" y="1373868"/>
                </a:lnTo>
                <a:lnTo>
                  <a:pt x="174851" y="1376590"/>
                </a:lnTo>
                <a:lnTo>
                  <a:pt x="177119" y="1378857"/>
                </a:lnTo>
                <a:lnTo>
                  <a:pt x="179614" y="1381125"/>
                </a:lnTo>
                <a:lnTo>
                  <a:pt x="182562" y="1383393"/>
                </a:lnTo>
                <a:lnTo>
                  <a:pt x="185284" y="1385207"/>
                </a:lnTo>
                <a:lnTo>
                  <a:pt x="188232" y="1387248"/>
                </a:lnTo>
                <a:lnTo>
                  <a:pt x="191407" y="1389063"/>
                </a:lnTo>
                <a:lnTo>
                  <a:pt x="194355" y="1390650"/>
                </a:lnTo>
                <a:lnTo>
                  <a:pt x="197303" y="1392238"/>
                </a:lnTo>
                <a:lnTo>
                  <a:pt x="200705" y="1393598"/>
                </a:lnTo>
                <a:lnTo>
                  <a:pt x="204107" y="1394959"/>
                </a:lnTo>
                <a:lnTo>
                  <a:pt x="207509" y="1395866"/>
                </a:lnTo>
                <a:lnTo>
                  <a:pt x="210910" y="1397000"/>
                </a:lnTo>
                <a:lnTo>
                  <a:pt x="214539" y="1397681"/>
                </a:lnTo>
                <a:lnTo>
                  <a:pt x="218394" y="1398134"/>
                </a:lnTo>
                <a:lnTo>
                  <a:pt x="221796" y="1398588"/>
                </a:lnTo>
                <a:lnTo>
                  <a:pt x="225651" y="1399041"/>
                </a:lnTo>
                <a:lnTo>
                  <a:pt x="229507" y="1399041"/>
                </a:lnTo>
                <a:lnTo>
                  <a:pt x="2280330" y="1399041"/>
                </a:lnTo>
                <a:lnTo>
                  <a:pt x="2284186" y="1399041"/>
                </a:lnTo>
                <a:lnTo>
                  <a:pt x="2288041" y="1398588"/>
                </a:lnTo>
                <a:lnTo>
                  <a:pt x="2291670" y="1398134"/>
                </a:lnTo>
                <a:lnTo>
                  <a:pt x="2295298" y="1397681"/>
                </a:lnTo>
                <a:lnTo>
                  <a:pt x="2299154" y="1397000"/>
                </a:lnTo>
                <a:lnTo>
                  <a:pt x="2302555" y="1395866"/>
                </a:lnTo>
                <a:lnTo>
                  <a:pt x="2305957" y="1394959"/>
                </a:lnTo>
                <a:lnTo>
                  <a:pt x="2309359" y="1393598"/>
                </a:lnTo>
                <a:lnTo>
                  <a:pt x="2312534" y="1392238"/>
                </a:lnTo>
                <a:lnTo>
                  <a:pt x="2315709" y="1390650"/>
                </a:lnTo>
                <a:lnTo>
                  <a:pt x="2318884" y="1389063"/>
                </a:lnTo>
                <a:lnTo>
                  <a:pt x="2321832" y="1387248"/>
                </a:lnTo>
                <a:lnTo>
                  <a:pt x="2324780" y="1385207"/>
                </a:lnTo>
                <a:lnTo>
                  <a:pt x="2327502" y="1383393"/>
                </a:lnTo>
                <a:lnTo>
                  <a:pt x="2330223" y="1381125"/>
                </a:lnTo>
                <a:lnTo>
                  <a:pt x="2332945" y="1378857"/>
                </a:lnTo>
                <a:lnTo>
                  <a:pt x="2335213" y="1376590"/>
                </a:lnTo>
                <a:lnTo>
                  <a:pt x="2337707" y="1373868"/>
                </a:lnTo>
                <a:lnTo>
                  <a:pt x="2339748" y="1371373"/>
                </a:lnTo>
                <a:lnTo>
                  <a:pt x="2341789" y="1368652"/>
                </a:lnTo>
                <a:lnTo>
                  <a:pt x="2343830" y="1365931"/>
                </a:lnTo>
                <a:lnTo>
                  <a:pt x="2345418" y="1362756"/>
                </a:lnTo>
                <a:lnTo>
                  <a:pt x="2347232" y="1360034"/>
                </a:lnTo>
                <a:lnTo>
                  <a:pt x="2348593" y="1357086"/>
                </a:lnTo>
                <a:lnTo>
                  <a:pt x="2350180" y="1353684"/>
                </a:lnTo>
                <a:lnTo>
                  <a:pt x="2351088" y="1350509"/>
                </a:lnTo>
                <a:lnTo>
                  <a:pt x="2351995" y="1347561"/>
                </a:lnTo>
                <a:lnTo>
                  <a:pt x="2352902" y="1343932"/>
                </a:lnTo>
                <a:lnTo>
                  <a:pt x="2353582" y="1340531"/>
                </a:lnTo>
                <a:lnTo>
                  <a:pt x="2354036" y="1337129"/>
                </a:lnTo>
                <a:lnTo>
                  <a:pt x="2354263" y="1333500"/>
                </a:lnTo>
                <a:lnTo>
                  <a:pt x="2354263" y="1330098"/>
                </a:lnTo>
                <a:lnTo>
                  <a:pt x="2354263" y="160111"/>
                </a:lnTo>
                <a:lnTo>
                  <a:pt x="2354263" y="156709"/>
                </a:lnTo>
                <a:lnTo>
                  <a:pt x="2354036" y="153080"/>
                </a:lnTo>
                <a:lnTo>
                  <a:pt x="2353582" y="149679"/>
                </a:lnTo>
                <a:lnTo>
                  <a:pt x="2352902" y="146277"/>
                </a:lnTo>
                <a:lnTo>
                  <a:pt x="2351995" y="143102"/>
                </a:lnTo>
                <a:lnTo>
                  <a:pt x="2351088" y="139700"/>
                </a:lnTo>
                <a:lnTo>
                  <a:pt x="2350180" y="136525"/>
                </a:lnTo>
                <a:lnTo>
                  <a:pt x="2348593" y="133350"/>
                </a:lnTo>
                <a:lnTo>
                  <a:pt x="2347232" y="130402"/>
                </a:lnTo>
                <a:lnTo>
                  <a:pt x="2345418" y="127454"/>
                </a:lnTo>
                <a:lnTo>
                  <a:pt x="2343830" y="124505"/>
                </a:lnTo>
                <a:lnTo>
                  <a:pt x="2341789" y="121784"/>
                </a:lnTo>
                <a:lnTo>
                  <a:pt x="2339748" y="119062"/>
                </a:lnTo>
                <a:lnTo>
                  <a:pt x="2337707" y="116568"/>
                </a:lnTo>
                <a:lnTo>
                  <a:pt x="2335213" y="114073"/>
                </a:lnTo>
                <a:lnTo>
                  <a:pt x="2332945" y="111579"/>
                </a:lnTo>
                <a:lnTo>
                  <a:pt x="2330223" y="109311"/>
                </a:lnTo>
                <a:lnTo>
                  <a:pt x="2327502" y="107270"/>
                </a:lnTo>
                <a:lnTo>
                  <a:pt x="2324780" y="105002"/>
                </a:lnTo>
                <a:lnTo>
                  <a:pt x="2321832" y="103187"/>
                </a:lnTo>
                <a:lnTo>
                  <a:pt x="2318884" y="101373"/>
                </a:lnTo>
                <a:lnTo>
                  <a:pt x="2315709" y="99559"/>
                </a:lnTo>
                <a:lnTo>
                  <a:pt x="2312534" y="98198"/>
                </a:lnTo>
                <a:lnTo>
                  <a:pt x="2309359" y="96837"/>
                </a:lnTo>
                <a:lnTo>
                  <a:pt x="2305957" y="95704"/>
                </a:lnTo>
                <a:lnTo>
                  <a:pt x="2302555" y="94570"/>
                </a:lnTo>
                <a:lnTo>
                  <a:pt x="2299154" y="93662"/>
                </a:lnTo>
                <a:lnTo>
                  <a:pt x="2295298" y="92755"/>
                </a:lnTo>
                <a:lnTo>
                  <a:pt x="2291670" y="92075"/>
                </a:lnTo>
                <a:lnTo>
                  <a:pt x="2288041" y="91848"/>
                </a:lnTo>
                <a:lnTo>
                  <a:pt x="2284186" y="91621"/>
                </a:lnTo>
                <a:lnTo>
                  <a:pt x="2280330" y="91395"/>
                </a:lnTo>
                <a:lnTo>
                  <a:pt x="229507" y="91395"/>
                </a:lnTo>
                <a:close/>
                <a:moveTo>
                  <a:pt x="81642" y="0"/>
                </a:moveTo>
                <a:lnTo>
                  <a:pt x="86178" y="0"/>
                </a:lnTo>
                <a:lnTo>
                  <a:pt x="2424113" y="0"/>
                </a:lnTo>
                <a:lnTo>
                  <a:pt x="2428648" y="0"/>
                </a:lnTo>
                <a:lnTo>
                  <a:pt x="2432730" y="227"/>
                </a:lnTo>
                <a:lnTo>
                  <a:pt x="2436813" y="680"/>
                </a:lnTo>
                <a:lnTo>
                  <a:pt x="2441122" y="1361"/>
                </a:lnTo>
                <a:lnTo>
                  <a:pt x="2445204" y="2268"/>
                </a:lnTo>
                <a:lnTo>
                  <a:pt x="2449286" y="3402"/>
                </a:lnTo>
                <a:lnTo>
                  <a:pt x="2452914" y="4536"/>
                </a:lnTo>
                <a:lnTo>
                  <a:pt x="2456770" y="5896"/>
                </a:lnTo>
                <a:lnTo>
                  <a:pt x="2460625" y="7484"/>
                </a:lnTo>
                <a:lnTo>
                  <a:pt x="2464480" y="9298"/>
                </a:lnTo>
                <a:lnTo>
                  <a:pt x="2467882" y="11339"/>
                </a:lnTo>
                <a:lnTo>
                  <a:pt x="2471284" y="13380"/>
                </a:lnTo>
                <a:lnTo>
                  <a:pt x="2474459" y="15421"/>
                </a:lnTo>
                <a:lnTo>
                  <a:pt x="2477861" y="17916"/>
                </a:lnTo>
                <a:lnTo>
                  <a:pt x="2480809" y="20184"/>
                </a:lnTo>
                <a:lnTo>
                  <a:pt x="2483757" y="22905"/>
                </a:lnTo>
                <a:lnTo>
                  <a:pt x="2486479" y="25400"/>
                </a:lnTo>
                <a:lnTo>
                  <a:pt x="2489200" y="28348"/>
                </a:lnTo>
                <a:lnTo>
                  <a:pt x="2491695" y="31296"/>
                </a:lnTo>
                <a:lnTo>
                  <a:pt x="2493963" y="34471"/>
                </a:lnTo>
                <a:lnTo>
                  <a:pt x="2496230" y="37646"/>
                </a:lnTo>
                <a:lnTo>
                  <a:pt x="2498272" y="40821"/>
                </a:lnTo>
                <a:lnTo>
                  <a:pt x="2499859" y="44450"/>
                </a:lnTo>
                <a:lnTo>
                  <a:pt x="2501673" y="47625"/>
                </a:lnTo>
                <a:lnTo>
                  <a:pt x="2503261" y="51480"/>
                </a:lnTo>
                <a:lnTo>
                  <a:pt x="2504395" y="54882"/>
                </a:lnTo>
                <a:lnTo>
                  <a:pt x="2505755" y="58737"/>
                </a:lnTo>
                <a:lnTo>
                  <a:pt x="2506663" y="62593"/>
                </a:lnTo>
                <a:lnTo>
                  <a:pt x="2507343" y="66221"/>
                </a:lnTo>
                <a:lnTo>
                  <a:pt x="2508023" y="70304"/>
                </a:lnTo>
                <a:lnTo>
                  <a:pt x="2508250" y="74159"/>
                </a:lnTo>
                <a:lnTo>
                  <a:pt x="2508250" y="78241"/>
                </a:lnTo>
                <a:lnTo>
                  <a:pt x="2508250" y="1411968"/>
                </a:lnTo>
                <a:lnTo>
                  <a:pt x="2508250" y="1416050"/>
                </a:lnTo>
                <a:lnTo>
                  <a:pt x="2508023" y="1420132"/>
                </a:lnTo>
                <a:lnTo>
                  <a:pt x="2507343" y="1423988"/>
                </a:lnTo>
                <a:lnTo>
                  <a:pt x="2506663" y="1427616"/>
                </a:lnTo>
                <a:lnTo>
                  <a:pt x="2505755" y="1431472"/>
                </a:lnTo>
                <a:lnTo>
                  <a:pt x="2504395" y="1435327"/>
                </a:lnTo>
                <a:lnTo>
                  <a:pt x="2503261" y="1439182"/>
                </a:lnTo>
                <a:lnTo>
                  <a:pt x="2501673" y="1442584"/>
                </a:lnTo>
                <a:lnTo>
                  <a:pt x="2499859" y="1446213"/>
                </a:lnTo>
                <a:lnTo>
                  <a:pt x="2498272" y="1449388"/>
                </a:lnTo>
                <a:lnTo>
                  <a:pt x="2496230" y="1452790"/>
                </a:lnTo>
                <a:lnTo>
                  <a:pt x="2493963" y="1455965"/>
                </a:lnTo>
                <a:lnTo>
                  <a:pt x="2491695" y="1458913"/>
                </a:lnTo>
                <a:lnTo>
                  <a:pt x="2489200" y="1462088"/>
                </a:lnTo>
                <a:lnTo>
                  <a:pt x="2486479" y="1464809"/>
                </a:lnTo>
                <a:lnTo>
                  <a:pt x="2483757" y="1467531"/>
                </a:lnTo>
                <a:lnTo>
                  <a:pt x="2480809" y="1470025"/>
                </a:lnTo>
                <a:lnTo>
                  <a:pt x="2477861" y="1472747"/>
                </a:lnTo>
                <a:lnTo>
                  <a:pt x="2474459" y="1475015"/>
                </a:lnTo>
                <a:lnTo>
                  <a:pt x="2471284" y="1477282"/>
                </a:lnTo>
                <a:lnTo>
                  <a:pt x="2467882" y="1479097"/>
                </a:lnTo>
                <a:lnTo>
                  <a:pt x="2464480" y="1480911"/>
                </a:lnTo>
                <a:lnTo>
                  <a:pt x="2460625" y="1482725"/>
                </a:lnTo>
                <a:lnTo>
                  <a:pt x="2456770" y="1484313"/>
                </a:lnTo>
                <a:lnTo>
                  <a:pt x="2452914" y="1485674"/>
                </a:lnTo>
                <a:lnTo>
                  <a:pt x="2449286" y="1487034"/>
                </a:lnTo>
                <a:lnTo>
                  <a:pt x="2445204" y="1487941"/>
                </a:lnTo>
                <a:lnTo>
                  <a:pt x="2441122" y="1488849"/>
                </a:lnTo>
                <a:lnTo>
                  <a:pt x="2436813" y="1489529"/>
                </a:lnTo>
                <a:lnTo>
                  <a:pt x="2432730" y="1489982"/>
                </a:lnTo>
                <a:lnTo>
                  <a:pt x="2428648" y="1490209"/>
                </a:lnTo>
                <a:lnTo>
                  <a:pt x="2424113" y="1490663"/>
                </a:lnTo>
                <a:lnTo>
                  <a:pt x="86178" y="1490663"/>
                </a:lnTo>
                <a:lnTo>
                  <a:pt x="81642" y="1490209"/>
                </a:lnTo>
                <a:lnTo>
                  <a:pt x="77333" y="1489982"/>
                </a:lnTo>
                <a:lnTo>
                  <a:pt x="73251" y="1489529"/>
                </a:lnTo>
                <a:lnTo>
                  <a:pt x="68942" y="1488849"/>
                </a:lnTo>
                <a:lnTo>
                  <a:pt x="64860" y="1487941"/>
                </a:lnTo>
                <a:lnTo>
                  <a:pt x="60778" y="1487034"/>
                </a:lnTo>
                <a:lnTo>
                  <a:pt x="57150" y="1485674"/>
                </a:lnTo>
                <a:lnTo>
                  <a:pt x="53294" y="1484313"/>
                </a:lnTo>
                <a:lnTo>
                  <a:pt x="49439" y="1482725"/>
                </a:lnTo>
                <a:lnTo>
                  <a:pt x="45810" y="1480911"/>
                </a:lnTo>
                <a:lnTo>
                  <a:pt x="42182" y="1479097"/>
                </a:lnTo>
                <a:lnTo>
                  <a:pt x="39007" y="1477282"/>
                </a:lnTo>
                <a:lnTo>
                  <a:pt x="35605" y="1475015"/>
                </a:lnTo>
                <a:lnTo>
                  <a:pt x="32430" y="1472747"/>
                </a:lnTo>
                <a:lnTo>
                  <a:pt x="29255" y="1470025"/>
                </a:lnTo>
                <a:lnTo>
                  <a:pt x="26307" y="1467531"/>
                </a:lnTo>
                <a:lnTo>
                  <a:pt x="23585" y="1464809"/>
                </a:lnTo>
                <a:lnTo>
                  <a:pt x="21091" y="1462088"/>
                </a:lnTo>
                <a:lnTo>
                  <a:pt x="18596" y="1458913"/>
                </a:lnTo>
                <a:lnTo>
                  <a:pt x="16101" y="1455965"/>
                </a:lnTo>
                <a:lnTo>
                  <a:pt x="13833" y="1452790"/>
                </a:lnTo>
                <a:lnTo>
                  <a:pt x="12019" y="1449388"/>
                </a:lnTo>
                <a:lnTo>
                  <a:pt x="9978" y="1446213"/>
                </a:lnTo>
                <a:lnTo>
                  <a:pt x="8391" y="1442584"/>
                </a:lnTo>
                <a:lnTo>
                  <a:pt x="6803" y="1439182"/>
                </a:lnTo>
                <a:lnTo>
                  <a:pt x="5442" y="1435327"/>
                </a:lnTo>
                <a:lnTo>
                  <a:pt x="4308" y="1431472"/>
                </a:lnTo>
                <a:lnTo>
                  <a:pt x="3401" y="1427616"/>
                </a:lnTo>
                <a:lnTo>
                  <a:pt x="2494" y="1423988"/>
                </a:lnTo>
                <a:lnTo>
                  <a:pt x="2041" y="1420132"/>
                </a:lnTo>
                <a:lnTo>
                  <a:pt x="1814" y="1416050"/>
                </a:lnTo>
                <a:lnTo>
                  <a:pt x="1587" y="1411968"/>
                </a:lnTo>
                <a:lnTo>
                  <a:pt x="1587" y="78241"/>
                </a:lnTo>
                <a:lnTo>
                  <a:pt x="1814" y="74159"/>
                </a:lnTo>
                <a:lnTo>
                  <a:pt x="2041" y="70304"/>
                </a:lnTo>
                <a:lnTo>
                  <a:pt x="2494" y="66221"/>
                </a:lnTo>
                <a:lnTo>
                  <a:pt x="3401" y="62593"/>
                </a:lnTo>
                <a:lnTo>
                  <a:pt x="4308" y="58737"/>
                </a:lnTo>
                <a:lnTo>
                  <a:pt x="5442" y="54882"/>
                </a:lnTo>
                <a:lnTo>
                  <a:pt x="6803" y="51480"/>
                </a:lnTo>
                <a:lnTo>
                  <a:pt x="8391" y="47625"/>
                </a:lnTo>
                <a:lnTo>
                  <a:pt x="9978" y="44450"/>
                </a:lnTo>
                <a:lnTo>
                  <a:pt x="12019" y="40821"/>
                </a:lnTo>
                <a:lnTo>
                  <a:pt x="13833" y="37646"/>
                </a:lnTo>
                <a:lnTo>
                  <a:pt x="16101" y="34471"/>
                </a:lnTo>
                <a:lnTo>
                  <a:pt x="18596" y="31296"/>
                </a:lnTo>
                <a:lnTo>
                  <a:pt x="21091" y="28348"/>
                </a:lnTo>
                <a:lnTo>
                  <a:pt x="23585" y="25400"/>
                </a:lnTo>
                <a:lnTo>
                  <a:pt x="26307" y="22905"/>
                </a:lnTo>
                <a:lnTo>
                  <a:pt x="29255" y="20184"/>
                </a:lnTo>
                <a:lnTo>
                  <a:pt x="32430" y="17916"/>
                </a:lnTo>
                <a:lnTo>
                  <a:pt x="35605" y="15421"/>
                </a:lnTo>
                <a:lnTo>
                  <a:pt x="39007" y="13380"/>
                </a:lnTo>
                <a:lnTo>
                  <a:pt x="42182" y="11339"/>
                </a:lnTo>
                <a:lnTo>
                  <a:pt x="45810" y="9298"/>
                </a:lnTo>
                <a:lnTo>
                  <a:pt x="49439" y="7484"/>
                </a:lnTo>
                <a:lnTo>
                  <a:pt x="53294" y="5896"/>
                </a:lnTo>
                <a:lnTo>
                  <a:pt x="57150" y="4536"/>
                </a:lnTo>
                <a:lnTo>
                  <a:pt x="60778" y="3402"/>
                </a:lnTo>
                <a:lnTo>
                  <a:pt x="64860" y="2268"/>
                </a:lnTo>
                <a:lnTo>
                  <a:pt x="68942" y="1361"/>
                </a:lnTo>
                <a:lnTo>
                  <a:pt x="73251" y="680"/>
                </a:lnTo>
                <a:lnTo>
                  <a:pt x="77333" y="227"/>
                </a:lnTo>
                <a:lnTo>
                  <a:pt x="8164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38" name="文本框 37"/>
          <p:cNvSpPr txBox="1"/>
          <p:nvPr/>
        </p:nvSpPr>
        <p:spPr>
          <a:xfrm>
            <a:off x="4109432" y="4019301"/>
            <a:ext cx="895985" cy="254635"/>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网管服务器</a:t>
            </a:r>
            <a:r>
              <a:rPr lang="en-US" altLang="zh-CN" sz="1000" b="1" dirty="0" smtClean="0">
                <a:solidFill>
                  <a:srgbClr val="0070C0"/>
                </a:solidFill>
                <a:latin typeface="微软雅黑" panose="020B0503020204020204" pitchFamily="34" charset="-122"/>
                <a:ea typeface="微软雅黑" panose="020B0503020204020204" pitchFamily="34" charset="-122"/>
              </a:rPr>
              <a:t>2</a:t>
            </a:r>
          </a:p>
        </p:txBody>
      </p:sp>
      <p:sp>
        <p:nvSpPr>
          <p:cNvPr id="39" name="文本框 38"/>
          <p:cNvSpPr txBox="1"/>
          <p:nvPr/>
        </p:nvSpPr>
        <p:spPr>
          <a:xfrm>
            <a:off x="4313555" y="4352631"/>
            <a:ext cx="459740" cy="427355"/>
          </a:xfrm>
          <a:prstGeom prst="rect">
            <a:avLst/>
          </a:prstGeom>
          <a:noFill/>
        </p:spPr>
        <p:txBody>
          <a:bodyPr vert="eaVert" wrap="square" rtlCol="0">
            <a:spAutoFit/>
          </a:bodyPr>
          <a:lstStyle/>
          <a:p>
            <a:r>
              <a:rPr lang="en-US" altLang="zh-CN"/>
              <a:t>...</a:t>
            </a:r>
          </a:p>
        </p:txBody>
      </p:sp>
      <p:sp>
        <p:nvSpPr>
          <p:cNvPr id="40" name="KSO_Shape"/>
          <p:cNvSpPr/>
          <p:nvPr/>
        </p:nvSpPr>
        <p:spPr bwMode="auto">
          <a:xfrm>
            <a:off x="3919703" y="4592495"/>
            <a:ext cx="1246870" cy="846020"/>
          </a:xfrm>
          <a:custGeom>
            <a:avLst/>
            <a:gdLst>
              <a:gd name="T0" fmla="*/ 1091648 w 2509838"/>
              <a:gd name="T1" fmla="*/ 1608111 h 1787526"/>
              <a:gd name="T2" fmla="*/ 1364673 w 2509838"/>
              <a:gd name="T3" fmla="*/ 1644625 h 1787526"/>
              <a:gd name="T4" fmla="*/ 1419551 w 2509838"/>
              <a:gd name="T5" fmla="*/ 1603152 h 1787526"/>
              <a:gd name="T6" fmla="*/ 2438407 w 2509838"/>
              <a:gd name="T7" fmla="*/ 1567539 h 1787526"/>
              <a:gd name="T8" fmla="*/ 2487842 w 2509838"/>
              <a:gd name="T9" fmla="*/ 1592108 h 1787526"/>
              <a:gd name="T10" fmla="*/ 2509611 w 2509838"/>
              <a:gd name="T11" fmla="*/ 1640568 h 1787526"/>
              <a:gd name="T12" fmla="*/ 2495552 w 2509838"/>
              <a:gd name="T13" fmla="*/ 1753040 h 1787526"/>
              <a:gd name="T14" fmla="*/ 2450426 w 2509838"/>
              <a:gd name="T15" fmla="*/ 1783920 h 1787526"/>
              <a:gd name="T16" fmla="*/ 55558 w 2509838"/>
              <a:gd name="T17" fmla="*/ 1782793 h 1787526"/>
              <a:gd name="T18" fmla="*/ 12472 w 2509838"/>
              <a:gd name="T19" fmla="*/ 1750110 h 1787526"/>
              <a:gd name="T20" fmla="*/ 680 w 2509838"/>
              <a:gd name="T21" fmla="*/ 1636736 h 1787526"/>
              <a:gd name="T22" fmla="*/ 24717 w 2509838"/>
              <a:gd name="T23" fmla="*/ 1589628 h 1787526"/>
              <a:gd name="T24" fmla="*/ 75740 w 2509838"/>
              <a:gd name="T25" fmla="*/ 1567089 h 1787526"/>
              <a:gd name="T26" fmla="*/ 933501 w 2509838"/>
              <a:gd name="T27" fmla="*/ 749091 h 1787526"/>
              <a:gd name="T28" fmla="*/ 932155 w 2509838"/>
              <a:gd name="T29" fmla="*/ 1160902 h 1787526"/>
              <a:gd name="T30" fmla="*/ 829865 w 2509838"/>
              <a:gd name="T31" fmla="*/ 1167944 h 1787526"/>
              <a:gd name="T32" fmla="*/ 814387 w 2509838"/>
              <a:gd name="T33" fmla="*/ 760448 h 1787526"/>
              <a:gd name="T34" fmla="*/ 837043 w 2509838"/>
              <a:gd name="T35" fmla="*/ 738188 h 1787526"/>
              <a:gd name="T36" fmla="*/ 1416304 w 2509838"/>
              <a:gd name="T37" fmla="*/ 686474 h 1787526"/>
              <a:gd name="T38" fmla="*/ 1412034 w 2509838"/>
              <a:gd name="T39" fmla="*/ 1161601 h 1787526"/>
              <a:gd name="T40" fmla="*/ 1308659 w 2509838"/>
              <a:gd name="T41" fmla="*/ 1166588 h 1787526"/>
              <a:gd name="T42" fmla="*/ 1296074 w 2509838"/>
              <a:gd name="T43" fmla="*/ 694181 h 1787526"/>
              <a:gd name="T44" fmla="*/ 988416 w 2509838"/>
              <a:gd name="T45" fmla="*/ 671513 h 1787526"/>
              <a:gd name="T46" fmla="*/ 1088565 w 2509838"/>
              <a:gd name="T47" fmla="*/ 688968 h 1787526"/>
              <a:gd name="T48" fmla="*/ 1081281 w 2509838"/>
              <a:gd name="T49" fmla="*/ 1163414 h 1787526"/>
              <a:gd name="T50" fmla="*/ 976581 w 2509838"/>
              <a:gd name="T51" fmla="*/ 1165228 h 1787526"/>
              <a:gd name="T52" fmla="*/ 966338 w 2509838"/>
              <a:gd name="T53" fmla="*/ 691461 h 1787526"/>
              <a:gd name="T54" fmla="*/ 1546133 w 2509838"/>
              <a:gd name="T55" fmla="*/ 590550 h 1787526"/>
              <a:gd name="T56" fmla="*/ 1571170 w 2509838"/>
              <a:gd name="T57" fmla="*/ 617105 h 1787526"/>
              <a:gd name="T58" fmla="*/ 1558196 w 2509838"/>
              <a:gd name="T59" fmla="*/ 1165903 h 1787526"/>
              <a:gd name="T60" fmla="*/ 1453496 w 2509838"/>
              <a:gd name="T61" fmla="*/ 1160229 h 1787526"/>
              <a:gd name="T62" fmla="*/ 1449399 w 2509838"/>
              <a:gd name="T63" fmla="*/ 608026 h 1787526"/>
              <a:gd name="T64" fmla="*/ 1229322 w 2509838"/>
              <a:gd name="T65" fmla="*/ 590777 h 1787526"/>
              <a:gd name="T66" fmla="*/ 1252538 w 2509838"/>
              <a:gd name="T67" fmla="*/ 620282 h 1787526"/>
              <a:gd name="T68" fmla="*/ 1236833 w 2509838"/>
              <a:gd name="T69" fmla="*/ 1167492 h 1787526"/>
              <a:gd name="T70" fmla="*/ 1132815 w 2509838"/>
              <a:gd name="T71" fmla="*/ 1157959 h 1787526"/>
              <a:gd name="T72" fmla="*/ 1131450 w 2509838"/>
              <a:gd name="T73" fmla="*/ 605303 h 1787526"/>
              <a:gd name="T74" fmla="*/ 1713065 w 2509838"/>
              <a:gd name="T75" fmla="*/ 508680 h 1787526"/>
              <a:gd name="T76" fmla="*/ 1733550 w 2509838"/>
              <a:gd name="T77" fmla="*/ 545860 h 1787526"/>
              <a:gd name="T78" fmla="*/ 1715797 w 2509838"/>
              <a:gd name="T79" fmla="*/ 1168174 h 1787526"/>
              <a:gd name="T80" fmla="*/ 1612689 w 2509838"/>
              <a:gd name="T81" fmla="*/ 1153438 h 1787526"/>
              <a:gd name="T82" fmla="*/ 1614055 w 2509838"/>
              <a:gd name="T83" fmla="*/ 521829 h 1787526"/>
              <a:gd name="T84" fmla="*/ 1733550 w 2509838"/>
              <a:gd name="T85" fmla="*/ 464215 h 1787526"/>
              <a:gd name="T86" fmla="*/ 1501548 w 2509838"/>
              <a:gd name="T87" fmla="*/ 379141 h 1787526"/>
              <a:gd name="T88" fmla="*/ 188232 w 2509838"/>
              <a:gd name="T89" fmla="*/ 103187 h 1787526"/>
              <a:gd name="T90" fmla="*/ 158976 w 2509838"/>
              <a:gd name="T91" fmla="*/ 139700 h 1787526"/>
              <a:gd name="T92" fmla="*/ 160110 w 2509838"/>
              <a:gd name="T93" fmla="*/ 1353684 h 1787526"/>
              <a:gd name="T94" fmla="*/ 191407 w 2509838"/>
              <a:gd name="T95" fmla="*/ 1389063 h 1787526"/>
              <a:gd name="T96" fmla="*/ 2288041 w 2509838"/>
              <a:gd name="T97" fmla="*/ 1398588 h 1787526"/>
              <a:gd name="T98" fmla="*/ 2332945 w 2509838"/>
              <a:gd name="T99" fmla="*/ 1378857 h 1787526"/>
              <a:gd name="T100" fmla="*/ 2354036 w 2509838"/>
              <a:gd name="T101" fmla="*/ 1337129 h 1787526"/>
              <a:gd name="T102" fmla="*/ 2343830 w 2509838"/>
              <a:gd name="T103" fmla="*/ 124505 h 1787526"/>
              <a:gd name="T104" fmla="*/ 2305957 w 2509838"/>
              <a:gd name="T105" fmla="*/ 95704 h 1787526"/>
              <a:gd name="T106" fmla="*/ 2436813 w 2509838"/>
              <a:gd name="T107" fmla="*/ 680 h 1787526"/>
              <a:gd name="T108" fmla="*/ 2486479 w 2509838"/>
              <a:gd name="T109" fmla="*/ 25400 h 1787526"/>
              <a:gd name="T110" fmla="*/ 2508250 w 2509838"/>
              <a:gd name="T111" fmla="*/ 74159 h 1787526"/>
              <a:gd name="T112" fmla="*/ 2493963 w 2509838"/>
              <a:gd name="T113" fmla="*/ 1455965 h 1787526"/>
              <a:gd name="T114" fmla="*/ 2449286 w 2509838"/>
              <a:gd name="T115" fmla="*/ 1487034 h 1787526"/>
              <a:gd name="T116" fmla="*/ 57150 w 2509838"/>
              <a:gd name="T117" fmla="*/ 1485674 h 1787526"/>
              <a:gd name="T118" fmla="*/ 13833 w 2509838"/>
              <a:gd name="T119" fmla="*/ 1452790 h 1787526"/>
              <a:gd name="T120" fmla="*/ 2041 w 2509838"/>
              <a:gd name="T121" fmla="*/ 70304 h 1787526"/>
              <a:gd name="T122" fmla="*/ 26307 w 2509838"/>
              <a:gd name="T123" fmla="*/ 22905 h 1787526"/>
              <a:gd name="T124" fmla="*/ 77333 w 2509838"/>
              <a:gd name="T125" fmla="*/ 227 h 1787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09838" h="1787526">
                <a:moveTo>
                  <a:pt x="80048" y="1566863"/>
                </a:moveTo>
                <a:lnTo>
                  <a:pt x="84357" y="1566863"/>
                </a:lnTo>
                <a:lnTo>
                  <a:pt x="1096637" y="1566863"/>
                </a:lnTo>
                <a:lnTo>
                  <a:pt x="1094823" y="1569568"/>
                </a:lnTo>
                <a:lnTo>
                  <a:pt x="1093235" y="1572498"/>
                </a:lnTo>
                <a:lnTo>
                  <a:pt x="1092102" y="1575879"/>
                </a:lnTo>
                <a:lnTo>
                  <a:pt x="1090968" y="1579035"/>
                </a:lnTo>
                <a:lnTo>
                  <a:pt x="1090287" y="1582415"/>
                </a:lnTo>
                <a:lnTo>
                  <a:pt x="1089607" y="1585571"/>
                </a:lnTo>
                <a:lnTo>
                  <a:pt x="1089380" y="1589177"/>
                </a:lnTo>
                <a:lnTo>
                  <a:pt x="1089154" y="1592558"/>
                </a:lnTo>
                <a:lnTo>
                  <a:pt x="1089380" y="1597968"/>
                </a:lnTo>
                <a:lnTo>
                  <a:pt x="1090287" y="1603152"/>
                </a:lnTo>
                <a:lnTo>
                  <a:pt x="1091648" y="1608111"/>
                </a:lnTo>
                <a:lnTo>
                  <a:pt x="1093689" y="1612844"/>
                </a:lnTo>
                <a:lnTo>
                  <a:pt x="1095957" y="1617352"/>
                </a:lnTo>
                <a:lnTo>
                  <a:pt x="1098678" y="1621634"/>
                </a:lnTo>
                <a:lnTo>
                  <a:pt x="1101853" y="1625692"/>
                </a:lnTo>
                <a:lnTo>
                  <a:pt x="1105481" y="1629523"/>
                </a:lnTo>
                <a:lnTo>
                  <a:pt x="1109563" y="1632679"/>
                </a:lnTo>
                <a:lnTo>
                  <a:pt x="1113871" y="1635834"/>
                </a:lnTo>
                <a:lnTo>
                  <a:pt x="1118633" y="1638314"/>
                </a:lnTo>
                <a:lnTo>
                  <a:pt x="1123395" y="1640568"/>
                </a:lnTo>
                <a:lnTo>
                  <a:pt x="1128611" y="1642371"/>
                </a:lnTo>
                <a:lnTo>
                  <a:pt x="1134053" y="1643498"/>
                </a:lnTo>
                <a:lnTo>
                  <a:pt x="1139496" y="1644174"/>
                </a:lnTo>
                <a:lnTo>
                  <a:pt x="1145391" y="1644625"/>
                </a:lnTo>
                <a:lnTo>
                  <a:pt x="1364673" y="1644625"/>
                </a:lnTo>
                <a:lnTo>
                  <a:pt x="1370343" y="1644174"/>
                </a:lnTo>
                <a:lnTo>
                  <a:pt x="1376012" y="1643498"/>
                </a:lnTo>
                <a:lnTo>
                  <a:pt x="1381227" y="1642371"/>
                </a:lnTo>
                <a:lnTo>
                  <a:pt x="1386443" y="1640568"/>
                </a:lnTo>
                <a:lnTo>
                  <a:pt x="1391432" y="1638314"/>
                </a:lnTo>
                <a:lnTo>
                  <a:pt x="1396194" y="1635834"/>
                </a:lnTo>
                <a:lnTo>
                  <a:pt x="1400502" y="1632679"/>
                </a:lnTo>
                <a:lnTo>
                  <a:pt x="1404357" y="1629523"/>
                </a:lnTo>
                <a:lnTo>
                  <a:pt x="1407986" y="1625692"/>
                </a:lnTo>
                <a:lnTo>
                  <a:pt x="1411160" y="1621634"/>
                </a:lnTo>
                <a:lnTo>
                  <a:pt x="1414108" y="1617352"/>
                </a:lnTo>
                <a:lnTo>
                  <a:pt x="1416376" y="1612844"/>
                </a:lnTo>
                <a:lnTo>
                  <a:pt x="1418417" y="1608111"/>
                </a:lnTo>
                <a:lnTo>
                  <a:pt x="1419551" y="1603152"/>
                </a:lnTo>
                <a:lnTo>
                  <a:pt x="1420684" y="1597968"/>
                </a:lnTo>
                <a:lnTo>
                  <a:pt x="1420911" y="1592558"/>
                </a:lnTo>
                <a:lnTo>
                  <a:pt x="1420684" y="1589177"/>
                </a:lnTo>
                <a:lnTo>
                  <a:pt x="1420231" y="1585571"/>
                </a:lnTo>
                <a:lnTo>
                  <a:pt x="1419551" y="1582415"/>
                </a:lnTo>
                <a:lnTo>
                  <a:pt x="1418870" y="1579035"/>
                </a:lnTo>
                <a:lnTo>
                  <a:pt x="1417737" y="1575879"/>
                </a:lnTo>
                <a:lnTo>
                  <a:pt x="1416603" y="1572498"/>
                </a:lnTo>
                <a:lnTo>
                  <a:pt x="1415015" y="1569568"/>
                </a:lnTo>
                <a:lnTo>
                  <a:pt x="1413201" y="1566863"/>
                </a:lnTo>
                <a:lnTo>
                  <a:pt x="2425481" y="1566863"/>
                </a:lnTo>
                <a:lnTo>
                  <a:pt x="2429790" y="1566863"/>
                </a:lnTo>
                <a:lnTo>
                  <a:pt x="2434099" y="1567089"/>
                </a:lnTo>
                <a:lnTo>
                  <a:pt x="2438407" y="1567539"/>
                </a:lnTo>
                <a:lnTo>
                  <a:pt x="2442489" y="1568216"/>
                </a:lnTo>
                <a:lnTo>
                  <a:pt x="2446571" y="1569117"/>
                </a:lnTo>
                <a:lnTo>
                  <a:pt x="2450426" y="1570244"/>
                </a:lnTo>
                <a:lnTo>
                  <a:pt x="2454507" y="1571596"/>
                </a:lnTo>
                <a:lnTo>
                  <a:pt x="2458362" y="1572723"/>
                </a:lnTo>
                <a:lnTo>
                  <a:pt x="2462217" y="1574301"/>
                </a:lnTo>
                <a:lnTo>
                  <a:pt x="2465619" y="1576104"/>
                </a:lnTo>
                <a:lnTo>
                  <a:pt x="2469247" y="1578133"/>
                </a:lnTo>
                <a:lnTo>
                  <a:pt x="2472422" y="1580162"/>
                </a:lnTo>
                <a:lnTo>
                  <a:pt x="2476050" y="1581965"/>
                </a:lnTo>
                <a:lnTo>
                  <a:pt x="2478998" y="1584669"/>
                </a:lnTo>
                <a:lnTo>
                  <a:pt x="2482173" y="1586923"/>
                </a:lnTo>
                <a:lnTo>
                  <a:pt x="2485121" y="1589628"/>
                </a:lnTo>
                <a:lnTo>
                  <a:pt x="2487842" y="1592108"/>
                </a:lnTo>
                <a:lnTo>
                  <a:pt x="2490336" y="1595038"/>
                </a:lnTo>
                <a:lnTo>
                  <a:pt x="2492831" y="1597968"/>
                </a:lnTo>
                <a:lnTo>
                  <a:pt x="2495552" y="1601123"/>
                </a:lnTo>
                <a:lnTo>
                  <a:pt x="2497366" y="1604054"/>
                </a:lnTo>
                <a:lnTo>
                  <a:pt x="2499407" y="1607434"/>
                </a:lnTo>
                <a:lnTo>
                  <a:pt x="2501448" y="1610815"/>
                </a:lnTo>
                <a:lnTo>
                  <a:pt x="2503035" y="1614196"/>
                </a:lnTo>
                <a:lnTo>
                  <a:pt x="2504623" y="1618028"/>
                </a:lnTo>
                <a:lnTo>
                  <a:pt x="2505983" y="1621409"/>
                </a:lnTo>
                <a:lnTo>
                  <a:pt x="2507117" y="1625241"/>
                </a:lnTo>
                <a:lnTo>
                  <a:pt x="2508024" y="1629073"/>
                </a:lnTo>
                <a:lnTo>
                  <a:pt x="2508704" y="1632679"/>
                </a:lnTo>
                <a:lnTo>
                  <a:pt x="2509385" y="1636736"/>
                </a:lnTo>
                <a:lnTo>
                  <a:pt x="2509611" y="1640568"/>
                </a:lnTo>
                <a:lnTo>
                  <a:pt x="2509838" y="1644625"/>
                </a:lnTo>
                <a:lnTo>
                  <a:pt x="2509838" y="1709764"/>
                </a:lnTo>
                <a:lnTo>
                  <a:pt x="2509611" y="1713822"/>
                </a:lnTo>
                <a:lnTo>
                  <a:pt x="2509385" y="1717428"/>
                </a:lnTo>
                <a:lnTo>
                  <a:pt x="2508704" y="1721485"/>
                </a:lnTo>
                <a:lnTo>
                  <a:pt x="2508024" y="1725317"/>
                </a:lnTo>
                <a:lnTo>
                  <a:pt x="2507117" y="1729148"/>
                </a:lnTo>
                <a:lnTo>
                  <a:pt x="2505983" y="1732755"/>
                </a:lnTo>
                <a:lnTo>
                  <a:pt x="2504623" y="1736361"/>
                </a:lnTo>
                <a:lnTo>
                  <a:pt x="2503035" y="1740193"/>
                </a:lnTo>
                <a:lnTo>
                  <a:pt x="2501448" y="1743348"/>
                </a:lnTo>
                <a:lnTo>
                  <a:pt x="2499407" y="1746955"/>
                </a:lnTo>
                <a:lnTo>
                  <a:pt x="2497366" y="1750110"/>
                </a:lnTo>
                <a:lnTo>
                  <a:pt x="2495552" y="1753040"/>
                </a:lnTo>
                <a:lnTo>
                  <a:pt x="2492831" y="1756421"/>
                </a:lnTo>
                <a:lnTo>
                  <a:pt x="2490336" y="1759126"/>
                </a:lnTo>
                <a:lnTo>
                  <a:pt x="2487842" y="1762282"/>
                </a:lnTo>
                <a:lnTo>
                  <a:pt x="2485121" y="1764761"/>
                </a:lnTo>
                <a:lnTo>
                  <a:pt x="2482173" y="1767466"/>
                </a:lnTo>
                <a:lnTo>
                  <a:pt x="2478998" y="1769720"/>
                </a:lnTo>
                <a:lnTo>
                  <a:pt x="2476050" y="1772199"/>
                </a:lnTo>
                <a:lnTo>
                  <a:pt x="2472422" y="1774228"/>
                </a:lnTo>
                <a:lnTo>
                  <a:pt x="2469247" y="1776256"/>
                </a:lnTo>
                <a:lnTo>
                  <a:pt x="2465619" y="1778285"/>
                </a:lnTo>
                <a:lnTo>
                  <a:pt x="2462217" y="1780088"/>
                </a:lnTo>
                <a:lnTo>
                  <a:pt x="2458362" y="1781440"/>
                </a:lnTo>
                <a:lnTo>
                  <a:pt x="2454507" y="1782793"/>
                </a:lnTo>
                <a:lnTo>
                  <a:pt x="2450426" y="1783920"/>
                </a:lnTo>
                <a:lnTo>
                  <a:pt x="2446571" y="1785272"/>
                </a:lnTo>
                <a:lnTo>
                  <a:pt x="2442489" y="1785948"/>
                </a:lnTo>
                <a:lnTo>
                  <a:pt x="2438407" y="1786850"/>
                </a:lnTo>
                <a:lnTo>
                  <a:pt x="2434099" y="1787301"/>
                </a:lnTo>
                <a:lnTo>
                  <a:pt x="2429790" y="1787526"/>
                </a:lnTo>
                <a:lnTo>
                  <a:pt x="2425481" y="1787526"/>
                </a:lnTo>
                <a:lnTo>
                  <a:pt x="84357" y="1787526"/>
                </a:lnTo>
                <a:lnTo>
                  <a:pt x="80048" y="1787526"/>
                </a:lnTo>
                <a:lnTo>
                  <a:pt x="75740" y="1787301"/>
                </a:lnTo>
                <a:lnTo>
                  <a:pt x="71431" y="1786850"/>
                </a:lnTo>
                <a:lnTo>
                  <a:pt x="67349" y="1785948"/>
                </a:lnTo>
                <a:lnTo>
                  <a:pt x="63494" y="1785272"/>
                </a:lnTo>
                <a:lnTo>
                  <a:pt x="59413" y="1783920"/>
                </a:lnTo>
                <a:lnTo>
                  <a:pt x="55558" y="1782793"/>
                </a:lnTo>
                <a:lnTo>
                  <a:pt x="51476" y="1781440"/>
                </a:lnTo>
                <a:lnTo>
                  <a:pt x="48074" y="1780088"/>
                </a:lnTo>
                <a:lnTo>
                  <a:pt x="44219" y="1778285"/>
                </a:lnTo>
                <a:lnTo>
                  <a:pt x="40591" y="1776256"/>
                </a:lnTo>
                <a:lnTo>
                  <a:pt x="37416" y="1774228"/>
                </a:lnTo>
                <a:lnTo>
                  <a:pt x="33788" y="1772199"/>
                </a:lnTo>
                <a:lnTo>
                  <a:pt x="30840" y="1769720"/>
                </a:lnTo>
                <a:lnTo>
                  <a:pt x="27892" y="1767466"/>
                </a:lnTo>
                <a:lnTo>
                  <a:pt x="24717" y="1764761"/>
                </a:lnTo>
                <a:lnTo>
                  <a:pt x="21996" y="1762282"/>
                </a:lnTo>
                <a:lnTo>
                  <a:pt x="19502" y="1759126"/>
                </a:lnTo>
                <a:lnTo>
                  <a:pt x="17007" y="1756421"/>
                </a:lnTo>
                <a:lnTo>
                  <a:pt x="14513" y="1753040"/>
                </a:lnTo>
                <a:lnTo>
                  <a:pt x="12472" y="1750110"/>
                </a:lnTo>
                <a:lnTo>
                  <a:pt x="10431" y="1746955"/>
                </a:lnTo>
                <a:lnTo>
                  <a:pt x="8390" y="1743348"/>
                </a:lnTo>
                <a:lnTo>
                  <a:pt x="6803" y="1740193"/>
                </a:lnTo>
                <a:lnTo>
                  <a:pt x="5442" y="1736361"/>
                </a:lnTo>
                <a:lnTo>
                  <a:pt x="3855" y="1732755"/>
                </a:lnTo>
                <a:lnTo>
                  <a:pt x="2948" y="1729148"/>
                </a:lnTo>
                <a:lnTo>
                  <a:pt x="1814" y="1725317"/>
                </a:lnTo>
                <a:lnTo>
                  <a:pt x="1134" y="1721485"/>
                </a:lnTo>
                <a:lnTo>
                  <a:pt x="680" y="1717428"/>
                </a:lnTo>
                <a:lnTo>
                  <a:pt x="227" y="1713822"/>
                </a:lnTo>
                <a:lnTo>
                  <a:pt x="0" y="1709764"/>
                </a:lnTo>
                <a:lnTo>
                  <a:pt x="0" y="1644625"/>
                </a:lnTo>
                <a:lnTo>
                  <a:pt x="227" y="1640568"/>
                </a:lnTo>
                <a:lnTo>
                  <a:pt x="680" y="1636736"/>
                </a:lnTo>
                <a:lnTo>
                  <a:pt x="1134" y="1632679"/>
                </a:lnTo>
                <a:lnTo>
                  <a:pt x="1814" y="1629073"/>
                </a:lnTo>
                <a:lnTo>
                  <a:pt x="2948" y="1625241"/>
                </a:lnTo>
                <a:lnTo>
                  <a:pt x="3855" y="1621409"/>
                </a:lnTo>
                <a:lnTo>
                  <a:pt x="5442" y="1618028"/>
                </a:lnTo>
                <a:lnTo>
                  <a:pt x="6803" y="1614196"/>
                </a:lnTo>
                <a:lnTo>
                  <a:pt x="8390" y="1610815"/>
                </a:lnTo>
                <a:lnTo>
                  <a:pt x="10431" y="1607434"/>
                </a:lnTo>
                <a:lnTo>
                  <a:pt x="12472" y="1604054"/>
                </a:lnTo>
                <a:lnTo>
                  <a:pt x="14513" y="1601123"/>
                </a:lnTo>
                <a:lnTo>
                  <a:pt x="17007" y="1597968"/>
                </a:lnTo>
                <a:lnTo>
                  <a:pt x="19502" y="1595038"/>
                </a:lnTo>
                <a:lnTo>
                  <a:pt x="21996" y="1592108"/>
                </a:lnTo>
                <a:lnTo>
                  <a:pt x="24717" y="1589628"/>
                </a:lnTo>
                <a:lnTo>
                  <a:pt x="27892" y="1586923"/>
                </a:lnTo>
                <a:lnTo>
                  <a:pt x="30840" y="1584669"/>
                </a:lnTo>
                <a:lnTo>
                  <a:pt x="33788" y="1581965"/>
                </a:lnTo>
                <a:lnTo>
                  <a:pt x="37416" y="1580162"/>
                </a:lnTo>
                <a:lnTo>
                  <a:pt x="40591" y="1578133"/>
                </a:lnTo>
                <a:lnTo>
                  <a:pt x="44219" y="1576104"/>
                </a:lnTo>
                <a:lnTo>
                  <a:pt x="48074" y="1574301"/>
                </a:lnTo>
                <a:lnTo>
                  <a:pt x="51476" y="1572723"/>
                </a:lnTo>
                <a:lnTo>
                  <a:pt x="55558" y="1571596"/>
                </a:lnTo>
                <a:lnTo>
                  <a:pt x="59413" y="1570244"/>
                </a:lnTo>
                <a:lnTo>
                  <a:pt x="63494" y="1569117"/>
                </a:lnTo>
                <a:lnTo>
                  <a:pt x="67349" y="1568216"/>
                </a:lnTo>
                <a:lnTo>
                  <a:pt x="71431" y="1567539"/>
                </a:lnTo>
                <a:lnTo>
                  <a:pt x="75740" y="1567089"/>
                </a:lnTo>
                <a:lnTo>
                  <a:pt x="80048" y="1566863"/>
                </a:lnTo>
                <a:close/>
                <a:moveTo>
                  <a:pt x="837043" y="738188"/>
                </a:moveTo>
                <a:lnTo>
                  <a:pt x="839735" y="738188"/>
                </a:lnTo>
                <a:lnTo>
                  <a:pt x="912639" y="738188"/>
                </a:lnTo>
                <a:lnTo>
                  <a:pt x="915107" y="738188"/>
                </a:lnTo>
                <a:lnTo>
                  <a:pt x="917575" y="738870"/>
                </a:lnTo>
                <a:lnTo>
                  <a:pt x="920042" y="739324"/>
                </a:lnTo>
                <a:lnTo>
                  <a:pt x="922285" y="740232"/>
                </a:lnTo>
                <a:lnTo>
                  <a:pt x="924529" y="741368"/>
                </a:lnTo>
                <a:lnTo>
                  <a:pt x="926772" y="742504"/>
                </a:lnTo>
                <a:lnTo>
                  <a:pt x="928791" y="743867"/>
                </a:lnTo>
                <a:lnTo>
                  <a:pt x="930585" y="745684"/>
                </a:lnTo>
                <a:lnTo>
                  <a:pt x="932155" y="747047"/>
                </a:lnTo>
                <a:lnTo>
                  <a:pt x="933501" y="749091"/>
                </a:lnTo>
                <a:lnTo>
                  <a:pt x="934847" y="751135"/>
                </a:lnTo>
                <a:lnTo>
                  <a:pt x="936193" y="753407"/>
                </a:lnTo>
                <a:lnTo>
                  <a:pt x="936866" y="755678"/>
                </a:lnTo>
                <a:lnTo>
                  <a:pt x="937315" y="757950"/>
                </a:lnTo>
                <a:lnTo>
                  <a:pt x="937763" y="760448"/>
                </a:lnTo>
                <a:lnTo>
                  <a:pt x="938212" y="762947"/>
                </a:lnTo>
                <a:lnTo>
                  <a:pt x="938212" y="1145229"/>
                </a:lnTo>
                <a:lnTo>
                  <a:pt x="937763" y="1147728"/>
                </a:lnTo>
                <a:lnTo>
                  <a:pt x="937315" y="1150227"/>
                </a:lnTo>
                <a:lnTo>
                  <a:pt x="936866" y="1152498"/>
                </a:lnTo>
                <a:lnTo>
                  <a:pt x="936193" y="1154770"/>
                </a:lnTo>
                <a:lnTo>
                  <a:pt x="934847" y="1157041"/>
                </a:lnTo>
                <a:lnTo>
                  <a:pt x="933501" y="1159085"/>
                </a:lnTo>
                <a:lnTo>
                  <a:pt x="932155" y="1160902"/>
                </a:lnTo>
                <a:lnTo>
                  <a:pt x="930585" y="1162720"/>
                </a:lnTo>
                <a:lnTo>
                  <a:pt x="928791" y="1164537"/>
                </a:lnTo>
                <a:lnTo>
                  <a:pt x="926772" y="1165672"/>
                </a:lnTo>
                <a:lnTo>
                  <a:pt x="924529" y="1167035"/>
                </a:lnTo>
                <a:lnTo>
                  <a:pt x="922285" y="1167944"/>
                </a:lnTo>
                <a:lnTo>
                  <a:pt x="920042" y="1168852"/>
                </a:lnTo>
                <a:lnTo>
                  <a:pt x="917575" y="1169534"/>
                </a:lnTo>
                <a:lnTo>
                  <a:pt x="915107" y="1169761"/>
                </a:lnTo>
                <a:lnTo>
                  <a:pt x="912639" y="1169988"/>
                </a:lnTo>
                <a:lnTo>
                  <a:pt x="839735" y="1169988"/>
                </a:lnTo>
                <a:lnTo>
                  <a:pt x="837043" y="1169761"/>
                </a:lnTo>
                <a:lnTo>
                  <a:pt x="834576" y="1169534"/>
                </a:lnTo>
                <a:lnTo>
                  <a:pt x="832108" y="1168852"/>
                </a:lnTo>
                <a:lnTo>
                  <a:pt x="829865" y="1167944"/>
                </a:lnTo>
                <a:lnTo>
                  <a:pt x="827622" y="1167035"/>
                </a:lnTo>
                <a:lnTo>
                  <a:pt x="825603" y="1165672"/>
                </a:lnTo>
                <a:lnTo>
                  <a:pt x="823584" y="1164537"/>
                </a:lnTo>
                <a:lnTo>
                  <a:pt x="821790" y="1162720"/>
                </a:lnTo>
                <a:lnTo>
                  <a:pt x="819995" y="1160902"/>
                </a:lnTo>
                <a:lnTo>
                  <a:pt x="818649" y="1159085"/>
                </a:lnTo>
                <a:lnTo>
                  <a:pt x="817303" y="1157041"/>
                </a:lnTo>
                <a:lnTo>
                  <a:pt x="816406" y="1154770"/>
                </a:lnTo>
                <a:lnTo>
                  <a:pt x="815284" y="1152498"/>
                </a:lnTo>
                <a:lnTo>
                  <a:pt x="814836" y="1150227"/>
                </a:lnTo>
                <a:lnTo>
                  <a:pt x="814387" y="1147728"/>
                </a:lnTo>
                <a:lnTo>
                  <a:pt x="814387" y="1145229"/>
                </a:lnTo>
                <a:lnTo>
                  <a:pt x="814387" y="762947"/>
                </a:lnTo>
                <a:lnTo>
                  <a:pt x="814387" y="760448"/>
                </a:lnTo>
                <a:lnTo>
                  <a:pt x="814836" y="757950"/>
                </a:lnTo>
                <a:lnTo>
                  <a:pt x="815284" y="755678"/>
                </a:lnTo>
                <a:lnTo>
                  <a:pt x="816406" y="753407"/>
                </a:lnTo>
                <a:lnTo>
                  <a:pt x="817303" y="751135"/>
                </a:lnTo>
                <a:lnTo>
                  <a:pt x="818649" y="749091"/>
                </a:lnTo>
                <a:lnTo>
                  <a:pt x="819995" y="747047"/>
                </a:lnTo>
                <a:lnTo>
                  <a:pt x="821790" y="745684"/>
                </a:lnTo>
                <a:lnTo>
                  <a:pt x="823584" y="743867"/>
                </a:lnTo>
                <a:lnTo>
                  <a:pt x="825603" y="742504"/>
                </a:lnTo>
                <a:lnTo>
                  <a:pt x="827622" y="741368"/>
                </a:lnTo>
                <a:lnTo>
                  <a:pt x="829865" y="740232"/>
                </a:lnTo>
                <a:lnTo>
                  <a:pt x="832108" y="739324"/>
                </a:lnTo>
                <a:lnTo>
                  <a:pt x="834576" y="738870"/>
                </a:lnTo>
                <a:lnTo>
                  <a:pt x="837043" y="738188"/>
                </a:lnTo>
                <a:close/>
                <a:moveTo>
                  <a:pt x="1318322" y="671513"/>
                </a:moveTo>
                <a:lnTo>
                  <a:pt x="1320794" y="671513"/>
                </a:lnTo>
                <a:lnTo>
                  <a:pt x="1394056" y="671513"/>
                </a:lnTo>
                <a:lnTo>
                  <a:pt x="1396528" y="671513"/>
                </a:lnTo>
                <a:lnTo>
                  <a:pt x="1399000" y="671966"/>
                </a:lnTo>
                <a:lnTo>
                  <a:pt x="1401472" y="672873"/>
                </a:lnTo>
                <a:lnTo>
                  <a:pt x="1403719" y="673553"/>
                </a:lnTo>
                <a:lnTo>
                  <a:pt x="1405966" y="674913"/>
                </a:lnTo>
                <a:lnTo>
                  <a:pt x="1408213" y="676273"/>
                </a:lnTo>
                <a:lnTo>
                  <a:pt x="1410011" y="677860"/>
                </a:lnTo>
                <a:lnTo>
                  <a:pt x="1412034" y="679900"/>
                </a:lnTo>
                <a:lnTo>
                  <a:pt x="1413607" y="681941"/>
                </a:lnTo>
                <a:lnTo>
                  <a:pt x="1414955" y="683981"/>
                </a:lnTo>
                <a:lnTo>
                  <a:pt x="1416304" y="686474"/>
                </a:lnTo>
                <a:lnTo>
                  <a:pt x="1417203" y="688968"/>
                </a:lnTo>
                <a:lnTo>
                  <a:pt x="1418326" y="691461"/>
                </a:lnTo>
                <a:lnTo>
                  <a:pt x="1418776" y="694181"/>
                </a:lnTo>
                <a:lnTo>
                  <a:pt x="1419225" y="696902"/>
                </a:lnTo>
                <a:lnTo>
                  <a:pt x="1419225" y="699848"/>
                </a:lnTo>
                <a:lnTo>
                  <a:pt x="1419225" y="1141426"/>
                </a:lnTo>
                <a:lnTo>
                  <a:pt x="1419225" y="1144373"/>
                </a:lnTo>
                <a:lnTo>
                  <a:pt x="1418776" y="1147320"/>
                </a:lnTo>
                <a:lnTo>
                  <a:pt x="1418326" y="1149813"/>
                </a:lnTo>
                <a:lnTo>
                  <a:pt x="1417203" y="1152534"/>
                </a:lnTo>
                <a:lnTo>
                  <a:pt x="1416304" y="1155254"/>
                </a:lnTo>
                <a:lnTo>
                  <a:pt x="1414955" y="1157521"/>
                </a:lnTo>
                <a:lnTo>
                  <a:pt x="1413607" y="1159787"/>
                </a:lnTo>
                <a:lnTo>
                  <a:pt x="1412034" y="1161601"/>
                </a:lnTo>
                <a:lnTo>
                  <a:pt x="1410011" y="1163414"/>
                </a:lnTo>
                <a:lnTo>
                  <a:pt x="1408213" y="1165228"/>
                </a:lnTo>
                <a:lnTo>
                  <a:pt x="1405966" y="1166588"/>
                </a:lnTo>
                <a:lnTo>
                  <a:pt x="1403719" y="1167721"/>
                </a:lnTo>
                <a:lnTo>
                  <a:pt x="1401472" y="1168855"/>
                </a:lnTo>
                <a:lnTo>
                  <a:pt x="1399000" y="1169535"/>
                </a:lnTo>
                <a:lnTo>
                  <a:pt x="1396528" y="1169761"/>
                </a:lnTo>
                <a:lnTo>
                  <a:pt x="1394056" y="1169988"/>
                </a:lnTo>
                <a:lnTo>
                  <a:pt x="1320794" y="1169988"/>
                </a:lnTo>
                <a:lnTo>
                  <a:pt x="1318322" y="1169761"/>
                </a:lnTo>
                <a:lnTo>
                  <a:pt x="1315850" y="1169535"/>
                </a:lnTo>
                <a:lnTo>
                  <a:pt x="1313154" y="1168855"/>
                </a:lnTo>
                <a:lnTo>
                  <a:pt x="1310906" y="1167721"/>
                </a:lnTo>
                <a:lnTo>
                  <a:pt x="1308659" y="1166588"/>
                </a:lnTo>
                <a:lnTo>
                  <a:pt x="1306861" y="1165228"/>
                </a:lnTo>
                <a:lnTo>
                  <a:pt x="1304839" y="1163414"/>
                </a:lnTo>
                <a:lnTo>
                  <a:pt x="1303041" y="1161601"/>
                </a:lnTo>
                <a:lnTo>
                  <a:pt x="1301243" y="1159787"/>
                </a:lnTo>
                <a:lnTo>
                  <a:pt x="1299670" y="1157521"/>
                </a:lnTo>
                <a:lnTo>
                  <a:pt x="1298546" y="1155254"/>
                </a:lnTo>
                <a:lnTo>
                  <a:pt x="1297423" y="1152534"/>
                </a:lnTo>
                <a:lnTo>
                  <a:pt x="1296524" y="1149813"/>
                </a:lnTo>
                <a:lnTo>
                  <a:pt x="1296074" y="1147320"/>
                </a:lnTo>
                <a:lnTo>
                  <a:pt x="1295400" y="1144373"/>
                </a:lnTo>
                <a:lnTo>
                  <a:pt x="1295400" y="1141426"/>
                </a:lnTo>
                <a:lnTo>
                  <a:pt x="1295400" y="699848"/>
                </a:lnTo>
                <a:lnTo>
                  <a:pt x="1295400" y="696902"/>
                </a:lnTo>
                <a:lnTo>
                  <a:pt x="1296074" y="694181"/>
                </a:lnTo>
                <a:lnTo>
                  <a:pt x="1296524" y="691461"/>
                </a:lnTo>
                <a:lnTo>
                  <a:pt x="1297423" y="688968"/>
                </a:lnTo>
                <a:lnTo>
                  <a:pt x="1298546" y="686474"/>
                </a:lnTo>
                <a:lnTo>
                  <a:pt x="1299670" y="683981"/>
                </a:lnTo>
                <a:lnTo>
                  <a:pt x="1301243" y="681941"/>
                </a:lnTo>
                <a:lnTo>
                  <a:pt x="1303041" y="679900"/>
                </a:lnTo>
                <a:lnTo>
                  <a:pt x="1304839" y="677860"/>
                </a:lnTo>
                <a:lnTo>
                  <a:pt x="1306861" y="676273"/>
                </a:lnTo>
                <a:lnTo>
                  <a:pt x="1308659" y="674913"/>
                </a:lnTo>
                <a:lnTo>
                  <a:pt x="1310906" y="673553"/>
                </a:lnTo>
                <a:lnTo>
                  <a:pt x="1313154" y="672873"/>
                </a:lnTo>
                <a:lnTo>
                  <a:pt x="1315850" y="671966"/>
                </a:lnTo>
                <a:lnTo>
                  <a:pt x="1318322" y="671513"/>
                </a:lnTo>
                <a:close/>
                <a:moveTo>
                  <a:pt x="988416" y="671513"/>
                </a:moveTo>
                <a:lnTo>
                  <a:pt x="990920" y="671513"/>
                </a:lnTo>
                <a:lnTo>
                  <a:pt x="1065121" y="671513"/>
                </a:lnTo>
                <a:lnTo>
                  <a:pt x="1067624" y="671513"/>
                </a:lnTo>
                <a:lnTo>
                  <a:pt x="1070128" y="671966"/>
                </a:lnTo>
                <a:lnTo>
                  <a:pt x="1072632" y="672873"/>
                </a:lnTo>
                <a:lnTo>
                  <a:pt x="1074908" y="673553"/>
                </a:lnTo>
                <a:lnTo>
                  <a:pt x="1077184" y="674913"/>
                </a:lnTo>
                <a:lnTo>
                  <a:pt x="1079460" y="676273"/>
                </a:lnTo>
                <a:lnTo>
                  <a:pt x="1081281" y="677860"/>
                </a:lnTo>
                <a:lnTo>
                  <a:pt x="1083330" y="679900"/>
                </a:lnTo>
                <a:lnTo>
                  <a:pt x="1084923" y="681941"/>
                </a:lnTo>
                <a:lnTo>
                  <a:pt x="1086288" y="683981"/>
                </a:lnTo>
                <a:lnTo>
                  <a:pt x="1087654" y="686474"/>
                </a:lnTo>
                <a:lnTo>
                  <a:pt x="1088565" y="688968"/>
                </a:lnTo>
                <a:lnTo>
                  <a:pt x="1089703" y="691461"/>
                </a:lnTo>
                <a:lnTo>
                  <a:pt x="1090158" y="694181"/>
                </a:lnTo>
                <a:lnTo>
                  <a:pt x="1090613" y="696902"/>
                </a:lnTo>
                <a:lnTo>
                  <a:pt x="1090613" y="699848"/>
                </a:lnTo>
                <a:lnTo>
                  <a:pt x="1090613" y="1141426"/>
                </a:lnTo>
                <a:lnTo>
                  <a:pt x="1090613" y="1144373"/>
                </a:lnTo>
                <a:lnTo>
                  <a:pt x="1090158" y="1147320"/>
                </a:lnTo>
                <a:lnTo>
                  <a:pt x="1089703" y="1149813"/>
                </a:lnTo>
                <a:lnTo>
                  <a:pt x="1088565" y="1152534"/>
                </a:lnTo>
                <a:lnTo>
                  <a:pt x="1087654" y="1155254"/>
                </a:lnTo>
                <a:lnTo>
                  <a:pt x="1086288" y="1157521"/>
                </a:lnTo>
                <a:lnTo>
                  <a:pt x="1084923" y="1159787"/>
                </a:lnTo>
                <a:lnTo>
                  <a:pt x="1083330" y="1161601"/>
                </a:lnTo>
                <a:lnTo>
                  <a:pt x="1081281" y="1163414"/>
                </a:lnTo>
                <a:lnTo>
                  <a:pt x="1079460" y="1165228"/>
                </a:lnTo>
                <a:lnTo>
                  <a:pt x="1077184" y="1166588"/>
                </a:lnTo>
                <a:lnTo>
                  <a:pt x="1074908" y="1167721"/>
                </a:lnTo>
                <a:lnTo>
                  <a:pt x="1072632" y="1168855"/>
                </a:lnTo>
                <a:lnTo>
                  <a:pt x="1070128" y="1169535"/>
                </a:lnTo>
                <a:lnTo>
                  <a:pt x="1067624" y="1169761"/>
                </a:lnTo>
                <a:lnTo>
                  <a:pt x="1065121" y="1169988"/>
                </a:lnTo>
                <a:lnTo>
                  <a:pt x="990920" y="1169988"/>
                </a:lnTo>
                <a:lnTo>
                  <a:pt x="988416" y="1169761"/>
                </a:lnTo>
                <a:lnTo>
                  <a:pt x="985685" y="1169535"/>
                </a:lnTo>
                <a:lnTo>
                  <a:pt x="983181" y="1168855"/>
                </a:lnTo>
                <a:lnTo>
                  <a:pt x="980905" y="1167721"/>
                </a:lnTo>
                <a:lnTo>
                  <a:pt x="978629" y="1166588"/>
                </a:lnTo>
                <a:lnTo>
                  <a:pt x="976581" y="1165228"/>
                </a:lnTo>
                <a:lnTo>
                  <a:pt x="974532" y="1163414"/>
                </a:lnTo>
                <a:lnTo>
                  <a:pt x="972939" y="1161601"/>
                </a:lnTo>
                <a:lnTo>
                  <a:pt x="971118" y="1159787"/>
                </a:lnTo>
                <a:lnTo>
                  <a:pt x="969525" y="1157521"/>
                </a:lnTo>
                <a:lnTo>
                  <a:pt x="968387" y="1155254"/>
                </a:lnTo>
                <a:lnTo>
                  <a:pt x="967249" y="1152534"/>
                </a:lnTo>
                <a:lnTo>
                  <a:pt x="966338" y="1149813"/>
                </a:lnTo>
                <a:lnTo>
                  <a:pt x="965883" y="1147320"/>
                </a:lnTo>
                <a:lnTo>
                  <a:pt x="965200" y="1144373"/>
                </a:lnTo>
                <a:lnTo>
                  <a:pt x="965200" y="1141426"/>
                </a:lnTo>
                <a:lnTo>
                  <a:pt x="965200" y="699848"/>
                </a:lnTo>
                <a:lnTo>
                  <a:pt x="965200" y="696902"/>
                </a:lnTo>
                <a:lnTo>
                  <a:pt x="965883" y="694181"/>
                </a:lnTo>
                <a:lnTo>
                  <a:pt x="966338" y="691461"/>
                </a:lnTo>
                <a:lnTo>
                  <a:pt x="967249" y="688968"/>
                </a:lnTo>
                <a:lnTo>
                  <a:pt x="968387" y="686474"/>
                </a:lnTo>
                <a:lnTo>
                  <a:pt x="969525" y="683981"/>
                </a:lnTo>
                <a:lnTo>
                  <a:pt x="971118" y="681941"/>
                </a:lnTo>
                <a:lnTo>
                  <a:pt x="972939" y="679900"/>
                </a:lnTo>
                <a:lnTo>
                  <a:pt x="974532" y="677860"/>
                </a:lnTo>
                <a:lnTo>
                  <a:pt x="976581" y="676273"/>
                </a:lnTo>
                <a:lnTo>
                  <a:pt x="978629" y="674913"/>
                </a:lnTo>
                <a:lnTo>
                  <a:pt x="980905" y="673553"/>
                </a:lnTo>
                <a:lnTo>
                  <a:pt x="983181" y="672873"/>
                </a:lnTo>
                <a:lnTo>
                  <a:pt x="985685" y="671966"/>
                </a:lnTo>
                <a:lnTo>
                  <a:pt x="988416" y="671513"/>
                </a:lnTo>
                <a:close/>
                <a:moveTo>
                  <a:pt x="1471932" y="590550"/>
                </a:moveTo>
                <a:lnTo>
                  <a:pt x="1546133" y="590550"/>
                </a:lnTo>
                <a:lnTo>
                  <a:pt x="1548636" y="590777"/>
                </a:lnTo>
                <a:lnTo>
                  <a:pt x="1551140" y="591231"/>
                </a:lnTo>
                <a:lnTo>
                  <a:pt x="1553644" y="592139"/>
                </a:lnTo>
                <a:lnTo>
                  <a:pt x="1555920" y="593274"/>
                </a:lnTo>
                <a:lnTo>
                  <a:pt x="1558196" y="594635"/>
                </a:lnTo>
                <a:lnTo>
                  <a:pt x="1560472" y="596451"/>
                </a:lnTo>
                <a:lnTo>
                  <a:pt x="1562293" y="598267"/>
                </a:lnTo>
                <a:lnTo>
                  <a:pt x="1564342" y="600537"/>
                </a:lnTo>
                <a:lnTo>
                  <a:pt x="1565707" y="602806"/>
                </a:lnTo>
                <a:lnTo>
                  <a:pt x="1567300" y="605303"/>
                </a:lnTo>
                <a:lnTo>
                  <a:pt x="1568666" y="608026"/>
                </a:lnTo>
                <a:lnTo>
                  <a:pt x="1569577" y="610750"/>
                </a:lnTo>
                <a:lnTo>
                  <a:pt x="1570487" y="613927"/>
                </a:lnTo>
                <a:lnTo>
                  <a:pt x="1571170" y="617105"/>
                </a:lnTo>
                <a:lnTo>
                  <a:pt x="1571625" y="620282"/>
                </a:lnTo>
                <a:lnTo>
                  <a:pt x="1571625" y="623687"/>
                </a:lnTo>
                <a:lnTo>
                  <a:pt x="1571625" y="1136851"/>
                </a:lnTo>
                <a:lnTo>
                  <a:pt x="1571625" y="1140256"/>
                </a:lnTo>
                <a:lnTo>
                  <a:pt x="1571170" y="1143433"/>
                </a:lnTo>
                <a:lnTo>
                  <a:pt x="1570487" y="1146838"/>
                </a:lnTo>
                <a:lnTo>
                  <a:pt x="1569577" y="1149788"/>
                </a:lnTo>
                <a:lnTo>
                  <a:pt x="1568666" y="1152512"/>
                </a:lnTo>
                <a:lnTo>
                  <a:pt x="1567300" y="1155462"/>
                </a:lnTo>
                <a:lnTo>
                  <a:pt x="1565707" y="1157959"/>
                </a:lnTo>
                <a:lnTo>
                  <a:pt x="1564342" y="1160229"/>
                </a:lnTo>
                <a:lnTo>
                  <a:pt x="1562293" y="1162498"/>
                </a:lnTo>
                <a:lnTo>
                  <a:pt x="1560472" y="1164314"/>
                </a:lnTo>
                <a:lnTo>
                  <a:pt x="1558196" y="1165903"/>
                </a:lnTo>
                <a:lnTo>
                  <a:pt x="1555920" y="1167492"/>
                </a:lnTo>
                <a:lnTo>
                  <a:pt x="1553644" y="1168399"/>
                </a:lnTo>
                <a:lnTo>
                  <a:pt x="1551140" y="1169307"/>
                </a:lnTo>
                <a:lnTo>
                  <a:pt x="1548636" y="1169761"/>
                </a:lnTo>
                <a:lnTo>
                  <a:pt x="1546133" y="1169988"/>
                </a:lnTo>
                <a:lnTo>
                  <a:pt x="1471932" y="1169988"/>
                </a:lnTo>
                <a:lnTo>
                  <a:pt x="1469201" y="1169761"/>
                </a:lnTo>
                <a:lnTo>
                  <a:pt x="1466697" y="1169307"/>
                </a:lnTo>
                <a:lnTo>
                  <a:pt x="1464193" y="1168399"/>
                </a:lnTo>
                <a:lnTo>
                  <a:pt x="1461917" y="1167492"/>
                </a:lnTo>
                <a:lnTo>
                  <a:pt x="1459641" y="1165903"/>
                </a:lnTo>
                <a:lnTo>
                  <a:pt x="1457593" y="1164314"/>
                </a:lnTo>
                <a:lnTo>
                  <a:pt x="1455544" y="1162498"/>
                </a:lnTo>
                <a:lnTo>
                  <a:pt x="1453496" y="1160229"/>
                </a:lnTo>
                <a:lnTo>
                  <a:pt x="1452130" y="1157959"/>
                </a:lnTo>
                <a:lnTo>
                  <a:pt x="1450537" y="1155462"/>
                </a:lnTo>
                <a:lnTo>
                  <a:pt x="1449399" y="1152512"/>
                </a:lnTo>
                <a:lnTo>
                  <a:pt x="1448261" y="1149788"/>
                </a:lnTo>
                <a:lnTo>
                  <a:pt x="1447350" y="1146838"/>
                </a:lnTo>
                <a:lnTo>
                  <a:pt x="1446667" y="1143433"/>
                </a:lnTo>
                <a:lnTo>
                  <a:pt x="1446212" y="1140256"/>
                </a:lnTo>
                <a:lnTo>
                  <a:pt x="1446212" y="1136851"/>
                </a:lnTo>
                <a:lnTo>
                  <a:pt x="1446212" y="623687"/>
                </a:lnTo>
                <a:lnTo>
                  <a:pt x="1446212" y="620282"/>
                </a:lnTo>
                <a:lnTo>
                  <a:pt x="1446667" y="617105"/>
                </a:lnTo>
                <a:lnTo>
                  <a:pt x="1447350" y="613927"/>
                </a:lnTo>
                <a:lnTo>
                  <a:pt x="1448261" y="610750"/>
                </a:lnTo>
                <a:lnTo>
                  <a:pt x="1449399" y="608026"/>
                </a:lnTo>
                <a:lnTo>
                  <a:pt x="1450537" y="605303"/>
                </a:lnTo>
                <a:lnTo>
                  <a:pt x="1452130" y="602806"/>
                </a:lnTo>
                <a:lnTo>
                  <a:pt x="1453496" y="600537"/>
                </a:lnTo>
                <a:lnTo>
                  <a:pt x="1455544" y="598267"/>
                </a:lnTo>
                <a:lnTo>
                  <a:pt x="1457593" y="596451"/>
                </a:lnTo>
                <a:lnTo>
                  <a:pt x="1459641" y="594635"/>
                </a:lnTo>
                <a:lnTo>
                  <a:pt x="1461917" y="593274"/>
                </a:lnTo>
                <a:lnTo>
                  <a:pt x="1464193" y="592139"/>
                </a:lnTo>
                <a:lnTo>
                  <a:pt x="1466697" y="591231"/>
                </a:lnTo>
                <a:lnTo>
                  <a:pt x="1469201" y="590777"/>
                </a:lnTo>
                <a:lnTo>
                  <a:pt x="1471932" y="590550"/>
                </a:lnTo>
                <a:close/>
                <a:moveTo>
                  <a:pt x="1152617" y="590550"/>
                </a:moveTo>
                <a:lnTo>
                  <a:pt x="1226818" y="590550"/>
                </a:lnTo>
                <a:lnTo>
                  <a:pt x="1229322" y="590777"/>
                </a:lnTo>
                <a:lnTo>
                  <a:pt x="1232053" y="591231"/>
                </a:lnTo>
                <a:lnTo>
                  <a:pt x="1234557" y="592139"/>
                </a:lnTo>
                <a:lnTo>
                  <a:pt x="1236833" y="593274"/>
                </a:lnTo>
                <a:lnTo>
                  <a:pt x="1239109" y="594635"/>
                </a:lnTo>
                <a:lnTo>
                  <a:pt x="1241158" y="596451"/>
                </a:lnTo>
                <a:lnTo>
                  <a:pt x="1242978" y="598267"/>
                </a:lnTo>
                <a:lnTo>
                  <a:pt x="1244799" y="600537"/>
                </a:lnTo>
                <a:lnTo>
                  <a:pt x="1246620" y="602806"/>
                </a:lnTo>
                <a:lnTo>
                  <a:pt x="1248213" y="605303"/>
                </a:lnTo>
                <a:lnTo>
                  <a:pt x="1249352" y="608026"/>
                </a:lnTo>
                <a:lnTo>
                  <a:pt x="1250490" y="610750"/>
                </a:lnTo>
                <a:lnTo>
                  <a:pt x="1251400" y="613927"/>
                </a:lnTo>
                <a:lnTo>
                  <a:pt x="1251855" y="617105"/>
                </a:lnTo>
                <a:lnTo>
                  <a:pt x="1252538" y="620282"/>
                </a:lnTo>
                <a:lnTo>
                  <a:pt x="1252538" y="623687"/>
                </a:lnTo>
                <a:lnTo>
                  <a:pt x="1252538" y="1136851"/>
                </a:lnTo>
                <a:lnTo>
                  <a:pt x="1252538" y="1140256"/>
                </a:lnTo>
                <a:lnTo>
                  <a:pt x="1251855" y="1143433"/>
                </a:lnTo>
                <a:lnTo>
                  <a:pt x="1251400" y="1146838"/>
                </a:lnTo>
                <a:lnTo>
                  <a:pt x="1250490" y="1149788"/>
                </a:lnTo>
                <a:lnTo>
                  <a:pt x="1249352" y="1152512"/>
                </a:lnTo>
                <a:lnTo>
                  <a:pt x="1248213" y="1155462"/>
                </a:lnTo>
                <a:lnTo>
                  <a:pt x="1246620" y="1157959"/>
                </a:lnTo>
                <a:lnTo>
                  <a:pt x="1244799" y="1160229"/>
                </a:lnTo>
                <a:lnTo>
                  <a:pt x="1242978" y="1162498"/>
                </a:lnTo>
                <a:lnTo>
                  <a:pt x="1241158" y="1164314"/>
                </a:lnTo>
                <a:lnTo>
                  <a:pt x="1239109" y="1165903"/>
                </a:lnTo>
                <a:lnTo>
                  <a:pt x="1236833" y="1167492"/>
                </a:lnTo>
                <a:lnTo>
                  <a:pt x="1234557" y="1168399"/>
                </a:lnTo>
                <a:lnTo>
                  <a:pt x="1232053" y="1169307"/>
                </a:lnTo>
                <a:lnTo>
                  <a:pt x="1229322" y="1169761"/>
                </a:lnTo>
                <a:lnTo>
                  <a:pt x="1226818" y="1169988"/>
                </a:lnTo>
                <a:lnTo>
                  <a:pt x="1152617" y="1169988"/>
                </a:lnTo>
                <a:lnTo>
                  <a:pt x="1150114" y="1169761"/>
                </a:lnTo>
                <a:lnTo>
                  <a:pt x="1147610" y="1169307"/>
                </a:lnTo>
                <a:lnTo>
                  <a:pt x="1145106" y="1168399"/>
                </a:lnTo>
                <a:lnTo>
                  <a:pt x="1142830" y="1167492"/>
                </a:lnTo>
                <a:lnTo>
                  <a:pt x="1140554" y="1165903"/>
                </a:lnTo>
                <a:lnTo>
                  <a:pt x="1138278" y="1164314"/>
                </a:lnTo>
                <a:lnTo>
                  <a:pt x="1136457" y="1162498"/>
                </a:lnTo>
                <a:lnTo>
                  <a:pt x="1134409" y="1160229"/>
                </a:lnTo>
                <a:lnTo>
                  <a:pt x="1132815" y="1157959"/>
                </a:lnTo>
                <a:lnTo>
                  <a:pt x="1131450" y="1155462"/>
                </a:lnTo>
                <a:lnTo>
                  <a:pt x="1130084" y="1152512"/>
                </a:lnTo>
                <a:lnTo>
                  <a:pt x="1129174" y="1149788"/>
                </a:lnTo>
                <a:lnTo>
                  <a:pt x="1128036" y="1146838"/>
                </a:lnTo>
                <a:lnTo>
                  <a:pt x="1127580" y="1143433"/>
                </a:lnTo>
                <a:lnTo>
                  <a:pt x="1127125" y="1140256"/>
                </a:lnTo>
                <a:lnTo>
                  <a:pt x="1127125" y="1136851"/>
                </a:lnTo>
                <a:lnTo>
                  <a:pt x="1127125" y="623687"/>
                </a:lnTo>
                <a:lnTo>
                  <a:pt x="1127125" y="620282"/>
                </a:lnTo>
                <a:lnTo>
                  <a:pt x="1127580" y="617105"/>
                </a:lnTo>
                <a:lnTo>
                  <a:pt x="1128036" y="613927"/>
                </a:lnTo>
                <a:lnTo>
                  <a:pt x="1129174" y="610750"/>
                </a:lnTo>
                <a:lnTo>
                  <a:pt x="1130084" y="608026"/>
                </a:lnTo>
                <a:lnTo>
                  <a:pt x="1131450" y="605303"/>
                </a:lnTo>
                <a:lnTo>
                  <a:pt x="1132815" y="602806"/>
                </a:lnTo>
                <a:lnTo>
                  <a:pt x="1134409" y="600537"/>
                </a:lnTo>
                <a:lnTo>
                  <a:pt x="1136457" y="598267"/>
                </a:lnTo>
                <a:lnTo>
                  <a:pt x="1138278" y="596451"/>
                </a:lnTo>
                <a:lnTo>
                  <a:pt x="1140554" y="594635"/>
                </a:lnTo>
                <a:lnTo>
                  <a:pt x="1142830" y="593274"/>
                </a:lnTo>
                <a:lnTo>
                  <a:pt x="1145106" y="592139"/>
                </a:lnTo>
                <a:lnTo>
                  <a:pt x="1147610" y="591231"/>
                </a:lnTo>
                <a:lnTo>
                  <a:pt x="1150114" y="590777"/>
                </a:lnTo>
                <a:lnTo>
                  <a:pt x="1152617" y="590550"/>
                </a:lnTo>
                <a:close/>
                <a:moveTo>
                  <a:pt x="1633857" y="508000"/>
                </a:moveTo>
                <a:lnTo>
                  <a:pt x="1707830" y="508000"/>
                </a:lnTo>
                <a:lnTo>
                  <a:pt x="1710561" y="508227"/>
                </a:lnTo>
                <a:lnTo>
                  <a:pt x="1713065" y="508680"/>
                </a:lnTo>
                <a:lnTo>
                  <a:pt x="1715797" y="509814"/>
                </a:lnTo>
                <a:lnTo>
                  <a:pt x="1718073" y="510947"/>
                </a:lnTo>
                <a:lnTo>
                  <a:pt x="1720349" y="512534"/>
                </a:lnTo>
                <a:lnTo>
                  <a:pt x="1722170" y="514575"/>
                </a:lnTo>
                <a:lnTo>
                  <a:pt x="1724218" y="516842"/>
                </a:lnTo>
                <a:lnTo>
                  <a:pt x="1726039" y="519109"/>
                </a:lnTo>
                <a:lnTo>
                  <a:pt x="1727860" y="521829"/>
                </a:lnTo>
                <a:lnTo>
                  <a:pt x="1729453" y="524550"/>
                </a:lnTo>
                <a:lnTo>
                  <a:pt x="1730591" y="527950"/>
                </a:lnTo>
                <a:lnTo>
                  <a:pt x="1731729" y="531124"/>
                </a:lnTo>
                <a:lnTo>
                  <a:pt x="1732640" y="534752"/>
                </a:lnTo>
                <a:lnTo>
                  <a:pt x="1733095" y="538152"/>
                </a:lnTo>
                <a:lnTo>
                  <a:pt x="1733550" y="542006"/>
                </a:lnTo>
                <a:lnTo>
                  <a:pt x="1733550" y="545860"/>
                </a:lnTo>
                <a:lnTo>
                  <a:pt x="1733550" y="1132128"/>
                </a:lnTo>
                <a:lnTo>
                  <a:pt x="1733550" y="1135982"/>
                </a:lnTo>
                <a:lnTo>
                  <a:pt x="1733095" y="1139836"/>
                </a:lnTo>
                <a:lnTo>
                  <a:pt x="1732640" y="1143463"/>
                </a:lnTo>
                <a:lnTo>
                  <a:pt x="1731729" y="1146864"/>
                </a:lnTo>
                <a:lnTo>
                  <a:pt x="1730591" y="1150038"/>
                </a:lnTo>
                <a:lnTo>
                  <a:pt x="1729453" y="1153438"/>
                </a:lnTo>
                <a:lnTo>
                  <a:pt x="1727860" y="1156159"/>
                </a:lnTo>
                <a:lnTo>
                  <a:pt x="1726039" y="1158879"/>
                </a:lnTo>
                <a:lnTo>
                  <a:pt x="1724218" y="1161373"/>
                </a:lnTo>
                <a:lnTo>
                  <a:pt x="1722170" y="1163414"/>
                </a:lnTo>
                <a:lnTo>
                  <a:pt x="1720349" y="1165454"/>
                </a:lnTo>
                <a:lnTo>
                  <a:pt x="1718073" y="1167041"/>
                </a:lnTo>
                <a:lnTo>
                  <a:pt x="1715797" y="1168174"/>
                </a:lnTo>
                <a:lnTo>
                  <a:pt x="1713065" y="1169308"/>
                </a:lnTo>
                <a:lnTo>
                  <a:pt x="1710561" y="1169761"/>
                </a:lnTo>
                <a:lnTo>
                  <a:pt x="1707830" y="1169988"/>
                </a:lnTo>
                <a:lnTo>
                  <a:pt x="1633857" y="1169988"/>
                </a:lnTo>
                <a:lnTo>
                  <a:pt x="1631353" y="1169761"/>
                </a:lnTo>
                <a:lnTo>
                  <a:pt x="1628850" y="1169308"/>
                </a:lnTo>
                <a:lnTo>
                  <a:pt x="1626346" y="1168174"/>
                </a:lnTo>
                <a:lnTo>
                  <a:pt x="1624070" y="1167041"/>
                </a:lnTo>
                <a:lnTo>
                  <a:pt x="1621794" y="1165454"/>
                </a:lnTo>
                <a:lnTo>
                  <a:pt x="1619518" y="1163414"/>
                </a:lnTo>
                <a:lnTo>
                  <a:pt x="1617469" y="1161373"/>
                </a:lnTo>
                <a:lnTo>
                  <a:pt x="1615648" y="1158879"/>
                </a:lnTo>
                <a:lnTo>
                  <a:pt x="1614055" y="1156159"/>
                </a:lnTo>
                <a:lnTo>
                  <a:pt x="1612689" y="1153438"/>
                </a:lnTo>
                <a:lnTo>
                  <a:pt x="1611324" y="1150038"/>
                </a:lnTo>
                <a:lnTo>
                  <a:pt x="1610186" y="1146864"/>
                </a:lnTo>
                <a:lnTo>
                  <a:pt x="1609275" y="1143463"/>
                </a:lnTo>
                <a:lnTo>
                  <a:pt x="1608820" y="1139836"/>
                </a:lnTo>
                <a:lnTo>
                  <a:pt x="1608365" y="1135982"/>
                </a:lnTo>
                <a:lnTo>
                  <a:pt x="1608137" y="1132128"/>
                </a:lnTo>
                <a:lnTo>
                  <a:pt x="1608137" y="545860"/>
                </a:lnTo>
                <a:lnTo>
                  <a:pt x="1608365" y="542006"/>
                </a:lnTo>
                <a:lnTo>
                  <a:pt x="1608820" y="538152"/>
                </a:lnTo>
                <a:lnTo>
                  <a:pt x="1609275" y="534752"/>
                </a:lnTo>
                <a:lnTo>
                  <a:pt x="1610186" y="531124"/>
                </a:lnTo>
                <a:lnTo>
                  <a:pt x="1611324" y="527950"/>
                </a:lnTo>
                <a:lnTo>
                  <a:pt x="1612689" y="524550"/>
                </a:lnTo>
                <a:lnTo>
                  <a:pt x="1614055" y="521829"/>
                </a:lnTo>
                <a:lnTo>
                  <a:pt x="1615648" y="519109"/>
                </a:lnTo>
                <a:lnTo>
                  <a:pt x="1617469" y="516842"/>
                </a:lnTo>
                <a:lnTo>
                  <a:pt x="1619518" y="514575"/>
                </a:lnTo>
                <a:lnTo>
                  <a:pt x="1621794" y="512534"/>
                </a:lnTo>
                <a:lnTo>
                  <a:pt x="1624070" y="510947"/>
                </a:lnTo>
                <a:lnTo>
                  <a:pt x="1626346" y="509814"/>
                </a:lnTo>
                <a:lnTo>
                  <a:pt x="1628850" y="508680"/>
                </a:lnTo>
                <a:lnTo>
                  <a:pt x="1631353" y="508227"/>
                </a:lnTo>
                <a:lnTo>
                  <a:pt x="1633857" y="508000"/>
                </a:lnTo>
                <a:close/>
                <a:moveTo>
                  <a:pt x="1501548" y="319088"/>
                </a:moveTo>
                <a:lnTo>
                  <a:pt x="1733323" y="319088"/>
                </a:lnTo>
                <a:lnTo>
                  <a:pt x="1733323" y="319316"/>
                </a:lnTo>
                <a:lnTo>
                  <a:pt x="1733550" y="319316"/>
                </a:lnTo>
                <a:lnTo>
                  <a:pt x="1733550" y="464215"/>
                </a:lnTo>
                <a:lnTo>
                  <a:pt x="1637620" y="464215"/>
                </a:lnTo>
                <a:lnTo>
                  <a:pt x="1637620" y="418038"/>
                </a:lnTo>
                <a:lnTo>
                  <a:pt x="1318759" y="617303"/>
                </a:lnTo>
                <a:lnTo>
                  <a:pt x="1250723" y="574766"/>
                </a:lnTo>
                <a:lnTo>
                  <a:pt x="1253444" y="573174"/>
                </a:lnTo>
                <a:lnTo>
                  <a:pt x="1146628" y="506525"/>
                </a:lnTo>
                <a:lnTo>
                  <a:pt x="844096" y="695326"/>
                </a:lnTo>
                <a:lnTo>
                  <a:pt x="776287" y="653016"/>
                </a:lnTo>
                <a:lnTo>
                  <a:pt x="1147082" y="421450"/>
                </a:lnTo>
                <a:lnTo>
                  <a:pt x="1215118" y="463533"/>
                </a:lnTo>
                <a:lnTo>
                  <a:pt x="1214437" y="464215"/>
                </a:lnTo>
                <a:lnTo>
                  <a:pt x="1321253" y="530637"/>
                </a:lnTo>
                <a:lnTo>
                  <a:pt x="1564368" y="379141"/>
                </a:lnTo>
                <a:lnTo>
                  <a:pt x="1501548" y="379141"/>
                </a:lnTo>
                <a:lnTo>
                  <a:pt x="1501548" y="319088"/>
                </a:lnTo>
                <a:close/>
                <a:moveTo>
                  <a:pt x="229507" y="91395"/>
                </a:moveTo>
                <a:lnTo>
                  <a:pt x="225651" y="91621"/>
                </a:lnTo>
                <a:lnTo>
                  <a:pt x="221796" y="91848"/>
                </a:lnTo>
                <a:lnTo>
                  <a:pt x="218394" y="92075"/>
                </a:lnTo>
                <a:lnTo>
                  <a:pt x="214539" y="92755"/>
                </a:lnTo>
                <a:lnTo>
                  <a:pt x="210910" y="93662"/>
                </a:lnTo>
                <a:lnTo>
                  <a:pt x="207509" y="94570"/>
                </a:lnTo>
                <a:lnTo>
                  <a:pt x="204107" y="95704"/>
                </a:lnTo>
                <a:lnTo>
                  <a:pt x="200705" y="96837"/>
                </a:lnTo>
                <a:lnTo>
                  <a:pt x="197303" y="98198"/>
                </a:lnTo>
                <a:lnTo>
                  <a:pt x="194355" y="99559"/>
                </a:lnTo>
                <a:lnTo>
                  <a:pt x="191407" y="101373"/>
                </a:lnTo>
                <a:lnTo>
                  <a:pt x="188232" y="103187"/>
                </a:lnTo>
                <a:lnTo>
                  <a:pt x="185284" y="105002"/>
                </a:lnTo>
                <a:lnTo>
                  <a:pt x="182562" y="107270"/>
                </a:lnTo>
                <a:lnTo>
                  <a:pt x="179614" y="109311"/>
                </a:lnTo>
                <a:lnTo>
                  <a:pt x="177119" y="111579"/>
                </a:lnTo>
                <a:lnTo>
                  <a:pt x="174851" y="114073"/>
                </a:lnTo>
                <a:lnTo>
                  <a:pt x="172357" y="116568"/>
                </a:lnTo>
                <a:lnTo>
                  <a:pt x="170316" y="119062"/>
                </a:lnTo>
                <a:lnTo>
                  <a:pt x="168275" y="121784"/>
                </a:lnTo>
                <a:lnTo>
                  <a:pt x="166460" y="124505"/>
                </a:lnTo>
                <a:lnTo>
                  <a:pt x="164646" y="127454"/>
                </a:lnTo>
                <a:lnTo>
                  <a:pt x="162832" y="130402"/>
                </a:lnTo>
                <a:lnTo>
                  <a:pt x="161471" y="133350"/>
                </a:lnTo>
                <a:lnTo>
                  <a:pt x="160110" y="136525"/>
                </a:lnTo>
                <a:lnTo>
                  <a:pt x="158976" y="139700"/>
                </a:lnTo>
                <a:lnTo>
                  <a:pt x="158069" y="143102"/>
                </a:lnTo>
                <a:lnTo>
                  <a:pt x="156935" y="146277"/>
                </a:lnTo>
                <a:lnTo>
                  <a:pt x="156482" y="149679"/>
                </a:lnTo>
                <a:lnTo>
                  <a:pt x="156028" y="153080"/>
                </a:lnTo>
                <a:lnTo>
                  <a:pt x="155801" y="156709"/>
                </a:lnTo>
                <a:lnTo>
                  <a:pt x="155801" y="160111"/>
                </a:lnTo>
                <a:lnTo>
                  <a:pt x="155801" y="1330098"/>
                </a:lnTo>
                <a:lnTo>
                  <a:pt x="155801" y="1333500"/>
                </a:lnTo>
                <a:lnTo>
                  <a:pt x="156028" y="1337129"/>
                </a:lnTo>
                <a:lnTo>
                  <a:pt x="156482" y="1340531"/>
                </a:lnTo>
                <a:lnTo>
                  <a:pt x="156935" y="1343932"/>
                </a:lnTo>
                <a:lnTo>
                  <a:pt x="158069" y="1347561"/>
                </a:lnTo>
                <a:lnTo>
                  <a:pt x="158976" y="1350509"/>
                </a:lnTo>
                <a:lnTo>
                  <a:pt x="160110" y="1353684"/>
                </a:lnTo>
                <a:lnTo>
                  <a:pt x="161471" y="1357086"/>
                </a:lnTo>
                <a:lnTo>
                  <a:pt x="162832" y="1360034"/>
                </a:lnTo>
                <a:lnTo>
                  <a:pt x="164646" y="1362756"/>
                </a:lnTo>
                <a:lnTo>
                  <a:pt x="166460" y="1365931"/>
                </a:lnTo>
                <a:lnTo>
                  <a:pt x="168275" y="1368652"/>
                </a:lnTo>
                <a:lnTo>
                  <a:pt x="170316" y="1371373"/>
                </a:lnTo>
                <a:lnTo>
                  <a:pt x="172357" y="1373868"/>
                </a:lnTo>
                <a:lnTo>
                  <a:pt x="174851" y="1376590"/>
                </a:lnTo>
                <a:lnTo>
                  <a:pt x="177119" y="1378857"/>
                </a:lnTo>
                <a:lnTo>
                  <a:pt x="179614" y="1381125"/>
                </a:lnTo>
                <a:lnTo>
                  <a:pt x="182562" y="1383393"/>
                </a:lnTo>
                <a:lnTo>
                  <a:pt x="185284" y="1385207"/>
                </a:lnTo>
                <a:lnTo>
                  <a:pt x="188232" y="1387248"/>
                </a:lnTo>
                <a:lnTo>
                  <a:pt x="191407" y="1389063"/>
                </a:lnTo>
                <a:lnTo>
                  <a:pt x="194355" y="1390650"/>
                </a:lnTo>
                <a:lnTo>
                  <a:pt x="197303" y="1392238"/>
                </a:lnTo>
                <a:lnTo>
                  <a:pt x="200705" y="1393598"/>
                </a:lnTo>
                <a:lnTo>
                  <a:pt x="204107" y="1394959"/>
                </a:lnTo>
                <a:lnTo>
                  <a:pt x="207509" y="1395866"/>
                </a:lnTo>
                <a:lnTo>
                  <a:pt x="210910" y="1397000"/>
                </a:lnTo>
                <a:lnTo>
                  <a:pt x="214539" y="1397681"/>
                </a:lnTo>
                <a:lnTo>
                  <a:pt x="218394" y="1398134"/>
                </a:lnTo>
                <a:lnTo>
                  <a:pt x="221796" y="1398588"/>
                </a:lnTo>
                <a:lnTo>
                  <a:pt x="225651" y="1399041"/>
                </a:lnTo>
                <a:lnTo>
                  <a:pt x="229507" y="1399041"/>
                </a:lnTo>
                <a:lnTo>
                  <a:pt x="2280330" y="1399041"/>
                </a:lnTo>
                <a:lnTo>
                  <a:pt x="2284186" y="1399041"/>
                </a:lnTo>
                <a:lnTo>
                  <a:pt x="2288041" y="1398588"/>
                </a:lnTo>
                <a:lnTo>
                  <a:pt x="2291670" y="1398134"/>
                </a:lnTo>
                <a:lnTo>
                  <a:pt x="2295298" y="1397681"/>
                </a:lnTo>
                <a:lnTo>
                  <a:pt x="2299154" y="1397000"/>
                </a:lnTo>
                <a:lnTo>
                  <a:pt x="2302555" y="1395866"/>
                </a:lnTo>
                <a:lnTo>
                  <a:pt x="2305957" y="1394959"/>
                </a:lnTo>
                <a:lnTo>
                  <a:pt x="2309359" y="1393598"/>
                </a:lnTo>
                <a:lnTo>
                  <a:pt x="2312534" y="1392238"/>
                </a:lnTo>
                <a:lnTo>
                  <a:pt x="2315709" y="1390650"/>
                </a:lnTo>
                <a:lnTo>
                  <a:pt x="2318884" y="1389063"/>
                </a:lnTo>
                <a:lnTo>
                  <a:pt x="2321832" y="1387248"/>
                </a:lnTo>
                <a:lnTo>
                  <a:pt x="2324780" y="1385207"/>
                </a:lnTo>
                <a:lnTo>
                  <a:pt x="2327502" y="1383393"/>
                </a:lnTo>
                <a:lnTo>
                  <a:pt x="2330223" y="1381125"/>
                </a:lnTo>
                <a:lnTo>
                  <a:pt x="2332945" y="1378857"/>
                </a:lnTo>
                <a:lnTo>
                  <a:pt x="2335213" y="1376590"/>
                </a:lnTo>
                <a:lnTo>
                  <a:pt x="2337707" y="1373868"/>
                </a:lnTo>
                <a:lnTo>
                  <a:pt x="2339748" y="1371373"/>
                </a:lnTo>
                <a:lnTo>
                  <a:pt x="2341789" y="1368652"/>
                </a:lnTo>
                <a:lnTo>
                  <a:pt x="2343830" y="1365931"/>
                </a:lnTo>
                <a:lnTo>
                  <a:pt x="2345418" y="1362756"/>
                </a:lnTo>
                <a:lnTo>
                  <a:pt x="2347232" y="1360034"/>
                </a:lnTo>
                <a:lnTo>
                  <a:pt x="2348593" y="1357086"/>
                </a:lnTo>
                <a:lnTo>
                  <a:pt x="2350180" y="1353684"/>
                </a:lnTo>
                <a:lnTo>
                  <a:pt x="2351088" y="1350509"/>
                </a:lnTo>
                <a:lnTo>
                  <a:pt x="2351995" y="1347561"/>
                </a:lnTo>
                <a:lnTo>
                  <a:pt x="2352902" y="1343932"/>
                </a:lnTo>
                <a:lnTo>
                  <a:pt x="2353582" y="1340531"/>
                </a:lnTo>
                <a:lnTo>
                  <a:pt x="2354036" y="1337129"/>
                </a:lnTo>
                <a:lnTo>
                  <a:pt x="2354263" y="1333500"/>
                </a:lnTo>
                <a:lnTo>
                  <a:pt x="2354263" y="1330098"/>
                </a:lnTo>
                <a:lnTo>
                  <a:pt x="2354263" y="160111"/>
                </a:lnTo>
                <a:lnTo>
                  <a:pt x="2354263" y="156709"/>
                </a:lnTo>
                <a:lnTo>
                  <a:pt x="2354036" y="153080"/>
                </a:lnTo>
                <a:lnTo>
                  <a:pt x="2353582" y="149679"/>
                </a:lnTo>
                <a:lnTo>
                  <a:pt x="2352902" y="146277"/>
                </a:lnTo>
                <a:lnTo>
                  <a:pt x="2351995" y="143102"/>
                </a:lnTo>
                <a:lnTo>
                  <a:pt x="2351088" y="139700"/>
                </a:lnTo>
                <a:lnTo>
                  <a:pt x="2350180" y="136525"/>
                </a:lnTo>
                <a:lnTo>
                  <a:pt x="2348593" y="133350"/>
                </a:lnTo>
                <a:lnTo>
                  <a:pt x="2347232" y="130402"/>
                </a:lnTo>
                <a:lnTo>
                  <a:pt x="2345418" y="127454"/>
                </a:lnTo>
                <a:lnTo>
                  <a:pt x="2343830" y="124505"/>
                </a:lnTo>
                <a:lnTo>
                  <a:pt x="2341789" y="121784"/>
                </a:lnTo>
                <a:lnTo>
                  <a:pt x="2339748" y="119062"/>
                </a:lnTo>
                <a:lnTo>
                  <a:pt x="2337707" y="116568"/>
                </a:lnTo>
                <a:lnTo>
                  <a:pt x="2335213" y="114073"/>
                </a:lnTo>
                <a:lnTo>
                  <a:pt x="2332945" y="111579"/>
                </a:lnTo>
                <a:lnTo>
                  <a:pt x="2330223" y="109311"/>
                </a:lnTo>
                <a:lnTo>
                  <a:pt x="2327502" y="107270"/>
                </a:lnTo>
                <a:lnTo>
                  <a:pt x="2324780" y="105002"/>
                </a:lnTo>
                <a:lnTo>
                  <a:pt x="2321832" y="103187"/>
                </a:lnTo>
                <a:lnTo>
                  <a:pt x="2318884" y="101373"/>
                </a:lnTo>
                <a:lnTo>
                  <a:pt x="2315709" y="99559"/>
                </a:lnTo>
                <a:lnTo>
                  <a:pt x="2312534" y="98198"/>
                </a:lnTo>
                <a:lnTo>
                  <a:pt x="2309359" y="96837"/>
                </a:lnTo>
                <a:lnTo>
                  <a:pt x="2305957" y="95704"/>
                </a:lnTo>
                <a:lnTo>
                  <a:pt x="2302555" y="94570"/>
                </a:lnTo>
                <a:lnTo>
                  <a:pt x="2299154" y="93662"/>
                </a:lnTo>
                <a:lnTo>
                  <a:pt x="2295298" y="92755"/>
                </a:lnTo>
                <a:lnTo>
                  <a:pt x="2291670" y="92075"/>
                </a:lnTo>
                <a:lnTo>
                  <a:pt x="2288041" y="91848"/>
                </a:lnTo>
                <a:lnTo>
                  <a:pt x="2284186" y="91621"/>
                </a:lnTo>
                <a:lnTo>
                  <a:pt x="2280330" y="91395"/>
                </a:lnTo>
                <a:lnTo>
                  <a:pt x="229507" y="91395"/>
                </a:lnTo>
                <a:close/>
                <a:moveTo>
                  <a:pt x="81642" y="0"/>
                </a:moveTo>
                <a:lnTo>
                  <a:pt x="86178" y="0"/>
                </a:lnTo>
                <a:lnTo>
                  <a:pt x="2424113" y="0"/>
                </a:lnTo>
                <a:lnTo>
                  <a:pt x="2428648" y="0"/>
                </a:lnTo>
                <a:lnTo>
                  <a:pt x="2432730" y="227"/>
                </a:lnTo>
                <a:lnTo>
                  <a:pt x="2436813" y="680"/>
                </a:lnTo>
                <a:lnTo>
                  <a:pt x="2441122" y="1361"/>
                </a:lnTo>
                <a:lnTo>
                  <a:pt x="2445204" y="2268"/>
                </a:lnTo>
                <a:lnTo>
                  <a:pt x="2449286" y="3402"/>
                </a:lnTo>
                <a:lnTo>
                  <a:pt x="2452914" y="4536"/>
                </a:lnTo>
                <a:lnTo>
                  <a:pt x="2456770" y="5896"/>
                </a:lnTo>
                <a:lnTo>
                  <a:pt x="2460625" y="7484"/>
                </a:lnTo>
                <a:lnTo>
                  <a:pt x="2464480" y="9298"/>
                </a:lnTo>
                <a:lnTo>
                  <a:pt x="2467882" y="11339"/>
                </a:lnTo>
                <a:lnTo>
                  <a:pt x="2471284" y="13380"/>
                </a:lnTo>
                <a:lnTo>
                  <a:pt x="2474459" y="15421"/>
                </a:lnTo>
                <a:lnTo>
                  <a:pt x="2477861" y="17916"/>
                </a:lnTo>
                <a:lnTo>
                  <a:pt x="2480809" y="20184"/>
                </a:lnTo>
                <a:lnTo>
                  <a:pt x="2483757" y="22905"/>
                </a:lnTo>
                <a:lnTo>
                  <a:pt x="2486479" y="25400"/>
                </a:lnTo>
                <a:lnTo>
                  <a:pt x="2489200" y="28348"/>
                </a:lnTo>
                <a:lnTo>
                  <a:pt x="2491695" y="31296"/>
                </a:lnTo>
                <a:lnTo>
                  <a:pt x="2493963" y="34471"/>
                </a:lnTo>
                <a:lnTo>
                  <a:pt x="2496230" y="37646"/>
                </a:lnTo>
                <a:lnTo>
                  <a:pt x="2498272" y="40821"/>
                </a:lnTo>
                <a:lnTo>
                  <a:pt x="2499859" y="44450"/>
                </a:lnTo>
                <a:lnTo>
                  <a:pt x="2501673" y="47625"/>
                </a:lnTo>
                <a:lnTo>
                  <a:pt x="2503261" y="51480"/>
                </a:lnTo>
                <a:lnTo>
                  <a:pt x="2504395" y="54882"/>
                </a:lnTo>
                <a:lnTo>
                  <a:pt x="2505755" y="58737"/>
                </a:lnTo>
                <a:lnTo>
                  <a:pt x="2506663" y="62593"/>
                </a:lnTo>
                <a:lnTo>
                  <a:pt x="2507343" y="66221"/>
                </a:lnTo>
                <a:lnTo>
                  <a:pt x="2508023" y="70304"/>
                </a:lnTo>
                <a:lnTo>
                  <a:pt x="2508250" y="74159"/>
                </a:lnTo>
                <a:lnTo>
                  <a:pt x="2508250" y="78241"/>
                </a:lnTo>
                <a:lnTo>
                  <a:pt x="2508250" y="1411968"/>
                </a:lnTo>
                <a:lnTo>
                  <a:pt x="2508250" y="1416050"/>
                </a:lnTo>
                <a:lnTo>
                  <a:pt x="2508023" y="1420132"/>
                </a:lnTo>
                <a:lnTo>
                  <a:pt x="2507343" y="1423988"/>
                </a:lnTo>
                <a:lnTo>
                  <a:pt x="2506663" y="1427616"/>
                </a:lnTo>
                <a:lnTo>
                  <a:pt x="2505755" y="1431472"/>
                </a:lnTo>
                <a:lnTo>
                  <a:pt x="2504395" y="1435327"/>
                </a:lnTo>
                <a:lnTo>
                  <a:pt x="2503261" y="1439182"/>
                </a:lnTo>
                <a:lnTo>
                  <a:pt x="2501673" y="1442584"/>
                </a:lnTo>
                <a:lnTo>
                  <a:pt x="2499859" y="1446213"/>
                </a:lnTo>
                <a:lnTo>
                  <a:pt x="2498272" y="1449388"/>
                </a:lnTo>
                <a:lnTo>
                  <a:pt x="2496230" y="1452790"/>
                </a:lnTo>
                <a:lnTo>
                  <a:pt x="2493963" y="1455965"/>
                </a:lnTo>
                <a:lnTo>
                  <a:pt x="2491695" y="1458913"/>
                </a:lnTo>
                <a:lnTo>
                  <a:pt x="2489200" y="1462088"/>
                </a:lnTo>
                <a:lnTo>
                  <a:pt x="2486479" y="1464809"/>
                </a:lnTo>
                <a:lnTo>
                  <a:pt x="2483757" y="1467531"/>
                </a:lnTo>
                <a:lnTo>
                  <a:pt x="2480809" y="1470025"/>
                </a:lnTo>
                <a:lnTo>
                  <a:pt x="2477861" y="1472747"/>
                </a:lnTo>
                <a:lnTo>
                  <a:pt x="2474459" y="1475015"/>
                </a:lnTo>
                <a:lnTo>
                  <a:pt x="2471284" y="1477282"/>
                </a:lnTo>
                <a:lnTo>
                  <a:pt x="2467882" y="1479097"/>
                </a:lnTo>
                <a:lnTo>
                  <a:pt x="2464480" y="1480911"/>
                </a:lnTo>
                <a:lnTo>
                  <a:pt x="2460625" y="1482725"/>
                </a:lnTo>
                <a:lnTo>
                  <a:pt x="2456770" y="1484313"/>
                </a:lnTo>
                <a:lnTo>
                  <a:pt x="2452914" y="1485674"/>
                </a:lnTo>
                <a:lnTo>
                  <a:pt x="2449286" y="1487034"/>
                </a:lnTo>
                <a:lnTo>
                  <a:pt x="2445204" y="1487941"/>
                </a:lnTo>
                <a:lnTo>
                  <a:pt x="2441122" y="1488849"/>
                </a:lnTo>
                <a:lnTo>
                  <a:pt x="2436813" y="1489529"/>
                </a:lnTo>
                <a:lnTo>
                  <a:pt x="2432730" y="1489982"/>
                </a:lnTo>
                <a:lnTo>
                  <a:pt x="2428648" y="1490209"/>
                </a:lnTo>
                <a:lnTo>
                  <a:pt x="2424113" y="1490663"/>
                </a:lnTo>
                <a:lnTo>
                  <a:pt x="86178" y="1490663"/>
                </a:lnTo>
                <a:lnTo>
                  <a:pt x="81642" y="1490209"/>
                </a:lnTo>
                <a:lnTo>
                  <a:pt x="77333" y="1489982"/>
                </a:lnTo>
                <a:lnTo>
                  <a:pt x="73251" y="1489529"/>
                </a:lnTo>
                <a:lnTo>
                  <a:pt x="68942" y="1488849"/>
                </a:lnTo>
                <a:lnTo>
                  <a:pt x="64860" y="1487941"/>
                </a:lnTo>
                <a:lnTo>
                  <a:pt x="60778" y="1487034"/>
                </a:lnTo>
                <a:lnTo>
                  <a:pt x="57150" y="1485674"/>
                </a:lnTo>
                <a:lnTo>
                  <a:pt x="53294" y="1484313"/>
                </a:lnTo>
                <a:lnTo>
                  <a:pt x="49439" y="1482725"/>
                </a:lnTo>
                <a:lnTo>
                  <a:pt x="45810" y="1480911"/>
                </a:lnTo>
                <a:lnTo>
                  <a:pt x="42182" y="1479097"/>
                </a:lnTo>
                <a:lnTo>
                  <a:pt x="39007" y="1477282"/>
                </a:lnTo>
                <a:lnTo>
                  <a:pt x="35605" y="1475015"/>
                </a:lnTo>
                <a:lnTo>
                  <a:pt x="32430" y="1472747"/>
                </a:lnTo>
                <a:lnTo>
                  <a:pt x="29255" y="1470025"/>
                </a:lnTo>
                <a:lnTo>
                  <a:pt x="26307" y="1467531"/>
                </a:lnTo>
                <a:lnTo>
                  <a:pt x="23585" y="1464809"/>
                </a:lnTo>
                <a:lnTo>
                  <a:pt x="21091" y="1462088"/>
                </a:lnTo>
                <a:lnTo>
                  <a:pt x="18596" y="1458913"/>
                </a:lnTo>
                <a:lnTo>
                  <a:pt x="16101" y="1455965"/>
                </a:lnTo>
                <a:lnTo>
                  <a:pt x="13833" y="1452790"/>
                </a:lnTo>
                <a:lnTo>
                  <a:pt x="12019" y="1449388"/>
                </a:lnTo>
                <a:lnTo>
                  <a:pt x="9978" y="1446213"/>
                </a:lnTo>
                <a:lnTo>
                  <a:pt x="8391" y="1442584"/>
                </a:lnTo>
                <a:lnTo>
                  <a:pt x="6803" y="1439182"/>
                </a:lnTo>
                <a:lnTo>
                  <a:pt x="5442" y="1435327"/>
                </a:lnTo>
                <a:lnTo>
                  <a:pt x="4308" y="1431472"/>
                </a:lnTo>
                <a:lnTo>
                  <a:pt x="3401" y="1427616"/>
                </a:lnTo>
                <a:lnTo>
                  <a:pt x="2494" y="1423988"/>
                </a:lnTo>
                <a:lnTo>
                  <a:pt x="2041" y="1420132"/>
                </a:lnTo>
                <a:lnTo>
                  <a:pt x="1814" y="1416050"/>
                </a:lnTo>
                <a:lnTo>
                  <a:pt x="1587" y="1411968"/>
                </a:lnTo>
                <a:lnTo>
                  <a:pt x="1587" y="78241"/>
                </a:lnTo>
                <a:lnTo>
                  <a:pt x="1814" y="74159"/>
                </a:lnTo>
                <a:lnTo>
                  <a:pt x="2041" y="70304"/>
                </a:lnTo>
                <a:lnTo>
                  <a:pt x="2494" y="66221"/>
                </a:lnTo>
                <a:lnTo>
                  <a:pt x="3401" y="62593"/>
                </a:lnTo>
                <a:lnTo>
                  <a:pt x="4308" y="58737"/>
                </a:lnTo>
                <a:lnTo>
                  <a:pt x="5442" y="54882"/>
                </a:lnTo>
                <a:lnTo>
                  <a:pt x="6803" y="51480"/>
                </a:lnTo>
                <a:lnTo>
                  <a:pt x="8391" y="47625"/>
                </a:lnTo>
                <a:lnTo>
                  <a:pt x="9978" y="44450"/>
                </a:lnTo>
                <a:lnTo>
                  <a:pt x="12019" y="40821"/>
                </a:lnTo>
                <a:lnTo>
                  <a:pt x="13833" y="37646"/>
                </a:lnTo>
                <a:lnTo>
                  <a:pt x="16101" y="34471"/>
                </a:lnTo>
                <a:lnTo>
                  <a:pt x="18596" y="31296"/>
                </a:lnTo>
                <a:lnTo>
                  <a:pt x="21091" y="28348"/>
                </a:lnTo>
                <a:lnTo>
                  <a:pt x="23585" y="25400"/>
                </a:lnTo>
                <a:lnTo>
                  <a:pt x="26307" y="22905"/>
                </a:lnTo>
                <a:lnTo>
                  <a:pt x="29255" y="20184"/>
                </a:lnTo>
                <a:lnTo>
                  <a:pt x="32430" y="17916"/>
                </a:lnTo>
                <a:lnTo>
                  <a:pt x="35605" y="15421"/>
                </a:lnTo>
                <a:lnTo>
                  <a:pt x="39007" y="13380"/>
                </a:lnTo>
                <a:lnTo>
                  <a:pt x="42182" y="11339"/>
                </a:lnTo>
                <a:lnTo>
                  <a:pt x="45810" y="9298"/>
                </a:lnTo>
                <a:lnTo>
                  <a:pt x="49439" y="7484"/>
                </a:lnTo>
                <a:lnTo>
                  <a:pt x="53294" y="5896"/>
                </a:lnTo>
                <a:lnTo>
                  <a:pt x="57150" y="4536"/>
                </a:lnTo>
                <a:lnTo>
                  <a:pt x="60778" y="3402"/>
                </a:lnTo>
                <a:lnTo>
                  <a:pt x="64860" y="2268"/>
                </a:lnTo>
                <a:lnTo>
                  <a:pt x="68942" y="1361"/>
                </a:lnTo>
                <a:lnTo>
                  <a:pt x="73251" y="680"/>
                </a:lnTo>
                <a:lnTo>
                  <a:pt x="77333" y="227"/>
                </a:lnTo>
                <a:lnTo>
                  <a:pt x="8164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41" name="文本框 40"/>
          <p:cNvSpPr txBox="1"/>
          <p:nvPr/>
        </p:nvSpPr>
        <p:spPr>
          <a:xfrm>
            <a:off x="4111972" y="5475980"/>
            <a:ext cx="893445" cy="254635"/>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网管服务器</a:t>
            </a:r>
            <a:r>
              <a:rPr lang="en-US" altLang="zh-CN" sz="1000" b="1" dirty="0" smtClean="0">
                <a:solidFill>
                  <a:srgbClr val="0070C0"/>
                </a:solidFill>
                <a:latin typeface="微软雅黑" panose="020B0503020204020204" pitchFamily="34" charset="-122"/>
                <a:ea typeface="微软雅黑" panose="020B0503020204020204" pitchFamily="34" charset="-122"/>
              </a:rPr>
              <a:t>k</a:t>
            </a:r>
          </a:p>
        </p:txBody>
      </p:sp>
      <p:sp>
        <p:nvSpPr>
          <p:cNvPr id="42" name="左右箭头 41"/>
          <p:cNvSpPr/>
          <p:nvPr/>
        </p:nvSpPr>
        <p:spPr>
          <a:xfrm>
            <a:off x="5313680" y="3293451"/>
            <a:ext cx="550545" cy="180975"/>
          </a:xfrm>
          <a:prstGeom prst="lef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折角形 42"/>
          <p:cNvSpPr/>
          <p:nvPr/>
        </p:nvSpPr>
        <p:spPr>
          <a:xfrm>
            <a:off x="6035675" y="3810341"/>
            <a:ext cx="550545" cy="40640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折角形 43"/>
          <p:cNvSpPr/>
          <p:nvPr/>
        </p:nvSpPr>
        <p:spPr>
          <a:xfrm>
            <a:off x="6035675" y="3728426"/>
            <a:ext cx="535940" cy="39624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左右箭头 44"/>
          <p:cNvSpPr/>
          <p:nvPr/>
        </p:nvSpPr>
        <p:spPr>
          <a:xfrm>
            <a:off x="7663815" y="3351236"/>
            <a:ext cx="550545" cy="180975"/>
          </a:xfrm>
          <a:prstGeom prst="lef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折角形 45"/>
          <p:cNvSpPr/>
          <p:nvPr/>
        </p:nvSpPr>
        <p:spPr>
          <a:xfrm>
            <a:off x="6704965" y="3867491"/>
            <a:ext cx="550545" cy="40640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折角形 46"/>
          <p:cNvSpPr/>
          <p:nvPr/>
        </p:nvSpPr>
        <p:spPr>
          <a:xfrm>
            <a:off x="6704965" y="3729061"/>
            <a:ext cx="535940" cy="39624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6130642" y="3425725"/>
            <a:ext cx="1082348"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工程和投诉信息</a:t>
            </a:r>
            <a:endParaRPr lang="zh-CN" altLang="en-US" sz="1000" b="1" dirty="0">
              <a:solidFill>
                <a:srgbClr val="0070C0"/>
              </a:solidFill>
              <a:latin typeface="微软雅黑" panose="020B0503020204020204" pitchFamily="34" charset="-122"/>
              <a:ea typeface="微软雅黑" panose="020B0503020204020204" pitchFamily="34" charset="-122"/>
            </a:endParaRPr>
          </a:p>
        </p:txBody>
      </p:sp>
      <p:grpSp>
        <p:nvGrpSpPr>
          <p:cNvPr id="49" name="组合 48"/>
          <p:cNvGrpSpPr/>
          <p:nvPr/>
        </p:nvGrpSpPr>
        <p:grpSpPr>
          <a:xfrm>
            <a:off x="6330315" y="4871426"/>
            <a:ext cx="575945" cy="344170"/>
            <a:chOff x="3186113" y="530112"/>
            <a:chExt cx="2625725" cy="2338387"/>
          </a:xfrm>
        </p:grpSpPr>
        <p:sp>
          <p:nvSpPr>
            <p:cNvPr id="50" name="Rectangle 9"/>
            <p:cNvSpPr>
              <a:spLocks noChangeArrowheads="1"/>
            </p:cNvSpPr>
            <p:nvPr/>
          </p:nvSpPr>
          <p:spPr bwMode="auto">
            <a:xfrm>
              <a:off x="3338513" y="693625"/>
              <a:ext cx="2320925" cy="1635125"/>
            </a:xfrm>
            <a:prstGeom prst="rect">
              <a:avLst/>
            </a:prstGeom>
            <a:solidFill>
              <a:schemeClr val="bg1">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1" name="Freeform 11"/>
            <p:cNvSpPr>
              <a:spLocks noEditPoints="1"/>
            </p:cNvSpPr>
            <p:nvPr/>
          </p:nvSpPr>
          <p:spPr bwMode="auto">
            <a:xfrm>
              <a:off x="3186113" y="530112"/>
              <a:ext cx="2625725" cy="1895475"/>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12"/>
            <p:cNvSpPr/>
            <p:nvPr/>
          </p:nvSpPr>
          <p:spPr bwMode="auto">
            <a:xfrm>
              <a:off x="3867150" y="2546237"/>
              <a:ext cx="1257300" cy="322262"/>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13"/>
            <p:cNvSpPr/>
            <p:nvPr/>
          </p:nvSpPr>
          <p:spPr bwMode="auto">
            <a:xfrm>
              <a:off x="4340225" y="2546237"/>
              <a:ext cx="784225" cy="322262"/>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4" name="文本框 53"/>
          <p:cNvSpPr txBox="1"/>
          <p:nvPr/>
        </p:nvSpPr>
        <p:spPr>
          <a:xfrm>
            <a:off x="6208112" y="4585870"/>
            <a:ext cx="944880" cy="254635"/>
          </a:xfrm>
          <a:prstGeom prst="rect">
            <a:avLst/>
          </a:prstGeom>
          <a:noFill/>
        </p:spPr>
        <p:txBody>
          <a:bodyPr wrap="none" rtlCol="0">
            <a:spAutoFit/>
          </a:bodyPr>
          <a:lstStyle/>
          <a:p>
            <a:r>
              <a:rPr lang="zh-CN" altLang="en-US" sz="1000" b="1" dirty="0">
                <a:solidFill>
                  <a:srgbClr val="0070C0"/>
                </a:solidFill>
                <a:latin typeface="微软雅黑" panose="020B0503020204020204" pitchFamily="34" charset="-122"/>
                <a:ea typeface="微软雅黑" panose="020B0503020204020204" pitchFamily="34" charset="-122"/>
              </a:rPr>
              <a:t>其他项目数据</a:t>
            </a:r>
          </a:p>
        </p:txBody>
      </p:sp>
      <p:sp>
        <p:nvSpPr>
          <p:cNvPr id="55" name="圆角矩形标注 54"/>
          <p:cNvSpPr/>
          <p:nvPr/>
        </p:nvSpPr>
        <p:spPr>
          <a:xfrm>
            <a:off x="9803765" y="785201"/>
            <a:ext cx="2189480" cy="1296670"/>
          </a:xfrm>
          <a:prstGeom prst="wedgeRoundRectCallout">
            <a:avLst>
              <a:gd name="adj1" fmla="val -48743"/>
              <a:gd name="adj2" fmla="val 69747"/>
              <a:gd name="adj3" fmla="val 16667"/>
            </a:avLst>
          </a:prstGeom>
          <a:noFill/>
          <a:ln w="28575" cmpd="dbl">
            <a:solidFill>
              <a:srgbClr val="FC611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400" dirty="0">
              <a:solidFill>
                <a:schemeClr val="tx1"/>
              </a:solidFill>
            </a:endParaRPr>
          </a:p>
          <a:p>
            <a:pPr algn="l"/>
            <a:endParaRPr lang="en-US" altLang="zh-CN" sz="1400" dirty="0">
              <a:solidFill>
                <a:schemeClr val="tx1"/>
              </a:solidFill>
            </a:endParaRPr>
          </a:p>
          <a:p>
            <a:pPr algn="l"/>
            <a:endParaRPr lang="en-US" altLang="zh-CN" sz="1400" dirty="0">
              <a:solidFill>
                <a:schemeClr val="tx1"/>
              </a:solidFill>
            </a:endParaRPr>
          </a:p>
          <a:p>
            <a:pPr algn="l"/>
            <a:r>
              <a:rPr lang="zh-CN" altLang="zh-CN" sz="1600" dirty="0" smtClean="0">
                <a:solidFill>
                  <a:schemeClr val="tx1"/>
                </a:solidFill>
              </a:rPr>
              <a:t>功能</a:t>
            </a:r>
            <a:r>
              <a:rPr lang="en-US" altLang="zh-CN" sz="1600" dirty="0">
                <a:solidFill>
                  <a:schemeClr val="tx1"/>
                </a:solidFill>
              </a:rPr>
              <a:t>:</a:t>
            </a:r>
          </a:p>
          <a:p>
            <a:pPr algn="l"/>
            <a:r>
              <a:rPr lang="en-US" altLang="zh-CN" sz="1600" dirty="0">
                <a:solidFill>
                  <a:schemeClr val="tx1"/>
                </a:solidFill>
              </a:rPr>
              <a:t>1.ftp</a:t>
            </a:r>
            <a:r>
              <a:rPr lang="zh-CN" altLang="en-US" sz="1600" dirty="0">
                <a:solidFill>
                  <a:schemeClr val="tx1"/>
                </a:solidFill>
              </a:rPr>
              <a:t>服务器</a:t>
            </a:r>
          </a:p>
          <a:p>
            <a:pPr algn="l"/>
            <a:r>
              <a:rPr lang="en-US" altLang="zh-CN" sz="1600" dirty="0">
                <a:solidFill>
                  <a:schemeClr val="tx1"/>
                </a:solidFill>
              </a:rPr>
              <a:t>2.</a:t>
            </a:r>
            <a:r>
              <a:rPr lang="zh-CN" altLang="en-US" sz="1600" dirty="0">
                <a:solidFill>
                  <a:schemeClr val="tx1"/>
                </a:solidFill>
              </a:rPr>
              <a:t>解析存储业务数据</a:t>
            </a:r>
          </a:p>
          <a:p>
            <a:pPr algn="l"/>
            <a:r>
              <a:rPr lang="en-US" altLang="zh-CN" sz="1600" dirty="0">
                <a:solidFill>
                  <a:schemeClr val="tx1"/>
                </a:solidFill>
              </a:rPr>
              <a:t>3.</a:t>
            </a:r>
            <a:r>
              <a:rPr lang="zh-CN" altLang="en-US" sz="1600" dirty="0">
                <a:solidFill>
                  <a:schemeClr val="tx1"/>
                </a:solidFill>
              </a:rPr>
              <a:t>支撑客户端</a:t>
            </a:r>
            <a:endParaRPr lang="en-US" altLang="zh-CN" sz="1600" dirty="0">
              <a:solidFill>
                <a:schemeClr val="tx1"/>
              </a:solidFill>
            </a:endParaRPr>
          </a:p>
          <a:p>
            <a:pPr algn="ctr"/>
            <a:endParaRPr lang="zh-CN" altLang="en-US" dirty="0">
              <a:solidFill>
                <a:schemeClr val="tx1"/>
              </a:solidFill>
            </a:endParaRPr>
          </a:p>
          <a:p>
            <a:pPr algn="ctr"/>
            <a:endParaRPr lang="en-US" altLang="zh-CN" dirty="0">
              <a:solidFill>
                <a:schemeClr val="tx1"/>
              </a:solidFill>
            </a:endParaRPr>
          </a:p>
        </p:txBody>
      </p:sp>
      <p:sp>
        <p:nvSpPr>
          <p:cNvPr id="56" name="圆角矩形标注 55"/>
          <p:cNvSpPr/>
          <p:nvPr/>
        </p:nvSpPr>
        <p:spPr>
          <a:xfrm>
            <a:off x="9968230" y="3043261"/>
            <a:ext cx="1978660" cy="1116965"/>
          </a:xfrm>
          <a:prstGeom prst="wedgeRoundRectCallout">
            <a:avLst>
              <a:gd name="adj1" fmla="val -48743"/>
              <a:gd name="adj2" fmla="val 69747"/>
              <a:gd name="adj3" fmla="val 16667"/>
            </a:avLst>
          </a:prstGeom>
          <a:noFill/>
          <a:ln w="28575" cmpd="dbl">
            <a:solidFill>
              <a:srgbClr val="FC611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1400" dirty="0">
                <a:solidFill>
                  <a:schemeClr val="tx1"/>
                </a:solidFill>
                <a:sym typeface="+mn-ea"/>
              </a:rPr>
              <a:t> </a:t>
            </a:r>
          </a:p>
          <a:p>
            <a:pPr algn="l"/>
            <a:r>
              <a:rPr lang="zh-CN" altLang="zh-CN" sz="1600" dirty="0" smtClean="0">
                <a:solidFill>
                  <a:schemeClr val="tx1"/>
                </a:solidFill>
                <a:sym typeface="+mn-ea"/>
              </a:rPr>
              <a:t>功能</a:t>
            </a:r>
            <a:r>
              <a:rPr lang="en-US" altLang="zh-CN" sz="1400" dirty="0">
                <a:solidFill>
                  <a:schemeClr val="tx1"/>
                </a:solidFill>
                <a:sym typeface="+mn-ea"/>
              </a:rPr>
              <a:t>:</a:t>
            </a:r>
          </a:p>
          <a:p>
            <a:pPr algn="l"/>
            <a:r>
              <a:rPr lang="zh-CN" altLang="en-US" sz="1600" dirty="0" smtClean="0">
                <a:solidFill>
                  <a:schemeClr val="tx1"/>
                </a:solidFill>
                <a:sym typeface="+mn-ea"/>
              </a:rPr>
              <a:t>支撑</a:t>
            </a:r>
            <a:r>
              <a:rPr lang="en-US" altLang="zh-CN" sz="1600" dirty="0">
                <a:solidFill>
                  <a:schemeClr val="tx1"/>
                </a:solidFill>
                <a:sym typeface="+mn-ea"/>
              </a:rPr>
              <a:t>web</a:t>
            </a:r>
            <a:r>
              <a:rPr lang="zh-CN" altLang="en-US" sz="1600" dirty="0">
                <a:solidFill>
                  <a:schemeClr val="tx1"/>
                </a:solidFill>
                <a:sym typeface="+mn-ea"/>
              </a:rPr>
              <a:t>系统</a:t>
            </a:r>
          </a:p>
          <a:p>
            <a:pPr algn="l"/>
            <a:endParaRPr lang="zh-CN" altLang="en-US" sz="1600" dirty="0">
              <a:solidFill>
                <a:schemeClr val="tx1"/>
              </a:solidFill>
              <a:sym typeface="+mn-ea"/>
            </a:endParaRPr>
          </a:p>
        </p:txBody>
      </p:sp>
      <p:sp>
        <p:nvSpPr>
          <p:cNvPr id="86" name="文本框 85"/>
          <p:cNvSpPr txBox="1"/>
          <p:nvPr/>
        </p:nvSpPr>
        <p:spPr>
          <a:xfrm>
            <a:off x="8476987" y="1617768"/>
            <a:ext cx="825867"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数据服务器</a:t>
            </a:r>
            <a:endParaRPr lang="en-US" altLang="zh-CN" sz="1000" b="1" dirty="0" smtClean="0">
              <a:solidFill>
                <a:srgbClr val="0070C0"/>
              </a:solidFill>
              <a:latin typeface="微软雅黑" panose="020B0503020204020204" pitchFamily="34" charset="-122"/>
              <a:ea typeface="微软雅黑" panose="020B0503020204020204" pitchFamily="34" charset="-122"/>
            </a:endParaRPr>
          </a:p>
        </p:txBody>
      </p:sp>
      <p:sp>
        <p:nvSpPr>
          <p:cNvPr id="3" name="圆角矩形 2"/>
          <p:cNvSpPr/>
          <p:nvPr/>
        </p:nvSpPr>
        <p:spPr>
          <a:xfrm>
            <a:off x="5417675" y="1245632"/>
            <a:ext cx="2705100" cy="4572000"/>
          </a:xfrm>
          <a:prstGeom prst="roundRect">
            <a:avLst/>
          </a:prstGeom>
          <a:noFill/>
          <a:ln w="28575" cap="flat" cmpd="sng" algn="ctr">
            <a:solidFill>
              <a:srgbClr val="E73A1C"/>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7" name="文本框 6"/>
          <p:cNvSpPr txBox="1"/>
          <p:nvPr/>
        </p:nvSpPr>
        <p:spPr>
          <a:xfrm>
            <a:off x="5879355" y="1433536"/>
            <a:ext cx="1685730" cy="369332"/>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r>
              <a:rPr lang="zh-CN" altLang="en-US" dirty="0" smtClean="0"/>
              <a:t>数据来源分散</a:t>
            </a:r>
            <a:endParaRPr lang="zh-CN" altLang="en-US" dirty="0"/>
          </a:p>
        </p:txBody>
      </p:sp>
      <p:sp>
        <p:nvSpPr>
          <p:cNvPr id="57" name="圆角矩形 56"/>
          <p:cNvSpPr/>
          <p:nvPr/>
        </p:nvSpPr>
        <p:spPr>
          <a:xfrm>
            <a:off x="8134535" y="1245632"/>
            <a:ext cx="2705100" cy="4572000"/>
          </a:xfrm>
          <a:prstGeom prst="roundRect">
            <a:avLst/>
          </a:prstGeom>
          <a:noFill/>
          <a:ln w="28575" cap="flat" cmpd="sng" algn="ctr">
            <a:solidFill>
              <a:srgbClr val="E73A1C"/>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58" name="文本框 57"/>
          <p:cNvSpPr txBox="1"/>
          <p:nvPr/>
        </p:nvSpPr>
        <p:spPr>
          <a:xfrm>
            <a:off x="8767155" y="1411306"/>
            <a:ext cx="1803646"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zh-CN" altLang="en-US" dirty="0" smtClean="0"/>
              <a:t>本地</a:t>
            </a:r>
            <a:r>
              <a:rPr lang="zh-CN" altLang="en-US" dirty="0"/>
              <a:t>数据</a:t>
            </a:r>
            <a:r>
              <a:rPr lang="zh-CN" altLang="en-US" dirty="0" smtClean="0"/>
              <a:t>无备份</a:t>
            </a:r>
            <a:endParaRPr lang="zh-CN" altLang="en-US" dirty="0"/>
          </a:p>
        </p:txBody>
      </p:sp>
      <p:sp>
        <p:nvSpPr>
          <p:cNvPr id="59" name="文本框 58"/>
          <p:cNvSpPr txBox="1"/>
          <p:nvPr/>
        </p:nvSpPr>
        <p:spPr>
          <a:xfrm>
            <a:off x="5881983" y="1460241"/>
            <a:ext cx="168573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zh-CN" altLang="en-US" dirty="0" smtClean="0">
                <a:solidFill>
                  <a:schemeClr val="bg1"/>
                </a:solidFill>
              </a:rPr>
              <a:t>数据统一采集</a:t>
            </a:r>
            <a:endParaRPr lang="zh-CN" altLang="en-US" dirty="0">
              <a:solidFill>
                <a:schemeClr val="bg1"/>
              </a:solidFill>
            </a:endParaRPr>
          </a:p>
        </p:txBody>
      </p:sp>
      <p:sp>
        <p:nvSpPr>
          <p:cNvPr id="60" name="文本框 59"/>
          <p:cNvSpPr txBox="1"/>
          <p:nvPr/>
        </p:nvSpPr>
        <p:spPr>
          <a:xfrm>
            <a:off x="8760170" y="1421680"/>
            <a:ext cx="180364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zh-CN" altLang="en-US" dirty="0" smtClean="0">
                <a:solidFill>
                  <a:schemeClr val="bg1"/>
                </a:solidFill>
              </a:rPr>
              <a:t>数据本地化存储</a:t>
            </a:r>
            <a:endParaRPr lang="zh-CN" altLang="en-US" dirty="0">
              <a:solidFill>
                <a:schemeClr val="bg1"/>
              </a:solidFill>
            </a:endParaRPr>
          </a:p>
        </p:txBody>
      </p:sp>
    </p:spTree>
    <p:extLst>
      <p:ext uri="{BB962C8B-B14F-4D97-AF65-F5344CB8AC3E}">
        <p14:creationId xmlns:p14="http://schemas.microsoft.com/office/powerpoint/2010/main" val="13290787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1"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4" presetClass="exit" presetSubtype="10" fill="hold" grpId="0" nodeType="clickEffect">
                                  <p:stCondLst>
                                    <p:cond delay="0"/>
                                  </p:stCondLst>
                                  <p:childTnLst>
                                    <p:animEffect transition="out" filter="randombar(horizontal)">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14" presetClass="entr" presetSubtype="1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randombar(horizontal)">
                                      <p:cBhvr>
                                        <p:cTn id="23" dur="500"/>
                                        <p:tgtEl>
                                          <p:spTgt spid="5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57"/>
                                        </p:tgtEl>
                                        <p:attrNameLst>
                                          <p:attrName>style.visibility</p:attrName>
                                        </p:attrNameLst>
                                      </p:cBhvr>
                                      <p:to>
                                        <p:strVal val="visible"/>
                                      </p:to>
                                    </p:set>
                                    <p:anim calcmode="lin" valueType="num">
                                      <p:cBhvr>
                                        <p:cTn id="28" dur="500" fill="hold"/>
                                        <p:tgtEl>
                                          <p:spTgt spid="57"/>
                                        </p:tgtEl>
                                        <p:attrNameLst>
                                          <p:attrName>ppt_w</p:attrName>
                                        </p:attrNameLst>
                                      </p:cBhvr>
                                      <p:tavLst>
                                        <p:tav tm="0">
                                          <p:val>
                                            <p:fltVal val="0"/>
                                          </p:val>
                                        </p:tav>
                                        <p:tav tm="100000">
                                          <p:val>
                                            <p:strVal val="#ppt_w"/>
                                          </p:val>
                                        </p:tav>
                                      </p:tavLst>
                                    </p:anim>
                                    <p:anim calcmode="lin" valueType="num">
                                      <p:cBhvr>
                                        <p:cTn id="29" dur="500" fill="hold"/>
                                        <p:tgtEl>
                                          <p:spTgt spid="57"/>
                                        </p:tgtEl>
                                        <p:attrNameLst>
                                          <p:attrName>ppt_h</p:attrName>
                                        </p:attrNameLst>
                                      </p:cBhvr>
                                      <p:tavLst>
                                        <p:tav tm="0">
                                          <p:val>
                                            <p:fltVal val="0"/>
                                          </p:val>
                                        </p:tav>
                                        <p:tav tm="100000">
                                          <p:val>
                                            <p:strVal val="#ppt_h"/>
                                          </p:val>
                                        </p:tav>
                                      </p:tavLst>
                                    </p:anim>
                                    <p:animEffect transition="in" filter="fade">
                                      <p:cBhvr>
                                        <p:cTn id="30" dur="500"/>
                                        <p:tgtEl>
                                          <p:spTgt spid="57"/>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fade">
                                      <p:cBhvr>
                                        <p:cTn id="35" dur="1000"/>
                                        <p:tgtEl>
                                          <p:spTgt spid="55"/>
                                        </p:tgtEl>
                                      </p:cBhvr>
                                    </p:animEffect>
                                    <p:anim calcmode="lin" valueType="num">
                                      <p:cBhvr>
                                        <p:cTn id="36" dur="1000" fill="hold"/>
                                        <p:tgtEl>
                                          <p:spTgt spid="55"/>
                                        </p:tgtEl>
                                        <p:attrNameLst>
                                          <p:attrName>ppt_x</p:attrName>
                                        </p:attrNameLst>
                                      </p:cBhvr>
                                      <p:tavLst>
                                        <p:tav tm="0">
                                          <p:val>
                                            <p:strVal val="#ppt_x"/>
                                          </p:val>
                                        </p:tav>
                                        <p:tav tm="100000">
                                          <p:val>
                                            <p:strVal val="#ppt_x"/>
                                          </p:val>
                                        </p:tav>
                                      </p:tavLst>
                                    </p:anim>
                                    <p:anim calcmode="lin" valueType="num">
                                      <p:cBhvr>
                                        <p:cTn id="37"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xit" presetSubtype="0" fill="hold" grpId="1" nodeType="clickEffect">
                                  <p:stCondLst>
                                    <p:cond delay="0"/>
                                  </p:stCondLst>
                                  <p:childTnLst>
                                    <p:animEffect transition="out" filter="fade">
                                      <p:cBhvr>
                                        <p:cTn id="41" dur="1000"/>
                                        <p:tgtEl>
                                          <p:spTgt spid="55"/>
                                        </p:tgtEl>
                                      </p:cBhvr>
                                    </p:animEffect>
                                    <p:anim calcmode="lin" valueType="num">
                                      <p:cBhvr>
                                        <p:cTn id="42" dur="1000"/>
                                        <p:tgtEl>
                                          <p:spTgt spid="55"/>
                                        </p:tgtEl>
                                        <p:attrNameLst>
                                          <p:attrName>ppt_x</p:attrName>
                                        </p:attrNameLst>
                                      </p:cBhvr>
                                      <p:tavLst>
                                        <p:tav tm="0">
                                          <p:val>
                                            <p:strVal val="ppt_x"/>
                                          </p:val>
                                        </p:tav>
                                        <p:tav tm="100000">
                                          <p:val>
                                            <p:strVal val="ppt_x"/>
                                          </p:val>
                                        </p:tav>
                                      </p:tavLst>
                                    </p:anim>
                                    <p:anim calcmode="lin" valueType="num">
                                      <p:cBhvr>
                                        <p:cTn id="43" dur="1000"/>
                                        <p:tgtEl>
                                          <p:spTgt spid="55"/>
                                        </p:tgtEl>
                                        <p:attrNameLst>
                                          <p:attrName>ppt_y</p:attrName>
                                        </p:attrNameLst>
                                      </p:cBhvr>
                                      <p:tavLst>
                                        <p:tav tm="0">
                                          <p:val>
                                            <p:strVal val="ppt_y"/>
                                          </p:val>
                                        </p:tav>
                                        <p:tav tm="100000">
                                          <p:val>
                                            <p:strVal val="ppt_y+.1"/>
                                          </p:val>
                                        </p:tav>
                                      </p:tavLst>
                                    </p:anim>
                                    <p:set>
                                      <p:cBhvr>
                                        <p:cTn id="44" dur="1" fill="hold">
                                          <p:stCondLst>
                                            <p:cond delay="999"/>
                                          </p:stCondLst>
                                        </p:cTn>
                                        <p:tgtEl>
                                          <p:spTgt spid="5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6"/>
                                        </p:tgtEl>
                                        <p:attrNameLst>
                                          <p:attrName>style.visibility</p:attrName>
                                        </p:attrNameLst>
                                      </p:cBhvr>
                                      <p:to>
                                        <p:strVal val="visible"/>
                                      </p:to>
                                    </p:set>
                                    <p:animEffect transition="in" filter="fade">
                                      <p:cBhvr>
                                        <p:cTn id="49" dur="1000"/>
                                        <p:tgtEl>
                                          <p:spTgt spid="56"/>
                                        </p:tgtEl>
                                      </p:cBhvr>
                                    </p:animEffect>
                                    <p:anim calcmode="lin" valueType="num">
                                      <p:cBhvr>
                                        <p:cTn id="50" dur="1000" fill="hold"/>
                                        <p:tgtEl>
                                          <p:spTgt spid="56"/>
                                        </p:tgtEl>
                                        <p:attrNameLst>
                                          <p:attrName>ppt_x</p:attrName>
                                        </p:attrNameLst>
                                      </p:cBhvr>
                                      <p:tavLst>
                                        <p:tav tm="0">
                                          <p:val>
                                            <p:strVal val="#ppt_x"/>
                                          </p:val>
                                        </p:tav>
                                        <p:tav tm="100000">
                                          <p:val>
                                            <p:strVal val="#ppt_x"/>
                                          </p:val>
                                        </p:tav>
                                      </p:tavLst>
                                    </p:anim>
                                    <p:anim calcmode="lin" valueType="num">
                                      <p:cBhvr>
                                        <p:cTn id="51"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xit" presetSubtype="0" fill="hold" grpId="1" nodeType="clickEffect">
                                  <p:stCondLst>
                                    <p:cond delay="0"/>
                                  </p:stCondLst>
                                  <p:childTnLst>
                                    <p:animEffect transition="out" filter="fade">
                                      <p:cBhvr>
                                        <p:cTn id="55" dur="1000"/>
                                        <p:tgtEl>
                                          <p:spTgt spid="56"/>
                                        </p:tgtEl>
                                      </p:cBhvr>
                                    </p:animEffect>
                                    <p:anim calcmode="lin" valueType="num">
                                      <p:cBhvr>
                                        <p:cTn id="56" dur="1000"/>
                                        <p:tgtEl>
                                          <p:spTgt spid="56"/>
                                        </p:tgtEl>
                                        <p:attrNameLst>
                                          <p:attrName>ppt_x</p:attrName>
                                        </p:attrNameLst>
                                      </p:cBhvr>
                                      <p:tavLst>
                                        <p:tav tm="0">
                                          <p:val>
                                            <p:strVal val="ppt_x"/>
                                          </p:val>
                                        </p:tav>
                                        <p:tav tm="100000">
                                          <p:val>
                                            <p:strVal val="ppt_x"/>
                                          </p:val>
                                        </p:tav>
                                      </p:tavLst>
                                    </p:anim>
                                    <p:anim calcmode="lin" valueType="num">
                                      <p:cBhvr>
                                        <p:cTn id="57" dur="1000"/>
                                        <p:tgtEl>
                                          <p:spTgt spid="56"/>
                                        </p:tgtEl>
                                        <p:attrNameLst>
                                          <p:attrName>ppt_y</p:attrName>
                                        </p:attrNameLst>
                                      </p:cBhvr>
                                      <p:tavLst>
                                        <p:tav tm="0">
                                          <p:val>
                                            <p:strVal val="ppt_y"/>
                                          </p:val>
                                        </p:tav>
                                        <p:tav tm="100000">
                                          <p:val>
                                            <p:strVal val="ppt_y+.1"/>
                                          </p:val>
                                        </p:tav>
                                      </p:tavLst>
                                    </p:anim>
                                    <p:set>
                                      <p:cBhvr>
                                        <p:cTn id="58" dur="1" fill="hold">
                                          <p:stCondLst>
                                            <p:cond delay="999"/>
                                          </p:stCondLst>
                                        </p:cTn>
                                        <p:tgtEl>
                                          <p:spTgt spid="56"/>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1" nodeType="clickEffect">
                                  <p:stCondLst>
                                    <p:cond delay="0"/>
                                  </p:stCondLst>
                                  <p:childTnLst>
                                    <p:set>
                                      <p:cBhvr>
                                        <p:cTn id="62" dur="1" fill="hold">
                                          <p:stCondLst>
                                            <p:cond delay="0"/>
                                          </p:stCondLst>
                                        </p:cTn>
                                        <p:tgtEl>
                                          <p:spTgt spid="58"/>
                                        </p:tgtEl>
                                        <p:attrNameLst>
                                          <p:attrName>style.visibility</p:attrName>
                                        </p:attrNameLst>
                                      </p:cBhvr>
                                      <p:to>
                                        <p:strVal val="visible"/>
                                      </p:to>
                                    </p:set>
                                    <p:anim calcmode="lin" valueType="num">
                                      <p:cBhvr additive="base">
                                        <p:cTn id="63" dur="500" fill="hold"/>
                                        <p:tgtEl>
                                          <p:spTgt spid="58"/>
                                        </p:tgtEl>
                                        <p:attrNameLst>
                                          <p:attrName>ppt_x</p:attrName>
                                        </p:attrNameLst>
                                      </p:cBhvr>
                                      <p:tavLst>
                                        <p:tav tm="0">
                                          <p:val>
                                            <p:strVal val="#ppt_x"/>
                                          </p:val>
                                        </p:tav>
                                        <p:tav tm="100000">
                                          <p:val>
                                            <p:strVal val="#ppt_x"/>
                                          </p:val>
                                        </p:tav>
                                      </p:tavLst>
                                    </p:anim>
                                    <p:anim calcmode="lin" valueType="num">
                                      <p:cBhvr additive="base">
                                        <p:cTn id="64"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4" presetClass="exit" presetSubtype="10" fill="hold" grpId="0" nodeType="clickEffect">
                                  <p:stCondLst>
                                    <p:cond delay="0"/>
                                  </p:stCondLst>
                                  <p:childTnLst>
                                    <p:animEffect transition="out" filter="randombar(horizontal)">
                                      <p:cBhvr>
                                        <p:cTn id="68" dur="500"/>
                                        <p:tgtEl>
                                          <p:spTgt spid="58"/>
                                        </p:tgtEl>
                                      </p:cBhvr>
                                    </p:animEffect>
                                    <p:set>
                                      <p:cBhvr>
                                        <p:cTn id="69" dur="1" fill="hold">
                                          <p:stCondLst>
                                            <p:cond delay="499"/>
                                          </p:stCondLst>
                                        </p:cTn>
                                        <p:tgtEl>
                                          <p:spTgt spid="58"/>
                                        </p:tgtEl>
                                        <p:attrNameLst>
                                          <p:attrName>style.visibility</p:attrName>
                                        </p:attrNameLst>
                                      </p:cBhvr>
                                      <p:to>
                                        <p:strVal val="hidden"/>
                                      </p:to>
                                    </p:set>
                                  </p:childTnLst>
                                </p:cTn>
                              </p:par>
                              <p:par>
                                <p:cTn id="70" presetID="14" presetClass="entr" presetSubtype="10" fill="hold" grpId="0" nodeType="withEffect">
                                  <p:stCondLst>
                                    <p:cond delay="0"/>
                                  </p:stCondLst>
                                  <p:childTnLst>
                                    <p:set>
                                      <p:cBhvr>
                                        <p:cTn id="71" dur="1" fill="hold">
                                          <p:stCondLst>
                                            <p:cond delay="0"/>
                                          </p:stCondLst>
                                        </p:cTn>
                                        <p:tgtEl>
                                          <p:spTgt spid="60"/>
                                        </p:tgtEl>
                                        <p:attrNameLst>
                                          <p:attrName>style.visibility</p:attrName>
                                        </p:attrNameLst>
                                      </p:cBhvr>
                                      <p:to>
                                        <p:strVal val="visible"/>
                                      </p:to>
                                    </p:set>
                                    <p:animEffect transition="in" filter="randombar(horizontal)">
                                      <p:cBhvr>
                                        <p:cTn id="72"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4" grpId="0"/>
      <p:bldP spid="43" grpId="0" animBg="1"/>
      <p:bldP spid="44" grpId="0" animBg="1"/>
      <p:bldP spid="46" grpId="0" animBg="1"/>
      <p:bldP spid="47" grpId="0" animBg="1"/>
      <p:bldP spid="48" grpId="0"/>
      <p:bldP spid="54" grpId="0"/>
      <p:bldP spid="55" grpId="0" animBg="1"/>
      <p:bldP spid="55" grpId="1" animBg="1"/>
      <p:bldP spid="56" grpId="0" animBg="1"/>
      <p:bldP spid="56" grpId="1" animBg="1"/>
      <p:bldP spid="3" grpId="0" animBg="1"/>
      <p:bldP spid="7" grpId="0" animBg="1"/>
      <p:bldP spid="7" grpId="1" animBg="1"/>
      <p:bldP spid="57" grpId="0" animBg="1"/>
      <p:bldP spid="58" grpId="0" animBg="1"/>
      <p:bldP spid="58" grpId="1" animBg="1"/>
      <p:bldP spid="59" grpId="0" animBg="1"/>
      <p:bldP spid="6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p:spPr>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957488" y="1827128"/>
            <a:ext cx="3757386" cy="3323987"/>
          </a:xfrm>
          <a:prstGeom prst="rect">
            <a:avLst/>
          </a:prstGeom>
          <a:noFill/>
        </p:spPr>
        <p:txBody>
          <a:bodyPr wrap="square" rtlCol="0">
            <a:spAutoFit/>
          </a:bodyPr>
          <a:lstStyle/>
          <a:p>
            <a:pPr indent="457200">
              <a:lnSpc>
                <a:spcPct val="150000"/>
              </a:lnSpc>
            </a:pPr>
            <a:endParaRPr lang="en-US" altLang="zh-CN" sz="2000" b="1" dirty="0" smtClean="0">
              <a:latin typeface="+mn-ea"/>
            </a:endParaRPr>
          </a:p>
          <a:p>
            <a:pPr marL="285750" indent="-285750">
              <a:lnSpc>
                <a:spcPct val="150000"/>
              </a:lnSpc>
              <a:buFont typeface="Arial" panose="020B0604020202020204" pitchFamily="34" charset="0"/>
              <a:buChar char="•"/>
            </a:pPr>
            <a:r>
              <a:rPr lang="zh-CN" altLang="en-US" sz="2000" b="1" dirty="0" smtClean="0">
                <a:latin typeface="+mn-ea"/>
              </a:rPr>
              <a:t>数据分析：自动化</a:t>
            </a:r>
            <a:r>
              <a:rPr lang="en-US" altLang="zh-CN" sz="2000" b="1" dirty="0" smtClean="0">
                <a:latin typeface="+mn-ea"/>
              </a:rPr>
              <a:t>--</a:t>
            </a:r>
            <a:r>
              <a:rPr lang="zh-CN" altLang="en-US" sz="2000" b="1" dirty="0" smtClean="0">
                <a:latin typeface="+mn-ea"/>
              </a:rPr>
              <a:t>智能化</a:t>
            </a:r>
            <a:endParaRPr lang="en-US" altLang="zh-CN" sz="2000" b="1" dirty="0">
              <a:latin typeface="+mn-ea"/>
            </a:endParaRPr>
          </a:p>
          <a:p>
            <a:pPr marL="742950" lvl="1" indent="-285750">
              <a:lnSpc>
                <a:spcPct val="150000"/>
              </a:lnSpc>
              <a:buFont typeface="Arial" panose="020B0604020202020204" pitchFamily="34" charset="0"/>
              <a:buChar char="•"/>
            </a:pPr>
            <a:r>
              <a:rPr lang="zh-CN" altLang="en-US" sz="2000" dirty="0">
                <a:latin typeface="+mn-ea"/>
              </a:rPr>
              <a:t>日常</a:t>
            </a:r>
            <a:r>
              <a:rPr lang="zh-CN" altLang="en-US" sz="2000" dirty="0" smtClean="0">
                <a:latin typeface="+mn-ea"/>
              </a:rPr>
              <a:t>分析</a:t>
            </a:r>
            <a:r>
              <a:rPr lang="zh-CN" altLang="en-US" sz="2000" dirty="0" smtClean="0">
                <a:solidFill>
                  <a:srgbClr val="C00000"/>
                </a:solidFill>
                <a:latin typeface="+mn-ea"/>
              </a:rPr>
              <a:t>自动完成</a:t>
            </a:r>
            <a:endParaRPr lang="en-US" altLang="zh-CN" sz="2000" dirty="0" smtClean="0">
              <a:solidFill>
                <a:srgbClr val="C00000"/>
              </a:solidFill>
              <a:latin typeface="+mn-ea"/>
            </a:endParaRPr>
          </a:p>
          <a:p>
            <a:pPr marL="742950" lvl="1" indent="-285750">
              <a:lnSpc>
                <a:spcPct val="150000"/>
              </a:lnSpc>
              <a:buFont typeface="Arial" panose="020B0604020202020204" pitchFamily="34" charset="0"/>
              <a:buChar char="•"/>
            </a:pPr>
            <a:r>
              <a:rPr lang="zh-CN" altLang="en-US" sz="2000" dirty="0" smtClean="0">
                <a:latin typeface="+mn-ea"/>
              </a:rPr>
              <a:t>门限阈值</a:t>
            </a:r>
            <a:r>
              <a:rPr lang="zh-CN" altLang="en-US" sz="2000" dirty="0" smtClean="0">
                <a:solidFill>
                  <a:srgbClr val="C00000"/>
                </a:solidFill>
                <a:latin typeface="+mn-ea"/>
              </a:rPr>
              <a:t>自动调整</a:t>
            </a:r>
            <a:endParaRPr lang="en-US" altLang="zh-CN" sz="2000" dirty="0" smtClean="0">
              <a:solidFill>
                <a:srgbClr val="C00000"/>
              </a:solidFill>
              <a:latin typeface="+mn-ea"/>
            </a:endParaRPr>
          </a:p>
          <a:p>
            <a:pPr marL="742950" lvl="1" indent="-285750">
              <a:lnSpc>
                <a:spcPct val="150000"/>
              </a:lnSpc>
              <a:buFont typeface="Arial" panose="020B0604020202020204" pitchFamily="34" charset="0"/>
              <a:buChar char="•"/>
            </a:pPr>
            <a:r>
              <a:rPr lang="zh-CN" altLang="en-US" sz="2000" dirty="0" smtClean="0">
                <a:latin typeface="+mn-ea"/>
              </a:rPr>
              <a:t>数据关系</a:t>
            </a:r>
            <a:r>
              <a:rPr lang="zh-CN" altLang="en-US" sz="2000" dirty="0">
                <a:solidFill>
                  <a:srgbClr val="C00000"/>
                </a:solidFill>
                <a:latin typeface="+mn-ea"/>
              </a:rPr>
              <a:t>智能挖掘</a:t>
            </a:r>
            <a:endParaRPr lang="en-US" altLang="zh-CN" sz="2000" dirty="0" smtClean="0">
              <a:solidFill>
                <a:srgbClr val="C00000"/>
              </a:solidFill>
              <a:latin typeface="+mn-ea"/>
            </a:endParaRPr>
          </a:p>
          <a:p>
            <a:pPr marL="742950" lvl="1" indent="-285750">
              <a:lnSpc>
                <a:spcPct val="150000"/>
              </a:lnSpc>
              <a:buFont typeface="Arial" panose="020B0604020202020204" pitchFamily="34" charset="0"/>
              <a:buChar char="•"/>
            </a:pPr>
            <a:r>
              <a:rPr lang="zh-CN" altLang="en-US" sz="2000" dirty="0" smtClean="0">
                <a:latin typeface="+mn-ea"/>
              </a:rPr>
              <a:t>数据异常</a:t>
            </a:r>
            <a:r>
              <a:rPr lang="zh-CN" altLang="en-US" sz="2000" dirty="0" smtClean="0">
                <a:solidFill>
                  <a:srgbClr val="C00000"/>
                </a:solidFill>
                <a:latin typeface="+mn-ea"/>
              </a:rPr>
              <a:t>及时告警</a:t>
            </a:r>
            <a:endParaRPr lang="en-US" altLang="zh-CN" sz="2000" dirty="0" smtClean="0">
              <a:solidFill>
                <a:srgbClr val="C00000"/>
              </a:solidFill>
              <a:latin typeface="+mn-ea"/>
            </a:endParaRPr>
          </a:p>
          <a:p>
            <a:pPr marL="742950" lvl="1" indent="-285750">
              <a:lnSpc>
                <a:spcPct val="150000"/>
              </a:lnSpc>
              <a:buFont typeface="Arial" panose="020B0604020202020204" pitchFamily="34" charset="0"/>
              <a:buChar char="•"/>
            </a:pPr>
            <a:r>
              <a:rPr lang="zh-CN" altLang="en-US" sz="2000" dirty="0" smtClean="0">
                <a:latin typeface="+mn-ea"/>
              </a:rPr>
              <a:t>潜在问题</a:t>
            </a:r>
            <a:r>
              <a:rPr lang="zh-CN" altLang="en-US" sz="2000" dirty="0" smtClean="0">
                <a:solidFill>
                  <a:srgbClr val="C00000"/>
                </a:solidFill>
                <a:latin typeface="+mn-ea"/>
              </a:rPr>
              <a:t>提前预测</a:t>
            </a:r>
            <a:endParaRPr lang="en-US" altLang="zh-CN" sz="2000" dirty="0" smtClean="0">
              <a:solidFill>
                <a:srgbClr val="C00000"/>
              </a:solidFill>
              <a:latin typeface="+mn-ea"/>
            </a:endParaRPr>
          </a:p>
        </p:txBody>
      </p:sp>
      <p:sp>
        <p:nvSpPr>
          <p:cNvPr id="3" name="文本框 2"/>
          <p:cNvSpPr txBox="1"/>
          <p:nvPr/>
        </p:nvSpPr>
        <p:spPr>
          <a:xfrm>
            <a:off x="6629400" y="2049565"/>
            <a:ext cx="3324225" cy="369332"/>
          </a:xfrm>
          <a:prstGeom prst="rect">
            <a:avLst/>
          </a:prstGeom>
          <a:noFill/>
        </p:spPr>
        <p:txBody>
          <a:bodyPr wrap="square" rtlCol="0">
            <a:spAutoFit/>
          </a:bodyPr>
          <a:lstStyle/>
          <a:p>
            <a:endParaRPr lang="zh-CN" altLang="en-US"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0725" y="523504"/>
            <a:ext cx="5314286" cy="1333333"/>
          </a:xfrm>
          <a:prstGeom prst="rect">
            <a:avLst/>
          </a:prstGeom>
        </p:spPr>
      </p:pic>
      <p:sp>
        <p:nvSpPr>
          <p:cNvPr id="11" name="文本框 10"/>
          <p:cNvSpPr txBox="1"/>
          <p:nvPr/>
        </p:nvSpPr>
        <p:spPr>
          <a:xfrm>
            <a:off x="6276975" y="2049565"/>
            <a:ext cx="4267200" cy="369332"/>
          </a:xfrm>
          <a:prstGeom prst="rect">
            <a:avLst/>
          </a:prstGeom>
          <a:noFill/>
        </p:spPr>
        <p:txBody>
          <a:bodyPr wrap="square" rtlCol="0">
            <a:spAutoFit/>
          </a:bodyPr>
          <a:lstStyle/>
          <a:p>
            <a:pPr algn="ctr"/>
            <a:r>
              <a:rPr lang="zh-CN" altLang="en-US" dirty="0" smtClean="0"/>
              <a:t>预警门限自动调整</a:t>
            </a:r>
            <a:endParaRPr lang="zh-CN" altLang="en-US" dirty="0"/>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6976" y="2703966"/>
            <a:ext cx="4362450" cy="3200669"/>
          </a:xfrm>
          <a:prstGeom prst="rect">
            <a:avLst/>
          </a:prstGeom>
        </p:spPr>
      </p:pic>
      <p:sp>
        <p:nvSpPr>
          <p:cNvPr id="14" name="文本框 13"/>
          <p:cNvSpPr txBox="1"/>
          <p:nvPr/>
        </p:nvSpPr>
        <p:spPr>
          <a:xfrm>
            <a:off x="6629400" y="3600450"/>
            <a:ext cx="1104900" cy="369332"/>
          </a:xfrm>
          <a:prstGeom prst="rect">
            <a:avLst/>
          </a:prstGeom>
          <a:noFill/>
        </p:spPr>
        <p:txBody>
          <a:bodyPr wrap="square" rtlCol="0">
            <a:spAutoFit/>
          </a:bodyPr>
          <a:lstStyle/>
          <a:p>
            <a:r>
              <a:rPr lang="zh-CN" altLang="en-US" dirty="0" smtClean="0"/>
              <a:t>原始数据</a:t>
            </a:r>
            <a:endParaRPr lang="zh-CN" altLang="en-US" dirty="0"/>
          </a:p>
        </p:txBody>
      </p:sp>
      <p:sp>
        <p:nvSpPr>
          <p:cNvPr id="16" name="文本框 15"/>
          <p:cNvSpPr txBox="1"/>
          <p:nvPr/>
        </p:nvSpPr>
        <p:spPr>
          <a:xfrm>
            <a:off x="7886700" y="4114799"/>
            <a:ext cx="914400" cy="523220"/>
          </a:xfrm>
          <a:prstGeom prst="rect">
            <a:avLst/>
          </a:prstGeom>
          <a:noFill/>
        </p:spPr>
        <p:txBody>
          <a:bodyPr wrap="square" rtlCol="0">
            <a:spAutoFit/>
          </a:bodyPr>
          <a:lstStyle/>
          <a:p>
            <a:r>
              <a:rPr lang="zh-CN" altLang="en-US" sz="1400" dirty="0" smtClean="0"/>
              <a:t>数据关联分析</a:t>
            </a:r>
            <a:endParaRPr lang="zh-CN" altLang="en-US" dirty="0"/>
          </a:p>
        </p:txBody>
      </p:sp>
      <p:sp>
        <p:nvSpPr>
          <p:cNvPr id="18" name="文本框 17"/>
          <p:cNvSpPr txBox="1"/>
          <p:nvPr/>
        </p:nvSpPr>
        <p:spPr>
          <a:xfrm>
            <a:off x="8162925" y="4638019"/>
            <a:ext cx="914400" cy="276999"/>
          </a:xfrm>
          <a:prstGeom prst="rect">
            <a:avLst/>
          </a:prstGeom>
          <a:noFill/>
        </p:spPr>
        <p:txBody>
          <a:bodyPr wrap="square" rtlCol="0">
            <a:spAutoFit/>
          </a:bodyPr>
          <a:lstStyle/>
          <a:p>
            <a:r>
              <a:rPr lang="zh-CN" altLang="en-US" sz="1200" dirty="0" smtClean="0"/>
              <a:t>数据聚类</a:t>
            </a:r>
            <a:endParaRPr lang="zh-CN" altLang="en-US" sz="1200" dirty="0"/>
          </a:p>
        </p:txBody>
      </p:sp>
      <p:sp>
        <p:nvSpPr>
          <p:cNvPr id="19" name="文本框 18"/>
          <p:cNvSpPr txBox="1"/>
          <p:nvPr/>
        </p:nvSpPr>
        <p:spPr>
          <a:xfrm>
            <a:off x="9263063" y="4613937"/>
            <a:ext cx="1057502" cy="276999"/>
          </a:xfrm>
          <a:prstGeom prst="rect">
            <a:avLst/>
          </a:prstGeom>
          <a:noFill/>
        </p:spPr>
        <p:txBody>
          <a:bodyPr wrap="square" rtlCol="0">
            <a:spAutoFit/>
          </a:bodyPr>
          <a:lstStyle/>
          <a:p>
            <a:r>
              <a:rPr lang="zh-CN" altLang="en-US" sz="1200" dirty="0" smtClean="0"/>
              <a:t>数据聚类簇</a:t>
            </a:r>
            <a:endParaRPr lang="zh-CN" altLang="en-US" sz="1200" dirty="0"/>
          </a:p>
        </p:txBody>
      </p:sp>
      <p:sp>
        <p:nvSpPr>
          <p:cNvPr id="20" name="文本框 19"/>
          <p:cNvSpPr txBox="1"/>
          <p:nvPr/>
        </p:nvSpPr>
        <p:spPr>
          <a:xfrm>
            <a:off x="6276975" y="6058523"/>
            <a:ext cx="4267200" cy="369332"/>
          </a:xfrm>
          <a:prstGeom prst="rect">
            <a:avLst/>
          </a:prstGeom>
          <a:noFill/>
        </p:spPr>
        <p:txBody>
          <a:bodyPr wrap="square" rtlCol="0">
            <a:spAutoFit/>
          </a:bodyPr>
          <a:lstStyle/>
          <a:p>
            <a:pPr algn="ctr"/>
            <a:r>
              <a:rPr lang="zh-CN" altLang="en-US" dirty="0" smtClean="0"/>
              <a:t>智能数据关联</a:t>
            </a:r>
            <a:endParaRPr lang="zh-CN" altLang="en-US" dirty="0"/>
          </a:p>
        </p:txBody>
      </p:sp>
    </p:spTree>
    <p:extLst>
      <p:ext uri="{BB962C8B-B14F-4D97-AF65-F5344CB8AC3E}">
        <p14:creationId xmlns:p14="http://schemas.microsoft.com/office/powerpoint/2010/main" val="1363911426"/>
      </p:ext>
    </p:extLst>
  </p:cSld>
  <p:clrMapOvr>
    <a:masterClrMapping/>
  </p:clrMapOvr>
  <p:transition spd="med">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610995" y="2035175"/>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ONE</a:t>
            </a:r>
          </a:p>
        </p:txBody>
      </p:sp>
      <p:sp>
        <p:nvSpPr>
          <p:cNvPr id="7" name="文本框 6"/>
          <p:cNvSpPr txBox="1"/>
          <p:nvPr/>
        </p:nvSpPr>
        <p:spPr>
          <a:xfrm>
            <a:off x="1610995" y="4165600"/>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TWO</a:t>
            </a:r>
          </a:p>
        </p:txBody>
      </p:sp>
      <p:sp>
        <p:nvSpPr>
          <p:cNvPr id="8" name="矩形 7"/>
          <p:cNvSpPr/>
          <p:nvPr/>
        </p:nvSpPr>
        <p:spPr>
          <a:xfrm>
            <a:off x="1506855" y="2691130"/>
            <a:ext cx="2586990" cy="742319"/>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项目</a:t>
            </a:r>
            <a:r>
              <a:rPr lang="zh-CN" altLang="en-US" sz="3600" dirty="0">
                <a:solidFill>
                  <a:srgbClr val="103154"/>
                </a:solidFill>
                <a:latin typeface="微软雅黑" panose="020B0503020204020204" pitchFamily="34" charset="-122"/>
                <a:ea typeface="微软雅黑" panose="020B0503020204020204" pitchFamily="34" charset="-122"/>
              </a:rPr>
              <a:t>提出</a:t>
            </a:r>
            <a:endParaRPr lang="zh-CN" altLang="en-US" sz="3600" dirty="0" smtClean="0">
              <a:solidFill>
                <a:srgbClr val="103154"/>
              </a:solidFill>
              <a:latin typeface="微软雅黑" panose="020B0503020204020204" pitchFamily="34" charset="-122"/>
              <a:ea typeface="微软雅黑" panose="020B0503020204020204" pitchFamily="34" charset="-122"/>
            </a:endParaRPr>
          </a:p>
        </p:txBody>
      </p:sp>
      <p:sp>
        <p:nvSpPr>
          <p:cNvPr id="9" name="矩形 8"/>
          <p:cNvSpPr/>
          <p:nvPr/>
        </p:nvSpPr>
        <p:spPr>
          <a:xfrm>
            <a:off x="1506855" y="4783455"/>
            <a:ext cx="261048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平台应用</a:t>
            </a:r>
          </a:p>
        </p:txBody>
      </p:sp>
      <p:sp>
        <p:nvSpPr>
          <p:cNvPr id="10" name="文本框 9"/>
          <p:cNvSpPr txBox="1"/>
          <p:nvPr/>
        </p:nvSpPr>
        <p:spPr>
          <a:xfrm>
            <a:off x="6983095" y="2046605"/>
            <a:ext cx="262128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a:solidFill>
                  <a:schemeClr val="bg1"/>
                </a:solidFill>
              </a:rPr>
              <a:t> </a:t>
            </a:r>
            <a:r>
              <a:rPr kumimoji="1" lang="en-US" altLang="zh-CN" sz="3600" b="1" dirty="0" smtClean="0">
                <a:solidFill>
                  <a:schemeClr val="bg1"/>
                </a:solidFill>
              </a:rPr>
              <a:t>THREE</a:t>
            </a:r>
          </a:p>
        </p:txBody>
      </p:sp>
      <p:sp>
        <p:nvSpPr>
          <p:cNvPr id="11" name="文本框 10"/>
          <p:cNvSpPr txBox="1"/>
          <p:nvPr/>
        </p:nvSpPr>
        <p:spPr>
          <a:xfrm>
            <a:off x="6983095" y="4199890"/>
            <a:ext cx="271272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FOUR</a:t>
            </a:r>
          </a:p>
        </p:txBody>
      </p:sp>
      <p:sp>
        <p:nvSpPr>
          <p:cNvPr id="12" name="矩形 11"/>
          <p:cNvSpPr/>
          <p:nvPr/>
        </p:nvSpPr>
        <p:spPr>
          <a:xfrm>
            <a:off x="6972300" y="2702560"/>
            <a:ext cx="2644775" cy="742319"/>
          </a:xfrm>
          <a:prstGeom prst="rect">
            <a:avLst/>
          </a:prstGeom>
        </p:spPr>
        <p:txBody>
          <a:bodyPr wrap="square">
            <a:spAutoFit/>
          </a:bodyPr>
          <a:lstStyle/>
          <a:p>
            <a:pPr algn="ctr">
              <a:lnSpc>
                <a:spcPct val="130000"/>
              </a:lnSpc>
            </a:pPr>
            <a:r>
              <a:rPr lang="zh-CN" altLang="en-US" sz="3600" dirty="0" smtClean="0">
                <a:solidFill>
                  <a:srgbClr val="FF0000"/>
                </a:solidFill>
                <a:latin typeface="微软雅黑" panose="020B0503020204020204" pitchFamily="34" charset="-122"/>
                <a:ea typeface="微软雅黑" panose="020B0503020204020204" pitchFamily="34" charset="-122"/>
              </a:rPr>
              <a:t>技术实现</a:t>
            </a:r>
          </a:p>
        </p:txBody>
      </p:sp>
      <p:cxnSp>
        <p:nvCxnSpPr>
          <p:cNvPr id="14" name="直线连接符 16"/>
          <p:cNvCxnSpPr/>
          <p:nvPr/>
        </p:nvCxnSpPr>
        <p:spPr>
          <a:xfrm>
            <a:off x="545651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6971030" y="4829175"/>
            <a:ext cx="2715895" cy="742319"/>
          </a:xfrm>
          <a:prstGeom prst="rect">
            <a:avLst/>
          </a:prstGeom>
        </p:spPr>
        <p:txBody>
          <a:bodyPr wrap="square">
            <a:spAutoFit/>
          </a:bodyPr>
          <a:lstStyle/>
          <a:p>
            <a:pPr algn="ctr">
              <a:lnSpc>
                <a:spcPct val="130000"/>
              </a:lnSpc>
            </a:pPr>
            <a:r>
              <a:rPr lang="zh-CN" altLang="en-US" sz="3600" dirty="0" smtClean="0">
                <a:latin typeface="微软雅黑" panose="020B0503020204020204" pitchFamily="34" charset="-122"/>
                <a:ea typeface="微软雅黑" panose="020B0503020204020204" pitchFamily="34" charset="-122"/>
              </a:rPr>
              <a:t>建设规划</a:t>
            </a:r>
          </a:p>
        </p:txBody>
      </p:sp>
    </p:spTree>
    <p:extLst>
      <p:ext uri="{BB962C8B-B14F-4D97-AF65-F5344CB8AC3E}">
        <p14:creationId xmlns:p14="http://schemas.microsoft.com/office/powerpoint/2010/main" val="1853087479"/>
      </p:ext>
    </p:extLst>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平台整体框架</a:t>
            </a:r>
            <a:endParaRPr lang="zh-CN" altLang="en-US" dirty="0">
              <a:solidFill>
                <a:srgbClr val="333F50"/>
              </a:solidFill>
            </a:endParaRPr>
          </a:p>
        </p:txBody>
      </p:sp>
      <p:sp>
        <p:nvSpPr>
          <p:cNvPr id="15" name="文本框 1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29" name="矩形 28"/>
          <p:cNvSpPr/>
          <p:nvPr/>
        </p:nvSpPr>
        <p:spPr>
          <a:xfrm>
            <a:off x="1072023" y="5043340"/>
            <a:ext cx="1415846" cy="5604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数据源</a:t>
            </a:r>
            <a:endParaRPr lang="zh-CN" altLang="en-US" dirty="0"/>
          </a:p>
        </p:txBody>
      </p:sp>
      <p:sp>
        <p:nvSpPr>
          <p:cNvPr id="30" name="矩形 29"/>
          <p:cNvSpPr/>
          <p:nvPr/>
        </p:nvSpPr>
        <p:spPr>
          <a:xfrm>
            <a:off x="1076943" y="4394411"/>
            <a:ext cx="1415846" cy="5309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感知系统</a:t>
            </a:r>
            <a:endParaRPr lang="zh-CN" altLang="en-US" dirty="0"/>
          </a:p>
        </p:txBody>
      </p:sp>
      <p:sp>
        <p:nvSpPr>
          <p:cNvPr id="32" name="矩形 31"/>
          <p:cNvSpPr/>
          <p:nvPr/>
        </p:nvSpPr>
        <p:spPr>
          <a:xfrm>
            <a:off x="1076943" y="2673816"/>
            <a:ext cx="1415846" cy="164685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决策系统</a:t>
            </a:r>
            <a:endParaRPr lang="zh-CN" altLang="en-US" dirty="0"/>
          </a:p>
        </p:txBody>
      </p:sp>
      <p:sp>
        <p:nvSpPr>
          <p:cNvPr id="33" name="矩形 32"/>
          <p:cNvSpPr/>
          <p:nvPr/>
        </p:nvSpPr>
        <p:spPr>
          <a:xfrm>
            <a:off x="1091688" y="1788862"/>
            <a:ext cx="1415846" cy="78166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应用中心</a:t>
            </a:r>
            <a:endParaRPr lang="zh-CN" altLang="en-US" dirty="0"/>
          </a:p>
        </p:txBody>
      </p:sp>
      <p:sp>
        <p:nvSpPr>
          <p:cNvPr id="34" name="矩形 33"/>
          <p:cNvSpPr/>
          <p:nvPr/>
        </p:nvSpPr>
        <p:spPr>
          <a:xfrm>
            <a:off x="8721507" y="2678376"/>
            <a:ext cx="1415846" cy="16518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控制系统</a:t>
            </a:r>
            <a:endParaRPr lang="en-US" altLang="zh-CN" dirty="0" smtClean="0"/>
          </a:p>
          <a:p>
            <a:pPr algn="ctr"/>
            <a:r>
              <a:rPr lang="zh-CN" altLang="en-US" sz="1600" dirty="0"/>
              <a:t>决策结果执行</a:t>
            </a:r>
          </a:p>
          <a:p>
            <a:pPr algn="ctr"/>
            <a:r>
              <a:rPr lang="zh-CN" altLang="en-US" sz="1600" dirty="0"/>
              <a:t>事件</a:t>
            </a:r>
            <a:r>
              <a:rPr lang="zh-CN" altLang="en-US" sz="1600" dirty="0" smtClean="0"/>
              <a:t>日志</a:t>
            </a:r>
            <a:endParaRPr lang="zh-CN" altLang="en-US" sz="1600" dirty="0"/>
          </a:p>
        </p:txBody>
      </p:sp>
      <p:sp>
        <p:nvSpPr>
          <p:cNvPr id="35" name="矩形 34"/>
          <p:cNvSpPr/>
          <p:nvPr/>
        </p:nvSpPr>
        <p:spPr>
          <a:xfrm>
            <a:off x="2517366" y="1788555"/>
            <a:ext cx="7639664" cy="78166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网络全景图、运维场景应用、故障跟踪处理、信息查询、多维分析等</a:t>
            </a:r>
            <a:endParaRPr lang="zh-CN" altLang="en-US" dirty="0"/>
          </a:p>
        </p:txBody>
      </p:sp>
      <p:sp>
        <p:nvSpPr>
          <p:cNvPr id="36" name="矩形 35"/>
          <p:cNvSpPr/>
          <p:nvPr/>
        </p:nvSpPr>
        <p:spPr>
          <a:xfrm>
            <a:off x="2517365" y="5038109"/>
            <a:ext cx="8967020" cy="5604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网络设备数据、监控设备数据、其他系统数据、台账数据</a:t>
            </a:r>
            <a:endParaRPr lang="zh-CN" altLang="en-US" dirty="0"/>
          </a:p>
        </p:txBody>
      </p:sp>
      <p:sp>
        <p:nvSpPr>
          <p:cNvPr id="37" name="矩形 36"/>
          <p:cNvSpPr/>
          <p:nvPr/>
        </p:nvSpPr>
        <p:spPr>
          <a:xfrm>
            <a:off x="2517365" y="4389187"/>
            <a:ext cx="7639665" cy="545677"/>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数据采集、数据处理</a:t>
            </a:r>
            <a:endParaRPr lang="zh-CN" altLang="en-US" dirty="0"/>
          </a:p>
        </p:txBody>
      </p:sp>
      <p:sp>
        <p:nvSpPr>
          <p:cNvPr id="38" name="矩形 37"/>
          <p:cNvSpPr/>
          <p:nvPr/>
        </p:nvSpPr>
        <p:spPr>
          <a:xfrm>
            <a:off x="2517365" y="2688207"/>
            <a:ext cx="6061587" cy="47686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配置管理</a:t>
            </a:r>
            <a:endParaRPr lang="zh-CN" altLang="en-US" dirty="0"/>
          </a:p>
        </p:txBody>
      </p:sp>
      <p:sp>
        <p:nvSpPr>
          <p:cNvPr id="39" name="矩形 38"/>
          <p:cNvSpPr/>
          <p:nvPr/>
        </p:nvSpPr>
        <p:spPr>
          <a:xfrm>
            <a:off x="10260256" y="1798388"/>
            <a:ext cx="1238861" cy="3121742"/>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管理中心 </a:t>
            </a:r>
            <a:endParaRPr lang="en-US" altLang="zh-CN" dirty="0" smtClean="0"/>
          </a:p>
          <a:p>
            <a:pPr algn="ctr"/>
            <a:endParaRPr lang="en-US" altLang="zh-CN" dirty="0" smtClean="0"/>
          </a:p>
          <a:p>
            <a:pPr algn="ctr"/>
            <a:r>
              <a:rPr lang="zh-CN" altLang="en-US" dirty="0" smtClean="0"/>
              <a:t>用户管理</a:t>
            </a:r>
            <a:endParaRPr lang="en-US" altLang="zh-CN" dirty="0" smtClean="0"/>
          </a:p>
          <a:p>
            <a:pPr algn="ctr"/>
            <a:r>
              <a:rPr lang="zh-CN" altLang="en-US" dirty="0" smtClean="0"/>
              <a:t>安全管理</a:t>
            </a:r>
            <a:endParaRPr lang="en-US" altLang="zh-CN" dirty="0" smtClean="0"/>
          </a:p>
          <a:p>
            <a:pPr algn="ctr"/>
            <a:r>
              <a:rPr lang="zh-CN" altLang="en-US" dirty="0" smtClean="0"/>
              <a:t>日志管理</a:t>
            </a:r>
            <a:endParaRPr lang="zh-CN" altLang="en-US" dirty="0"/>
          </a:p>
        </p:txBody>
      </p:sp>
      <p:sp>
        <p:nvSpPr>
          <p:cNvPr id="40" name="矩形 39"/>
          <p:cNvSpPr/>
          <p:nvPr/>
        </p:nvSpPr>
        <p:spPr>
          <a:xfrm>
            <a:off x="2517365" y="3224067"/>
            <a:ext cx="6076336" cy="53094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智库管理：算法库、模型库、特征库、机器学习机制</a:t>
            </a:r>
            <a:endParaRPr lang="zh-CN" altLang="en-US" dirty="0"/>
          </a:p>
        </p:txBody>
      </p:sp>
      <p:sp>
        <p:nvSpPr>
          <p:cNvPr id="41" name="矩形 40"/>
          <p:cNvSpPr/>
          <p:nvPr/>
        </p:nvSpPr>
        <p:spPr>
          <a:xfrm>
            <a:off x="2517365" y="3804166"/>
            <a:ext cx="6056670" cy="51127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大数据处理引擎、人工智能引擎、可视化呈现处理引擎</a:t>
            </a:r>
            <a:endParaRPr lang="zh-CN" altLang="en-US" dirty="0"/>
          </a:p>
        </p:txBody>
      </p:sp>
    </p:spTree>
    <p:extLst>
      <p:ext uri="{BB962C8B-B14F-4D97-AF65-F5344CB8AC3E}">
        <p14:creationId xmlns:p14="http://schemas.microsoft.com/office/powerpoint/2010/main" val="2045259614"/>
      </p:ext>
    </p:extLst>
  </p:cSld>
  <p:clrMapOvr>
    <a:masterClrMapping/>
  </p:clrMapOvr>
  <p:transition spd="med">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8391525" y="2816225"/>
            <a:ext cx="2190115" cy="30562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6" name="圆角矩形 15"/>
          <p:cNvSpPr/>
          <p:nvPr/>
        </p:nvSpPr>
        <p:spPr>
          <a:xfrm>
            <a:off x="5178425" y="2814955"/>
            <a:ext cx="2190115" cy="30562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4" name="圆角矩形 13"/>
          <p:cNvSpPr/>
          <p:nvPr/>
        </p:nvSpPr>
        <p:spPr>
          <a:xfrm>
            <a:off x="1725295" y="2790825"/>
            <a:ext cx="2190115" cy="30562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995" y="887095"/>
            <a:ext cx="2040255" cy="521970"/>
          </a:xfrm>
          <a:prstGeom prst="rect">
            <a:avLst/>
          </a:prstGeom>
          <a:noFill/>
        </p:spPr>
        <p:txBody>
          <a:bodyPr wrap="square" rtlCol="0">
            <a:spAutoFit/>
          </a:bodyPr>
          <a:lstStyle/>
          <a:p>
            <a:r>
              <a:rPr lang="en-US" altLang="zh-CN" sz="2800" dirty="0">
                <a:solidFill>
                  <a:srgbClr val="333F50"/>
                </a:solidFill>
                <a:latin typeface="+mn-ea"/>
              </a:rPr>
              <a:t>”</a:t>
            </a:r>
            <a:r>
              <a:rPr lang="zh-CN" altLang="zh-CN" sz="2800" dirty="0">
                <a:solidFill>
                  <a:srgbClr val="333F50"/>
                </a:solidFill>
                <a:latin typeface="+mn-ea"/>
              </a:rPr>
              <a:t>三大系统</a:t>
            </a:r>
            <a:r>
              <a:rPr lang="en-US" altLang="zh-CN" sz="2800" dirty="0">
                <a:solidFill>
                  <a:srgbClr val="333F50"/>
                </a:solidFill>
                <a:latin typeface="+mn-ea"/>
              </a:rPr>
              <a:t>”</a:t>
            </a:r>
          </a:p>
        </p:txBody>
      </p:sp>
      <p:sp>
        <p:nvSpPr>
          <p:cNvPr id="15" name="文本框 1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1726565" y="1731613"/>
            <a:ext cx="2214880" cy="706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zh-CN" altLang="en-US" sz="4000" dirty="0"/>
              <a:t>感知系统</a:t>
            </a:r>
          </a:p>
        </p:txBody>
      </p:sp>
      <p:sp>
        <p:nvSpPr>
          <p:cNvPr id="21" name="文本框 20"/>
          <p:cNvSpPr txBox="1"/>
          <p:nvPr/>
        </p:nvSpPr>
        <p:spPr>
          <a:xfrm>
            <a:off x="5203190" y="1761412"/>
            <a:ext cx="2214880" cy="706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spAutoFit/>
          </a:bodyPr>
          <a:lstStyle/>
          <a:p>
            <a:pPr lvl="0" algn="l"/>
            <a:r>
              <a:rPr lang="zh-CN" altLang="en-US" sz="4000" dirty="0">
                <a:sym typeface="+mn-ea"/>
              </a:rPr>
              <a:t>决策系统</a:t>
            </a:r>
          </a:p>
        </p:txBody>
      </p:sp>
      <p:sp>
        <p:nvSpPr>
          <p:cNvPr id="22" name="文本框 21"/>
          <p:cNvSpPr txBox="1"/>
          <p:nvPr/>
        </p:nvSpPr>
        <p:spPr>
          <a:xfrm>
            <a:off x="8366760" y="1750227"/>
            <a:ext cx="2214880" cy="706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spAutoFit/>
          </a:bodyPr>
          <a:lstStyle/>
          <a:p>
            <a:pPr lvl="0" algn="l"/>
            <a:r>
              <a:rPr lang="zh-CN" altLang="en-US" sz="4000" dirty="0">
                <a:sym typeface="+mn-ea"/>
              </a:rPr>
              <a:t>控制系统</a:t>
            </a:r>
          </a:p>
        </p:txBody>
      </p:sp>
      <p:sp>
        <p:nvSpPr>
          <p:cNvPr id="2" name="文本框 1"/>
          <p:cNvSpPr txBox="1"/>
          <p:nvPr/>
        </p:nvSpPr>
        <p:spPr>
          <a:xfrm>
            <a:off x="2976245" y="3027680"/>
            <a:ext cx="556260"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数</a:t>
            </a:r>
          </a:p>
          <a:p>
            <a:pPr lvl="0" algn="ctr">
              <a:lnSpc>
                <a:spcPct val="150000"/>
              </a:lnSpc>
              <a:buFont typeface="Arial" panose="020B0604020202020204" pitchFamily="34" charset="0"/>
            </a:pPr>
            <a:r>
              <a:rPr lang="zh-CN" altLang="en-US" dirty="0">
                <a:sym typeface="+mn-ea"/>
              </a:rPr>
              <a:t>据</a:t>
            </a:r>
          </a:p>
          <a:p>
            <a:pPr lvl="0" algn="ctr">
              <a:lnSpc>
                <a:spcPct val="150000"/>
              </a:lnSpc>
              <a:buFont typeface="Arial" panose="020B0604020202020204" pitchFamily="34" charset="0"/>
            </a:pPr>
            <a:r>
              <a:rPr lang="zh-CN" altLang="en-US" dirty="0">
                <a:sym typeface="+mn-ea"/>
              </a:rPr>
              <a:t>处</a:t>
            </a:r>
          </a:p>
          <a:p>
            <a:pPr lvl="0" algn="ctr">
              <a:lnSpc>
                <a:spcPct val="150000"/>
              </a:lnSpc>
              <a:buFont typeface="Arial" panose="020B0604020202020204" pitchFamily="34" charset="0"/>
            </a:pPr>
            <a:r>
              <a:rPr lang="zh-CN" altLang="en-US" dirty="0">
                <a:sym typeface="+mn-ea"/>
              </a:rPr>
              <a:t>理</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
        <p:nvSpPr>
          <p:cNvPr id="5" name="文本框 4"/>
          <p:cNvSpPr txBox="1"/>
          <p:nvPr/>
        </p:nvSpPr>
        <p:spPr>
          <a:xfrm>
            <a:off x="2041525" y="3018155"/>
            <a:ext cx="565785" cy="258445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nchor="t">
            <a:spAutoFit/>
          </a:bodyPr>
          <a:lstStyle/>
          <a:p>
            <a:pPr indent="0" algn="ctr">
              <a:lnSpc>
                <a:spcPct val="150000"/>
              </a:lnSpc>
              <a:buFont typeface="Arial" panose="020B0604020202020204" pitchFamily="34" charset="0"/>
              <a:buNone/>
            </a:pPr>
            <a:r>
              <a:rPr lang="zh-CN" altLang="en-US" dirty="0">
                <a:sym typeface="+mn-ea"/>
              </a:rPr>
              <a:t>数</a:t>
            </a:r>
          </a:p>
          <a:p>
            <a:pPr indent="0" algn="ctr">
              <a:lnSpc>
                <a:spcPct val="150000"/>
              </a:lnSpc>
              <a:buFont typeface="Arial" panose="020B0604020202020204" pitchFamily="34" charset="0"/>
              <a:buNone/>
            </a:pPr>
            <a:r>
              <a:rPr lang="zh-CN" altLang="en-US" dirty="0">
                <a:sym typeface="+mn-ea"/>
              </a:rPr>
              <a:t>据</a:t>
            </a:r>
          </a:p>
          <a:p>
            <a:pPr indent="0" algn="ctr">
              <a:lnSpc>
                <a:spcPct val="150000"/>
              </a:lnSpc>
              <a:buFont typeface="Arial" panose="020B0604020202020204" pitchFamily="34" charset="0"/>
              <a:buNone/>
            </a:pPr>
            <a:r>
              <a:rPr lang="zh-CN" altLang="en-US" dirty="0">
                <a:sym typeface="+mn-ea"/>
              </a:rPr>
              <a:t>采</a:t>
            </a:r>
          </a:p>
          <a:p>
            <a:pPr indent="0" algn="ctr">
              <a:lnSpc>
                <a:spcPct val="150000"/>
              </a:lnSpc>
              <a:buFont typeface="Arial" panose="020B0604020202020204" pitchFamily="34" charset="0"/>
              <a:buNone/>
            </a:pPr>
            <a:r>
              <a:rPr lang="zh-CN" altLang="en-US" dirty="0">
                <a:sym typeface="+mn-ea"/>
              </a:rPr>
              <a:t>集</a:t>
            </a:r>
          </a:p>
          <a:p>
            <a:pPr indent="0" algn="ctr">
              <a:lnSpc>
                <a:spcPct val="150000"/>
              </a:lnSpc>
              <a:buFont typeface="Arial" panose="020B0604020202020204" pitchFamily="34" charset="0"/>
              <a:buNone/>
            </a:pPr>
            <a:r>
              <a:rPr lang="zh-CN" altLang="en-US" dirty="0">
                <a:sym typeface="+mn-ea"/>
              </a:rPr>
              <a:t>模</a:t>
            </a:r>
          </a:p>
          <a:p>
            <a:pPr indent="0" algn="ctr">
              <a:lnSpc>
                <a:spcPct val="150000"/>
              </a:lnSpc>
              <a:buFont typeface="Arial" panose="020B0604020202020204" pitchFamily="34" charset="0"/>
              <a:buNone/>
            </a:pPr>
            <a:r>
              <a:rPr lang="zh-CN" altLang="en-US" dirty="0">
                <a:sym typeface="+mn-ea"/>
              </a:rPr>
              <a:t>块</a:t>
            </a:r>
            <a:endParaRPr lang="zh-CN" altLang="en-US"/>
          </a:p>
        </p:txBody>
      </p:sp>
      <p:sp>
        <p:nvSpPr>
          <p:cNvPr id="9" name="文本框 8"/>
          <p:cNvSpPr txBox="1"/>
          <p:nvPr/>
        </p:nvSpPr>
        <p:spPr>
          <a:xfrm>
            <a:off x="5467350" y="3073400"/>
            <a:ext cx="628015"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智</a:t>
            </a:r>
          </a:p>
          <a:p>
            <a:pPr lvl="0" algn="ctr">
              <a:lnSpc>
                <a:spcPct val="150000"/>
              </a:lnSpc>
              <a:buFont typeface="Arial" panose="020B0604020202020204" pitchFamily="34" charset="0"/>
            </a:pPr>
            <a:r>
              <a:rPr lang="zh-CN" altLang="en-US" dirty="0">
                <a:sym typeface="+mn-ea"/>
              </a:rPr>
              <a:t>能</a:t>
            </a:r>
          </a:p>
          <a:p>
            <a:pPr lvl="0" algn="ctr">
              <a:lnSpc>
                <a:spcPct val="150000"/>
              </a:lnSpc>
              <a:buFont typeface="Arial" panose="020B0604020202020204" pitchFamily="34" charset="0"/>
            </a:pPr>
            <a:r>
              <a:rPr lang="zh-CN" altLang="en-US" dirty="0">
                <a:sym typeface="+mn-ea"/>
              </a:rPr>
              <a:t>分</a:t>
            </a:r>
          </a:p>
          <a:p>
            <a:pPr lvl="0" algn="ctr">
              <a:lnSpc>
                <a:spcPct val="150000"/>
              </a:lnSpc>
              <a:buFont typeface="Arial" panose="020B0604020202020204" pitchFamily="34" charset="0"/>
            </a:pPr>
            <a:r>
              <a:rPr lang="zh-CN" altLang="en-US" dirty="0">
                <a:sym typeface="+mn-ea"/>
              </a:rPr>
              <a:t>析</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
        <p:nvSpPr>
          <p:cNvPr id="10" name="文本框 9"/>
          <p:cNvSpPr txBox="1"/>
          <p:nvPr/>
        </p:nvSpPr>
        <p:spPr>
          <a:xfrm>
            <a:off x="6390640" y="3076575"/>
            <a:ext cx="675640"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自</a:t>
            </a:r>
          </a:p>
          <a:p>
            <a:pPr lvl="0" algn="ctr">
              <a:lnSpc>
                <a:spcPct val="150000"/>
              </a:lnSpc>
              <a:buFont typeface="Arial" panose="020B0604020202020204" pitchFamily="34" charset="0"/>
            </a:pPr>
            <a:r>
              <a:rPr lang="zh-CN" altLang="en-US" dirty="0">
                <a:sym typeface="+mn-ea"/>
              </a:rPr>
              <a:t>主</a:t>
            </a:r>
          </a:p>
          <a:p>
            <a:pPr lvl="0" algn="ctr">
              <a:lnSpc>
                <a:spcPct val="150000"/>
              </a:lnSpc>
              <a:buFont typeface="Arial" panose="020B0604020202020204" pitchFamily="34" charset="0"/>
            </a:pPr>
            <a:r>
              <a:rPr lang="zh-CN" altLang="en-US" dirty="0">
                <a:sym typeface="+mn-ea"/>
              </a:rPr>
              <a:t>学</a:t>
            </a:r>
          </a:p>
          <a:p>
            <a:pPr lvl="0" algn="ctr">
              <a:lnSpc>
                <a:spcPct val="150000"/>
              </a:lnSpc>
              <a:buFont typeface="Arial" panose="020B0604020202020204" pitchFamily="34" charset="0"/>
            </a:pPr>
            <a:r>
              <a:rPr lang="zh-CN" altLang="en-US" dirty="0">
                <a:sym typeface="+mn-ea"/>
              </a:rPr>
              <a:t>习</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
        <p:nvSpPr>
          <p:cNvPr id="11" name="文本框 10"/>
          <p:cNvSpPr txBox="1"/>
          <p:nvPr/>
        </p:nvSpPr>
        <p:spPr>
          <a:xfrm>
            <a:off x="8674735" y="3068955"/>
            <a:ext cx="662940"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流</a:t>
            </a:r>
          </a:p>
          <a:p>
            <a:pPr lvl="0" algn="ctr">
              <a:lnSpc>
                <a:spcPct val="150000"/>
              </a:lnSpc>
              <a:buFont typeface="Arial" panose="020B0604020202020204" pitchFamily="34" charset="0"/>
            </a:pPr>
            <a:r>
              <a:rPr lang="zh-CN" altLang="en-US" dirty="0">
                <a:sym typeface="+mn-ea"/>
              </a:rPr>
              <a:t>程</a:t>
            </a:r>
          </a:p>
          <a:p>
            <a:pPr lvl="0" algn="ctr">
              <a:lnSpc>
                <a:spcPct val="150000"/>
              </a:lnSpc>
              <a:buFont typeface="Arial" panose="020B0604020202020204" pitchFamily="34" charset="0"/>
            </a:pPr>
            <a:r>
              <a:rPr lang="zh-CN" altLang="en-US" dirty="0">
                <a:sym typeface="+mn-ea"/>
              </a:rPr>
              <a:t>处</a:t>
            </a:r>
          </a:p>
          <a:p>
            <a:pPr lvl="0" algn="ctr">
              <a:lnSpc>
                <a:spcPct val="150000"/>
              </a:lnSpc>
              <a:buFont typeface="Arial" panose="020B0604020202020204" pitchFamily="34" charset="0"/>
            </a:pPr>
            <a:r>
              <a:rPr lang="zh-CN" altLang="en-US" dirty="0">
                <a:sym typeface="+mn-ea"/>
              </a:rPr>
              <a:t>理</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
        <p:nvSpPr>
          <p:cNvPr id="12" name="文本框 11"/>
          <p:cNvSpPr txBox="1"/>
          <p:nvPr/>
        </p:nvSpPr>
        <p:spPr>
          <a:xfrm>
            <a:off x="9614535" y="3069590"/>
            <a:ext cx="628015"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信</a:t>
            </a:r>
          </a:p>
          <a:p>
            <a:pPr lvl="0" algn="ctr">
              <a:lnSpc>
                <a:spcPct val="150000"/>
              </a:lnSpc>
              <a:buFont typeface="Arial" panose="020B0604020202020204" pitchFamily="34" charset="0"/>
            </a:pPr>
            <a:r>
              <a:rPr lang="zh-CN" altLang="en-US" dirty="0">
                <a:sym typeface="+mn-ea"/>
              </a:rPr>
              <a:t>息</a:t>
            </a:r>
          </a:p>
          <a:p>
            <a:pPr lvl="0" algn="ctr">
              <a:lnSpc>
                <a:spcPct val="150000"/>
              </a:lnSpc>
              <a:buFont typeface="Arial" panose="020B0604020202020204" pitchFamily="34" charset="0"/>
            </a:pPr>
            <a:r>
              <a:rPr lang="zh-CN" altLang="en-US" dirty="0">
                <a:sym typeface="+mn-ea"/>
              </a:rPr>
              <a:t>通</a:t>
            </a:r>
          </a:p>
          <a:p>
            <a:pPr lvl="0" algn="ctr">
              <a:lnSpc>
                <a:spcPct val="150000"/>
              </a:lnSpc>
              <a:buFont typeface="Arial" panose="020B0604020202020204" pitchFamily="34" charset="0"/>
            </a:pPr>
            <a:r>
              <a:rPr lang="zh-CN" altLang="en-US" dirty="0">
                <a:sym typeface="+mn-ea"/>
              </a:rPr>
              <a:t>报</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Tree>
    <p:extLst>
      <p:ext uri="{BB962C8B-B14F-4D97-AF65-F5344CB8AC3E}">
        <p14:creationId xmlns:p14="http://schemas.microsoft.com/office/powerpoint/2010/main" val="1465741443"/>
      </p:ext>
    </p:extLst>
  </p:cSld>
  <p:clrMapOvr>
    <a:masterClrMapping/>
  </p:clrMapOvr>
  <p:transition spd="med">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角矩形 24"/>
          <p:cNvSpPr/>
          <p:nvPr/>
        </p:nvSpPr>
        <p:spPr>
          <a:xfrm>
            <a:off x="2070901" y="894080"/>
            <a:ext cx="3450077" cy="5107305"/>
          </a:xfrm>
          <a:prstGeom prst="roundRect">
            <a:avLst/>
          </a:prstGeom>
          <a:ln w="38100">
            <a:prstDash val="dash"/>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257250"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5774" y="646483"/>
            <a:ext cx="1169292" cy="369332"/>
          </a:xfrm>
          <a:prstGeom prst="rect">
            <a:avLst/>
          </a:prstGeom>
          <a:noFill/>
        </p:spPr>
        <p:txBody>
          <a:bodyPr wrap="square" rtlCol="0">
            <a:spAutoFit/>
          </a:bodyPr>
          <a:lstStyle/>
          <a:p>
            <a:r>
              <a:rPr lang="zh-CN" altLang="en-US" dirty="0" smtClean="0">
                <a:solidFill>
                  <a:srgbClr val="333F50"/>
                </a:solidFill>
              </a:rPr>
              <a:t>感知系统</a:t>
            </a:r>
            <a:endParaRPr lang="zh-CN" altLang="en-US" dirty="0">
              <a:solidFill>
                <a:srgbClr val="333F50"/>
              </a:solidFill>
            </a:endParaRPr>
          </a:p>
        </p:txBody>
      </p:sp>
      <p:sp>
        <p:nvSpPr>
          <p:cNvPr id="10" name="文本框 9"/>
          <p:cNvSpPr txBox="1"/>
          <p:nvPr/>
        </p:nvSpPr>
        <p:spPr>
          <a:xfrm>
            <a:off x="42076" y="3116558"/>
            <a:ext cx="1325880" cy="645160"/>
          </a:xfrm>
          <a:prstGeom prst="rect">
            <a:avLst/>
          </a:prstGeom>
          <a:noFill/>
        </p:spPr>
        <p:txBody>
          <a:bodyPr wrap="none" rtlCol="0">
            <a:spAutoFit/>
          </a:bodyPr>
          <a:lstStyle/>
          <a:p>
            <a:r>
              <a:rPr lang="zh-CN" altLang="en-US" dirty="0"/>
              <a:t>感知对象：</a:t>
            </a:r>
          </a:p>
          <a:p>
            <a:r>
              <a:rPr lang="zh-CN" altLang="en-US" dirty="0"/>
              <a:t>各类数据源</a:t>
            </a:r>
          </a:p>
        </p:txBody>
      </p:sp>
      <p:sp>
        <p:nvSpPr>
          <p:cNvPr id="11" name="KSO_Shape"/>
          <p:cNvSpPr/>
          <p:nvPr/>
        </p:nvSpPr>
        <p:spPr bwMode="auto">
          <a:xfrm>
            <a:off x="2264576" y="1171553"/>
            <a:ext cx="925195" cy="70802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p:spPr>
        <p:style>
          <a:lnRef idx="0">
            <a:schemeClr val="dk1"/>
          </a:lnRef>
          <a:fillRef idx="3">
            <a:schemeClr val="dk1"/>
          </a:fillRef>
          <a:effectRef idx="3">
            <a:schemeClr val="dk1"/>
          </a:effectRef>
          <a:fontRef idx="minor">
            <a:schemeClr val="lt1"/>
          </a:fontRef>
        </p:style>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a typeface="宋体" panose="02010600030101010101" pitchFamily="2" charset="-122"/>
            </a:endParaRPr>
          </a:p>
        </p:txBody>
      </p:sp>
      <p:sp>
        <p:nvSpPr>
          <p:cNvPr id="12" name="文本框 11"/>
          <p:cNvSpPr txBox="1"/>
          <p:nvPr/>
        </p:nvSpPr>
        <p:spPr>
          <a:xfrm>
            <a:off x="3300261" y="1341733"/>
            <a:ext cx="1097280" cy="368300"/>
          </a:xfrm>
          <a:prstGeom prst="rect">
            <a:avLst/>
          </a:prstGeom>
          <a:noFill/>
        </p:spPr>
        <p:txBody>
          <a:bodyPr wrap="none" rtlCol="0">
            <a:spAutoFit/>
          </a:bodyPr>
          <a:lstStyle/>
          <a:p>
            <a:r>
              <a:rPr lang="zh-CN" altLang="en-US" dirty="0"/>
              <a:t>用户数据</a:t>
            </a:r>
          </a:p>
        </p:txBody>
      </p:sp>
      <p:pic>
        <p:nvPicPr>
          <p:cNvPr id="13" name="图片 12" descr="business_Card_47.481081081081px_1197727_easyicon.net"/>
          <p:cNvPicPr>
            <a:picLocks noChangeAspect="1"/>
          </p:cNvPicPr>
          <p:nvPr/>
        </p:nvPicPr>
        <p:blipFill>
          <a:blip r:embed="rId3"/>
          <a:stretch>
            <a:fillRect/>
          </a:stretch>
        </p:blipFill>
        <p:spPr>
          <a:xfrm>
            <a:off x="2335696" y="2242163"/>
            <a:ext cx="782955" cy="799465"/>
          </a:xfrm>
          <a:prstGeom prst="rect">
            <a:avLst/>
          </a:prstGeom>
        </p:spPr>
      </p:pic>
      <p:sp>
        <p:nvSpPr>
          <p:cNvPr id="14" name="文本框 13"/>
          <p:cNvSpPr txBox="1"/>
          <p:nvPr/>
        </p:nvSpPr>
        <p:spPr>
          <a:xfrm>
            <a:off x="3300261" y="2458063"/>
            <a:ext cx="1097280" cy="368300"/>
          </a:xfrm>
          <a:prstGeom prst="rect">
            <a:avLst/>
          </a:prstGeom>
          <a:noFill/>
        </p:spPr>
        <p:txBody>
          <a:bodyPr wrap="none" rtlCol="0">
            <a:spAutoFit/>
          </a:bodyPr>
          <a:lstStyle/>
          <a:p>
            <a:r>
              <a:rPr lang="zh-CN" altLang="en-US"/>
              <a:t>业务数据</a:t>
            </a:r>
          </a:p>
        </p:txBody>
      </p:sp>
      <p:pic>
        <p:nvPicPr>
          <p:cNvPr id="15" name="图片 14" descr="electronic_132.97691373026px_1156647_easyicon.net"/>
          <p:cNvPicPr>
            <a:picLocks noChangeAspect="1"/>
          </p:cNvPicPr>
          <p:nvPr/>
        </p:nvPicPr>
        <p:blipFill>
          <a:blip r:embed="rId4"/>
          <a:stretch>
            <a:fillRect/>
          </a:stretch>
        </p:blipFill>
        <p:spPr>
          <a:xfrm>
            <a:off x="2223936" y="4738348"/>
            <a:ext cx="1005840" cy="967740"/>
          </a:xfrm>
          <a:prstGeom prst="rect">
            <a:avLst/>
          </a:prstGeom>
        </p:spPr>
      </p:pic>
      <p:sp>
        <p:nvSpPr>
          <p:cNvPr id="16" name="文本框 15"/>
          <p:cNvSpPr txBox="1"/>
          <p:nvPr/>
        </p:nvSpPr>
        <p:spPr>
          <a:xfrm>
            <a:off x="3300261" y="4922498"/>
            <a:ext cx="1097280" cy="368300"/>
          </a:xfrm>
          <a:prstGeom prst="rect">
            <a:avLst/>
          </a:prstGeom>
          <a:noFill/>
        </p:spPr>
        <p:txBody>
          <a:bodyPr wrap="none" rtlCol="0">
            <a:spAutoFit/>
          </a:bodyPr>
          <a:lstStyle/>
          <a:p>
            <a:r>
              <a:rPr lang="zh-CN" altLang="en-US"/>
              <a:t>设备数据</a:t>
            </a:r>
          </a:p>
        </p:txBody>
      </p:sp>
      <p:pic>
        <p:nvPicPr>
          <p:cNvPr id="17" name="图片 16" descr="Network_Disconnected_128px_1104178_easyicon.net"/>
          <p:cNvPicPr>
            <a:picLocks noChangeAspect="1"/>
          </p:cNvPicPr>
          <p:nvPr/>
        </p:nvPicPr>
        <p:blipFill>
          <a:blip r:embed="rId5"/>
          <a:stretch>
            <a:fillRect/>
          </a:stretch>
        </p:blipFill>
        <p:spPr>
          <a:xfrm>
            <a:off x="2239811" y="3402308"/>
            <a:ext cx="975360" cy="975360"/>
          </a:xfrm>
          <a:prstGeom prst="rect">
            <a:avLst/>
          </a:prstGeom>
        </p:spPr>
      </p:pic>
      <p:sp>
        <p:nvSpPr>
          <p:cNvPr id="19" name="文本框 18"/>
          <p:cNvSpPr txBox="1"/>
          <p:nvPr/>
        </p:nvSpPr>
        <p:spPr>
          <a:xfrm>
            <a:off x="3300261" y="3705838"/>
            <a:ext cx="1097280" cy="368300"/>
          </a:xfrm>
          <a:prstGeom prst="rect">
            <a:avLst/>
          </a:prstGeom>
          <a:noFill/>
        </p:spPr>
        <p:txBody>
          <a:bodyPr wrap="none" rtlCol="0">
            <a:spAutoFit/>
          </a:bodyPr>
          <a:lstStyle/>
          <a:p>
            <a:r>
              <a:rPr lang="zh-CN" altLang="en-US" dirty="0"/>
              <a:t>网络数据</a:t>
            </a:r>
          </a:p>
        </p:txBody>
      </p:sp>
      <p:sp>
        <p:nvSpPr>
          <p:cNvPr id="20" name="左大括号 19"/>
          <p:cNvSpPr/>
          <p:nvPr/>
        </p:nvSpPr>
        <p:spPr>
          <a:xfrm>
            <a:off x="1432726" y="1171553"/>
            <a:ext cx="360680" cy="4534535"/>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26" name="文本框 25"/>
          <p:cNvSpPr txBox="1"/>
          <p:nvPr/>
        </p:nvSpPr>
        <p:spPr>
          <a:xfrm>
            <a:off x="3485681" y="610213"/>
            <a:ext cx="1783080" cy="645160"/>
          </a:xfrm>
          <a:prstGeom prst="rect">
            <a:avLst/>
          </a:prstGeom>
          <a:solidFill>
            <a:schemeClr val="accent5">
              <a:lumMod val="40000"/>
              <a:lumOff val="60000"/>
            </a:schemeClr>
          </a:solidFill>
        </p:spPr>
        <p:txBody>
          <a:bodyPr wrap="none" rtlCol="0">
            <a:spAutoFit/>
          </a:bodyPr>
          <a:lstStyle/>
          <a:p>
            <a:r>
              <a:rPr lang="zh-CN" altLang="en-US" dirty="0"/>
              <a:t>感知渠道：</a:t>
            </a:r>
          </a:p>
          <a:p>
            <a:r>
              <a:rPr lang="zh-CN" altLang="en-US" dirty="0"/>
              <a:t>丰富的数据接口</a:t>
            </a:r>
          </a:p>
        </p:txBody>
      </p:sp>
      <p:sp>
        <p:nvSpPr>
          <p:cNvPr id="27" name="文本框 26"/>
          <p:cNvSpPr txBox="1"/>
          <p:nvPr/>
        </p:nvSpPr>
        <p:spPr>
          <a:xfrm>
            <a:off x="10952368" y="3633199"/>
            <a:ext cx="1107996" cy="369332"/>
          </a:xfrm>
          <a:prstGeom prst="rect">
            <a:avLst/>
          </a:prstGeom>
          <a:noFill/>
        </p:spPr>
        <p:txBody>
          <a:bodyPr wrap="none" rtlCol="0">
            <a:spAutoFit/>
          </a:bodyPr>
          <a:lstStyle/>
          <a:p>
            <a:r>
              <a:rPr lang="zh-CN" altLang="en-US" dirty="0" smtClean="0"/>
              <a:t>数据仓库</a:t>
            </a:r>
            <a:endParaRPr lang="zh-CN" altLang="en-US" dirty="0"/>
          </a:p>
        </p:txBody>
      </p:sp>
      <p:pic>
        <p:nvPicPr>
          <p:cNvPr id="28" name="图片 27" descr="STORAGE_135.26977687627px_1199104_easyicon.net"/>
          <p:cNvPicPr>
            <a:picLocks noChangeAspect="1"/>
          </p:cNvPicPr>
          <p:nvPr/>
        </p:nvPicPr>
        <p:blipFill>
          <a:blip r:embed="rId6"/>
          <a:stretch>
            <a:fillRect/>
          </a:stretch>
        </p:blipFill>
        <p:spPr>
          <a:xfrm>
            <a:off x="10818026" y="2237718"/>
            <a:ext cx="1376680" cy="1305560"/>
          </a:xfrm>
          <a:prstGeom prst="rect">
            <a:avLst/>
          </a:prstGeom>
        </p:spPr>
      </p:pic>
      <p:sp>
        <p:nvSpPr>
          <p:cNvPr id="29" name="燕尾形箭头 28"/>
          <p:cNvSpPr/>
          <p:nvPr/>
        </p:nvSpPr>
        <p:spPr>
          <a:xfrm>
            <a:off x="8105941" y="2720318"/>
            <a:ext cx="2712085" cy="357505"/>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17" name="燕尾形箭头 116"/>
          <p:cNvSpPr/>
          <p:nvPr/>
        </p:nvSpPr>
        <p:spPr>
          <a:xfrm>
            <a:off x="5530046" y="2784224"/>
            <a:ext cx="628650" cy="357505"/>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0" name="文本框 29"/>
          <p:cNvSpPr txBox="1"/>
          <p:nvPr/>
        </p:nvSpPr>
        <p:spPr>
          <a:xfrm>
            <a:off x="2453171" y="6108065"/>
            <a:ext cx="1554480" cy="368300"/>
          </a:xfrm>
          <a:prstGeom prst="rect">
            <a:avLst/>
          </a:prstGeom>
          <a:noFill/>
        </p:spPr>
        <p:txBody>
          <a:bodyPr wrap="none" rtlCol="0">
            <a:spAutoFit/>
          </a:bodyPr>
          <a:lstStyle/>
          <a:p>
            <a:r>
              <a:rPr lang="zh-CN" altLang="en-US" b="1">
                <a:ln/>
                <a:solidFill>
                  <a:schemeClr val="accent1"/>
                </a:solidFill>
                <a:effectLst>
                  <a:outerShdw blurRad="38100" dist="25400" dir="5400000" algn="ctr" rotWithShape="0">
                    <a:srgbClr val="6E747A">
                      <a:alpha val="43000"/>
                    </a:srgbClr>
                  </a:outerShdw>
                </a:effectLst>
              </a:rPr>
              <a:t>数据采集模块</a:t>
            </a:r>
          </a:p>
        </p:txBody>
      </p:sp>
      <p:sp>
        <p:nvSpPr>
          <p:cNvPr id="32" name="文本框 31"/>
          <p:cNvSpPr txBox="1"/>
          <p:nvPr/>
        </p:nvSpPr>
        <p:spPr>
          <a:xfrm>
            <a:off x="8521815" y="6041296"/>
            <a:ext cx="1569660" cy="369332"/>
          </a:xfrm>
          <a:prstGeom prst="rect">
            <a:avLst/>
          </a:prstGeom>
          <a:noFill/>
        </p:spPr>
        <p:txBody>
          <a:bodyPr wrap="none" rtlCol="0">
            <a:spAutoFit/>
          </a:bodyPr>
          <a:lstStyle/>
          <a:p>
            <a:r>
              <a:rPr lang="zh-CN" altLang="en-US" b="1" dirty="0" smtClean="0">
                <a:solidFill>
                  <a:schemeClr val="accent1"/>
                </a:solidFill>
                <a:effectLst>
                  <a:outerShdw blurRad="38100" dist="25400" dir="5400000" algn="ctr" rotWithShape="0">
                    <a:srgbClr val="6E747A">
                      <a:alpha val="43000"/>
                    </a:srgbClr>
                  </a:outerShdw>
                </a:effectLst>
              </a:rPr>
              <a:t>数据</a:t>
            </a:r>
            <a:r>
              <a:rPr lang="zh-CN" altLang="en-US" b="1" dirty="0">
                <a:solidFill>
                  <a:schemeClr val="accent1"/>
                </a:solidFill>
                <a:effectLst>
                  <a:outerShdw blurRad="38100" dist="25400" dir="5400000" algn="ctr" rotWithShape="0">
                    <a:srgbClr val="6E747A">
                      <a:alpha val="43000"/>
                    </a:srgbClr>
                  </a:outerShdw>
                </a:effectLst>
              </a:rPr>
              <a:t>处理</a:t>
            </a:r>
            <a:r>
              <a:rPr lang="zh-CN" altLang="en-US" b="1" dirty="0" smtClean="0">
                <a:solidFill>
                  <a:schemeClr val="accent1"/>
                </a:solidFill>
                <a:effectLst>
                  <a:outerShdw blurRad="38100" dist="25400" dir="5400000" algn="ctr" rotWithShape="0">
                    <a:srgbClr val="6E747A">
                      <a:alpha val="43000"/>
                    </a:srgbClr>
                  </a:outerShdw>
                </a:effectLst>
              </a:rPr>
              <a:t>模块</a:t>
            </a:r>
            <a:endParaRPr lang="zh-CN" altLang="en-US" b="1" dirty="0">
              <a:solidFill>
                <a:schemeClr val="accent1"/>
              </a:solidFill>
              <a:effectLst>
                <a:outerShdw blurRad="38100" dist="25400" dir="5400000" algn="ctr" rotWithShape="0">
                  <a:srgbClr val="6E747A">
                    <a:alpha val="43000"/>
                  </a:srgbClr>
                </a:outerShdw>
              </a:effectLst>
            </a:endParaRPr>
          </a:p>
        </p:txBody>
      </p:sp>
      <p:sp>
        <p:nvSpPr>
          <p:cNvPr id="34" name="文本框 33"/>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3" name="矩形 2"/>
          <p:cNvSpPr/>
          <p:nvPr/>
        </p:nvSpPr>
        <p:spPr>
          <a:xfrm>
            <a:off x="6181845" y="2084547"/>
            <a:ext cx="1869493" cy="1621292"/>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8" name="矩形 17"/>
          <p:cNvSpPr/>
          <p:nvPr/>
        </p:nvSpPr>
        <p:spPr>
          <a:xfrm>
            <a:off x="6345420" y="2989358"/>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6335794" y="2249810"/>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6678694" y="2249809"/>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7022884" y="2249808"/>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7362434" y="2253926"/>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7711138" y="2251869"/>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6335794" y="2610893"/>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6345420" y="3364695"/>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6698343" y="2610892"/>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p:cNvSpPr/>
          <p:nvPr/>
        </p:nvSpPr>
        <p:spPr>
          <a:xfrm>
            <a:off x="7060893" y="2610892"/>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6684581" y="2987019"/>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7022884" y="2987019"/>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7363851" y="2989357"/>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6698343" y="3364695"/>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8448246" y="1099053"/>
            <a:ext cx="1870605" cy="163248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68" name="矩形 67"/>
          <p:cNvSpPr/>
          <p:nvPr/>
        </p:nvSpPr>
        <p:spPr>
          <a:xfrm>
            <a:off x="8602195" y="1264317"/>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a:off x="8945095" y="1264316"/>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9289285" y="1254371"/>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9631010" y="1264315"/>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9972735" y="1255775"/>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8618238" y="1620383"/>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a:off x="8961138" y="1620382"/>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p:cNvSpPr/>
          <p:nvPr/>
        </p:nvSpPr>
        <p:spPr>
          <a:xfrm>
            <a:off x="9305328" y="1610437"/>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p:cNvSpPr/>
          <p:nvPr/>
        </p:nvSpPr>
        <p:spPr>
          <a:xfrm>
            <a:off x="9647053" y="1620381"/>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84"/>
          <p:cNvSpPr/>
          <p:nvPr/>
        </p:nvSpPr>
        <p:spPr>
          <a:xfrm>
            <a:off x="9988778" y="1611841"/>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p:cNvSpPr/>
          <p:nvPr/>
        </p:nvSpPr>
        <p:spPr>
          <a:xfrm>
            <a:off x="8605418" y="2002450"/>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p:cNvSpPr/>
          <p:nvPr/>
        </p:nvSpPr>
        <p:spPr>
          <a:xfrm>
            <a:off x="8948318" y="2002449"/>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p:cNvSpPr/>
          <p:nvPr/>
        </p:nvSpPr>
        <p:spPr>
          <a:xfrm>
            <a:off x="9292508" y="1992504"/>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p:cNvSpPr/>
          <p:nvPr/>
        </p:nvSpPr>
        <p:spPr>
          <a:xfrm>
            <a:off x="9634233" y="2002448"/>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p:cNvSpPr/>
          <p:nvPr/>
        </p:nvSpPr>
        <p:spPr>
          <a:xfrm>
            <a:off x="9975958" y="1993908"/>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p:cNvSpPr/>
          <p:nvPr/>
        </p:nvSpPr>
        <p:spPr>
          <a:xfrm>
            <a:off x="8605418" y="2355858"/>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p:cNvSpPr/>
          <p:nvPr/>
        </p:nvSpPr>
        <p:spPr>
          <a:xfrm>
            <a:off x="8948318" y="2355857"/>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92"/>
          <p:cNvSpPr/>
          <p:nvPr/>
        </p:nvSpPr>
        <p:spPr>
          <a:xfrm>
            <a:off x="9292508" y="2345912"/>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矩形 93"/>
          <p:cNvSpPr/>
          <p:nvPr/>
        </p:nvSpPr>
        <p:spPr>
          <a:xfrm>
            <a:off x="9634233" y="2355856"/>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p:cNvSpPr/>
          <p:nvPr/>
        </p:nvSpPr>
        <p:spPr>
          <a:xfrm>
            <a:off x="9975958" y="2347316"/>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p:cNvSpPr txBox="1"/>
          <p:nvPr/>
        </p:nvSpPr>
        <p:spPr>
          <a:xfrm>
            <a:off x="6524433" y="3862634"/>
            <a:ext cx="1054041" cy="338554"/>
          </a:xfrm>
          <a:prstGeom prst="rect">
            <a:avLst/>
          </a:prstGeom>
          <a:noFill/>
        </p:spPr>
        <p:txBody>
          <a:bodyPr wrap="square" rtlCol="0">
            <a:spAutoFit/>
          </a:bodyPr>
          <a:lstStyle/>
          <a:p>
            <a:r>
              <a:rPr lang="zh-CN" altLang="en-US" sz="1600" dirty="0" smtClean="0"/>
              <a:t>数据解码</a:t>
            </a:r>
            <a:endParaRPr lang="zh-CN" altLang="en-US" sz="1600" dirty="0"/>
          </a:p>
        </p:txBody>
      </p:sp>
      <p:sp>
        <p:nvSpPr>
          <p:cNvPr id="97" name="文本框 96"/>
          <p:cNvSpPr txBox="1"/>
          <p:nvPr/>
        </p:nvSpPr>
        <p:spPr>
          <a:xfrm>
            <a:off x="8861641" y="3100981"/>
            <a:ext cx="1201787" cy="338554"/>
          </a:xfrm>
          <a:prstGeom prst="rect">
            <a:avLst/>
          </a:prstGeom>
          <a:noFill/>
        </p:spPr>
        <p:txBody>
          <a:bodyPr wrap="square" rtlCol="0">
            <a:spAutoFit/>
          </a:bodyPr>
          <a:lstStyle/>
          <a:p>
            <a:r>
              <a:rPr lang="zh-CN" altLang="en-US" sz="1600" dirty="0" smtClean="0"/>
              <a:t>数据结构化</a:t>
            </a:r>
            <a:endParaRPr lang="zh-CN" altLang="en-US" sz="1600" dirty="0"/>
          </a:p>
        </p:txBody>
      </p:sp>
      <p:pic>
        <p:nvPicPr>
          <p:cNvPr id="98" name="Picture 2"/>
          <p:cNvPicPr>
            <a:picLocks noChangeAspect="1" noChangeArrowheads="1"/>
          </p:cNvPicPr>
          <p:nvPr/>
        </p:nvPicPr>
        <p:blipFill>
          <a:blip r:embed="rId7" cstate="print"/>
          <a:srcRect/>
          <a:stretch>
            <a:fillRect/>
          </a:stretch>
        </p:blipFill>
        <p:spPr bwMode="auto">
          <a:xfrm>
            <a:off x="4690855" y="2610892"/>
            <a:ext cx="785640" cy="874917"/>
          </a:xfrm>
          <a:prstGeom prst="rect">
            <a:avLst/>
          </a:prstGeom>
          <a:noFill/>
          <a:ln w="9525">
            <a:noFill/>
            <a:miter lim="800000"/>
            <a:headEnd/>
            <a:tailEnd/>
          </a:ln>
        </p:spPr>
      </p:pic>
      <p:cxnSp>
        <p:nvCxnSpPr>
          <p:cNvPr id="100" name="肘形连接符 99"/>
          <p:cNvCxnSpPr>
            <a:stCxn id="12" idx="1"/>
            <a:endCxn id="98" idx="1"/>
          </p:cNvCxnSpPr>
          <p:nvPr/>
        </p:nvCxnSpPr>
        <p:spPr>
          <a:xfrm rot="10800000" flipH="1" flipV="1">
            <a:off x="3300261" y="1525883"/>
            <a:ext cx="1390594" cy="1522468"/>
          </a:xfrm>
          <a:prstGeom prst="bentConnector3">
            <a:avLst>
              <a:gd name="adj1" fmla="val 294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4" name="肘形连接符 103"/>
          <p:cNvCxnSpPr>
            <a:stCxn id="13" idx="3"/>
          </p:cNvCxnSpPr>
          <p:nvPr/>
        </p:nvCxnSpPr>
        <p:spPr>
          <a:xfrm>
            <a:off x="3118651" y="2641896"/>
            <a:ext cx="1562578" cy="423656"/>
          </a:xfrm>
          <a:prstGeom prst="bentConnector3">
            <a:avLst>
              <a:gd name="adj1" fmla="val 14889"/>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7" name="肘形连接符 106"/>
          <p:cNvCxnSpPr>
            <a:stCxn id="17" idx="3"/>
            <a:endCxn id="98" idx="1"/>
          </p:cNvCxnSpPr>
          <p:nvPr/>
        </p:nvCxnSpPr>
        <p:spPr>
          <a:xfrm flipV="1">
            <a:off x="3215171" y="3048351"/>
            <a:ext cx="1475684" cy="841637"/>
          </a:xfrm>
          <a:prstGeom prst="bentConnector3">
            <a:avLst>
              <a:gd name="adj1" fmla="val 956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9" name="肘形连接符 108"/>
          <p:cNvCxnSpPr>
            <a:stCxn id="15" idx="3"/>
            <a:endCxn id="98" idx="1"/>
          </p:cNvCxnSpPr>
          <p:nvPr/>
        </p:nvCxnSpPr>
        <p:spPr>
          <a:xfrm flipV="1">
            <a:off x="3229776" y="3048351"/>
            <a:ext cx="1461079" cy="2173867"/>
          </a:xfrm>
          <a:prstGeom prst="bentConnector3">
            <a:avLst>
              <a:gd name="adj1" fmla="val 8497"/>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8" name="椭圆 117"/>
          <p:cNvSpPr/>
          <p:nvPr/>
        </p:nvSpPr>
        <p:spPr>
          <a:xfrm>
            <a:off x="3708571" y="2781651"/>
            <a:ext cx="251530" cy="259397"/>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平行四边形 118"/>
          <p:cNvSpPr/>
          <p:nvPr/>
        </p:nvSpPr>
        <p:spPr>
          <a:xfrm>
            <a:off x="3682867" y="4088743"/>
            <a:ext cx="258084" cy="184150"/>
          </a:xfrm>
          <a:prstGeom prst="parallelogram">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等腰三角形 119"/>
          <p:cNvSpPr/>
          <p:nvPr/>
        </p:nvSpPr>
        <p:spPr>
          <a:xfrm>
            <a:off x="3668399" y="1708436"/>
            <a:ext cx="287020" cy="2095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正五边形 120"/>
          <p:cNvSpPr/>
          <p:nvPr/>
        </p:nvSpPr>
        <p:spPr>
          <a:xfrm>
            <a:off x="3671635" y="5346888"/>
            <a:ext cx="280547" cy="266700"/>
          </a:xfrm>
          <a:prstGeom prst="pentagon">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圆角矩形 122"/>
          <p:cNvSpPr/>
          <p:nvPr/>
        </p:nvSpPr>
        <p:spPr>
          <a:xfrm>
            <a:off x="6161402" y="894080"/>
            <a:ext cx="6030598" cy="5107304"/>
          </a:xfrm>
          <a:prstGeom prst="roundRect">
            <a:avLst/>
          </a:prstGeom>
          <a:noFill/>
          <a:ln w="38100" cap="flat" cmpd="sng" algn="ctr">
            <a:solidFill>
              <a:srgbClr val="D71DCA"/>
            </a:solidFill>
            <a:prstDash val="dash"/>
            <a:round/>
            <a:headEnd type="none" w="med" len="med"/>
            <a:tailEnd type="none" w="med" len="med"/>
          </a:ln>
          <a:extLst/>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24" name="文本框 123"/>
          <p:cNvSpPr txBox="1"/>
          <p:nvPr/>
        </p:nvSpPr>
        <p:spPr>
          <a:xfrm>
            <a:off x="4533848" y="3515753"/>
            <a:ext cx="902811" cy="307777"/>
          </a:xfrm>
          <a:prstGeom prst="rect">
            <a:avLst/>
          </a:prstGeom>
          <a:noFill/>
        </p:spPr>
        <p:txBody>
          <a:bodyPr wrap="none" rtlCol="0">
            <a:spAutoFit/>
          </a:bodyPr>
          <a:lstStyle/>
          <a:p>
            <a:r>
              <a:rPr lang="zh-CN" altLang="en-US" sz="1400" dirty="0" smtClean="0"/>
              <a:t>采集工具</a:t>
            </a:r>
            <a:endParaRPr lang="zh-CN" altLang="en-US" sz="1400" dirty="0"/>
          </a:p>
        </p:txBody>
      </p:sp>
      <p:sp>
        <p:nvSpPr>
          <p:cNvPr id="125" name="文本框 124"/>
          <p:cNvSpPr txBox="1"/>
          <p:nvPr/>
        </p:nvSpPr>
        <p:spPr>
          <a:xfrm>
            <a:off x="6052623" y="647670"/>
            <a:ext cx="1800493" cy="646331"/>
          </a:xfrm>
          <a:prstGeom prst="rect">
            <a:avLst/>
          </a:prstGeom>
          <a:solidFill>
            <a:schemeClr val="accent5">
              <a:lumMod val="40000"/>
              <a:lumOff val="60000"/>
            </a:schemeClr>
          </a:solidFill>
        </p:spPr>
        <p:txBody>
          <a:bodyPr wrap="none" rtlCol="0">
            <a:spAutoFit/>
          </a:bodyPr>
          <a:lstStyle/>
          <a:p>
            <a:r>
              <a:rPr lang="zh-CN" altLang="en-US" dirty="0" smtClean="0"/>
              <a:t>感知</a:t>
            </a:r>
            <a:r>
              <a:rPr lang="zh-CN" altLang="en-US" dirty="0"/>
              <a:t>结果</a:t>
            </a:r>
            <a:r>
              <a:rPr lang="zh-CN" altLang="en-US" dirty="0" smtClean="0"/>
              <a:t>：</a:t>
            </a:r>
            <a:endParaRPr lang="zh-CN" altLang="en-US" dirty="0"/>
          </a:p>
          <a:p>
            <a:r>
              <a:rPr lang="zh-CN" altLang="en-US" dirty="0" smtClean="0"/>
              <a:t>统一结构化数据</a:t>
            </a:r>
            <a:endParaRPr lang="zh-CN" altLang="en-US" dirty="0"/>
          </a:p>
        </p:txBody>
      </p:sp>
      <p:pic>
        <p:nvPicPr>
          <p:cNvPr id="126" name="图片 125" descr="model_vrml_72px_1078125_easyicon.net"/>
          <p:cNvPicPr>
            <a:picLocks noChangeAspect="1"/>
          </p:cNvPicPr>
          <p:nvPr/>
        </p:nvPicPr>
        <p:blipFill>
          <a:blip r:embed="rId8"/>
          <a:stretch>
            <a:fillRect/>
          </a:stretch>
        </p:blipFill>
        <p:spPr>
          <a:xfrm>
            <a:off x="8961138" y="4081290"/>
            <a:ext cx="914400" cy="914400"/>
          </a:xfrm>
          <a:prstGeom prst="rect">
            <a:avLst/>
          </a:prstGeom>
        </p:spPr>
      </p:pic>
      <p:sp>
        <p:nvSpPr>
          <p:cNvPr id="127" name="文本框 126"/>
          <p:cNvSpPr txBox="1"/>
          <p:nvPr/>
        </p:nvSpPr>
        <p:spPr>
          <a:xfrm>
            <a:off x="8406514" y="5182837"/>
            <a:ext cx="2031325" cy="369332"/>
          </a:xfrm>
          <a:prstGeom prst="rect">
            <a:avLst/>
          </a:prstGeom>
          <a:noFill/>
        </p:spPr>
        <p:txBody>
          <a:bodyPr wrap="none" rtlCol="0">
            <a:spAutoFit/>
          </a:bodyPr>
          <a:lstStyle/>
          <a:p>
            <a:r>
              <a:rPr lang="zh-CN" altLang="en-US" dirty="0" smtClean="0"/>
              <a:t>经验模型、算法库</a:t>
            </a:r>
            <a:endParaRPr lang="zh-CN" altLang="en-US" dirty="0"/>
          </a:p>
        </p:txBody>
      </p:sp>
      <p:sp>
        <p:nvSpPr>
          <p:cNvPr id="128" name="直角上箭头 127"/>
          <p:cNvSpPr/>
          <p:nvPr/>
        </p:nvSpPr>
        <p:spPr>
          <a:xfrm>
            <a:off x="10363939" y="3916202"/>
            <a:ext cx="1430464" cy="1474344"/>
          </a:xfrm>
          <a:prstGeom prst="bentUpArrow">
            <a:avLst>
              <a:gd name="adj1" fmla="val 15678"/>
              <a:gd name="adj2" fmla="val 25000"/>
              <a:gd name="adj3" fmla="val 35654"/>
            </a:avLst>
          </a:prstGeom>
          <a:solidFill>
            <a:srgbClr val="323F4F"/>
          </a:solidFill>
          <a:ln>
            <a:solidFill>
              <a:srgbClr val="323F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8077126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down)">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par>
                                <p:cTn id="16" presetID="16" presetClass="entr" presetSubtype="21"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arn(inVertical)">
                                      <p:cBhvr>
                                        <p:cTn id="18" dur="500"/>
                                        <p:tgtEl>
                                          <p:spTgt spid="13"/>
                                        </p:tgtEl>
                                      </p:cBhvr>
                                    </p:animEffect>
                                  </p:childTnLst>
                                </p:cTn>
                              </p:par>
                              <p:par>
                                <p:cTn id="19" presetID="16" presetClass="entr" presetSubtype="21"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Vertical)">
                                      <p:cBhvr>
                                        <p:cTn id="21" dur="500"/>
                                        <p:tgtEl>
                                          <p:spTgt spid="17"/>
                                        </p:tgtEl>
                                      </p:cBhvr>
                                    </p:animEffect>
                                  </p:childTnLst>
                                </p:cTn>
                              </p:par>
                              <p:par>
                                <p:cTn id="22" presetID="16" presetClass="entr" presetSubtype="21"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barn(inVertical)">
                                      <p:cBhvr>
                                        <p:cTn id="24" dur="500"/>
                                        <p:tgtEl>
                                          <p:spTgt spid="15"/>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arn(inVertical)">
                                      <p:cBhvr>
                                        <p:cTn id="27" dur="500"/>
                                        <p:tgtEl>
                                          <p:spTgt spid="16"/>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barn(inVertical)">
                                      <p:cBhvr>
                                        <p:cTn id="30" dur="500"/>
                                        <p:tgtEl>
                                          <p:spTgt spid="19"/>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barn(inVertical)">
                                      <p:cBhvr>
                                        <p:cTn id="33" dur="500"/>
                                        <p:tgtEl>
                                          <p:spTgt spid="14"/>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barn(inVertical)">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100"/>
                                        </p:tgtEl>
                                        <p:attrNameLst>
                                          <p:attrName>style.visibility</p:attrName>
                                        </p:attrNameLst>
                                      </p:cBhvr>
                                      <p:to>
                                        <p:strVal val="visible"/>
                                      </p:to>
                                    </p:set>
                                    <p:animEffect transition="in" filter="barn(inVertical)">
                                      <p:cBhvr>
                                        <p:cTn id="41" dur="500"/>
                                        <p:tgtEl>
                                          <p:spTgt spid="100"/>
                                        </p:tgtEl>
                                      </p:cBhvr>
                                    </p:animEffect>
                                  </p:childTnLst>
                                </p:cTn>
                              </p:par>
                              <p:par>
                                <p:cTn id="42" presetID="16" presetClass="entr" presetSubtype="21" fill="hold" nodeType="withEffect">
                                  <p:stCondLst>
                                    <p:cond delay="0"/>
                                  </p:stCondLst>
                                  <p:childTnLst>
                                    <p:set>
                                      <p:cBhvr>
                                        <p:cTn id="43" dur="1" fill="hold">
                                          <p:stCondLst>
                                            <p:cond delay="0"/>
                                          </p:stCondLst>
                                        </p:cTn>
                                        <p:tgtEl>
                                          <p:spTgt spid="104"/>
                                        </p:tgtEl>
                                        <p:attrNameLst>
                                          <p:attrName>style.visibility</p:attrName>
                                        </p:attrNameLst>
                                      </p:cBhvr>
                                      <p:to>
                                        <p:strVal val="visible"/>
                                      </p:to>
                                    </p:set>
                                    <p:animEffect transition="in" filter="barn(inVertical)">
                                      <p:cBhvr>
                                        <p:cTn id="44" dur="500"/>
                                        <p:tgtEl>
                                          <p:spTgt spid="104"/>
                                        </p:tgtEl>
                                      </p:cBhvr>
                                    </p:animEffect>
                                  </p:childTnLst>
                                </p:cTn>
                              </p:par>
                              <p:par>
                                <p:cTn id="45" presetID="16" presetClass="entr" presetSubtype="21" fill="hold" nodeType="withEffect">
                                  <p:stCondLst>
                                    <p:cond delay="0"/>
                                  </p:stCondLst>
                                  <p:childTnLst>
                                    <p:set>
                                      <p:cBhvr>
                                        <p:cTn id="46" dur="1" fill="hold">
                                          <p:stCondLst>
                                            <p:cond delay="0"/>
                                          </p:stCondLst>
                                        </p:cTn>
                                        <p:tgtEl>
                                          <p:spTgt spid="109"/>
                                        </p:tgtEl>
                                        <p:attrNameLst>
                                          <p:attrName>style.visibility</p:attrName>
                                        </p:attrNameLst>
                                      </p:cBhvr>
                                      <p:to>
                                        <p:strVal val="visible"/>
                                      </p:to>
                                    </p:set>
                                    <p:animEffect transition="in" filter="barn(inVertical)">
                                      <p:cBhvr>
                                        <p:cTn id="47" dur="500"/>
                                        <p:tgtEl>
                                          <p:spTgt spid="109"/>
                                        </p:tgtEl>
                                      </p:cBhvr>
                                    </p:animEffect>
                                  </p:childTnLst>
                                </p:cTn>
                              </p:par>
                              <p:par>
                                <p:cTn id="48" presetID="16" presetClass="entr" presetSubtype="21" fill="hold" nodeType="withEffect">
                                  <p:stCondLst>
                                    <p:cond delay="0"/>
                                  </p:stCondLst>
                                  <p:childTnLst>
                                    <p:set>
                                      <p:cBhvr>
                                        <p:cTn id="49" dur="1" fill="hold">
                                          <p:stCondLst>
                                            <p:cond delay="0"/>
                                          </p:stCondLst>
                                        </p:cTn>
                                        <p:tgtEl>
                                          <p:spTgt spid="107"/>
                                        </p:tgtEl>
                                        <p:attrNameLst>
                                          <p:attrName>style.visibility</p:attrName>
                                        </p:attrNameLst>
                                      </p:cBhvr>
                                      <p:to>
                                        <p:strVal val="visible"/>
                                      </p:to>
                                    </p:set>
                                    <p:animEffect transition="in" filter="barn(inVertical)">
                                      <p:cBhvr>
                                        <p:cTn id="50" dur="500"/>
                                        <p:tgtEl>
                                          <p:spTgt spid="107"/>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120"/>
                                        </p:tgtEl>
                                        <p:attrNameLst>
                                          <p:attrName>style.visibility</p:attrName>
                                        </p:attrNameLst>
                                      </p:cBhvr>
                                      <p:to>
                                        <p:strVal val="visible"/>
                                      </p:to>
                                    </p:set>
                                    <p:animEffect transition="in" filter="barn(inVertical)">
                                      <p:cBhvr>
                                        <p:cTn id="53" dur="500"/>
                                        <p:tgtEl>
                                          <p:spTgt spid="120"/>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118"/>
                                        </p:tgtEl>
                                        <p:attrNameLst>
                                          <p:attrName>style.visibility</p:attrName>
                                        </p:attrNameLst>
                                      </p:cBhvr>
                                      <p:to>
                                        <p:strVal val="visible"/>
                                      </p:to>
                                    </p:set>
                                    <p:animEffect transition="in" filter="barn(inVertical)">
                                      <p:cBhvr>
                                        <p:cTn id="56" dur="500"/>
                                        <p:tgtEl>
                                          <p:spTgt spid="118"/>
                                        </p:tgtEl>
                                      </p:cBhvr>
                                    </p:animEffect>
                                  </p:childTnLst>
                                </p:cTn>
                              </p:par>
                              <p:par>
                                <p:cTn id="57" presetID="16" presetClass="entr" presetSubtype="21" fill="hold" grpId="0" nodeType="withEffect">
                                  <p:stCondLst>
                                    <p:cond delay="0"/>
                                  </p:stCondLst>
                                  <p:childTnLst>
                                    <p:set>
                                      <p:cBhvr>
                                        <p:cTn id="58" dur="1" fill="hold">
                                          <p:stCondLst>
                                            <p:cond delay="0"/>
                                          </p:stCondLst>
                                        </p:cTn>
                                        <p:tgtEl>
                                          <p:spTgt spid="119"/>
                                        </p:tgtEl>
                                        <p:attrNameLst>
                                          <p:attrName>style.visibility</p:attrName>
                                        </p:attrNameLst>
                                      </p:cBhvr>
                                      <p:to>
                                        <p:strVal val="visible"/>
                                      </p:to>
                                    </p:set>
                                    <p:animEffect transition="in" filter="barn(inVertical)">
                                      <p:cBhvr>
                                        <p:cTn id="59" dur="500"/>
                                        <p:tgtEl>
                                          <p:spTgt spid="119"/>
                                        </p:tgtEl>
                                      </p:cBhvr>
                                    </p:animEffect>
                                  </p:childTnLst>
                                </p:cTn>
                              </p:par>
                              <p:par>
                                <p:cTn id="60" presetID="16" presetClass="entr" presetSubtype="21" fill="hold" grpId="0" nodeType="withEffect">
                                  <p:stCondLst>
                                    <p:cond delay="0"/>
                                  </p:stCondLst>
                                  <p:childTnLst>
                                    <p:set>
                                      <p:cBhvr>
                                        <p:cTn id="61" dur="1" fill="hold">
                                          <p:stCondLst>
                                            <p:cond delay="0"/>
                                          </p:stCondLst>
                                        </p:cTn>
                                        <p:tgtEl>
                                          <p:spTgt spid="121"/>
                                        </p:tgtEl>
                                        <p:attrNameLst>
                                          <p:attrName>style.visibility</p:attrName>
                                        </p:attrNameLst>
                                      </p:cBhvr>
                                      <p:to>
                                        <p:strVal val="visible"/>
                                      </p:to>
                                    </p:set>
                                    <p:animEffect transition="in" filter="barn(inVertical)">
                                      <p:cBhvr>
                                        <p:cTn id="62" dur="500"/>
                                        <p:tgtEl>
                                          <p:spTgt spid="121"/>
                                        </p:tgtEl>
                                      </p:cBhvr>
                                    </p:animEffect>
                                  </p:childTnLst>
                                </p:cTn>
                              </p:par>
                              <p:par>
                                <p:cTn id="63" presetID="16" presetClass="entr" presetSubtype="21" fill="hold" nodeType="withEffect">
                                  <p:stCondLst>
                                    <p:cond delay="0"/>
                                  </p:stCondLst>
                                  <p:childTnLst>
                                    <p:set>
                                      <p:cBhvr>
                                        <p:cTn id="64" dur="1" fill="hold">
                                          <p:stCondLst>
                                            <p:cond delay="0"/>
                                          </p:stCondLst>
                                        </p:cTn>
                                        <p:tgtEl>
                                          <p:spTgt spid="98"/>
                                        </p:tgtEl>
                                        <p:attrNameLst>
                                          <p:attrName>style.visibility</p:attrName>
                                        </p:attrNameLst>
                                      </p:cBhvr>
                                      <p:to>
                                        <p:strVal val="visible"/>
                                      </p:to>
                                    </p:set>
                                    <p:animEffect transition="in" filter="barn(inVertical)">
                                      <p:cBhvr>
                                        <p:cTn id="65" dur="500"/>
                                        <p:tgtEl>
                                          <p:spTgt spid="98"/>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124"/>
                                        </p:tgtEl>
                                        <p:attrNameLst>
                                          <p:attrName>style.visibility</p:attrName>
                                        </p:attrNameLst>
                                      </p:cBhvr>
                                      <p:to>
                                        <p:strVal val="visible"/>
                                      </p:to>
                                    </p:set>
                                    <p:animEffect transition="in" filter="barn(inVertical)">
                                      <p:cBhvr>
                                        <p:cTn id="68" dur="500"/>
                                        <p:tgtEl>
                                          <p:spTgt spid="124"/>
                                        </p:tgtEl>
                                      </p:cBhvr>
                                    </p:animEffect>
                                  </p:childTnLst>
                                </p:cTn>
                              </p:par>
                            </p:childTnLst>
                          </p:cTn>
                        </p:par>
                      </p:childTnLst>
                    </p:cTn>
                  </p:par>
                  <p:par>
                    <p:cTn id="69" fill="hold">
                      <p:stCondLst>
                        <p:cond delay="indefinite"/>
                      </p:stCondLst>
                      <p:childTnLst>
                        <p:par>
                          <p:cTn id="70" fill="hold">
                            <p:stCondLst>
                              <p:cond delay="0"/>
                            </p:stCondLst>
                            <p:childTnLst>
                              <p:par>
                                <p:cTn id="71" presetID="16" presetClass="entr" presetSubtype="21" fill="hold" grpId="0" nodeType="click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barn(inVertical)">
                                      <p:cBhvr>
                                        <p:cTn id="73" dur="500"/>
                                        <p:tgtEl>
                                          <p:spTgt spid="26"/>
                                        </p:tgtEl>
                                      </p:cBhvr>
                                    </p:animEffect>
                                  </p:childTnLst>
                                </p:cTn>
                              </p:par>
                              <p:par>
                                <p:cTn id="74" presetID="16" presetClass="entr" presetSubtype="21"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barn(inVertical)">
                                      <p:cBhvr>
                                        <p:cTn id="76" dur="500"/>
                                        <p:tgtEl>
                                          <p:spTgt spid="25"/>
                                        </p:tgtEl>
                                      </p:cBhvr>
                                    </p:animEffect>
                                  </p:childTnLst>
                                </p:cTn>
                              </p:par>
                              <p:par>
                                <p:cTn id="77" presetID="16" presetClass="entr" presetSubtype="21"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barn(inVertical)">
                                      <p:cBhvr>
                                        <p:cTn id="79" dur="500"/>
                                        <p:tgtEl>
                                          <p:spTgt spid="3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117"/>
                                        </p:tgtEl>
                                        <p:attrNameLst>
                                          <p:attrName>style.visibility</p:attrName>
                                        </p:attrNameLst>
                                      </p:cBhvr>
                                      <p:to>
                                        <p:strVal val="visible"/>
                                      </p:to>
                                    </p:set>
                                    <p:animEffect transition="in" filter="wipe(down)">
                                      <p:cBhvr>
                                        <p:cTn id="84" dur="500"/>
                                        <p:tgtEl>
                                          <p:spTgt spid="117"/>
                                        </p:tgtEl>
                                      </p:cBhvr>
                                    </p:animEffect>
                                  </p:childTnLst>
                                </p:cTn>
                              </p:par>
                              <p:par>
                                <p:cTn id="85" presetID="22" presetClass="entr" presetSubtype="4" fill="hold" grpId="0" nodeType="withEffect">
                                  <p:stCondLst>
                                    <p:cond delay="0"/>
                                  </p:stCondLst>
                                  <p:childTnLst>
                                    <p:set>
                                      <p:cBhvr>
                                        <p:cTn id="86" dur="1" fill="hold">
                                          <p:stCondLst>
                                            <p:cond delay="0"/>
                                          </p:stCondLst>
                                        </p:cTn>
                                        <p:tgtEl>
                                          <p:spTgt spid="3"/>
                                        </p:tgtEl>
                                        <p:attrNameLst>
                                          <p:attrName>style.visibility</p:attrName>
                                        </p:attrNameLst>
                                      </p:cBhvr>
                                      <p:to>
                                        <p:strVal val="visible"/>
                                      </p:to>
                                    </p:set>
                                    <p:animEffect transition="in" filter="wipe(down)">
                                      <p:cBhvr>
                                        <p:cTn id="87" dur="500"/>
                                        <p:tgtEl>
                                          <p:spTgt spid="3"/>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65"/>
                                        </p:tgtEl>
                                        <p:attrNameLst>
                                          <p:attrName>style.visibility</p:attrName>
                                        </p:attrNameLst>
                                      </p:cBhvr>
                                      <p:to>
                                        <p:strVal val="visible"/>
                                      </p:to>
                                    </p:set>
                                    <p:animEffect transition="in" filter="wipe(down)">
                                      <p:cBhvr>
                                        <p:cTn id="90" dur="500"/>
                                        <p:tgtEl>
                                          <p:spTgt spid="65"/>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59"/>
                                        </p:tgtEl>
                                        <p:attrNameLst>
                                          <p:attrName>style.visibility</p:attrName>
                                        </p:attrNameLst>
                                      </p:cBhvr>
                                      <p:to>
                                        <p:strVal val="visible"/>
                                      </p:to>
                                    </p:set>
                                    <p:animEffect transition="in" filter="wipe(down)">
                                      <p:cBhvr>
                                        <p:cTn id="93" dur="500"/>
                                        <p:tgtEl>
                                          <p:spTgt spid="59"/>
                                        </p:tgtEl>
                                      </p:cBhvr>
                                    </p:animEffect>
                                  </p:childTnLst>
                                </p:cTn>
                              </p:par>
                              <p:par>
                                <p:cTn id="94" presetID="22" presetClass="entr" presetSubtype="4" fill="hold" grpId="0" nodeType="withEffect">
                                  <p:stCondLst>
                                    <p:cond delay="0"/>
                                  </p:stCondLst>
                                  <p:childTnLst>
                                    <p:set>
                                      <p:cBhvr>
                                        <p:cTn id="95" dur="1" fill="hold">
                                          <p:stCondLst>
                                            <p:cond delay="0"/>
                                          </p:stCondLst>
                                        </p:cTn>
                                        <p:tgtEl>
                                          <p:spTgt spid="18"/>
                                        </p:tgtEl>
                                        <p:attrNameLst>
                                          <p:attrName>style.visibility</p:attrName>
                                        </p:attrNameLst>
                                      </p:cBhvr>
                                      <p:to>
                                        <p:strVal val="visible"/>
                                      </p:to>
                                    </p:set>
                                    <p:animEffect transition="in" filter="wipe(down)">
                                      <p:cBhvr>
                                        <p:cTn id="96" dur="500"/>
                                        <p:tgtEl>
                                          <p:spTgt spid="18"/>
                                        </p:tgtEl>
                                      </p:cBhvr>
                                    </p:animEffect>
                                  </p:childTnLst>
                                </p:cTn>
                              </p:par>
                              <p:par>
                                <p:cTn id="97" presetID="22" presetClass="entr" presetSubtype="4" fill="hold" grpId="0" nodeType="withEffect">
                                  <p:stCondLst>
                                    <p:cond delay="0"/>
                                  </p:stCondLst>
                                  <p:childTnLst>
                                    <p:set>
                                      <p:cBhvr>
                                        <p:cTn id="98" dur="1" fill="hold">
                                          <p:stCondLst>
                                            <p:cond delay="0"/>
                                          </p:stCondLst>
                                        </p:cTn>
                                        <p:tgtEl>
                                          <p:spTgt spid="62"/>
                                        </p:tgtEl>
                                        <p:attrNameLst>
                                          <p:attrName>style.visibility</p:attrName>
                                        </p:attrNameLst>
                                      </p:cBhvr>
                                      <p:to>
                                        <p:strVal val="visible"/>
                                      </p:to>
                                    </p:set>
                                    <p:animEffect transition="in" filter="wipe(down)">
                                      <p:cBhvr>
                                        <p:cTn id="99" dur="500"/>
                                        <p:tgtEl>
                                          <p:spTgt spid="62"/>
                                        </p:tgtEl>
                                      </p:cBhvr>
                                    </p:animEffect>
                                  </p:childTnLst>
                                </p:cTn>
                              </p:par>
                              <p:par>
                                <p:cTn id="100" presetID="22" presetClass="entr" presetSubtype="4" fill="hold" grpId="0" nodeType="withEffect">
                                  <p:stCondLst>
                                    <p:cond delay="0"/>
                                  </p:stCondLst>
                                  <p:childTnLst>
                                    <p:set>
                                      <p:cBhvr>
                                        <p:cTn id="101" dur="1" fill="hold">
                                          <p:stCondLst>
                                            <p:cond delay="0"/>
                                          </p:stCondLst>
                                        </p:cTn>
                                        <p:tgtEl>
                                          <p:spTgt spid="63"/>
                                        </p:tgtEl>
                                        <p:attrNameLst>
                                          <p:attrName>style.visibility</p:attrName>
                                        </p:attrNameLst>
                                      </p:cBhvr>
                                      <p:to>
                                        <p:strVal val="visible"/>
                                      </p:to>
                                    </p:set>
                                    <p:animEffect transition="in" filter="wipe(down)">
                                      <p:cBhvr>
                                        <p:cTn id="102" dur="500"/>
                                        <p:tgtEl>
                                          <p:spTgt spid="63"/>
                                        </p:tgtEl>
                                      </p:cBhvr>
                                    </p:animEffect>
                                  </p:childTnLst>
                                </p:cTn>
                              </p:par>
                              <p:par>
                                <p:cTn id="103" presetID="22" presetClass="entr" presetSubtype="4" fill="hold" grpId="0" nodeType="withEffect">
                                  <p:stCondLst>
                                    <p:cond delay="0"/>
                                  </p:stCondLst>
                                  <p:childTnLst>
                                    <p:set>
                                      <p:cBhvr>
                                        <p:cTn id="104" dur="1" fill="hold">
                                          <p:stCondLst>
                                            <p:cond delay="0"/>
                                          </p:stCondLst>
                                        </p:cTn>
                                        <p:tgtEl>
                                          <p:spTgt spid="64"/>
                                        </p:tgtEl>
                                        <p:attrNameLst>
                                          <p:attrName>style.visibility</p:attrName>
                                        </p:attrNameLst>
                                      </p:cBhvr>
                                      <p:to>
                                        <p:strVal val="visible"/>
                                      </p:to>
                                    </p:set>
                                    <p:animEffect transition="in" filter="wipe(down)">
                                      <p:cBhvr>
                                        <p:cTn id="105" dur="500"/>
                                        <p:tgtEl>
                                          <p:spTgt spid="64"/>
                                        </p:tgtEl>
                                      </p:cBhvr>
                                    </p:animEffect>
                                  </p:childTnLst>
                                </p:cTn>
                              </p:par>
                              <p:par>
                                <p:cTn id="106" presetID="22" presetClass="entr" presetSubtype="4" fill="hold" grpId="0" nodeType="withEffect">
                                  <p:stCondLst>
                                    <p:cond delay="0"/>
                                  </p:stCondLst>
                                  <p:childTnLst>
                                    <p:set>
                                      <p:cBhvr>
                                        <p:cTn id="107" dur="1" fill="hold">
                                          <p:stCondLst>
                                            <p:cond delay="0"/>
                                          </p:stCondLst>
                                        </p:cTn>
                                        <p:tgtEl>
                                          <p:spTgt spid="61"/>
                                        </p:tgtEl>
                                        <p:attrNameLst>
                                          <p:attrName>style.visibility</p:attrName>
                                        </p:attrNameLst>
                                      </p:cBhvr>
                                      <p:to>
                                        <p:strVal val="visible"/>
                                      </p:to>
                                    </p:set>
                                    <p:animEffect transition="in" filter="wipe(down)">
                                      <p:cBhvr>
                                        <p:cTn id="108" dur="500"/>
                                        <p:tgtEl>
                                          <p:spTgt spid="61"/>
                                        </p:tgtEl>
                                      </p:cBhvr>
                                    </p:animEffect>
                                  </p:childTnLst>
                                </p:cTn>
                              </p:par>
                              <p:par>
                                <p:cTn id="109" presetID="22" presetClass="entr" presetSubtype="4" fill="hold" grpId="0" nodeType="withEffect">
                                  <p:stCondLst>
                                    <p:cond delay="0"/>
                                  </p:stCondLst>
                                  <p:childTnLst>
                                    <p:set>
                                      <p:cBhvr>
                                        <p:cTn id="110" dur="1" fill="hold">
                                          <p:stCondLst>
                                            <p:cond delay="0"/>
                                          </p:stCondLst>
                                        </p:cTn>
                                        <p:tgtEl>
                                          <p:spTgt spid="60"/>
                                        </p:tgtEl>
                                        <p:attrNameLst>
                                          <p:attrName>style.visibility</p:attrName>
                                        </p:attrNameLst>
                                      </p:cBhvr>
                                      <p:to>
                                        <p:strVal val="visible"/>
                                      </p:to>
                                    </p:set>
                                    <p:animEffect transition="in" filter="wipe(down)">
                                      <p:cBhvr>
                                        <p:cTn id="111" dur="500"/>
                                        <p:tgtEl>
                                          <p:spTgt spid="60"/>
                                        </p:tgtEl>
                                      </p:cBhvr>
                                    </p:animEffect>
                                  </p:childTnLst>
                                </p:cTn>
                              </p:par>
                              <p:par>
                                <p:cTn id="112" presetID="22" presetClass="entr" presetSubtype="4" fill="hold" grpId="0" nodeType="withEffect">
                                  <p:stCondLst>
                                    <p:cond delay="0"/>
                                  </p:stCondLst>
                                  <p:childTnLst>
                                    <p:set>
                                      <p:cBhvr>
                                        <p:cTn id="113" dur="1" fill="hold">
                                          <p:stCondLst>
                                            <p:cond delay="0"/>
                                          </p:stCondLst>
                                        </p:cTn>
                                        <p:tgtEl>
                                          <p:spTgt spid="56"/>
                                        </p:tgtEl>
                                        <p:attrNameLst>
                                          <p:attrName>style.visibility</p:attrName>
                                        </p:attrNameLst>
                                      </p:cBhvr>
                                      <p:to>
                                        <p:strVal val="visible"/>
                                      </p:to>
                                    </p:set>
                                    <p:animEffect transition="in" filter="wipe(down)">
                                      <p:cBhvr>
                                        <p:cTn id="114" dur="500"/>
                                        <p:tgtEl>
                                          <p:spTgt spid="56"/>
                                        </p:tgtEl>
                                      </p:cBhvr>
                                    </p:animEffect>
                                  </p:childTnLst>
                                </p:cTn>
                              </p:par>
                              <p:par>
                                <p:cTn id="115" presetID="22" presetClass="entr" presetSubtype="4" fill="hold" grpId="0" nodeType="withEffect">
                                  <p:stCondLst>
                                    <p:cond delay="0"/>
                                  </p:stCondLst>
                                  <p:childTnLst>
                                    <p:set>
                                      <p:cBhvr>
                                        <p:cTn id="116" dur="1" fill="hold">
                                          <p:stCondLst>
                                            <p:cond delay="0"/>
                                          </p:stCondLst>
                                        </p:cTn>
                                        <p:tgtEl>
                                          <p:spTgt spid="50"/>
                                        </p:tgtEl>
                                        <p:attrNameLst>
                                          <p:attrName>style.visibility</p:attrName>
                                        </p:attrNameLst>
                                      </p:cBhvr>
                                      <p:to>
                                        <p:strVal val="visible"/>
                                      </p:to>
                                    </p:set>
                                    <p:animEffect transition="in" filter="wipe(down)">
                                      <p:cBhvr>
                                        <p:cTn id="117" dur="500"/>
                                        <p:tgtEl>
                                          <p:spTgt spid="50"/>
                                        </p:tgtEl>
                                      </p:cBhvr>
                                    </p:animEffect>
                                  </p:childTnLst>
                                </p:cTn>
                              </p:par>
                              <p:par>
                                <p:cTn id="118" presetID="22" presetClass="entr" presetSubtype="4" fill="hold" grpId="0" nodeType="withEffect">
                                  <p:stCondLst>
                                    <p:cond delay="0"/>
                                  </p:stCondLst>
                                  <p:childTnLst>
                                    <p:set>
                                      <p:cBhvr>
                                        <p:cTn id="119" dur="1" fill="hold">
                                          <p:stCondLst>
                                            <p:cond delay="0"/>
                                          </p:stCondLst>
                                        </p:cTn>
                                        <p:tgtEl>
                                          <p:spTgt spid="51"/>
                                        </p:tgtEl>
                                        <p:attrNameLst>
                                          <p:attrName>style.visibility</p:attrName>
                                        </p:attrNameLst>
                                      </p:cBhvr>
                                      <p:to>
                                        <p:strVal val="visible"/>
                                      </p:to>
                                    </p:set>
                                    <p:animEffect transition="in" filter="wipe(down)">
                                      <p:cBhvr>
                                        <p:cTn id="120" dur="500"/>
                                        <p:tgtEl>
                                          <p:spTgt spid="51"/>
                                        </p:tgtEl>
                                      </p:cBhvr>
                                    </p:animEffect>
                                  </p:childTnLst>
                                </p:cTn>
                              </p:par>
                              <p:par>
                                <p:cTn id="121" presetID="22" presetClass="entr" presetSubtype="4" fill="hold" grpId="0" nodeType="withEffect">
                                  <p:stCondLst>
                                    <p:cond delay="0"/>
                                  </p:stCondLst>
                                  <p:childTnLst>
                                    <p:set>
                                      <p:cBhvr>
                                        <p:cTn id="122" dur="1" fill="hold">
                                          <p:stCondLst>
                                            <p:cond delay="0"/>
                                          </p:stCondLst>
                                        </p:cTn>
                                        <p:tgtEl>
                                          <p:spTgt spid="52"/>
                                        </p:tgtEl>
                                        <p:attrNameLst>
                                          <p:attrName>style.visibility</p:attrName>
                                        </p:attrNameLst>
                                      </p:cBhvr>
                                      <p:to>
                                        <p:strVal val="visible"/>
                                      </p:to>
                                    </p:set>
                                    <p:animEffect transition="in" filter="wipe(down)">
                                      <p:cBhvr>
                                        <p:cTn id="123" dur="500"/>
                                        <p:tgtEl>
                                          <p:spTgt spid="52"/>
                                        </p:tgtEl>
                                      </p:cBhvr>
                                    </p:animEffect>
                                  </p:childTnLst>
                                </p:cTn>
                              </p:par>
                              <p:par>
                                <p:cTn id="124" presetID="22" presetClass="entr" presetSubtype="4" fill="hold" grpId="0" nodeType="withEffect">
                                  <p:stCondLst>
                                    <p:cond delay="0"/>
                                  </p:stCondLst>
                                  <p:childTnLst>
                                    <p:set>
                                      <p:cBhvr>
                                        <p:cTn id="125" dur="1" fill="hold">
                                          <p:stCondLst>
                                            <p:cond delay="0"/>
                                          </p:stCondLst>
                                        </p:cTn>
                                        <p:tgtEl>
                                          <p:spTgt spid="53"/>
                                        </p:tgtEl>
                                        <p:attrNameLst>
                                          <p:attrName>style.visibility</p:attrName>
                                        </p:attrNameLst>
                                      </p:cBhvr>
                                      <p:to>
                                        <p:strVal val="visible"/>
                                      </p:to>
                                    </p:set>
                                    <p:animEffect transition="in" filter="wipe(down)">
                                      <p:cBhvr>
                                        <p:cTn id="126" dur="500"/>
                                        <p:tgtEl>
                                          <p:spTgt spid="53"/>
                                        </p:tgtEl>
                                      </p:cBhvr>
                                    </p:animEffect>
                                  </p:childTnLst>
                                </p:cTn>
                              </p:par>
                              <p:par>
                                <p:cTn id="127" presetID="22" presetClass="entr" presetSubtype="4" fill="hold" grpId="0" nodeType="withEffect">
                                  <p:stCondLst>
                                    <p:cond delay="0"/>
                                  </p:stCondLst>
                                  <p:childTnLst>
                                    <p:set>
                                      <p:cBhvr>
                                        <p:cTn id="128" dur="1" fill="hold">
                                          <p:stCondLst>
                                            <p:cond delay="0"/>
                                          </p:stCondLst>
                                        </p:cTn>
                                        <p:tgtEl>
                                          <p:spTgt spid="54"/>
                                        </p:tgtEl>
                                        <p:attrNameLst>
                                          <p:attrName>style.visibility</p:attrName>
                                        </p:attrNameLst>
                                      </p:cBhvr>
                                      <p:to>
                                        <p:strVal val="visible"/>
                                      </p:to>
                                    </p:set>
                                    <p:animEffect transition="in" filter="wipe(down)">
                                      <p:cBhvr>
                                        <p:cTn id="129" dur="500"/>
                                        <p:tgtEl>
                                          <p:spTgt spid="54"/>
                                        </p:tgtEl>
                                      </p:cBhvr>
                                    </p:animEffect>
                                  </p:childTnLst>
                                </p:cTn>
                              </p:par>
                              <p:par>
                                <p:cTn id="130" presetID="22" presetClass="entr" presetSubtype="4" fill="hold" grpId="0" nodeType="withEffect">
                                  <p:stCondLst>
                                    <p:cond delay="0"/>
                                  </p:stCondLst>
                                  <p:childTnLst>
                                    <p:set>
                                      <p:cBhvr>
                                        <p:cTn id="131" dur="1" fill="hold">
                                          <p:stCondLst>
                                            <p:cond delay="0"/>
                                          </p:stCondLst>
                                        </p:cTn>
                                        <p:tgtEl>
                                          <p:spTgt spid="96"/>
                                        </p:tgtEl>
                                        <p:attrNameLst>
                                          <p:attrName>style.visibility</p:attrName>
                                        </p:attrNameLst>
                                      </p:cBhvr>
                                      <p:to>
                                        <p:strVal val="visible"/>
                                      </p:to>
                                    </p:set>
                                    <p:animEffect transition="in" filter="wipe(down)">
                                      <p:cBhvr>
                                        <p:cTn id="132" dur="500"/>
                                        <p:tgtEl>
                                          <p:spTgt spid="96"/>
                                        </p:tgtEl>
                                      </p:cBhvr>
                                    </p:animEffect>
                                  </p:childTnLst>
                                </p:cTn>
                              </p:par>
                            </p:childTnLst>
                          </p:cTn>
                        </p:par>
                      </p:childTnLst>
                    </p:cTn>
                  </p:par>
                  <p:par>
                    <p:cTn id="133" fill="hold">
                      <p:stCondLst>
                        <p:cond delay="indefinite"/>
                      </p:stCondLst>
                      <p:childTnLst>
                        <p:par>
                          <p:cTn id="134" fill="hold">
                            <p:stCondLst>
                              <p:cond delay="0"/>
                            </p:stCondLst>
                            <p:childTnLst>
                              <p:par>
                                <p:cTn id="135" presetID="53" presetClass="entr" presetSubtype="16" fill="hold" grpId="0" nodeType="clickEffect">
                                  <p:stCondLst>
                                    <p:cond delay="0"/>
                                  </p:stCondLst>
                                  <p:childTnLst>
                                    <p:set>
                                      <p:cBhvr>
                                        <p:cTn id="136" dur="1" fill="hold">
                                          <p:stCondLst>
                                            <p:cond delay="0"/>
                                          </p:stCondLst>
                                        </p:cTn>
                                        <p:tgtEl>
                                          <p:spTgt spid="29"/>
                                        </p:tgtEl>
                                        <p:attrNameLst>
                                          <p:attrName>style.visibility</p:attrName>
                                        </p:attrNameLst>
                                      </p:cBhvr>
                                      <p:to>
                                        <p:strVal val="visible"/>
                                      </p:to>
                                    </p:set>
                                    <p:anim calcmode="lin" valueType="num">
                                      <p:cBhvr>
                                        <p:cTn id="137" dur="500" fill="hold"/>
                                        <p:tgtEl>
                                          <p:spTgt spid="29"/>
                                        </p:tgtEl>
                                        <p:attrNameLst>
                                          <p:attrName>ppt_w</p:attrName>
                                        </p:attrNameLst>
                                      </p:cBhvr>
                                      <p:tavLst>
                                        <p:tav tm="0">
                                          <p:val>
                                            <p:fltVal val="0"/>
                                          </p:val>
                                        </p:tav>
                                        <p:tav tm="100000">
                                          <p:val>
                                            <p:strVal val="#ppt_w"/>
                                          </p:val>
                                        </p:tav>
                                      </p:tavLst>
                                    </p:anim>
                                    <p:anim calcmode="lin" valueType="num">
                                      <p:cBhvr>
                                        <p:cTn id="138" dur="500" fill="hold"/>
                                        <p:tgtEl>
                                          <p:spTgt spid="29"/>
                                        </p:tgtEl>
                                        <p:attrNameLst>
                                          <p:attrName>ppt_h</p:attrName>
                                        </p:attrNameLst>
                                      </p:cBhvr>
                                      <p:tavLst>
                                        <p:tav tm="0">
                                          <p:val>
                                            <p:fltVal val="0"/>
                                          </p:val>
                                        </p:tav>
                                        <p:tav tm="100000">
                                          <p:val>
                                            <p:strVal val="#ppt_h"/>
                                          </p:val>
                                        </p:tav>
                                      </p:tavLst>
                                    </p:anim>
                                    <p:animEffect transition="in" filter="fade">
                                      <p:cBhvr>
                                        <p:cTn id="139" dur="500"/>
                                        <p:tgtEl>
                                          <p:spTgt spid="29"/>
                                        </p:tgtEl>
                                      </p:cBhvr>
                                    </p:animEffect>
                                  </p:childTnLst>
                                </p:cTn>
                              </p:par>
                              <p:par>
                                <p:cTn id="140" presetID="53" presetClass="entr" presetSubtype="16" fill="hold" grpId="0" nodeType="withEffect">
                                  <p:stCondLst>
                                    <p:cond delay="0"/>
                                  </p:stCondLst>
                                  <p:childTnLst>
                                    <p:set>
                                      <p:cBhvr>
                                        <p:cTn id="141" dur="1" fill="hold">
                                          <p:stCondLst>
                                            <p:cond delay="0"/>
                                          </p:stCondLst>
                                        </p:cTn>
                                        <p:tgtEl>
                                          <p:spTgt spid="66"/>
                                        </p:tgtEl>
                                        <p:attrNameLst>
                                          <p:attrName>style.visibility</p:attrName>
                                        </p:attrNameLst>
                                      </p:cBhvr>
                                      <p:to>
                                        <p:strVal val="visible"/>
                                      </p:to>
                                    </p:set>
                                    <p:anim calcmode="lin" valueType="num">
                                      <p:cBhvr>
                                        <p:cTn id="142" dur="500" fill="hold"/>
                                        <p:tgtEl>
                                          <p:spTgt spid="66"/>
                                        </p:tgtEl>
                                        <p:attrNameLst>
                                          <p:attrName>ppt_w</p:attrName>
                                        </p:attrNameLst>
                                      </p:cBhvr>
                                      <p:tavLst>
                                        <p:tav tm="0">
                                          <p:val>
                                            <p:fltVal val="0"/>
                                          </p:val>
                                        </p:tav>
                                        <p:tav tm="100000">
                                          <p:val>
                                            <p:strVal val="#ppt_w"/>
                                          </p:val>
                                        </p:tav>
                                      </p:tavLst>
                                    </p:anim>
                                    <p:anim calcmode="lin" valueType="num">
                                      <p:cBhvr>
                                        <p:cTn id="143" dur="500" fill="hold"/>
                                        <p:tgtEl>
                                          <p:spTgt spid="66"/>
                                        </p:tgtEl>
                                        <p:attrNameLst>
                                          <p:attrName>ppt_h</p:attrName>
                                        </p:attrNameLst>
                                      </p:cBhvr>
                                      <p:tavLst>
                                        <p:tav tm="0">
                                          <p:val>
                                            <p:fltVal val="0"/>
                                          </p:val>
                                        </p:tav>
                                        <p:tav tm="100000">
                                          <p:val>
                                            <p:strVal val="#ppt_h"/>
                                          </p:val>
                                        </p:tav>
                                      </p:tavLst>
                                    </p:anim>
                                    <p:animEffect transition="in" filter="fade">
                                      <p:cBhvr>
                                        <p:cTn id="144" dur="500"/>
                                        <p:tgtEl>
                                          <p:spTgt spid="66"/>
                                        </p:tgtEl>
                                      </p:cBhvr>
                                    </p:animEffect>
                                  </p:childTnLst>
                                </p:cTn>
                              </p:par>
                              <p:par>
                                <p:cTn id="145" presetID="53" presetClass="entr" presetSubtype="16" fill="hold" grpId="0" nodeType="withEffect">
                                  <p:stCondLst>
                                    <p:cond delay="0"/>
                                  </p:stCondLst>
                                  <p:childTnLst>
                                    <p:set>
                                      <p:cBhvr>
                                        <p:cTn id="146" dur="1" fill="hold">
                                          <p:stCondLst>
                                            <p:cond delay="0"/>
                                          </p:stCondLst>
                                        </p:cTn>
                                        <p:tgtEl>
                                          <p:spTgt spid="91"/>
                                        </p:tgtEl>
                                        <p:attrNameLst>
                                          <p:attrName>style.visibility</p:attrName>
                                        </p:attrNameLst>
                                      </p:cBhvr>
                                      <p:to>
                                        <p:strVal val="visible"/>
                                      </p:to>
                                    </p:set>
                                    <p:anim calcmode="lin" valueType="num">
                                      <p:cBhvr>
                                        <p:cTn id="147" dur="500" fill="hold"/>
                                        <p:tgtEl>
                                          <p:spTgt spid="91"/>
                                        </p:tgtEl>
                                        <p:attrNameLst>
                                          <p:attrName>ppt_w</p:attrName>
                                        </p:attrNameLst>
                                      </p:cBhvr>
                                      <p:tavLst>
                                        <p:tav tm="0">
                                          <p:val>
                                            <p:fltVal val="0"/>
                                          </p:val>
                                        </p:tav>
                                        <p:tav tm="100000">
                                          <p:val>
                                            <p:strVal val="#ppt_w"/>
                                          </p:val>
                                        </p:tav>
                                      </p:tavLst>
                                    </p:anim>
                                    <p:anim calcmode="lin" valueType="num">
                                      <p:cBhvr>
                                        <p:cTn id="148" dur="500" fill="hold"/>
                                        <p:tgtEl>
                                          <p:spTgt spid="91"/>
                                        </p:tgtEl>
                                        <p:attrNameLst>
                                          <p:attrName>ppt_h</p:attrName>
                                        </p:attrNameLst>
                                      </p:cBhvr>
                                      <p:tavLst>
                                        <p:tav tm="0">
                                          <p:val>
                                            <p:fltVal val="0"/>
                                          </p:val>
                                        </p:tav>
                                        <p:tav tm="100000">
                                          <p:val>
                                            <p:strVal val="#ppt_h"/>
                                          </p:val>
                                        </p:tav>
                                      </p:tavLst>
                                    </p:anim>
                                    <p:animEffect transition="in" filter="fade">
                                      <p:cBhvr>
                                        <p:cTn id="149" dur="500"/>
                                        <p:tgtEl>
                                          <p:spTgt spid="91"/>
                                        </p:tgtEl>
                                      </p:cBhvr>
                                    </p:animEffect>
                                  </p:childTnLst>
                                </p:cTn>
                              </p:par>
                              <p:par>
                                <p:cTn id="150" presetID="53" presetClass="entr" presetSubtype="16" fill="hold" grpId="0" nodeType="withEffect">
                                  <p:stCondLst>
                                    <p:cond delay="0"/>
                                  </p:stCondLst>
                                  <p:childTnLst>
                                    <p:set>
                                      <p:cBhvr>
                                        <p:cTn id="151" dur="1" fill="hold">
                                          <p:stCondLst>
                                            <p:cond delay="0"/>
                                          </p:stCondLst>
                                        </p:cTn>
                                        <p:tgtEl>
                                          <p:spTgt spid="86"/>
                                        </p:tgtEl>
                                        <p:attrNameLst>
                                          <p:attrName>style.visibility</p:attrName>
                                        </p:attrNameLst>
                                      </p:cBhvr>
                                      <p:to>
                                        <p:strVal val="visible"/>
                                      </p:to>
                                    </p:set>
                                    <p:anim calcmode="lin" valueType="num">
                                      <p:cBhvr>
                                        <p:cTn id="152" dur="500" fill="hold"/>
                                        <p:tgtEl>
                                          <p:spTgt spid="86"/>
                                        </p:tgtEl>
                                        <p:attrNameLst>
                                          <p:attrName>ppt_w</p:attrName>
                                        </p:attrNameLst>
                                      </p:cBhvr>
                                      <p:tavLst>
                                        <p:tav tm="0">
                                          <p:val>
                                            <p:fltVal val="0"/>
                                          </p:val>
                                        </p:tav>
                                        <p:tav tm="100000">
                                          <p:val>
                                            <p:strVal val="#ppt_w"/>
                                          </p:val>
                                        </p:tav>
                                      </p:tavLst>
                                    </p:anim>
                                    <p:anim calcmode="lin" valueType="num">
                                      <p:cBhvr>
                                        <p:cTn id="153" dur="500" fill="hold"/>
                                        <p:tgtEl>
                                          <p:spTgt spid="86"/>
                                        </p:tgtEl>
                                        <p:attrNameLst>
                                          <p:attrName>ppt_h</p:attrName>
                                        </p:attrNameLst>
                                      </p:cBhvr>
                                      <p:tavLst>
                                        <p:tav tm="0">
                                          <p:val>
                                            <p:fltVal val="0"/>
                                          </p:val>
                                        </p:tav>
                                        <p:tav tm="100000">
                                          <p:val>
                                            <p:strVal val="#ppt_h"/>
                                          </p:val>
                                        </p:tav>
                                      </p:tavLst>
                                    </p:anim>
                                    <p:animEffect transition="in" filter="fade">
                                      <p:cBhvr>
                                        <p:cTn id="154" dur="500"/>
                                        <p:tgtEl>
                                          <p:spTgt spid="86"/>
                                        </p:tgtEl>
                                      </p:cBhvr>
                                    </p:animEffect>
                                  </p:childTnLst>
                                </p:cTn>
                              </p:par>
                              <p:par>
                                <p:cTn id="155" presetID="53" presetClass="entr" presetSubtype="16" fill="hold" grpId="0" nodeType="withEffect">
                                  <p:stCondLst>
                                    <p:cond delay="0"/>
                                  </p:stCondLst>
                                  <p:childTnLst>
                                    <p:set>
                                      <p:cBhvr>
                                        <p:cTn id="156" dur="1" fill="hold">
                                          <p:stCondLst>
                                            <p:cond delay="0"/>
                                          </p:stCondLst>
                                        </p:cTn>
                                        <p:tgtEl>
                                          <p:spTgt spid="81"/>
                                        </p:tgtEl>
                                        <p:attrNameLst>
                                          <p:attrName>style.visibility</p:attrName>
                                        </p:attrNameLst>
                                      </p:cBhvr>
                                      <p:to>
                                        <p:strVal val="visible"/>
                                      </p:to>
                                    </p:set>
                                    <p:anim calcmode="lin" valueType="num">
                                      <p:cBhvr>
                                        <p:cTn id="157" dur="500" fill="hold"/>
                                        <p:tgtEl>
                                          <p:spTgt spid="81"/>
                                        </p:tgtEl>
                                        <p:attrNameLst>
                                          <p:attrName>ppt_w</p:attrName>
                                        </p:attrNameLst>
                                      </p:cBhvr>
                                      <p:tavLst>
                                        <p:tav tm="0">
                                          <p:val>
                                            <p:fltVal val="0"/>
                                          </p:val>
                                        </p:tav>
                                        <p:tav tm="100000">
                                          <p:val>
                                            <p:strVal val="#ppt_w"/>
                                          </p:val>
                                        </p:tav>
                                      </p:tavLst>
                                    </p:anim>
                                    <p:anim calcmode="lin" valueType="num">
                                      <p:cBhvr>
                                        <p:cTn id="158" dur="500" fill="hold"/>
                                        <p:tgtEl>
                                          <p:spTgt spid="81"/>
                                        </p:tgtEl>
                                        <p:attrNameLst>
                                          <p:attrName>ppt_h</p:attrName>
                                        </p:attrNameLst>
                                      </p:cBhvr>
                                      <p:tavLst>
                                        <p:tav tm="0">
                                          <p:val>
                                            <p:fltVal val="0"/>
                                          </p:val>
                                        </p:tav>
                                        <p:tav tm="100000">
                                          <p:val>
                                            <p:strVal val="#ppt_h"/>
                                          </p:val>
                                        </p:tav>
                                      </p:tavLst>
                                    </p:anim>
                                    <p:animEffect transition="in" filter="fade">
                                      <p:cBhvr>
                                        <p:cTn id="159" dur="500"/>
                                        <p:tgtEl>
                                          <p:spTgt spid="81"/>
                                        </p:tgtEl>
                                      </p:cBhvr>
                                    </p:animEffect>
                                  </p:childTnLst>
                                </p:cTn>
                              </p:par>
                              <p:par>
                                <p:cTn id="160" presetID="53" presetClass="entr" presetSubtype="16" fill="hold" grpId="0" nodeType="withEffect">
                                  <p:stCondLst>
                                    <p:cond delay="0"/>
                                  </p:stCondLst>
                                  <p:childTnLst>
                                    <p:set>
                                      <p:cBhvr>
                                        <p:cTn id="161" dur="1" fill="hold">
                                          <p:stCondLst>
                                            <p:cond delay="0"/>
                                          </p:stCondLst>
                                        </p:cTn>
                                        <p:tgtEl>
                                          <p:spTgt spid="68"/>
                                        </p:tgtEl>
                                        <p:attrNameLst>
                                          <p:attrName>style.visibility</p:attrName>
                                        </p:attrNameLst>
                                      </p:cBhvr>
                                      <p:to>
                                        <p:strVal val="visible"/>
                                      </p:to>
                                    </p:set>
                                    <p:anim calcmode="lin" valueType="num">
                                      <p:cBhvr>
                                        <p:cTn id="162" dur="500" fill="hold"/>
                                        <p:tgtEl>
                                          <p:spTgt spid="68"/>
                                        </p:tgtEl>
                                        <p:attrNameLst>
                                          <p:attrName>ppt_w</p:attrName>
                                        </p:attrNameLst>
                                      </p:cBhvr>
                                      <p:tavLst>
                                        <p:tav tm="0">
                                          <p:val>
                                            <p:fltVal val="0"/>
                                          </p:val>
                                        </p:tav>
                                        <p:tav tm="100000">
                                          <p:val>
                                            <p:strVal val="#ppt_w"/>
                                          </p:val>
                                        </p:tav>
                                      </p:tavLst>
                                    </p:anim>
                                    <p:anim calcmode="lin" valueType="num">
                                      <p:cBhvr>
                                        <p:cTn id="163" dur="500" fill="hold"/>
                                        <p:tgtEl>
                                          <p:spTgt spid="68"/>
                                        </p:tgtEl>
                                        <p:attrNameLst>
                                          <p:attrName>ppt_h</p:attrName>
                                        </p:attrNameLst>
                                      </p:cBhvr>
                                      <p:tavLst>
                                        <p:tav tm="0">
                                          <p:val>
                                            <p:fltVal val="0"/>
                                          </p:val>
                                        </p:tav>
                                        <p:tav tm="100000">
                                          <p:val>
                                            <p:strVal val="#ppt_h"/>
                                          </p:val>
                                        </p:tav>
                                      </p:tavLst>
                                    </p:anim>
                                    <p:animEffect transition="in" filter="fade">
                                      <p:cBhvr>
                                        <p:cTn id="164" dur="500"/>
                                        <p:tgtEl>
                                          <p:spTgt spid="68"/>
                                        </p:tgtEl>
                                      </p:cBhvr>
                                    </p:animEffect>
                                  </p:childTnLst>
                                </p:cTn>
                              </p:par>
                              <p:par>
                                <p:cTn id="165" presetID="53" presetClass="entr" presetSubtype="16" fill="hold" grpId="0" nodeType="withEffect">
                                  <p:stCondLst>
                                    <p:cond delay="0"/>
                                  </p:stCondLst>
                                  <p:childTnLst>
                                    <p:set>
                                      <p:cBhvr>
                                        <p:cTn id="166" dur="1" fill="hold">
                                          <p:stCondLst>
                                            <p:cond delay="0"/>
                                          </p:stCondLst>
                                        </p:cTn>
                                        <p:tgtEl>
                                          <p:spTgt spid="69"/>
                                        </p:tgtEl>
                                        <p:attrNameLst>
                                          <p:attrName>style.visibility</p:attrName>
                                        </p:attrNameLst>
                                      </p:cBhvr>
                                      <p:to>
                                        <p:strVal val="visible"/>
                                      </p:to>
                                    </p:set>
                                    <p:anim calcmode="lin" valueType="num">
                                      <p:cBhvr>
                                        <p:cTn id="167" dur="500" fill="hold"/>
                                        <p:tgtEl>
                                          <p:spTgt spid="69"/>
                                        </p:tgtEl>
                                        <p:attrNameLst>
                                          <p:attrName>ppt_w</p:attrName>
                                        </p:attrNameLst>
                                      </p:cBhvr>
                                      <p:tavLst>
                                        <p:tav tm="0">
                                          <p:val>
                                            <p:fltVal val="0"/>
                                          </p:val>
                                        </p:tav>
                                        <p:tav tm="100000">
                                          <p:val>
                                            <p:strVal val="#ppt_w"/>
                                          </p:val>
                                        </p:tav>
                                      </p:tavLst>
                                    </p:anim>
                                    <p:anim calcmode="lin" valueType="num">
                                      <p:cBhvr>
                                        <p:cTn id="168" dur="500" fill="hold"/>
                                        <p:tgtEl>
                                          <p:spTgt spid="69"/>
                                        </p:tgtEl>
                                        <p:attrNameLst>
                                          <p:attrName>ppt_h</p:attrName>
                                        </p:attrNameLst>
                                      </p:cBhvr>
                                      <p:tavLst>
                                        <p:tav tm="0">
                                          <p:val>
                                            <p:fltVal val="0"/>
                                          </p:val>
                                        </p:tav>
                                        <p:tav tm="100000">
                                          <p:val>
                                            <p:strVal val="#ppt_h"/>
                                          </p:val>
                                        </p:tav>
                                      </p:tavLst>
                                    </p:anim>
                                    <p:animEffect transition="in" filter="fade">
                                      <p:cBhvr>
                                        <p:cTn id="169" dur="500"/>
                                        <p:tgtEl>
                                          <p:spTgt spid="69"/>
                                        </p:tgtEl>
                                      </p:cBhvr>
                                    </p:animEffect>
                                  </p:childTnLst>
                                </p:cTn>
                              </p:par>
                              <p:par>
                                <p:cTn id="170" presetID="53" presetClass="entr" presetSubtype="16" fill="hold" grpId="0" nodeType="withEffect">
                                  <p:stCondLst>
                                    <p:cond delay="0"/>
                                  </p:stCondLst>
                                  <p:childTnLst>
                                    <p:set>
                                      <p:cBhvr>
                                        <p:cTn id="171" dur="1" fill="hold">
                                          <p:stCondLst>
                                            <p:cond delay="0"/>
                                          </p:stCondLst>
                                        </p:cTn>
                                        <p:tgtEl>
                                          <p:spTgt spid="82"/>
                                        </p:tgtEl>
                                        <p:attrNameLst>
                                          <p:attrName>style.visibility</p:attrName>
                                        </p:attrNameLst>
                                      </p:cBhvr>
                                      <p:to>
                                        <p:strVal val="visible"/>
                                      </p:to>
                                    </p:set>
                                    <p:anim calcmode="lin" valueType="num">
                                      <p:cBhvr>
                                        <p:cTn id="172" dur="500" fill="hold"/>
                                        <p:tgtEl>
                                          <p:spTgt spid="82"/>
                                        </p:tgtEl>
                                        <p:attrNameLst>
                                          <p:attrName>ppt_w</p:attrName>
                                        </p:attrNameLst>
                                      </p:cBhvr>
                                      <p:tavLst>
                                        <p:tav tm="0">
                                          <p:val>
                                            <p:fltVal val="0"/>
                                          </p:val>
                                        </p:tav>
                                        <p:tav tm="100000">
                                          <p:val>
                                            <p:strVal val="#ppt_w"/>
                                          </p:val>
                                        </p:tav>
                                      </p:tavLst>
                                    </p:anim>
                                    <p:anim calcmode="lin" valueType="num">
                                      <p:cBhvr>
                                        <p:cTn id="173" dur="500" fill="hold"/>
                                        <p:tgtEl>
                                          <p:spTgt spid="82"/>
                                        </p:tgtEl>
                                        <p:attrNameLst>
                                          <p:attrName>ppt_h</p:attrName>
                                        </p:attrNameLst>
                                      </p:cBhvr>
                                      <p:tavLst>
                                        <p:tav tm="0">
                                          <p:val>
                                            <p:fltVal val="0"/>
                                          </p:val>
                                        </p:tav>
                                        <p:tav tm="100000">
                                          <p:val>
                                            <p:strVal val="#ppt_h"/>
                                          </p:val>
                                        </p:tav>
                                      </p:tavLst>
                                    </p:anim>
                                    <p:animEffect transition="in" filter="fade">
                                      <p:cBhvr>
                                        <p:cTn id="174" dur="500"/>
                                        <p:tgtEl>
                                          <p:spTgt spid="82"/>
                                        </p:tgtEl>
                                      </p:cBhvr>
                                    </p:animEffect>
                                  </p:childTnLst>
                                </p:cTn>
                              </p:par>
                              <p:par>
                                <p:cTn id="175" presetID="53" presetClass="entr" presetSubtype="16" fill="hold" grpId="0" nodeType="withEffect">
                                  <p:stCondLst>
                                    <p:cond delay="0"/>
                                  </p:stCondLst>
                                  <p:childTnLst>
                                    <p:set>
                                      <p:cBhvr>
                                        <p:cTn id="176" dur="1" fill="hold">
                                          <p:stCondLst>
                                            <p:cond delay="0"/>
                                          </p:stCondLst>
                                        </p:cTn>
                                        <p:tgtEl>
                                          <p:spTgt spid="87"/>
                                        </p:tgtEl>
                                        <p:attrNameLst>
                                          <p:attrName>style.visibility</p:attrName>
                                        </p:attrNameLst>
                                      </p:cBhvr>
                                      <p:to>
                                        <p:strVal val="visible"/>
                                      </p:to>
                                    </p:set>
                                    <p:anim calcmode="lin" valueType="num">
                                      <p:cBhvr>
                                        <p:cTn id="177" dur="500" fill="hold"/>
                                        <p:tgtEl>
                                          <p:spTgt spid="87"/>
                                        </p:tgtEl>
                                        <p:attrNameLst>
                                          <p:attrName>ppt_w</p:attrName>
                                        </p:attrNameLst>
                                      </p:cBhvr>
                                      <p:tavLst>
                                        <p:tav tm="0">
                                          <p:val>
                                            <p:fltVal val="0"/>
                                          </p:val>
                                        </p:tav>
                                        <p:tav tm="100000">
                                          <p:val>
                                            <p:strVal val="#ppt_w"/>
                                          </p:val>
                                        </p:tav>
                                      </p:tavLst>
                                    </p:anim>
                                    <p:anim calcmode="lin" valueType="num">
                                      <p:cBhvr>
                                        <p:cTn id="178" dur="500" fill="hold"/>
                                        <p:tgtEl>
                                          <p:spTgt spid="87"/>
                                        </p:tgtEl>
                                        <p:attrNameLst>
                                          <p:attrName>ppt_h</p:attrName>
                                        </p:attrNameLst>
                                      </p:cBhvr>
                                      <p:tavLst>
                                        <p:tav tm="0">
                                          <p:val>
                                            <p:fltVal val="0"/>
                                          </p:val>
                                        </p:tav>
                                        <p:tav tm="100000">
                                          <p:val>
                                            <p:strVal val="#ppt_h"/>
                                          </p:val>
                                        </p:tav>
                                      </p:tavLst>
                                    </p:anim>
                                    <p:animEffect transition="in" filter="fade">
                                      <p:cBhvr>
                                        <p:cTn id="179" dur="500"/>
                                        <p:tgtEl>
                                          <p:spTgt spid="87"/>
                                        </p:tgtEl>
                                      </p:cBhvr>
                                    </p:animEffect>
                                  </p:childTnLst>
                                </p:cTn>
                              </p:par>
                              <p:par>
                                <p:cTn id="180" presetID="53" presetClass="entr" presetSubtype="16" fill="hold" grpId="0" nodeType="withEffect">
                                  <p:stCondLst>
                                    <p:cond delay="0"/>
                                  </p:stCondLst>
                                  <p:childTnLst>
                                    <p:set>
                                      <p:cBhvr>
                                        <p:cTn id="181" dur="1" fill="hold">
                                          <p:stCondLst>
                                            <p:cond delay="0"/>
                                          </p:stCondLst>
                                        </p:cTn>
                                        <p:tgtEl>
                                          <p:spTgt spid="92"/>
                                        </p:tgtEl>
                                        <p:attrNameLst>
                                          <p:attrName>style.visibility</p:attrName>
                                        </p:attrNameLst>
                                      </p:cBhvr>
                                      <p:to>
                                        <p:strVal val="visible"/>
                                      </p:to>
                                    </p:set>
                                    <p:anim calcmode="lin" valueType="num">
                                      <p:cBhvr>
                                        <p:cTn id="182" dur="500" fill="hold"/>
                                        <p:tgtEl>
                                          <p:spTgt spid="92"/>
                                        </p:tgtEl>
                                        <p:attrNameLst>
                                          <p:attrName>ppt_w</p:attrName>
                                        </p:attrNameLst>
                                      </p:cBhvr>
                                      <p:tavLst>
                                        <p:tav tm="0">
                                          <p:val>
                                            <p:fltVal val="0"/>
                                          </p:val>
                                        </p:tav>
                                        <p:tav tm="100000">
                                          <p:val>
                                            <p:strVal val="#ppt_w"/>
                                          </p:val>
                                        </p:tav>
                                      </p:tavLst>
                                    </p:anim>
                                    <p:anim calcmode="lin" valueType="num">
                                      <p:cBhvr>
                                        <p:cTn id="183" dur="500" fill="hold"/>
                                        <p:tgtEl>
                                          <p:spTgt spid="92"/>
                                        </p:tgtEl>
                                        <p:attrNameLst>
                                          <p:attrName>ppt_h</p:attrName>
                                        </p:attrNameLst>
                                      </p:cBhvr>
                                      <p:tavLst>
                                        <p:tav tm="0">
                                          <p:val>
                                            <p:fltVal val="0"/>
                                          </p:val>
                                        </p:tav>
                                        <p:tav tm="100000">
                                          <p:val>
                                            <p:strVal val="#ppt_h"/>
                                          </p:val>
                                        </p:tav>
                                      </p:tavLst>
                                    </p:anim>
                                    <p:animEffect transition="in" filter="fade">
                                      <p:cBhvr>
                                        <p:cTn id="184" dur="500"/>
                                        <p:tgtEl>
                                          <p:spTgt spid="92"/>
                                        </p:tgtEl>
                                      </p:cBhvr>
                                    </p:animEffect>
                                  </p:childTnLst>
                                </p:cTn>
                              </p:par>
                              <p:par>
                                <p:cTn id="185" presetID="53" presetClass="entr" presetSubtype="16" fill="hold" grpId="0" nodeType="withEffect">
                                  <p:stCondLst>
                                    <p:cond delay="0"/>
                                  </p:stCondLst>
                                  <p:childTnLst>
                                    <p:set>
                                      <p:cBhvr>
                                        <p:cTn id="186" dur="1" fill="hold">
                                          <p:stCondLst>
                                            <p:cond delay="0"/>
                                          </p:stCondLst>
                                        </p:cTn>
                                        <p:tgtEl>
                                          <p:spTgt spid="93"/>
                                        </p:tgtEl>
                                        <p:attrNameLst>
                                          <p:attrName>style.visibility</p:attrName>
                                        </p:attrNameLst>
                                      </p:cBhvr>
                                      <p:to>
                                        <p:strVal val="visible"/>
                                      </p:to>
                                    </p:set>
                                    <p:anim calcmode="lin" valueType="num">
                                      <p:cBhvr>
                                        <p:cTn id="187" dur="500" fill="hold"/>
                                        <p:tgtEl>
                                          <p:spTgt spid="93"/>
                                        </p:tgtEl>
                                        <p:attrNameLst>
                                          <p:attrName>ppt_w</p:attrName>
                                        </p:attrNameLst>
                                      </p:cBhvr>
                                      <p:tavLst>
                                        <p:tav tm="0">
                                          <p:val>
                                            <p:fltVal val="0"/>
                                          </p:val>
                                        </p:tav>
                                        <p:tav tm="100000">
                                          <p:val>
                                            <p:strVal val="#ppt_w"/>
                                          </p:val>
                                        </p:tav>
                                      </p:tavLst>
                                    </p:anim>
                                    <p:anim calcmode="lin" valueType="num">
                                      <p:cBhvr>
                                        <p:cTn id="188" dur="500" fill="hold"/>
                                        <p:tgtEl>
                                          <p:spTgt spid="93"/>
                                        </p:tgtEl>
                                        <p:attrNameLst>
                                          <p:attrName>ppt_h</p:attrName>
                                        </p:attrNameLst>
                                      </p:cBhvr>
                                      <p:tavLst>
                                        <p:tav tm="0">
                                          <p:val>
                                            <p:fltVal val="0"/>
                                          </p:val>
                                        </p:tav>
                                        <p:tav tm="100000">
                                          <p:val>
                                            <p:strVal val="#ppt_h"/>
                                          </p:val>
                                        </p:tav>
                                      </p:tavLst>
                                    </p:anim>
                                    <p:animEffect transition="in" filter="fade">
                                      <p:cBhvr>
                                        <p:cTn id="189" dur="500"/>
                                        <p:tgtEl>
                                          <p:spTgt spid="93"/>
                                        </p:tgtEl>
                                      </p:cBhvr>
                                    </p:animEffect>
                                  </p:childTnLst>
                                </p:cTn>
                              </p:par>
                              <p:par>
                                <p:cTn id="190" presetID="53" presetClass="entr" presetSubtype="16" fill="hold" grpId="0" nodeType="withEffect">
                                  <p:stCondLst>
                                    <p:cond delay="0"/>
                                  </p:stCondLst>
                                  <p:childTnLst>
                                    <p:set>
                                      <p:cBhvr>
                                        <p:cTn id="191" dur="1" fill="hold">
                                          <p:stCondLst>
                                            <p:cond delay="0"/>
                                          </p:stCondLst>
                                        </p:cTn>
                                        <p:tgtEl>
                                          <p:spTgt spid="88"/>
                                        </p:tgtEl>
                                        <p:attrNameLst>
                                          <p:attrName>style.visibility</p:attrName>
                                        </p:attrNameLst>
                                      </p:cBhvr>
                                      <p:to>
                                        <p:strVal val="visible"/>
                                      </p:to>
                                    </p:set>
                                    <p:anim calcmode="lin" valueType="num">
                                      <p:cBhvr>
                                        <p:cTn id="192" dur="500" fill="hold"/>
                                        <p:tgtEl>
                                          <p:spTgt spid="88"/>
                                        </p:tgtEl>
                                        <p:attrNameLst>
                                          <p:attrName>ppt_w</p:attrName>
                                        </p:attrNameLst>
                                      </p:cBhvr>
                                      <p:tavLst>
                                        <p:tav tm="0">
                                          <p:val>
                                            <p:fltVal val="0"/>
                                          </p:val>
                                        </p:tav>
                                        <p:tav tm="100000">
                                          <p:val>
                                            <p:strVal val="#ppt_w"/>
                                          </p:val>
                                        </p:tav>
                                      </p:tavLst>
                                    </p:anim>
                                    <p:anim calcmode="lin" valueType="num">
                                      <p:cBhvr>
                                        <p:cTn id="193" dur="500" fill="hold"/>
                                        <p:tgtEl>
                                          <p:spTgt spid="88"/>
                                        </p:tgtEl>
                                        <p:attrNameLst>
                                          <p:attrName>ppt_h</p:attrName>
                                        </p:attrNameLst>
                                      </p:cBhvr>
                                      <p:tavLst>
                                        <p:tav tm="0">
                                          <p:val>
                                            <p:fltVal val="0"/>
                                          </p:val>
                                        </p:tav>
                                        <p:tav tm="100000">
                                          <p:val>
                                            <p:strVal val="#ppt_h"/>
                                          </p:val>
                                        </p:tav>
                                      </p:tavLst>
                                    </p:anim>
                                    <p:animEffect transition="in" filter="fade">
                                      <p:cBhvr>
                                        <p:cTn id="194" dur="500"/>
                                        <p:tgtEl>
                                          <p:spTgt spid="88"/>
                                        </p:tgtEl>
                                      </p:cBhvr>
                                    </p:animEffect>
                                  </p:childTnLst>
                                </p:cTn>
                              </p:par>
                              <p:par>
                                <p:cTn id="195" presetID="53" presetClass="entr" presetSubtype="16" fill="hold" grpId="0" nodeType="withEffect">
                                  <p:stCondLst>
                                    <p:cond delay="0"/>
                                  </p:stCondLst>
                                  <p:childTnLst>
                                    <p:set>
                                      <p:cBhvr>
                                        <p:cTn id="196" dur="1" fill="hold">
                                          <p:stCondLst>
                                            <p:cond delay="0"/>
                                          </p:stCondLst>
                                        </p:cTn>
                                        <p:tgtEl>
                                          <p:spTgt spid="83"/>
                                        </p:tgtEl>
                                        <p:attrNameLst>
                                          <p:attrName>style.visibility</p:attrName>
                                        </p:attrNameLst>
                                      </p:cBhvr>
                                      <p:to>
                                        <p:strVal val="visible"/>
                                      </p:to>
                                    </p:set>
                                    <p:anim calcmode="lin" valueType="num">
                                      <p:cBhvr>
                                        <p:cTn id="197" dur="500" fill="hold"/>
                                        <p:tgtEl>
                                          <p:spTgt spid="83"/>
                                        </p:tgtEl>
                                        <p:attrNameLst>
                                          <p:attrName>ppt_w</p:attrName>
                                        </p:attrNameLst>
                                      </p:cBhvr>
                                      <p:tavLst>
                                        <p:tav tm="0">
                                          <p:val>
                                            <p:fltVal val="0"/>
                                          </p:val>
                                        </p:tav>
                                        <p:tav tm="100000">
                                          <p:val>
                                            <p:strVal val="#ppt_w"/>
                                          </p:val>
                                        </p:tav>
                                      </p:tavLst>
                                    </p:anim>
                                    <p:anim calcmode="lin" valueType="num">
                                      <p:cBhvr>
                                        <p:cTn id="198" dur="500" fill="hold"/>
                                        <p:tgtEl>
                                          <p:spTgt spid="83"/>
                                        </p:tgtEl>
                                        <p:attrNameLst>
                                          <p:attrName>ppt_h</p:attrName>
                                        </p:attrNameLst>
                                      </p:cBhvr>
                                      <p:tavLst>
                                        <p:tav tm="0">
                                          <p:val>
                                            <p:fltVal val="0"/>
                                          </p:val>
                                        </p:tav>
                                        <p:tav tm="100000">
                                          <p:val>
                                            <p:strVal val="#ppt_h"/>
                                          </p:val>
                                        </p:tav>
                                      </p:tavLst>
                                    </p:anim>
                                    <p:animEffect transition="in" filter="fade">
                                      <p:cBhvr>
                                        <p:cTn id="199" dur="500"/>
                                        <p:tgtEl>
                                          <p:spTgt spid="83"/>
                                        </p:tgtEl>
                                      </p:cBhvr>
                                    </p:animEffect>
                                  </p:childTnLst>
                                </p:cTn>
                              </p:par>
                              <p:par>
                                <p:cTn id="200" presetID="53" presetClass="entr" presetSubtype="16" fill="hold" grpId="0" nodeType="withEffect">
                                  <p:stCondLst>
                                    <p:cond delay="0"/>
                                  </p:stCondLst>
                                  <p:childTnLst>
                                    <p:set>
                                      <p:cBhvr>
                                        <p:cTn id="201" dur="1" fill="hold">
                                          <p:stCondLst>
                                            <p:cond delay="0"/>
                                          </p:stCondLst>
                                        </p:cTn>
                                        <p:tgtEl>
                                          <p:spTgt spid="70"/>
                                        </p:tgtEl>
                                        <p:attrNameLst>
                                          <p:attrName>style.visibility</p:attrName>
                                        </p:attrNameLst>
                                      </p:cBhvr>
                                      <p:to>
                                        <p:strVal val="visible"/>
                                      </p:to>
                                    </p:set>
                                    <p:anim calcmode="lin" valueType="num">
                                      <p:cBhvr>
                                        <p:cTn id="202" dur="500" fill="hold"/>
                                        <p:tgtEl>
                                          <p:spTgt spid="70"/>
                                        </p:tgtEl>
                                        <p:attrNameLst>
                                          <p:attrName>ppt_w</p:attrName>
                                        </p:attrNameLst>
                                      </p:cBhvr>
                                      <p:tavLst>
                                        <p:tav tm="0">
                                          <p:val>
                                            <p:fltVal val="0"/>
                                          </p:val>
                                        </p:tav>
                                        <p:tav tm="100000">
                                          <p:val>
                                            <p:strVal val="#ppt_w"/>
                                          </p:val>
                                        </p:tav>
                                      </p:tavLst>
                                    </p:anim>
                                    <p:anim calcmode="lin" valueType="num">
                                      <p:cBhvr>
                                        <p:cTn id="203" dur="500" fill="hold"/>
                                        <p:tgtEl>
                                          <p:spTgt spid="70"/>
                                        </p:tgtEl>
                                        <p:attrNameLst>
                                          <p:attrName>ppt_h</p:attrName>
                                        </p:attrNameLst>
                                      </p:cBhvr>
                                      <p:tavLst>
                                        <p:tav tm="0">
                                          <p:val>
                                            <p:fltVal val="0"/>
                                          </p:val>
                                        </p:tav>
                                        <p:tav tm="100000">
                                          <p:val>
                                            <p:strVal val="#ppt_h"/>
                                          </p:val>
                                        </p:tav>
                                      </p:tavLst>
                                    </p:anim>
                                    <p:animEffect transition="in" filter="fade">
                                      <p:cBhvr>
                                        <p:cTn id="204" dur="500"/>
                                        <p:tgtEl>
                                          <p:spTgt spid="70"/>
                                        </p:tgtEl>
                                      </p:cBhvr>
                                    </p:animEffect>
                                  </p:childTnLst>
                                </p:cTn>
                              </p:par>
                              <p:par>
                                <p:cTn id="205" presetID="53" presetClass="entr" presetSubtype="16" fill="hold" grpId="0" nodeType="withEffect">
                                  <p:stCondLst>
                                    <p:cond delay="0"/>
                                  </p:stCondLst>
                                  <p:childTnLst>
                                    <p:set>
                                      <p:cBhvr>
                                        <p:cTn id="206" dur="1" fill="hold">
                                          <p:stCondLst>
                                            <p:cond delay="0"/>
                                          </p:stCondLst>
                                        </p:cTn>
                                        <p:tgtEl>
                                          <p:spTgt spid="79"/>
                                        </p:tgtEl>
                                        <p:attrNameLst>
                                          <p:attrName>style.visibility</p:attrName>
                                        </p:attrNameLst>
                                      </p:cBhvr>
                                      <p:to>
                                        <p:strVal val="visible"/>
                                      </p:to>
                                    </p:set>
                                    <p:anim calcmode="lin" valueType="num">
                                      <p:cBhvr>
                                        <p:cTn id="207" dur="500" fill="hold"/>
                                        <p:tgtEl>
                                          <p:spTgt spid="79"/>
                                        </p:tgtEl>
                                        <p:attrNameLst>
                                          <p:attrName>ppt_w</p:attrName>
                                        </p:attrNameLst>
                                      </p:cBhvr>
                                      <p:tavLst>
                                        <p:tav tm="0">
                                          <p:val>
                                            <p:fltVal val="0"/>
                                          </p:val>
                                        </p:tav>
                                        <p:tav tm="100000">
                                          <p:val>
                                            <p:strVal val="#ppt_w"/>
                                          </p:val>
                                        </p:tav>
                                      </p:tavLst>
                                    </p:anim>
                                    <p:anim calcmode="lin" valueType="num">
                                      <p:cBhvr>
                                        <p:cTn id="208" dur="500" fill="hold"/>
                                        <p:tgtEl>
                                          <p:spTgt spid="79"/>
                                        </p:tgtEl>
                                        <p:attrNameLst>
                                          <p:attrName>ppt_h</p:attrName>
                                        </p:attrNameLst>
                                      </p:cBhvr>
                                      <p:tavLst>
                                        <p:tav tm="0">
                                          <p:val>
                                            <p:fltVal val="0"/>
                                          </p:val>
                                        </p:tav>
                                        <p:tav tm="100000">
                                          <p:val>
                                            <p:strVal val="#ppt_h"/>
                                          </p:val>
                                        </p:tav>
                                      </p:tavLst>
                                    </p:anim>
                                    <p:animEffect transition="in" filter="fade">
                                      <p:cBhvr>
                                        <p:cTn id="209" dur="500"/>
                                        <p:tgtEl>
                                          <p:spTgt spid="79"/>
                                        </p:tgtEl>
                                      </p:cBhvr>
                                    </p:animEffect>
                                  </p:childTnLst>
                                </p:cTn>
                              </p:par>
                              <p:par>
                                <p:cTn id="210" presetID="53" presetClass="entr" presetSubtype="16" fill="hold" grpId="0" nodeType="withEffect">
                                  <p:stCondLst>
                                    <p:cond delay="0"/>
                                  </p:stCondLst>
                                  <p:childTnLst>
                                    <p:set>
                                      <p:cBhvr>
                                        <p:cTn id="211" dur="1" fill="hold">
                                          <p:stCondLst>
                                            <p:cond delay="0"/>
                                          </p:stCondLst>
                                        </p:cTn>
                                        <p:tgtEl>
                                          <p:spTgt spid="84"/>
                                        </p:tgtEl>
                                        <p:attrNameLst>
                                          <p:attrName>style.visibility</p:attrName>
                                        </p:attrNameLst>
                                      </p:cBhvr>
                                      <p:to>
                                        <p:strVal val="visible"/>
                                      </p:to>
                                    </p:set>
                                    <p:anim calcmode="lin" valueType="num">
                                      <p:cBhvr>
                                        <p:cTn id="212" dur="500" fill="hold"/>
                                        <p:tgtEl>
                                          <p:spTgt spid="84"/>
                                        </p:tgtEl>
                                        <p:attrNameLst>
                                          <p:attrName>ppt_w</p:attrName>
                                        </p:attrNameLst>
                                      </p:cBhvr>
                                      <p:tavLst>
                                        <p:tav tm="0">
                                          <p:val>
                                            <p:fltVal val="0"/>
                                          </p:val>
                                        </p:tav>
                                        <p:tav tm="100000">
                                          <p:val>
                                            <p:strVal val="#ppt_w"/>
                                          </p:val>
                                        </p:tav>
                                      </p:tavLst>
                                    </p:anim>
                                    <p:anim calcmode="lin" valueType="num">
                                      <p:cBhvr>
                                        <p:cTn id="213" dur="500" fill="hold"/>
                                        <p:tgtEl>
                                          <p:spTgt spid="84"/>
                                        </p:tgtEl>
                                        <p:attrNameLst>
                                          <p:attrName>ppt_h</p:attrName>
                                        </p:attrNameLst>
                                      </p:cBhvr>
                                      <p:tavLst>
                                        <p:tav tm="0">
                                          <p:val>
                                            <p:fltVal val="0"/>
                                          </p:val>
                                        </p:tav>
                                        <p:tav tm="100000">
                                          <p:val>
                                            <p:strVal val="#ppt_h"/>
                                          </p:val>
                                        </p:tav>
                                      </p:tavLst>
                                    </p:anim>
                                    <p:animEffect transition="in" filter="fade">
                                      <p:cBhvr>
                                        <p:cTn id="214" dur="500"/>
                                        <p:tgtEl>
                                          <p:spTgt spid="84"/>
                                        </p:tgtEl>
                                      </p:cBhvr>
                                    </p:animEffect>
                                  </p:childTnLst>
                                </p:cTn>
                              </p:par>
                              <p:par>
                                <p:cTn id="215" presetID="53" presetClass="entr" presetSubtype="16" fill="hold" grpId="0" nodeType="withEffect">
                                  <p:stCondLst>
                                    <p:cond delay="0"/>
                                  </p:stCondLst>
                                  <p:childTnLst>
                                    <p:set>
                                      <p:cBhvr>
                                        <p:cTn id="216" dur="1" fill="hold">
                                          <p:stCondLst>
                                            <p:cond delay="0"/>
                                          </p:stCondLst>
                                        </p:cTn>
                                        <p:tgtEl>
                                          <p:spTgt spid="89"/>
                                        </p:tgtEl>
                                        <p:attrNameLst>
                                          <p:attrName>style.visibility</p:attrName>
                                        </p:attrNameLst>
                                      </p:cBhvr>
                                      <p:to>
                                        <p:strVal val="visible"/>
                                      </p:to>
                                    </p:set>
                                    <p:anim calcmode="lin" valueType="num">
                                      <p:cBhvr>
                                        <p:cTn id="217" dur="500" fill="hold"/>
                                        <p:tgtEl>
                                          <p:spTgt spid="89"/>
                                        </p:tgtEl>
                                        <p:attrNameLst>
                                          <p:attrName>ppt_w</p:attrName>
                                        </p:attrNameLst>
                                      </p:cBhvr>
                                      <p:tavLst>
                                        <p:tav tm="0">
                                          <p:val>
                                            <p:fltVal val="0"/>
                                          </p:val>
                                        </p:tav>
                                        <p:tav tm="100000">
                                          <p:val>
                                            <p:strVal val="#ppt_w"/>
                                          </p:val>
                                        </p:tav>
                                      </p:tavLst>
                                    </p:anim>
                                    <p:anim calcmode="lin" valueType="num">
                                      <p:cBhvr>
                                        <p:cTn id="218" dur="500" fill="hold"/>
                                        <p:tgtEl>
                                          <p:spTgt spid="89"/>
                                        </p:tgtEl>
                                        <p:attrNameLst>
                                          <p:attrName>ppt_h</p:attrName>
                                        </p:attrNameLst>
                                      </p:cBhvr>
                                      <p:tavLst>
                                        <p:tav tm="0">
                                          <p:val>
                                            <p:fltVal val="0"/>
                                          </p:val>
                                        </p:tav>
                                        <p:tav tm="100000">
                                          <p:val>
                                            <p:strVal val="#ppt_h"/>
                                          </p:val>
                                        </p:tav>
                                      </p:tavLst>
                                    </p:anim>
                                    <p:animEffect transition="in" filter="fade">
                                      <p:cBhvr>
                                        <p:cTn id="219" dur="500"/>
                                        <p:tgtEl>
                                          <p:spTgt spid="89"/>
                                        </p:tgtEl>
                                      </p:cBhvr>
                                    </p:animEffect>
                                  </p:childTnLst>
                                </p:cTn>
                              </p:par>
                              <p:par>
                                <p:cTn id="220" presetID="53" presetClass="entr" presetSubtype="16" fill="hold" grpId="0" nodeType="withEffect">
                                  <p:stCondLst>
                                    <p:cond delay="0"/>
                                  </p:stCondLst>
                                  <p:childTnLst>
                                    <p:set>
                                      <p:cBhvr>
                                        <p:cTn id="221" dur="1" fill="hold">
                                          <p:stCondLst>
                                            <p:cond delay="0"/>
                                          </p:stCondLst>
                                        </p:cTn>
                                        <p:tgtEl>
                                          <p:spTgt spid="94"/>
                                        </p:tgtEl>
                                        <p:attrNameLst>
                                          <p:attrName>style.visibility</p:attrName>
                                        </p:attrNameLst>
                                      </p:cBhvr>
                                      <p:to>
                                        <p:strVal val="visible"/>
                                      </p:to>
                                    </p:set>
                                    <p:anim calcmode="lin" valueType="num">
                                      <p:cBhvr>
                                        <p:cTn id="222" dur="500" fill="hold"/>
                                        <p:tgtEl>
                                          <p:spTgt spid="94"/>
                                        </p:tgtEl>
                                        <p:attrNameLst>
                                          <p:attrName>ppt_w</p:attrName>
                                        </p:attrNameLst>
                                      </p:cBhvr>
                                      <p:tavLst>
                                        <p:tav tm="0">
                                          <p:val>
                                            <p:fltVal val="0"/>
                                          </p:val>
                                        </p:tav>
                                        <p:tav tm="100000">
                                          <p:val>
                                            <p:strVal val="#ppt_w"/>
                                          </p:val>
                                        </p:tav>
                                      </p:tavLst>
                                    </p:anim>
                                    <p:anim calcmode="lin" valueType="num">
                                      <p:cBhvr>
                                        <p:cTn id="223" dur="500" fill="hold"/>
                                        <p:tgtEl>
                                          <p:spTgt spid="94"/>
                                        </p:tgtEl>
                                        <p:attrNameLst>
                                          <p:attrName>ppt_h</p:attrName>
                                        </p:attrNameLst>
                                      </p:cBhvr>
                                      <p:tavLst>
                                        <p:tav tm="0">
                                          <p:val>
                                            <p:fltVal val="0"/>
                                          </p:val>
                                        </p:tav>
                                        <p:tav tm="100000">
                                          <p:val>
                                            <p:strVal val="#ppt_h"/>
                                          </p:val>
                                        </p:tav>
                                      </p:tavLst>
                                    </p:anim>
                                    <p:animEffect transition="in" filter="fade">
                                      <p:cBhvr>
                                        <p:cTn id="224" dur="500"/>
                                        <p:tgtEl>
                                          <p:spTgt spid="94"/>
                                        </p:tgtEl>
                                      </p:cBhvr>
                                    </p:animEffect>
                                  </p:childTnLst>
                                </p:cTn>
                              </p:par>
                              <p:par>
                                <p:cTn id="225" presetID="53" presetClass="entr" presetSubtype="16" fill="hold" grpId="0" nodeType="withEffect">
                                  <p:stCondLst>
                                    <p:cond delay="0"/>
                                  </p:stCondLst>
                                  <p:childTnLst>
                                    <p:set>
                                      <p:cBhvr>
                                        <p:cTn id="226" dur="1" fill="hold">
                                          <p:stCondLst>
                                            <p:cond delay="0"/>
                                          </p:stCondLst>
                                        </p:cTn>
                                        <p:tgtEl>
                                          <p:spTgt spid="95"/>
                                        </p:tgtEl>
                                        <p:attrNameLst>
                                          <p:attrName>style.visibility</p:attrName>
                                        </p:attrNameLst>
                                      </p:cBhvr>
                                      <p:to>
                                        <p:strVal val="visible"/>
                                      </p:to>
                                    </p:set>
                                    <p:anim calcmode="lin" valueType="num">
                                      <p:cBhvr>
                                        <p:cTn id="227" dur="500" fill="hold"/>
                                        <p:tgtEl>
                                          <p:spTgt spid="95"/>
                                        </p:tgtEl>
                                        <p:attrNameLst>
                                          <p:attrName>ppt_w</p:attrName>
                                        </p:attrNameLst>
                                      </p:cBhvr>
                                      <p:tavLst>
                                        <p:tav tm="0">
                                          <p:val>
                                            <p:fltVal val="0"/>
                                          </p:val>
                                        </p:tav>
                                        <p:tav tm="100000">
                                          <p:val>
                                            <p:strVal val="#ppt_w"/>
                                          </p:val>
                                        </p:tav>
                                      </p:tavLst>
                                    </p:anim>
                                    <p:anim calcmode="lin" valueType="num">
                                      <p:cBhvr>
                                        <p:cTn id="228" dur="500" fill="hold"/>
                                        <p:tgtEl>
                                          <p:spTgt spid="95"/>
                                        </p:tgtEl>
                                        <p:attrNameLst>
                                          <p:attrName>ppt_h</p:attrName>
                                        </p:attrNameLst>
                                      </p:cBhvr>
                                      <p:tavLst>
                                        <p:tav tm="0">
                                          <p:val>
                                            <p:fltVal val="0"/>
                                          </p:val>
                                        </p:tav>
                                        <p:tav tm="100000">
                                          <p:val>
                                            <p:strVal val="#ppt_h"/>
                                          </p:val>
                                        </p:tav>
                                      </p:tavLst>
                                    </p:anim>
                                    <p:animEffect transition="in" filter="fade">
                                      <p:cBhvr>
                                        <p:cTn id="229" dur="500"/>
                                        <p:tgtEl>
                                          <p:spTgt spid="95"/>
                                        </p:tgtEl>
                                      </p:cBhvr>
                                    </p:animEffect>
                                  </p:childTnLst>
                                </p:cTn>
                              </p:par>
                              <p:par>
                                <p:cTn id="230" presetID="53" presetClass="entr" presetSubtype="16" fill="hold" grpId="0" nodeType="withEffect">
                                  <p:stCondLst>
                                    <p:cond delay="0"/>
                                  </p:stCondLst>
                                  <p:childTnLst>
                                    <p:set>
                                      <p:cBhvr>
                                        <p:cTn id="231" dur="1" fill="hold">
                                          <p:stCondLst>
                                            <p:cond delay="0"/>
                                          </p:stCondLst>
                                        </p:cTn>
                                        <p:tgtEl>
                                          <p:spTgt spid="90"/>
                                        </p:tgtEl>
                                        <p:attrNameLst>
                                          <p:attrName>style.visibility</p:attrName>
                                        </p:attrNameLst>
                                      </p:cBhvr>
                                      <p:to>
                                        <p:strVal val="visible"/>
                                      </p:to>
                                    </p:set>
                                    <p:anim calcmode="lin" valueType="num">
                                      <p:cBhvr>
                                        <p:cTn id="232" dur="500" fill="hold"/>
                                        <p:tgtEl>
                                          <p:spTgt spid="90"/>
                                        </p:tgtEl>
                                        <p:attrNameLst>
                                          <p:attrName>ppt_w</p:attrName>
                                        </p:attrNameLst>
                                      </p:cBhvr>
                                      <p:tavLst>
                                        <p:tav tm="0">
                                          <p:val>
                                            <p:fltVal val="0"/>
                                          </p:val>
                                        </p:tav>
                                        <p:tav tm="100000">
                                          <p:val>
                                            <p:strVal val="#ppt_w"/>
                                          </p:val>
                                        </p:tav>
                                      </p:tavLst>
                                    </p:anim>
                                    <p:anim calcmode="lin" valueType="num">
                                      <p:cBhvr>
                                        <p:cTn id="233" dur="500" fill="hold"/>
                                        <p:tgtEl>
                                          <p:spTgt spid="90"/>
                                        </p:tgtEl>
                                        <p:attrNameLst>
                                          <p:attrName>ppt_h</p:attrName>
                                        </p:attrNameLst>
                                      </p:cBhvr>
                                      <p:tavLst>
                                        <p:tav tm="0">
                                          <p:val>
                                            <p:fltVal val="0"/>
                                          </p:val>
                                        </p:tav>
                                        <p:tav tm="100000">
                                          <p:val>
                                            <p:strVal val="#ppt_h"/>
                                          </p:val>
                                        </p:tav>
                                      </p:tavLst>
                                    </p:anim>
                                    <p:animEffect transition="in" filter="fade">
                                      <p:cBhvr>
                                        <p:cTn id="234" dur="500"/>
                                        <p:tgtEl>
                                          <p:spTgt spid="90"/>
                                        </p:tgtEl>
                                      </p:cBhvr>
                                    </p:animEffect>
                                  </p:childTnLst>
                                </p:cTn>
                              </p:par>
                              <p:par>
                                <p:cTn id="235" presetID="53" presetClass="entr" presetSubtype="16" fill="hold" grpId="0" nodeType="withEffect">
                                  <p:stCondLst>
                                    <p:cond delay="0"/>
                                  </p:stCondLst>
                                  <p:childTnLst>
                                    <p:set>
                                      <p:cBhvr>
                                        <p:cTn id="236" dur="1" fill="hold">
                                          <p:stCondLst>
                                            <p:cond delay="0"/>
                                          </p:stCondLst>
                                        </p:cTn>
                                        <p:tgtEl>
                                          <p:spTgt spid="85"/>
                                        </p:tgtEl>
                                        <p:attrNameLst>
                                          <p:attrName>style.visibility</p:attrName>
                                        </p:attrNameLst>
                                      </p:cBhvr>
                                      <p:to>
                                        <p:strVal val="visible"/>
                                      </p:to>
                                    </p:set>
                                    <p:anim calcmode="lin" valueType="num">
                                      <p:cBhvr>
                                        <p:cTn id="237" dur="500" fill="hold"/>
                                        <p:tgtEl>
                                          <p:spTgt spid="85"/>
                                        </p:tgtEl>
                                        <p:attrNameLst>
                                          <p:attrName>ppt_w</p:attrName>
                                        </p:attrNameLst>
                                      </p:cBhvr>
                                      <p:tavLst>
                                        <p:tav tm="0">
                                          <p:val>
                                            <p:fltVal val="0"/>
                                          </p:val>
                                        </p:tav>
                                        <p:tav tm="100000">
                                          <p:val>
                                            <p:strVal val="#ppt_w"/>
                                          </p:val>
                                        </p:tav>
                                      </p:tavLst>
                                    </p:anim>
                                    <p:anim calcmode="lin" valueType="num">
                                      <p:cBhvr>
                                        <p:cTn id="238" dur="500" fill="hold"/>
                                        <p:tgtEl>
                                          <p:spTgt spid="85"/>
                                        </p:tgtEl>
                                        <p:attrNameLst>
                                          <p:attrName>ppt_h</p:attrName>
                                        </p:attrNameLst>
                                      </p:cBhvr>
                                      <p:tavLst>
                                        <p:tav tm="0">
                                          <p:val>
                                            <p:fltVal val="0"/>
                                          </p:val>
                                        </p:tav>
                                        <p:tav tm="100000">
                                          <p:val>
                                            <p:strVal val="#ppt_h"/>
                                          </p:val>
                                        </p:tav>
                                      </p:tavLst>
                                    </p:anim>
                                    <p:animEffect transition="in" filter="fade">
                                      <p:cBhvr>
                                        <p:cTn id="239" dur="500"/>
                                        <p:tgtEl>
                                          <p:spTgt spid="85"/>
                                        </p:tgtEl>
                                      </p:cBhvr>
                                    </p:animEffect>
                                  </p:childTnLst>
                                </p:cTn>
                              </p:par>
                              <p:par>
                                <p:cTn id="240" presetID="53" presetClass="entr" presetSubtype="16" fill="hold" grpId="0" nodeType="withEffect">
                                  <p:stCondLst>
                                    <p:cond delay="0"/>
                                  </p:stCondLst>
                                  <p:childTnLst>
                                    <p:set>
                                      <p:cBhvr>
                                        <p:cTn id="241" dur="1" fill="hold">
                                          <p:stCondLst>
                                            <p:cond delay="0"/>
                                          </p:stCondLst>
                                        </p:cTn>
                                        <p:tgtEl>
                                          <p:spTgt spid="80"/>
                                        </p:tgtEl>
                                        <p:attrNameLst>
                                          <p:attrName>style.visibility</p:attrName>
                                        </p:attrNameLst>
                                      </p:cBhvr>
                                      <p:to>
                                        <p:strVal val="visible"/>
                                      </p:to>
                                    </p:set>
                                    <p:anim calcmode="lin" valueType="num">
                                      <p:cBhvr>
                                        <p:cTn id="242" dur="500" fill="hold"/>
                                        <p:tgtEl>
                                          <p:spTgt spid="80"/>
                                        </p:tgtEl>
                                        <p:attrNameLst>
                                          <p:attrName>ppt_w</p:attrName>
                                        </p:attrNameLst>
                                      </p:cBhvr>
                                      <p:tavLst>
                                        <p:tav tm="0">
                                          <p:val>
                                            <p:fltVal val="0"/>
                                          </p:val>
                                        </p:tav>
                                        <p:tav tm="100000">
                                          <p:val>
                                            <p:strVal val="#ppt_w"/>
                                          </p:val>
                                        </p:tav>
                                      </p:tavLst>
                                    </p:anim>
                                    <p:anim calcmode="lin" valueType="num">
                                      <p:cBhvr>
                                        <p:cTn id="243" dur="500" fill="hold"/>
                                        <p:tgtEl>
                                          <p:spTgt spid="80"/>
                                        </p:tgtEl>
                                        <p:attrNameLst>
                                          <p:attrName>ppt_h</p:attrName>
                                        </p:attrNameLst>
                                      </p:cBhvr>
                                      <p:tavLst>
                                        <p:tav tm="0">
                                          <p:val>
                                            <p:fltVal val="0"/>
                                          </p:val>
                                        </p:tav>
                                        <p:tav tm="100000">
                                          <p:val>
                                            <p:strVal val="#ppt_h"/>
                                          </p:val>
                                        </p:tav>
                                      </p:tavLst>
                                    </p:anim>
                                    <p:animEffect transition="in" filter="fade">
                                      <p:cBhvr>
                                        <p:cTn id="244" dur="500"/>
                                        <p:tgtEl>
                                          <p:spTgt spid="80"/>
                                        </p:tgtEl>
                                      </p:cBhvr>
                                    </p:animEffect>
                                  </p:childTnLst>
                                </p:cTn>
                              </p:par>
                              <p:par>
                                <p:cTn id="245" presetID="53" presetClass="entr" presetSubtype="16" fill="hold" nodeType="withEffect">
                                  <p:stCondLst>
                                    <p:cond delay="0"/>
                                  </p:stCondLst>
                                  <p:childTnLst>
                                    <p:set>
                                      <p:cBhvr>
                                        <p:cTn id="246" dur="1" fill="hold">
                                          <p:stCondLst>
                                            <p:cond delay="0"/>
                                          </p:stCondLst>
                                        </p:cTn>
                                        <p:tgtEl>
                                          <p:spTgt spid="28"/>
                                        </p:tgtEl>
                                        <p:attrNameLst>
                                          <p:attrName>style.visibility</p:attrName>
                                        </p:attrNameLst>
                                      </p:cBhvr>
                                      <p:to>
                                        <p:strVal val="visible"/>
                                      </p:to>
                                    </p:set>
                                    <p:anim calcmode="lin" valueType="num">
                                      <p:cBhvr>
                                        <p:cTn id="247" dur="500" fill="hold"/>
                                        <p:tgtEl>
                                          <p:spTgt spid="28"/>
                                        </p:tgtEl>
                                        <p:attrNameLst>
                                          <p:attrName>ppt_w</p:attrName>
                                        </p:attrNameLst>
                                      </p:cBhvr>
                                      <p:tavLst>
                                        <p:tav tm="0">
                                          <p:val>
                                            <p:fltVal val="0"/>
                                          </p:val>
                                        </p:tav>
                                        <p:tav tm="100000">
                                          <p:val>
                                            <p:strVal val="#ppt_w"/>
                                          </p:val>
                                        </p:tav>
                                      </p:tavLst>
                                    </p:anim>
                                    <p:anim calcmode="lin" valueType="num">
                                      <p:cBhvr>
                                        <p:cTn id="248" dur="500" fill="hold"/>
                                        <p:tgtEl>
                                          <p:spTgt spid="28"/>
                                        </p:tgtEl>
                                        <p:attrNameLst>
                                          <p:attrName>ppt_h</p:attrName>
                                        </p:attrNameLst>
                                      </p:cBhvr>
                                      <p:tavLst>
                                        <p:tav tm="0">
                                          <p:val>
                                            <p:fltVal val="0"/>
                                          </p:val>
                                        </p:tav>
                                        <p:tav tm="100000">
                                          <p:val>
                                            <p:strVal val="#ppt_h"/>
                                          </p:val>
                                        </p:tav>
                                      </p:tavLst>
                                    </p:anim>
                                    <p:animEffect transition="in" filter="fade">
                                      <p:cBhvr>
                                        <p:cTn id="249" dur="500"/>
                                        <p:tgtEl>
                                          <p:spTgt spid="28"/>
                                        </p:tgtEl>
                                      </p:cBhvr>
                                    </p:animEffect>
                                  </p:childTnLst>
                                </p:cTn>
                              </p:par>
                              <p:par>
                                <p:cTn id="250" presetID="53" presetClass="entr" presetSubtype="16" fill="hold" grpId="0" nodeType="withEffect">
                                  <p:stCondLst>
                                    <p:cond delay="0"/>
                                  </p:stCondLst>
                                  <p:childTnLst>
                                    <p:set>
                                      <p:cBhvr>
                                        <p:cTn id="251" dur="1" fill="hold">
                                          <p:stCondLst>
                                            <p:cond delay="0"/>
                                          </p:stCondLst>
                                        </p:cTn>
                                        <p:tgtEl>
                                          <p:spTgt spid="97"/>
                                        </p:tgtEl>
                                        <p:attrNameLst>
                                          <p:attrName>style.visibility</p:attrName>
                                        </p:attrNameLst>
                                      </p:cBhvr>
                                      <p:to>
                                        <p:strVal val="visible"/>
                                      </p:to>
                                    </p:set>
                                    <p:anim calcmode="lin" valueType="num">
                                      <p:cBhvr>
                                        <p:cTn id="252" dur="500" fill="hold"/>
                                        <p:tgtEl>
                                          <p:spTgt spid="97"/>
                                        </p:tgtEl>
                                        <p:attrNameLst>
                                          <p:attrName>ppt_w</p:attrName>
                                        </p:attrNameLst>
                                      </p:cBhvr>
                                      <p:tavLst>
                                        <p:tav tm="0">
                                          <p:val>
                                            <p:fltVal val="0"/>
                                          </p:val>
                                        </p:tav>
                                        <p:tav tm="100000">
                                          <p:val>
                                            <p:strVal val="#ppt_w"/>
                                          </p:val>
                                        </p:tav>
                                      </p:tavLst>
                                    </p:anim>
                                    <p:anim calcmode="lin" valueType="num">
                                      <p:cBhvr>
                                        <p:cTn id="253" dur="500" fill="hold"/>
                                        <p:tgtEl>
                                          <p:spTgt spid="97"/>
                                        </p:tgtEl>
                                        <p:attrNameLst>
                                          <p:attrName>ppt_h</p:attrName>
                                        </p:attrNameLst>
                                      </p:cBhvr>
                                      <p:tavLst>
                                        <p:tav tm="0">
                                          <p:val>
                                            <p:fltVal val="0"/>
                                          </p:val>
                                        </p:tav>
                                        <p:tav tm="100000">
                                          <p:val>
                                            <p:strVal val="#ppt_h"/>
                                          </p:val>
                                        </p:tav>
                                      </p:tavLst>
                                    </p:anim>
                                    <p:animEffect transition="in" filter="fade">
                                      <p:cBhvr>
                                        <p:cTn id="254" dur="500"/>
                                        <p:tgtEl>
                                          <p:spTgt spid="97"/>
                                        </p:tgtEl>
                                      </p:cBhvr>
                                    </p:animEffect>
                                  </p:childTnLst>
                                </p:cTn>
                              </p:par>
                              <p:par>
                                <p:cTn id="255" presetID="53" presetClass="entr" presetSubtype="16" fill="hold" grpId="0" nodeType="withEffect">
                                  <p:stCondLst>
                                    <p:cond delay="0"/>
                                  </p:stCondLst>
                                  <p:childTnLst>
                                    <p:set>
                                      <p:cBhvr>
                                        <p:cTn id="256" dur="1" fill="hold">
                                          <p:stCondLst>
                                            <p:cond delay="0"/>
                                          </p:stCondLst>
                                        </p:cTn>
                                        <p:tgtEl>
                                          <p:spTgt spid="27"/>
                                        </p:tgtEl>
                                        <p:attrNameLst>
                                          <p:attrName>style.visibility</p:attrName>
                                        </p:attrNameLst>
                                      </p:cBhvr>
                                      <p:to>
                                        <p:strVal val="visible"/>
                                      </p:to>
                                    </p:set>
                                    <p:anim calcmode="lin" valueType="num">
                                      <p:cBhvr>
                                        <p:cTn id="257" dur="500" fill="hold"/>
                                        <p:tgtEl>
                                          <p:spTgt spid="27"/>
                                        </p:tgtEl>
                                        <p:attrNameLst>
                                          <p:attrName>ppt_w</p:attrName>
                                        </p:attrNameLst>
                                      </p:cBhvr>
                                      <p:tavLst>
                                        <p:tav tm="0">
                                          <p:val>
                                            <p:fltVal val="0"/>
                                          </p:val>
                                        </p:tav>
                                        <p:tav tm="100000">
                                          <p:val>
                                            <p:strVal val="#ppt_w"/>
                                          </p:val>
                                        </p:tav>
                                      </p:tavLst>
                                    </p:anim>
                                    <p:anim calcmode="lin" valueType="num">
                                      <p:cBhvr>
                                        <p:cTn id="258" dur="500" fill="hold"/>
                                        <p:tgtEl>
                                          <p:spTgt spid="27"/>
                                        </p:tgtEl>
                                        <p:attrNameLst>
                                          <p:attrName>ppt_h</p:attrName>
                                        </p:attrNameLst>
                                      </p:cBhvr>
                                      <p:tavLst>
                                        <p:tav tm="0">
                                          <p:val>
                                            <p:fltVal val="0"/>
                                          </p:val>
                                        </p:tav>
                                        <p:tav tm="100000">
                                          <p:val>
                                            <p:strVal val="#ppt_h"/>
                                          </p:val>
                                        </p:tav>
                                      </p:tavLst>
                                    </p:anim>
                                    <p:animEffect transition="in" filter="fade">
                                      <p:cBhvr>
                                        <p:cTn id="259" dur="500"/>
                                        <p:tgtEl>
                                          <p:spTgt spid="27"/>
                                        </p:tgtEl>
                                      </p:cBhvr>
                                    </p:animEffect>
                                  </p:childTnLst>
                                </p:cTn>
                              </p:par>
                            </p:childTnLst>
                          </p:cTn>
                        </p:par>
                      </p:childTnLst>
                    </p:cTn>
                  </p:par>
                  <p:par>
                    <p:cTn id="260" fill="hold">
                      <p:stCondLst>
                        <p:cond delay="indefinite"/>
                      </p:stCondLst>
                      <p:childTnLst>
                        <p:par>
                          <p:cTn id="261" fill="hold">
                            <p:stCondLst>
                              <p:cond delay="0"/>
                            </p:stCondLst>
                            <p:childTnLst>
                              <p:par>
                                <p:cTn id="262" presetID="22" presetClass="entr" presetSubtype="4" fill="hold" nodeType="clickEffect">
                                  <p:stCondLst>
                                    <p:cond delay="0"/>
                                  </p:stCondLst>
                                  <p:childTnLst>
                                    <p:set>
                                      <p:cBhvr>
                                        <p:cTn id="263" dur="1" fill="hold">
                                          <p:stCondLst>
                                            <p:cond delay="0"/>
                                          </p:stCondLst>
                                        </p:cTn>
                                        <p:tgtEl>
                                          <p:spTgt spid="126"/>
                                        </p:tgtEl>
                                        <p:attrNameLst>
                                          <p:attrName>style.visibility</p:attrName>
                                        </p:attrNameLst>
                                      </p:cBhvr>
                                      <p:to>
                                        <p:strVal val="visible"/>
                                      </p:to>
                                    </p:set>
                                    <p:animEffect transition="in" filter="wipe(down)">
                                      <p:cBhvr>
                                        <p:cTn id="264" dur="500"/>
                                        <p:tgtEl>
                                          <p:spTgt spid="126"/>
                                        </p:tgtEl>
                                      </p:cBhvr>
                                    </p:animEffect>
                                  </p:childTnLst>
                                </p:cTn>
                              </p:par>
                              <p:par>
                                <p:cTn id="265" presetID="22" presetClass="entr" presetSubtype="4" fill="hold" grpId="0" nodeType="withEffect">
                                  <p:stCondLst>
                                    <p:cond delay="0"/>
                                  </p:stCondLst>
                                  <p:childTnLst>
                                    <p:set>
                                      <p:cBhvr>
                                        <p:cTn id="266" dur="1" fill="hold">
                                          <p:stCondLst>
                                            <p:cond delay="0"/>
                                          </p:stCondLst>
                                        </p:cTn>
                                        <p:tgtEl>
                                          <p:spTgt spid="128"/>
                                        </p:tgtEl>
                                        <p:attrNameLst>
                                          <p:attrName>style.visibility</p:attrName>
                                        </p:attrNameLst>
                                      </p:cBhvr>
                                      <p:to>
                                        <p:strVal val="visible"/>
                                      </p:to>
                                    </p:set>
                                    <p:animEffect transition="in" filter="wipe(down)">
                                      <p:cBhvr>
                                        <p:cTn id="267" dur="500"/>
                                        <p:tgtEl>
                                          <p:spTgt spid="128"/>
                                        </p:tgtEl>
                                      </p:cBhvr>
                                    </p:animEffect>
                                  </p:childTnLst>
                                </p:cTn>
                              </p:par>
                              <p:par>
                                <p:cTn id="268" presetID="22" presetClass="entr" presetSubtype="4" fill="hold" grpId="0" nodeType="withEffect">
                                  <p:stCondLst>
                                    <p:cond delay="0"/>
                                  </p:stCondLst>
                                  <p:childTnLst>
                                    <p:set>
                                      <p:cBhvr>
                                        <p:cTn id="269" dur="1" fill="hold">
                                          <p:stCondLst>
                                            <p:cond delay="0"/>
                                          </p:stCondLst>
                                        </p:cTn>
                                        <p:tgtEl>
                                          <p:spTgt spid="127"/>
                                        </p:tgtEl>
                                        <p:attrNameLst>
                                          <p:attrName>style.visibility</p:attrName>
                                        </p:attrNameLst>
                                      </p:cBhvr>
                                      <p:to>
                                        <p:strVal val="visible"/>
                                      </p:to>
                                    </p:set>
                                    <p:animEffect transition="in" filter="wipe(down)">
                                      <p:cBhvr>
                                        <p:cTn id="270" dur="500"/>
                                        <p:tgtEl>
                                          <p:spTgt spid="127"/>
                                        </p:tgtEl>
                                      </p:cBhvr>
                                    </p:animEffect>
                                  </p:childTnLst>
                                </p:cTn>
                              </p:par>
                            </p:childTnLst>
                          </p:cTn>
                        </p:par>
                      </p:childTnLst>
                    </p:cTn>
                  </p:par>
                  <p:par>
                    <p:cTn id="271" fill="hold">
                      <p:stCondLst>
                        <p:cond delay="indefinite"/>
                      </p:stCondLst>
                      <p:childTnLst>
                        <p:par>
                          <p:cTn id="272" fill="hold">
                            <p:stCondLst>
                              <p:cond delay="0"/>
                            </p:stCondLst>
                            <p:childTnLst>
                              <p:par>
                                <p:cTn id="273" presetID="53" presetClass="entr" presetSubtype="16" fill="hold" grpId="0" nodeType="clickEffect">
                                  <p:stCondLst>
                                    <p:cond delay="0"/>
                                  </p:stCondLst>
                                  <p:childTnLst>
                                    <p:set>
                                      <p:cBhvr>
                                        <p:cTn id="274" dur="1" fill="hold">
                                          <p:stCondLst>
                                            <p:cond delay="0"/>
                                          </p:stCondLst>
                                        </p:cTn>
                                        <p:tgtEl>
                                          <p:spTgt spid="123"/>
                                        </p:tgtEl>
                                        <p:attrNameLst>
                                          <p:attrName>style.visibility</p:attrName>
                                        </p:attrNameLst>
                                      </p:cBhvr>
                                      <p:to>
                                        <p:strVal val="visible"/>
                                      </p:to>
                                    </p:set>
                                    <p:anim calcmode="lin" valueType="num">
                                      <p:cBhvr>
                                        <p:cTn id="275" dur="500" fill="hold"/>
                                        <p:tgtEl>
                                          <p:spTgt spid="123"/>
                                        </p:tgtEl>
                                        <p:attrNameLst>
                                          <p:attrName>ppt_w</p:attrName>
                                        </p:attrNameLst>
                                      </p:cBhvr>
                                      <p:tavLst>
                                        <p:tav tm="0">
                                          <p:val>
                                            <p:fltVal val="0"/>
                                          </p:val>
                                        </p:tav>
                                        <p:tav tm="100000">
                                          <p:val>
                                            <p:strVal val="#ppt_w"/>
                                          </p:val>
                                        </p:tav>
                                      </p:tavLst>
                                    </p:anim>
                                    <p:anim calcmode="lin" valueType="num">
                                      <p:cBhvr>
                                        <p:cTn id="276" dur="500" fill="hold"/>
                                        <p:tgtEl>
                                          <p:spTgt spid="123"/>
                                        </p:tgtEl>
                                        <p:attrNameLst>
                                          <p:attrName>ppt_h</p:attrName>
                                        </p:attrNameLst>
                                      </p:cBhvr>
                                      <p:tavLst>
                                        <p:tav tm="0">
                                          <p:val>
                                            <p:fltVal val="0"/>
                                          </p:val>
                                        </p:tav>
                                        <p:tav tm="100000">
                                          <p:val>
                                            <p:strVal val="#ppt_h"/>
                                          </p:val>
                                        </p:tav>
                                      </p:tavLst>
                                    </p:anim>
                                    <p:animEffect transition="in" filter="fade">
                                      <p:cBhvr>
                                        <p:cTn id="277" dur="500"/>
                                        <p:tgtEl>
                                          <p:spTgt spid="123"/>
                                        </p:tgtEl>
                                      </p:cBhvr>
                                    </p:animEffect>
                                  </p:childTnLst>
                                </p:cTn>
                              </p:par>
                              <p:par>
                                <p:cTn id="278" presetID="53" presetClass="entr" presetSubtype="16" fill="hold" grpId="0" nodeType="withEffect">
                                  <p:stCondLst>
                                    <p:cond delay="0"/>
                                  </p:stCondLst>
                                  <p:childTnLst>
                                    <p:set>
                                      <p:cBhvr>
                                        <p:cTn id="279" dur="1" fill="hold">
                                          <p:stCondLst>
                                            <p:cond delay="0"/>
                                          </p:stCondLst>
                                        </p:cTn>
                                        <p:tgtEl>
                                          <p:spTgt spid="32"/>
                                        </p:tgtEl>
                                        <p:attrNameLst>
                                          <p:attrName>style.visibility</p:attrName>
                                        </p:attrNameLst>
                                      </p:cBhvr>
                                      <p:to>
                                        <p:strVal val="visible"/>
                                      </p:to>
                                    </p:set>
                                    <p:anim calcmode="lin" valueType="num">
                                      <p:cBhvr>
                                        <p:cTn id="280" dur="500" fill="hold"/>
                                        <p:tgtEl>
                                          <p:spTgt spid="32"/>
                                        </p:tgtEl>
                                        <p:attrNameLst>
                                          <p:attrName>ppt_w</p:attrName>
                                        </p:attrNameLst>
                                      </p:cBhvr>
                                      <p:tavLst>
                                        <p:tav tm="0">
                                          <p:val>
                                            <p:fltVal val="0"/>
                                          </p:val>
                                        </p:tav>
                                        <p:tav tm="100000">
                                          <p:val>
                                            <p:strVal val="#ppt_w"/>
                                          </p:val>
                                        </p:tav>
                                      </p:tavLst>
                                    </p:anim>
                                    <p:anim calcmode="lin" valueType="num">
                                      <p:cBhvr>
                                        <p:cTn id="281" dur="500" fill="hold"/>
                                        <p:tgtEl>
                                          <p:spTgt spid="32"/>
                                        </p:tgtEl>
                                        <p:attrNameLst>
                                          <p:attrName>ppt_h</p:attrName>
                                        </p:attrNameLst>
                                      </p:cBhvr>
                                      <p:tavLst>
                                        <p:tav tm="0">
                                          <p:val>
                                            <p:fltVal val="0"/>
                                          </p:val>
                                        </p:tav>
                                        <p:tav tm="100000">
                                          <p:val>
                                            <p:strVal val="#ppt_h"/>
                                          </p:val>
                                        </p:tav>
                                      </p:tavLst>
                                    </p:anim>
                                    <p:animEffect transition="in" filter="fade">
                                      <p:cBhvr>
                                        <p:cTn id="282" dur="500"/>
                                        <p:tgtEl>
                                          <p:spTgt spid="32"/>
                                        </p:tgtEl>
                                      </p:cBhvr>
                                    </p:animEffect>
                                  </p:childTnLst>
                                </p:cTn>
                              </p:par>
                              <p:par>
                                <p:cTn id="283" presetID="16" presetClass="entr" presetSubtype="21" fill="hold" grpId="0" nodeType="withEffect">
                                  <p:stCondLst>
                                    <p:cond delay="0"/>
                                  </p:stCondLst>
                                  <p:childTnLst>
                                    <p:set>
                                      <p:cBhvr>
                                        <p:cTn id="284" dur="1" fill="hold">
                                          <p:stCondLst>
                                            <p:cond delay="0"/>
                                          </p:stCondLst>
                                        </p:cTn>
                                        <p:tgtEl>
                                          <p:spTgt spid="125"/>
                                        </p:tgtEl>
                                        <p:attrNameLst>
                                          <p:attrName>style.visibility</p:attrName>
                                        </p:attrNameLst>
                                      </p:cBhvr>
                                      <p:to>
                                        <p:strVal val="visible"/>
                                      </p:to>
                                    </p:set>
                                    <p:animEffect transition="in" filter="barn(inVertical)">
                                      <p:cBhvr>
                                        <p:cTn id="285"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0" grpId="0"/>
      <p:bldP spid="11" grpId="0" animBg="1"/>
      <p:bldP spid="12" grpId="0"/>
      <p:bldP spid="14" grpId="0"/>
      <p:bldP spid="16" grpId="0"/>
      <p:bldP spid="19" grpId="0"/>
      <p:bldP spid="20" grpId="0" animBg="1"/>
      <p:bldP spid="26" grpId="0" animBg="1"/>
      <p:bldP spid="27" grpId="0"/>
      <p:bldP spid="29" grpId="0" animBg="1"/>
      <p:bldP spid="117" grpId="0" animBg="1"/>
      <p:bldP spid="30" grpId="0"/>
      <p:bldP spid="32" grpId="0"/>
      <p:bldP spid="3" grpId="0" animBg="1"/>
      <p:bldP spid="18" grpId="0" animBg="1"/>
      <p:bldP spid="50" grpId="0" animBg="1"/>
      <p:bldP spid="51" grpId="0" animBg="1"/>
      <p:bldP spid="52" grpId="0" animBg="1"/>
      <p:bldP spid="53" grpId="0" animBg="1"/>
      <p:bldP spid="54" grpId="0" animBg="1"/>
      <p:bldP spid="56" grpId="0" animBg="1"/>
      <p:bldP spid="59" grpId="0" animBg="1"/>
      <p:bldP spid="60" grpId="0" animBg="1"/>
      <p:bldP spid="61" grpId="0" animBg="1"/>
      <p:bldP spid="62" grpId="0" animBg="1"/>
      <p:bldP spid="63" grpId="0" animBg="1"/>
      <p:bldP spid="64" grpId="0" animBg="1"/>
      <p:bldP spid="65" grpId="0" animBg="1"/>
      <p:bldP spid="66" grpId="0" animBg="1"/>
      <p:bldP spid="68" grpId="0" animBg="1"/>
      <p:bldP spid="69" grpId="0" animBg="1"/>
      <p:bldP spid="70"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p:bldP spid="97" grpId="0"/>
      <p:bldP spid="118" grpId="0" animBg="1"/>
      <p:bldP spid="119" grpId="0" animBg="1"/>
      <p:bldP spid="120" grpId="0" animBg="1"/>
      <p:bldP spid="121" grpId="0" animBg="1"/>
      <p:bldP spid="123" grpId="0" animBg="1"/>
      <p:bldP spid="124" grpId="0"/>
      <p:bldP spid="125" grpId="0" animBg="1"/>
      <p:bldP spid="127" grpId="0"/>
      <p:bldP spid="12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感知系统</a:t>
            </a:r>
            <a:endParaRPr lang="zh-CN" altLang="en-US" sz="2400" b="1" dirty="0">
              <a:latin typeface="微软雅黑" panose="020B0503020204020204" pitchFamily="34" charset="-122"/>
              <a:ea typeface="微软雅黑" panose="020B0503020204020204" pitchFamily="34" charset="-122"/>
            </a:endParaRPr>
          </a:p>
        </p:txBody>
      </p:sp>
      <p:graphicFrame>
        <p:nvGraphicFramePr>
          <p:cNvPr id="2" name="图示 1"/>
          <p:cNvGraphicFramePr/>
          <p:nvPr>
            <p:extLst>
              <p:ext uri="{D42A27DB-BD31-4B8C-83A1-F6EECF244321}">
                <p14:modId xmlns:p14="http://schemas.microsoft.com/office/powerpoint/2010/main" val="3565908529"/>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圆角矩形标注 4"/>
          <p:cNvSpPr/>
          <p:nvPr/>
        </p:nvSpPr>
        <p:spPr>
          <a:xfrm>
            <a:off x="7108166" y="241142"/>
            <a:ext cx="1828800" cy="1072139"/>
          </a:xfrm>
          <a:prstGeom prst="wedgeRoundRectCallout">
            <a:avLst>
              <a:gd name="adj1" fmla="val -69517"/>
              <a:gd name="adj2" fmla="val 60098"/>
              <a:gd name="adj3" fmla="val 16667"/>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设备告警、指标告警</a:t>
            </a:r>
            <a:endParaRPr lang="zh-CN" altLang="en-US" dirty="0">
              <a:solidFill>
                <a:schemeClr val="tx1"/>
              </a:solidFill>
            </a:endParaRPr>
          </a:p>
        </p:txBody>
      </p:sp>
      <p:sp>
        <p:nvSpPr>
          <p:cNvPr id="99" name="圆角矩形标注 98"/>
          <p:cNvSpPr/>
          <p:nvPr/>
        </p:nvSpPr>
        <p:spPr>
          <a:xfrm>
            <a:off x="9072114" y="3654327"/>
            <a:ext cx="1828800" cy="1072139"/>
          </a:xfrm>
          <a:prstGeom prst="wedgeRoundRectCallout">
            <a:avLst>
              <a:gd name="adj1" fmla="val -69517"/>
              <a:gd name="adj2" fmla="val -52546"/>
              <a:gd name="adj3" fmla="val 16667"/>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网络外部声音</a:t>
            </a:r>
            <a:endParaRPr lang="zh-CN" altLang="en-US" dirty="0">
              <a:solidFill>
                <a:schemeClr val="tx1"/>
              </a:solidFill>
            </a:endParaRPr>
          </a:p>
        </p:txBody>
      </p:sp>
      <p:sp>
        <p:nvSpPr>
          <p:cNvPr id="101" name="圆角矩形标注 100"/>
          <p:cNvSpPr/>
          <p:nvPr/>
        </p:nvSpPr>
        <p:spPr>
          <a:xfrm>
            <a:off x="3220529" y="5048931"/>
            <a:ext cx="1828800" cy="1072139"/>
          </a:xfrm>
          <a:prstGeom prst="wedgeRoundRectCallout">
            <a:avLst>
              <a:gd name="adj1" fmla="val 69162"/>
              <a:gd name="adj2" fmla="val 3776"/>
              <a:gd name="adj3" fmla="val 16667"/>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构成网络的基础数据</a:t>
            </a:r>
            <a:endParaRPr lang="zh-CN" altLang="en-US" dirty="0">
              <a:solidFill>
                <a:schemeClr val="tx1"/>
              </a:solidFill>
            </a:endParaRPr>
          </a:p>
        </p:txBody>
      </p:sp>
      <p:sp>
        <p:nvSpPr>
          <p:cNvPr id="102" name="圆角矩形标注 101"/>
          <p:cNvSpPr/>
          <p:nvPr/>
        </p:nvSpPr>
        <p:spPr>
          <a:xfrm>
            <a:off x="1647826" y="1491972"/>
            <a:ext cx="1828800" cy="1072139"/>
          </a:xfrm>
          <a:prstGeom prst="wedgeRoundRectCallout">
            <a:avLst>
              <a:gd name="adj1" fmla="val 67275"/>
              <a:gd name="adj2" fmla="val 76190"/>
              <a:gd name="adj3" fmla="val 16667"/>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隐性事件</a:t>
            </a:r>
            <a:endParaRPr lang="zh-CN" altLang="en-US" dirty="0">
              <a:solidFill>
                <a:schemeClr val="tx1"/>
              </a:solidFill>
            </a:endParaRPr>
          </a:p>
        </p:txBody>
      </p:sp>
    </p:spTree>
    <p:extLst>
      <p:ext uri="{BB962C8B-B14F-4D97-AF65-F5344CB8AC3E}">
        <p14:creationId xmlns:p14="http://schemas.microsoft.com/office/powerpoint/2010/main" val="2921286671"/>
      </p:ext>
    </p:extLst>
  </p:cSld>
  <p:clrMapOvr>
    <a:masterClrMapping/>
  </p:clrMapOvr>
  <p:transition spd="med">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1652813" y="1092376"/>
            <a:ext cx="8510362" cy="4931339"/>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44928" y="742052"/>
            <a:ext cx="5469440" cy="461665"/>
          </a:xfrm>
          <a:prstGeom prst="rect">
            <a:avLst/>
          </a:prstGeom>
          <a:noFill/>
        </p:spPr>
        <p:txBody>
          <a:bodyPr wrap="square" rtlCol="0">
            <a:spAutoFit/>
          </a:bodyPr>
          <a:lstStyle/>
          <a:p>
            <a:r>
              <a:rPr lang="zh-CN" altLang="en-US" sz="2400" b="1" dirty="0" smtClean="0">
                <a:solidFill>
                  <a:srgbClr val="333F50"/>
                </a:solidFill>
              </a:rPr>
              <a:t>决策系统</a:t>
            </a:r>
            <a:endParaRPr lang="zh-CN" altLang="en-US" sz="2400" b="1" dirty="0">
              <a:solidFill>
                <a:srgbClr val="333F50"/>
              </a:solidFill>
            </a:endParaRPr>
          </a:p>
        </p:txBody>
      </p:sp>
      <p:sp>
        <p:nvSpPr>
          <p:cNvPr id="59" name="圆角矩形 58"/>
          <p:cNvSpPr/>
          <p:nvPr/>
        </p:nvSpPr>
        <p:spPr>
          <a:xfrm>
            <a:off x="4813300" y="1460205"/>
            <a:ext cx="1830705" cy="4495800"/>
          </a:xfrm>
          <a:prstGeom prst="roundRect">
            <a:avLst/>
          </a:prstGeom>
          <a:noFill/>
          <a:ln w="28575">
            <a:prstDash val="lgDash"/>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0" name="文本框 59"/>
          <p:cNvSpPr txBox="1"/>
          <p:nvPr/>
        </p:nvSpPr>
        <p:spPr>
          <a:xfrm>
            <a:off x="4722812" y="6044269"/>
            <a:ext cx="2011680" cy="368300"/>
          </a:xfrm>
          <a:prstGeom prst="rect">
            <a:avLst/>
          </a:prstGeom>
          <a:noFill/>
        </p:spPr>
        <p:txBody>
          <a:bodyPr wrap="none" rtlCol="0">
            <a:spAutoFit/>
          </a:bodyPr>
          <a:lstStyle/>
          <a:p>
            <a:r>
              <a:rPr lang="zh-CN" altLang="en-US" b="1" dirty="0">
                <a:solidFill>
                  <a:schemeClr val="accent1"/>
                </a:solidFill>
                <a:effectLst>
                  <a:outerShdw blurRad="38100" dist="25400" dir="5400000" algn="ctr" rotWithShape="0">
                    <a:srgbClr val="6E747A">
                      <a:alpha val="43000"/>
                    </a:srgbClr>
                  </a:outerShdw>
                </a:effectLst>
              </a:rPr>
              <a:t>决策系统核心模块</a:t>
            </a:r>
          </a:p>
        </p:txBody>
      </p:sp>
      <p:sp>
        <p:nvSpPr>
          <p:cNvPr id="38" name="文本框 37"/>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1038" name="左右箭头 1037"/>
          <p:cNvSpPr/>
          <p:nvPr/>
        </p:nvSpPr>
        <p:spPr>
          <a:xfrm>
            <a:off x="6884773" y="4288470"/>
            <a:ext cx="1438639" cy="370157"/>
          </a:xfrm>
          <a:prstGeom prst="leftRightArrow">
            <a:avLst/>
          </a:prstGeom>
          <a:solidFill>
            <a:srgbClr val="FFFFFF"/>
          </a:solidFill>
          <a:ln w="28575">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9" name="文本框 1038"/>
          <p:cNvSpPr txBox="1"/>
          <p:nvPr/>
        </p:nvSpPr>
        <p:spPr>
          <a:xfrm>
            <a:off x="6906935" y="3708105"/>
            <a:ext cx="1521065" cy="646331"/>
          </a:xfrm>
          <a:prstGeom prst="rect">
            <a:avLst/>
          </a:prstGeom>
          <a:noFill/>
        </p:spPr>
        <p:txBody>
          <a:bodyPr wrap="square" rtlCol="0">
            <a:spAutoFit/>
          </a:bodyPr>
          <a:lstStyle/>
          <a:p>
            <a:r>
              <a:rPr lang="zh-CN" altLang="en-US" dirty="0" smtClean="0"/>
              <a:t>通过感知系统闭环反馈</a:t>
            </a:r>
            <a:endParaRPr lang="zh-CN" altLang="en-US" dirty="0"/>
          </a:p>
        </p:txBody>
      </p:sp>
      <p:sp>
        <p:nvSpPr>
          <p:cNvPr id="8" name="左弧形箭头 7"/>
          <p:cNvSpPr/>
          <p:nvPr/>
        </p:nvSpPr>
        <p:spPr>
          <a:xfrm rot="16200000" flipH="1">
            <a:off x="3727118" y="-243330"/>
            <a:ext cx="709687" cy="2914650"/>
          </a:xfrm>
          <a:prstGeom prst="curvedRightArrow">
            <a:avLst/>
          </a:prstGeom>
          <a:solidFill>
            <a:srgbClr val="D9D9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左弧形箭头 22"/>
          <p:cNvSpPr/>
          <p:nvPr/>
        </p:nvSpPr>
        <p:spPr>
          <a:xfrm rot="16200000" flipV="1">
            <a:off x="5219301" y="2274544"/>
            <a:ext cx="1018700" cy="7257347"/>
          </a:xfrm>
          <a:prstGeom prst="curved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矩形 23"/>
          <p:cNvSpPr/>
          <p:nvPr/>
        </p:nvSpPr>
        <p:spPr>
          <a:xfrm>
            <a:off x="3226915" y="1190172"/>
            <a:ext cx="3507577" cy="1378196"/>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25" name="矩形 24"/>
          <p:cNvSpPr/>
          <p:nvPr/>
        </p:nvSpPr>
        <p:spPr>
          <a:xfrm>
            <a:off x="4883079" y="2457450"/>
            <a:ext cx="2001694" cy="1150348"/>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26" name="矩形 25"/>
          <p:cNvSpPr/>
          <p:nvPr/>
        </p:nvSpPr>
        <p:spPr>
          <a:xfrm>
            <a:off x="6426305" y="1464040"/>
            <a:ext cx="2048809" cy="1123138"/>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27" name="矩形 26"/>
          <p:cNvSpPr/>
          <p:nvPr/>
        </p:nvSpPr>
        <p:spPr>
          <a:xfrm>
            <a:off x="8606840" y="1558415"/>
            <a:ext cx="2048809" cy="3654894"/>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034" name="矩形标注 1033"/>
          <p:cNvSpPr/>
          <p:nvPr/>
        </p:nvSpPr>
        <p:spPr>
          <a:xfrm>
            <a:off x="5110661" y="368206"/>
            <a:ext cx="2356569" cy="1160730"/>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利用智库中的算法及模型对数据进行判别及分析</a:t>
            </a:r>
            <a:endParaRPr lang="zh-CN" altLang="en-US" dirty="0"/>
          </a:p>
        </p:txBody>
      </p:sp>
      <p:sp>
        <p:nvSpPr>
          <p:cNvPr id="28" name="矩形 27"/>
          <p:cNvSpPr/>
          <p:nvPr/>
        </p:nvSpPr>
        <p:spPr>
          <a:xfrm>
            <a:off x="3291709" y="3607798"/>
            <a:ext cx="3615226" cy="2304577"/>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22" name="左弧形箭头 21"/>
          <p:cNvSpPr/>
          <p:nvPr/>
        </p:nvSpPr>
        <p:spPr>
          <a:xfrm rot="16200000" flipH="1">
            <a:off x="7200248" y="-283232"/>
            <a:ext cx="709687" cy="2914650"/>
          </a:xfrm>
          <a:prstGeom prst="curvedRightArrow">
            <a:avLst/>
          </a:prstGeom>
          <a:solidFill>
            <a:srgbClr val="D9D9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2" name="矩形标注 91"/>
          <p:cNvSpPr/>
          <p:nvPr/>
        </p:nvSpPr>
        <p:spPr>
          <a:xfrm flipH="1">
            <a:off x="4568044" y="3260658"/>
            <a:ext cx="2356569" cy="1160730"/>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使用反馈的数据对算法模型进行完善，达到自我学习的功能</a:t>
            </a:r>
            <a:endParaRPr lang="zh-CN" altLang="en-US" dirty="0"/>
          </a:p>
        </p:txBody>
      </p:sp>
    </p:spTree>
    <p:extLst>
      <p:ext uri="{BB962C8B-B14F-4D97-AF65-F5344CB8AC3E}">
        <p14:creationId xmlns:p14="http://schemas.microsoft.com/office/powerpoint/2010/main" val="101577710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24"/>
                                        </p:tgtEl>
                                      </p:cBhvr>
                                    </p:animEffect>
                                    <p:set>
                                      <p:cBhvr>
                                        <p:cTn id="7" dur="1" fill="hold">
                                          <p:stCondLst>
                                            <p:cond delay="499"/>
                                          </p:stCondLst>
                                        </p:cTn>
                                        <p:tgtEl>
                                          <p:spTgt spid="2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25"/>
                                        </p:tgtEl>
                                      </p:cBhvr>
                                    </p:animEffect>
                                    <p:set>
                                      <p:cBhvr>
                                        <p:cTn id="12" dur="1" fill="hold">
                                          <p:stCondLst>
                                            <p:cond delay="499"/>
                                          </p:stCondLst>
                                        </p:cTn>
                                        <p:tgtEl>
                                          <p:spTgt spid="2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034"/>
                                        </p:tgtEl>
                                        <p:attrNameLst>
                                          <p:attrName>style.visibility</p:attrName>
                                        </p:attrNameLst>
                                      </p:cBhvr>
                                      <p:to>
                                        <p:strVal val="visible"/>
                                      </p:to>
                                    </p:set>
                                    <p:animEffect transition="in" filter="fade">
                                      <p:cBhvr>
                                        <p:cTn id="17" dur="1000"/>
                                        <p:tgtEl>
                                          <p:spTgt spid="1034"/>
                                        </p:tgtEl>
                                      </p:cBhvr>
                                    </p:animEffect>
                                    <p:anim calcmode="lin" valueType="num">
                                      <p:cBhvr>
                                        <p:cTn id="18" dur="1000" fill="hold"/>
                                        <p:tgtEl>
                                          <p:spTgt spid="1034"/>
                                        </p:tgtEl>
                                        <p:attrNameLst>
                                          <p:attrName>ppt_x</p:attrName>
                                        </p:attrNameLst>
                                      </p:cBhvr>
                                      <p:tavLst>
                                        <p:tav tm="0">
                                          <p:val>
                                            <p:strVal val="#ppt_x"/>
                                          </p:val>
                                        </p:tav>
                                        <p:tav tm="100000">
                                          <p:val>
                                            <p:strVal val="#ppt_x"/>
                                          </p:val>
                                        </p:tav>
                                      </p:tavLst>
                                    </p:anim>
                                    <p:anim calcmode="lin" valueType="num">
                                      <p:cBhvr>
                                        <p:cTn id="19" dur="1000" fill="hold"/>
                                        <p:tgtEl>
                                          <p:spTgt spid="103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xit" presetSubtype="0" fill="hold" grpId="1" nodeType="clickEffect">
                                  <p:stCondLst>
                                    <p:cond delay="0"/>
                                  </p:stCondLst>
                                  <p:childTnLst>
                                    <p:animEffect transition="out" filter="fade">
                                      <p:cBhvr>
                                        <p:cTn id="23" dur="1000"/>
                                        <p:tgtEl>
                                          <p:spTgt spid="1034"/>
                                        </p:tgtEl>
                                      </p:cBhvr>
                                    </p:animEffect>
                                    <p:anim calcmode="lin" valueType="num">
                                      <p:cBhvr>
                                        <p:cTn id="24" dur="1000"/>
                                        <p:tgtEl>
                                          <p:spTgt spid="1034"/>
                                        </p:tgtEl>
                                        <p:attrNameLst>
                                          <p:attrName>ppt_x</p:attrName>
                                        </p:attrNameLst>
                                      </p:cBhvr>
                                      <p:tavLst>
                                        <p:tav tm="0">
                                          <p:val>
                                            <p:strVal val="ppt_x"/>
                                          </p:val>
                                        </p:tav>
                                        <p:tav tm="100000">
                                          <p:val>
                                            <p:strVal val="ppt_x"/>
                                          </p:val>
                                        </p:tav>
                                      </p:tavLst>
                                    </p:anim>
                                    <p:anim calcmode="lin" valueType="num">
                                      <p:cBhvr>
                                        <p:cTn id="25" dur="1000"/>
                                        <p:tgtEl>
                                          <p:spTgt spid="1034"/>
                                        </p:tgtEl>
                                        <p:attrNameLst>
                                          <p:attrName>ppt_y</p:attrName>
                                        </p:attrNameLst>
                                      </p:cBhvr>
                                      <p:tavLst>
                                        <p:tav tm="0">
                                          <p:val>
                                            <p:strVal val="ppt_y"/>
                                          </p:val>
                                        </p:tav>
                                        <p:tav tm="100000">
                                          <p:val>
                                            <p:strVal val="ppt_y+.1"/>
                                          </p:val>
                                        </p:tav>
                                      </p:tavLst>
                                    </p:anim>
                                    <p:set>
                                      <p:cBhvr>
                                        <p:cTn id="26" dur="1" fill="hold">
                                          <p:stCondLst>
                                            <p:cond delay="999"/>
                                          </p:stCondLst>
                                        </p:cTn>
                                        <p:tgtEl>
                                          <p:spTgt spid="103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2" presetClass="exit" presetSubtype="4" fill="hold" grpId="0" nodeType="clickEffect">
                                  <p:stCondLst>
                                    <p:cond delay="0"/>
                                  </p:stCondLst>
                                  <p:childTnLst>
                                    <p:animEffect transition="out" filter="wipe(down)">
                                      <p:cBhvr>
                                        <p:cTn id="30" dur="500"/>
                                        <p:tgtEl>
                                          <p:spTgt spid="26"/>
                                        </p:tgtEl>
                                      </p:cBhvr>
                                    </p:animEffect>
                                    <p:set>
                                      <p:cBhvr>
                                        <p:cTn id="31" dur="1" fill="hold">
                                          <p:stCondLst>
                                            <p:cond delay="499"/>
                                          </p:stCondLst>
                                        </p:cTn>
                                        <p:tgtEl>
                                          <p:spTgt spid="26"/>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xit" presetSubtype="4" fill="hold" grpId="0" nodeType="clickEffect">
                                  <p:stCondLst>
                                    <p:cond delay="0"/>
                                  </p:stCondLst>
                                  <p:childTnLst>
                                    <p:animEffect transition="out" filter="wipe(down)">
                                      <p:cBhvr>
                                        <p:cTn id="35" dur="500"/>
                                        <p:tgtEl>
                                          <p:spTgt spid="27"/>
                                        </p:tgtEl>
                                      </p:cBhvr>
                                    </p:animEffect>
                                    <p:set>
                                      <p:cBhvr>
                                        <p:cTn id="36" dur="1" fill="hold">
                                          <p:stCondLst>
                                            <p:cond delay="499"/>
                                          </p:stCondLst>
                                        </p:cTn>
                                        <p:tgtEl>
                                          <p:spTgt spid="27"/>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randombar(horizontal)">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randombar(horizontal)">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randombar(horizontal)">
                                      <p:cBhvr>
                                        <p:cTn id="51"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xit" presetSubtype="4" fill="hold" grpId="0" nodeType="clickEffect">
                                  <p:stCondLst>
                                    <p:cond delay="0"/>
                                  </p:stCondLst>
                                  <p:childTnLst>
                                    <p:animEffect transition="out" filter="wipe(down)">
                                      <p:cBhvr>
                                        <p:cTn id="55" dur="500"/>
                                        <p:tgtEl>
                                          <p:spTgt spid="28"/>
                                        </p:tgtEl>
                                      </p:cBhvr>
                                    </p:animEffect>
                                    <p:set>
                                      <p:cBhvr>
                                        <p:cTn id="56" dur="1" fill="hold">
                                          <p:stCondLst>
                                            <p:cond delay="499"/>
                                          </p:stCondLst>
                                        </p:cTn>
                                        <p:tgtEl>
                                          <p:spTgt spid="28"/>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92"/>
                                        </p:tgtEl>
                                        <p:attrNameLst>
                                          <p:attrName>style.visibility</p:attrName>
                                        </p:attrNameLst>
                                      </p:cBhvr>
                                      <p:to>
                                        <p:strVal val="visible"/>
                                      </p:to>
                                    </p:set>
                                    <p:animEffect transition="in" filter="fade">
                                      <p:cBhvr>
                                        <p:cTn id="61" dur="1000"/>
                                        <p:tgtEl>
                                          <p:spTgt spid="92"/>
                                        </p:tgtEl>
                                      </p:cBhvr>
                                    </p:animEffect>
                                    <p:anim calcmode="lin" valueType="num">
                                      <p:cBhvr>
                                        <p:cTn id="62" dur="1000" fill="hold"/>
                                        <p:tgtEl>
                                          <p:spTgt spid="92"/>
                                        </p:tgtEl>
                                        <p:attrNameLst>
                                          <p:attrName>ppt_x</p:attrName>
                                        </p:attrNameLst>
                                      </p:cBhvr>
                                      <p:tavLst>
                                        <p:tav tm="0">
                                          <p:val>
                                            <p:strVal val="#ppt_x"/>
                                          </p:val>
                                        </p:tav>
                                        <p:tav tm="100000">
                                          <p:val>
                                            <p:strVal val="#ppt_x"/>
                                          </p:val>
                                        </p:tav>
                                      </p:tavLst>
                                    </p:anim>
                                    <p:anim calcmode="lin" valueType="num">
                                      <p:cBhvr>
                                        <p:cTn id="63" dur="1000" fill="hold"/>
                                        <p:tgtEl>
                                          <p:spTgt spid="92"/>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xit" presetSubtype="0" fill="hold" grpId="1" nodeType="clickEffect">
                                  <p:stCondLst>
                                    <p:cond delay="0"/>
                                  </p:stCondLst>
                                  <p:childTnLst>
                                    <p:animEffect transition="out" filter="fade">
                                      <p:cBhvr>
                                        <p:cTn id="67" dur="1000"/>
                                        <p:tgtEl>
                                          <p:spTgt spid="92"/>
                                        </p:tgtEl>
                                      </p:cBhvr>
                                    </p:animEffect>
                                    <p:anim calcmode="lin" valueType="num">
                                      <p:cBhvr>
                                        <p:cTn id="68" dur="1000"/>
                                        <p:tgtEl>
                                          <p:spTgt spid="92"/>
                                        </p:tgtEl>
                                        <p:attrNameLst>
                                          <p:attrName>ppt_x</p:attrName>
                                        </p:attrNameLst>
                                      </p:cBhvr>
                                      <p:tavLst>
                                        <p:tav tm="0">
                                          <p:val>
                                            <p:strVal val="ppt_x"/>
                                          </p:val>
                                        </p:tav>
                                        <p:tav tm="100000">
                                          <p:val>
                                            <p:strVal val="ppt_x"/>
                                          </p:val>
                                        </p:tav>
                                      </p:tavLst>
                                    </p:anim>
                                    <p:anim calcmode="lin" valueType="num">
                                      <p:cBhvr>
                                        <p:cTn id="69" dur="1000"/>
                                        <p:tgtEl>
                                          <p:spTgt spid="92"/>
                                        </p:tgtEl>
                                        <p:attrNameLst>
                                          <p:attrName>ppt_y</p:attrName>
                                        </p:attrNameLst>
                                      </p:cBhvr>
                                      <p:tavLst>
                                        <p:tav tm="0">
                                          <p:val>
                                            <p:strVal val="ppt_y"/>
                                          </p:val>
                                        </p:tav>
                                        <p:tav tm="100000">
                                          <p:val>
                                            <p:strVal val="ppt_y+.1"/>
                                          </p:val>
                                        </p:tav>
                                      </p:tavLst>
                                    </p:anim>
                                    <p:set>
                                      <p:cBhvr>
                                        <p:cTn id="70" dur="1" fill="hold">
                                          <p:stCondLst>
                                            <p:cond delay="999"/>
                                          </p:stCondLst>
                                        </p:cTn>
                                        <p:tgtEl>
                                          <p:spTgt spid="92"/>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1039"/>
                                        </p:tgtEl>
                                        <p:attrNameLst>
                                          <p:attrName>style.visibility</p:attrName>
                                        </p:attrNameLst>
                                      </p:cBhvr>
                                      <p:to>
                                        <p:strVal val="visible"/>
                                      </p:to>
                                    </p:set>
                                    <p:animEffect transition="in" filter="wipe(down)">
                                      <p:cBhvr>
                                        <p:cTn id="75" dur="500"/>
                                        <p:tgtEl>
                                          <p:spTgt spid="1039"/>
                                        </p:tgtEl>
                                      </p:cBhvr>
                                    </p:animEffect>
                                  </p:childTnLst>
                                </p:cTn>
                              </p:par>
                              <p:par>
                                <p:cTn id="76" presetID="22" presetClass="entr" presetSubtype="4" fill="hold" grpId="0" nodeType="withEffect">
                                  <p:stCondLst>
                                    <p:cond delay="0"/>
                                  </p:stCondLst>
                                  <p:childTnLst>
                                    <p:set>
                                      <p:cBhvr>
                                        <p:cTn id="77" dur="1" fill="hold">
                                          <p:stCondLst>
                                            <p:cond delay="0"/>
                                          </p:stCondLst>
                                        </p:cTn>
                                        <p:tgtEl>
                                          <p:spTgt spid="1038"/>
                                        </p:tgtEl>
                                        <p:attrNameLst>
                                          <p:attrName>style.visibility</p:attrName>
                                        </p:attrNameLst>
                                      </p:cBhvr>
                                      <p:to>
                                        <p:strVal val="visible"/>
                                      </p:to>
                                    </p:set>
                                    <p:animEffect transition="in" filter="wipe(down)">
                                      <p:cBhvr>
                                        <p:cTn id="78" dur="500"/>
                                        <p:tgtEl>
                                          <p:spTgt spid="1038"/>
                                        </p:tgtEl>
                                      </p:cBhvr>
                                    </p:animEffect>
                                  </p:childTnLst>
                                </p:cTn>
                              </p:par>
                            </p:childTnLst>
                          </p:cTn>
                        </p:par>
                      </p:childTnLst>
                    </p:cTn>
                  </p:par>
                  <p:par>
                    <p:cTn id="79" fill="hold">
                      <p:stCondLst>
                        <p:cond delay="indefinite"/>
                      </p:stCondLst>
                      <p:childTnLst>
                        <p:par>
                          <p:cTn id="80" fill="hold">
                            <p:stCondLst>
                              <p:cond delay="0"/>
                            </p:stCondLst>
                            <p:childTnLst>
                              <p:par>
                                <p:cTn id="81" presetID="53" presetClass="entr" presetSubtype="16" fill="hold" grpId="0" nodeType="clickEffect">
                                  <p:stCondLst>
                                    <p:cond delay="0"/>
                                  </p:stCondLst>
                                  <p:childTnLst>
                                    <p:set>
                                      <p:cBhvr>
                                        <p:cTn id="82" dur="1" fill="hold">
                                          <p:stCondLst>
                                            <p:cond delay="0"/>
                                          </p:stCondLst>
                                        </p:cTn>
                                        <p:tgtEl>
                                          <p:spTgt spid="59"/>
                                        </p:tgtEl>
                                        <p:attrNameLst>
                                          <p:attrName>style.visibility</p:attrName>
                                        </p:attrNameLst>
                                      </p:cBhvr>
                                      <p:to>
                                        <p:strVal val="visible"/>
                                      </p:to>
                                    </p:set>
                                    <p:anim calcmode="lin" valueType="num">
                                      <p:cBhvr>
                                        <p:cTn id="83" dur="500" fill="hold"/>
                                        <p:tgtEl>
                                          <p:spTgt spid="59"/>
                                        </p:tgtEl>
                                        <p:attrNameLst>
                                          <p:attrName>ppt_w</p:attrName>
                                        </p:attrNameLst>
                                      </p:cBhvr>
                                      <p:tavLst>
                                        <p:tav tm="0">
                                          <p:val>
                                            <p:fltVal val="0"/>
                                          </p:val>
                                        </p:tav>
                                        <p:tav tm="100000">
                                          <p:val>
                                            <p:strVal val="#ppt_w"/>
                                          </p:val>
                                        </p:tav>
                                      </p:tavLst>
                                    </p:anim>
                                    <p:anim calcmode="lin" valueType="num">
                                      <p:cBhvr>
                                        <p:cTn id="84" dur="500" fill="hold"/>
                                        <p:tgtEl>
                                          <p:spTgt spid="59"/>
                                        </p:tgtEl>
                                        <p:attrNameLst>
                                          <p:attrName>ppt_h</p:attrName>
                                        </p:attrNameLst>
                                      </p:cBhvr>
                                      <p:tavLst>
                                        <p:tav tm="0">
                                          <p:val>
                                            <p:fltVal val="0"/>
                                          </p:val>
                                        </p:tav>
                                        <p:tav tm="100000">
                                          <p:val>
                                            <p:strVal val="#ppt_h"/>
                                          </p:val>
                                        </p:tav>
                                      </p:tavLst>
                                    </p:anim>
                                    <p:animEffect transition="in" filter="fade">
                                      <p:cBhvr>
                                        <p:cTn id="85" dur="500"/>
                                        <p:tgtEl>
                                          <p:spTgt spid="59"/>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60"/>
                                        </p:tgtEl>
                                        <p:attrNameLst>
                                          <p:attrName>style.visibility</p:attrName>
                                        </p:attrNameLst>
                                      </p:cBhvr>
                                      <p:to>
                                        <p:strVal val="visible"/>
                                      </p:to>
                                    </p:set>
                                    <p:anim calcmode="lin" valueType="num">
                                      <p:cBhvr>
                                        <p:cTn id="88" dur="500" fill="hold"/>
                                        <p:tgtEl>
                                          <p:spTgt spid="60"/>
                                        </p:tgtEl>
                                        <p:attrNameLst>
                                          <p:attrName>ppt_w</p:attrName>
                                        </p:attrNameLst>
                                      </p:cBhvr>
                                      <p:tavLst>
                                        <p:tav tm="0">
                                          <p:val>
                                            <p:fltVal val="0"/>
                                          </p:val>
                                        </p:tav>
                                        <p:tav tm="100000">
                                          <p:val>
                                            <p:strVal val="#ppt_w"/>
                                          </p:val>
                                        </p:tav>
                                      </p:tavLst>
                                    </p:anim>
                                    <p:anim calcmode="lin" valueType="num">
                                      <p:cBhvr>
                                        <p:cTn id="89" dur="500" fill="hold"/>
                                        <p:tgtEl>
                                          <p:spTgt spid="60"/>
                                        </p:tgtEl>
                                        <p:attrNameLst>
                                          <p:attrName>ppt_h</p:attrName>
                                        </p:attrNameLst>
                                      </p:cBhvr>
                                      <p:tavLst>
                                        <p:tav tm="0">
                                          <p:val>
                                            <p:fltVal val="0"/>
                                          </p:val>
                                        </p:tav>
                                        <p:tav tm="100000">
                                          <p:val>
                                            <p:strVal val="#ppt_h"/>
                                          </p:val>
                                        </p:tav>
                                      </p:tavLst>
                                    </p:anim>
                                    <p:animEffect transition="in" filter="fade">
                                      <p:cBhvr>
                                        <p:cTn id="90"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0" grpId="0"/>
      <p:bldP spid="1038" grpId="0" animBg="1"/>
      <p:bldP spid="1039" grpId="0"/>
      <p:bldP spid="8" grpId="0" animBg="1"/>
      <p:bldP spid="23" grpId="0" animBg="1"/>
      <p:bldP spid="24" grpId="0" animBg="1"/>
      <p:bldP spid="25" grpId="0" animBg="1"/>
      <p:bldP spid="26" grpId="0" animBg="1"/>
      <p:bldP spid="27" grpId="0" animBg="1"/>
      <p:bldP spid="1034" grpId="0" animBg="1"/>
      <p:bldP spid="1034" grpId="1" animBg="1"/>
      <p:bldP spid="28" grpId="0" animBg="1"/>
      <p:bldP spid="22" grpId="0" animBg="1"/>
      <p:bldP spid="92" grpId="0" animBg="1"/>
      <p:bldP spid="92"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rgbClr val="323F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控制系统</a:t>
            </a:r>
            <a:endParaRPr lang="zh-CN" altLang="en-US" dirty="0">
              <a:solidFill>
                <a:srgbClr val="333F50"/>
              </a:solidFill>
            </a:endParaRPr>
          </a:p>
        </p:txBody>
      </p:sp>
      <p:sp>
        <p:nvSpPr>
          <p:cNvPr id="23" name="文本框 22"/>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grpSp>
        <p:nvGrpSpPr>
          <p:cNvPr id="9" name="组合 8"/>
          <p:cNvGrpSpPr/>
          <p:nvPr/>
        </p:nvGrpSpPr>
        <p:grpSpPr>
          <a:xfrm>
            <a:off x="3183890" y="1708905"/>
            <a:ext cx="1441450" cy="869315"/>
            <a:chOff x="5053" y="1918"/>
            <a:chExt cx="2270" cy="1369"/>
          </a:xfrm>
        </p:grpSpPr>
        <p:sp>
          <p:nvSpPr>
            <p:cNvPr id="20" name="右箭头 19"/>
            <p:cNvSpPr/>
            <p:nvPr/>
          </p:nvSpPr>
          <p:spPr>
            <a:xfrm>
              <a:off x="5053" y="2678"/>
              <a:ext cx="2270" cy="609"/>
            </a:xfrm>
            <a:prstGeom prst="rightArrow">
              <a:avLst/>
            </a:prstGeom>
            <a:solidFill>
              <a:srgbClr val="00B05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1" name="文本框 20"/>
            <p:cNvSpPr txBox="1"/>
            <p:nvPr/>
          </p:nvSpPr>
          <p:spPr>
            <a:xfrm>
              <a:off x="5403" y="1918"/>
              <a:ext cx="1728" cy="580"/>
            </a:xfrm>
            <a:prstGeom prst="rect">
              <a:avLst/>
            </a:prstGeom>
            <a:noFill/>
          </p:spPr>
          <p:txBody>
            <a:bodyPr wrap="none" rtlCol="0">
              <a:spAutoFit/>
            </a:bodyPr>
            <a:lstStyle/>
            <a:p>
              <a:r>
                <a:rPr lang="zh-CN" altLang="en-US"/>
                <a:t>决策指令</a:t>
              </a:r>
            </a:p>
          </p:txBody>
        </p:sp>
      </p:grpSp>
      <p:sp>
        <p:nvSpPr>
          <p:cNvPr id="11" name="右箭头 10"/>
          <p:cNvSpPr/>
          <p:nvPr/>
        </p:nvSpPr>
        <p:spPr>
          <a:xfrm rot="10800000">
            <a:off x="3202940" y="4537830"/>
            <a:ext cx="1352550" cy="38671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3" name="圆角矩形 12"/>
          <p:cNvSpPr/>
          <p:nvPr/>
        </p:nvSpPr>
        <p:spPr>
          <a:xfrm>
            <a:off x="4930775" y="1847970"/>
            <a:ext cx="1313815" cy="3169285"/>
          </a:xfrm>
          <a:prstGeom prst="roundRect">
            <a:avLst/>
          </a:prstGeom>
          <a:solidFill>
            <a:schemeClr val="accent5">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smtClean="0"/>
              <a:t>流程处理模块</a:t>
            </a:r>
            <a:endParaRPr lang="zh-CN" altLang="en-US" b="1" dirty="0"/>
          </a:p>
        </p:txBody>
      </p:sp>
      <p:sp>
        <p:nvSpPr>
          <p:cNvPr id="14" name="圆角矩形 13"/>
          <p:cNvSpPr/>
          <p:nvPr/>
        </p:nvSpPr>
        <p:spPr>
          <a:xfrm>
            <a:off x="1664970" y="3194805"/>
            <a:ext cx="1313815" cy="1960245"/>
          </a:xfrm>
          <a:prstGeom prst="roundRect">
            <a:avLst/>
          </a:prstGeom>
          <a:solidFill>
            <a:srgbClr val="1CBDE8"/>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t>感知系统</a:t>
            </a:r>
            <a:endParaRPr lang="zh-CN" altLang="en-US" dirty="0"/>
          </a:p>
        </p:txBody>
      </p:sp>
      <p:sp>
        <p:nvSpPr>
          <p:cNvPr id="15" name="圆角矩形 14"/>
          <p:cNvSpPr/>
          <p:nvPr/>
        </p:nvSpPr>
        <p:spPr>
          <a:xfrm>
            <a:off x="1664970" y="1945760"/>
            <a:ext cx="1313815" cy="1061085"/>
          </a:xfrm>
          <a:prstGeom prst="roundRect">
            <a:avLst/>
          </a:prstGeom>
          <a:solidFill>
            <a:srgbClr val="00B05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a:t>决策系统</a:t>
            </a:r>
          </a:p>
        </p:txBody>
      </p:sp>
      <p:sp>
        <p:nvSpPr>
          <p:cNvPr id="17" name="右箭头 16"/>
          <p:cNvSpPr/>
          <p:nvPr/>
        </p:nvSpPr>
        <p:spPr>
          <a:xfrm>
            <a:off x="6446520" y="2928105"/>
            <a:ext cx="1522730" cy="1009015"/>
          </a:xfrm>
          <a:prstGeom prst="rightArrow">
            <a:avLst/>
          </a:prstGeom>
          <a:solidFill>
            <a:srgbClr val="8FAADC"/>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9" name="圆角矩形 18"/>
          <p:cNvSpPr/>
          <p:nvPr/>
        </p:nvSpPr>
        <p:spPr>
          <a:xfrm>
            <a:off x="8171815" y="1847970"/>
            <a:ext cx="1313815" cy="3306445"/>
          </a:xfrm>
          <a:prstGeom prst="roundRect">
            <a:avLst/>
          </a:prstGeom>
          <a:solidFill>
            <a:schemeClr val="bg1">
              <a:lumMod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smtClean="0"/>
              <a:t>信息通报模块</a:t>
            </a:r>
            <a:endParaRPr lang="zh-CN" altLang="en-US" b="1" dirty="0"/>
          </a:p>
        </p:txBody>
      </p:sp>
      <p:sp>
        <p:nvSpPr>
          <p:cNvPr id="22" name="圆角矩形 21"/>
          <p:cNvSpPr/>
          <p:nvPr/>
        </p:nvSpPr>
        <p:spPr>
          <a:xfrm>
            <a:off x="4760595" y="1503680"/>
            <a:ext cx="5026025" cy="4158615"/>
          </a:xfrm>
          <a:prstGeom prst="roundRect">
            <a:avLst/>
          </a:prstGeom>
          <a:noFill/>
          <a:ln w="28575">
            <a:prstDash val="lgDash"/>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 name="文本框 1"/>
          <p:cNvSpPr txBox="1"/>
          <p:nvPr/>
        </p:nvSpPr>
        <p:spPr>
          <a:xfrm>
            <a:off x="3370580" y="5131555"/>
            <a:ext cx="1588770" cy="369332"/>
          </a:xfrm>
          <a:prstGeom prst="rect">
            <a:avLst/>
          </a:prstGeom>
          <a:noFill/>
        </p:spPr>
        <p:txBody>
          <a:bodyPr wrap="square" rtlCol="0">
            <a:spAutoFit/>
          </a:bodyPr>
          <a:lstStyle/>
          <a:p>
            <a:r>
              <a:rPr lang="zh-CN" altLang="en-US" dirty="0" smtClean="0"/>
              <a:t>完成闭环</a:t>
            </a:r>
            <a:endParaRPr lang="zh-CN" altLang="en-US" dirty="0"/>
          </a:p>
        </p:txBody>
      </p:sp>
      <p:sp>
        <p:nvSpPr>
          <p:cNvPr id="24" name="文本框 23"/>
          <p:cNvSpPr txBox="1"/>
          <p:nvPr/>
        </p:nvSpPr>
        <p:spPr>
          <a:xfrm>
            <a:off x="6267767" y="5832852"/>
            <a:ext cx="2011680" cy="368300"/>
          </a:xfrm>
          <a:prstGeom prst="rect">
            <a:avLst/>
          </a:prstGeom>
          <a:noFill/>
        </p:spPr>
        <p:txBody>
          <a:bodyPr wrap="none" rtlCol="0">
            <a:spAutoFit/>
          </a:bodyPr>
          <a:lstStyle/>
          <a:p>
            <a:r>
              <a:rPr lang="zh-CN" altLang="en-US" b="1" dirty="0" smtClean="0">
                <a:solidFill>
                  <a:schemeClr val="accent1"/>
                </a:solidFill>
                <a:effectLst>
                  <a:outerShdw blurRad="38100" dist="25400" dir="5400000" algn="ctr" rotWithShape="0">
                    <a:srgbClr val="6E747A">
                      <a:alpha val="43000"/>
                    </a:srgbClr>
                  </a:outerShdw>
                </a:effectLst>
              </a:rPr>
              <a:t>控制系统</a:t>
            </a:r>
            <a:r>
              <a:rPr lang="zh-CN" altLang="en-US" b="1" dirty="0">
                <a:solidFill>
                  <a:schemeClr val="accent1"/>
                </a:solidFill>
                <a:effectLst>
                  <a:outerShdw blurRad="38100" dist="25400" dir="5400000" algn="ctr" rotWithShape="0">
                    <a:srgbClr val="6E747A">
                      <a:alpha val="43000"/>
                    </a:srgbClr>
                  </a:outerShdw>
                </a:effectLst>
              </a:rPr>
              <a:t>核心模块</a:t>
            </a:r>
          </a:p>
        </p:txBody>
      </p:sp>
      <p:pic>
        <p:nvPicPr>
          <p:cNvPr id="3074" name="Picture 2" descr="“process icon”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9842" y="2267329"/>
            <a:ext cx="924242" cy="92424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nform icon”的图片搜索结果"/>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5593" y="2112221"/>
            <a:ext cx="1081015" cy="108101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p:cNvPicPr>
            <a:picLocks noChangeAspect="1" noChangeArrowheads="1"/>
          </p:cNvPicPr>
          <p:nvPr/>
        </p:nvPicPr>
        <p:blipFill>
          <a:blip r:embed="rId5" cstate="print"/>
          <a:srcRect/>
          <a:stretch>
            <a:fillRect/>
          </a:stretch>
        </p:blipFill>
        <p:spPr bwMode="auto">
          <a:xfrm>
            <a:off x="6446520" y="1847970"/>
            <a:ext cx="5372504" cy="3481684"/>
          </a:xfrm>
          <a:prstGeom prst="rect">
            <a:avLst/>
          </a:prstGeom>
          <a:noFill/>
          <a:ln w="9525">
            <a:noFill/>
            <a:miter lim="800000"/>
            <a:headEnd/>
            <a:tailEnd/>
          </a:ln>
        </p:spPr>
      </p:pic>
    </p:spTree>
    <p:extLst>
      <p:ext uri="{BB962C8B-B14F-4D97-AF65-F5344CB8AC3E}">
        <p14:creationId xmlns:p14="http://schemas.microsoft.com/office/powerpoint/2010/main" val="146841987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Vertical)">
                                      <p:cBhvr>
                                        <p:cTn id="7" dur="500"/>
                                        <p:tgtEl>
                                          <p:spTgt spid="15"/>
                                        </p:tgtEl>
                                      </p:cBhvr>
                                    </p:animEffect>
                                  </p:childTnLst>
                                </p:cTn>
                              </p:par>
                              <p:par>
                                <p:cTn id="8" presetID="16" presetClass="entr" presetSubtype="21"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arn(inVertical)">
                                      <p:cBhvr>
                                        <p:cTn id="15" dur="500"/>
                                        <p:tgtEl>
                                          <p:spTgt spid="13"/>
                                        </p:tgtEl>
                                      </p:cBhvr>
                                    </p:animEffect>
                                  </p:childTnLst>
                                </p:cTn>
                              </p:par>
                              <p:par>
                                <p:cTn id="16" presetID="16" presetClass="entr" presetSubtype="21" fill="hold" nodeType="withEffect">
                                  <p:stCondLst>
                                    <p:cond delay="0"/>
                                  </p:stCondLst>
                                  <p:childTnLst>
                                    <p:set>
                                      <p:cBhvr>
                                        <p:cTn id="17" dur="1" fill="hold">
                                          <p:stCondLst>
                                            <p:cond delay="0"/>
                                          </p:stCondLst>
                                        </p:cTn>
                                        <p:tgtEl>
                                          <p:spTgt spid="3074"/>
                                        </p:tgtEl>
                                        <p:attrNameLst>
                                          <p:attrName>style.visibility</p:attrName>
                                        </p:attrNameLst>
                                      </p:cBhvr>
                                      <p:to>
                                        <p:strVal val="visible"/>
                                      </p:to>
                                    </p:set>
                                    <p:animEffect transition="in" filter="barn(inVertical)">
                                      <p:cBhvr>
                                        <p:cTn id="18" dur="500"/>
                                        <p:tgtEl>
                                          <p:spTgt spid="3074"/>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randombar(horizontal)">
                                      <p:cBhvr>
                                        <p:cTn id="23" dur="500"/>
                                        <p:tgtEl>
                                          <p:spTgt spid="2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25"/>
                                        </p:tgtEl>
                                      </p:cBhvr>
                                    </p:animEffect>
                                    <p:set>
                                      <p:cBhvr>
                                        <p:cTn id="28" dur="1" fill="hold">
                                          <p:stCondLst>
                                            <p:cond delay="499"/>
                                          </p:stCondLst>
                                        </p:cTn>
                                        <p:tgtEl>
                                          <p:spTgt spid="25"/>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3078"/>
                                        </p:tgtEl>
                                        <p:attrNameLst>
                                          <p:attrName>style.visibility</p:attrName>
                                        </p:attrNameLst>
                                      </p:cBhvr>
                                      <p:to>
                                        <p:strVal val="visible"/>
                                      </p:to>
                                    </p:set>
                                    <p:animEffect transition="in" filter="fade">
                                      <p:cBhvr>
                                        <p:cTn id="39" dur="500"/>
                                        <p:tgtEl>
                                          <p:spTgt spid="3078"/>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1000"/>
                                        <p:tgtEl>
                                          <p:spTgt spid="24"/>
                                        </p:tgtEl>
                                      </p:cBhvr>
                                    </p:animEffect>
                                    <p:anim calcmode="lin" valueType="num">
                                      <p:cBhvr>
                                        <p:cTn id="45" dur="1000" fill="hold"/>
                                        <p:tgtEl>
                                          <p:spTgt spid="24"/>
                                        </p:tgtEl>
                                        <p:attrNameLst>
                                          <p:attrName>ppt_x</p:attrName>
                                        </p:attrNameLst>
                                      </p:cBhvr>
                                      <p:tavLst>
                                        <p:tav tm="0">
                                          <p:val>
                                            <p:strVal val="#ppt_x"/>
                                          </p:val>
                                        </p:tav>
                                        <p:tav tm="100000">
                                          <p:val>
                                            <p:strVal val="#ppt_x"/>
                                          </p:val>
                                        </p:tav>
                                      </p:tavLst>
                                    </p:anim>
                                    <p:anim calcmode="lin" valueType="num">
                                      <p:cBhvr>
                                        <p:cTn id="46" dur="1000" fill="hold"/>
                                        <p:tgtEl>
                                          <p:spTgt spid="24"/>
                                        </p:tgtEl>
                                        <p:attrNameLst>
                                          <p:attrName>ppt_y</p:attrName>
                                        </p:attrNameLst>
                                      </p:cBhvr>
                                      <p:tavLst>
                                        <p:tav tm="0">
                                          <p:val>
                                            <p:strVal val="#ppt_y+.1"/>
                                          </p:val>
                                        </p:tav>
                                        <p:tav tm="100000">
                                          <p:val>
                                            <p:strVal val="#ppt_y"/>
                                          </p:val>
                                        </p:tav>
                                      </p:tavLst>
                                    </p:anim>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fade">
                                      <p:cBhvr>
                                        <p:cTn id="6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17" grpId="0" animBg="1"/>
      <p:bldP spid="19" grpId="0" animBg="1"/>
      <p:bldP spid="22" grpId="0" animBg="1"/>
      <p:bldP spid="2" grpId="0"/>
      <p:bldP spid="2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847850" y="3329752"/>
            <a:ext cx="1781175" cy="507831"/>
          </a:xfrm>
          <a:prstGeom prst="rect">
            <a:avLst/>
          </a:prstGeom>
          <a:solidFill>
            <a:schemeClr val="tx2">
              <a:lumMod val="75000"/>
            </a:schemeClr>
          </a:solidFill>
        </p:spPr>
        <p:txBody>
          <a:bodyPr wrap="square" rtlCol="0">
            <a:spAutoFit/>
          </a:bodyPr>
          <a:lstStyle/>
          <a:p>
            <a:pPr marL="285750" algn="ctr">
              <a:lnSpc>
                <a:spcPct val="150000"/>
              </a:lnSpc>
            </a:pPr>
            <a:r>
              <a:rPr lang="zh-CN" altLang="en-US" dirty="0" smtClean="0">
                <a:solidFill>
                  <a:schemeClr val="bg1"/>
                </a:solidFill>
              </a:rPr>
              <a:t>故障管理</a:t>
            </a:r>
            <a:endParaRPr lang="en-US" altLang="zh-CN" dirty="0" smtClean="0">
              <a:solidFill>
                <a:schemeClr val="bg1"/>
              </a:solidFill>
            </a:endParaRPr>
          </a:p>
        </p:txBody>
      </p:sp>
      <p:sp>
        <p:nvSpPr>
          <p:cNvPr id="9" name="圆角矩形 8"/>
          <p:cNvSpPr/>
          <p:nvPr/>
        </p:nvSpPr>
        <p:spPr>
          <a:xfrm>
            <a:off x="5862864" y="1190171"/>
            <a:ext cx="3385911" cy="47357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6172425" y="4656137"/>
            <a:ext cx="2766787" cy="109582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采集数据（</a:t>
            </a:r>
            <a:r>
              <a:rPr lang="zh-CN" altLang="en-US" dirty="0" smtClean="0">
                <a:solidFill>
                  <a:schemeClr val="tx1"/>
                </a:solidFill>
              </a:rPr>
              <a:t>感知</a:t>
            </a:r>
            <a:r>
              <a:rPr lang="zh-CN" altLang="en-US" dirty="0" smtClean="0"/>
              <a:t>）</a:t>
            </a:r>
            <a:endParaRPr lang="zh-CN" altLang="en-US" dirty="0"/>
          </a:p>
        </p:txBody>
      </p:sp>
      <p:sp>
        <p:nvSpPr>
          <p:cNvPr id="11" name="圆角矩形 10"/>
          <p:cNvSpPr/>
          <p:nvPr/>
        </p:nvSpPr>
        <p:spPr>
          <a:xfrm>
            <a:off x="6172427" y="3068184"/>
            <a:ext cx="2766786" cy="1054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异常检测、根因分析（</a:t>
            </a:r>
            <a:r>
              <a:rPr lang="zh-CN" altLang="en-US" dirty="0" smtClean="0">
                <a:solidFill>
                  <a:schemeClr val="tx1"/>
                </a:solidFill>
              </a:rPr>
              <a:t>决策</a:t>
            </a:r>
            <a:r>
              <a:rPr lang="zh-CN" altLang="en-US" dirty="0" smtClean="0"/>
              <a:t>）</a:t>
            </a:r>
            <a:endParaRPr lang="zh-CN" altLang="en-US" dirty="0"/>
          </a:p>
        </p:txBody>
      </p:sp>
      <p:sp>
        <p:nvSpPr>
          <p:cNvPr id="12" name="圆角矩形 11"/>
          <p:cNvSpPr/>
          <p:nvPr/>
        </p:nvSpPr>
        <p:spPr>
          <a:xfrm>
            <a:off x="6172425" y="1415369"/>
            <a:ext cx="2766787" cy="111895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故障处理（</a:t>
            </a:r>
            <a:r>
              <a:rPr lang="zh-CN" altLang="en-US" dirty="0" smtClean="0">
                <a:solidFill>
                  <a:schemeClr val="tx1"/>
                </a:solidFill>
              </a:rPr>
              <a:t>控制</a:t>
            </a:r>
            <a:r>
              <a:rPr lang="zh-CN" altLang="en-US" dirty="0" smtClean="0"/>
              <a:t>）</a:t>
            </a:r>
            <a:endParaRPr lang="zh-CN" altLang="en-US" dirty="0"/>
          </a:p>
        </p:txBody>
      </p:sp>
      <p:sp>
        <p:nvSpPr>
          <p:cNvPr id="13" name="左大括号 12"/>
          <p:cNvSpPr/>
          <p:nvPr/>
        </p:nvSpPr>
        <p:spPr>
          <a:xfrm>
            <a:off x="4362450" y="1132335"/>
            <a:ext cx="1009650" cy="4925796"/>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文本框 2"/>
          <p:cNvSpPr txBox="1"/>
          <p:nvPr/>
        </p:nvSpPr>
        <p:spPr>
          <a:xfrm>
            <a:off x="914400" y="800100"/>
            <a:ext cx="1943100" cy="369332"/>
          </a:xfrm>
          <a:prstGeom prst="rect">
            <a:avLst/>
          </a:prstGeom>
          <a:noFill/>
        </p:spPr>
        <p:txBody>
          <a:bodyPr wrap="square" rtlCol="0">
            <a:spAutoFit/>
          </a:bodyPr>
          <a:lstStyle/>
          <a:p>
            <a:r>
              <a:rPr lang="zh-CN" altLang="en-US" dirty="0" smtClean="0"/>
              <a:t>以故障管理为例</a:t>
            </a:r>
            <a:endParaRPr lang="zh-CN" altLang="en-US" dirty="0"/>
          </a:p>
        </p:txBody>
      </p:sp>
    </p:spTree>
    <p:extLst>
      <p:ext uri="{BB962C8B-B14F-4D97-AF65-F5344CB8AC3E}">
        <p14:creationId xmlns:p14="http://schemas.microsoft.com/office/powerpoint/2010/main" val="3348270215"/>
      </p:ext>
    </p:extLst>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24114" y="657028"/>
            <a:ext cx="3944865" cy="461665"/>
          </a:xfrm>
          <a:prstGeom prst="rect">
            <a:avLst/>
          </a:prstGeom>
          <a:noFill/>
        </p:spPr>
        <p:txBody>
          <a:bodyPr wrap="square" rtlCol="0">
            <a:spAutoFit/>
          </a:bodyPr>
          <a:lstStyle/>
          <a:p>
            <a:r>
              <a:rPr lang="zh-CN" altLang="en-US" sz="2400" dirty="0">
                <a:solidFill>
                  <a:srgbClr val="333F50"/>
                </a:solidFill>
              </a:rPr>
              <a:t>故障管理</a:t>
            </a:r>
            <a:r>
              <a:rPr lang="en-US" altLang="zh-CN" sz="2400" dirty="0">
                <a:solidFill>
                  <a:srgbClr val="333F50"/>
                </a:solidFill>
                <a:sym typeface="Wingdings" panose="05000000000000000000" pitchFamily="2" charset="2"/>
              </a:rPr>
              <a:t></a:t>
            </a:r>
            <a:r>
              <a:rPr lang="zh-CN" altLang="en-US" sz="2400" dirty="0" smtClean="0">
                <a:solidFill>
                  <a:srgbClr val="333F50"/>
                </a:solidFill>
              </a:rPr>
              <a:t>异常检测</a:t>
            </a:r>
            <a:endParaRPr lang="zh-CN" altLang="en-US" sz="2400" dirty="0">
              <a:solidFill>
                <a:srgbClr val="333F50"/>
              </a:solidFill>
            </a:endParaRPr>
          </a:p>
        </p:txBody>
      </p:sp>
      <p:sp>
        <p:nvSpPr>
          <p:cNvPr id="7" name="文本框 6"/>
          <p:cNvSpPr txBox="1"/>
          <p:nvPr/>
        </p:nvSpPr>
        <p:spPr>
          <a:xfrm>
            <a:off x="721810" y="1958290"/>
            <a:ext cx="4610100" cy="15261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smtClean="0">
                <a:latin typeface="微软雅黑" panose="020B0503020204020204" pitchFamily="34" charset="-122"/>
                <a:ea typeface="微软雅黑" panose="020B0503020204020204" pitchFamily="34" charset="-122"/>
              </a:rPr>
              <a:t>在城域网维护过程中，存在着大量的</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指标（链路利用率、端口状态、</a:t>
            </a:r>
            <a:r>
              <a:rPr lang="en-US" altLang="zh-CN" sz="1600" dirty="0" smtClean="0">
                <a:latin typeface="微软雅黑" panose="020B0503020204020204" pitchFamily="34" charset="-122"/>
                <a:ea typeface="微软雅黑" panose="020B0503020204020204" pitchFamily="34" charset="-122"/>
              </a:rPr>
              <a:t>CPU</a:t>
            </a:r>
            <a:r>
              <a:rPr lang="zh-CN" altLang="en-US" sz="1600" dirty="0" smtClean="0">
                <a:latin typeface="微软雅黑" panose="020B0503020204020204" pitchFamily="34" charset="-122"/>
                <a:ea typeface="微软雅黑" panose="020B0503020204020204" pitchFamily="34" charset="-122"/>
              </a:rPr>
              <a:t>利用率、内存利用率</a:t>
            </a:r>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），当这些</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指标发生异常时，如何能够快速检测。</a:t>
            </a:r>
            <a:endParaRPr lang="en-US" altLang="zh-CN" sz="1600" dirty="0" smtClean="0">
              <a:latin typeface="微软雅黑" panose="020B0503020204020204" pitchFamily="34" charset="-122"/>
              <a:ea typeface="微软雅黑" panose="020B0503020204020204" pitchFamily="34" charset="-122"/>
            </a:endParaRPr>
          </a:p>
        </p:txBody>
      </p:sp>
      <p:pic>
        <p:nvPicPr>
          <p:cNvPr id="1026" name="Picture 2" descr="“aiops 异常检测”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5300" y="1827212"/>
            <a:ext cx="6074759" cy="3392034"/>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a:xfrm>
            <a:off x="1033823" y="3514483"/>
            <a:ext cx="2552344" cy="5078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输入</a:t>
            </a:r>
            <a:endParaRPr lang="en-US" altLang="zh-CN" dirty="0"/>
          </a:p>
        </p:txBody>
      </p:sp>
      <p:sp>
        <p:nvSpPr>
          <p:cNvPr id="13" name="矩形 12"/>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4" name="文本框 13"/>
          <p:cNvSpPr txBox="1"/>
          <p:nvPr/>
        </p:nvSpPr>
        <p:spPr>
          <a:xfrm>
            <a:off x="721810" y="4149277"/>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zh-CN" altLang="en-US" dirty="0"/>
              <a:t>一根待标注的</a:t>
            </a:r>
            <a:r>
              <a:rPr lang="en-US" altLang="zh-CN" dirty="0"/>
              <a:t>KPI</a:t>
            </a:r>
            <a:r>
              <a:rPr lang="zh-CN" altLang="en-US" dirty="0"/>
              <a:t>曲线和一段已经标注出的异常</a:t>
            </a:r>
            <a:r>
              <a:rPr lang="zh-CN" altLang="en-US" dirty="0" smtClean="0"/>
              <a:t>片段</a:t>
            </a:r>
            <a:r>
              <a:rPr lang="zh-CN" altLang="en-US" dirty="0"/>
              <a:t>（模板）</a:t>
            </a:r>
            <a:endParaRPr lang="en-US" altLang="zh-CN" dirty="0" smtClean="0"/>
          </a:p>
        </p:txBody>
      </p:sp>
      <p:sp>
        <p:nvSpPr>
          <p:cNvPr id="15" name="文本框 14"/>
          <p:cNvSpPr txBox="1"/>
          <p:nvPr/>
        </p:nvSpPr>
        <p:spPr>
          <a:xfrm>
            <a:off x="721810" y="5693164"/>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en-US" altLang="zh-CN" dirty="0"/>
              <a:t>KPI</a:t>
            </a:r>
            <a:r>
              <a:rPr lang="zh-CN" altLang="en-US" dirty="0"/>
              <a:t>曲线上与模板相似的异常片段 </a:t>
            </a:r>
            <a:endParaRPr lang="en-US" altLang="zh-CN" dirty="0" smtClean="0"/>
          </a:p>
        </p:txBody>
      </p:sp>
      <p:sp>
        <p:nvSpPr>
          <p:cNvPr id="16" name="矩形 15"/>
          <p:cNvSpPr/>
          <p:nvPr/>
        </p:nvSpPr>
        <p:spPr>
          <a:xfrm>
            <a:off x="1033823" y="1577419"/>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17" name="文本框 16"/>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29113598"/>
      </p:ext>
    </p:extLst>
  </p:cSld>
  <p:clrMapOvr>
    <a:masterClrMapping/>
  </p:clrMapOvr>
  <p:transition spd="med">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413510" y="2186940"/>
            <a:ext cx="9488805" cy="3692525"/>
          </a:xfrm>
          <a:prstGeom prst="rect">
            <a:avLst/>
          </a:prstGeom>
          <a:noFill/>
        </p:spPr>
        <p:txBody>
          <a:bodyPr wrap="square" rtlCol="0">
            <a:spAutoFit/>
          </a:bodyPr>
          <a:lstStyle/>
          <a:p>
            <a:pPr indent="0" fontAlgn="auto">
              <a:lnSpc>
                <a:spcPct val="150000"/>
              </a:lnSpc>
            </a:pPr>
            <a:r>
              <a:rPr lang="zh-CN" altLang="en-US" sz="2400" dirty="0" smtClean="0"/>
              <a:t> 一、数据预处理</a:t>
            </a:r>
          </a:p>
          <a:p>
            <a:pPr indent="0" fontAlgn="auto">
              <a:lnSpc>
                <a:spcPct val="150000"/>
              </a:lnSpc>
            </a:pPr>
            <a:r>
              <a:rPr lang="en-US" altLang="zh-CN" dirty="0" smtClean="0">
                <a:sym typeface="+mn-ea"/>
              </a:rPr>
              <a:t>	</a:t>
            </a:r>
            <a:r>
              <a:rPr lang="zh-CN" altLang="en-US" dirty="0" smtClean="0">
                <a:sym typeface="+mn-ea"/>
              </a:rPr>
              <a:t>利用无监督分类算法对原始数据进行</a:t>
            </a:r>
            <a:r>
              <a:rPr lang="zh-CN" altLang="en-US" dirty="0" smtClean="0">
                <a:solidFill>
                  <a:srgbClr val="C00000"/>
                </a:solidFill>
                <a:sym typeface="+mn-ea"/>
              </a:rPr>
              <a:t>预筛选</a:t>
            </a:r>
            <a:r>
              <a:rPr lang="zh-CN" altLang="en-US" dirty="0" smtClean="0">
                <a:sym typeface="+mn-ea"/>
              </a:rPr>
              <a:t>，降低数据噪声，提高标记效率</a:t>
            </a:r>
            <a:endParaRPr lang="en-US" altLang="zh-CN" dirty="0" smtClean="0"/>
          </a:p>
          <a:p>
            <a:pPr indent="0" fontAlgn="auto">
              <a:lnSpc>
                <a:spcPct val="150000"/>
              </a:lnSpc>
            </a:pPr>
            <a:r>
              <a:rPr lang="zh-CN" altLang="en-US" sz="2400" dirty="0" smtClean="0">
                <a:sym typeface="+mn-ea"/>
              </a:rPr>
              <a:t>二、异常标记</a:t>
            </a:r>
          </a:p>
          <a:p>
            <a:pPr indent="0" fontAlgn="auto">
              <a:lnSpc>
                <a:spcPct val="150000"/>
              </a:lnSpc>
            </a:pPr>
            <a:r>
              <a:rPr lang="en-US" altLang="zh-CN" sz="2400" dirty="0" smtClean="0">
                <a:sym typeface="+mn-ea"/>
              </a:rPr>
              <a:t>	</a:t>
            </a:r>
            <a:r>
              <a:rPr lang="zh-CN" altLang="en-US" dirty="0" smtClean="0">
                <a:sym typeface="+mn-ea"/>
              </a:rPr>
              <a:t>对预筛选好的数据进行异常时序段的</a:t>
            </a:r>
            <a:r>
              <a:rPr lang="zh-CN" altLang="en-US" dirty="0" smtClean="0">
                <a:solidFill>
                  <a:srgbClr val="C00000"/>
                </a:solidFill>
                <a:sym typeface="+mn-ea"/>
              </a:rPr>
              <a:t>标记</a:t>
            </a:r>
          </a:p>
          <a:p>
            <a:pPr indent="0" fontAlgn="auto">
              <a:lnSpc>
                <a:spcPct val="150000"/>
              </a:lnSpc>
            </a:pPr>
            <a:r>
              <a:rPr lang="zh-CN" altLang="en-US" sz="2400" dirty="0" smtClean="0">
                <a:sym typeface="+mn-ea"/>
              </a:rPr>
              <a:t>三、模型建立</a:t>
            </a:r>
          </a:p>
          <a:p>
            <a:pPr indent="0" fontAlgn="auto">
              <a:lnSpc>
                <a:spcPct val="150000"/>
              </a:lnSpc>
            </a:pPr>
            <a:r>
              <a:rPr lang="en-US" altLang="zh-CN" sz="2400" dirty="0" smtClean="0">
                <a:sym typeface="+mn-ea"/>
              </a:rPr>
              <a:t>	</a:t>
            </a:r>
            <a:r>
              <a:rPr lang="zh-CN" altLang="en-US" sz="1800" dirty="0" smtClean="0"/>
              <a:t>将数据、标记、以及算法准确性期望输入到模型（</a:t>
            </a:r>
            <a:r>
              <a:rPr lang="zh-CN" altLang="en-US" dirty="0" smtClean="0">
                <a:sym typeface="+mn-ea"/>
              </a:rPr>
              <a:t>机器学习算法</a:t>
            </a:r>
            <a:r>
              <a:rPr lang="zh-CN" altLang="en-US" sz="1800" dirty="0" smtClean="0"/>
              <a:t>）中，对模型进行参数调整，直至模型达到最优</a:t>
            </a:r>
            <a:r>
              <a:rPr lang="en-US" altLang="zh-CN" sz="1800" dirty="0" smtClean="0"/>
              <a:t>.</a:t>
            </a:r>
          </a:p>
        </p:txBody>
      </p:sp>
      <p:sp>
        <p:nvSpPr>
          <p:cNvPr id="9" name="文本框 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700949" y="688143"/>
            <a:ext cx="3944865" cy="461665"/>
          </a:xfrm>
          <a:prstGeom prst="rect">
            <a:avLst/>
          </a:prstGeom>
          <a:noFill/>
        </p:spPr>
        <p:txBody>
          <a:bodyPr wrap="square" rtlCol="0">
            <a:spAutoFit/>
          </a:bodyPr>
          <a:lstStyle/>
          <a:p>
            <a:pPr lvl="0"/>
            <a:r>
              <a:rPr lang="zh-CN" altLang="en-US" sz="2400" dirty="0">
                <a:solidFill>
                  <a:srgbClr val="333F50"/>
                </a:solidFill>
              </a:rPr>
              <a:t>故障管理</a:t>
            </a:r>
            <a:r>
              <a:rPr lang="en-US" altLang="zh-CN" sz="2400" dirty="0">
                <a:solidFill>
                  <a:srgbClr val="333F50"/>
                </a:solidFill>
                <a:sym typeface="Wingdings" panose="05000000000000000000" pitchFamily="2" charset="2"/>
              </a:rPr>
              <a:t></a:t>
            </a:r>
            <a:r>
              <a:rPr lang="zh-CN" altLang="en-US" sz="2400" dirty="0">
                <a:solidFill>
                  <a:srgbClr val="333F50"/>
                </a:solidFill>
              </a:rPr>
              <a:t>异常检测</a:t>
            </a:r>
          </a:p>
        </p:txBody>
      </p:sp>
      <p:sp>
        <p:nvSpPr>
          <p:cNvPr id="10" name="文本框 9"/>
          <p:cNvSpPr txBox="1"/>
          <p:nvPr/>
        </p:nvSpPr>
        <p:spPr>
          <a:xfrm>
            <a:off x="929005" y="1401445"/>
            <a:ext cx="1706880" cy="645160"/>
          </a:xfrm>
          <a:prstGeom prst="rect">
            <a:avLst/>
          </a:prstGeom>
          <a:noFill/>
        </p:spPr>
        <p:txBody>
          <a:bodyPr wrap="none" rtlCol="0" anchor="t">
            <a:spAutoFit/>
          </a:bodyPr>
          <a:lstStyle/>
          <a:p>
            <a:pPr indent="0" fontAlgn="auto">
              <a:lnSpc>
                <a:spcPct val="150000"/>
              </a:lnSpc>
            </a:pPr>
            <a:r>
              <a:rPr lang="zh-CN" altLang="en-US" sz="2400" dirty="0" smtClean="0">
                <a:sym typeface="+mn-ea"/>
              </a:rPr>
              <a:t>解决方案：</a:t>
            </a:r>
            <a:endParaRPr lang="zh-CN" altLang="en-US" sz="2400"/>
          </a:p>
        </p:txBody>
      </p:sp>
    </p:spTree>
    <p:extLst>
      <p:ext uri="{BB962C8B-B14F-4D97-AF65-F5344CB8AC3E}">
        <p14:creationId xmlns:p14="http://schemas.microsoft.com/office/powerpoint/2010/main" val="3919834212"/>
      </p:ext>
    </p:extLst>
  </p:cSld>
  <p:clrMapOvr>
    <a:masterClrMapping/>
  </p:clrMapOvr>
  <p:transition spd="med">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24114" y="686265"/>
            <a:ext cx="3944865" cy="461665"/>
          </a:xfrm>
          <a:prstGeom prst="rect">
            <a:avLst/>
          </a:prstGeom>
          <a:noFill/>
        </p:spPr>
        <p:txBody>
          <a:bodyPr wrap="square" rtlCol="0">
            <a:spAutoFit/>
          </a:bodyPr>
          <a:lstStyle/>
          <a:p>
            <a:pPr lvl="0"/>
            <a:r>
              <a:rPr lang="zh-CN" altLang="en-US" sz="2400" dirty="0">
                <a:solidFill>
                  <a:srgbClr val="333F50"/>
                </a:solidFill>
              </a:rPr>
              <a:t>故障管理</a:t>
            </a:r>
            <a:r>
              <a:rPr lang="en-US" altLang="zh-CN" sz="2400" dirty="0">
                <a:solidFill>
                  <a:srgbClr val="333F50"/>
                </a:solidFill>
                <a:sym typeface="Wingdings" panose="05000000000000000000" pitchFamily="2" charset="2"/>
              </a:rPr>
              <a:t></a:t>
            </a:r>
            <a:r>
              <a:rPr lang="zh-CN" altLang="en-US" sz="2400" dirty="0">
                <a:solidFill>
                  <a:srgbClr val="333F50"/>
                </a:solidFill>
              </a:rPr>
              <a:t>异常检测</a:t>
            </a:r>
          </a:p>
        </p:txBody>
      </p:sp>
      <p:sp>
        <p:nvSpPr>
          <p:cNvPr id="40" name="矩形 39"/>
          <p:cNvSpPr/>
          <p:nvPr/>
        </p:nvSpPr>
        <p:spPr>
          <a:xfrm>
            <a:off x="2912533" y="5804120"/>
            <a:ext cx="8141670" cy="9906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a:p>
        </p:txBody>
      </p:sp>
      <p:sp>
        <p:nvSpPr>
          <p:cNvPr id="50" name="圆柱形 49"/>
          <p:cNvSpPr/>
          <p:nvPr/>
        </p:nvSpPr>
        <p:spPr>
          <a:xfrm>
            <a:off x="3175316" y="5960736"/>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3392584" y="6169188"/>
            <a:ext cx="723900" cy="369332"/>
          </a:xfrm>
          <a:prstGeom prst="rect">
            <a:avLst/>
          </a:prstGeom>
          <a:noFill/>
        </p:spPr>
        <p:txBody>
          <a:bodyPr wrap="square" rtlCol="0">
            <a:spAutoFit/>
          </a:bodyPr>
          <a:lstStyle/>
          <a:p>
            <a:r>
              <a:rPr lang="zh-CN" altLang="en-US" dirty="0" smtClean="0"/>
              <a:t>数据</a:t>
            </a:r>
            <a:endParaRPr lang="zh-CN" altLang="en-US" dirty="0"/>
          </a:p>
        </p:txBody>
      </p:sp>
      <p:cxnSp>
        <p:nvCxnSpPr>
          <p:cNvPr id="52" name="直接箭头连接符 51"/>
          <p:cNvCxnSpPr/>
          <p:nvPr/>
        </p:nvCxnSpPr>
        <p:spPr>
          <a:xfrm>
            <a:off x="4237922" y="6341941"/>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4511624" y="6162960"/>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54" name="文本框 53"/>
          <p:cNvSpPr txBox="1"/>
          <p:nvPr/>
        </p:nvSpPr>
        <p:spPr>
          <a:xfrm>
            <a:off x="5867308" y="6162960"/>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cxnSp>
        <p:nvCxnSpPr>
          <p:cNvPr id="56" name="直接箭头连接符 55"/>
          <p:cNvCxnSpPr>
            <a:endCxn id="54" idx="1"/>
          </p:cNvCxnSpPr>
          <p:nvPr/>
        </p:nvCxnSpPr>
        <p:spPr>
          <a:xfrm>
            <a:off x="5435549" y="6333375"/>
            <a:ext cx="431759" cy="1425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9" name="圆角矩形 58"/>
          <p:cNvSpPr/>
          <p:nvPr/>
        </p:nvSpPr>
        <p:spPr>
          <a:xfrm>
            <a:off x="4205514" y="176897"/>
            <a:ext cx="7277100" cy="550169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60" name="圆柱形 59"/>
          <p:cNvSpPr/>
          <p:nvPr/>
        </p:nvSpPr>
        <p:spPr>
          <a:xfrm>
            <a:off x="4856331" y="836653"/>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5073599" y="1045105"/>
            <a:ext cx="723900" cy="369332"/>
          </a:xfrm>
          <a:prstGeom prst="rect">
            <a:avLst/>
          </a:prstGeom>
          <a:noFill/>
        </p:spPr>
        <p:txBody>
          <a:bodyPr wrap="square" rtlCol="0">
            <a:spAutoFit/>
          </a:bodyPr>
          <a:lstStyle/>
          <a:p>
            <a:r>
              <a:rPr lang="zh-CN" altLang="en-US" dirty="0" smtClean="0"/>
              <a:t>数据</a:t>
            </a:r>
            <a:endParaRPr lang="zh-CN" altLang="en-US" dirty="0"/>
          </a:p>
        </p:txBody>
      </p:sp>
      <p:sp>
        <p:nvSpPr>
          <p:cNvPr id="62" name="文本框 61"/>
          <p:cNvSpPr txBox="1"/>
          <p:nvPr/>
        </p:nvSpPr>
        <p:spPr>
          <a:xfrm>
            <a:off x="4952155" y="1983009"/>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63" name="文本框 62"/>
          <p:cNvSpPr txBox="1"/>
          <p:nvPr/>
        </p:nvSpPr>
        <p:spPr>
          <a:xfrm>
            <a:off x="5073599" y="2993747"/>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sp>
        <p:nvSpPr>
          <p:cNvPr id="64" name="文本框 63"/>
          <p:cNvSpPr txBox="1"/>
          <p:nvPr/>
        </p:nvSpPr>
        <p:spPr>
          <a:xfrm>
            <a:off x="6164218" y="1051962"/>
            <a:ext cx="16383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无监督分类器</a:t>
            </a:r>
            <a:endParaRPr lang="zh-CN" altLang="en-US" dirty="0"/>
          </a:p>
        </p:txBody>
      </p:sp>
      <p:sp>
        <p:nvSpPr>
          <p:cNvPr id="65" name="文本框 64"/>
          <p:cNvSpPr txBox="1"/>
          <p:nvPr/>
        </p:nvSpPr>
        <p:spPr>
          <a:xfrm>
            <a:off x="7844064" y="1731772"/>
            <a:ext cx="12192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solidFill>
                  <a:schemeClr val="dk1"/>
                </a:solidFill>
              </a:rPr>
              <a:t>标记工具</a:t>
            </a:r>
          </a:p>
        </p:txBody>
      </p:sp>
      <p:sp>
        <p:nvSpPr>
          <p:cNvPr id="66" name="文本框 65"/>
          <p:cNvSpPr txBox="1"/>
          <p:nvPr/>
        </p:nvSpPr>
        <p:spPr>
          <a:xfrm>
            <a:off x="9457480" y="3009404"/>
            <a:ext cx="140017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准确性倾向</a:t>
            </a:r>
            <a:endParaRPr lang="zh-CN" altLang="en-US" dirty="0"/>
          </a:p>
        </p:txBody>
      </p:sp>
      <p:pic>
        <p:nvPicPr>
          <p:cNvPr id="67" name="Picture 6" descr="“person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6410" y="210596"/>
            <a:ext cx="834509" cy="834509"/>
          </a:xfrm>
          <a:prstGeom prst="rect">
            <a:avLst/>
          </a:prstGeom>
          <a:noFill/>
          <a:extLst>
            <a:ext uri="{909E8E84-426E-40DD-AFC4-6F175D3DCCD1}">
              <a14:hiddenFill xmlns:a14="http://schemas.microsoft.com/office/drawing/2010/main">
                <a:solidFill>
                  <a:srgbClr val="FFFFFF"/>
                </a:solidFill>
              </a14:hiddenFill>
            </a:ext>
          </a:extLst>
        </p:spPr>
      </p:pic>
      <p:sp>
        <p:nvSpPr>
          <p:cNvPr id="68" name="文本框 67"/>
          <p:cNvSpPr txBox="1"/>
          <p:nvPr/>
        </p:nvSpPr>
        <p:spPr>
          <a:xfrm>
            <a:off x="8091714" y="3027789"/>
            <a:ext cx="7239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标记</a:t>
            </a:r>
          </a:p>
        </p:txBody>
      </p:sp>
      <p:sp>
        <p:nvSpPr>
          <p:cNvPr id="69" name="矩形 68"/>
          <p:cNvSpPr/>
          <p:nvPr/>
        </p:nvSpPr>
        <p:spPr>
          <a:xfrm>
            <a:off x="5064073" y="3722604"/>
            <a:ext cx="6012657" cy="1156163"/>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4903956" y="4038575"/>
            <a:ext cx="4933950" cy="461665"/>
          </a:xfrm>
          <a:prstGeom prst="rect">
            <a:avLst/>
          </a:prstGeom>
          <a:noFill/>
        </p:spPr>
        <p:txBody>
          <a:bodyPr wrap="square" rtlCol="0">
            <a:spAutoFit/>
          </a:bodyPr>
          <a:lstStyle/>
          <a:p>
            <a:pPr algn="ctr"/>
            <a:r>
              <a:rPr lang="zh-CN" altLang="en-US" sz="2400" dirty="0" smtClean="0"/>
              <a:t>机器学习算法（如随机森林）</a:t>
            </a:r>
            <a:endParaRPr lang="zh-CN" altLang="en-US" sz="2400" dirty="0"/>
          </a:p>
        </p:txBody>
      </p:sp>
      <p:cxnSp>
        <p:nvCxnSpPr>
          <p:cNvPr id="71" name="直接箭头连接符 70"/>
          <p:cNvCxnSpPr/>
          <p:nvPr/>
        </p:nvCxnSpPr>
        <p:spPr>
          <a:xfrm>
            <a:off x="9988435" y="3378736"/>
            <a:ext cx="0" cy="65983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60" idx="3"/>
          </p:cNvCxnSpPr>
          <p:nvPr/>
        </p:nvCxnSpPr>
        <p:spPr>
          <a:xfrm>
            <a:off x="5387634" y="1530807"/>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62" idx="2"/>
            <a:endCxn id="63" idx="0"/>
          </p:cNvCxnSpPr>
          <p:nvPr/>
        </p:nvCxnSpPr>
        <p:spPr>
          <a:xfrm>
            <a:off x="5414118" y="2352341"/>
            <a:ext cx="0" cy="64140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endCxn id="68" idx="0"/>
          </p:cNvCxnSpPr>
          <p:nvPr/>
        </p:nvCxnSpPr>
        <p:spPr>
          <a:xfrm>
            <a:off x="8453664" y="2101104"/>
            <a:ext cx="0" cy="9266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5435549" y="3371336"/>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8479857" y="3397121"/>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60" idx="4"/>
          </p:cNvCxnSpPr>
          <p:nvPr/>
        </p:nvCxnSpPr>
        <p:spPr>
          <a:xfrm>
            <a:off x="5918937" y="1183730"/>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64" idx="2"/>
          </p:cNvCxnSpPr>
          <p:nvPr/>
        </p:nvCxnSpPr>
        <p:spPr>
          <a:xfrm>
            <a:off x="6983368" y="1421294"/>
            <a:ext cx="0" cy="36546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6373768" y="1798343"/>
            <a:ext cx="1219200" cy="338554"/>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600" dirty="0"/>
              <a:t>预分</a:t>
            </a:r>
            <a:r>
              <a:rPr lang="zh-CN" altLang="en-US" sz="1600" dirty="0" smtClean="0"/>
              <a:t>类数据</a:t>
            </a:r>
            <a:endParaRPr lang="zh-CN" altLang="en-US" sz="1600" dirty="0">
              <a:solidFill>
                <a:schemeClr val="dk1"/>
              </a:solidFill>
            </a:endParaRPr>
          </a:p>
        </p:txBody>
      </p:sp>
      <p:cxnSp>
        <p:nvCxnSpPr>
          <p:cNvPr id="80" name="直接箭头连接符 79"/>
          <p:cNvCxnSpPr/>
          <p:nvPr/>
        </p:nvCxnSpPr>
        <p:spPr>
          <a:xfrm>
            <a:off x="7598783" y="1928524"/>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a:off x="8453664" y="1165343"/>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8486324" y="1170634"/>
            <a:ext cx="270688" cy="430887"/>
          </a:xfrm>
          <a:prstGeom prst="rect">
            <a:avLst/>
          </a:prstGeom>
          <a:noFill/>
        </p:spPr>
        <p:txBody>
          <a:bodyPr wrap="square" rtlCol="0">
            <a:spAutoFit/>
          </a:bodyPr>
          <a:lstStyle/>
          <a:p>
            <a:r>
              <a:rPr lang="zh-CN" altLang="en-US" sz="1100" dirty="0" smtClean="0"/>
              <a:t>使用</a:t>
            </a:r>
            <a:endParaRPr lang="zh-CN" altLang="en-US" sz="1100" dirty="0"/>
          </a:p>
        </p:txBody>
      </p:sp>
      <p:cxnSp>
        <p:nvCxnSpPr>
          <p:cNvPr id="83" name="直接连接符 82"/>
          <p:cNvCxnSpPr>
            <a:stCxn id="67" idx="3"/>
          </p:cNvCxnSpPr>
          <p:nvPr/>
        </p:nvCxnSpPr>
        <p:spPr>
          <a:xfrm>
            <a:off x="8870919" y="627851"/>
            <a:ext cx="1088941" cy="6835"/>
          </a:xfrm>
          <a:prstGeom prst="line">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a:off x="9969385" y="632456"/>
            <a:ext cx="19050" cy="239533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5" name="文本框 84"/>
          <p:cNvSpPr txBox="1"/>
          <p:nvPr/>
        </p:nvSpPr>
        <p:spPr>
          <a:xfrm>
            <a:off x="9959860" y="1497324"/>
            <a:ext cx="270688" cy="430887"/>
          </a:xfrm>
          <a:prstGeom prst="rect">
            <a:avLst/>
          </a:prstGeom>
          <a:noFill/>
        </p:spPr>
        <p:txBody>
          <a:bodyPr wrap="square" rtlCol="0">
            <a:spAutoFit/>
          </a:bodyPr>
          <a:lstStyle/>
          <a:p>
            <a:r>
              <a:rPr lang="zh-CN" altLang="en-US" sz="1100" dirty="0"/>
              <a:t>指定</a:t>
            </a:r>
          </a:p>
        </p:txBody>
      </p:sp>
      <p:sp>
        <p:nvSpPr>
          <p:cNvPr id="86" name="文本框 85"/>
          <p:cNvSpPr txBox="1"/>
          <p:nvPr/>
        </p:nvSpPr>
        <p:spPr>
          <a:xfrm>
            <a:off x="9416998" y="4121053"/>
            <a:ext cx="1162050" cy="276999"/>
          </a:xfrm>
          <a:prstGeom prst="rect">
            <a:avLst/>
          </a:prstGeom>
          <a:solidFill>
            <a:schemeClr val="tx1">
              <a:lumMod val="65000"/>
              <a:lumOff val="35000"/>
            </a:schemeClr>
          </a:solidFill>
          <a:ln>
            <a:solidFill>
              <a:srgbClr val="00206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200" dirty="0" smtClean="0">
                <a:solidFill>
                  <a:schemeClr val="bg1"/>
                </a:solidFill>
              </a:rPr>
              <a:t>分类阈值调整</a:t>
            </a:r>
            <a:endParaRPr lang="zh-CN" altLang="en-US" sz="1200" dirty="0">
              <a:solidFill>
                <a:schemeClr val="bg1"/>
              </a:solidFill>
            </a:endParaRPr>
          </a:p>
        </p:txBody>
      </p:sp>
      <p:sp>
        <p:nvSpPr>
          <p:cNvPr id="87" name="下箭头 86"/>
          <p:cNvSpPr/>
          <p:nvPr/>
        </p:nvSpPr>
        <p:spPr>
          <a:xfrm>
            <a:off x="7796377" y="4859974"/>
            <a:ext cx="657287" cy="4136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p:cNvSpPr txBox="1"/>
          <p:nvPr/>
        </p:nvSpPr>
        <p:spPr>
          <a:xfrm>
            <a:off x="7190947" y="5282373"/>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sp>
        <p:nvSpPr>
          <p:cNvPr id="89" name="文本框 88"/>
          <p:cNvSpPr txBox="1"/>
          <p:nvPr/>
        </p:nvSpPr>
        <p:spPr>
          <a:xfrm>
            <a:off x="925644" y="6112103"/>
            <a:ext cx="1156314" cy="374633"/>
          </a:xfrm>
          <a:prstGeom prst="rect">
            <a:avLst/>
          </a:prstGeom>
          <a:noFill/>
        </p:spPr>
        <p:txBody>
          <a:bodyPr wrap="square" rtlCol="0">
            <a:spAutoFit/>
          </a:bodyPr>
          <a:lstStyle/>
          <a:p>
            <a:r>
              <a:rPr lang="zh-CN" altLang="en-US" dirty="0" smtClean="0">
                <a:solidFill>
                  <a:srgbClr val="7030A0"/>
                </a:solidFill>
              </a:rPr>
              <a:t>在线检测</a:t>
            </a:r>
            <a:endParaRPr lang="zh-CN" altLang="en-US" dirty="0">
              <a:solidFill>
                <a:srgbClr val="7030A0"/>
              </a:solidFill>
            </a:endParaRPr>
          </a:p>
        </p:txBody>
      </p:sp>
      <p:sp>
        <p:nvSpPr>
          <p:cNvPr id="90" name="文本框 89"/>
          <p:cNvSpPr txBox="1"/>
          <p:nvPr/>
        </p:nvSpPr>
        <p:spPr>
          <a:xfrm>
            <a:off x="7055387" y="6155834"/>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cxnSp>
        <p:nvCxnSpPr>
          <p:cNvPr id="91" name="直接箭头连接符 90"/>
          <p:cNvCxnSpPr>
            <a:endCxn id="90" idx="1"/>
          </p:cNvCxnSpPr>
          <p:nvPr/>
        </p:nvCxnSpPr>
        <p:spPr>
          <a:xfrm>
            <a:off x="6552122" y="6333375"/>
            <a:ext cx="503265" cy="712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a:off x="8963489" y="6351843"/>
            <a:ext cx="625805" cy="133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9589293" y="6195586"/>
            <a:ext cx="1268361" cy="369332"/>
          </a:xfrm>
          <a:prstGeom prst="rect">
            <a:avLst/>
          </a:prstGeom>
          <a:noFill/>
        </p:spPr>
        <p:txBody>
          <a:bodyPr wrap="square" rtlCol="0">
            <a:spAutoFit/>
          </a:bodyPr>
          <a:lstStyle/>
          <a:p>
            <a:r>
              <a:rPr lang="zh-CN" altLang="en-US" dirty="0" smtClean="0"/>
              <a:t>检测结果</a:t>
            </a:r>
            <a:endParaRPr lang="zh-CN" altLang="en-US" dirty="0"/>
          </a:p>
        </p:txBody>
      </p:sp>
      <p:sp>
        <p:nvSpPr>
          <p:cNvPr id="97" name="文本框 96"/>
          <p:cNvSpPr txBox="1"/>
          <p:nvPr/>
        </p:nvSpPr>
        <p:spPr>
          <a:xfrm>
            <a:off x="924898" y="2558412"/>
            <a:ext cx="1157060" cy="369332"/>
          </a:xfrm>
          <a:prstGeom prst="rect">
            <a:avLst/>
          </a:prstGeom>
          <a:noFill/>
        </p:spPr>
        <p:txBody>
          <a:bodyPr wrap="square" rtlCol="0">
            <a:spAutoFit/>
          </a:bodyPr>
          <a:lstStyle/>
          <a:p>
            <a:r>
              <a:rPr lang="zh-CN" altLang="en-US" dirty="0" smtClean="0">
                <a:solidFill>
                  <a:schemeClr val="accent1">
                    <a:lumMod val="50000"/>
                  </a:schemeClr>
                </a:solidFill>
              </a:rPr>
              <a:t>离线训练</a:t>
            </a:r>
            <a:endParaRPr lang="zh-CN" altLang="en-US" dirty="0">
              <a:solidFill>
                <a:schemeClr val="accent1">
                  <a:lumMod val="50000"/>
                </a:schemeClr>
              </a:solidFill>
            </a:endParaRPr>
          </a:p>
        </p:txBody>
      </p:sp>
      <p:sp>
        <p:nvSpPr>
          <p:cNvPr id="55" name="文本框 5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251750"/>
      </p:ext>
    </p:extLst>
  </p:cSld>
  <p:clrMapOvr>
    <a:masterClrMapping/>
  </p:clrMapOvr>
  <p:transition spd="med">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24114" y="1554654"/>
            <a:ext cx="4610100" cy="1014730"/>
          </a:xfrm>
          <a:prstGeom prst="rect">
            <a:avLst/>
          </a:prstGeom>
          <a:noFill/>
        </p:spPr>
        <p:txBody>
          <a:bodyPr wrap="square" rtlCol="0">
            <a:spAutoFit/>
          </a:bodyPr>
          <a:lstStyle/>
          <a:p>
            <a:pPr indent="0" fontAlgn="auto">
              <a:lnSpc>
                <a:spcPct val="150000"/>
              </a:lnSpc>
            </a:pPr>
            <a:r>
              <a:rPr lang="zh-CN" altLang="en-US" sz="2000" dirty="0" smtClean="0"/>
              <a:t>对于几千条监控</a:t>
            </a:r>
            <a:r>
              <a:rPr lang="en-US" altLang="zh-CN" sz="2000" dirty="0" smtClean="0"/>
              <a:t>KPI</a:t>
            </a:r>
            <a:r>
              <a:rPr lang="zh-CN" altLang="en-US" sz="2000" dirty="0" smtClean="0"/>
              <a:t>，是否需要对每一条曲线进行反复测验确定算法呢</a:t>
            </a:r>
            <a:r>
              <a:rPr lang="zh-CN" altLang="en-US" sz="2000" dirty="0"/>
              <a:t>？</a:t>
            </a:r>
            <a:endParaRPr lang="en-US" altLang="zh-CN" sz="2000" dirty="0" smtClean="0"/>
          </a:p>
        </p:txBody>
      </p:sp>
      <p:sp>
        <p:nvSpPr>
          <p:cNvPr id="2" name="文本框 1"/>
          <p:cNvSpPr txBox="1"/>
          <p:nvPr/>
        </p:nvSpPr>
        <p:spPr>
          <a:xfrm>
            <a:off x="323759" y="2866918"/>
            <a:ext cx="5181600" cy="2861310"/>
          </a:xfrm>
          <a:prstGeom prst="rect">
            <a:avLst/>
          </a:prstGeom>
          <a:noFill/>
        </p:spPr>
        <p:txBody>
          <a:bodyPr wrap="square" rtlCol="0">
            <a:spAutoFit/>
          </a:bodyPr>
          <a:lstStyle/>
          <a:p>
            <a:pPr indent="457200">
              <a:lnSpc>
                <a:spcPct val="150000"/>
              </a:lnSpc>
            </a:pPr>
            <a:r>
              <a:rPr lang="zh-CN" altLang="en-US" sz="2000" dirty="0" smtClean="0"/>
              <a:t>答： 不需要！</a:t>
            </a:r>
            <a:endParaRPr lang="en-US" altLang="zh-CN" sz="2000" dirty="0" smtClean="0"/>
          </a:p>
          <a:p>
            <a:pPr indent="457200">
              <a:lnSpc>
                <a:spcPct val="150000"/>
              </a:lnSpc>
            </a:pPr>
            <a:r>
              <a:rPr lang="zh-CN" altLang="en-US" sz="2000" dirty="0" smtClean="0"/>
              <a:t>虽然监控</a:t>
            </a:r>
            <a:r>
              <a:rPr lang="en-US" altLang="zh-CN" sz="2000" dirty="0" smtClean="0"/>
              <a:t>KPI</a:t>
            </a:r>
            <a:r>
              <a:rPr lang="zh-CN" altLang="en-US" sz="2000" dirty="0" smtClean="0"/>
              <a:t>数量很多，但是种类却不多。</a:t>
            </a:r>
            <a:endParaRPr lang="en-US" altLang="zh-CN" sz="2000" dirty="0" smtClean="0"/>
          </a:p>
          <a:p>
            <a:pPr indent="457200">
              <a:lnSpc>
                <a:spcPct val="150000"/>
              </a:lnSpc>
            </a:pPr>
            <a:r>
              <a:rPr lang="zh-CN" altLang="en-US" sz="2000" dirty="0" smtClean="0"/>
              <a:t>使用 </a:t>
            </a:r>
            <a:r>
              <a:rPr lang="en-US" altLang="zh-CN" sz="2000" dirty="0" smtClean="0"/>
              <a:t>KPI </a:t>
            </a:r>
            <a:r>
              <a:rPr lang="zh-CN" altLang="en-US" sz="2000" dirty="0" smtClean="0"/>
              <a:t>聚合算法对其进行分类，然</a:t>
            </a:r>
            <a:r>
              <a:rPr lang="zh-CN" altLang="en-US" sz="2000" dirty="0"/>
              <a:t>后</a:t>
            </a:r>
            <a:r>
              <a:rPr lang="zh-CN" altLang="en-US" sz="2000" dirty="0" smtClean="0"/>
              <a:t>对每一类选择合适的算法，使用迁移学习的方法，将一个训练好的模型迁移到同类曲线的监控上，同时还可大大减少训练时间。</a:t>
            </a:r>
            <a:endParaRPr lang="zh-CN" altLang="en-US" sz="2000" dirty="0"/>
          </a:p>
        </p:txBody>
      </p:sp>
      <p:pic>
        <p:nvPicPr>
          <p:cNvPr id="4098" name="Picture 2" descr="https://github.com/iopsai/iops/blob/master/pictures/anomaly_detection/figure2.png?raw=tr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403252"/>
            <a:ext cx="6148161" cy="78101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github.com/iopsai/iops/blob/master/pictures/anomaly_detection/figure3.png?raw=tru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313343"/>
            <a:ext cx="6148161" cy="42862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s://github.com/iopsai/iops/blob/master/pictures/anomaly_detection/figure4.png?raw=tru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408601"/>
            <a:ext cx="5991225" cy="107663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7781925" y="2733675"/>
            <a:ext cx="2400300" cy="261610"/>
          </a:xfrm>
          <a:prstGeom prst="rect">
            <a:avLst/>
          </a:prstGeom>
          <a:noFill/>
        </p:spPr>
        <p:txBody>
          <a:bodyPr wrap="square" rtlCol="0">
            <a:spAutoFit/>
          </a:bodyPr>
          <a:lstStyle/>
          <a:p>
            <a:pPr algn="ctr"/>
            <a:r>
              <a:rPr lang="zh-CN" altLang="en-US" sz="1100" dirty="0" smtClean="0"/>
              <a:t>周期性</a:t>
            </a:r>
            <a:r>
              <a:rPr lang="en-US" altLang="zh-CN" sz="1100" dirty="0" smtClean="0"/>
              <a:t>KPI</a:t>
            </a:r>
            <a:endParaRPr lang="zh-CN" altLang="en-US" sz="1100" dirty="0"/>
          </a:p>
        </p:txBody>
      </p:sp>
      <p:sp>
        <p:nvSpPr>
          <p:cNvPr id="15" name="文本框 14"/>
          <p:cNvSpPr txBox="1"/>
          <p:nvPr/>
        </p:nvSpPr>
        <p:spPr>
          <a:xfrm>
            <a:off x="7781925" y="3886232"/>
            <a:ext cx="2400300" cy="261610"/>
          </a:xfrm>
          <a:prstGeom prst="rect">
            <a:avLst/>
          </a:prstGeom>
          <a:noFill/>
        </p:spPr>
        <p:txBody>
          <a:bodyPr wrap="square" rtlCol="0">
            <a:spAutoFit/>
          </a:bodyPr>
          <a:lstStyle/>
          <a:p>
            <a:pPr algn="ctr"/>
            <a:r>
              <a:rPr lang="zh-CN" altLang="en-US" sz="1100" dirty="0" smtClean="0"/>
              <a:t>稳定性</a:t>
            </a:r>
            <a:r>
              <a:rPr lang="en-US" altLang="zh-CN" sz="1100" dirty="0" smtClean="0"/>
              <a:t>KPI</a:t>
            </a:r>
            <a:endParaRPr lang="zh-CN" altLang="en-US" sz="1100" dirty="0"/>
          </a:p>
        </p:txBody>
      </p:sp>
      <p:sp>
        <p:nvSpPr>
          <p:cNvPr id="16" name="文本框 15"/>
          <p:cNvSpPr txBox="1"/>
          <p:nvPr/>
        </p:nvSpPr>
        <p:spPr>
          <a:xfrm>
            <a:off x="7781925" y="5734821"/>
            <a:ext cx="2400300" cy="261610"/>
          </a:xfrm>
          <a:prstGeom prst="rect">
            <a:avLst/>
          </a:prstGeom>
          <a:noFill/>
        </p:spPr>
        <p:txBody>
          <a:bodyPr wrap="square" rtlCol="0">
            <a:spAutoFit/>
          </a:bodyPr>
          <a:lstStyle/>
          <a:p>
            <a:pPr algn="ctr"/>
            <a:r>
              <a:rPr lang="zh-CN" altLang="en-US" sz="1100" dirty="0" smtClean="0"/>
              <a:t>不稳定性</a:t>
            </a:r>
            <a:r>
              <a:rPr lang="en-US" altLang="zh-CN" sz="1100" dirty="0" smtClean="0"/>
              <a:t>KPI</a:t>
            </a:r>
            <a:endParaRPr lang="zh-CN" altLang="en-US" sz="1100" dirty="0"/>
          </a:p>
        </p:txBody>
      </p:sp>
      <p:sp>
        <p:nvSpPr>
          <p:cNvPr id="18" name="文本框 17"/>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700949" y="688143"/>
            <a:ext cx="3944865" cy="461665"/>
          </a:xfrm>
          <a:prstGeom prst="rect">
            <a:avLst/>
          </a:prstGeom>
          <a:noFill/>
        </p:spPr>
        <p:txBody>
          <a:bodyPr wrap="square" rtlCol="0">
            <a:spAutoFit/>
          </a:bodyPr>
          <a:lstStyle/>
          <a:p>
            <a:pPr lvl="0"/>
            <a:r>
              <a:rPr lang="zh-CN" altLang="en-US" sz="2400" dirty="0">
                <a:solidFill>
                  <a:srgbClr val="333F50"/>
                </a:solidFill>
              </a:rPr>
              <a:t>故障管理</a:t>
            </a:r>
            <a:r>
              <a:rPr lang="en-US" altLang="zh-CN" sz="2400" dirty="0">
                <a:solidFill>
                  <a:srgbClr val="333F50"/>
                </a:solidFill>
                <a:sym typeface="Wingdings" panose="05000000000000000000" pitchFamily="2" charset="2"/>
              </a:rPr>
              <a:t></a:t>
            </a:r>
            <a:r>
              <a:rPr lang="zh-CN" altLang="en-US" sz="2400" dirty="0">
                <a:solidFill>
                  <a:srgbClr val="333F50"/>
                </a:solidFill>
              </a:rPr>
              <a:t>异常检测</a:t>
            </a:r>
          </a:p>
        </p:txBody>
      </p:sp>
    </p:spTree>
    <p:extLst>
      <p:ext uri="{BB962C8B-B14F-4D97-AF65-F5344CB8AC3E}">
        <p14:creationId xmlns:p14="http://schemas.microsoft.com/office/powerpoint/2010/main" val="2528204006"/>
      </p:ext>
    </p:extLst>
  </p:cSld>
  <p:clrMapOvr>
    <a:masterClrMapping/>
  </p:clrMapOvr>
  <p:transition spd="med">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700949" y="688143"/>
            <a:ext cx="3944865" cy="461665"/>
          </a:xfrm>
          <a:prstGeom prst="rect">
            <a:avLst/>
          </a:prstGeom>
          <a:noFill/>
        </p:spPr>
        <p:txBody>
          <a:bodyPr wrap="square" rtlCol="0">
            <a:spAutoFit/>
          </a:bodyPr>
          <a:lstStyle/>
          <a:p>
            <a:pPr lvl="0"/>
            <a:r>
              <a:rPr lang="zh-CN" altLang="en-US" sz="2400" dirty="0" smtClean="0">
                <a:solidFill>
                  <a:srgbClr val="333F50"/>
                </a:solidFill>
              </a:rPr>
              <a:t>实际应用举例</a:t>
            </a:r>
            <a:endParaRPr lang="zh-CN" altLang="en-US" sz="2400" dirty="0">
              <a:solidFill>
                <a:srgbClr val="333F50"/>
              </a:solidFill>
            </a:endParaRPr>
          </a:p>
        </p:txBody>
      </p:sp>
      <p:sp>
        <p:nvSpPr>
          <p:cNvPr id="17" name="文本框 16"/>
          <p:cNvSpPr txBox="1"/>
          <p:nvPr/>
        </p:nvSpPr>
        <p:spPr>
          <a:xfrm>
            <a:off x="721810" y="1958290"/>
            <a:ext cx="4610100" cy="156966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smtClean="0">
                <a:latin typeface="微软雅黑" panose="020B0503020204020204" pitchFamily="34" charset="-122"/>
                <a:ea typeface="微软雅黑" panose="020B0503020204020204" pitchFamily="34" charset="-122"/>
              </a:rPr>
              <a:t>在城域网维护过程中，当收到用户投诉时，“</a:t>
            </a:r>
            <a:r>
              <a:rPr lang="en-US" altLang="zh-CN" sz="1600" dirty="0" smtClean="0">
                <a:latin typeface="微软雅黑" panose="020B0503020204020204" pitchFamily="34" charset="-122"/>
                <a:ea typeface="微软雅黑" panose="020B0503020204020204" pitchFamily="34" charset="-122"/>
              </a:rPr>
              <a:t>double master</a:t>
            </a:r>
            <a:r>
              <a:rPr lang="zh-CN" altLang="en-US" sz="1600" dirty="0" smtClean="0">
                <a:latin typeface="微软雅黑" panose="020B0503020204020204" pitchFamily="34" charset="-122"/>
                <a:ea typeface="微软雅黑" panose="020B0503020204020204" pitchFamily="34" charset="-122"/>
              </a:rPr>
              <a:t>”问题导致的占了一大部分，如何预测问题发生及快速确定根源是提升城域网运维效率的一大重点难题。</a:t>
            </a:r>
            <a:endParaRPr lang="en-US" altLang="zh-CN" sz="1600" dirty="0" smtClean="0">
              <a:latin typeface="微软雅黑" panose="020B0503020204020204" pitchFamily="34" charset="-122"/>
              <a:ea typeface="微软雅黑" panose="020B0503020204020204" pitchFamily="34" charset="-122"/>
            </a:endParaRPr>
          </a:p>
        </p:txBody>
      </p:sp>
      <p:sp>
        <p:nvSpPr>
          <p:cNvPr id="19" name="矩形 18"/>
          <p:cNvSpPr/>
          <p:nvPr/>
        </p:nvSpPr>
        <p:spPr>
          <a:xfrm>
            <a:off x="1033823" y="3514483"/>
            <a:ext cx="2552344" cy="5078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输入</a:t>
            </a:r>
            <a:endParaRPr lang="en-US" altLang="zh-CN" dirty="0"/>
          </a:p>
        </p:txBody>
      </p:sp>
      <p:sp>
        <p:nvSpPr>
          <p:cNvPr id="20" name="矩形 19"/>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21" name="文本框 20"/>
          <p:cNvSpPr txBox="1"/>
          <p:nvPr/>
        </p:nvSpPr>
        <p:spPr>
          <a:xfrm>
            <a:off x="721810" y="4149277"/>
            <a:ext cx="4010025" cy="923330"/>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zh-CN" altLang="en-US" dirty="0" smtClean="0"/>
              <a:t>用户投诉信息，网络拓扑结构，设备数据</a:t>
            </a:r>
            <a:endParaRPr lang="en-US" altLang="zh-CN" dirty="0" smtClean="0"/>
          </a:p>
        </p:txBody>
      </p:sp>
      <p:sp>
        <p:nvSpPr>
          <p:cNvPr id="22" name="文本框 21"/>
          <p:cNvSpPr txBox="1"/>
          <p:nvPr/>
        </p:nvSpPr>
        <p:spPr>
          <a:xfrm>
            <a:off x="721810" y="5693164"/>
            <a:ext cx="4488365" cy="923330"/>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zh-CN" altLang="en-US" dirty="0" smtClean="0"/>
              <a:t>提前预测双主问题发生概率或在出现故障现象后确定问题根源所在</a:t>
            </a:r>
            <a:endParaRPr lang="en-US" altLang="zh-CN" dirty="0" smtClean="0"/>
          </a:p>
        </p:txBody>
      </p:sp>
      <p:sp>
        <p:nvSpPr>
          <p:cNvPr id="23" name="矩形 22"/>
          <p:cNvSpPr/>
          <p:nvPr/>
        </p:nvSpPr>
        <p:spPr>
          <a:xfrm>
            <a:off x="1033823" y="1577419"/>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pic>
        <p:nvPicPr>
          <p:cNvPr id="24" name="图片 23"/>
          <p:cNvPicPr/>
          <p:nvPr/>
        </p:nvPicPr>
        <p:blipFill>
          <a:blip r:embed="rId3" cstate="print"/>
          <a:srcRect/>
          <a:stretch>
            <a:fillRect/>
          </a:stretch>
        </p:blipFill>
        <p:spPr bwMode="auto">
          <a:xfrm>
            <a:off x="6167437" y="1198312"/>
            <a:ext cx="4548188" cy="4956517"/>
          </a:xfrm>
          <a:prstGeom prst="rect">
            <a:avLst/>
          </a:prstGeom>
          <a:noFill/>
          <a:ln w="9525">
            <a:noFill/>
            <a:miter lim="800000"/>
            <a:headEnd/>
            <a:tailEnd/>
          </a:ln>
        </p:spPr>
      </p:pic>
    </p:spTree>
    <p:extLst>
      <p:ext uri="{BB962C8B-B14F-4D97-AF65-F5344CB8AC3E}">
        <p14:creationId xmlns:p14="http://schemas.microsoft.com/office/powerpoint/2010/main" val="1795286942"/>
      </p:ext>
    </p:extLst>
  </p:cSld>
  <p:clrMapOvr>
    <a:masterClrMapping/>
  </p:clrMapOvr>
  <p:transition spd="med">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700949" y="688143"/>
            <a:ext cx="3944865" cy="461665"/>
          </a:xfrm>
          <a:prstGeom prst="rect">
            <a:avLst/>
          </a:prstGeom>
          <a:noFill/>
        </p:spPr>
        <p:txBody>
          <a:bodyPr wrap="square" rtlCol="0">
            <a:spAutoFit/>
          </a:bodyPr>
          <a:lstStyle/>
          <a:p>
            <a:pPr lvl="0"/>
            <a:r>
              <a:rPr lang="zh-CN" altLang="en-US" sz="2400" dirty="0" smtClean="0">
                <a:solidFill>
                  <a:srgbClr val="333F50"/>
                </a:solidFill>
              </a:rPr>
              <a:t>贝叶斯网络</a:t>
            </a:r>
            <a:endParaRPr lang="zh-CN" altLang="en-US" sz="2400" dirty="0">
              <a:solidFill>
                <a:srgbClr val="333F50"/>
              </a:solidFill>
            </a:endParaRPr>
          </a:p>
        </p:txBody>
      </p:sp>
      <p:sp>
        <p:nvSpPr>
          <p:cNvPr id="2" name="矩形 1"/>
          <p:cNvSpPr/>
          <p:nvPr/>
        </p:nvSpPr>
        <p:spPr>
          <a:xfrm>
            <a:off x="1247774" y="1443335"/>
            <a:ext cx="8848725" cy="879087"/>
          </a:xfrm>
          <a:prstGeom prst="rect">
            <a:avLst/>
          </a:prstGeom>
        </p:spPr>
        <p:txBody>
          <a:bodyPr wrap="square">
            <a:spAutoFit/>
          </a:bodyPr>
          <a:lstStyle/>
          <a:p>
            <a:pPr indent="457200">
              <a:lnSpc>
                <a:spcPct val="150000"/>
              </a:lnSpc>
            </a:pPr>
            <a:r>
              <a:rPr lang="zh-CN" altLang="en-US" dirty="0"/>
              <a:t>贝叶斯网是一种概率推理技术，结合概率理论和图</a:t>
            </a:r>
            <a:r>
              <a:rPr lang="zh-CN" altLang="en-US" dirty="0" smtClean="0"/>
              <a:t>结构来描述</a:t>
            </a:r>
            <a:r>
              <a:rPr lang="zh-CN" altLang="en-US" dirty="0"/>
              <a:t>不同知识成分之间的条件而</a:t>
            </a:r>
            <a:r>
              <a:rPr lang="zh-CN" altLang="en-US" dirty="0" smtClean="0"/>
              <a:t>产生</a:t>
            </a:r>
            <a:r>
              <a:rPr lang="zh-CN" altLang="en-US" dirty="0"/>
              <a:t>的不确定性。</a:t>
            </a:r>
          </a:p>
        </p:txBody>
      </p:sp>
      <p:sp>
        <p:nvSpPr>
          <p:cNvPr id="3" name="矩形 2"/>
          <p:cNvSpPr/>
          <p:nvPr/>
        </p:nvSpPr>
        <p:spPr>
          <a:xfrm>
            <a:off x="1114424" y="2911699"/>
            <a:ext cx="9258301" cy="3323987"/>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2000" dirty="0" smtClean="0">
                <a:solidFill>
                  <a:srgbClr val="FF0000"/>
                </a:solidFill>
                <a:latin typeface="+mn-ea"/>
              </a:rPr>
              <a:t>贝叶斯网预测</a:t>
            </a:r>
            <a:r>
              <a:rPr lang="zh-CN" altLang="en-US" sz="2000" dirty="0" smtClean="0">
                <a:latin typeface="+mn-ea"/>
              </a:rPr>
              <a:t>：贝</a:t>
            </a:r>
            <a:r>
              <a:rPr lang="zh-CN" altLang="en-US" sz="2000" dirty="0">
                <a:latin typeface="+mn-ea"/>
              </a:rPr>
              <a:t>叶斯网络的预测是指从起因推测一个结果的推理，也称为由顶向下的</a:t>
            </a:r>
            <a:r>
              <a:rPr lang="zh-CN" altLang="en-US" sz="2000" dirty="0" smtClean="0">
                <a:latin typeface="+mn-ea"/>
              </a:rPr>
              <a:t>推理</a:t>
            </a:r>
            <a:r>
              <a:rPr lang="zh-CN" altLang="en-US" sz="2000" dirty="0">
                <a:latin typeface="+mn-ea"/>
              </a:rPr>
              <a:t>。目的是由原因推导出结果。已知一定的原因</a:t>
            </a:r>
            <a:r>
              <a:rPr lang="en-US" altLang="zh-CN" sz="2000" dirty="0">
                <a:latin typeface="+mn-ea"/>
              </a:rPr>
              <a:t>(</a:t>
            </a:r>
            <a:r>
              <a:rPr lang="zh-CN" altLang="en-US" sz="2000" dirty="0">
                <a:latin typeface="+mn-ea"/>
              </a:rPr>
              <a:t>证据</a:t>
            </a:r>
            <a:r>
              <a:rPr lang="en-US" altLang="zh-CN" sz="2000" dirty="0">
                <a:latin typeface="+mn-ea"/>
              </a:rPr>
              <a:t>)</a:t>
            </a:r>
            <a:r>
              <a:rPr lang="zh-CN" altLang="en-US" sz="2000" dirty="0">
                <a:latin typeface="+mn-ea"/>
              </a:rPr>
              <a:t>，利用贝叶斯网络的推理计算，求</a:t>
            </a:r>
            <a:r>
              <a:rPr lang="zh-CN" altLang="en-US" sz="2000" dirty="0" smtClean="0">
                <a:latin typeface="+mn-ea"/>
              </a:rPr>
              <a:t>出由</a:t>
            </a:r>
            <a:r>
              <a:rPr lang="zh-CN" altLang="en-US" sz="2000" dirty="0">
                <a:latin typeface="+mn-ea"/>
              </a:rPr>
              <a:t>原因导致的结果发生的概率</a:t>
            </a:r>
            <a:r>
              <a:rPr lang="zh-CN" altLang="en-US" sz="2000" dirty="0" smtClean="0">
                <a:latin typeface="+mn-ea"/>
              </a:rPr>
              <a:t>。</a:t>
            </a:r>
            <a:endParaRPr lang="en-US" altLang="zh-CN" sz="2000" dirty="0" smtClean="0">
              <a:latin typeface="+mn-ea"/>
            </a:endParaRPr>
          </a:p>
          <a:p>
            <a:pPr marL="285750">
              <a:lnSpc>
                <a:spcPct val="150000"/>
              </a:lnSpc>
            </a:pPr>
            <a:endParaRPr lang="zh-CN" altLang="en-US" sz="2000" dirty="0">
              <a:latin typeface="+mn-ea"/>
            </a:endParaRPr>
          </a:p>
          <a:p>
            <a:pPr marL="285750" indent="285750">
              <a:lnSpc>
                <a:spcPct val="150000"/>
              </a:lnSpc>
              <a:buFont typeface="Arial" panose="020B0604020202020204" pitchFamily="34" charset="0"/>
              <a:buChar char="•"/>
            </a:pPr>
            <a:r>
              <a:rPr lang="zh-CN" altLang="en-US" sz="2000" dirty="0" smtClean="0">
                <a:solidFill>
                  <a:srgbClr val="FF0000"/>
                </a:solidFill>
                <a:latin typeface="+mn-ea"/>
              </a:rPr>
              <a:t>贝叶斯网诊断</a:t>
            </a:r>
            <a:r>
              <a:rPr lang="zh-CN" altLang="en-US" sz="2000" dirty="0" smtClean="0">
                <a:latin typeface="+mn-ea"/>
              </a:rPr>
              <a:t>：贝</a:t>
            </a:r>
            <a:r>
              <a:rPr lang="zh-CN" altLang="en-US" sz="2000" dirty="0">
                <a:latin typeface="+mn-ea"/>
              </a:rPr>
              <a:t>叶斯网络的诊断是指从结果推测一个起因的推理，也称为由底至上的</a:t>
            </a:r>
            <a:r>
              <a:rPr lang="zh-CN" altLang="en-US" sz="2000" dirty="0" smtClean="0">
                <a:latin typeface="+mn-ea"/>
              </a:rPr>
              <a:t>推理</a:t>
            </a:r>
            <a:r>
              <a:rPr lang="zh-CN" altLang="en-US" sz="2000" dirty="0">
                <a:latin typeface="+mn-ea"/>
              </a:rPr>
              <a:t>。目的是在已知结果时，找出产生该结果的原因。已知发生了某些结果，根据贝叶斯</a:t>
            </a:r>
            <a:r>
              <a:rPr lang="zh-CN" altLang="en-US" sz="2000" dirty="0" smtClean="0">
                <a:latin typeface="+mn-ea"/>
              </a:rPr>
              <a:t>网络推理</a:t>
            </a:r>
            <a:r>
              <a:rPr lang="zh-CN" altLang="en-US" sz="2000" dirty="0">
                <a:latin typeface="+mn-ea"/>
              </a:rPr>
              <a:t>计算造成该结果发生的原因和发生的概率</a:t>
            </a:r>
            <a:r>
              <a:rPr lang="zh-CN" altLang="en-US" sz="2000" dirty="0" smtClean="0">
                <a:latin typeface="+mn-ea"/>
              </a:rPr>
              <a:t>。</a:t>
            </a:r>
            <a:endParaRPr lang="zh-CN" altLang="en-US" sz="2000" dirty="0">
              <a:latin typeface="+mn-ea"/>
            </a:endParaRPr>
          </a:p>
        </p:txBody>
      </p:sp>
    </p:spTree>
    <p:extLst>
      <p:ext uri="{BB962C8B-B14F-4D97-AF65-F5344CB8AC3E}">
        <p14:creationId xmlns:p14="http://schemas.microsoft.com/office/powerpoint/2010/main" val="447433708"/>
      </p:ext>
    </p:extLst>
  </p:cSld>
  <p:clrMapOvr>
    <a:masterClrMapping/>
  </p:clrMapOvr>
  <p:transition spd="med">
    <p:pull/>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700949" y="688143"/>
            <a:ext cx="3944865" cy="461665"/>
          </a:xfrm>
          <a:prstGeom prst="rect">
            <a:avLst/>
          </a:prstGeom>
          <a:noFill/>
        </p:spPr>
        <p:txBody>
          <a:bodyPr wrap="square" rtlCol="0">
            <a:spAutoFit/>
          </a:bodyPr>
          <a:lstStyle/>
          <a:p>
            <a:pPr lvl="0"/>
            <a:r>
              <a:rPr lang="zh-CN" altLang="en-US" sz="2400" dirty="0" smtClean="0">
                <a:solidFill>
                  <a:srgbClr val="333F50"/>
                </a:solidFill>
              </a:rPr>
              <a:t>贝叶斯网络</a:t>
            </a:r>
            <a:endParaRPr lang="zh-CN" altLang="en-US" sz="2400" dirty="0">
              <a:solidFill>
                <a:srgbClr val="333F50"/>
              </a:solidFill>
            </a:endParaRPr>
          </a:p>
        </p:txBody>
      </p:sp>
      <p:pic>
        <p:nvPicPr>
          <p:cNvPr id="7" name="图片 6"/>
          <p:cNvPicPr>
            <a:picLocks noChangeAspect="1"/>
          </p:cNvPicPr>
          <p:nvPr/>
        </p:nvPicPr>
        <p:blipFill>
          <a:blip r:embed="rId3"/>
          <a:stretch>
            <a:fillRect/>
          </a:stretch>
        </p:blipFill>
        <p:spPr>
          <a:xfrm>
            <a:off x="2334299" y="2197300"/>
            <a:ext cx="6476326" cy="3960624"/>
          </a:xfrm>
          <a:prstGeom prst="rect">
            <a:avLst/>
          </a:prstGeom>
        </p:spPr>
      </p:pic>
      <p:sp>
        <p:nvSpPr>
          <p:cNvPr id="10" name="矩形 9"/>
          <p:cNvSpPr/>
          <p:nvPr/>
        </p:nvSpPr>
        <p:spPr>
          <a:xfrm>
            <a:off x="700949" y="1275142"/>
            <a:ext cx="10367101" cy="507831"/>
          </a:xfrm>
          <a:prstGeom prst="rect">
            <a:avLst/>
          </a:prstGeom>
        </p:spPr>
        <p:txBody>
          <a:bodyPr wrap="square">
            <a:spAutoFit/>
          </a:bodyPr>
          <a:lstStyle/>
          <a:p>
            <a:pPr indent="457200">
              <a:lnSpc>
                <a:spcPct val="150000"/>
              </a:lnSpc>
            </a:pPr>
            <a:r>
              <a:rPr lang="zh-CN" altLang="en-US" dirty="0" smtClean="0"/>
              <a:t>根据历史数据建立起贝叶斯网络模型，模型中的参数（转移概率矩阵）由训练获得</a:t>
            </a:r>
            <a:endParaRPr lang="zh-CN" altLang="en-US" dirty="0"/>
          </a:p>
        </p:txBody>
      </p:sp>
    </p:spTree>
    <p:extLst>
      <p:ext uri="{BB962C8B-B14F-4D97-AF65-F5344CB8AC3E}">
        <p14:creationId xmlns:p14="http://schemas.microsoft.com/office/powerpoint/2010/main" val="3833789438"/>
      </p:ext>
    </p:extLst>
  </p:cSld>
  <p:clrMapOvr>
    <a:masterClrMapping/>
  </p:clrMapOvr>
  <p:transition spd="med">
    <p:pull/>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700949" y="688143"/>
            <a:ext cx="3944865" cy="461665"/>
          </a:xfrm>
          <a:prstGeom prst="rect">
            <a:avLst/>
          </a:prstGeom>
          <a:noFill/>
        </p:spPr>
        <p:txBody>
          <a:bodyPr wrap="square" rtlCol="0">
            <a:spAutoFit/>
          </a:bodyPr>
          <a:lstStyle/>
          <a:p>
            <a:pPr lvl="0"/>
            <a:r>
              <a:rPr lang="zh-CN" altLang="en-US" sz="2400" dirty="0" smtClean="0">
                <a:solidFill>
                  <a:srgbClr val="333F50"/>
                </a:solidFill>
              </a:rPr>
              <a:t>贝叶斯网络</a:t>
            </a:r>
            <a:endParaRPr lang="zh-CN" altLang="en-US" sz="2400" dirty="0">
              <a:solidFill>
                <a:srgbClr val="333F50"/>
              </a:solidFill>
            </a:endParaRPr>
          </a:p>
        </p:txBody>
      </p:sp>
      <p:sp>
        <p:nvSpPr>
          <p:cNvPr id="2" name="椭圆 1"/>
          <p:cNvSpPr/>
          <p:nvPr/>
        </p:nvSpPr>
        <p:spPr>
          <a:xfrm>
            <a:off x="1349829" y="2641600"/>
            <a:ext cx="1064985" cy="15965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告警</a:t>
            </a:r>
          </a:p>
        </p:txBody>
      </p:sp>
      <p:sp>
        <p:nvSpPr>
          <p:cNvPr id="11" name="椭圆 10"/>
          <p:cNvSpPr/>
          <p:nvPr/>
        </p:nvSpPr>
        <p:spPr>
          <a:xfrm>
            <a:off x="2702409" y="2641599"/>
            <a:ext cx="1064985" cy="15965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确认</a:t>
            </a:r>
            <a:endParaRPr lang="zh-CN" altLang="en-US" dirty="0"/>
          </a:p>
        </p:txBody>
      </p:sp>
      <p:sp>
        <p:nvSpPr>
          <p:cNvPr id="12" name="椭圆 11"/>
          <p:cNvSpPr/>
          <p:nvPr/>
        </p:nvSpPr>
        <p:spPr>
          <a:xfrm>
            <a:off x="4113321" y="2641600"/>
            <a:ext cx="1064985" cy="15965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根因分析</a:t>
            </a:r>
            <a:endParaRPr lang="zh-CN" altLang="en-US" dirty="0"/>
          </a:p>
        </p:txBody>
      </p:sp>
      <p:sp>
        <p:nvSpPr>
          <p:cNvPr id="13" name="椭圆 12"/>
          <p:cNvSpPr/>
          <p:nvPr/>
        </p:nvSpPr>
        <p:spPr>
          <a:xfrm>
            <a:off x="5618030" y="1378850"/>
            <a:ext cx="1064985" cy="7684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原因</a:t>
            </a:r>
            <a:r>
              <a:rPr lang="en-US" altLang="zh-CN" dirty="0" smtClean="0"/>
              <a:t>1</a:t>
            </a:r>
            <a:endParaRPr lang="zh-CN" altLang="en-US" dirty="0"/>
          </a:p>
        </p:txBody>
      </p:sp>
      <p:sp>
        <p:nvSpPr>
          <p:cNvPr id="14" name="椭圆 13"/>
          <p:cNvSpPr/>
          <p:nvPr/>
        </p:nvSpPr>
        <p:spPr>
          <a:xfrm>
            <a:off x="5618029" y="2460180"/>
            <a:ext cx="1064985" cy="8200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原因</a:t>
            </a:r>
            <a:r>
              <a:rPr lang="en-US" altLang="zh-CN" dirty="0"/>
              <a:t>2</a:t>
            </a:r>
            <a:endParaRPr lang="zh-CN" altLang="en-US" dirty="0"/>
          </a:p>
        </p:txBody>
      </p:sp>
      <p:sp>
        <p:nvSpPr>
          <p:cNvPr id="15" name="椭圆 14"/>
          <p:cNvSpPr/>
          <p:nvPr/>
        </p:nvSpPr>
        <p:spPr>
          <a:xfrm>
            <a:off x="5581748" y="3563210"/>
            <a:ext cx="1064985" cy="7684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原因</a:t>
            </a:r>
            <a:r>
              <a:rPr lang="en-US" altLang="zh-CN" dirty="0"/>
              <a:t>3</a:t>
            </a:r>
            <a:endParaRPr lang="zh-CN" altLang="en-US" dirty="0"/>
          </a:p>
        </p:txBody>
      </p:sp>
      <p:sp>
        <p:nvSpPr>
          <p:cNvPr id="16" name="椭圆 15"/>
          <p:cNvSpPr/>
          <p:nvPr/>
        </p:nvSpPr>
        <p:spPr>
          <a:xfrm>
            <a:off x="5581747" y="4571970"/>
            <a:ext cx="1064985" cy="8200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原因</a:t>
            </a:r>
            <a:r>
              <a:rPr lang="en-US" altLang="zh-CN" dirty="0" smtClean="0"/>
              <a:t>4</a:t>
            </a:r>
            <a:endParaRPr lang="zh-CN" altLang="en-US" dirty="0"/>
          </a:p>
        </p:txBody>
      </p:sp>
      <p:cxnSp>
        <p:nvCxnSpPr>
          <p:cNvPr id="8" name="直接箭头连接符 7"/>
          <p:cNvCxnSpPr>
            <a:stCxn id="12" idx="7"/>
            <a:endCxn id="13" idx="2"/>
          </p:cNvCxnSpPr>
          <p:nvPr/>
        </p:nvCxnSpPr>
        <p:spPr>
          <a:xfrm flipV="1">
            <a:off x="5022343" y="1763067"/>
            <a:ext cx="595687" cy="11123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2" idx="6"/>
            <a:endCxn id="14" idx="2"/>
          </p:cNvCxnSpPr>
          <p:nvPr/>
        </p:nvCxnSpPr>
        <p:spPr>
          <a:xfrm flipV="1">
            <a:off x="5178306" y="2870201"/>
            <a:ext cx="439723" cy="5696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12" idx="6"/>
            <a:endCxn id="15" idx="2"/>
          </p:cNvCxnSpPr>
          <p:nvPr/>
        </p:nvCxnSpPr>
        <p:spPr>
          <a:xfrm>
            <a:off x="5178306" y="3439886"/>
            <a:ext cx="403442" cy="5075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endCxn id="16" idx="2"/>
          </p:cNvCxnSpPr>
          <p:nvPr/>
        </p:nvCxnSpPr>
        <p:spPr>
          <a:xfrm>
            <a:off x="4994725" y="4099827"/>
            <a:ext cx="587022" cy="8821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2" idx="6"/>
            <a:endCxn id="11" idx="2"/>
          </p:cNvCxnSpPr>
          <p:nvPr/>
        </p:nvCxnSpPr>
        <p:spPr>
          <a:xfrm flipV="1">
            <a:off x="2414814" y="3439885"/>
            <a:ext cx="287595"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11" idx="6"/>
            <a:endCxn id="12" idx="2"/>
          </p:cNvCxnSpPr>
          <p:nvPr/>
        </p:nvCxnSpPr>
        <p:spPr>
          <a:xfrm>
            <a:off x="3767394" y="3439885"/>
            <a:ext cx="345927"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13" idx="6"/>
          </p:cNvCxnSpPr>
          <p:nvPr/>
        </p:nvCxnSpPr>
        <p:spPr>
          <a:xfrm>
            <a:off x="6683015" y="1763067"/>
            <a:ext cx="54509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7" name="椭圆 36"/>
          <p:cNvSpPr/>
          <p:nvPr/>
        </p:nvSpPr>
        <p:spPr>
          <a:xfrm>
            <a:off x="7228114" y="1378850"/>
            <a:ext cx="1064985" cy="7684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操作</a:t>
            </a:r>
            <a:r>
              <a:rPr lang="en-US" altLang="zh-CN" dirty="0" smtClean="0"/>
              <a:t>1</a:t>
            </a:r>
            <a:endParaRPr lang="zh-CN" altLang="en-US" dirty="0"/>
          </a:p>
        </p:txBody>
      </p:sp>
      <p:cxnSp>
        <p:nvCxnSpPr>
          <p:cNvPr id="38" name="直接箭头连接符 37"/>
          <p:cNvCxnSpPr/>
          <p:nvPr/>
        </p:nvCxnSpPr>
        <p:spPr>
          <a:xfrm>
            <a:off x="6690275" y="2902419"/>
            <a:ext cx="54509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9" name="椭圆 38"/>
          <p:cNvSpPr/>
          <p:nvPr/>
        </p:nvSpPr>
        <p:spPr>
          <a:xfrm>
            <a:off x="7235374" y="2518202"/>
            <a:ext cx="1064985" cy="7684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操作</a:t>
            </a:r>
            <a:r>
              <a:rPr lang="en-US" altLang="zh-CN" dirty="0"/>
              <a:t>2</a:t>
            </a:r>
            <a:endParaRPr lang="zh-CN" altLang="en-US" dirty="0"/>
          </a:p>
        </p:txBody>
      </p:sp>
      <p:cxnSp>
        <p:nvCxnSpPr>
          <p:cNvPr id="40" name="直接箭头连接符 39"/>
          <p:cNvCxnSpPr/>
          <p:nvPr/>
        </p:nvCxnSpPr>
        <p:spPr>
          <a:xfrm>
            <a:off x="6683021" y="3954687"/>
            <a:ext cx="54509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1" name="椭圆 40"/>
          <p:cNvSpPr/>
          <p:nvPr/>
        </p:nvSpPr>
        <p:spPr>
          <a:xfrm>
            <a:off x="7228120" y="3570470"/>
            <a:ext cx="1064985" cy="7684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操作</a:t>
            </a:r>
            <a:r>
              <a:rPr lang="en-US" altLang="zh-CN" dirty="0" smtClean="0"/>
              <a:t>3</a:t>
            </a:r>
            <a:endParaRPr lang="zh-CN" altLang="en-US" dirty="0"/>
          </a:p>
        </p:txBody>
      </p:sp>
      <p:cxnSp>
        <p:nvCxnSpPr>
          <p:cNvPr id="42" name="直接箭头连接符 41"/>
          <p:cNvCxnSpPr/>
          <p:nvPr/>
        </p:nvCxnSpPr>
        <p:spPr>
          <a:xfrm>
            <a:off x="6704795" y="4992441"/>
            <a:ext cx="54509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3" name="椭圆 42"/>
          <p:cNvSpPr/>
          <p:nvPr/>
        </p:nvSpPr>
        <p:spPr>
          <a:xfrm>
            <a:off x="7249894" y="4608224"/>
            <a:ext cx="1064985" cy="7684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操作</a:t>
            </a:r>
            <a:r>
              <a:rPr lang="en-US" altLang="zh-CN" dirty="0"/>
              <a:t>4</a:t>
            </a:r>
            <a:endParaRPr lang="zh-CN" altLang="en-US" dirty="0"/>
          </a:p>
        </p:txBody>
      </p:sp>
      <p:sp>
        <p:nvSpPr>
          <p:cNvPr id="3" name="椭圆 2"/>
          <p:cNvSpPr/>
          <p:nvPr/>
        </p:nvSpPr>
        <p:spPr>
          <a:xfrm>
            <a:off x="5272915" y="1075417"/>
            <a:ext cx="1853599" cy="523647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74614465"/>
      </p:ext>
    </p:extLst>
  </p:cSld>
  <p:clrMapOvr>
    <a:masterClrMapping/>
  </p:clrMapOvr>
  <p:transition spd="med">
    <p:pull/>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610995" y="2035175"/>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ONE</a:t>
            </a:r>
          </a:p>
        </p:txBody>
      </p:sp>
      <p:sp>
        <p:nvSpPr>
          <p:cNvPr id="7" name="文本框 6"/>
          <p:cNvSpPr txBox="1"/>
          <p:nvPr/>
        </p:nvSpPr>
        <p:spPr>
          <a:xfrm>
            <a:off x="1610995" y="4165600"/>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TWO</a:t>
            </a:r>
          </a:p>
        </p:txBody>
      </p:sp>
      <p:sp>
        <p:nvSpPr>
          <p:cNvPr id="8" name="矩形 7"/>
          <p:cNvSpPr/>
          <p:nvPr/>
        </p:nvSpPr>
        <p:spPr>
          <a:xfrm>
            <a:off x="1506855" y="2691130"/>
            <a:ext cx="2586990" cy="742319"/>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项目</a:t>
            </a:r>
            <a:r>
              <a:rPr lang="zh-CN" altLang="en-US" sz="3600" dirty="0">
                <a:solidFill>
                  <a:srgbClr val="103154"/>
                </a:solidFill>
                <a:latin typeface="微软雅黑" panose="020B0503020204020204" pitchFamily="34" charset="-122"/>
                <a:ea typeface="微软雅黑" panose="020B0503020204020204" pitchFamily="34" charset="-122"/>
              </a:rPr>
              <a:t>提出</a:t>
            </a:r>
            <a:endParaRPr lang="zh-CN" altLang="en-US" sz="3600" dirty="0" smtClean="0">
              <a:solidFill>
                <a:srgbClr val="103154"/>
              </a:solidFill>
              <a:latin typeface="微软雅黑" panose="020B0503020204020204" pitchFamily="34" charset="-122"/>
              <a:ea typeface="微软雅黑" panose="020B0503020204020204" pitchFamily="34" charset="-122"/>
            </a:endParaRPr>
          </a:p>
        </p:txBody>
      </p:sp>
      <p:sp>
        <p:nvSpPr>
          <p:cNvPr id="9" name="矩形 8"/>
          <p:cNvSpPr/>
          <p:nvPr/>
        </p:nvSpPr>
        <p:spPr>
          <a:xfrm>
            <a:off x="1506855" y="4783455"/>
            <a:ext cx="261048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平台应用</a:t>
            </a:r>
          </a:p>
        </p:txBody>
      </p:sp>
      <p:sp>
        <p:nvSpPr>
          <p:cNvPr id="10" name="文本框 9"/>
          <p:cNvSpPr txBox="1"/>
          <p:nvPr/>
        </p:nvSpPr>
        <p:spPr>
          <a:xfrm>
            <a:off x="6983095" y="2046605"/>
            <a:ext cx="262128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a:solidFill>
                  <a:schemeClr val="bg1"/>
                </a:solidFill>
              </a:rPr>
              <a:t> </a:t>
            </a:r>
            <a:r>
              <a:rPr kumimoji="1" lang="en-US" altLang="zh-CN" sz="3600" b="1" dirty="0" smtClean="0">
                <a:solidFill>
                  <a:schemeClr val="bg1"/>
                </a:solidFill>
              </a:rPr>
              <a:t>THREE</a:t>
            </a:r>
          </a:p>
        </p:txBody>
      </p:sp>
      <p:sp>
        <p:nvSpPr>
          <p:cNvPr id="11" name="文本框 10"/>
          <p:cNvSpPr txBox="1"/>
          <p:nvPr/>
        </p:nvSpPr>
        <p:spPr>
          <a:xfrm>
            <a:off x="6983095" y="4199890"/>
            <a:ext cx="271272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FOUR</a:t>
            </a:r>
          </a:p>
        </p:txBody>
      </p:sp>
      <p:sp>
        <p:nvSpPr>
          <p:cNvPr id="12" name="矩形 11"/>
          <p:cNvSpPr/>
          <p:nvPr/>
        </p:nvSpPr>
        <p:spPr>
          <a:xfrm>
            <a:off x="6972300" y="2702560"/>
            <a:ext cx="264477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技术实现</a:t>
            </a:r>
          </a:p>
        </p:txBody>
      </p:sp>
      <p:sp>
        <p:nvSpPr>
          <p:cNvPr id="13" name="矩形 12"/>
          <p:cNvSpPr/>
          <p:nvPr/>
        </p:nvSpPr>
        <p:spPr>
          <a:xfrm>
            <a:off x="6971030" y="4829175"/>
            <a:ext cx="2715895" cy="742319"/>
          </a:xfrm>
          <a:prstGeom prst="rect">
            <a:avLst/>
          </a:prstGeom>
        </p:spPr>
        <p:txBody>
          <a:bodyPr wrap="square">
            <a:spAutoFit/>
          </a:bodyPr>
          <a:lstStyle/>
          <a:p>
            <a:pPr algn="ctr">
              <a:lnSpc>
                <a:spcPct val="130000"/>
              </a:lnSpc>
            </a:pPr>
            <a:r>
              <a:rPr lang="zh-CN" altLang="en-US" sz="3600" dirty="0" smtClean="0">
                <a:solidFill>
                  <a:srgbClr val="FF0000"/>
                </a:solidFill>
                <a:latin typeface="微软雅黑" panose="020B0503020204020204" pitchFamily="34" charset="-122"/>
                <a:ea typeface="微软雅黑" panose="020B0503020204020204" pitchFamily="34" charset="-122"/>
              </a:rPr>
              <a:t>建设规划</a:t>
            </a:r>
          </a:p>
        </p:txBody>
      </p:sp>
      <p:cxnSp>
        <p:nvCxnSpPr>
          <p:cNvPr id="14" name="直线连接符 16"/>
          <p:cNvCxnSpPr/>
          <p:nvPr/>
        </p:nvCxnSpPr>
        <p:spPr>
          <a:xfrm>
            <a:off x="545651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9742292"/>
      </p:ext>
    </p:extLst>
  </p:cSld>
  <p:clrMapOvr>
    <a:masterClrMapping/>
  </p:clrMapOvr>
  <p:transition spd="med">
    <p:pull/>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建设规划</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9" name="图示 18"/>
          <p:cNvGraphicFramePr/>
          <p:nvPr/>
        </p:nvGraphicFramePr>
        <p:xfrm>
          <a:off x="1266092" y="719666"/>
          <a:ext cx="100584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9159615"/>
      </p:ext>
    </p:extLst>
  </p:cSld>
  <p:clrMapOvr>
    <a:masterClrMapping/>
  </p:clrMapOvr>
  <p:transition spd="med">
    <p:pull/>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左右箭头 13"/>
          <p:cNvSpPr/>
          <p:nvPr/>
        </p:nvSpPr>
        <p:spPr>
          <a:xfrm>
            <a:off x="4394200" y="2705100"/>
            <a:ext cx="3149600" cy="1219200"/>
          </a:xfrm>
          <a:prstGeom prst="leftRight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建设规划</a:t>
            </a:r>
            <a:endParaRPr lang="zh-CN" altLang="en-US" sz="2400" b="1" dirty="0">
              <a:latin typeface="微软雅黑" panose="020B0503020204020204" pitchFamily="34" charset="-122"/>
              <a:ea typeface="微软雅黑" panose="020B0503020204020204" pitchFamily="34" charset="-122"/>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a:off x="1605870" y="1378857"/>
            <a:ext cx="2788330" cy="3409043"/>
            <a:chOff x="1555070" y="731157"/>
            <a:chExt cx="2788330" cy="3409043"/>
          </a:xfrm>
        </p:grpSpPr>
        <p:sp>
          <p:nvSpPr>
            <p:cNvPr id="6" name="圆角矩形 5"/>
            <p:cNvSpPr/>
            <p:nvPr/>
          </p:nvSpPr>
          <p:spPr>
            <a:xfrm>
              <a:off x="1555070" y="731157"/>
              <a:ext cx="2788330" cy="2545443"/>
            </a:xfrm>
            <a:prstGeom prst="roundRect">
              <a:avLst>
                <a:gd name="adj" fmla="val 969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dirty="0" smtClean="0">
                  <a:solidFill>
                    <a:schemeClr val="tx1"/>
                  </a:solidFill>
                </a:rPr>
                <a:t>网络设备拓扑</a:t>
              </a:r>
              <a:endParaRPr lang="en-US" altLang="zh-CN" dirty="0" smtClean="0">
                <a:solidFill>
                  <a:schemeClr val="tx1"/>
                </a:solidFill>
              </a:endParaRPr>
            </a:p>
            <a:p>
              <a:pPr marL="285750" indent="-285750">
                <a:buFont typeface="Arial" panose="020B0604020202020204" pitchFamily="34" charset="0"/>
                <a:buChar char="•"/>
              </a:pPr>
              <a:r>
                <a:rPr lang="zh-CN" altLang="en-US" dirty="0" smtClean="0">
                  <a:solidFill>
                    <a:schemeClr val="tx1"/>
                  </a:solidFill>
                </a:rPr>
                <a:t>健康评分体系</a:t>
              </a:r>
              <a:endParaRPr lang="en-US" altLang="zh-CN" dirty="0" smtClean="0">
                <a:solidFill>
                  <a:schemeClr val="tx1"/>
                </a:solidFill>
              </a:endParaRPr>
            </a:p>
            <a:p>
              <a:pPr marL="285750" indent="-285750">
                <a:buFont typeface="Arial" panose="020B0604020202020204" pitchFamily="34" charset="0"/>
                <a:buChar char="•"/>
              </a:pPr>
              <a:r>
                <a:rPr lang="zh-CN" altLang="en-US" dirty="0" smtClean="0">
                  <a:solidFill>
                    <a:schemeClr val="tx1"/>
                  </a:solidFill>
                </a:rPr>
                <a:t>用户指标呈现</a:t>
              </a:r>
              <a:endParaRPr lang="en-US" altLang="zh-CN" dirty="0" smtClean="0">
                <a:solidFill>
                  <a:schemeClr val="tx1"/>
                </a:solidFill>
              </a:endParaRPr>
            </a:p>
            <a:p>
              <a:pPr marL="285750" indent="-285750">
                <a:buFont typeface="Arial" panose="020B0604020202020204" pitchFamily="34" charset="0"/>
                <a:buChar char="•"/>
              </a:pPr>
              <a:r>
                <a:rPr lang="zh-CN" altLang="en-US" dirty="0" smtClean="0">
                  <a:solidFill>
                    <a:schemeClr val="tx1"/>
                  </a:solidFill>
                </a:rPr>
                <a:t>业务指标呈现</a:t>
              </a:r>
              <a:endParaRPr lang="en-US" altLang="zh-CN" dirty="0" smtClean="0">
                <a:solidFill>
                  <a:schemeClr val="tx1"/>
                </a:solidFill>
              </a:endParaRPr>
            </a:p>
            <a:p>
              <a:pPr marL="285750" indent="-285750">
                <a:buFont typeface="Arial" panose="020B0604020202020204" pitchFamily="34" charset="0"/>
                <a:buChar char="•"/>
              </a:pPr>
              <a:endParaRPr lang="zh-CN" altLang="en-US" dirty="0">
                <a:solidFill>
                  <a:schemeClr val="tx1"/>
                </a:solidFill>
              </a:endParaRPr>
            </a:p>
          </p:txBody>
        </p:sp>
        <p:sp>
          <p:nvSpPr>
            <p:cNvPr id="8" name="矩形 7"/>
            <p:cNvSpPr/>
            <p:nvPr/>
          </p:nvSpPr>
          <p:spPr>
            <a:xfrm>
              <a:off x="1555070" y="3111500"/>
              <a:ext cx="2788330" cy="10287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全景呈现</a:t>
              </a:r>
              <a:endParaRPr lang="zh-CN" altLang="en-US" dirty="0"/>
            </a:p>
          </p:txBody>
        </p:sp>
      </p:grpSp>
      <p:grpSp>
        <p:nvGrpSpPr>
          <p:cNvPr id="16" name="组合 15"/>
          <p:cNvGrpSpPr/>
          <p:nvPr/>
        </p:nvGrpSpPr>
        <p:grpSpPr>
          <a:xfrm>
            <a:off x="7543800" y="1378857"/>
            <a:ext cx="2788330" cy="3409043"/>
            <a:chOff x="7493000" y="731157"/>
            <a:chExt cx="2788330" cy="3409043"/>
          </a:xfrm>
        </p:grpSpPr>
        <p:sp>
          <p:nvSpPr>
            <p:cNvPr id="12" name="圆角矩形 11"/>
            <p:cNvSpPr/>
            <p:nvPr/>
          </p:nvSpPr>
          <p:spPr>
            <a:xfrm>
              <a:off x="7493000" y="731157"/>
              <a:ext cx="2788330" cy="2545443"/>
            </a:xfrm>
            <a:prstGeom prst="roundRect">
              <a:avLst>
                <a:gd name="adj" fmla="val 969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dirty="0">
                  <a:solidFill>
                    <a:schemeClr val="tx1"/>
                  </a:solidFill>
                </a:rPr>
                <a:t>局数据自动</a:t>
              </a:r>
              <a:r>
                <a:rPr lang="zh-CN" altLang="en-US" dirty="0" smtClean="0">
                  <a:solidFill>
                    <a:schemeClr val="tx1"/>
                  </a:solidFill>
                </a:rPr>
                <a:t>核对</a:t>
              </a:r>
              <a:endParaRPr lang="en-US" altLang="zh-CN" dirty="0" smtClean="0">
                <a:solidFill>
                  <a:schemeClr val="tx1"/>
                </a:solidFill>
              </a:endParaRPr>
            </a:p>
            <a:p>
              <a:pPr marL="285750" indent="-285750">
                <a:buFont typeface="Arial" panose="020B0604020202020204" pitchFamily="34" charset="0"/>
                <a:buChar char="•"/>
              </a:pPr>
              <a:r>
                <a:rPr lang="zh-CN" altLang="en-US" dirty="0">
                  <a:solidFill>
                    <a:schemeClr val="tx1"/>
                  </a:solidFill>
                </a:rPr>
                <a:t>日志自动</a:t>
              </a:r>
              <a:r>
                <a:rPr lang="zh-CN" altLang="en-US" dirty="0" smtClean="0">
                  <a:solidFill>
                    <a:schemeClr val="tx1"/>
                  </a:solidFill>
                </a:rPr>
                <a:t>备份</a:t>
              </a:r>
              <a:endParaRPr lang="en-US" altLang="zh-CN" dirty="0" smtClean="0">
                <a:solidFill>
                  <a:schemeClr val="tx1"/>
                </a:solidFill>
              </a:endParaRPr>
            </a:p>
            <a:p>
              <a:pPr marL="285750" indent="-285750">
                <a:buFont typeface="Arial" panose="020B0604020202020204" pitchFamily="34" charset="0"/>
                <a:buChar char="•"/>
              </a:pPr>
              <a:r>
                <a:rPr lang="zh-CN" altLang="en-US" dirty="0">
                  <a:solidFill>
                    <a:schemeClr val="tx1"/>
                  </a:solidFill>
                </a:rPr>
                <a:t>自动</a:t>
              </a:r>
              <a:r>
                <a:rPr lang="zh-CN" altLang="en-US" dirty="0" smtClean="0">
                  <a:solidFill>
                    <a:schemeClr val="tx1"/>
                  </a:solidFill>
                </a:rPr>
                <a:t>体检</a:t>
              </a:r>
              <a:endParaRPr lang="en-US" altLang="zh-CN" dirty="0" smtClean="0">
                <a:solidFill>
                  <a:schemeClr val="tx1"/>
                </a:solidFill>
              </a:endParaRPr>
            </a:p>
            <a:p>
              <a:pPr marL="285750" indent="-285750">
                <a:buFont typeface="Arial" panose="020B0604020202020204" pitchFamily="34" charset="0"/>
                <a:buChar char="•"/>
              </a:pPr>
              <a:r>
                <a:rPr lang="zh-CN" altLang="en-US" dirty="0">
                  <a:solidFill>
                    <a:schemeClr val="tx1"/>
                  </a:solidFill>
                </a:rPr>
                <a:t>端口流量自动</a:t>
              </a:r>
              <a:r>
                <a:rPr lang="zh-CN" altLang="en-US" dirty="0" smtClean="0">
                  <a:solidFill>
                    <a:schemeClr val="tx1"/>
                  </a:solidFill>
                </a:rPr>
                <a:t>核查</a:t>
              </a:r>
              <a:endParaRPr lang="en-US" altLang="zh-CN" dirty="0" smtClean="0">
                <a:solidFill>
                  <a:schemeClr val="tx1"/>
                </a:solidFill>
              </a:endParaRPr>
            </a:p>
            <a:p>
              <a:pPr marL="285750" indent="-285750">
                <a:buFont typeface="Arial" panose="020B0604020202020204" pitchFamily="34" charset="0"/>
                <a:buChar char="•"/>
              </a:pPr>
              <a:r>
                <a:rPr lang="zh-CN" altLang="en-US" dirty="0" smtClean="0">
                  <a:solidFill>
                    <a:schemeClr val="tx1"/>
                  </a:solidFill>
                </a:rPr>
                <a:t>业务验证</a:t>
              </a:r>
              <a:endParaRPr lang="en-US" altLang="zh-CN" dirty="0" smtClean="0">
                <a:solidFill>
                  <a:schemeClr val="tx1"/>
                </a:solidFill>
              </a:endParaRPr>
            </a:p>
            <a:p>
              <a:pPr marL="285750" indent="-285750">
                <a:buFont typeface="Arial" panose="020B0604020202020204" pitchFamily="34" charset="0"/>
                <a:buChar char="•"/>
              </a:pPr>
              <a:r>
                <a:rPr lang="zh-CN" altLang="en-US" dirty="0" smtClean="0">
                  <a:solidFill>
                    <a:schemeClr val="tx1"/>
                  </a:solidFill>
                </a:rPr>
                <a:t>故障处理</a:t>
              </a:r>
              <a:endParaRPr lang="en-US" altLang="zh-CN" dirty="0" smtClean="0">
                <a:solidFill>
                  <a:schemeClr val="tx1"/>
                </a:solidFill>
              </a:endParaRPr>
            </a:p>
            <a:p>
              <a:pPr marL="285750" indent="-285750">
                <a:buFont typeface="Arial" panose="020B0604020202020204" pitchFamily="34" charset="0"/>
                <a:buChar char="•"/>
              </a:pPr>
              <a:r>
                <a:rPr lang="zh-CN" altLang="en-US" dirty="0" smtClean="0">
                  <a:solidFill>
                    <a:schemeClr val="tx1"/>
                  </a:solidFill>
                </a:rPr>
                <a:t>应急保障</a:t>
              </a:r>
              <a:endParaRPr lang="en-US" altLang="zh-CN" dirty="0" smtClean="0">
                <a:solidFill>
                  <a:schemeClr val="tx1"/>
                </a:solidFill>
              </a:endParaRPr>
            </a:p>
            <a:p>
              <a:pPr marL="285750" indent="-285750">
                <a:buFont typeface="Arial" panose="020B0604020202020204" pitchFamily="34" charset="0"/>
                <a:buChar char="•"/>
              </a:pPr>
              <a:r>
                <a:rPr lang="zh-CN" altLang="en-US" dirty="0" smtClean="0">
                  <a:solidFill>
                    <a:schemeClr val="tx1"/>
                  </a:solidFill>
                </a:rPr>
                <a:t>网络规划</a:t>
              </a:r>
              <a:endParaRPr lang="zh-CN" altLang="en-US" dirty="0">
                <a:solidFill>
                  <a:schemeClr val="tx1"/>
                </a:solidFill>
              </a:endParaRPr>
            </a:p>
          </p:txBody>
        </p:sp>
        <p:sp>
          <p:nvSpPr>
            <p:cNvPr id="13" name="矩形 12"/>
            <p:cNvSpPr/>
            <p:nvPr/>
          </p:nvSpPr>
          <p:spPr>
            <a:xfrm>
              <a:off x="7493000" y="3111500"/>
              <a:ext cx="2788330" cy="10287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自动化运维</a:t>
              </a:r>
              <a:endParaRPr lang="zh-CN" altLang="en-US" dirty="0"/>
            </a:p>
          </p:txBody>
        </p:sp>
      </p:grpSp>
      <p:sp>
        <p:nvSpPr>
          <p:cNvPr id="11" name="流程图: 准备 10"/>
          <p:cNvSpPr/>
          <p:nvPr/>
        </p:nvSpPr>
        <p:spPr>
          <a:xfrm>
            <a:off x="4953000" y="2343150"/>
            <a:ext cx="2032000" cy="1930400"/>
          </a:xfrm>
          <a:prstGeom prst="flowChartPreparation">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人工智能</a:t>
            </a:r>
            <a:endParaRPr lang="en-US" altLang="zh-CN" dirty="0" smtClean="0"/>
          </a:p>
          <a:p>
            <a:pPr algn="ctr"/>
            <a:r>
              <a:rPr lang="zh-CN" altLang="en-US" dirty="0" smtClean="0"/>
              <a:t>任务训练</a:t>
            </a:r>
            <a:endParaRPr lang="zh-CN" altLang="en-US" dirty="0"/>
          </a:p>
        </p:txBody>
      </p:sp>
    </p:spTree>
    <p:extLst>
      <p:ext uri="{BB962C8B-B14F-4D97-AF65-F5344CB8AC3E}">
        <p14:creationId xmlns:p14="http://schemas.microsoft.com/office/powerpoint/2010/main" val="2945040282"/>
      </p:ext>
    </p:extLst>
  </p:cSld>
  <p:clrMapOvr>
    <a:masterClrMapping/>
  </p:clrMapOvr>
  <p:transition spd="med">
    <p:pull/>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建设规划</a:t>
            </a:r>
            <a:endParaRPr lang="zh-CN" altLang="en-US" sz="2400" b="1" dirty="0">
              <a:latin typeface="微软雅黑" panose="020B0503020204020204" pitchFamily="34" charset="-122"/>
              <a:ea typeface="微软雅黑" panose="020B0503020204020204" pitchFamily="34" charset="-122"/>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9583" y="400288"/>
            <a:ext cx="9968669" cy="617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0525985"/>
      </p:ext>
    </p:extLst>
  </p:cSld>
  <p:clrMapOvr>
    <a:masterClrMapping/>
  </p:clrMapOvr>
  <p:transition spd="med">
    <p:pull/>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具体安排</a:t>
            </a:r>
            <a:endParaRPr lang="zh-CN" altLang="en-US" sz="2400" b="1" dirty="0">
              <a:latin typeface="微软雅黑" panose="020B0503020204020204" pitchFamily="34" charset="-122"/>
              <a:ea typeface="微软雅黑" panose="020B0503020204020204" pitchFamily="34" charset="-122"/>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图示 6"/>
          <p:cNvGraphicFramePr/>
          <p:nvPr/>
        </p:nvGraphicFramePr>
        <p:xfrm>
          <a:off x="633046" y="316524"/>
          <a:ext cx="11078307" cy="60139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1853197"/>
      </p:ext>
    </p:extLst>
  </p:cSld>
  <p:clrMapOvr>
    <a:masterClrMapping/>
  </p:clrMapOvr>
  <p:transition spd="med">
    <p:pull/>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flipH="1">
            <a:off x="1962237" y="2511771"/>
            <a:ext cx="2599547" cy="2072335"/>
            <a:chOff x="1271166" y="2284597"/>
            <a:chExt cx="2599547" cy="2072335"/>
          </a:xfrm>
          <a:solidFill>
            <a:srgbClr val="88B40F"/>
          </a:solidFill>
        </p:grpSpPr>
        <p:sp>
          <p:nvSpPr>
            <p:cNvPr id="11" name="椭圆 10"/>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 9"/>
          <p:cNvGrpSpPr/>
          <p:nvPr/>
        </p:nvGrpSpPr>
        <p:grpSpPr>
          <a:xfrm>
            <a:off x="4143657" y="1469396"/>
            <a:ext cx="3671455" cy="3671455"/>
            <a:chOff x="2736273" y="748180"/>
            <a:chExt cx="3671455" cy="3671455"/>
          </a:xfrm>
        </p:grpSpPr>
        <p:sp>
          <p:nvSpPr>
            <p:cNvPr id="5" name="椭圆 4"/>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6" name="矩形 5"/>
            <p:cNvSpPr/>
            <p:nvPr/>
          </p:nvSpPr>
          <p:spPr>
            <a:xfrm>
              <a:off x="3738662" y="2008111"/>
              <a:ext cx="1691489" cy="1323439"/>
            </a:xfrm>
            <a:prstGeom prst="rect">
              <a:avLst/>
            </a:prstGeom>
          </p:spPr>
          <p:txBody>
            <a:bodyPr wrap="none">
              <a:spAutoFit/>
            </a:bodyPr>
            <a:lstStyle/>
            <a:p>
              <a:pPr algn="ctr"/>
              <a:r>
                <a:rPr kumimoji="1" lang="en-US" altLang="zh-CN" sz="4000" b="1" dirty="0" smtClean="0">
                  <a:solidFill>
                    <a:schemeClr val="bg1"/>
                  </a:solidFill>
                </a:rPr>
                <a:t>THANK</a:t>
              </a:r>
            </a:p>
            <a:p>
              <a:pPr algn="ctr"/>
              <a:r>
                <a:rPr kumimoji="1" lang="en-US" altLang="zh-CN" sz="4000" b="1" dirty="0" smtClean="0">
                  <a:solidFill>
                    <a:schemeClr val="bg1"/>
                  </a:solidFill>
                </a:rPr>
                <a:t>YOU</a:t>
              </a:r>
              <a:endParaRPr kumimoji="1" lang="en-US" altLang="zh-CN" sz="4000" b="1" dirty="0">
                <a:solidFill>
                  <a:schemeClr val="bg1"/>
                </a:solidFill>
              </a:endParaRPr>
            </a:p>
          </p:txBody>
        </p:sp>
      </p:grpSp>
    </p:spTree>
    <p:extLst>
      <p:ext uri="{BB962C8B-B14F-4D97-AF65-F5344CB8AC3E}">
        <p14:creationId xmlns:p14="http://schemas.microsoft.com/office/powerpoint/2010/main" val="3919709723"/>
      </p:ext>
    </p:extLst>
  </p:cSld>
  <p:clrMapOvr>
    <a:masterClrMapping/>
  </p:clrMapOvr>
  <p:transition spd="med">
    <p:pull/>
  </p:transition>
  <p:timing>
    <p:tnLst>
      <p:par>
        <p:cTn id="1" dur="indefinite" restart="never" nodeType="tmRoot"/>
      </p:par>
    </p:tnLst>
  </p:timing>
</p:sld>
</file>

<file path=ppt/theme/theme1.xml><?xml version="1.0" encoding="utf-8"?>
<a:theme xmlns:a="http://schemas.openxmlformats.org/drawingml/2006/main" name="Office 主题">
  <a:themeElements>
    <a:clrScheme name="自定义 27">
      <a:dk1>
        <a:sysClr val="windowText" lastClr="000000"/>
      </a:dk1>
      <a:lt1>
        <a:sysClr val="window" lastClr="FFFFFF"/>
      </a:lt1>
      <a:dk2>
        <a:srgbClr val="44546A"/>
      </a:dk2>
      <a:lt2>
        <a:srgbClr val="E7E6E6"/>
      </a:lt2>
      <a:accent1>
        <a:srgbClr val="12C869"/>
      </a:accent1>
      <a:accent2>
        <a:srgbClr val="323F4F"/>
      </a:accent2>
      <a:accent3>
        <a:srgbClr val="A5A5A5"/>
      </a:accent3>
      <a:accent4>
        <a:srgbClr val="FFC000"/>
      </a:accent4>
      <a:accent5>
        <a:srgbClr val="4472C4"/>
      </a:accent5>
      <a:accent6>
        <a:srgbClr val="70AD47"/>
      </a:accent6>
      <a:hlink>
        <a:srgbClr val="0563C1"/>
      </a:hlink>
      <a:folHlink>
        <a:srgbClr val="954F72"/>
      </a:folHlink>
    </a:clrScheme>
    <a:fontScheme name="officeplus">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6681</TotalTime>
  <Words>2531</Words>
  <Application>Microsoft Office PowerPoint</Application>
  <PresentationFormat>宽屏</PresentationFormat>
  <Paragraphs>537</Paragraphs>
  <Slides>37</Slides>
  <Notes>25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37</vt:i4>
      </vt:variant>
    </vt:vector>
  </HeadingPairs>
  <TitlesOfParts>
    <vt:vector size="46" baseType="lpstr">
      <vt:lpstr>等线</vt:lpstr>
      <vt:lpstr>宋体</vt:lpstr>
      <vt:lpstr>微软雅黑</vt:lpstr>
      <vt:lpstr>Arial</vt:lpstr>
      <vt:lpstr>Calibri</vt:lpstr>
      <vt:lpstr>Calibri Light</vt:lpstr>
      <vt:lpstr>Segoe UI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cong x</cp:lastModifiedBy>
  <cp:revision>375</cp:revision>
  <dcterms:created xsi:type="dcterms:W3CDTF">2015-08-05T01:47:03Z</dcterms:created>
  <dcterms:modified xsi:type="dcterms:W3CDTF">2018-03-27T07:01:52Z</dcterms:modified>
</cp:coreProperties>
</file>