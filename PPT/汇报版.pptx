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1194" r:id="rId2"/>
    <p:sldId id="1222" r:id="rId3"/>
    <p:sldId id="1244" r:id="rId4"/>
    <p:sldId id="1224" r:id="rId5"/>
    <p:sldId id="1245" r:id="rId6"/>
    <p:sldId id="1246" r:id="rId7"/>
    <p:sldId id="1253" r:id="rId8"/>
    <p:sldId id="1243" r:id="rId9"/>
    <p:sldId id="1252" r:id="rId10"/>
    <p:sldId id="1214" r:id="rId11"/>
    <p:sldId id="1227" r:id="rId12"/>
    <p:sldId id="1248" r:id="rId13"/>
    <p:sldId id="1249" r:id="rId14"/>
    <p:sldId id="1250" r:id="rId15"/>
    <p:sldId id="125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/>
  </p:cmAuthor>
  <p:cmAuthor id="4" name="cong x" initials="cx" lastIdx="2" clrIdx="3">
    <p:extLst>
      <p:ext uri="{19B8F6BF-5375-455C-9EA6-DF929625EA0E}">
        <p15:presenceInfo xmlns:p15="http://schemas.microsoft.com/office/powerpoint/2012/main" userId="41f651ea6314a8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B4D"/>
    <a:srgbClr val="012640"/>
    <a:srgbClr val="4472C4"/>
    <a:srgbClr val="01253D"/>
    <a:srgbClr val="033454"/>
    <a:srgbClr val="FF6600"/>
    <a:srgbClr val="01243C"/>
    <a:srgbClr val="CC0000"/>
    <a:srgbClr val="00CCFF"/>
    <a:srgbClr val="00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89019" autoAdjust="0"/>
  </p:normalViewPr>
  <p:slideViewPr>
    <p:cSldViewPr snapToGrid="0">
      <p:cViewPr varScale="1">
        <p:scale>
          <a:sx n="102" d="100"/>
          <a:sy n="102" d="100"/>
        </p:scale>
        <p:origin x="654" y="72"/>
      </p:cViewPr>
      <p:guideLst>
        <p:guide orient="horz" pos="204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尊敬的艾总、各位领导、专家，大家好！现在由我来为大家汇报 基于大数据的智慧网络运维平台 的方案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5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忙而无成：基础维护做细做实，需要投入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周）等；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专而不全：专人专网维护，专业跨度大，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无法全程全网，人员复用难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，如城域网（陈朝勇）、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互联互通（徐晓颖）、承载网（陈熙东）等；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知而不显：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信息传达和沟通效率低；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有心无力：故障、投诉发生后才进行分析和处理，想做到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；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737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750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即时：准实时展现特定区域、特定人群、特定设备</a:t>
            </a:r>
            <a:endParaRPr lang="en-US" altLang="zh-CN" sz="1200" dirty="0" smtClean="0"/>
          </a:p>
          <a:p>
            <a:r>
              <a:rPr lang="zh-CN" altLang="en-US" sz="1200" dirty="0" smtClean="0"/>
              <a:t>全网：核心、传输、动力、网管</a:t>
            </a:r>
            <a:endParaRPr lang="en-US" altLang="zh-CN" sz="1200" dirty="0" smtClean="0"/>
          </a:p>
          <a:p>
            <a:r>
              <a:rPr lang="zh-CN" altLang="en-US" sz="1200" dirty="0" smtClean="0"/>
              <a:t>全量：数据</a:t>
            </a:r>
            <a:endParaRPr lang="en-US" altLang="zh-CN" sz="1200" dirty="0" smtClean="0"/>
          </a:p>
          <a:p>
            <a:r>
              <a:rPr lang="zh-CN" altLang="en-US" sz="1200" dirty="0" smtClean="0"/>
              <a:t>全业务：</a:t>
            </a:r>
            <a:endParaRPr lang="en-US" altLang="zh-CN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37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052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0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30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城域网网络示意图，目前我们的网络</a:t>
            </a:r>
            <a:r>
              <a:rPr lang="en-US" altLang="zh-CN" dirty="0" smtClean="0"/>
              <a:t>OLT</a:t>
            </a:r>
            <a:r>
              <a:rPr lang="zh-CN" altLang="en-US" dirty="0" smtClean="0"/>
              <a:t>到</a:t>
            </a:r>
            <a:r>
              <a:rPr lang="en-US" altLang="zh-CN" dirty="0" smtClean="0"/>
              <a:t>BNG</a:t>
            </a:r>
            <a:r>
              <a:rPr lang="zh-CN" altLang="en-US" dirty="0" smtClean="0"/>
              <a:t>是双路由连接。合理的情况下我们的用户和业务流量应该是较为均衡才是合理的。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但是由于用户类型、用户数及业务流量的变化，时间长了就会出现业务不均衡的情况。这样会导致某些节点和链路的负荷较高。另一些节点则业务负荷较低。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、例如一种情况，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用户数都增加</a:t>
            </a:r>
            <a:r>
              <a:rPr lang="en-US" altLang="zh-CN" dirty="0" smtClean="0"/>
              <a:t>1.1</a:t>
            </a:r>
            <a:r>
              <a:rPr lang="zh-CN" altLang="en-US" dirty="0" smtClean="0"/>
              <a:t>万，但</a:t>
            </a:r>
            <a:r>
              <a:rPr lang="en-US" altLang="zh-CN" dirty="0" smtClean="0"/>
              <a:t>BNG1</a:t>
            </a:r>
            <a:r>
              <a:rPr lang="zh-CN" altLang="en-US" dirty="0" smtClean="0"/>
              <a:t>主要增加是家宽用户，</a:t>
            </a:r>
            <a:r>
              <a:rPr lang="en-US" altLang="zh-CN" dirty="0" smtClean="0"/>
              <a:t>BNG2</a:t>
            </a:r>
            <a:r>
              <a:rPr lang="zh-CN" altLang="en-US" dirty="0" smtClean="0"/>
              <a:t>主要增加是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用户。</a:t>
            </a:r>
            <a:r>
              <a:rPr lang="en-US" altLang="zh-CN" dirty="0" smtClean="0"/>
              <a:t>IPTV</a:t>
            </a:r>
            <a:r>
              <a:rPr lang="zh-CN" altLang="en-US" dirty="0" smtClean="0"/>
              <a:t>业务流量普遍比家宽用户业务流量要大，这就导致总流量负荷的不均衡。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通过智能算法模型，得到节点、用户和业务流量合理的均衡方案。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对用户进行迁移。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最终让用户和业务得到均衡。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354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、机房安全管控（行政进行机房卫生清理，需要专业人员监工）和信息获取（设计院勘察），需要人工到机房</a:t>
            </a:r>
            <a:r>
              <a:rPr lang="zh-CN" altLang="en-US" baseline="0" dirty="0" smtClean="0"/>
              <a:t>  </a:t>
            </a:r>
            <a:r>
              <a:rPr lang="en-US" altLang="zh-CN" dirty="0" smtClean="0"/>
              <a:t>---- </a:t>
            </a:r>
            <a:r>
              <a:rPr lang="zh-CN" altLang="en-US" dirty="0" smtClean="0"/>
              <a:t>如果不去现场，机房等同于黑匣子，无法感知机房；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、机房巡检、设备故障处理，需要人工到机房完成；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目标：</a:t>
            </a:r>
            <a:endParaRPr lang="en-US" altLang="zh-CN" dirty="0" smtClean="0"/>
          </a:p>
          <a:p>
            <a:r>
              <a:rPr lang="zh-CN" altLang="en-US" dirty="0" smtClean="0"/>
              <a:t>无需去机房、机房智慧管理；</a:t>
            </a:r>
            <a:endParaRPr lang="en-US" altLang="zh-CN" dirty="0" smtClean="0"/>
          </a:p>
          <a:p>
            <a:r>
              <a:rPr lang="zh-CN" altLang="en-US" dirty="0" smtClean="0"/>
              <a:t>打造无人机房，需要解决的几大问题：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、可视化呈现：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真实还原机房，随时随地如身临机房；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、自动化：自动巡检等；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、机房大数据支撑。</a:t>
            </a:r>
          </a:p>
          <a:p>
            <a:r>
              <a:rPr lang="zh-CN" altLang="en-US" dirty="0" smtClean="0"/>
              <a:t>实现：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、通过</a:t>
            </a:r>
            <a:r>
              <a:rPr lang="en-US" altLang="zh-CN" dirty="0" smtClean="0"/>
              <a:t>VR</a:t>
            </a:r>
            <a:r>
              <a:rPr lang="zh-CN" altLang="en-US" dirty="0" smtClean="0"/>
              <a:t>技术实时呈现机房，在办公室就能如身临机房之中  </a:t>
            </a:r>
            <a:r>
              <a:rPr lang="en-US" altLang="zh-CN" dirty="0" smtClean="0"/>
              <a:t>----  </a:t>
            </a:r>
            <a:r>
              <a:rPr lang="zh-CN" altLang="en-US" dirty="0" smtClean="0"/>
              <a:t>无需去现场即能实时感受整个机房；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、通过对运维机器人，实现机器人代替人进行巡检、设备故障处理；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3</a:t>
            </a:r>
            <a:r>
              <a:rPr lang="zh-CN" altLang="en-US" dirty="0" smtClean="0"/>
              <a:t>、通过对机房资源数据、设备数据、环境数据、业务数据进行大数据分析，支撑紧急情况机房管理决策；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20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microsoft.com/office/2007/relationships/hdphoto" Target="../media/hdphoto3.wdp"/><Relationship Id="rId10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3.emf"/><Relationship Id="rId7" Type="http://schemas.openxmlformats.org/officeDocument/2006/relationships/image" Target="../media/image28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1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64391" y="2519807"/>
            <a:ext cx="2160000" cy="2160000"/>
            <a:chOff x="510857" y="1161262"/>
            <a:chExt cx="1011238" cy="1011238"/>
          </a:xfrm>
        </p:grpSpPr>
        <p:sp>
          <p:nvSpPr>
            <p:cNvPr id="11" name="椭圆 10"/>
            <p:cNvSpPr/>
            <p:nvPr/>
          </p:nvSpPr>
          <p:spPr>
            <a:xfrm>
              <a:off x="618807" y="1269212"/>
              <a:ext cx="795338" cy="795338"/>
            </a:xfrm>
            <a:prstGeom prst="ellipse">
              <a:avLst/>
            </a:prstGeom>
            <a:noFill/>
            <a:ln>
              <a:solidFill>
                <a:srgbClr val="0098A8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10857" y="1161262"/>
              <a:ext cx="1011238" cy="1011238"/>
              <a:chOff x="510857" y="1161262"/>
              <a:chExt cx="1011238" cy="1011238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510857" y="1161262"/>
                <a:ext cx="1011238" cy="1011238"/>
              </a:xfrm>
              <a:prstGeom prst="ellipse">
                <a:avLst/>
              </a:prstGeom>
              <a:noFill/>
              <a:ln w="38100">
                <a:solidFill>
                  <a:srgbClr val="0098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C89800"/>
                  </a:solidFill>
                </a:endParaRPr>
              </a:p>
            </p:txBody>
          </p:sp>
          <p:sp>
            <p:nvSpPr>
              <p:cNvPr id="12" name="TextBox 19"/>
              <p:cNvSpPr txBox="1">
                <a:spLocks noChangeArrowheads="1"/>
              </p:cNvSpPr>
              <p:nvPr/>
            </p:nvSpPr>
            <p:spPr bwMode="auto">
              <a:xfrm>
                <a:off x="827282" y="1269212"/>
                <a:ext cx="378388" cy="734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  <a:ea typeface="仿宋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9600" b="1" dirty="0">
                    <a:solidFill>
                      <a:srgbClr val="0098A8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1</a:t>
                </a:r>
                <a:endParaRPr lang="zh-CN" altLang="en-US" sz="9600" b="1" dirty="0">
                  <a:solidFill>
                    <a:srgbClr val="0098A8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64176" y="3215086"/>
            <a:ext cx="244169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4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466824" y="2519807"/>
            <a:ext cx="2160000" cy="2160000"/>
            <a:chOff x="536762" y="2526512"/>
            <a:chExt cx="1009650" cy="1011238"/>
          </a:xfrm>
        </p:grpSpPr>
        <p:sp>
          <p:nvSpPr>
            <p:cNvPr id="17" name="椭圆 16"/>
            <p:cNvSpPr/>
            <p:nvPr/>
          </p:nvSpPr>
          <p:spPr>
            <a:xfrm>
              <a:off x="643124" y="2634462"/>
              <a:ext cx="796925" cy="796925"/>
            </a:xfrm>
            <a:prstGeom prst="ellipse">
              <a:avLst/>
            </a:prstGeom>
            <a:noFill/>
            <a:ln>
              <a:solidFill>
                <a:srgbClr val="0098A8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36762" y="2526512"/>
              <a:ext cx="1009650" cy="1011238"/>
              <a:chOff x="536762" y="2526512"/>
              <a:chExt cx="1009650" cy="1011238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536762" y="2526512"/>
                <a:ext cx="1009650" cy="1011238"/>
              </a:xfrm>
              <a:prstGeom prst="ellipse">
                <a:avLst/>
              </a:prstGeom>
              <a:noFill/>
              <a:ln w="38100">
                <a:solidFill>
                  <a:srgbClr val="0098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C89800"/>
                  </a:solidFill>
                </a:endParaRPr>
              </a:p>
            </p:txBody>
          </p:sp>
          <p:sp>
            <p:nvSpPr>
              <p:cNvPr id="18" name="TextBox 31"/>
              <p:cNvSpPr txBox="1">
                <a:spLocks noChangeArrowheads="1"/>
              </p:cNvSpPr>
              <p:nvPr/>
            </p:nvSpPr>
            <p:spPr bwMode="auto">
              <a:xfrm>
                <a:off x="852689" y="2634462"/>
                <a:ext cx="377794" cy="734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spcBef>
                    <a:spcPct val="0"/>
                  </a:spcBef>
                  <a:buFontTx/>
                  <a:buNone/>
                  <a:defRPr sz="8000" b="1">
                    <a:solidFill>
                      <a:srgbClr val="0098A8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  <a:ea typeface="仿宋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9600" dirty="0"/>
                  <a:t>2</a:t>
                </a:r>
                <a:endParaRPr lang="zh-CN" altLang="en-US" sz="9600" dirty="0"/>
              </a:p>
            </p:txBody>
          </p:sp>
        </p:grpSp>
      </p:grp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3325975" y="3215086"/>
            <a:ext cx="244169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4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69257" y="2519807"/>
            <a:ext cx="2160000" cy="2160000"/>
            <a:chOff x="574282" y="3880650"/>
            <a:chExt cx="1011237" cy="1011237"/>
          </a:xfrm>
        </p:grpSpPr>
        <p:sp>
          <p:nvSpPr>
            <p:cNvPr id="22" name="椭圆 21"/>
            <p:cNvSpPr/>
            <p:nvPr/>
          </p:nvSpPr>
          <p:spPr>
            <a:xfrm>
              <a:off x="574282" y="3880650"/>
              <a:ext cx="1011237" cy="1011237"/>
            </a:xfrm>
            <a:prstGeom prst="ellipse">
              <a:avLst/>
            </a:prstGeom>
            <a:noFill/>
            <a:ln w="38100">
              <a:solidFill>
                <a:srgbClr val="0098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C89800"/>
                </a:solidFill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682232" y="3988600"/>
              <a:ext cx="796925" cy="795337"/>
              <a:chOff x="682232" y="3988600"/>
              <a:chExt cx="796925" cy="795337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682232" y="3988600"/>
                <a:ext cx="796925" cy="795337"/>
              </a:xfrm>
              <a:prstGeom prst="ellipse">
                <a:avLst/>
              </a:prstGeom>
              <a:noFill/>
              <a:ln>
                <a:solidFill>
                  <a:srgbClr val="0098A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4" name="TextBox 38"/>
              <p:cNvSpPr txBox="1">
                <a:spLocks noChangeArrowheads="1"/>
              </p:cNvSpPr>
              <p:nvPr/>
            </p:nvSpPr>
            <p:spPr bwMode="auto">
              <a:xfrm>
                <a:off x="890706" y="3988600"/>
                <a:ext cx="378388" cy="734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spcBef>
                    <a:spcPct val="0"/>
                  </a:spcBef>
                  <a:buFontTx/>
                  <a:buNone/>
                  <a:defRPr sz="8000" b="1">
                    <a:solidFill>
                      <a:srgbClr val="0098A8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  <a:ea typeface="仿宋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9600" dirty="0"/>
                  <a:t>3</a:t>
                </a:r>
                <a:endParaRPr lang="zh-CN" altLang="en-US" sz="9600" dirty="0"/>
              </a:p>
            </p:txBody>
          </p:sp>
        </p:grpSp>
      </p:grp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6328410" y="3189900"/>
            <a:ext cx="244169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4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471690" y="2559208"/>
            <a:ext cx="2160000" cy="2160000"/>
            <a:chOff x="571186" y="5263362"/>
            <a:chExt cx="1011238" cy="1011238"/>
          </a:xfrm>
        </p:grpSpPr>
        <p:sp>
          <p:nvSpPr>
            <p:cNvPr id="28" name="椭圆 27"/>
            <p:cNvSpPr/>
            <p:nvPr/>
          </p:nvSpPr>
          <p:spPr>
            <a:xfrm>
              <a:off x="571186" y="5263362"/>
              <a:ext cx="1011238" cy="1011238"/>
            </a:xfrm>
            <a:prstGeom prst="ellipse">
              <a:avLst/>
            </a:prstGeom>
            <a:noFill/>
            <a:ln w="38100">
              <a:solidFill>
                <a:srgbClr val="0098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C89800"/>
                </a:solidFill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79136" y="5369725"/>
              <a:ext cx="796925" cy="796925"/>
              <a:chOff x="679136" y="5369725"/>
              <a:chExt cx="796925" cy="796925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679136" y="5369725"/>
                <a:ext cx="796925" cy="796925"/>
              </a:xfrm>
              <a:prstGeom prst="ellipse">
                <a:avLst/>
              </a:prstGeom>
              <a:noFill/>
              <a:ln>
                <a:solidFill>
                  <a:srgbClr val="0098A8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0" name="TextBox 45"/>
              <p:cNvSpPr txBox="1">
                <a:spLocks noChangeArrowheads="1"/>
              </p:cNvSpPr>
              <p:nvPr/>
            </p:nvSpPr>
            <p:spPr bwMode="auto">
              <a:xfrm>
                <a:off x="887611" y="5371313"/>
                <a:ext cx="378388" cy="734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spcBef>
                    <a:spcPct val="0"/>
                  </a:spcBef>
                  <a:buFontTx/>
                  <a:buNone/>
                  <a:defRPr sz="8000" b="1">
                    <a:solidFill>
                      <a:srgbClr val="0098A8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2"/>
                    </a:solidFill>
                    <a:latin typeface="Arial" panose="020B0604020202020204" pitchFamily="34" charset="0"/>
                    <a:ea typeface="仿宋_GB2312" panose="0201060903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9600" dirty="0"/>
                  <a:t>4</a:t>
                </a:r>
                <a:endParaRPr lang="zh-CN" altLang="en-US" sz="9600" dirty="0"/>
              </a:p>
            </p:txBody>
          </p:sp>
        </p:grpSp>
      </p:grp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9330844" y="3215086"/>
            <a:ext cx="244169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4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4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47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建设目标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27550" y="1968557"/>
            <a:ext cx="35217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网络运维模式的突破</a:t>
            </a:r>
          </a:p>
          <a:p>
            <a:pPr indent="45720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实现网络运维一体化，即所有人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通过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个性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入口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获取需要的数据，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通过统一平台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完成需要完成的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任务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。</a:t>
            </a:r>
            <a:endParaRPr lang="zh-CN" altLang="en-US" sz="12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1" y="1193639"/>
            <a:ext cx="7761435" cy="445206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27550" y="3356777"/>
            <a:ext cx="3521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</a:rPr>
              <a:t>网络服务模式的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突破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实现先于客户发现问题，先于投诉解决问题，提高精准服务能力，以进一步提高用户感知。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27550" y="4418606"/>
            <a:ext cx="3521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</a:rPr>
              <a:t>网络数据应用的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突破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网络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</a:rPr>
              <a:t>数据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对网络规划、基站选址、资源投放起支撑作用，促进信令数据应用升级</a:t>
            </a:r>
          </a:p>
        </p:txBody>
      </p:sp>
    </p:spTree>
    <p:extLst>
      <p:ext uri="{BB962C8B-B14F-4D97-AF65-F5344CB8AC3E}">
        <p14:creationId xmlns:p14="http://schemas.microsoft.com/office/powerpoint/2010/main" val="272062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主要特征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45531" y="3103122"/>
            <a:ext cx="4552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/>
              <a:t>网络大脑</a:t>
            </a:r>
            <a:endParaRPr lang="zh-CN" altLang="en-US" sz="7200" b="1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7627938" y="1746727"/>
            <a:ext cx="0" cy="72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627938" y="2903097"/>
            <a:ext cx="0" cy="72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627938" y="4059467"/>
            <a:ext cx="0" cy="72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627938" y="5215837"/>
            <a:ext cx="0" cy="720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847224" y="1726578"/>
            <a:ext cx="149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即时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847224" y="2878376"/>
            <a:ext cx="149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/>
              <a:t>全网</a:t>
            </a:r>
            <a:endParaRPr lang="zh-CN" altLang="en-US" sz="44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847224" y="4034746"/>
            <a:ext cx="1495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/>
              <a:t>全量</a:t>
            </a:r>
            <a:endParaRPr lang="zh-CN" altLang="en-US" sz="4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7847224" y="5191116"/>
            <a:ext cx="19349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/>
              <a:t>全业务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04854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85771" y="5561111"/>
            <a:ext cx="2714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矩形 2"/>
          <p:cNvSpPr/>
          <p:nvPr/>
        </p:nvSpPr>
        <p:spPr>
          <a:xfrm>
            <a:off x="1252619" y="5592258"/>
            <a:ext cx="640260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网络态势感知</a:t>
            </a:r>
          </a:p>
        </p:txBody>
      </p:sp>
      <p:sp>
        <p:nvSpPr>
          <p:cNvPr id="4" name="矩形 3"/>
          <p:cNvSpPr/>
          <p:nvPr/>
        </p:nvSpPr>
        <p:spPr>
          <a:xfrm>
            <a:off x="2177985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链路资源完善</a:t>
            </a:r>
          </a:p>
        </p:txBody>
      </p:sp>
      <p:sp>
        <p:nvSpPr>
          <p:cNvPr id="5" name="矩形 4"/>
          <p:cNvSpPr/>
          <p:nvPr/>
        </p:nvSpPr>
        <p:spPr>
          <a:xfrm>
            <a:off x="3111250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网络拥塞治理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041318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机房设施优化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4974583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循环网络组织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5907848" y="5597806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路由策略选择</a:t>
            </a:r>
            <a:endParaRPr lang="en-US" altLang="zh-CN" dirty="0"/>
          </a:p>
        </p:txBody>
      </p:sp>
      <p:sp>
        <p:nvSpPr>
          <p:cNvPr id="9" name="矩形 8"/>
          <p:cNvSpPr/>
          <p:nvPr/>
        </p:nvSpPr>
        <p:spPr>
          <a:xfrm>
            <a:off x="6841113" y="559700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重点区域治理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7774378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业务分级服务</a:t>
            </a:r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8707643" y="559700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业务选择诱导</a:t>
            </a:r>
            <a:endParaRPr lang="en-US" altLang="zh-CN" dirty="0"/>
          </a:p>
        </p:txBody>
      </p:sp>
      <p:sp>
        <p:nvSpPr>
          <p:cNvPr id="12" name="矩形 11"/>
          <p:cNvSpPr/>
          <p:nvPr/>
        </p:nvSpPr>
        <p:spPr>
          <a:xfrm>
            <a:off x="311455" y="5592258"/>
            <a:ext cx="64195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业务品质提升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47651" y="2019300"/>
            <a:ext cx="2190750" cy="3201549"/>
            <a:chOff x="466726" y="1914525"/>
            <a:chExt cx="2190750" cy="3201549"/>
          </a:xfrm>
        </p:grpSpPr>
        <p:sp>
          <p:nvSpPr>
            <p:cNvPr id="14" name="圆角矩形 13"/>
            <p:cNvSpPr/>
            <p:nvPr/>
          </p:nvSpPr>
          <p:spPr>
            <a:xfrm>
              <a:off x="466726" y="1914525"/>
              <a:ext cx="2190749" cy="32015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54769" y="2114748"/>
              <a:ext cx="16146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</a:rPr>
                <a:t>畅通的基础</a:t>
              </a:r>
              <a:endParaRPr lang="en-US" altLang="zh-CN" sz="20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66727" y="3053634"/>
              <a:ext cx="2190749" cy="64633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网络规模扩张</a:t>
              </a:r>
              <a:endParaRPr lang="en-US" altLang="zh-CN" dirty="0"/>
            </a:p>
            <a:p>
              <a:pPr algn="ctr"/>
              <a:r>
                <a:rPr lang="en-US" altLang="zh-CN" dirty="0"/>
                <a:t>5G</a:t>
              </a:r>
              <a:r>
                <a:rPr lang="zh-CN" altLang="en-US" dirty="0"/>
                <a:t>引领</a:t>
              </a:r>
              <a:r>
                <a:rPr lang="zh-CN" altLang="en-US" dirty="0" smtClean="0"/>
                <a:t>不足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79811" y="4549833"/>
              <a:ext cx="1364577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有效引领</a:t>
              </a:r>
              <a:endParaRPr lang="zh-CN" altLang="en-US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63442" y="2019299"/>
            <a:ext cx="2190750" cy="3201549"/>
            <a:chOff x="466725" y="1914525"/>
            <a:chExt cx="2247901" cy="3201549"/>
          </a:xfrm>
        </p:grpSpPr>
        <p:sp>
          <p:nvSpPr>
            <p:cNvPr id="19" name="圆角矩形 18"/>
            <p:cNvSpPr/>
            <p:nvPr/>
          </p:nvSpPr>
          <p:spPr>
            <a:xfrm>
              <a:off x="466725" y="1914525"/>
              <a:ext cx="2247900" cy="32015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62282" y="2114748"/>
              <a:ext cx="1656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畅通的载体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66726" y="3053634"/>
              <a:ext cx="2247900" cy="64633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流量需求快速增长</a:t>
              </a:r>
            </a:p>
            <a:p>
              <a:pPr algn="ctr"/>
              <a:r>
                <a:rPr lang="zh-CN" altLang="en-US" dirty="0"/>
                <a:t>网络设施不够智能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90586" y="4549833"/>
              <a:ext cx="1400175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智能调度 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79233" y="2019298"/>
            <a:ext cx="2190750" cy="3201549"/>
            <a:chOff x="466725" y="1914525"/>
            <a:chExt cx="2247901" cy="3201549"/>
          </a:xfrm>
        </p:grpSpPr>
        <p:sp>
          <p:nvSpPr>
            <p:cNvPr id="24" name="圆角矩形 23"/>
            <p:cNvSpPr/>
            <p:nvPr/>
          </p:nvSpPr>
          <p:spPr>
            <a:xfrm>
              <a:off x="466725" y="1914525"/>
              <a:ext cx="2247900" cy="32015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62282" y="2114748"/>
              <a:ext cx="1656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畅通的质量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66726" y="3053634"/>
              <a:ext cx="2247900" cy="64633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网络运行相对低效</a:t>
              </a:r>
            </a:p>
            <a:p>
              <a:pPr algn="ctr"/>
              <a:r>
                <a:rPr lang="zh-CN" altLang="en-US" dirty="0"/>
                <a:t>设备容量有待提升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90586" y="4549833"/>
              <a:ext cx="1400175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提升管理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195024" y="2019297"/>
            <a:ext cx="2190750" cy="3201549"/>
            <a:chOff x="466725" y="1914525"/>
            <a:chExt cx="2247901" cy="3201549"/>
          </a:xfrm>
        </p:grpSpPr>
        <p:sp>
          <p:nvSpPr>
            <p:cNvPr id="29" name="圆角矩形 28"/>
            <p:cNvSpPr/>
            <p:nvPr/>
          </p:nvSpPr>
          <p:spPr>
            <a:xfrm>
              <a:off x="466725" y="1914525"/>
              <a:ext cx="2247900" cy="32015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62282" y="2114748"/>
              <a:ext cx="1656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</a:rPr>
                <a:t>畅通的保障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66726" y="3053634"/>
              <a:ext cx="2247900" cy="64633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网络出口使用饱和</a:t>
              </a:r>
            </a:p>
            <a:p>
              <a:pPr algn="ctr"/>
              <a:r>
                <a:rPr lang="zh-CN" altLang="en-US" dirty="0"/>
                <a:t>内容运营面临挑战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90586" y="4549833"/>
              <a:ext cx="1400175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完善资源</a:t>
              </a:r>
            </a:p>
          </p:txBody>
        </p:sp>
      </p:grpSp>
      <p:cxnSp>
        <p:nvCxnSpPr>
          <p:cNvPr id="33" name="直接连接符 32"/>
          <p:cNvCxnSpPr/>
          <p:nvPr/>
        </p:nvCxnSpPr>
        <p:spPr>
          <a:xfrm>
            <a:off x="266700" y="5386614"/>
            <a:ext cx="9119073" cy="873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816673" y="4075239"/>
            <a:ext cx="136457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有效评估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143947" y="4075239"/>
            <a:ext cx="136457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全面监测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6471221" y="4075239"/>
            <a:ext cx="136457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调控优化</a:t>
            </a:r>
            <a:endParaRPr lang="zh-CN" altLang="en-US" dirty="0"/>
          </a:p>
        </p:txBody>
      </p:sp>
      <p:cxnSp>
        <p:nvCxnSpPr>
          <p:cNvPr id="37" name="直接连接符 36"/>
          <p:cNvCxnSpPr/>
          <p:nvPr/>
        </p:nvCxnSpPr>
        <p:spPr>
          <a:xfrm>
            <a:off x="266700" y="1800528"/>
            <a:ext cx="9119073" cy="873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66698" y="933040"/>
            <a:ext cx="9119073" cy="873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9784931" y="1250023"/>
            <a:ext cx="2076450" cy="532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重点工程应用场景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网络大脑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网络治理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9696450" y="2219520"/>
            <a:ext cx="2404240" cy="417185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 smtClean="0">
                <a:solidFill>
                  <a:schemeClr val="bg2"/>
                </a:solidFill>
              </a:rPr>
              <a:t>在十项网络运维任务中选取意义重大，受益面广的七项内容进行前期重点推进！为后期建设打基础</a:t>
            </a:r>
            <a:endParaRPr lang="en-US" altLang="zh-CN" sz="1600" dirty="0" smtClean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rgbClr val="FFFF00"/>
                </a:solidFill>
              </a:rPr>
              <a:t>网络态势即时分析</a:t>
            </a:r>
            <a:endParaRPr lang="en-US" altLang="zh-CN" sz="16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rgbClr val="FFFF00"/>
                </a:solidFill>
              </a:rPr>
              <a:t>重点人群精准保障</a:t>
            </a:r>
            <a:endParaRPr lang="en-US" altLang="zh-CN" sz="16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rgbClr val="FFFF00"/>
                </a:solidFill>
              </a:rPr>
              <a:t>重点业务精准管控</a:t>
            </a:r>
            <a:endParaRPr lang="en-US" altLang="zh-CN" sz="16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rgbClr val="FFFF00"/>
                </a:solidFill>
              </a:rPr>
              <a:t>无人</a:t>
            </a:r>
            <a:r>
              <a:rPr lang="zh-CN" altLang="en-US" sz="1600" dirty="0" smtClean="0">
                <a:solidFill>
                  <a:srgbClr val="FFFF00"/>
                </a:solidFill>
              </a:rPr>
              <a:t>巡检</a:t>
            </a:r>
            <a:r>
              <a:rPr lang="zh-CN" altLang="en-US" sz="1600" dirty="0">
                <a:solidFill>
                  <a:srgbClr val="FFFF00"/>
                </a:solidFill>
              </a:rPr>
              <a:t>智慧</a:t>
            </a:r>
            <a:r>
              <a:rPr lang="zh-CN" altLang="en-US" sz="1600" dirty="0" smtClean="0">
                <a:solidFill>
                  <a:srgbClr val="FFFF00"/>
                </a:solidFill>
              </a:rPr>
              <a:t>机房</a:t>
            </a:r>
            <a:endParaRPr lang="zh-CN" altLang="en-US" sz="16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solidFill>
                  <a:srgbClr val="FFFF00"/>
                </a:solidFill>
              </a:rPr>
              <a:t>网络拥塞</a:t>
            </a:r>
            <a:r>
              <a:rPr lang="zh-CN" altLang="en-US" sz="1600" dirty="0">
                <a:solidFill>
                  <a:srgbClr val="FFFF00"/>
                </a:solidFill>
              </a:rPr>
              <a:t>智能调度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solidFill>
                  <a:srgbClr val="FFFF00"/>
                </a:solidFill>
              </a:rPr>
              <a:t>客户投诉</a:t>
            </a:r>
            <a:r>
              <a:rPr lang="zh-CN" altLang="en-US" sz="1600" dirty="0">
                <a:solidFill>
                  <a:srgbClr val="FFFF00"/>
                </a:solidFill>
              </a:rPr>
              <a:t>提前预测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solidFill>
                  <a:srgbClr val="FFFF00"/>
                </a:solidFill>
              </a:rPr>
              <a:t>网络故障</a:t>
            </a:r>
            <a:r>
              <a:rPr lang="zh-CN" altLang="en-US" sz="1600" dirty="0">
                <a:solidFill>
                  <a:srgbClr val="FFFF00"/>
                </a:solidFill>
              </a:rPr>
              <a:t>辅助诊断</a:t>
            </a:r>
            <a:endParaRPr lang="en-US" altLang="zh-CN" sz="1600" dirty="0">
              <a:solidFill>
                <a:srgbClr val="FFFF00"/>
              </a:solidFill>
            </a:endParaRPr>
          </a:p>
          <a:p>
            <a:endParaRPr lang="en-US" altLang="zh-CN" sz="1600" dirty="0" smtClean="0"/>
          </a:p>
        </p:txBody>
      </p:sp>
      <p:pic>
        <p:nvPicPr>
          <p:cNvPr id="1026" name="Picture 2" descr="âç½ç»è®¾å¤âçå¾çæç´¢ç»æ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32" y="996444"/>
            <a:ext cx="1110432" cy="73972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ç¸å³å¾ç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142" y="1014352"/>
            <a:ext cx="1161912" cy="773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ânetwork congestionâçå¾çæç´¢ç»æ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913" y="970045"/>
            <a:ext cx="1534636" cy="7254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âå®¢æ·æè¯âçå¾çæç´¢ç»æ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408" y="1001375"/>
            <a:ext cx="1233390" cy="83446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âéç¹åºåâçå¾çæç´¢ç»æ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363" y="1026566"/>
            <a:ext cx="1048991" cy="6980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20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网络治理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网络态势即时分析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6" y="962025"/>
            <a:ext cx="11407027" cy="5476330"/>
          </a:xfrm>
          <a:prstGeom prst="rect">
            <a:avLst/>
          </a:prstGeom>
          <a:solidFill>
            <a:srgbClr val="223B4D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229" y="5222258"/>
            <a:ext cx="1593600" cy="1216097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2764923" y="5022171"/>
            <a:ext cx="1843314" cy="140189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745581" y="962025"/>
            <a:ext cx="6655821" cy="5476330"/>
            <a:chOff x="2745581" y="962025"/>
            <a:chExt cx="6655821" cy="547633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5"/>
            <a:srcRect l="20382" t="190" r="22414"/>
            <a:stretch/>
          </p:blipFill>
          <p:spPr>
            <a:xfrm>
              <a:off x="3363458" y="962025"/>
              <a:ext cx="6037944" cy="547633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2745581" y="3072267"/>
              <a:ext cx="617877" cy="3361326"/>
            </a:xfrm>
            <a:prstGeom prst="rect">
              <a:avLst/>
            </a:prstGeom>
            <a:solidFill>
              <a:srgbClr val="223B4D"/>
            </a:solidFill>
            <a:ln>
              <a:solidFill>
                <a:srgbClr val="223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914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网络治理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网络态势即时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分析（个性入口）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4953" y="1714500"/>
            <a:ext cx="7628347" cy="4804244"/>
            <a:chOff x="131353" y="1652675"/>
            <a:chExt cx="5507447" cy="401541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353" y="1652675"/>
              <a:ext cx="5507447" cy="354947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7" name="文本框 6"/>
            <p:cNvSpPr txBox="1"/>
            <p:nvPr/>
          </p:nvSpPr>
          <p:spPr>
            <a:xfrm>
              <a:off x="1549400" y="5359400"/>
              <a:ext cx="2387600" cy="308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城域网分管人员入口</a:t>
              </a:r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00170" y="2241300"/>
            <a:ext cx="10032543" cy="4015561"/>
            <a:chOff x="1456554" y="2106871"/>
            <a:chExt cx="10032543" cy="4015561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6554" y="2106871"/>
              <a:ext cx="10032543" cy="346202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文本框 10"/>
            <p:cNvSpPr txBox="1"/>
            <p:nvPr/>
          </p:nvSpPr>
          <p:spPr>
            <a:xfrm>
              <a:off x="4608237" y="5753100"/>
              <a:ext cx="29279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/>
                <a:t>CDN</a:t>
              </a:r>
              <a:r>
                <a:rPr lang="zh-CN" altLang="en-US" dirty="0" smtClean="0"/>
                <a:t>分管人员入口</a:t>
              </a:r>
              <a:endParaRPr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03398" y="799532"/>
            <a:ext cx="9871283" cy="5639356"/>
            <a:chOff x="1160358" y="1087030"/>
            <a:chExt cx="9871283" cy="563935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0358" y="1087030"/>
              <a:ext cx="9871283" cy="514769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4" name="文本框 13"/>
            <p:cNvSpPr txBox="1"/>
            <p:nvPr/>
          </p:nvSpPr>
          <p:spPr>
            <a:xfrm>
              <a:off x="3540607" y="6357054"/>
              <a:ext cx="50770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专业网总管人员入口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201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48148E-6 L -0.26315 -0.302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64" y="-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9 0.04537 L 0.21862 -0.2893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19" y="-1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75564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网络治理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全域事件动态感知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5509" y="2414212"/>
            <a:ext cx="2677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将投诉事件与地理坐标相结合，</a:t>
            </a:r>
            <a:r>
              <a:rPr lang="zh-CN" altLang="en-US" sz="2000" dirty="0" smtClean="0">
                <a:solidFill>
                  <a:srgbClr val="FF6600"/>
                </a:solidFill>
              </a:rPr>
              <a:t>全面感知，报警</a:t>
            </a:r>
            <a:r>
              <a:rPr lang="zh-CN" altLang="en-US" sz="2000" dirty="0">
                <a:solidFill>
                  <a:srgbClr val="FF6600"/>
                </a:solidFill>
              </a:rPr>
              <a:t>分类</a:t>
            </a:r>
            <a:r>
              <a:rPr lang="zh-CN" altLang="en-US" sz="2000" dirty="0" smtClean="0">
                <a:solidFill>
                  <a:srgbClr val="FF6600"/>
                </a:solidFill>
              </a:rPr>
              <a:t>，精准处理。</a:t>
            </a:r>
            <a:endParaRPr lang="zh-CN" altLang="en-US" sz="2000" dirty="0">
              <a:solidFill>
                <a:srgbClr val="FF66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4" y="1461154"/>
            <a:ext cx="8661181" cy="46795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7956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6228763" y="4754675"/>
            <a:ext cx="5744162" cy="186764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23102" y="4754675"/>
            <a:ext cx="5744162" cy="186764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232237" y="2713517"/>
            <a:ext cx="5744162" cy="1855046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23102" y="2713517"/>
            <a:ext cx="5744162" cy="185504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92728" y="209260"/>
            <a:ext cx="4739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网络治理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统一评价体系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5546" y="970961"/>
            <a:ext cx="1042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 smtClean="0"/>
              <a:t>通过网络大脑，智能化地支持“感知、存储、决策、控制、执行”五位一体网络管理机制，实现网络治理单元数据汇聚、指挥集成、力量整合</a:t>
            </a:r>
            <a:r>
              <a:rPr lang="zh-CN" altLang="en-US" sz="1600" smtClean="0"/>
              <a:t>和执行联动</a:t>
            </a:r>
            <a:r>
              <a:rPr lang="zh-CN" altLang="en-US" sz="1600" dirty="0" smtClean="0"/>
              <a:t>，解决以往专而不全、各自为政难题，推动资源整合优化，促进网络高效运转。</a:t>
            </a:r>
            <a:endParaRPr lang="zh-CN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223101" y="2163277"/>
            <a:ext cx="11749824" cy="4278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</a:rPr>
              <a:t>网络治理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统一评价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体系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 flipH="1">
            <a:off x="403069" y="3072745"/>
            <a:ext cx="433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核心网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 flipH="1">
            <a:off x="403068" y="5088331"/>
            <a:ext cx="433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动力网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6501544" y="3033244"/>
            <a:ext cx="433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城域网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 flipH="1">
            <a:off x="6501043" y="4887274"/>
            <a:ext cx="433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网络信息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79" y="4887274"/>
            <a:ext cx="1106242" cy="7206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âä¸­å½ç§»å¨ ä¾çµæºæ¿âçå¾çæç´¢ç»æ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79" y="5740476"/>
            <a:ext cx="1106242" cy="844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文本框 34"/>
          <p:cNvSpPr txBox="1"/>
          <p:nvPr/>
        </p:nvSpPr>
        <p:spPr>
          <a:xfrm>
            <a:off x="2921000" y="5088330"/>
            <a:ext cx="2511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/>
              <a:t>动力供应一张网</a:t>
            </a:r>
            <a:endParaRPr lang="zh-CN" altLang="en-US" sz="2400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2999523" y="5723503"/>
            <a:ext cx="2476500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统一规划</a:t>
            </a:r>
            <a:r>
              <a:rPr lang="en-US" altLang="zh-CN" b="1" dirty="0" smtClean="0">
                <a:solidFill>
                  <a:schemeClr val="bg1"/>
                </a:solidFill>
              </a:rPr>
              <a:t>  </a:t>
            </a:r>
            <a:r>
              <a:rPr lang="zh-CN" altLang="en-US" b="1" dirty="0" smtClean="0">
                <a:solidFill>
                  <a:schemeClr val="bg1"/>
                </a:solidFill>
              </a:rPr>
              <a:t>统一设计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统一建设  统一维护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957" y="5740476"/>
            <a:ext cx="946192" cy="745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 descr="âäº¤æ¢æºâçå¾çæç´¢ç»æ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30" y="5010544"/>
            <a:ext cx="980819" cy="5394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文本框 38"/>
          <p:cNvSpPr txBox="1"/>
          <p:nvPr/>
        </p:nvSpPr>
        <p:spPr>
          <a:xfrm>
            <a:off x="8208452" y="4878244"/>
            <a:ext cx="39006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建立网络信息标准化平台，标准化设备信息、信令数据、专线信息、用户数据等，在保证数据安全的前提下实现信息的畅通。</a:t>
            </a:r>
            <a:endParaRPr lang="zh-CN" altLang="en-US" sz="1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8425430" y="5740476"/>
            <a:ext cx="3302000" cy="64633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设备信息 </a:t>
            </a:r>
            <a:r>
              <a:rPr lang="en-US" altLang="zh-CN" b="1" dirty="0" smtClean="0">
                <a:solidFill>
                  <a:schemeClr val="bg1"/>
                </a:solidFill>
              </a:rPr>
              <a:t>  </a:t>
            </a:r>
            <a:r>
              <a:rPr lang="zh-CN" altLang="en-US" b="1" dirty="0" smtClean="0">
                <a:solidFill>
                  <a:schemeClr val="bg1"/>
                </a:solidFill>
              </a:rPr>
              <a:t>用户信息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</a:rPr>
              <a:t>专线信息</a:t>
            </a:r>
            <a:r>
              <a:rPr lang="en-US" altLang="zh-CN" b="1" dirty="0">
                <a:solidFill>
                  <a:schemeClr val="bg1"/>
                </a:solidFill>
              </a:rPr>
              <a:t> </a:t>
            </a:r>
            <a:r>
              <a:rPr lang="en-US" altLang="zh-CN" b="1" dirty="0" smtClean="0">
                <a:solidFill>
                  <a:schemeClr val="bg1"/>
                </a:solidFill>
              </a:rPr>
              <a:t>  </a:t>
            </a:r>
            <a:r>
              <a:rPr lang="zh-CN" altLang="en-US" b="1" dirty="0" smtClean="0">
                <a:solidFill>
                  <a:schemeClr val="bg1"/>
                </a:solidFill>
              </a:rPr>
              <a:t>信令数据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76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28" y="1674254"/>
            <a:ext cx="3233633" cy="229243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74253" y="1319602"/>
            <a:ext cx="172576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</a:rPr>
              <a:t>珠海体育中心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7128" y="1657476"/>
            <a:ext cx="837125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bg1"/>
                </a:solidFill>
              </a:rPr>
              <a:t>4G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40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2G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3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3G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03617" y="264947"/>
            <a:ext cx="91566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重点区域保障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837126" y="1240844"/>
            <a:ext cx="10818256" cy="4425860"/>
            <a:chOff x="837126" y="1240844"/>
            <a:chExt cx="10818256" cy="4425860"/>
          </a:xfrm>
        </p:grpSpPr>
        <p:grpSp>
          <p:nvGrpSpPr>
            <p:cNvPr id="18" name="组合 17"/>
            <p:cNvGrpSpPr/>
            <p:nvPr/>
          </p:nvGrpSpPr>
          <p:grpSpPr>
            <a:xfrm>
              <a:off x="837128" y="1240844"/>
              <a:ext cx="10818254" cy="4425860"/>
              <a:chOff x="837128" y="1240844"/>
              <a:chExt cx="10818254" cy="442586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837128" y="1240844"/>
                <a:ext cx="10818254" cy="4425860"/>
                <a:chOff x="837128" y="1240844"/>
                <a:chExt cx="10818254" cy="4425860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837128" y="1240844"/>
                  <a:ext cx="10818254" cy="4425860"/>
                  <a:chOff x="837128" y="1240844"/>
                  <a:chExt cx="10818254" cy="4425860"/>
                </a:xfrm>
              </p:grpSpPr>
              <p:pic>
                <p:nvPicPr>
                  <p:cNvPr id="2" name="图片 1"/>
                  <p:cNvPicPr/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837128" y="1240844"/>
                    <a:ext cx="10818254" cy="4425860"/>
                  </a:xfrm>
                  <a:prstGeom prst="roundRect">
                    <a:avLst>
                      <a:gd name="adj" fmla="val 8594"/>
                    </a:avLst>
                  </a:prstGeom>
                  <a:solidFill>
                    <a:srgbClr val="FFFFFF">
                      <a:shade val="85000"/>
                    </a:srgbClr>
                  </a:solidFill>
                  <a:ln>
                    <a:noFill/>
                  </a:ln>
                  <a:effectLst>
                    <a:reflection blurRad="12700" stA="38000" endPos="28000" dist="5000" dir="5400000" sy="-100000" algn="bl" rotWithShape="0"/>
                  </a:effectLst>
                </p:spPr>
              </p:pic>
              <p:sp>
                <p:nvSpPr>
                  <p:cNvPr id="9" name="矩形 8"/>
                  <p:cNvSpPr/>
                  <p:nvPr/>
                </p:nvSpPr>
                <p:spPr>
                  <a:xfrm>
                    <a:off x="5109328" y="1249470"/>
                    <a:ext cx="2253006" cy="324806"/>
                  </a:xfrm>
                  <a:prstGeom prst="rect">
                    <a:avLst/>
                  </a:prstGeom>
                  <a:solidFill>
                    <a:srgbClr val="CC0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dirty="0" smtClean="0"/>
                      <a:t>重点区域精准化管控</a:t>
                    </a:r>
                    <a:endParaRPr lang="zh-CN" altLang="en-US" dirty="0"/>
                  </a:p>
                </p:txBody>
              </p:sp>
            </p:grpSp>
            <p:sp>
              <p:nvSpPr>
                <p:cNvPr id="12" name="文本框 11"/>
                <p:cNvSpPr txBox="1"/>
                <p:nvPr/>
              </p:nvSpPr>
              <p:spPr>
                <a:xfrm>
                  <a:off x="1674253" y="1319602"/>
                  <a:ext cx="1725769" cy="33855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 smtClean="0">
                      <a:solidFill>
                        <a:schemeClr val="bg1"/>
                      </a:solidFill>
                    </a:rPr>
                    <a:t>珠海体育中心</a:t>
                  </a:r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" name="矩形 13"/>
              <p:cNvSpPr/>
              <p:nvPr/>
            </p:nvSpPr>
            <p:spPr>
              <a:xfrm>
                <a:off x="837128" y="1674253"/>
                <a:ext cx="3288093" cy="2308538"/>
              </a:xfrm>
              <a:prstGeom prst="rect">
                <a:avLst/>
              </a:prstGeom>
              <a:solidFill>
                <a:srgbClr val="01264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2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7126" y="1736914"/>
              <a:ext cx="3233635" cy="222977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3" name="文本框 12"/>
          <p:cNvSpPr txBox="1"/>
          <p:nvPr/>
        </p:nvSpPr>
        <p:spPr>
          <a:xfrm>
            <a:off x="837127" y="1721889"/>
            <a:ext cx="837125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bg1"/>
                </a:solidFill>
              </a:rPr>
              <a:t>4G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40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2G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3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3G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77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728" y="209260"/>
            <a:ext cx="4739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拥塞智能调度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85455" y="956644"/>
            <a:ext cx="10238508" cy="5217730"/>
            <a:chOff x="1385455" y="956644"/>
            <a:chExt cx="10238508" cy="5217730"/>
          </a:xfrm>
        </p:grpSpPr>
        <p:grpSp>
          <p:nvGrpSpPr>
            <p:cNvPr id="52" name="组合 5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27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9" name="直接连接符 8"/>
                <p:cNvCxnSpPr>
                  <a:stCxn id="1026" idx="0"/>
                  <a:endCxn id="1027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4" name="直接连接符 33"/>
                <p:cNvCxnSpPr>
                  <a:stCxn id="32" idx="0"/>
                  <a:endCxn id="33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026" idx="0"/>
                  <a:endCxn id="33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>
                  <a:stCxn id="1027" idx="2"/>
                  <a:endCxn id="32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3366658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56" name="矩形标注 55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GB</a:t>
              </a:r>
            </a:p>
          </p:txBody>
        </p:sp>
        <p:sp>
          <p:nvSpPr>
            <p:cNvPr id="40" name="矩形标注 39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0.5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GB</a:t>
              </a:r>
              <a:endParaRPr lang="en-US" altLang="zh-CN" sz="1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0210800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39" name="组合 38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67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8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9" name="直接连接符 68"/>
                <p:cNvCxnSpPr>
                  <a:stCxn id="67" idx="0"/>
                  <a:endCxn id="68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0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72" name="直接连接符 71"/>
                <p:cNvCxnSpPr>
                  <a:stCxn id="70" idx="0"/>
                  <a:endCxn id="71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>
                  <a:stCxn id="67" idx="0"/>
                  <a:endCxn id="71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>
                  <a:stCxn id="68" idx="2"/>
                  <a:endCxn id="70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FFC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/>
                <p:cNvSpPr txBox="1"/>
                <p:nvPr/>
              </p:nvSpPr>
              <p:spPr>
                <a:xfrm>
                  <a:off x="3366663" y="4676835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42" name="矩形标注 41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0.6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1.2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</a:t>
              </a: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16.2 GB</a:t>
              </a:r>
            </a:p>
          </p:txBody>
        </p:sp>
        <p:sp>
          <p:nvSpPr>
            <p:cNvPr id="44" name="矩形标注 4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2.2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1.4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2.8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13.8 GB</a:t>
              </a:r>
            </a:p>
          </p:txBody>
        </p:sp>
        <p:sp>
          <p:nvSpPr>
            <p:cNvPr id="60" name="椭圆 59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62683" y="1146234"/>
            <a:ext cx="1777212" cy="454997"/>
            <a:chOff x="5662683" y="820312"/>
            <a:chExt cx="1777212" cy="454997"/>
          </a:xfrm>
        </p:grpSpPr>
        <p:cxnSp>
          <p:nvCxnSpPr>
            <p:cNvPr id="87" name="直接箭头连接符 86"/>
            <p:cNvCxnSpPr/>
            <p:nvPr/>
          </p:nvCxnSpPr>
          <p:spPr>
            <a:xfrm>
              <a:off x="5662683" y="1275309"/>
              <a:ext cx="177721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5680355" y="820312"/>
              <a:ext cx="1630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家</a:t>
              </a:r>
              <a:r>
                <a:rPr lang="zh-CN" altLang="en-US" dirty="0" smtClean="0"/>
                <a:t>宽用户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0355" y="1807497"/>
            <a:ext cx="1777212" cy="462832"/>
            <a:chOff x="5680355" y="1807497"/>
            <a:chExt cx="1777212" cy="462832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680355" y="1807497"/>
              <a:ext cx="1777212" cy="0"/>
            </a:xfrm>
            <a:prstGeom prst="straightConnector1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5749625" y="1900997"/>
              <a:ext cx="1587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IPTV</a:t>
              </a:r>
              <a:r>
                <a:rPr lang="zh-CN" altLang="en-US" dirty="0" smtClean="0"/>
                <a:t>用户</a:t>
              </a:r>
              <a:r>
                <a:rPr lang="en-US" altLang="zh-CN" dirty="0" smtClean="0"/>
                <a:t>0.4</a:t>
              </a:r>
              <a:r>
                <a:rPr lang="zh-CN" altLang="en-US" dirty="0" smtClean="0"/>
                <a:t>万</a:t>
              </a:r>
              <a:endParaRPr lang="zh-CN" altLang="en-US" dirty="0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4563666" y="1233748"/>
            <a:ext cx="3394100" cy="3033675"/>
            <a:chOff x="4563666" y="1233748"/>
            <a:chExt cx="3394100" cy="3033675"/>
          </a:xfrm>
        </p:grpSpPr>
        <p:pic>
          <p:nvPicPr>
            <p:cNvPr id="123" name="Picture 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3666" y="1233748"/>
              <a:ext cx="1024529" cy="981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4" name="直接连接符 123"/>
            <p:cNvCxnSpPr>
              <a:endCxn id="123" idx="2"/>
            </p:cNvCxnSpPr>
            <p:nvPr/>
          </p:nvCxnSpPr>
          <p:spPr>
            <a:xfrm flipV="1">
              <a:off x="5075931" y="2214987"/>
              <a:ext cx="0" cy="2052436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23" idx="2"/>
            </p:cNvCxnSpPr>
            <p:nvPr/>
          </p:nvCxnSpPr>
          <p:spPr>
            <a:xfrm>
              <a:off x="5075931" y="2214987"/>
              <a:ext cx="2881835" cy="2052431"/>
            </a:xfrm>
            <a:prstGeom prst="line">
              <a:avLst/>
            </a:prstGeom>
            <a:ln w="57150">
              <a:solidFill>
                <a:srgbClr val="FFC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1385450" y="956639"/>
            <a:ext cx="10238508" cy="5217730"/>
            <a:chOff x="1385455" y="956644"/>
            <a:chExt cx="10238508" cy="5217730"/>
          </a:xfrm>
        </p:grpSpPr>
        <p:grpSp>
          <p:nvGrpSpPr>
            <p:cNvPr id="92" name="组合 91"/>
            <p:cNvGrpSpPr/>
            <p:nvPr/>
          </p:nvGrpSpPr>
          <p:grpSpPr>
            <a:xfrm>
              <a:off x="3794394" y="1233743"/>
              <a:ext cx="5397305" cy="4940631"/>
              <a:chOff x="3184774" y="1455423"/>
              <a:chExt cx="5397305" cy="4940631"/>
            </a:xfrm>
          </p:grpSpPr>
          <p:sp>
            <p:nvSpPr>
              <p:cNvPr id="97" name="TextBox 96"/>
              <p:cNvSpPr txBox="1"/>
              <p:nvPr/>
            </p:nvSpPr>
            <p:spPr>
              <a:xfrm>
                <a:off x="3408215" y="6026722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461190" y="6012862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6290050" y="6026717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家宽用户</a:t>
                </a:r>
                <a:endParaRPr lang="zh-CN" altLang="en-US" dirty="0"/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7343025" y="6012857"/>
                <a:ext cx="1065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IPTV</a:t>
                </a:r>
                <a:r>
                  <a:rPr lang="zh-CN" altLang="en-US" dirty="0" smtClean="0"/>
                  <a:t>用户</a:t>
                </a:r>
                <a:endParaRPr lang="zh-CN" altLang="en-US" dirty="0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>
                <a:off x="3184774" y="1455423"/>
                <a:ext cx="5397305" cy="4432751"/>
                <a:chOff x="3184774" y="1455423"/>
                <a:chExt cx="5397305" cy="4432751"/>
              </a:xfrm>
            </p:grpSpPr>
            <p:pic>
              <p:nvPicPr>
                <p:cNvPr id="102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4489103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4046" y="1455428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4" name="直接连接符 103"/>
                <p:cNvCxnSpPr>
                  <a:stCxn id="102" idx="0"/>
                  <a:endCxn id="103" idx="2"/>
                </p:cNvCxnSpPr>
                <p:nvPr/>
              </p:nvCxnSpPr>
              <p:spPr>
                <a:xfrm flipV="1">
                  <a:off x="4466311" y="2436667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4489098"/>
                  <a:ext cx="1024529" cy="726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3"/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5881" y="1455423"/>
                  <a:ext cx="1024529" cy="98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07" name="直接连接符 106"/>
                <p:cNvCxnSpPr>
                  <a:stCxn id="105" idx="0"/>
                  <a:endCxn id="106" idx="2"/>
                </p:cNvCxnSpPr>
                <p:nvPr/>
              </p:nvCxnSpPr>
              <p:spPr>
                <a:xfrm flipV="1">
                  <a:off x="7348146" y="2436662"/>
                  <a:ext cx="0" cy="2052436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>
                  <a:stCxn id="102" idx="0"/>
                  <a:endCxn id="106" idx="2"/>
                </p:cNvCxnSpPr>
                <p:nvPr/>
              </p:nvCxnSpPr>
              <p:spPr>
                <a:xfrm flipV="1">
                  <a:off x="4466311" y="2436662"/>
                  <a:ext cx="2881835" cy="205244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>
                  <a:stCxn id="103" idx="2"/>
                  <a:endCxn id="105" idx="0"/>
                </p:cNvCxnSpPr>
                <p:nvPr/>
              </p:nvCxnSpPr>
              <p:spPr>
                <a:xfrm>
                  <a:off x="4466311" y="2436667"/>
                  <a:ext cx="2881835" cy="205243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4466310" y="5153883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>
                  <a:off x="3954046" y="5624938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>
                  <a:off x="3954046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>
                  <a:off x="4978575" y="5624938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>
                  <a:off x="7348145" y="5153878"/>
                  <a:ext cx="1" cy="4710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6835881" y="5624933"/>
                  <a:ext cx="102452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6835881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7860410" y="5624933"/>
                  <a:ext cx="0" cy="26323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Box 117"/>
                <p:cNvSpPr txBox="1"/>
                <p:nvPr/>
              </p:nvSpPr>
              <p:spPr>
                <a:xfrm>
                  <a:off x="3366663" y="4673361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7824643" y="4672333"/>
                  <a:ext cx="6101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OLT</a:t>
                  </a:r>
                  <a:endParaRPr lang="zh-CN" altLang="en-US" dirty="0"/>
                </a:p>
              </p:txBody>
            </p:sp>
            <p:sp>
              <p:nvSpPr>
                <p:cNvPr id="120" name="TextBox 119"/>
                <p:cNvSpPr txBox="1"/>
                <p:nvPr/>
              </p:nvSpPr>
              <p:spPr>
                <a:xfrm>
                  <a:off x="3184774" y="1761381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BNG1</a:t>
                  </a:r>
                  <a:endParaRPr lang="zh-CN" altLang="en-US" dirty="0"/>
                </a:p>
              </p:txBody>
            </p:sp>
            <p:sp>
              <p:nvSpPr>
                <p:cNvPr id="121" name="TextBox 120"/>
                <p:cNvSpPr txBox="1"/>
                <p:nvPr/>
              </p:nvSpPr>
              <p:spPr>
                <a:xfrm>
                  <a:off x="7860407" y="1761376"/>
                  <a:ext cx="7216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 smtClean="0"/>
                    <a:t>BNG2</a:t>
                  </a:r>
                  <a:endParaRPr lang="zh-CN" altLang="en-US" dirty="0"/>
                </a:p>
              </p:txBody>
            </p:sp>
          </p:grpSp>
        </p:grpSp>
        <p:sp>
          <p:nvSpPr>
            <p:cNvPr id="93" name="矩形标注 92"/>
            <p:cNvSpPr/>
            <p:nvPr/>
          </p:nvSpPr>
          <p:spPr>
            <a:xfrm>
              <a:off x="1385455" y="956644"/>
              <a:ext cx="2175192" cy="2007462"/>
            </a:xfrm>
            <a:prstGeom prst="wedgeRectCallout">
              <a:avLst>
                <a:gd name="adj1" fmla="val 73044"/>
                <a:gd name="adj2" fmla="val 355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4" name="矩形标注 93"/>
            <p:cNvSpPr/>
            <p:nvPr/>
          </p:nvSpPr>
          <p:spPr>
            <a:xfrm>
              <a:off x="9407264" y="956644"/>
              <a:ext cx="2216699" cy="2007462"/>
            </a:xfrm>
            <a:prstGeom prst="wedgeRectCallout">
              <a:avLst>
                <a:gd name="adj1" fmla="val -74575"/>
                <a:gd name="adj2" fmla="val 1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家宽用户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2.6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宽流量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GB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1.0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IPTV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流量  </a:t>
              </a:r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2.0   GB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总流量      </a:t>
              </a:r>
              <a:r>
                <a:rPr lang="en-US" altLang="zh-CN" sz="1600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15.0 GB</a:t>
              </a:r>
            </a:p>
          </p:txBody>
        </p:sp>
        <p:sp>
          <p:nvSpPr>
            <p:cNvPr id="95" name="椭圆 94"/>
            <p:cNvSpPr/>
            <p:nvPr/>
          </p:nvSpPr>
          <p:spPr>
            <a:xfrm>
              <a:off x="2258291" y="2507673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0293927" y="2507672"/>
              <a:ext cx="1094509" cy="456433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453662" y="300927"/>
            <a:ext cx="3555351" cy="498765"/>
            <a:chOff x="277079" y="3657600"/>
            <a:chExt cx="3309490" cy="498765"/>
          </a:xfrm>
        </p:grpSpPr>
        <p:sp>
          <p:nvSpPr>
            <p:cNvPr id="10" name="矩形 9"/>
            <p:cNvSpPr/>
            <p:nvPr/>
          </p:nvSpPr>
          <p:spPr>
            <a:xfrm>
              <a:off x="277079" y="3657600"/>
              <a:ext cx="1288471" cy="49876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智能算法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>
              <a:stCxn id="10" idx="3"/>
            </p:cNvCxnSpPr>
            <p:nvPr/>
          </p:nvCxnSpPr>
          <p:spPr>
            <a:xfrm>
              <a:off x="1565550" y="3906982"/>
              <a:ext cx="824340" cy="0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圆角矩形 12"/>
            <p:cNvSpPr/>
            <p:nvPr/>
          </p:nvSpPr>
          <p:spPr>
            <a:xfrm>
              <a:off x="2396830" y="3657601"/>
              <a:ext cx="1189739" cy="498764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调度方案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752870" y="2214982"/>
            <a:ext cx="7204896" cy="2792997"/>
            <a:chOff x="473758" y="2631228"/>
            <a:chExt cx="7204896" cy="2792997"/>
          </a:xfrm>
        </p:grpSpPr>
        <p:grpSp>
          <p:nvGrpSpPr>
            <p:cNvPr id="138" name="组合 137"/>
            <p:cNvGrpSpPr/>
            <p:nvPr/>
          </p:nvGrpSpPr>
          <p:grpSpPr>
            <a:xfrm>
              <a:off x="473758" y="2631228"/>
              <a:ext cx="7204896" cy="2792997"/>
              <a:chOff x="785613" y="2139196"/>
              <a:chExt cx="7204896" cy="2792997"/>
            </a:xfrm>
          </p:grpSpPr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1" name="直接连接符 140"/>
              <p:cNvCxnSpPr>
                <a:stCxn id="140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  <p:cxnSp>
            <p:nvCxnSpPr>
              <p:cNvPr id="127" name="直接连接符 126"/>
              <p:cNvCxnSpPr>
                <a:stCxn id="140" idx="0"/>
                <a:endCxn id="33" idx="2"/>
              </p:cNvCxnSpPr>
              <p:nvPr/>
            </p:nvCxnSpPr>
            <p:spPr>
              <a:xfrm flipV="1">
                <a:off x="1896653" y="2139196"/>
                <a:ext cx="6093856" cy="2066296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grpSp>
        <p:nvGrpSpPr>
          <p:cNvPr id="143" name="组合 142"/>
          <p:cNvGrpSpPr/>
          <p:nvPr/>
        </p:nvGrpSpPr>
        <p:grpSpPr>
          <a:xfrm flipH="1">
            <a:off x="5075926" y="2209871"/>
            <a:ext cx="7247836" cy="2779142"/>
            <a:chOff x="473758" y="2645083"/>
            <a:chExt cx="7247836" cy="2779142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73758" y="2645083"/>
              <a:ext cx="7247836" cy="2779142"/>
              <a:chOff x="785613" y="2153051"/>
              <a:chExt cx="7247836" cy="2779142"/>
            </a:xfrm>
          </p:grpSpPr>
          <p:pic>
            <p:nvPicPr>
              <p:cNvPr id="14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4388" y="4205492"/>
                <a:ext cx="1024529" cy="72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7" name="直接连接符 146"/>
              <p:cNvCxnSpPr>
                <a:stCxn id="146" idx="0"/>
              </p:cNvCxnSpPr>
              <p:nvPr/>
            </p:nvCxnSpPr>
            <p:spPr>
              <a:xfrm flipV="1">
                <a:off x="1896653" y="2153051"/>
                <a:ext cx="2881835" cy="2052441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TextBox 117"/>
              <p:cNvSpPr txBox="1"/>
              <p:nvPr/>
            </p:nvSpPr>
            <p:spPr>
              <a:xfrm>
                <a:off x="785613" y="4384176"/>
                <a:ext cx="610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OLT</a:t>
                </a:r>
                <a:endParaRPr lang="zh-CN" altLang="en-US" dirty="0"/>
              </a:p>
            </p:txBody>
          </p:sp>
          <p:cxnSp>
            <p:nvCxnSpPr>
              <p:cNvPr id="126" name="直接连接符 125"/>
              <p:cNvCxnSpPr>
                <a:stCxn id="146" idx="0"/>
                <a:endCxn id="103" idx="2"/>
              </p:cNvCxnSpPr>
              <p:nvPr/>
            </p:nvCxnSpPr>
            <p:spPr>
              <a:xfrm flipV="1">
                <a:off x="1896653" y="2158162"/>
                <a:ext cx="6136796" cy="2047330"/>
              </a:xfrm>
              <a:prstGeom prst="line">
                <a:avLst/>
              </a:prstGeom>
              <a:ln w="57150">
                <a:solidFill>
                  <a:srgbClr val="00B050"/>
                </a:solidFill>
                <a:prstDash val="dash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5" name="文本框 144"/>
            <p:cNvSpPr txBox="1"/>
            <p:nvPr/>
          </p:nvSpPr>
          <p:spPr>
            <a:xfrm>
              <a:off x="2184185" y="4851693"/>
              <a:ext cx="915387" cy="37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·</a:t>
              </a:r>
              <a:r>
                <a:rPr lang="en-US" altLang="zh-CN" b="1" dirty="0"/>
                <a:t> </a:t>
              </a:r>
              <a:r>
                <a:rPr lang="en-US" altLang="zh-CN" b="1" dirty="0" smtClean="0"/>
                <a:t>·</a:t>
              </a:r>
              <a:r>
                <a:rPr lang="en-US" altLang="zh-CN" b="1" dirty="0"/>
                <a:t> ·</a:t>
              </a:r>
              <a:endParaRPr lang="zh-CN" altLang="en-US" b="1" dirty="0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899" y="63617"/>
            <a:ext cx="1540496" cy="11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9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左箭头 35"/>
          <p:cNvSpPr/>
          <p:nvPr/>
        </p:nvSpPr>
        <p:spPr>
          <a:xfrm>
            <a:off x="5222628" y="2321169"/>
            <a:ext cx="4062047" cy="6865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无人巡检机房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463" y="1646431"/>
            <a:ext cx="3309906" cy="16352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07" y="4493904"/>
            <a:ext cx="3747636" cy="193409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836510" y="2462052"/>
            <a:ext cx="305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、基于</a:t>
            </a:r>
            <a:r>
              <a:rPr lang="zh-CN" altLang="en-US" b="1" dirty="0"/>
              <a:t>机器人的机房管理</a:t>
            </a:r>
          </a:p>
        </p:txBody>
      </p:sp>
      <p:pic>
        <p:nvPicPr>
          <p:cNvPr id="30" name="Picture 2" descr="http://img.taopic.com/uploads/allimg/120712/201699-120G2224T175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8931" y="1697292"/>
            <a:ext cx="1310454" cy="131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63" y="4949550"/>
            <a:ext cx="705590" cy="1352092"/>
          </a:xfrm>
          <a:prstGeom prst="rect">
            <a:avLst/>
          </a:prstGeom>
        </p:spPr>
      </p:pic>
      <p:sp>
        <p:nvSpPr>
          <p:cNvPr id="34" name="下箭头 33"/>
          <p:cNvSpPr/>
          <p:nvPr/>
        </p:nvSpPr>
        <p:spPr>
          <a:xfrm>
            <a:off x="2459048" y="3281633"/>
            <a:ext cx="477581" cy="12423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5447427" y="5399675"/>
            <a:ext cx="3837248" cy="731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、基于</a:t>
            </a:r>
            <a:r>
              <a:rPr lang="en-US" altLang="zh-CN" b="1" dirty="0">
                <a:solidFill>
                  <a:schemeClr val="tx1"/>
                </a:solidFill>
              </a:rPr>
              <a:t>VR</a:t>
            </a:r>
            <a:r>
              <a:rPr lang="zh-CN" altLang="en-US" b="1" dirty="0">
                <a:solidFill>
                  <a:schemeClr val="tx1"/>
                </a:solidFill>
              </a:rPr>
              <a:t>技术的机房实时</a:t>
            </a:r>
            <a:r>
              <a:rPr lang="zh-CN" altLang="en-US" b="1" dirty="0" smtClean="0">
                <a:solidFill>
                  <a:schemeClr val="tx1"/>
                </a:solidFill>
              </a:rPr>
              <a:t>呈现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上箭头 37"/>
          <p:cNvSpPr/>
          <p:nvPr/>
        </p:nvSpPr>
        <p:spPr>
          <a:xfrm>
            <a:off x="10091362" y="3235569"/>
            <a:ext cx="476979" cy="125833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112477" y="3780692"/>
            <a:ext cx="177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100%</a:t>
            </a:r>
            <a:r>
              <a:rPr lang="zh-CN" altLang="en-US" dirty="0" smtClean="0"/>
              <a:t>复原机房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10568341" y="3780692"/>
            <a:ext cx="120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任务管控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5695677" y="2929132"/>
            <a:ext cx="3115948" cy="2694291"/>
            <a:chOff x="5695677" y="2929132"/>
            <a:chExt cx="3115948" cy="2694291"/>
          </a:xfrm>
        </p:grpSpPr>
        <p:grpSp>
          <p:nvGrpSpPr>
            <p:cNvPr id="18" name="组合 17"/>
            <p:cNvGrpSpPr/>
            <p:nvPr/>
          </p:nvGrpSpPr>
          <p:grpSpPr>
            <a:xfrm>
              <a:off x="5695677" y="2929132"/>
              <a:ext cx="3115948" cy="2178877"/>
              <a:chOff x="4163565" y="2671687"/>
              <a:chExt cx="3774124" cy="270803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4163565" y="2671687"/>
                <a:ext cx="3774124" cy="2708038"/>
                <a:chOff x="269848" y="1092189"/>
                <a:chExt cx="3122612" cy="2198009"/>
              </a:xfrm>
            </p:grpSpPr>
            <p:pic>
              <p:nvPicPr>
                <p:cNvPr id="22" name="Picture 2" descr="ânetwork brainâçå¾çæç´¢ç»æ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848" y="1092189"/>
                  <a:ext cx="3122612" cy="21980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图片 23"/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ackgroundRemoval t="9434" b="100000" l="9633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174855">
                  <a:off x="400289" y="1313539"/>
                  <a:ext cx="1084109" cy="790704"/>
                </a:xfrm>
                <a:prstGeom prst="rect">
                  <a:avLst/>
                </a:prstGeom>
              </p:spPr>
            </p:pic>
          </p:grpSp>
          <p:cxnSp>
            <p:nvCxnSpPr>
              <p:cNvPr id="20" name="直接连接符 19"/>
              <p:cNvCxnSpPr/>
              <p:nvPr/>
            </p:nvCxnSpPr>
            <p:spPr>
              <a:xfrm flipV="1">
                <a:off x="5141715" y="3053478"/>
                <a:ext cx="628945" cy="2689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4624991" y="3773075"/>
                <a:ext cx="610833" cy="30813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文本框 1"/>
            <p:cNvSpPr txBox="1"/>
            <p:nvPr/>
          </p:nvSpPr>
          <p:spPr>
            <a:xfrm>
              <a:off x="5931228" y="5223313"/>
              <a:ext cx="2656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/>
                <a:t>大脑系统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58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71" y="2007555"/>
            <a:ext cx="1209287" cy="12092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投诉提前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预测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72" y="1914268"/>
            <a:ext cx="1357203" cy="16769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284" y="1914268"/>
            <a:ext cx="1357203" cy="16769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72" y="2056104"/>
            <a:ext cx="1059086" cy="10590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05139" y="1209896"/>
            <a:ext cx="20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</a:rPr>
              <a:t>用户体验差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686558" y="1897725"/>
            <a:ext cx="1362002" cy="1710052"/>
            <a:chOff x="7416455" y="1488634"/>
            <a:chExt cx="1362002" cy="1710052"/>
          </a:xfrm>
        </p:grpSpPr>
        <p:pic>
          <p:nvPicPr>
            <p:cNvPr id="1026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790735" y="2280693"/>
            <a:ext cx="2718707" cy="1222206"/>
            <a:chOff x="3790735" y="2280693"/>
            <a:chExt cx="2718707" cy="122220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9408705" y="1963953"/>
            <a:ext cx="1208260" cy="1643824"/>
            <a:chOff x="10482560" y="1554862"/>
            <a:chExt cx="1208260" cy="164382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247260" y="2198751"/>
            <a:ext cx="1013197" cy="692463"/>
            <a:chOff x="9181005" y="1681232"/>
            <a:chExt cx="1013197" cy="692463"/>
          </a:xfrm>
        </p:grpSpPr>
        <p:sp>
          <p:nvSpPr>
            <p:cNvPr id="19" name="右箭头 18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680538" y="3737342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  <p:grpSp>
        <p:nvGrpSpPr>
          <p:cNvPr id="74" name="组合 73"/>
          <p:cNvGrpSpPr/>
          <p:nvPr/>
        </p:nvGrpSpPr>
        <p:grpSpPr>
          <a:xfrm>
            <a:off x="1100078" y="4376578"/>
            <a:ext cx="2561480" cy="2481422"/>
            <a:chOff x="1100078" y="4376578"/>
            <a:chExt cx="2561480" cy="2481422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13498" y="4376578"/>
              <a:ext cx="561150" cy="675500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0078" y="5072611"/>
              <a:ext cx="561150" cy="6755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3498" y="6182500"/>
              <a:ext cx="561150" cy="67550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1195245" y="5735286"/>
              <a:ext cx="370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…</a:t>
              </a:r>
              <a:endParaRPr lang="zh-CN" altLang="en-US" b="1" dirty="0"/>
            </a:p>
          </p:txBody>
        </p:sp>
        <p:cxnSp>
          <p:nvCxnSpPr>
            <p:cNvPr id="45" name="直接连接符 44"/>
            <p:cNvCxnSpPr>
              <a:stCxn id="40" idx="3"/>
              <a:endCxn id="51" idx="2"/>
            </p:cNvCxnSpPr>
            <p:nvPr/>
          </p:nvCxnSpPr>
          <p:spPr>
            <a:xfrm>
              <a:off x="1674648" y="4714328"/>
              <a:ext cx="1038963" cy="696218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1" idx="3"/>
              <a:endCxn id="51" idx="2"/>
            </p:cNvCxnSpPr>
            <p:nvPr/>
          </p:nvCxnSpPr>
          <p:spPr>
            <a:xfrm>
              <a:off x="1661228" y="5410361"/>
              <a:ext cx="1052383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2" idx="3"/>
              <a:endCxn id="51" idx="2"/>
            </p:cNvCxnSpPr>
            <p:nvPr/>
          </p:nvCxnSpPr>
          <p:spPr>
            <a:xfrm flipV="1">
              <a:off x="1674648" y="5410546"/>
              <a:ext cx="1038963" cy="1109704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2713611" y="5161995"/>
              <a:ext cx="947947" cy="4971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感知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107850" y="3737342"/>
            <a:ext cx="1005403" cy="1093284"/>
            <a:chOff x="5325844" y="4979295"/>
            <a:chExt cx="663078" cy="849900"/>
          </a:xfrm>
        </p:grpSpPr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498" y="4979295"/>
              <a:ext cx="659771" cy="659771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5325844" y="5566009"/>
              <a:ext cx="663078" cy="2631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 smtClean="0"/>
                <a:t>智能模型</a:t>
              </a:r>
              <a:endParaRPr lang="zh-CN" altLang="en-US" sz="1600" dirty="0"/>
            </a:p>
          </p:txBody>
        </p:sp>
      </p:grpSp>
      <p:sp>
        <p:nvSpPr>
          <p:cNvPr id="65" name="圆角矩形 64"/>
          <p:cNvSpPr/>
          <p:nvPr/>
        </p:nvSpPr>
        <p:spPr>
          <a:xfrm>
            <a:off x="5141589" y="4362199"/>
            <a:ext cx="833698" cy="35212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决策</a:t>
            </a:r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491334" y="4728737"/>
            <a:ext cx="2397964" cy="1607688"/>
            <a:chOff x="6491334" y="4728737"/>
            <a:chExt cx="2397964" cy="1607688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6491334" y="5410176"/>
              <a:ext cx="859669" cy="0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566" y="4728737"/>
              <a:ext cx="1290732" cy="120068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6586691" y="4779400"/>
              <a:ext cx="654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预测结果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698395" y="5967093"/>
              <a:ext cx="11909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解决方案</a:t>
              </a:r>
              <a:endParaRPr lang="zh-CN" altLang="en-US" dirty="0"/>
            </a:p>
          </p:txBody>
        </p:sp>
      </p:grpSp>
      <p:sp>
        <p:nvSpPr>
          <p:cNvPr id="68" name="圆角矩形 67"/>
          <p:cNvSpPr/>
          <p:nvPr/>
        </p:nvSpPr>
        <p:spPr>
          <a:xfrm>
            <a:off x="7874936" y="4231934"/>
            <a:ext cx="837819" cy="3877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69" name="圆角矩形 68"/>
          <p:cNvSpPr/>
          <p:nvPr/>
        </p:nvSpPr>
        <p:spPr>
          <a:xfrm>
            <a:off x="614077" y="4201283"/>
            <a:ext cx="8275222" cy="2626066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344848" y="4338284"/>
            <a:ext cx="653378" cy="3693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后台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9078129" y="4199007"/>
            <a:ext cx="2899606" cy="2628342"/>
            <a:chOff x="9078129" y="4199007"/>
            <a:chExt cx="2899606" cy="2628342"/>
          </a:xfrm>
        </p:grpSpPr>
        <p:sp>
          <p:nvSpPr>
            <p:cNvPr id="79" name="圆角矩形 78"/>
            <p:cNvSpPr/>
            <p:nvPr/>
          </p:nvSpPr>
          <p:spPr>
            <a:xfrm>
              <a:off x="9078129" y="4199007"/>
              <a:ext cx="2899606" cy="2628342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9348672" y="4337496"/>
              <a:ext cx="653378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</a:rPr>
                <a:t>用户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438" y="4721196"/>
              <a:ext cx="1357203" cy="1676966"/>
            </a:xfrm>
            <a:prstGeom prst="rect">
              <a:avLst/>
            </a:prstGeom>
          </p:spPr>
        </p:pic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633" y="4858467"/>
            <a:ext cx="1209287" cy="1209287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5279166" y="3681471"/>
            <a:ext cx="146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</a:rPr>
              <a:t>用户体验好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15860" y="4973995"/>
            <a:ext cx="2634770" cy="993098"/>
            <a:chOff x="3715860" y="4973995"/>
            <a:chExt cx="2634770" cy="993098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3715860" y="5410176"/>
              <a:ext cx="1207165" cy="185"/>
            </a:xfrm>
            <a:prstGeom prst="line">
              <a:avLst/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9219" y="4973995"/>
              <a:ext cx="1381411" cy="993098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5107850" y="6104618"/>
            <a:ext cx="112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大脑系统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38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1" grpId="0"/>
      <p:bldP spid="65" grpId="0" animBg="1"/>
      <p:bldP spid="68" grpId="0" animBg="1"/>
      <p:bldP spid="69" grpId="0" animBg="1"/>
      <p:bldP spid="71" grpId="0" animBg="1"/>
      <p:bldP spid="83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诊断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77977" y="2551918"/>
            <a:ext cx="1840787" cy="2322178"/>
            <a:chOff x="377977" y="2551918"/>
            <a:chExt cx="1840787" cy="2322178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77" y="2551918"/>
              <a:ext cx="1840787" cy="1840787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/>
          </p:nvSpPr>
          <p:spPr>
            <a:xfrm>
              <a:off x="451205" y="4504764"/>
              <a:ext cx="1694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出现故障</a:t>
              </a:r>
              <a:endParaRPr lang="zh-CN" altLang="en-US" b="1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822082" y="2748881"/>
            <a:ext cx="1362002" cy="1710052"/>
            <a:chOff x="7416455" y="1488634"/>
            <a:chExt cx="1362002" cy="1710052"/>
          </a:xfrm>
        </p:grpSpPr>
        <p:pic>
          <p:nvPicPr>
            <p:cNvPr id="48" name="Picture 2" descr="âCustomer mad iconâçå¾çæç´¢ç»æ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455" y="1488634"/>
              <a:ext cx="1362002" cy="134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文本框 48"/>
            <p:cNvSpPr txBox="1"/>
            <p:nvPr/>
          </p:nvSpPr>
          <p:spPr>
            <a:xfrm>
              <a:off x="7532448" y="2829354"/>
              <a:ext cx="1130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客响部门</a:t>
              </a:r>
              <a:endParaRPr lang="zh-CN" altLang="en-US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218765" y="3065621"/>
            <a:ext cx="2407024" cy="1222206"/>
            <a:chOff x="3790735" y="2280693"/>
            <a:chExt cx="2718707" cy="1222206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790735" y="2647874"/>
              <a:ext cx="889906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V="1">
              <a:off x="5717065" y="2647871"/>
              <a:ext cx="792377" cy="2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>
              <a:off x="4923025" y="2280693"/>
              <a:ext cx="777182" cy="1222206"/>
              <a:chOff x="4923025" y="1791814"/>
              <a:chExt cx="777182" cy="1222206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025" y="1791814"/>
                <a:ext cx="734359" cy="734359"/>
              </a:xfrm>
              <a:prstGeom prst="rect">
                <a:avLst/>
              </a:prstGeom>
            </p:spPr>
          </p:pic>
          <p:sp>
            <p:nvSpPr>
              <p:cNvPr id="55" name="文本框 54"/>
              <p:cNvSpPr txBox="1"/>
              <p:nvPr/>
            </p:nvSpPr>
            <p:spPr>
              <a:xfrm>
                <a:off x="4984983" y="2644688"/>
                <a:ext cx="715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投诉</a:t>
                </a:r>
                <a:endParaRPr lang="zh-CN" altLang="en-US" dirty="0"/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7369939" y="2913971"/>
            <a:ext cx="1208260" cy="1643824"/>
            <a:chOff x="10482560" y="1554862"/>
            <a:chExt cx="1208260" cy="1643824"/>
          </a:xfrm>
        </p:grpSpPr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2560" y="1554862"/>
              <a:ext cx="1208260" cy="1208260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10482560" y="2829354"/>
              <a:ext cx="1208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维护人员</a:t>
              </a:r>
              <a:endParaRPr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356742" y="3043420"/>
            <a:ext cx="1013197" cy="692463"/>
            <a:chOff x="9181005" y="1681232"/>
            <a:chExt cx="1013197" cy="692463"/>
          </a:xfrm>
        </p:grpSpPr>
        <p:sp>
          <p:nvSpPr>
            <p:cNvPr id="60" name="右箭头 59"/>
            <p:cNvSpPr/>
            <p:nvPr/>
          </p:nvSpPr>
          <p:spPr>
            <a:xfrm>
              <a:off x="9207374" y="1944290"/>
              <a:ext cx="986828" cy="429405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9181005" y="1681232"/>
              <a:ext cx="78765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通知</a:t>
              </a:r>
              <a:endParaRPr lang="zh-CN" altLang="en-US" dirty="0"/>
            </a:p>
          </p:txBody>
        </p:sp>
      </p:grpSp>
      <p:grpSp>
        <p:nvGrpSpPr>
          <p:cNvPr id="85" name="组合 84"/>
          <p:cNvGrpSpPr/>
          <p:nvPr/>
        </p:nvGrpSpPr>
        <p:grpSpPr>
          <a:xfrm flipH="1">
            <a:off x="4393084" y="1835849"/>
            <a:ext cx="1301848" cy="2897378"/>
            <a:chOff x="3183739" y="2124242"/>
            <a:chExt cx="1301848" cy="2897378"/>
          </a:xfrm>
        </p:grpSpPr>
        <p:cxnSp>
          <p:nvCxnSpPr>
            <p:cNvPr id="86" name="直接箭头连接符 85"/>
            <p:cNvCxnSpPr/>
            <p:nvPr/>
          </p:nvCxnSpPr>
          <p:spPr>
            <a:xfrm flipV="1">
              <a:off x="3183739" y="2124242"/>
              <a:ext cx="1291942" cy="1541383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3183739" y="3665625"/>
              <a:ext cx="1301848" cy="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/>
            <p:cNvCxnSpPr/>
            <p:nvPr/>
          </p:nvCxnSpPr>
          <p:spPr>
            <a:xfrm>
              <a:off x="3183739" y="3665625"/>
              <a:ext cx="1301848" cy="135599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flipV="1">
              <a:off x="3183739" y="2894933"/>
              <a:ext cx="1291942" cy="770692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>
              <a:off x="3183739" y="3665625"/>
              <a:ext cx="1301848" cy="604130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8" name="椭圆 1037"/>
          <p:cNvSpPr/>
          <p:nvPr/>
        </p:nvSpPr>
        <p:spPr>
          <a:xfrm>
            <a:off x="5728717" y="3043420"/>
            <a:ext cx="925149" cy="62205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现象汇总</a:t>
            </a:r>
            <a:endParaRPr lang="zh-CN" altLang="en-US" dirty="0"/>
          </a:p>
        </p:txBody>
      </p:sp>
      <p:sp>
        <p:nvSpPr>
          <p:cNvPr id="125" name="文本框 124"/>
          <p:cNvSpPr txBox="1"/>
          <p:nvPr/>
        </p:nvSpPr>
        <p:spPr>
          <a:xfrm>
            <a:off x="950614" y="1358012"/>
            <a:ext cx="86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现状</a:t>
            </a:r>
            <a:endParaRPr lang="zh-CN" altLang="en-US" sz="2400" b="1" dirty="0"/>
          </a:p>
        </p:txBody>
      </p:sp>
      <p:grpSp>
        <p:nvGrpSpPr>
          <p:cNvPr id="1044" name="组合 1043"/>
          <p:cNvGrpSpPr/>
          <p:nvPr/>
        </p:nvGrpSpPr>
        <p:grpSpPr>
          <a:xfrm>
            <a:off x="6409985" y="1562325"/>
            <a:ext cx="3217650" cy="3170902"/>
            <a:chOff x="6409985" y="1562325"/>
            <a:chExt cx="3217650" cy="3170902"/>
          </a:xfrm>
        </p:grpSpPr>
        <p:grpSp>
          <p:nvGrpSpPr>
            <p:cNvPr id="103" name="组合 102"/>
            <p:cNvGrpSpPr/>
            <p:nvPr/>
          </p:nvGrpSpPr>
          <p:grpSpPr>
            <a:xfrm>
              <a:off x="6714853" y="1562325"/>
              <a:ext cx="2798013" cy="3170902"/>
              <a:chOff x="3183739" y="1895642"/>
              <a:chExt cx="2798013" cy="3170902"/>
            </a:xfrm>
          </p:grpSpPr>
          <p:cxnSp>
            <p:nvCxnSpPr>
              <p:cNvPr id="104" name="直接箭头连接符 103"/>
              <p:cNvCxnSpPr/>
              <p:nvPr/>
            </p:nvCxnSpPr>
            <p:spPr>
              <a:xfrm flipV="1">
                <a:off x="3183739" y="2124242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104"/>
              <p:cNvCxnSpPr/>
              <p:nvPr/>
            </p:nvCxnSpPr>
            <p:spPr>
              <a:xfrm>
                <a:off x="3183739" y="3665625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/>
              <p:cNvCxnSpPr/>
              <p:nvPr/>
            </p:nvCxnSpPr>
            <p:spPr>
              <a:xfrm>
                <a:off x="3183739" y="3665625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/>
            </p:nvCxnSpPr>
            <p:spPr>
              <a:xfrm flipV="1">
                <a:off x="3183739" y="2894933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/>
              <p:nvPr/>
            </p:nvCxnSpPr>
            <p:spPr>
              <a:xfrm>
                <a:off x="3183739" y="3665625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圆角矩形 108"/>
              <p:cNvSpPr/>
              <p:nvPr/>
            </p:nvSpPr>
            <p:spPr>
              <a:xfrm>
                <a:off x="4663940" y="189564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663940" y="255191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圆角矩形 110"/>
              <p:cNvSpPr/>
              <p:nvPr/>
            </p:nvSpPr>
            <p:spPr>
              <a:xfrm>
                <a:off x="4663940" y="3397229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圆角矩形 111"/>
              <p:cNvSpPr/>
              <p:nvPr/>
            </p:nvSpPr>
            <p:spPr>
              <a:xfrm>
                <a:off x="4663940" y="4030492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圆角矩形 112"/>
              <p:cNvSpPr/>
              <p:nvPr/>
            </p:nvSpPr>
            <p:spPr>
              <a:xfrm>
                <a:off x="4663940" y="4653278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39" name="矩形 1038"/>
            <p:cNvSpPr/>
            <p:nvPr/>
          </p:nvSpPr>
          <p:spPr>
            <a:xfrm>
              <a:off x="8041943" y="1574740"/>
              <a:ext cx="15856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传输网发光侧</a:t>
              </a:r>
              <a:endParaRPr lang="zh-CN" altLang="en-US" dirty="0"/>
            </a:p>
          </p:txBody>
        </p:sp>
        <p:sp>
          <p:nvSpPr>
            <p:cNvPr id="1040" name="矩形 1039"/>
            <p:cNvSpPr/>
            <p:nvPr/>
          </p:nvSpPr>
          <p:spPr>
            <a:xfrm>
              <a:off x="8169647" y="223136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城域网配置</a:t>
              </a:r>
              <a:endParaRPr lang="zh-CN" altLang="en-US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8539014" y="269458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8303425" y="3118323"/>
              <a:ext cx="11432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DNS</a:t>
              </a:r>
              <a:r>
                <a:rPr lang="zh-CN" altLang="en-US" dirty="0" smtClean="0"/>
                <a:t>异常</a:t>
              </a:r>
              <a:endParaRPr lang="zh-CN" altLang="en-US" dirty="0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8525463" y="3707046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双主</a:t>
              </a:r>
              <a:endParaRPr lang="zh-CN" altLang="en-US" dirty="0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8278870" y="4322580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链路中断</a:t>
              </a:r>
              <a:endParaRPr lang="zh-CN" altLang="en-US" dirty="0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6409985" y="1813539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分析原因</a:t>
              </a:r>
              <a:endParaRPr lang="zh-CN" altLang="en-US" dirty="0"/>
            </a:p>
          </p:txBody>
        </p:sp>
      </p:grpSp>
      <p:grpSp>
        <p:nvGrpSpPr>
          <p:cNvPr id="1045" name="组合 1044"/>
          <p:cNvGrpSpPr/>
          <p:nvPr/>
        </p:nvGrpSpPr>
        <p:grpSpPr>
          <a:xfrm>
            <a:off x="1193798" y="1699087"/>
            <a:ext cx="3002993" cy="3170902"/>
            <a:chOff x="1193798" y="1699087"/>
            <a:chExt cx="3002993" cy="3170902"/>
          </a:xfrm>
        </p:grpSpPr>
        <p:sp>
          <p:nvSpPr>
            <p:cNvPr id="1041" name="文本框 1040"/>
            <p:cNvSpPr txBox="1"/>
            <p:nvPr/>
          </p:nvSpPr>
          <p:spPr>
            <a:xfrm>
              <a:off x="3258954" y="2803960"/>
              <a:ext cx="67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/>
                <a:t>···</a:t>
              </a:r>
              <a:endParaRPr lang="zh-CN" altLang="en-US" b="1" dirty="0"/>
            </a:p>
          </p:txBody>
        </p:sp>
        <p:grpSp>
          <p:nvGrpSpPr>
            <p:cNvPr id="1042" name="组合 1041"/>
            <p:cNvGrpSpPr/>
            <p:nvPr/>
          </p:nvGrpSpPr>
          <p:grpSpPr>
            <a:xfrm>
              <a:off x="1193798" y="1699087"/>
              <a:ext cx="3002993" cy="3170902"/>
              <a:chOff x="1193798" y="1699087"/>
              <a:chExt cx="3002993" cy="3170902"/>
            </a:xfrm>
          </p:grpSpPr>
          <p:cxnSp>
            <p:nvCxnSpPr>
              <p:cNvPr id="43" name="直接箭头连接符 42"/>
              <p:cNvCxnSpPr/>
              <p:nvPr/>
            </p:nvCxnSpPr>
            <p:spPr>
              <a:xfrm flipV="1">
                <a:off x="1398778" y="1927687"/>
                <a:ext cx="1291942" cy="15413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>
                <a:off x="1398778" y="3469070"/>
                <a:ext cx="130184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/>
              <p:nvPr/>
            </p:nvCxnSpPr>
            <p:spPr>
              <a:xfrm>
                <a:off x="1398778" y="3469070"/>
                <a:ext cx="1301848" cy="1355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/>
              <p:nvPr/>
            </p:nvCxnSpPr>
            <p:spPr>
              <a:xfrm flipV="1">
                <a:off x="1398778" y="2698378"/>
                <a:ext cx="1291942" cy="7706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/>
              <p:cNvCxnSpPr/>
              <p:nvPr/>
            </p:nvCxnSpPr>
            <p:spPr>
              <a:xfrm>
                <a:off x="1398778" y="3469070"/>
                <a:ext cx="1301848" cy="60413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6" name="圆角矩形 1035"/>
              <p:cNvSpPr/>
              <p:nvPr/>
            </p:nvSpPr>
            <p:spPr>
              <a:xfrm>
                <a:off x="2878979" y="169908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上不了网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>
                <a:off x="2878979" y="235536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经常掉线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圆角矩形 80"/>
              <p:cNvSpPr/>
              <p:nvPr/>
            </p:nvSpPr>
            <p:spPr>
              <a:xfrm>
                <a:off x="2878979" y="3200674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部分业务异常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2878979" y="3833937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无法打开网页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>
                <a:off x="2878979" y="4456723"/>
                <a:ext cx="1317812" cy="41326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无法加载视频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93798" y="1909583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dirty="0" smtClean="0"/>
                  <a:t>收集现象</a:t>
                </a:r>
                <a:endParaRPr lang="zh-CN" altLang="en-US" dirty="0"/>
              </a:p>
            </p:txBody>
          </p:sp>
        </p:grpSp>
      </p:grpSp>
      <p:grpSp>
        <p:nvGrpSpPr>
          <p:cNvPr id="1047" name="组合 1046"/>
          <p:cNvGrpSpPr/>
          <p:nvPr/>
        </p:nvGrpSpPr>
        <p:grpSpPr>
          <a:xfrm>
            <a:off x="9691219" y="1699720"/>
            <a:ext cx="2414868" cy="2897378"/>
            <a:chOff x="9691219" y="1699720"/>
            <a:chExt cx="2414868" cy="2897378"/>
          </a:xfrm>
        </p:grpSpPr>
        <p:grpSp>
          <p:nvGrpSpPr>
            <p:cNvPr id="1046" name="组合 1045"/>
            <p:cNvGrpSpPr/>
            <p:nvPr/>
          </p:nvGrpSpPr>
          <p:grpSpPr>
            <a:xfrm>
              <a:off x="9691219" y="1699720"/>
              <a:ext cx="2414868" cy="2897378"/>
              <a:chOff x="9691219" y="1699720"/>
              <a:chExt cx="2414868" cy="2897378"/>
            </a:xfrm>
          </p:grpSpPr>
          <p:sp>
            <p:nvSpPr>
              <p:cNvPr id="120" name="圆角矩形 119"/>
              <p:cNvSpPr/>
              <p:nvPr/>
            </p:nvSpPr>
            <p:spPr>
              <a:xfrm>
                <a:off x="11084518" y="2999486"/>
                <a:ext cx="1021569" cy="413266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/>
                  <a:t>双主故障</a:t>
                </a:r>
                <a:endParaRPr lang="zh-CN" altLang="en-US" sz="1400" dirty="0"/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 flipH="1">
                <a:off x="9691219" y="1699720"/>
                <a:ext cx="1301848" cy="2897378"/>
                <a:chOff x="3183739" y="2124242"/>
                <a:chExt cx="1301848" cy="2897378"/>
              </a:xfrm>
            </p:grpSpPr>
            <p:cxnSp>
              <p:nvCxnSpPr>
                <p:cNvPr id="115" name="直接箭头连接符 114"/>
                <p:cNvCxnSpPr/>
                <p:nvPr/>
              </p:nvCxnSpPr>
              <p:spPr>
                <a:xfrm flipV="1">
                  <a:off x="3183739" y="2124242"/>
                  <a:ext cx="1291942" cy="1541383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>
                  <a:off x="3183739" y="3665625"/>
                  <a:ext cx="1301848" cy="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16"/>
                <p:cNvCxnSpPr/>
                <p:nvPr/>
              </p:nvCxnSpPr>
              <p:spPr>
                <a:xfrm>
                  <a:off x="3183739" y="3665625"/>
                  <a:ext cx="1301848" cy="1355995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箭头连接符 117"/>
                <p:cNvCxnSpPr/>
                <p:nvPr/>
              </p:nvCxnSpPr>
              <p:spPr>
                <a:xfrm flipV="1">
                  <a:off x="3183739" y="2894933"/>
                  <a:ext cx="1291942" cy="770692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/>
                <p:cNvCxnSpPr/>
                <p:nvPr/>
              </p:nvCxnSpPr>
              <p:spPr>
                <a:xfrm>
                  <a:off x="3183739" y="3665625"/>
                  <a:ext cx="1301848" cy="604130"/>
                </a:xfrm>
                <a:prstGeom prst="straightConnector1">
                  <a:avLst/>
                </a:prstGeom>
                <a:ln w="3810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1" name="矩形 130"/>
            <p:cNvSpPr/>
            <p:nvPr/>
          </p:nvSpPr>
          <p:spPr>
            <a:xfrm>
              <a:off x="10027154" y="181111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原因验证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339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58855 -0.0081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09" y="-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" grpId="0" animBg="1"/>
      <p:bldP spid="1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诊断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710" y="4411018"/>
            <a:ext cx="1171364" cy="1729139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93112" y="2562115"/>
            <a:ext cx="1020643" cy="1409920"/>
            <a:chOff x="2597431" y="2861625"/>
            <a:chExt cx="1020643" cy="140992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1280" y="2861625"/>
              <a:ext cx="749163" cy="747227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2597431" y="3748325"/>
              <a:ext cx="10206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拓扑</a:t>
              </a:r>
              <a:endParaRPr lang="zh-CN" altLang="en-US" sz="28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494856" y="1216702"/>
            <a:ext cx="1273920" cy="1253213"/>
            <a:chOff x="5494856" y="1216702"/>
            <a:chExt cx="1273920" cy="1253213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537" y="1216702"/>
              <a:ext cx="836559" cy="834397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5494856" y="2100583"/>
              <a:ext cx="1273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信令数据</a:t>
              </a:r>
              <a:endParaRPr lang="zh-CN" altLang="en-US" b="1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49880" y="2562115"/>
            <a:ext cx="1273920" cy="1519094"/>
            <a:chOff x="8415101" y="2861625"/>
            <a:chExt cx="1273920" cy="151909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5561" y="2861625"/>
              <a:ext cx="813000" cy="810899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8415101" y="3734388"/>
              <a:ext cx="1273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/>
                <a:t>设备参数信息</a:t>
              </a:r>
              <a:endParaRPr lang="zh-CN" altLang="en-US" b="1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645561" y="4411018"/>
            <a:ext cx="1417638" cy="1795236"/>
            <a:chOff x="8453977" y="4534917"/>
            <a:chExt cx="1417638" cy="179523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5561" y="4534917"/>
              <a:ext cx="1034471" cy="1031798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8453977" y="5683822"/>
              <a:ext cx="1417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/>
                <a:t>EMOS</a:t>
              </a:r>
              <a:r>
                <a:rPr lang="zh-CN" altLang="en-US" b="1" dirty="0" smtClean="0"/>
                <a:t>工单系统数据</a:t>
              </a:r>
              <a:endParaRPr lang="zh-CN" altLang="en-US" b="1" dirty="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713537" y="6008474"/>
            <a:ext cx="905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···</a:t>
            </a:r>
            <a:endParaRPr lang="zh-CN" altLang="en-US" sz="44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4764835" y="3489056"/>
            <a:ext cx="3874883" cy="697997"/>
            <a:chOff x="3195873" y="3567878"/>
            <a:chExt cx="3874883" cy="697997"/>
          </a:xfrm>
        </p:grpSpPr>
        <p:sp>
          <p:nvSpPr>
            <p:cNvPr id="28" name="右箭头 27"/>
            <p:cNvSpPr/>
            <p:nvPr/>
          </p:nvSpPr>
          <p:spPr>
            <a:xfrm>
              <a:off x="3195873" y="3972035"/>
              <a:ext cx="2298983" cy="26498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426490" y="3567878"/>
              <a:ext cx="2046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给出故障诊断建议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544489" y="3896543"/>
              <a:ext cx="1526267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/>
                <a:t>通知、呈现</a:t>
              </a:r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850840" y="2360062"/>
            <a:ext cx="3315423" cy="2257987"/>
            <a:chOff x="8876577" y="3119770"/>
            <a:chExt cx="3315423" cy="2257987"/>
          </a:xfrm>
        </p:grpSpPr>
        <p:sp>
          <p:nvSpPr>
            <p:cNvPr id="33" name="双波形 32"/>
            <p:cNvSpPr/>
            <p:nvPr/>
          </p:nvSpPr>
          <p:spPr>
            <a:xfrm>
              <a:off x="8896909" y="3119770"/>
              <a:ext cx="3169953" cy="2257987"/>
            </a:xfrm>
            <a:prstGeom prst="doubleWav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911692" y="3337164"/>
              <a:ext cx="1760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6"/>
                  </a:solidFill>
                </a:rPr>
                <a:t>投诉原因诊断</a:t>
              </a:r>
              <a:r>
                <a:rPr lang="zh-CN" altLang="en-US" dirty="0" smtClean="0"/>
                <a:t>：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876577" y="3694873"/>
              <a:ext cx="33154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0000"/>
                  </a:solidFill>
                </a:rPr>
                <a:t>Top1: </a:t>
              </a:r>
              <a:r>
                <a:rPr lang="zh-CN" altLang="en-US" sz="1600" dirty="0" smtClean="0">
                  <a:solidFill>
                    <a:srgbClr val="FF0000"/>
                  </a:solidFill>
                </a:rPr>
                <a:t>双主故障                   </a:t>
              </a:r>
              <a:r>
                <a:rPr lang="en-US" altLang="zh-CN" sz="1600" dirty="0" smtClean="0">
                  <a:solidFill>
                    <a:srgbClr val="FF0000"/>
                  </a:solidFill>
                </a:rPr>
                <a:t>85.3%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6600"/>
                  </a:solidFill>
                </a:rPr>
                <a:t>Top2: DNS</a:t>
              </a:r>
              <a:r>
                <a:rPr lang="zh-CN" altLang="en-US" sz="1600" dirty="0" smtClean="0">
                  <a:solidFill>
                    <a:srgbClr val="FF6600"/>
                  </a:solidFill>
                </a:rPr>
                <a:t>故障                  </a:t>
              </a:r>
              <a:r>
                <a:rPr lang="en-US" altLang="zh-CN" sz="1600" dirty="0" smtClean="0">
                  <a:solidFill>
                    <a:srgbClr val="FF6600"/>
                  </a:solidFill>
                </a:rPr>
                <a:t>45.1%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rgbClr val="FF7C80"/>
                  </a:solidFill>
                </a:rPr>
                <a:t>Top3: </a:t>
              </a:r>
              <a:r>
                <a:rPr lang="zh-CN" altLang="en-US" sz="1600" dirty="0" smtClean="0">
                  <a:solidFill>
                    <a:srgbClr val="FF7C80"/>
                  </a:solidFill>
                </a:rPr>
                <a:t>城域网数据配置错误  </a:t>
              </a:r>
              <a:r>
                <a:rPr lang="en-US" altLang="zh-CN" sz="1600" dirty="0" smtClean="0">
                  <a:solidFill>
                    <a:srgbClr val="FF7C80"/>
                  </a:solidFill>
                </a:rPr>
                <a:t>14.5%</a:t>
              </a:r>
              <a:endParaRPr lang="zh-CN" altLang="en-US" sz="1600" dirty="0">
                <a:solidFill>
                  <a:srgbClr val="FF7C80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163565" y="2671687"/>
            <a:ext cx="3774124" cy="2708038"/>
            <a:chOff x="4163565" y="2671687"/>
            <a:chExt cx="3774124" cy="2708038"/>
          </a:xfrm>
        </p:grpSpPr>
        <p:grpSp>
          <p:nvGrpSpPr>
            <p:cNvPr id="13" name="组合 12"/>
            <p:cNvGrpSpPr/>
            <p:nvPr/>
          </p:nvGrpSpPr>
          <p:grpSpPr>
            <a:xfrm>
              <a:off x="4163565" y="2671687"/>
              <a:ext cx="3774124" cy="2708038"/>
              <a:chOff x="269848" y="1092189"/>
              <a:chExt cx="3122612" cy="2198009"/>
            </a:xfrm>
          </p:grpSpPr>
          <p:pic>
            <p:nvPicPr>
              <p:cNvPr id="1026" name="Picture 2" descr="ânetwork brainâçå¾çæç´¢ç»æ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848" y="1092189"/>
                <a:ext cx="3122612" cy="21980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9434" b="100000" l="9633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174855">
                <a:off x="400289" y="1313539"/>
                <a:ext cx="1084109" cy="790704"/>
              </a:xfrm>
              <a:prstGeom prst="rect">
                <a:avLst/>
              </a:prstGeom>
            </p:spPr>
          </p:pic>
        </p:grpSp>
        <p:cxnSp>
          <p:nvCxnSpPr>
            <p:cNvPr id="8" name="直接连接符 7"/>
            <p:cNvCxnSpPr/>
            <p:nvPr/>
          </p:nvCxnSpPr>
          <p:spPr>
            <a:xfrm flipV="1">
              <a:off x="5141715" y="3053478"/>
              <a:ext cx="628945" cy="268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624991" y="3773075"/>
              <a:ext cx="610833" cy="308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580950" y="1172235"/>
            <a:ext cx="2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大脑系统上线后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5694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54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28724 -0.00278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1vaxvf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27766</TotalTime>
  <Words>1474</Words>
  <Application>Microsoft Office PowerPoint</Application>
  <PresentationFormat>宽屏</PresentationFormat>
  <Paragraphs>256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微软雅黑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5736</cp:revision>
  <dcterms:created xsi:type="dcterms:W3CDTF">2015-05-05T08:02:00Z</dcterms:created>
  <dcterms:modified xsi:type="dcterms:W3CDTF">2018-04-17T04:21:17Z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