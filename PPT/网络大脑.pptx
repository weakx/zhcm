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96" r:id="rId2"/>
    <p:sldId id="997" r:id="rId3"/>
    <p:sldId id="992" r:id="rId4"/>
    <p:sldId id="989" r:id="rId5"/>
    <p:sldId id="990" r:id="rId6"/>
    <p:sldId id="993" r:id="rId7"/>
    <p:sldId id="994" r:id="rId8"/>
    <p:sldId id="99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8">
          <p15:clr>
            <a:srgbClr val="A4A3A4"/>
          </p15:clr>
        </p15:guide>
        <p15:guide id="2" pos="39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1" clrIdx="0"/>
  <p:cmAuthor id="2" name="Lara Young" initials="LY" lastIdx="1" clrIdx="1"/>
  <p:cmAuthor id="3" name="邹立斌" initials="W用" lastIdx="3" clrIdx="2">
    <p:extLst>
      <p:ext uri="{19B8F6BF-5375-455C-9EA6-DF929625EA0E}">
        <p15:presenceInfo xmlns:p15="http://schemas.microsoft.com/office/powerpoint/2012/main" userId="邹立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BFBFBF"/>
    <a:srgbClr val="FF6600"/>
    <a:srgbClr val="FFC000"/>
    <a:srgbClr val="91C6F7"/>
    <a:srgbClr val="FFFFFF"/>
    <a:srgbClr val="FF3300"/>
    <a:srgbClr val="B0B0B0"/>
    <a:srgbClr val="A9D18E"/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77" autoAdjust="0"/>
    <p:restoredTop sz="89239" autoAdjust="0"/>
  </p:normalViewPr>
  <p:slideViewPr>
    <p:cSldViewPr snapToGrid="0">
      <p:cViewPr varScale="1">
        <p:scale>
          <a:sx n="96" d="100"/>
          <a:sy n="96" d="100"/>
        </p:scale>
        <p:origin x="102" y="114"/>
      </p:cViewPr>
      <p:guideLst>
        <p:guide orient="horz" pos="2058"/>
        <p:guide pos="39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2018/1/12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9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"/>
            </p:custDataLst>
          </p:nvPr>
        </p:nvSpPr>
        <p:spPr bwMode="auto">
          <a:xfrm>
            <a:off x="0" y="194906"/>
            <a:ext cx="219859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 bwMode="auto">
          <a:xfrm>
            <a:off x="11661569" y="194905"/>
            <a:ext cx="530431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13216" y="2678891"/>
            <a:ext cx="8770049" cy="106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网络大脑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13847" y="4007060"/>
            <a:ext cx="5768788" cy="0"/>
          </a:xfrm>
          <a:prstGeom prst="line">
            <a:avLst/>
          </a:prstGeom>
          <a:ln w="63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网络运维遇到的挑战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Group 13"/>
          <p:cNvGrpSpPr>
            <a:grpSpLocks noChangeAspect="1"/>
          </p:cNvGrpSpPr>
          <p:nvPr/>
        </p:nvGrpSpPr>
        <p:grpSpPr bwMode="auto">
          <a:xfrm>
            <a:off x="3975445" y="2048634"/>
            <a:ext cx="2689225" cy="2711450"/>
            <a:chOff x="1219" y="-53"/>
            <a:chExt cx="3321" cy="3348"/>
          </a:xfrm>
        </p:grpSpPr>
        <p:sp>
          <p:nvSpPr>
            <p:cNvPr id="4" name="Freeform 14"/>
            <p:cNvSpPr>
              <a:spLocks/>
            </p:cNvSpPr>
            <p:nvPr/>
          </p:nvSpPr>
          <p:spPr bwMode="auto">
            <a:xfrm>
              <a:off x="1219" y="265"/>
              <a:ext cx="1680" cy="1899"/>
            </a:xfrm>
            <a:custGeom>
              <a:avLst/>
              <a:gdLst>
                <a:gd name="T0" fmla="*/ 2311 w 2311"/>
                <a:gd name="T1" fmla="*/ 440 h 2611"/>
                <a:gd name="T2" fmla="*/ 1335 w 2311"/>
                <a:gd name="T3" fmla="*/ 1278 h 2611"/>
                <a:gd name="T4" fmla="*/ 865 w 2311"/>
                <a:gd name="T5" fmla="*/ 1829 h 2611"/>
                <a:gd name="T6" fmla="*/ 488 w 2311"/>
                <a:gd name="T7" fmla="*/ 2599 h 2611"/>
                <a:gd name="T8" fmla="*/ 470 w 2311"/>
                <a:gd name="T9" fmla="*/ 2611 h 2611"/>
                <a:gd name="T10" fmla="*/ 87 w 2311"/>
                <a:gd name="T11" fmla="*/ 1937 h 2611"/>
                <a:gd name="T12" fmla="*/ 933 w 2311"/>
                <a:gd name="T13" fmla="*/ 616 h 2611"/>
                <a:gd name="T14" fmla="*/ 1535 w 2311"/>
                <a:gd name="T15" fmla="*/ 47 h 2611"/>
                <a:gd name="T16" fmla="*/ 2311 w 2311"/>
                <a:gd name="T17" fmla="*/ 440 h 2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11" h="2611">
                  <a:moveTo>
                    <a:pt x="2311" y="440"/>
                  </a:moveTo>
                  <a:cubicBezTo>
                    <a:pt x="2062" y="586"/>
                    <a:pt x="1700" y="891"/>
                    <a:pt x="1335" y="1278"/>
                  </a:cubicBezTo>
                  <a:cubicBezTo>
                    <a:pt x="1156" y="1469"/>
                    <a:pt x="996" y="1657"/>
                    <a:pt x="865" y="1829"/>
                  </a:cubicBezTo>
                  <a:cubicBezTo>
                    <a:pt x="582" y="2201"/>
                    <a:pt x="429" y="2501"/>
                    <a:pt x="488" y="2599"/>
                  </a:cubicBezTo>
                  <a:cubicBezTo>
                    <a:pt x="470" y="2611"/>
                    <a:pt x="470" y="2611"/>
                    <a:pt x="470" y="2611"/>
                  </a:cubicBezTo>
                  <a:cubicBezTo>
                    <a:pt x="244" y="2334"/>
                    <a:pt x="87" y="1937"/>
                    <a:pt x="87" y="1937"/>
                  </a:cubicBezTo>
                  <a:cubicBezTo>
                    <a:pt x="0" y="1793"/>
                    <a:pt x="368" y="1216"/>
                    <a:pt x="933" y="616"/>
                  </a:cubicBezTo>
                  <a:cubicBezTo>
                    <a:pt x="1142" y="395"/>
                    <a:pt x="1349" y="201"/>
                    <a:pt x="1535" y="47"/>
                  </a:cubicBezTo>
                  <a:cubicBezTo>
                    <a:pt x="1642" y="0"/>
                    <a:pt x="1943" y="157"/>
                    <a:pt x="2311" y="440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  <p:sp>
          <p:nvSpPr>
            <p:cNvPr id="5" name="Freeform 15"/>
            <p:cNvSpPr>
              <a:spLocks/>
            </p:cNvSpPr>
            <p:nvPr/>
          </p:nvSpPr>
          <p:spPr bwMode="auto">
            <a:xfrm>
              <a:off x="1519" y="1596"/>
              <a:ext cx="1904" cy="1699"/>
            </a:xfrm>
            <a:custGeom>
              <a:avLst/>
              <a:gdLst>
                <a:gd name="T0" fmla="*/ 2618 w 2618"/>
                <a:gd name="T1" fmla="*/ 1852 h 2337"/>
                <a:gd name="T2" fmla="*/ 2615 w 2618"/>
                <a:gd name="T3" fmla="*/ 1855 h 2337"/>
                <a:gd name="T4" fmla="*/ 1965 w 2618"/>
                <a:gd name="T5" fmla="*/ 2250 h 2337"/>
                <a:gd name="T6" fmla="*/ 644 w 2618"/>
                <a:gd name="T7" fmla="*/ 1403 h 2337"/>
                <a:gd name="T8" fmla="*/ 59 w 2618"/>
                <a:gd name="T9" fmla="*/ 782 h 2337"/>
                <a:gd name="T10" fmla="*/ 59 w 2618"/>
                <a:gd name="T11" fmla="*/ 782 h 2337"/>
                <a:gd name="T12" fmla="*/ 454 w 2618"/>
                <a:gd name="T13" fmla="*/ 0 h 2337"/>
                <a:gd name="T14" fmla="*/ 1306 w 2618"/>
                <a:gd name="T15" fmla="*/ 1001 h 2337"/>
                <a:gd name="T16" fmla="*/ 1842 w 2618"/>
                <a:gd name="T17" fmla="*/ 1460 h 2337"/>
                <a:gd name="T18" fmla="*/ 2618 w 2618"/>
                <a:gd name="T19" fmla="*/ 1852 h 2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8" h="2337">
                  <a:moveTo>
                    <a:pt x="2618" y="1852"/>
                  </a:moveTo>
                  <a:cubicBezTo>
                    <a:pt x="2617" y="1853"/>
                    <a:pt x="2616" y="1854"/>
                    <a:pt x="2615" y="1855"/>
                  </a:cubicBezTo>
                  <a:cubicBezTo>
                    <a:pt x="2360" y="2065"/>
                    <a:pt x="1965" y="2250"/>
                    <a:pt x="1965" y="2250"/>
                  </a:cubicBezTo>
                  <a:cubicBezTo>
                    <a:pt x="1821" y="2337"/>
                    <a:pt x="1244" y="1968"/>
                    <a:pt x="644" y="1403"/>
                  </a:cubicBezTo>
                  <a:cubicBezTo>
                    <a:pt x="415" y="1187"/>
                    <a:pt x="215" y="973"/>
                    <a:pt x="59" y="782"/>
                  </a:cubicBezTo>
                  <a:cubicBezTo>
                    <a:pt x="59" y="782"/>
                    <a:pt x="59" y="782"/>
                    <a:pt x="59" y="782"/>
                  </a:cubicBezTo>
                  <a:cubicBezTo>
                    <a:pt x="0" y="684"/>
                    <a:pt x="171" y="372"/>
                    <a:pt x="454" y="0"/>
                  </a:cubicBezTo>
                  <a:cubicBezTo>
                    <a:pt x="593" y="251"/>
                    <a:pt x="906" y="624"/>
                    <a:pt x="1306" y="1001"/>
                  </a:cubicBezTo>
                  <a:cubicBezTo>
                    <a:pt x="1491" y="1176"/>
                    <a:pt x="1674" y="1331"/>
                    <a:pt x="1842" y="1460"/>
                  </a:cubicBezTo>
                  <a:cubicBezTo>
                    <a:pt x="2211" y="1743"/>
                    <a:pt x="2511" y="1900"/>
                    <a:pt x="2618" y="185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  <p:sp>
          <p:nvSpPr>
            <p:cNvPr id="6" name="Freeform 16"/>
            <p:cNvSpPr>
              <a:spLocks/>
            </p:cNvSpPr>
            <p:nvPr/>
          </p:nvSpPr>
          <p:spPr bwMode="auto">
            <a:xfrm>
              <a:off x="3421" y="2938"/>
              <a:ext cx="8" cy="6"/>
            </a:xfrm>
            <a:custGeom>
              <a:avLst/>
              <a:gdLst>
                <a:gd name="T0" fmla="*/ 12 w 12"/>
                <a:gd name="T1" fmla="*/ 0 h 7"/>
                <a:gd name="T2" fmla="*/ 0 w 12"/>
                <a:gd name="T3" fmla="*/ 7 h 7"/>
                <a:gd name="T4" fmla="*/ 3 w 12"/>
                <a:gd name="T5" fmla="*/ 4 h 7"/>
                <a:gd name="T6" fmla="*/ 4 w 12"/>
                <a:gd name="T7" fmla="*/ 4 h 7"/>
                <a:gd name="T8" fmla="*/ 12 w 12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7">
                  <a:moveTo>
                    <a:pt x="12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3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6" y="3"/>
                    <a:pt x="9" y="2"/>
                    <a:pt x="12" y="0"/>
                  </a:cubicBezTo>
                  <a:close/>
                </a:path>
              </a:pathLst>
            </a:custGeom>
            <a:solidFill>
              <a:srgbClr val="ED5463"/>
            </a:solidFill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  <p:sp>
          <p:nvSpPr>
            <p:cNvPr id="7" name="Freeform 17"/>
            <p:cNvSpPr>
              <a:spLocks/>
            </p:cNvSpPr>
            <p:nvPr/>
          </p:nvSpPr>
          <p:spPr bwMode="auto">
            <a:xfrm>
              <a:off x="2858" y="1078"/>
              <a:ext cx="1682" cy="1899"/>
            </a:xfrm>
            <a:custGeom>
              <a:avLst/>
              <a:gdLst>
                <a:gd name="T0" fmla="*/ 2225 w 2312"/>
                <a:gd name="T1" fmla="*/ 674 h 2611"/>
                <a:gd name="T2" fmla="*/ 1378 w 2312"/>
                <a:gd name="T3" fmla="*/ 1994 h 2611"/>
                <a:gd name="T4" fmla="*/ 777 w 2312"/>
                <a:gd name="T5" fmla="*/ 2563 h 2611"/>
                <a:gd name="T6" fmla="*/ 776 w 2312"/>
                <a:gd name="T7" fmla="*/ 2563 h 2611"/>
                <a:gd name="T8" fmla="*/ 0 w 2312"/>
                <a:gd name="T9" fmla="*/ 2171 h 2611"/>
                <a:gd name="T10" fmla="*/ 976 w 2312"/>
                <a:gd name="T11" fmla="*/ 1332 h 2611"/>
                <a:gd name="T12" fmla="*/ 1447 w 2312"/>
                <a:gd name="T13" fmla="*/ 781 h 2611"/>
                <a:gd name="T14" fmla="*/ 1823 w 2312"/>
                <a:gd name="T15" fmla="*/ 12 h 2611"/>
                <a:gd name="T16" fmla="*/ 1841 w 2312"/>
                <a:gd name="T17" fmla="*/ 0 h 2611"/>
                <a:gd name="T18" fmla="*/ 2225 w 2312"/>
                <a:gd name="T19" fmla="*/ 674 h 2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12" h="2611">
                  <a:moveTo>
                    <a:pt x="2225" y="674"/>
                  </a:moveTo>
                  <a:cubicBezTo>
                    <a:pt x="2312" y="817"/>
                    <a:pt x="1943" y="1395"/>
                    <a:pt x="1378" y="1994"/>
                  </a:cubicBezTo>
                  <a:cubicBezTo>
                    <a:pt x="1170" y="2216"/>
                    <a:pt x="962" y="2410"/>
                    <a:pt x="777" y="2563"/>
                  </a:cubicBezTo>
                  <a:cubicBezTo>
                    <a:pt x="776" y="2563"/>
                    <a:pt x="776" y="2563"/>
                    <a:pt x="776" y="2563"/>
                  </a:cubicBezTo>
                  <a:cubicBezTo>
                    <a:pt x="669" y="2611"/>
                    <a:pt x="369" y="2454"/>
                    <a:pt x="0" y="2171"/>
                  </a:cubicBezTo>
                  <a:cubicBezTo>
                    <a:pt x="250" y="2025"/>
                    <a:pt x="611" y="1720"/>
                    <a:pt x="976" y="1332"/>
                  </a:cubicBezTo>
                  <a:cubicBezTo>
                    <a:pt x="1156" y="1142"/>
                    <a:pt x="1315" y="954"/>
                    <a:pt x="1447" y="781"/>
                  </a:cubicBezTo>
                  <a:cubicBezTo>
                    <a:pt x="1729" y="410"/>
                    <a:pt x="1882" y="110"/>
                    <a:pt x="1823" y="12"/>
                  </a:cubicBezTo>
                  <a:cubicBezTo>
                    <a:pt x="1841" y="0"/>
                    <a:pt x="1841" y="0"/>
                    <a:pt x="1841" y="0"/>
                  </a:cubicBezTo>
                  <a:cubicBezTo>
                    <a:pt x="2067" y="277"/>
                    <a:pt x="2225" y="674"/>
                    <a:pt x="2225" y="674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auto">
            <a:xfrm>
              <a:off x="2336" y="-53"/>
              <a:ext cx="1904" cy="1699"/>
            </a:xfrm>
            <a:custGeom>
              <a:avLst/>
              <a:gdLst>
                <a:gd name="T0" fmla="*/ 2559 w 2618"/>
                <a:gd name="T1" fmla="*/ 1555 h 2336"/>
                <a:gd name="T2" fmla="*/ 2559 w 2618"/>
                <a:gd name="T3" fmla="*/ 1555 h 2336"/>
                <a:gd name="T4" fmla="*/ 2165 w 2618"/>
                <a:gd name="T5" fmla="*/ 2336 h 2336"/>
                <a:gd name="T6" fmla="*/ 1312 w 2618"/>
                <a:gd name="T7" fmla="*/ 1335 h 2336"/>
                <a:gd name="T8" fmla="*/ 776 w 2618"/>
                <a:gd name="T9" fmla="*/ 877 h 2336"/>
                <a:gd name="T10" fmla="*/ 0 w 2618"/>
                <a:gd name="T11" fmla="*/ 484 h 2336"/>
                <a:gd name="T12" fmla="*/ 3 w 2618"/>
                <a:gd name="T13" fmla="*/ 482 h 2336"/>
                <a:gd name="T14" fmla="*/ 654 w 2618"/>
                <a:gd name="T15" fmla="*/ 87 h 2336"/>
                <a:gd name="T16" fmla="*/ 1974 w 2618"/>
                <a:gd name="T17" fmla="*/ 933 h 2336"/>
                <a:gd name="T18" fmla="*/ 2559 w 2618"/>
                <a:gd name="T19" fmla="*/ 1555 h 2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18" h="2336">
                  <a:moveTo>
                    <a:pt x="2559" y="1555"/>
                  </a:moveTo>
                  <a:cubicBezTo>
                    <a:pt x="2559" y="1555"/>
                    <a:pt x="2559" y="1555"/>
                    <a:pt x="2559" y="1555"/>
                  </a:cubicBezTo>
                  <a:cubicBezTo>
                    <a:pt x="2618" y="1652"/>
                    <a:pt x="2447" y="1965"/>
                    <a:pt x="2165" y="2336"/>
                  </a:cubicBezTo>
                  <a:cubicBezTo>
                    <a:pt x="2025" y="2086"/>
                    <a:pt x="1713" y="1713"/>
                    <a:pt x="1312" y="1335"/>
                  </a:cubicBezTo>
                  <a:cubicBezTo>
                    <a:pt x="1127" y="1161"/>
                    <a:pt x="945" y="1006"/>
                    <a:pt x="776" y="877"/>
                  </a:cubicBezTo>
                  <a:cubicBezTo>
                    <a:pt x="408" y="594"/>
                    <a:pt x="107" y="437"/>
                    <a:pt x="0" y="484"/>
                  </a:cubicBezTo>
                  <a:cubicBezTo>
                    <a:pt x="1" y="483"/>
                    <a:pt x="2" y="483"/>
                    <a:pt x="3" y="482"/>
                  </a:cubicBezTo>
                  <a:cubicBezTo>
                    <a:pt x="258" y="272"/>
                    <a:pt x="654" y="87"/>
                    <a:pt x="654" y="87"/>
                  </a:cubicBezTo>
                  <a:cubicBezTo>
                    <a:pt x="797" y="0"/>
                    <a:pt x="1375" y="368"/>
                    <a:pt x="1974" y="933"/>
                  </a:cubicBezTo>
                  <a:cubicBezTo>
                    <a:pt x="2203" y="1149"/>
                    <a:pt x="2403" y="1364"/>
                    <a:pt x="2559" y="1555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  <p:sp>
          <p:nvSpPr>
            <p:cNvPr id="9" name="Freeform 19"/>
            <p:cNvSpPr>
              <a:spLocks/>
            </p:cNvSpPr>
            <p:nvPr/>
          </p:nvSpPr>
          <p:spPr bwMode="auto">
            <a:xfrm>
              <a:off x="2331" y="298"/>
              <a:ext cx="8" cy="6"/>
            </a:xfrm>
            <a:custGeom>
              <a:avLst/>
              <a:gdLst>
                <a:gd name="T0" fmla="*/ 11 w 11"/>
                <a:gd name="T1" fmla="*/ 0 h 7"/>
                <a:gd name="T2" fmla="*/ 8 w 11"/>
                <a:gd name="T3" fmla="*/ 2 h 7"/>
                <a:gd name="T4" fmla="*/ 0 w 11"/>
                <a:gd name="T5" fmla="*/ 7 h 7"/>
                <a:gd name="T6" fmla="*/ 11 w 11"/>
                <a:gd name="T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7">
                  <a:moveTo>
                    <a:pt x="11" y="0"/>
                  </a:moveTo>
                  <a:cubicBezTo>
                    <a:pt x="10" y="1"/>
                    <a:pt x="9" y="1"/>
                    <a:pt x="8" y="2"/>
                  </a:cubicBezTo>
                  <a:cubicBezTo>
                    <a:pt x="5" y="4"/>
                    <a:pt x="2" y="5"/>
                    <a:pt x="0" y="7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A1D469"/>
            </a:solidFill>
            <a:ln w="9525">
              <a:solidFill>
                <a:schemeClr val="bg1"/>
              </a:solidFill>
              <a:round/>
              <a:headEnd/>
              <a:tailEnd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</p:grpSp>
      <p:sp>
        <p:nvSpPr>
          <p:cNvPr id="10" name="Oval 17"/>
          <p:cNvSpPr>
            <a:spLocks noChangeArrowheads="1"/>
          </p:cNvSpPr>
          <p:nvPr/>
        </p:nvSpPr>
        <p:spPr bwMode="auto">
          <a:xfrm>
            <a:off x="1154142" y="2123591"/>
            <a:ext cx="100013" cy="1016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xtLst/>
        </p:spPr>
        <p:txBody>
          <a:bodyPr lIns="68580" tIns="34290" rIns="68580" bIns="3429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 Light"/>
              <a:cs typeface="+mn-ea"/>
              <a:sym typeface="Arial"/>
            </a:endParaRPr>
          </a:p>
        </p:txBody>
      </p:sp>
      <p:grpSp>
        <p:nvGrpSpPr>
          <p:cNvPr id="11" name="Group 18"/>
          <p:cNvGrpSpPr>
            <a:grpSpLocks/>
          </p:cNvGrpSpPr>
          <p:nvPr/>
        </p:nvGrpSpPr>
        <p:grpSpPr bwMode="auto">
          <a:xfrm>
            <a:off x="1366867" y="1990242"/>
            <a:ext cx="2286042" cy="1016477"/>
            <a:chOff x="2249510" y="1913096"/>
            <a:chExt cx="3049934" cy="1355100"/>
          </a:xfrm>
        </p:grpSpPr>
        <p:sp>
          <p:nvSpPr>
            <p:cNvPr id="12" name="Rectangle 19"/>
            <p:cNvSpPr/>
            <p:nvPr/>
          </p:nvSpPr>
          <p:spPr>
            <a:xfrm>
              <a:off x="2249510" y="1913096"/>
              <a:ext cx="1872286" cy="4931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 Light"/>
                  <a:cs typeface="+mn-ea"/>
                  <a:sym typeface="Arial"/>
                </a:rPr>
                <a:t>分散管理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  <p:sp>
          <p:nvSpPr>
            <p:cNvPr id="13" name="TextBox 154"/>
            <p:cNvSpPr txBox="1"/>
            <p:nvPr/>
          </p:nvSpPr>
          <p:spPr>
            <a:xfrm>
              <a:off x="2249510" y="2283458"/>
              <a:ext cx="3049934" cy="9847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400" dirty="0">
                  <a:latin typeface="+mn-lt"/>
                  <a:ea typeface="微软雅黑 Light"/>
                  <a:sym typeface="Arial"/>
                </a:rPr>
                <a:t>各专业“各自为政”</a:t>
              </a:r>
              <a:r>
                <a:rPr lang="zh-CN" altLang="en-US" sz="1400" dirty="0" smtClean="0">
                  <a:latin typeface="+mn-lt"/>
                  <a:ea typeface="微软雅黑 Light"/>
                  <a:sym typeface="Arial"/>
                </a:rPr>
                <a:t>，无人</a:t>
              </a:r>
              <a:r>
                <a:rPr lang="zh-CN" altLang="en-US" sz="1400" dirty="0">
                  <a:latin typeface="+mn-lt"/>
                  <a:ea typeface="微软雅黑 Light"/>
                  <a:sym typeface="Arial"/>
                </a:rPr>
                <a:t>掌控全网网络质量</a:t>
              </a:r>
              <a:endParaRPr lang="en-US" altLang="zh-CN" sz="1400" dirty="0">
                <a:latin typeface="+mn-lt"/>
                <a:ea typeface="微软雅黑 Light"/>
                <a:cs typeface="Lato Light" charset="0"/>
                <a:sym typeface="Arial"/>
              </a:endParaRPr>
            </a:p>
          </p:txBody>
        </p:sp>
      </p:grpSp>
      <p:sp>
        <p:nvSpPr>
          <p:cNvPr id="14" name="Oval 21"/>
          <p:cNvSpPr>
            <a:spLocks noChangeArrowheads="1"/>
          </p:cNvSpPr>
          <p:nvPr/>
        </p:nvSpPr>
        <p:spPr bwMode="auto">
          <a:xfrm>
            <a:off x="1154142" y="3450741"/>
            <a:ext cx="100013" cy="100013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xtLst/>
        </p:spPr>
        <p:txBody>
          <a:bodyPr lIns="68580" tIns="34290" rIns="68580" bIns="3429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 Light"/>
              <a:cs typeface="+mn-ea"/>
              <a:sym typeface="Arial"/>
            </a:endParaRPr>
          </a:p>
        </p:txBody>
      </p:sp>
      <p:grpSp>
        <p:nvGrpSpPr>
          <p:cNvPr id="15" name="Group 22"/>
          <p:cNvGrpSpPr>
            <a:grpSpLocks/>
          </p:cNvGrpSpPr>
          <p:nvPr/>
        </p:nvGrpSpPr>
        <p:grpSpPr bwMode="auto">
          <a:xfrm>
            <a:off x="1379567" y="3363429"/>
            <a:ext cx="2431430" cy="1328529"/>
            <a:chOff x="2249510" y="1913092"/>
            <a:chExt cx="2846792" cy="1770700"/>
          </a:xfrm>
        </p:grpSpPr>
        <p:sp>
          <p:nvSpPr>
            <p:cNvPr id="16" name="Rectangle 23"/>
            <p:cNvSpPr/>
            <p:nvPr/>
          </p:nvSpPr>
          <p:spPr>
            <a:xfrm>
              <a:off x="2249510" y="1913092"/>
              <a:ext cx="2100324" cy="4929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 Light"/>
                  <a:cs typeface="+mn-ea"/>
                  <a:sym typeface="Arial"/>
                </a:rPr>
                <a:t>被动管理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  <p:sp>
          <p:nvSpPr>
            <p:cNvPr id="17" name="TextBox 158"/>
            <p:cNvSpPr txBox="1"/>
            <p:nvPr/>
          </p:nvSpPr>
          <p:spPr>
            <a:xfrm>
              <a:off x="2249510" y="2268557"/>
              <a:ext cx="2846792" cy="1415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400" dirty="0" smtClean="0">
                  <a:latin typeface="+mn-lt"/>
                  <a:ea typeface="微软雅黑 Light"/>
                  <a:sym typeface="Arial"/>
                </a:rPr>
                <a:t>故障告警靠人工设定阈值，不能</a:t>
              </a:r>
              <a:r>
                <a:rPr lang="zh-CN" altLang="en-US" sz="1400" dirty="0">
                  <a:latin typeface="+mn-lt"/>
                  <a:ea typeface="微软雅黑 Light"/>
                  <a:sym typeface="Arial"/>
                </a:rPr>
                <a:t>满足主动</a:t>
              </a:r>
              <a:r>
                <a:rPr lang="zh-CN" altLang="en-US" sz="1400" dirty="0" smtClean="0">
                  <a:latin typeface="+mn-lt"/>
                  <a:ea typeface="微软雅黑 Light"/>
                  <a:sym typeface="Arial"/>
                </a:rPr>
                <a:t>监控，主动止损、主动实施预案等需求</a:t>
              </a:r>
              <a:endParaRPr lang="zh-CN" altLang="en-US" sz="1400" dirty="0">
                <a:latin typeface="+mn-lt"/>
                <a:ea typeface="微软雅黑 Light"/>
                <a:sym typeface="Arial"/>
              </a:endParaRPr>
            </a:p>
          </p:txBody>
        </p:sp>
      </p:grpSp>
      <p:sp>
        <p:nvSpPr>
          <p:cNvPr id="18" name="Oval 25"/>
          <p:cNvSpPr>
            <a:spLocks noChangeArrowheads="1"/>
          </p:cNvSpPr>
          <p:nvPr/>
        </p:nvSpPr>
        <p:spPr bwMode="auto">
          <a:xfrm>
            <a:off x="7177486" y="2184768"/>
            <a:ext cx="101600" cy="101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xtLst/>
        </p:spPr>
        <p:txBody>
          <a:bodyPr lIns="68580" tIns="34290" rIns="68580" bIns="3429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 Light"/>
              <a:cs typeface="+mn-ea"/>
              <a:sym typeface="Arial"/>
            </a:endParaRPr>
          </a:p>
        </p:txBody>
      </p:sp>
      <p:grpSp>
        <p:nvGrpSpPr>
          <p:cNvPr id="19" name="Group 26"/>
          <p:cNvGrpSpPr>
            <a:grpSpLocks/>
          </p:cNvGrpSpPr>
          <p:nvPr/>
        </p:nvGrpSpPr>
        <p:grpSpPr bwMode="auto">
          <a:xfrm>
            <a:off x="7402910" y="2059356"/>
            <a:ext cx="2376953" cy="1342816"/>
            <a:chOff x="2249509" y="1913092"/>
            <a:chExt cx="2826259" cy="1789807"/>
          </a:xfrm>
        </p:grpSpPr>
        <p:sp>
          <p:nvSpPr>
            <p:cNvPr id="20" name="Rectangle 27"/>
            <p:cNvSpPr/>
            <p:nvPr/>
          </p:nvSpPr>
          <p:spPr>
            <a:xfrm>
              <a:off x="2249510" y="1913092"/>
              <a:ext cx="1872478" cy="493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/>
                  <a:ea typeface="微软雅黑 Light"/>
                  <a:cs typeface="+mn-ea"/>
                  <a:sym typeface="Arial"/>
                </a:rPr>
                <a:t>人工管理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  <p:sp>
          <p:nvSpPr>
            <p:cNvPr id="21" name="TextBox 162"/>
            <p:cNvSpPr txBox="1"/>
            <p:nvPr/>
          </p:nvSpPr>
          <p:spPr>
            <a:xfrm>
              <a:off x="2249509" y="2287613"/>
              <a:ext cx="2826259" cy="1415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400" dirty="0">
                  <a:latin typeface="+mn-lt"/>
                  <a:ea typeface="微软雅黑 Light"/>
                  <a:sym typeface="Arial"/>
                </a:rPr>
                <a:t>依靠个人经验管理网络，工作重复性高，难以满足日益增长的网络运维需求</a:t>
              </a:r>
              <a:endParaRPr lang="en-US" altLang="zh-CN" sz="1400" dirty="0">
                <a:latin typeface="+mn-lt"/>
                <a:ea typeface="微软雅黑 Light"/>
                <a:sym typeface="Arial"/>
              </a:endParaRPr>
            </a:p>
          </p:txBody>
        </p:sp>
      </p:grpSp>
      <p:sp>
        <p:nvSpPr>
          <p:cNvPr id="22" name="Oval 29"/>
          <p:cNvSpPr>
            <a:spLocks noChangeArrowheads="1"/>
          </p:cNvSpPr>
          <p:nvPr/>
        </p:nvSpPr>
        <p:spPr bwMode="auto">
          <a:xfrm>
            <a:off x="7177486" y="3562718"/>
            <a:ext cx="101600" cy="1016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xtLst/>
        </p:spPr>
        <p:txBody>
          <a:bodyPr lIns="68580" tIns="34290" rIns="68580" bIns="34290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id-ID">
              <a:solidFill>
                <a:schemeClr val="tx1">
                  <a:lumMod val="85000"/>
                  <a:lumOff val="15000"/>
                </a:schemeClr>
              </a:solidFill>
              <a:latin typeface="Arial"/>
              <a:ea typeface="微软雅黑 Light"/>
              <a:cs typeface="+mn-ea"/>
              <a:sym typeface="Arial"/>
            </a:endParaRPr>
          </a:p>
        </p:txBody>
      </p:sp>
      <p:grpSp>
        <p:nvGrpSpPr>
          <p:cNvPr id="23" name="Group 30"/>
          <p:cNvGrpSpPr>
            <a:grpSpLocks/>
          </p:cNvGrpSpPr>
          <p:nvPr/>
        </p:nvGrpSpPr>
        <p:grpSpPr bwMode="auto">
          <a:xfrm>
            <a:off x="7402911" y="3424606"/>
            <a:ext cx="2695450" cy="1328529"/>
            <a:chOff x="2249510" y="1913092"/>
            <a:chExt cx="2681913" cy="1771882"/>
          </a:xfrm>
        </p:grpSpPr>
        <p:sp>
          <p:nvSpPr>
            <p:cNvPr id="24" name="Rectangle 31"/>
            <p:cNvSpPr/>
            <p:nvPr/>
          </p:nvSpPr>
          <p:spPr>
            <a:xfrm>
              <a:off x="2249510" y="1913092"/>
              <a:ext cx="2099191" cy="36840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 Light"/>
                <a:cs typeface="+mn-ea"/>
                <a:sym typeface="Arial"/>
              </a:endParaRPr>
            </a:p>
          </p:txBody>
        </p:sp>
        <p:sp>
          <p:nvSpPr>
            <p:cNvPr id="25" name="TextBox 166"/>
            <p:cNvSpPr txBox="1"/>
            <p:nvPr/>
          </p:nvSpPr>
          <p:spPr>
            <a:xfrm>
              <a:off x="2249510" y="2268794"/>
              <a:ext cx="2681913" cy="14161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400" dirty="0">
                  <a:latin typeface="+mn-lt"/>
                  <a:ea typeface="微软雅黑 Light"/>
                  <a:sym typeface="Arial"/>
                </a:rPr>
                <a:t>未充分发挥新技术在规划、维护、优化、分析、用户感知管理中的技术优势，管理效率低下</a:t>
              </a:r>
              <a:endParaRPr lang="en-US" altLang="zh-CN" sz="1400" dirty="0">
                <a:latin typeface="+mn-lt"/>
                <a:ea typeface="微软雅黑 Light"/>
                <a:sym typeface="Arial"/>
              </a:endParaRPr>
            </a:p>
          </p:txBody>
        </p:sp>
      </p:grpSp>
      <p:sp>
        <p:nvSpPr>
          <p:cNvPr id="26" name="Rectangle 27"/>
          <p:cNvSpPr/>
          <p:nvPr/>
        </p:nvSpPr>
        <p:spPr>
          <a:xfrm>
            <a:off x="7402911" y="3423018"/>
            <a:ext cx="140335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微软雅黑 Light"/>
                <a:cs typeface="+mn-ea"/>
                <a:sym typeface="Arial"/>
              </a:rPr>
              <a:t>传统管理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微软雅黑 Light"/>
              <a:cs typeface="+mn-ea"/>
              <a:sym typeface="Arial"/>
            </a:endParaRPr>
          </a:p>
        </p:txBody>
      </p:sp>
      <p:sp>
        <p:nvSpPr>
          <p:cNvPr id="27" name="Text Placeholder 4"/>
          <p:cNvSpPr txBox="1"/>
          <p:nvPr/>
        </p:nvSpPr>
        <p:spPr>
          <a:xfrm>
            <a:off x="4789832" y="3239259"/>
            <a:ext cx="1025525" cy="298450"/>
          </a:xfrm>
          <a:prstGeom prst="rect">
            <a:avLst/>
          </a:prstGeom>
        </p:spPr>
        <p:txBody>
          <a:bodyPr lIns="68580" tIns="34290" rIns="68580" bIns="3429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138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现状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9997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3699" y="799720"/>
            <a:ext cx="114545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 smtClean="0"/>
              <a:t>将运</a:t>
            </a:r>
            <a:r>
              <a:rPr lang="zh-CN" altLang="en-US" dirty="0" smtClean="0"/>
              <a:t>维工作中的各种需求、工具、</a:t>
            </a:r>
            <a:r>
              <a:rPr lang="zh-CN" altLang="en-US" dirty="0" smtClean="0"/>
              <a:t>经验集成</a:t>
            </a:r>
            <a:r>
              <a:rPr lang="zh-CN" altLang="en-US" dirty="0" smtClean="0"/>
              <a:t>归一化</a:t>
            </a:r>
            <a:r>
              <a:rPr lang="zh-CN" altLang="en-US" dirty="0" smtClean="0"/>
              <a:t>，通过</a:t>
            </a:r>
            <a:r>
              <a:rPr lang="zh-CN" altLang="en-US" dirty="0" smtClean="0"/>
              <a:t>该</a:t>
            </a:r>
            <a:r>
              <a:rPr lang="zh-CN" altLang="en-US" dirty="0" smtClean="0"/>
              <a:t>平台展示</a:t>
            </a:r>
            <a:r>
              <a:rPr lang="zh-CN" altLang="en-US" dirty="0" smtClean="0"/>
              <a:t>整个珠海</a:t>
            </a:r>
            <a:r>
              <a:rPr lang="zh-CN" altLang="en-US" dirty="0" smtClean="0"/>
              <a:t>网络运行情况</a:t>
            </a:r>
            <a:r>
              <a:rPr lang="zh-CN" altLang="en-US" dirty="0" smtClean="0"/>
              <a:t>，从全局把控网络质量</a:t>
            </a:r>
            <a:r>
              <a:rPr lang="zh-CN" altLang="en-US" dirty="0" smtClean="0"/>
              <a:t>，满足</a:t>
            </a:r>
            <a:r>
              <a:rPr lang="zh-CN" altLang="en-US" dirty="0" smtClean="0"/>
              <a:t>网络日常维护需求，</a:t>
            </a:r>
            <a:r>
              <a:rPr lang="zh-CN" altLang="en-US" dirty="0" smtClean="0"/>
              <a:t>成为珠海</a:t>
            </a:r>
            <a:r>
              <a:rPr lang="zh-CN" altLang="en-US" dirty="0" smtClean="0"/>
              <a:t>网络</a:t>
            </a:r>
            <a:r>
              <a:rPr lang="zh-CN" altLang="en-US" dirty="0" smtClean="0"/>
              <a:t>大脑，</a:t>
            </a:r>
            <a:r>
              <a:rPr lang="zh-CN" altLang="en-US" b="1" dirty="0" smtClean="0">
                <a:solidFill>
                  <a:srgbClr val="FF0000"/>
                </a:solidFill>
              </a:rPr>
              <a:t>解放人的大脑和双手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5" name="Picture 2" descr="“big data icon”的图片搜索结果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725" y="3685204"/>
            <a:ext cx="1473203" cy="1138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“tools icon”的图片搜索结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542" y="2053229"/>
            <a:ext cx="839568" cy="83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“tech icon”的图片搜索结果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934" y="5271323"/>
            <a:ext cx="1867471" cy="102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“platform icon”的图片搜索结果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721" y="3029823"/>
            <a:ext cx="2619978" cy="194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右箭头 8"/>
          <p:cNvSpPr/>
          <p:nvPr/>
        </p:nvSpPr>
        <p:spPr>
          <a:xfrm>
            <a:off x="5527129" y="3971023"/>
            <a:ext cx="2062633" cy="523291"/>
          </a:xfrm>
          <a:prstGeom prst="rightArrow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362832" y="3113289"/>
            <a:ext cx="839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/>
              <a:t>+</a:t>
            </a:r>
            <a:endParaRPr lang="zh-CN" altLang="en-US" sz="36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4402542" y="4714242"/>
            <a:ext cx="839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/>
              <a:t>+</a:t>
            </a:r>
            <a:endParaRPr lang="zh-CN" altLang="en-US" sz="36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4248897" y="1715024"/>
            <a:ext cx="1146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丰富运维经验</a:t>
            </a:r>
            <a:endParaRPr lang="zh-CN" altLang="en-US" sz="1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4248896" y="3608772"/>
            <a:ext cx="1146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海量数据资源</a:t>
            </a:r>
            <a:endParaRPr lang="zh-CN" altLang="en-US" sz="1200" dirty="0"/>
          </a:p>
        </p:txBody>
      </p:sp>
      <p:sp>
        <p:nvSpPr>
          <p:cNvPr id="14" name="文本框 13"/>
          <p:cNvSpPr txBox="1"/>
          <p:nvPr/>
        </p:nvSpPr>
        <p:spPr>
          <a:xfrm>
            <a:off x="4248897" y="5118500"/>
            <a:ext cx="1146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/>
              <a:t>新兴技术</a:t>
            </a:r>
            <a:endParaRPr lang="zh-CN" altLang="en-US" sz="1200" dirty="0"/>
          </a:p>
        </p:txBody>
      </p:sp>
      <p:sp>
        <p:nvSpPr>
          <p:cNvPr id="15" name="文本框 14"/>
          <p:cNvSpPr txBox="1"/>
          <p:nvPr/>
        </p:nvSpPr>
        <p:spPr>
          <a:xfrm>
            <a:off x="7275721" y="5118500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智慧网络运维平台（网络大脑）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要做什么？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91454" y="5274907"/>
            <a:ext cx="130791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大数据</a:t>
            </a:r>
            <a:endParaRPr lang="en-US" altLang="zh-CN" sz="1600" dirty="0"/>
          </a:p>
          <a:p>
            <a:r>
              <a:rPr lang="zh-CN" altLang="en-US" sz="1600" dirty="0" smtClean="0"/>
              <a:t>云计算</a:t>
            </a:r>
            <a:endParaRPr lang="en-US" altLang="zh-CN" sz="1600" dirty="0" smtClean="0"/>
          </a:p>
          <a:p>
            <a:r>
              <a:rPr lang="zh-CN" altLang="en-US" sz="1600" dirty="0" smtClean="0"/>
              <a:t>人工智能</a:t>
            </a:r>
            <a:endParaRPr lang="zh-CN" altLang="en-US" sz="1600" dirty="0"/>
          </a:p>
        </p:txBody>
      </p:sp>
      <p:sp>
        <p:nvSpPr>
          <p:cNvPr id="19" name="矩形 18"/>
          <p:cNvSpPr/>
          <p:nvPr/>
        </p:nvSpPr>
        <p:spPr>
          <a:xfrm>
            <a:off x="2191454" y="3630179"/>
            <a:ext cx="130791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/>
              <a:t>告警</a:t>
            </a:r>
            <a:endParaRPr lang="en-US" altLang="zh-CN" sz="1600" dirty="0" smtClean="0"/>
          </a:p>
          <a:p>
            <a:r>
              <a:rPr lang="zh-CN" altLang="en-US" sz="1600" dirty="0"/>
              <a:t>日志</a:t>
            </a:r>
            <a:endParaRPr lang="en-US" altLang="zh-CN" sz="1600" dirty="0" smtClean="0"/>
          </a:p>
          <a:p>
            <a:r>
              <a:rPr lang="zh-CN" altLang="en-US" sz="1600" dirty="0" smtClean="0"/>
              <a:t>信令</a:t>
            </a:r>
            <a:endParaRPr lang="en-US" altLang="zh-CN" sz="1600" dirty="0" smtClean="0"/>
          </a:p>
          <a:p>
            <a:r>
              <a:rPr lang="zh-CN" altLang="en-US" sz="1600" dirty="0" smtClean="0"/>
              <a:t>基础数据</a:t>
            </a:r>
            <a:endParaRPr lang="zh-CN" altLang="en-US" sz="1600" dirty="0"/>
          </a:p>
        </p:txBody>
      </p:sp>
      <p:sp>
        <p:nvSpPr>
          <p:cNvPr id="20" name="矩形 19"/>
          <p:cNvSpPr/>
          <p:nvPr/>
        </p:nvSpPr>
        <p:spPr>
          <a:xfrm>
            <a:off x="2191454" y="1791011"/>
            <a:ext cx="22694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规划、维护、优化</a:t>
            </a:r>
            <a:endParaRPr lang="en-US" altLang="zh-CN" sz="1600" dirty="0"/>
          </a:p>
          <a:p>
            <a:r>
              <a:rPr lang="zh-CN" altLang="en-US" sz="1600" dirty="0"/>
              <a:t>投诉处理</a:t>
            </a:r>
            <a:endParaRPr lang="en-US" altLang="zh-CN" sz="1600" dirty="0"/>
          </a:p>
          <a:p>
            <a:r>
              <a:rPr lang="zh-CN" altLang="en-US" sz="1600" dirty="0"/>
              <a:t>网络分析</a:t>
            </a:r>
            <a:endParaRPr lang="en-US" altLang="zh-CN" sz="1600" dirty="0"/>
          </a:p>
          <a:p>
            <a:r>
              <a:rPr lang="zh-CN" altLang="en-US" sz="1600" dirty="0"/>
              <a:t>应急保障</a:t>
            </a:r>
            <a:endParaRPr lang="en-US" altLang="zh-CN" sz="1600" dirty="0"/>
          </a:p>
          <a:p>
            <a:r>
              <a:rPr lang="en-US" altLang="zh-CN" sz="1600" dirty="0"/>
              <a:t>KPI</a:t>
            </a:r>
            <a:r>
              <a:rPr lang="zh-CN" altLang="en-US" sz="1600" dirty="0"/>
              <a:t>保障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7610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网络大脑的目标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58019" y="974843"/>
            <a:ext cx="2822713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/>
              <a:t>网络运维模式突破</a:t>
            </a:r>
            <a:endParaRPr lang="en-US" altLang="zh-CN" sz="1600" b="1" dirty="0" smtClean="0"/>
          </a:p>
          <a:p>
            <a:pPr>
              <a:lnSpc>
                <a:spcPct val="150000"/>
              </a:lnSpc>
            </a:pPr>
            <a:r>
              <a:rPr lang="zh-CN" altLang="en-US" sz="1400" dirty="0" smtClean="0"/>
              <a:t>提升维护人员的管理能力，解决专业分散管理、人工管理问题，实现网络维护智能化、</a:t>
            </a:r>
            <a:r>
              <a:rPr lang="zh-CN" altLang="en-US" sz="1400" dirty="0" smtClean="0"/>
              <a:t>一体化</a:t>
            </a:r>
            <a:endParaRPr lang="en-US" altLang="zh-CN" sz="1400" dirty="0" smtClean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600" b="1" dirty="0" smtClean="0"/>
              <a:t>网络服务模式突破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400" dirty="0" smtClean="0"/>
              <a:t>精准的随时随地服务用户，网络资源利用更加高效，</a:t>
            </a:r>
            <a:r>
              <a:rPr lang="zh-CN" altLang="en-US" sz="1400" dirty="0" smtClean="0"/>
              <a:t>合理</a:t>
            </a:r>
            <a:endParaRPr lang="en-US" altLang="zh-CN" sz="1400" dirty="0" smtClean="0"/>
          </a:p>
          <a:p>
            <a:pPr>
              <a:lnSpc>
                <a:spcPct val="150000"/>
              </a:lnSpc>
            </a:pP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600" b="1" dirty="0" smtClean="0"/>
              <a:t>信令数据应用突破</a:t>
            </a:r>
            <a:endParaRPr lang="en-US" altLang="zh-CN" sz="1600" b="1" dirty="0" smtClean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</a:t>
            </a:r>
            <a:r>
              <a:rPr lang="zh-CN" altLang="en-US" sz="1400" dirty="0" smtClean="0"/>
              <a:t>信令数据对网络规划、基站选址、资源投放起支撑作用，促进信令数据应用升级</a:t>
            </a:r>
            <a:endParaRPr lang="en-US" altLang="zh-CN" sz="14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46" y="976356"/>
            <a:ext cx="7761435" cy="445206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 rot="21226131">
            <a:off x="4429196" y="5971687"/>
            <a:ext cx="7779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机器人取代人：繁琐</a:t>
            </a:r>
            <a:r>
              <a:rPr lang="zh-CN" altLang="en-US" b="1" dirty="0">
                <a:solidFill>
                  <a:srgbClr val="FF0000"/>
                </a:solidFill>
              </a:rPr>
              <a:t>性、重复性的需要人工支持</a:t>
            </a:r>
            <a:r>
              <a:rPr lang="zh-CN" altLang="en-US" b="1" dirty="0" smtClean="0">
                <a:solidFill>
                  <a:srgbClr val="FF0000"/>
                </a:solidFill>
              </a:rPr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工作</a:t>
            </a:r>
            <a:r>
              <a:rPr lang="zh-CN" altLang="en-US" b="1" dirty="0" smtClean="0">
                <a:solidFill>
                  <a:srgbClr val="FF0000"/>
                </a:solidFill>
              </a:rPr>
              <a:t>会逐步</a:t>
            </a:r>
            <a:r>
              <a:rPr lang="zh-CN" altLang="en-US" b="1" dirty="0">
                <a:solidFill>
                  <a:srgbClr val="FF0000"/>
                </a:solidFill>
              </a:rPr>
              <a:t>用</a:t>
            </a:r>
            <a:r>
              <a:rPr lang="zh-CN" altLang="en-US" b="1" dirty="0" smtClean="0">
                <a:solidFill>
                  <a:srgbClr val="FF0000"/>
                </a:solidFill>
              </a:rPr>
              <a:t>机器</a:t>
            </a:r>
            <a:r>
              <a:rPr lang="zh-CN" altLang="en-US" b="1" dirty="0">
                <a:solidFill>
                  <a:srgbClr val="FF0000"/>
                </a:solidFill>
              </a:rPr>
              <a:t>所取代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33226" y="2486259"/>
            <a:ext cx="3578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00FF"/>
                </a:solidFill>
              </a:rPr>
              <a:t>网络运行数据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1193616" y="3079156"/>
            <a:ext cx="318052" cy="123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 rot="19291460">
            <a:off x="1589755" y="3857372"/>
            <a:ext cx="357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00FF"/>
                </a:solidFill>
              </a:rPr>
              <a:t>性能数据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 rot="19212427">
            <a:off x="1927924" y="4004167"/>
            <a:ext cx="318052" cy="123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 rot="2213697">
            <a:off x="997847" y="1362826"/>
            <a:ext cx="357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00FF"/>
                </a:solidFill>
              </a:rPr>
              <a:t>基础资料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12" name="右箭头 11"/>
          <p:cNvSpPr/>
          <p:nvPr/>
        </p:nvSpPr>
        <p:spPr>
          <a:xfrm rot="2213697">
            <a:off x="1340374" y="2010390"/>
            <a:ext cx="318052" cy="123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658475" y="1730679"/>
            <a:ext cx="357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B050"/>
                </a:solidFill>
              </a:rPr>
              <a:t>全网全景</a:t>
            </a:r>
            <a:endParaRPr lang="zh-CN" altLang="en-US" sz="1400" b="1" dirty="0">
              <a:solidFill>
                <a:srgbClr val="00B05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658475" y="2841328"/>
            <a:ext cx="357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B050"/>
                </a:solidFill>
              </a:rPr>
              <a:t>智能运维</a:t>
            </a:r>
            <a:endParaRPr lang="zh-CN" altLang="en-US" sz="1400" b="1" dirty="0">
              <a:solidFill>
                <a:srgbClr val="00B05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65128" y="3795435"/>
            <a:ext cx="3578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rgbClr val="00B050"/>
                </a:solidFill>
              </a:rPr>
              <a:t>无纸化报告</a:t>
            </a:r>
            <a:endParaRPr lang="zh-CN" altLang="en-US" sz="1400" b="1" dirty="0">
              <a:solidFill>
                <a:srgbClr val="00B05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2231" y="5401489"/>
            <a:ext cx="98867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主要解决问题：</a:t>
            </a:r>
            <a:endParaRPr lang="en-US" altLang="zh-CN" sz="1600" dirty="0"/>
          </a:p>
          <a:p>
            <a:r>
              <a:rPr lang="en-US" altLang="zh-CN" sz="1400" dirty="0"/>
              <a:t>1</a:t>
            </a:r>
            <a:r>
              <a:rPr lang="zh-CN" altLang="en-US" sz="1400" dirty="0"/>
              <a:t>、数据获取一站式：日常网络运行情况、性能数据、基础运维数据统一管理</a:t>
            </a:r>
            <a:endParaRPr lang="en-US" altLang="zh-CN" sz="1400" dirty="0"/>
          </a:p>
          <a:p>
            <a:r>
              <a:rPr lang="en-US" altLang="zh-CN" sz="1400" dirty="0"/>
              <a:t>2</a:t>
            </a:r>
            <a:r>
              <a:rPr lang="zh-CN" altLang="en-US" sz="1400" dirty="0"/>
              <a:t>、智能运维：主动发现问题、智能分析问题、自动解决问题</a:t>
            </a:r>
            <a:r>
              <a:rPr lang="en-US" altLang="zh-CN" sz="1400" dirty="0"/>
              <a:t>;</a:t>
            </a:r>
            <a:r>
              <a:rPr lang="zh-CN" altLang="en-US" sz="1400" dirty="0"/>
              <a:t>资源智能调度</a:t>
            </a:r>
            <a:endParaRPr lang="en-US" altLang="zh-CN" sz="1400" dirty="0"/>
          </a:p>
          <a:p>
            <a:r>
              <a:rPr lang="en-US" altLang="zh-CN" sz="1400" dirty="0"/>
              <a:t>3</a:t>
            </a:r>
            <a:r>
              <a:rPr lang="zh-CN" altLang="en-US" sz="1400" dirty="0"/>
              <a:t>、协同高效：跨部门的业务流程衔接</a:t>
            </a:r>
            <a:endParaRPr lang="en-US" altLang="zh-CN" sz="1400" dirty="0"/>
          </a:p>
          <a:p>
            <a:r>
              <a:rPr lang="en-US" altLang="zh-CN" sz="1400" dirty="0"/>
              <a:t>4</a:t>
            </a:r>
            <a:r>
              <a:rPr lang="zh-CN" altLang="en-US" sz="1400" dirty="0"/>
              <a:t>、系统归一：跨系统、跨业务的协同管理</a:t>
            </a:r>
            <a:endParaRPr lang="en-US" altLang="zh-CN" sz="1400" dirty="0"/>
          </a:p>
        </p:txBody>
      </p:sp>
      <p:sp>
        <p:nvSpPr>
          <p:cNvPr id="18" name="右箭头 17"/>
          <p:cNvSpPr/>
          <p:nvPr/>
        </p:nvSpPr>
        <p:spPr>
          <a:xfrm>
            <a:off x="4843647" y="2610290"/>
            <a:ext cx="1752003" cy="976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智能调配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2850272" y="1390341"/>
            <a:ext cx="20682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数据采集模块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数据解码模块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数据存储模块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chemeClr val="bg1"/>
                </a:solidFill>
              </a:rPr>
              <a:t>自主学习模块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业务管理模块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场景保障模块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故障处理模块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bg1"/>
                </a:solidFill>
              </a:rPr>
              <a:t>用户呈现模块</a:t>
            </a:r>
          </a:p>
        </p:txBody>
      </p:sp>
    </p:spTree>
    <p:extLst>
      <p:ext uri="{BB962C8B-B14F-4D97-AF65-F5344CB8AC3E}">
        <p14:creationId xmlns:p14="http://schemas.microsoft.com/office/powerpoint/2010/main" val="308914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主要特点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7383" y="1013792"/>
            <a:ext cx="1130079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核心：减少网络运维对人的依赖</a:t>
            </a:r>
            <a:endParaRPr lang="en-US" altLang="zh-CN" sz="1600" dirty="0" smtClean="0"/>
          </a:p>
          <a:p>
            <a:r>
              <a:rPr lang="zh-CN" altLang="en-US" sz="1600" dirty="0" smtClean="0"/>
              <a:t>定位</a:t>
            </a:r>
            <a:r>
              <a:rPr lang="en-US" altLang="zh-CN" sz="1600" dirty="0" smtClean="0"/>
              <a:t>:</a:t>
            </a:r>
            <a:r>
              <a:rPr lang="zh-CN" altLang="en-US" sz="1600" dirty="0" smtClean="0"/>
              <a:t>有生命力的网络运维平台，运维系统类人化，感知的无人化、决策的智慧化、控制的自动化</a:t>
            </a:r>
            <a:endParaRPr lang="en-US" altLang="zh-CN" sz="1600" dirty="0" smtClean="0"/>
          </a:p>
          <a:p>
            <a:r>
              <a:rPr lang="zh-CN" altLang="en-US" sz="1600" dirty="0" smtClean="0"/>
              <a:t>管理对象：网络运维涉及的</a:t>
            </a:r>
            <a:r>
              <a:rPr lang="en-US" altLang="zh-CN" sz="1600" dirty="0" smtClean="0"/>
              <a:t>5</a:t>
            </a:r>
            <a:r>
              <a:rPr lang="zh-CN" altLang="en-US" sz="1600" dirty="0" smtClean="0"/>
              <a:t>大内容：网络、设备、业务、用户及运维工作人员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endParaRPr lang="en-US" altLang="zh-CN" sz="1600" dirty="0"/>
          </a:p>
          <a:p>
            <a:r>
              <a:rPr lang="en-US" altLang="zh-CN" sz="1600" dirty="0"/>
              <a:t>4</a:t>
            </a:r>
            <a:r>
              <a:rPr lang="zh-CN" altLang="en-US" sz="1600" dirty="0"/>
              <a:t>个特征</a:t>
            </a:r>
            <a:endParaRPr lang="en-US" altLang="zh-CN" sz="1600" dirty="0"/>
          </a:p>
          <a:p>
            <a:r>
              <a:rPr lang="zh-CN" altLang="en-US" sz="1600" dirty="0"/>
              <a:t>即时：准实时展现特定区域、特定人群、特定设备</a:t>
            </a:r>
            <a:endParaRPr lang="en-US" altLang="zh-CN" sz="1600" dirty="0"/>
          </a:p>
          <a:p>
            <a:r>
              <a:rPr lang="zh-CN" altLang="en-US" sz="1600" dirty="0"/>
              <a:t>全网：核心、传输、动力、网管</a:t>
            </a:r>
            <a:endParaRPr lang="en-US" altLang="zh-CN" sz="1600" dirty="0"/>
          </a:p>
          <a:p>
            <a:r>
              <a:rPr lang="zh-CN" altLang="en-US" sz="1600" dirty="0"/>
              <a:t>全景：网路、设备、业务、用户</a:t>
            </a:r>
            <a:endParaRPr lang="en-US" altLang="zh-CN" sz="1600" dirty="0"/>
          </a:p>
          <a:p>
            <a:r>
              <a:rPr lang="zh-CN" altLang="en-US" sz="1600" dirty="0"/>
              <a:t>全流程：规划、建设、维护、优化</a:t>
            </a:r>
            <a:endParaRPr lang="en-US" altLang="zh-CN" sz="1600" dirty="0"/>
          </a:p>
          <a:p>
            <a:endParaRPr lang="en-US" altLang="zh-CN" sz="1600" dirty="0" smtClean="0"/>
          </a:p>
          <a:p>
            <a:endParaRPr lang="en-US" altLang="zh-CN" sz="1600" dirty="0"/>
          </a:p>
          <a:p>
            <a:r>
              <a:rPr lang="en-US" altLang="zh-CN" sz="1600" dirty="0" smtClean="0"/>
              <a:t>5</a:t>
            </a:r>
            <a:r>
              <a:rPr lang="zh-CN" altLang="en-US" sz="1600" dirty="0"/>
              <a:t>个能力</a:t>
            </a:r>
            <a:endParaRPr lang="en-US" altLang="zh-CN" sz="1600" dirty="0"/>
          </a:p>
          <a:p>
            <a:r>
              <a:rPr lang="zh-CN" altLang="en-US" sz="1600" dirty="0" smtClean="0"/>
              <a:t>全面：全网、全量数据、全部维护</a:t>
            </a:r>
            <a:endParaRPr lang="en-US" altLang="zh-CN" sz="1600" dirty="0"/>
          </a:p>
          <a:p>
            <a:r>
              <a:rPr lang="zh-CN" altLang="en-US" sz="1600" dirty="0" smtClean="0"/>
              <a:t>主动：</a:t>
            </a:r>
            <a:endParaRPr lang="en-US" altLang="zh-CN" sz="1600" dirty="0"/>
          </a:p>
          <a:p>
            <a:r>
              <a:rPr lang="zh-CN" altLang="en-US" sz="1600" dirty="0"/>
              <a:t>精准</a:t>
            </a:r>
            <a:endParaRPr lang="en-US" altLang="zh-CN" sz="1600" dirty="0"/>
          </a:p>
          <a:p>
            <a:r>
              <a:rPr lang="zh-CN" altLang="en-US" sz="1600" dirty="0"/>
              <a:t>直观</a:t>
            </a:r>
            <a:endParaRPr lang="en-US" altLang="zh-CN" sz="1600" dirty="0"/>
          </a:p>
          <a:p>
            <a:r>
              <a:rPr lang="zh-CN" altLang="en-US" sz="1600" dirty="0"/>
              <a:t>智能</a:t>
            </a:r>
            <a:endParaRPr lang="en-US" altLang="zh-CN" sz="1600" dirty="0"/>
          </a:p>
          <a:p>
            <a:endParaRPr lang="en-US" altLang="zh-CN" sz="1600" dirty="0" smtClean="0"/>
          </a:p>
        </p:txBody>
      </p:sp>
    </p:spTree>
    <p:extLst>
      <p:ext uri="{BB962C8B-B14F-4D97-AF65-F5344CB8AC3E}">
        <p14:creationId xmlns:p14="http://schemas.microsoft.com/office/powerpoint/2010/main" val="195144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网络大脑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通信保障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0989" y="810830"/>
            <a:ext cx="119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网络状态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994111" y="810830"/>
            <a:ext cx="119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业务组成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433929" y="810830"/>
            <a:ext cx="119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信息收集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330949" y="810830"/>
            <a:ext cx="119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资源调控</a:t>
            </a:r>
            <a:endParaRPr lang="zh-CN" altLang="en-US" dirty="0"/>
          </a:p>
        </p:txBody>
      </p:sp>
      <p:pic>
        <p:nvPicPr>
          <p:cNvPr id="7" name="图片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399" y="1289784"/>
            <a:ext cx="10818254" cy="4425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95" y="1733887"/>
            <a:ext cx="3233633" cy="229243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27420" y="1379235"/>
            <a:ext cx="1725769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</a:rPr>
              <a:t>珠海体育中心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90295" y="1717109"/>
            <a:ext cx="837125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800" dirty="0" smtClean="0">
                <a:solidFill>
                  <a:schemeClr val="bg1"/>
                </a:solidFill>
              </a:rPr>
              <a:t>4G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40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en-US" altLang="zh-CN" sz="800" dirty="0" smtClean="0">
              <a:solidFill>
                <a:schemeClr val="bg1"/>
              </a:solidFill>
            </a:endParaRPr>
          </a:p>
          <a:p>
            <a:r>
              <a:rPr lang="en-US" altLang="zh-CN" sz="800" dirty="0" smtClean="0">
                <a:solidFill>
                  <a:schemeClr val="bg1"/>
                </a:solidFill>
              </a:rPr>
              <a:t>2G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3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en-US" altLang="zh-CN" sz="800" dirty="0" smtClean="0">
              <a:solidFill>
                <a:schemeClr val="bg1"/>
              </a:solidFill>
            </a:endParaRPr>
          </a:p>
          <a:p>
            <a:r>
              <a:rPr lang="en-US" altLang="zh-CN" sz="800" dirty="0" smtClean="0">
                <a:solidFill>
                  <a:schemeClr val="bg1"/>
                </a:solidFill>
              </a:rPr>
              <a:t>3G</a:t>
            </a:r>
            <a:r>
              <a:rPr lang="zh-CN" altLang="en-US" sz="800" dirty="0" smtClean="0">
                <a:solidFill>
                  <a:schemeClr val="bg1"/>
                </a:solidFill>
              </a:rPr>
              <a:t>小区 </a:t>
            </a:r>
            <a:r>
              <a:rPr lang="en-US" altLang="zh-CN" sz="800" dirty="0" smtClean="0">
                <a:solidFill>
                  <a:schemeClr val="bg1"/>
                </a:solidFill>
              </a:rPr>
              <a:t>4</a:t>
            </a:r>
            <a:r>
              <a:rPr lang="zh-CN" altLang="en-US" sz="800" dirty="0" smtClean="0">
                <a:solidFill>
                  <a:schemeClr val="bg1"/>
                </a:solidFill>
              </a:rPr>
              <a:t>个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36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网络大脑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网络态势实时感知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994" y="1946046"/>
            <a:ext cx="6590476" cy="42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5" y="1600200"/>
            <a:ext cx="2693983" cy="16192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5" y="3318026"/>
            <a:ext cx="2688379" cy="16158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6" y="5131054"/>
            <a:ext cx="2688379" cy="16158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201" y="1600200"/>
            <a:ext cx="2693982" cy="161925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8201" y="3318027"/>
            <a:ext cx="2699448" cy="161588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413" y="5131055"/>
            <a:ext cx="2699587" cy="161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84" y="1060309"/>
            <a:ext cx="8043695" cy="568663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网络大脑</a:t>
            </a:r>
            <a:r>
              <a:rPr lang="en-US" altLang="zh-CN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3200" dirty="0" smtClean="0">
                <a:solidFill>
                  <a:srgbClr val="E39517"/>
                </a:solidFill>
                <a:latin typeface="微软雅黑" pitchFamily="34" charset="-122"/>
                <a:ea typeface="微软雅黑" pitchFamily="34" charset="-122"/>
              </a:rPr>
              <a:t>网络交通图</a:t>
            </a:r>
            <a:endParaRPr lang="zh-CN" altLang="en-US" sz="3200" dirty="0">
              <a:solidFill>
                <a:srgbClr val="E3951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" y="1600200"/>
            <a:ext cx="2693983" cy="16192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" y="3318026"/>
            <a:ext cx="2688379" cy="16158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" y="5131054"/>
            <a:ext cx="2688379" cy="16158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201" y="1600200"/>
            <a:ext cx="2693982" cy="161925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8201" y="3318027"/>
            <a:ext cx="2699448" cy="161588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413" y="5131055"/>
            <a:ext cx="2699587" cy="161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09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8077</TotalTime>
  <Words>558</Words>
  <Application>Microsoft Office PowerPoint</Application>
  <PresentationFormat>宽屏</PresentationFormat>
  <Paragraphs>91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Lato Light</vt:lpstr>
      <vt:lpstr>宋体</vt:lpstr>
      <vt:lpstr>微软雅黑</vt:lpstr>
      <vt:lpstr>微软雅黑 Light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</dc:title>
  <dc:creator>Qinghai LI</dc:creator>
  <cp:lastModifiedBy>赵业祯</cp:lastModifiedBy>
  <cp:revision>4348</cp:revision>
  <dcterms:created xsi:type="dcterms:W3CDTF">2015-05-05T08:02:00Z</dcterms:created>
  <dcterms:modified xsi:type="dcterms:W3CDTF">2018-01-12T08:37:42Z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