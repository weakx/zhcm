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80" r:id="rId2"/>
    <p:sldId id="319" r:id="rId3"/>
    <p:sldId id="382" r:id="rId4"/>
    <p:sldId id="352" r:id="rId5"/>
    <p:sldId id="353" r:id="rId6"/>
    <p:sldId id="354" r:id="rId7"/>
    <p:sldId id="380" r:id="rId8"/>
    <p:sldId id="355" r:id="rId9"/>
    <p:sldId id="381" r:id="rId10"/>
    <p:sldId id="357" r:id="rId11"/>
    <p:sldId id="365" r:id="rId12"/>
    <p:sldId id="366" r:id="rId13"/>
    <p:sldId id="367" r:id="rId14"/>
    <p:sldId id="368" r:id="rId15"/>
    <p:sldId id="369" r:id="rId16"/>
    <p:sldId id="370" r:id="rId17"/>
    <p:sldId id="371" r:id="rId18"/>
    <p:sldId id="359" r:id="rId19"/>
    <p:sldId id="360" r:id="rId20"/>
    <p:sldId id="362" r:id="rId21"/>
    <p:sldId id="373" r:id="rId22"/>
    <p:sldId id="375" r:id="rId23"/>
    <p:sldId id="374" r:id="rId24"/>
    <p:sldId id="376" r:id="rId25"/>
    <p:sldId id="378" r:id="rId26"/>
    <p:sldId id="379" r:id="rId27"/>
    <p:sldId id="377"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073"/>
    <a:srgbClr val="00AC4E"/>
    <a:srgbClr val="FFFFFF"/>
    <a:srgbClr val="007A37"/>
    <a:srgbClr val="00DE64"/>
    <a:srgbClr val="00B050"/>
    <a:srgbClr val="5EF1A4"/>
    <a:srgbClr val="E73A1C"/>
    <a:srgbClr val="333F50"/>
    <a:srgbClr val="2FFF8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742" autoAdjust="0"/>
    <p:restoredTop sz="88084" autoAdjust="0"/>
  </p:normalViewPr>
  <p:slideViewPr>
    <p:cSldViewPr snapToGrid="0">
      <p:cViewPr varScale="1">
        <p:scale>
          <a:sx n="101" d="100"/>
          <a:sy n="101" d="100"/>
        </p:scale>
        <p:origin x="66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___.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___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31903694778500036"/>
          <c:y val="2.5026208549110487E-2"/>
        </c:manualLayout>
      </c:layout>
      <c:overlay val="0"/>
      <c:spPr>
        <a:noFill/>
        <a:ln>
          <a:noFill/>
        </a:ln>
        <a:effectLst/>
      </c:spPr>
      <c:txPr>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endParaRPr lang="zh-CN"/>
        </a:p>
      </c:txPr>
    </c:title>
    <c:autoTitleDeleted val="0"/>
    <c:plotArea>
      <c:layout/>
      <c:pieChart>
        <c:varyColors val="1"/>
        <c:ser>
          <c:idx val="0"/>
          <c:order val="0"/>
          <c:tx>
            <c:strRef>
              <c:f>Sheet1!$B$1</c:f>
              <c:strCache>
                <c:ptCount val="1"/>
                <c:pt idx="0">
                  <c:v>系统问题原因</c:v>
                </c:pt>
              </c:strCache>
            </c:strRef>
          </c:tx>
          <c:dPt>
            <c:idx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0C28-4C13-8753-E0BB95EA0239}"/>
              </c:ext>
            </c:extLst>
          </c:dPt>
          <c:dPt>
            <c:idx val="1"/>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2-9C45-44FB-8E83-BCA8300560A9}"/>
              </c:ext>
            </c:extLst>
          </c:dPt>
          <c:dPt>
            <c:idx val="2"/>
            <c:bubble3D val="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0C28-4C13-8753-E0BB95EA0239}"/>
              </c:ext>
            </c:extLst>
          </c:dPt>
          <c:dLbls>
            <c:dLbl>
              <c:idx val="1"/>
              <c:layout/>
              <c:tx>
                <c:rich>
                  <a:bodyPr/>
                  <a:lstStyle/>
                  <a:p>
                    <a:fld id="{0EC5AB0B-A94E-43BE-8023-523628AC3C90}" type="PERCENTAGE">
                      <a:rPr lang="en-US" altLang="zh-CN">
                        <a:solidFill>
                          <a:schemeClr val="bg1"/>
                        </a:solidFill>
                      </a:rPr>
                      <a:pPr/>
                      <a:t>[百分比]</a:t>
                    </a:fld>
                    <a:endParaRPr lang="zh-CN" altLang="en-US"/>
                  </a:p>
                </c:rich>
              </c:tx>
              <c:dLblPos val="inEnd"/>
              <c:showLegendKey val="0"/>
              <c:showVal val="0"/>
              <c:showCatName val="0"/>
              <c:showSerName val="0"/>
              <c:showPercent val="1"/>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2-9C45-44FB-8E83-BCA8300560A9}"/>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in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layout/>
              </c:ext>
            </c:extLst>
          </c:dLbls>
          <c:cat>
            <c:strRef>
              <c:f>Sheet1!$A$2:$A$4</c:f>
              <c:strCache>
                <c:ptCount val="3"/>
                <c:pt idx="0">
                  <c:v>人员疏失</c:v>
                </c:pt>
                <c:pt idx="1">
                  <c:v>流程失误</c:v>
                </c:pt>
                <c:pt idx="2">
                  <c:v>技术或产品</c:v>
                </c:pt>
              </c:strCache>
            </c:strRef>
          </c:cat>
          <c:val>
            <c:numRef>
              <c:f>Sheet1!$B$2:$B$4</c:f>
              <c:numCache>
                <c:formatCode>General</c:formatCode>
                <c:ptCount val="3"/>
                <c:pt idx="0">
                  <c:v>4</c:v>
                </c:pt>
                <c:pt idx="1">
                  <c:v>4</c:v>
                </c:pt>
                <c:pt idx="2">
                  <c:v>2</c:v>
                </c:pt>
              </c:numCache>
            </c:numRef>
          </c:val>
          <c:extLst>
            <c:ext xmlns:c16="http://schemas.microsoft.com/office/drawing/2014/chart" uri="{C3380CC4-5D6E-409C-BE32-E72D297353CC}">
              <c16:uniqueId val="{00000000-9C45-44FB-8E83-BCA8300560A9}"/>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ltLang="zh-CN" dirty="0" err="1" smtClean="0"/>
              <a:t>AIOps</a:t>
            </a:r>
            <a:r>
              <a:rPr lang="zh-CN" altLang="en-US" dirty="0" smtClean="0"/>
              <a:t>部署率</a:t>
            </a:r>
            <a:endParaRPr lang="en-US" altLang="zh-CN" dirty="0"/>
          </a:p>
        </c:rich>
      </c:tx>
      <c:layout>
        <c:manualLayout>
          <c:xMode val="edge"/>
          <c:yMode val="edge"/>
          <c:x val="0.37297791617620157"/>
          <c:y val="9.6519521263174531E-3"/>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manualLayout>
          <c:layoutTarget val="inner"/>
          <c:xMode val="edge"/>
          <c:yMode val="edge"/>
          <c:x val="7.9305548390727509E-2"/>
          <c:y val="0.16308607109308737"/>
          <c:w val="0.90906180085422905"/>
          <c:h val="0.6552801628729984"/>
        </c:manualLayout>
      </c:layout>
      <c:lineChart>
        <c:grouping val="standard"/>
        <c:varyColors val="0"/>
        <c:ser>
          <c:idx val="0"/>
          <c:order val="0"/>
          <c:tx>
            <c:strRef>
              <c:f>Sheet1!$B$1</c:f>
              <c:strCache>
                <c:ptCount val="1"/>
                <c:pt idx="0">
                  <c:v>系列 1</c:v>
                </c:pt>
              </c:strCache>
            </c:strRef>
          </c:tx>
          <c:spPr>
            <a:ln w="28575" cap="rnd">
              <a:solidFill>
                <a:schemeClr val="accent1"/>
              </a:solidFill>
              <a:round/>
            </a:ln>
            <a:effectLst/>
          </c:spPr>
          <c:marker>
            <c:symbol val="none"/>
          </c:marker>
          <c:cat>
            <c:strRef>
              <c:f>Sheet1!$A$2:$A$4</c:f>
              <c:strCache>
                <c:ptCount val="3"/>
                <c:pt idx="0">
                  <c:v>2016年</c:v>
                </c:pt>
                <c:pt idx="1">
                  <c:v>2019年</c:v>
                </c:pt>
                <c:pt idx="2">
                  <c:v>2020年</c:v>
                </c:pt>
              </c:strCache>
            </c:strRef>
          </c:cat>
          <c:val>
            <c:numRef>
              <c:f>Sheet1!$B$2:$B$4</c:f>
              <c:numCache>
                <c:formatCode>0%</c:formatCode>
                <c:ptCount val="3"/>
                <c:pt idx="0">
                  <c:v>0.08</c:v>
                </c:pt>
                <c:pt idx="1">
                  <c:v>0.25</c:v>
                </c:pt>
                <c:pt idx="2">
                  <c:v>0.56999999999999995</c:v>
                </c:pt>
              </c:numCache>
            </c:numRef>
          </c:val>
          <c:smooth val="0"/>
          <c:extLst>
            <c:ext xmlns:c16="http://schemas.microsoft.com/office/drawing/2014/chart" uri="{C3380CC4-5D6E-409C-BE32-E72D297353CC}">
              <c16:uniqueId val="{00000000-B93A-4AF7-BAFF-B6AB549986DA}"/>
            </c:ext>
          </c:extLst>
        </c:ser>
        <c:dLbls>
          <c:showLegendKey val="0"/>
          <c:showVal val="0"/>
          <c:showCatName val="0"/>
          <c:showSerName val="0"/>
          <c:showPercent val="0"/>
          <c:showBubbleSize val="0"/>
        </c:dLbls>
        <c:smooth val="0"/>
        <c:axId val="751153232"/>
        <c:axId val="751148656"/>
      </c:lineChart>
      <c:catAx>
        <c:axId val="7511532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751148656"/>
        <c:crosses val="autoZero"/>
        <c:auto val="1"/>
        <c:lblAlgn val="ctr"/>
        <c:lblOffset val="100"/>
        <c:noMultiLvlLbl val="0"/>
      </c:catAx>
      <c:valAx>
        <c:axId val="751148656"/>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75115323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F681F9E-C3C3-466C-B322-5B6C411F1487}"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zh-CN" altLang="en-US"/>
        </a:p>
      </dgm:t>
    </dgm:pt>
    <dgm:pt modelId="{60D5C615-17DF-411F-A041-5485DFD56AAC}">
      <dgm:prSet phldrT="[文本]"/>
      <dgm:spPr/>
      <dgm:t>
        <a:bodyPr/>
        <a:lstStyle/>
        <a:p>
          <a:r>
            <a:rPr lang="zh-CN" altLang="en-US" dirty="0" smtClean="0"/>
            <a:t>根因分析</a:t>
          </a:r>
          <a:endParaRPr lang="zh-CN" altLang="en-US" dirty="0"/>
        </a:p>
      </dgm:t>
    </dgm:pt>
    <dgm:pt modelId="{2C23044A-CDAF-436C-B7B9-1CBB10226378}" type="parTrans" cxnId="{D82F80EB-9B1E-48A0-810B-E1C902B931C7}">
      <dgm:prSet/>
      <dgm:spPr/>
      <dgm:t>
        <a:bodyPr/>
        <a:lstStyle/>
        <a:p>
          <a:endParaRPr lang="zh-CN" altLang="en-US"/>
        </a:p>
      </dgm:t>
    </dgm:pt>
    <dgm:pt modelId="{69F834AC-65D5-46E0-800B-A1529DFEB6D8}" type="sibTrans" cxnId="{D82F80EB-9B1E-48A0-810B-E1C902B931C7}">
      <dgm:prSet/>
      <dgm:spPr/>
      <dgm:t>
        <a:bodyPr/>
        <a:lstStyle/>
        <a:p>
          <a:endParaRPr lang="zh-CN" altLang="en-US"/>
        </a:p>
      </dgm:t>
    </dgm:pt>
    <dgm:pt modelId="{5329AF2C-097F-47E0-AA67-7FC48AB9D788}">
      <dgm:prSet phldrT="[文本]"/>
      <dgm:spPr/>
      <dgm:t>
        <a:bodyPr/>
        <a:lstStyle/>
        <a:p>
          <a:r>
            <a:rPr lang="zh-CN" altLang="en-US" dirty="0" smtClean="0"/>
            <a:t>异常检测</a:t>
          </a:r>
          <a:endParaRPr lang="zh-CN" altLang="en-US" dirty="0"/>
        </a:p>
      </dgm:t>
    </dgm:pt>
    <dgm:pt modelId="{34441EE5-B9A7-4F50-BD4F-50BC1A3E6323}" type="parTrans" cxnId="{CD61775C-66D8-4910-972F-FA53A2D20BB8}">
      <dgm:prSet/>
      <dgm:spPr/>
      <dgm:t>
        <a:bodyPr/>
        <a:lstStyle/>
        <a:p>
          <a:endParaRPr lang="zh-CN" altLang="en-US"/>
        </a:p>
      </dgm:t>
    </dgm:pt>
    <dgm:pt modelId="{558BA004-E7C3-4DD2-B287-DAFB008D4F07}" type="sibTrans" cxnId="{CD61775C-66D8-4910-972F-FA53A2D20BB8}">
      <dgm:prSet/>
      <dgm:spPr/>
      <dgm:t>
        <a:bodyPr/>
        <a:lstStyle/>
        <a:p>
          <a:endParaRPr lang="zh-CN" altLang="en-US"/>
        </a:p>
      </dgm:t>
    </dgm:pt>
    <dgm:pt modelId="{54D422F2-F17D-4D4E-80E0-8C18F67C64D0}">
      <dgm:prSet/>
      <dgm:spPr/>
      <dgm:t>
        <a:bodyPr/>
        <a:lstStyle/>
        <a:p>
          <a:r>
            <a:rPr lang="zh-CN" altLang="en-US" dirty="0" smtClean="0"/>
            <a:t>故障传播树构建</a:t>
          </a:r>
          <a:endParaRPr lang="zh-CN" altLang="en-US" dirty="0"/>
        </a:p>
      </dgm:t>
    </dgm:pt>
    <dgm:pt modelId="{242E6669-9458-417B-8CE8-F213C9BE8E8F}" type="parTrans" cxnId="{671C8065-B905-49CB-9A3F-F9361923BF7B}">
      <dgm:prSet/>
      <dgm:spPr/>
      <dgm:t>
        <a:bodyPr/>
        <a:lstStyle/>
        <a:p>
          <a:endParaRPr lang="zh-CN" altLang="en-US"/>
        </a:p>
      </dgm:t>
    </dgm:pt>
    <dgm:pt modelId="{D039EE51-F099-4BC0-8C91-621442C87746}" type="sibTrans" cxnId="{671C8065-B905-49CB-9A3F-F9361923BF7B}">
      <dgm:prSet/>
      <dgm:spPr/>
      <dgm:t>
        <a:bodyPr/>
        <a:lstStyle/>
        <a:p>
          <a:endParaRPr lang="zh-CN" altLang="en-US"/>
        </a:p>
      </dgm:t>
    </dgm:pt>
    <dgm:pt modelId="{59488975-C35F-4A56-8D57-D65A00052A05}">
      <dgm:prSet/>
      <dgm:spPr/>
      <dgm:t>
        <a:bodyPr/>
        <a:lstStyle/>
        <a:p>
          <a:r>
            <a:rPr lang="zh-CN" altLang="en-US" dirty="0" smtClean="0"/>
            <a:t>异常事件关联挖掘</a:t>
          </a:r>
          <a:endParaRPr lang="zh-CN" altLang="en-US" dirty="0"/>
        </a:p>
      </dgm:t>
    </dgm:pt>
    <dgm:pt modelId="{260A6818-D90B-4B1A-9901-B293B8F9007F}" type="parTrans" cxnId="{02BE2E49-8BC8-438F-BA9B-C37D817B7CF6}">
      <dgm:prSet/>
      <dgm:spPr/>
      <dgm:t>
        <a:bodyPr/>
        <a:lstStyle/>
        <a:p>
          <a:endParaRPr lang="zh-CN" altLang="en-US"/>
        </a:p>
      </dgm:t>
    </dgm:pt>
    <dgm:pt modelId="{079726A9-4578-4641-BDDB-5E2939F9BDCD}" type="sibTrans" cxnId="{02BE2E49-8BC8-438F-BA9B-C37D817B7CF6}">
      <dgm:prSet/>
      <dgm:spPr/>
      <dgm:t>
        <a:bodyPr/>
        <a:lstStyle/>
        <a:p>
          <a:endParaRPr lang="zh-CN" altLang="en-US"/>
        </a:p>
      </dgm:t>
    </dgm:pt>
    <dgm:pt modelId="{6470F6BC-00F7-4DA6-93A8-F97A9899CD78}">
      <dgm:prSet/>
      <dgm:spPr/>
      <dgm:t>
        <a:bodyPr/>
        <a:lstStyle/>
        <a:p>
          <a:r>
            <a:rPr lang="zh-CN" altLang="en-US" dirty="0" smtClean="0"/>
            <a:t>事件</a:t>
          </a:r>
          <a:r>
            <a:rPr lang="en-US" altLang="zh-CN" dirty="0" smtClean="0"/>
            <a:t>-KPI</a:t>
          </a:r>
          <a:r>
            <a:rPr lang="zh-CN" altLang="en-US" dirty="0" smtClean="0"/>
            <a:t>关联挖掘</a:t>
          </a:r>
          <a:endParaRPr lang="zh-CN" altLang="en-US" dirty="0"/>
        </a:p>
      </dgm:t>
    </dgm:pt>
    <dgm:pt modelId="{4F06052B-CDAA-415D-991E-B7976BF92601}" type="parTrans" cxnId="{BAC90E13-F48A-48CF-A420-071C5D07A534}">
      <dgm:prSet/>
      <dgm:spPr/>
      <dgm:t>
        <a:bodyPr/>
        <a:lstStyle/>
        <a:p>
          <a:endParaRPr lang="zh-CN" altLang="en-US"/>
        </a:p>
      </dgm:t>
    </dgm:pt>
    <dgm:pt modelId="{FD10F52E-B507-465D-BA7D-5459A098F4F1}" type="sibTrans" cxnId="{BAC90E13-F48A-48CF-A420-071C5D07A534}">
      <dgm:prSet/>
      <dgm:spPr/>
      <dgm:t>
        <a:bodyPr/>
        <a:lstStyle/>
        <a:p>
          <a:endParaRPr lang="zh-CN" altLang="en-US"/>
        </a:p>
      </dgm:t>
    </dgm:pt>
    <dgm:pt modelId="{B32DF41B-8F31-4C07-870A-11CD9A0429C0}">
      <dgm:prSet/>
      <dgm:spPr/>
      <dgm:t>
        <a:bodyPr/>
        <a:lstStyle/>
        <a:p>
          <a:r>
            <a:rPr lang="en-US" altLang="zh-CN" dirty="0" smtClean="0"/>
            <a:t>KPI</a:t>
          </a:r>
          <a:r>
            <a:rPr lang="zh-CN" altLang="en-US" dirty="0" smtClean="0"/>
            <a:t>关联分析</a:t>
          </a:r>
          <a:endParaRPr lang="zh-CN" altLang="en-US" dirty="0"/>
        </a:p>
      </dgm:t>
    </dgm:pt>
    <dgm:pt modelId="{42A2902F-D992-426C-821C-A91B95BC4C18}" type="parTrans" cxnId="{0B5E6585-33CD-469C-A7C7-8FBDE5741FCF}">
      <dgm:prSet/>
      <dgm:spPr/>
      <dgm:t>
        <a:bodyPr/>
        <a:lstStyle/>
        <a:p>
          <a:endParaRPr lang="zh-CN" altLang="en-US"/>
        </a:p>
      </dgm:t>
    </dgm:pt>
    <dgm:pt modelId="{875CFE0F-86CA-4B23-8E3C-8C86881CF3CC}" type="sibTrans" cxnId="{0B5E6585-33CD-469C-A7C7-8FBDE5741FCF}">
      <dgm:prSet/>
      <dgm:spPr/>
      <dgm:t>
        <a:bodyPr/>
        <a:lstStyle/>
        <a:p>
          <a:endParaRPr lang="zh-CN" altLang="en-US"/>
        </a:p>
      </dgm:t>
    </dgm:pt>
    <dgm:pt modelId="{FB68B7A5-5CBB-49C8-B3BA-60A574EFCADB}">
      <dgm:prSet/>
      <dgm:spPr/>
      <dgm:t>
        <a:bodyPr/>
        <a:lstStyle/>
        <a:p>
          <a:r>
            <a:rPr lang="en-US" altLang="zh-CN" dirty="0" smtClean="0"/>
            <a:t>KPI</a:t>
          </a:r>
          <a:r>
            <a:rPr lang="zh-CN" altLang="en-US" dirty="0" smtClean="0"/>
            <a:t>聚类</a:t>
          </a:r>
          <a:endParaRPr lang="zh-CN" altLang="en-US" dirty="0"/>
        </a:p>
      </dgm:t>
    </dgm:pt>
    <dgm:pt modelId="{00E659BE-968E-48BA-A987-3BA81F7E2110}" type="parTrans" cxnId="{81487C04-C575-49A6-902B-140466AB0C1B}">
      <dgm:prSet/>
      <dgm:spPr/>
      <dgm:t>
        <a:bodyPr/>
        <a:lstStyle/>
        <a:p>
          <a:endParaRPr lang="zh-CN" altLang="en-US"/>
        </a:p>
      </dgm:t>
    </dgm:pt>
    <dgm:pt modelId="{AACA2ADD-C13C-4E67-AF5A-DD74F65BFA8F}" type="sibTrans" cxnId="{81487C04-C575-49A6-902B-140466AB0C1B}">
      <dgm:prSet/>
      <dgm:spPr/>
      <dgm:t>
        <a:bodyPr/>
        <a:lstStyle/>
        <a:p>
          <a:endParaRPr lang="zh-CN" altLang="en-US"/>
        </a:p>
      </dgm:t>
    </dgm:pt>
    <dgm:pt modelId="{D6D72EC6-91E5-41C9-92D4-0C26BAA838C2}">
      <dgm:prSet/>
      <dgm:spPr/>
      <dgm:t>
        <a:bodyPr/>
        <a:lstStyle/>
        <a:p>
          <a:r>
            <a:rPr lang="zh-CN" altLang="en-US" dirty="0" smtClean="0"/>
            <a:t>全链路模块调用分析</a:t>
          </a:r>
          <a:endParaRPr lang="zh-CN" altLang="en-US" dirty="0"/>
        </a:p>
      </dgm:t>
    </dgm:pt>
    <dgm:pt modelId="{DE24D44C-CBED-4534-BF57-6F972C3C130E}" type="parTrans" cxnId="{936E1436-355E-45B7-94C9-A09E92767737}">
      <dgm:prSet/>
      <dgm:spPr/>
      <dgm:t>
        <a:bodyPr/>
        <a:lstStyle/>
        <a:p>
          <a:endParaRPr lang="zh-CN" altLang="en-US"/>
        </a:p>
      </dgm:t>
    </dgm:pt>
    <dgm:pt modelId="{AFB798E2-4F07-482E-AF24-DC3C2CE65CC6}" type="sibTrans" cxnId="{936E1436-355E-45B7-94C9-A09E92767737}">
      <dgm:prSet/>
      <dgm:spPr/>
      <dgm:t>
        <a:bodyPr/>
        <a:lstStyle/>
        <a:p>
          <a:endParaRPr lang="zh-CN" altLang="en-US"/>
        </a:p>
      </dgm:t>
    </dgm:pt>
    <dgm:pt modelId="{A385B7F1-B3C5-4B55-9DFF-F4B82890C0A8}" type="pres">
      <dgm:prSet presAssocID="{AF681F9E-C3C3-466C-B322-5B6C411F1487}" presName="hierChild1" presStyleCnt="0">
        <dgm:presLayoutVars>
          <dgm:chPref val="1"/>
          <dgm:dir/>
          <dgm:animOne val="branch"/>
          <dgm:animLvl val="lvl"/>
          <dgm:resizeHandles/>
        </dgm:presLayoutVars>
      </dgm:prSet>
      <dgm:spPr/>
      <dgm:t>
        <a:bodyPr/>
        <a:lstStyle/>
        <a:p>
          <a:endParaRPr lang="zh-CN" altLang="en-US"/>
        </a:p>
      </dgm:t>
    </dgm:pt>
    <dgm:pt modelId="{53F80620-8E54-47BD-AD7E-D117019D0A6E}" type="pres">
      <dgm:prSet presAssocID="{60D5C615-17DF-411F-A041-5485DFD56AAC}" presName="hierRoot1" presStyleCnt="0"/>
      <dgm:spPr/>
    </dgm:pt>
    <dgm:pt modelId="{CEC13D98-20C8-4B81-B8BE-1054AE622680}" type="pres">
      <dgm:prSet presAssocID="{60D5C615-17DF-411F-A041-5485DFD56AAC}" presName="composite" presStyleCnt="0"/>
      <dgm:spPr/>
    </dgm:pt>
    <dgm:pt modelId="{18C80703-8DCF-497D-BAC9-622A223A992B}" type="pres">
      <dgm:prSet presAssocID="{60D5C615-17DF-411F-A041-5485DFD56AAC}" presName="background" presStyleLbl="node0" presStyleIdx="0" presStyleCnt="1"/>
      <dgm:spPr/>
    </dgm:pt>
    <dgm:pt modelId="{6E08CEA8-D17A-498B-8701-A6053CA1E2BA}" type="pres">
      <dgm:prSet presAssocID="{60D5C615-17DF-411F-A041-5485DFD56AAC}" presName="text" presStyleLbl="fgAcc0" presStyleIdx="0" presStyleCnt="1">
        <dgm:presLayoutVars>
          <dgm:chPref val="3"/>
        </dgm:presLayoutVars>
      </dgm:prSet>
      <dgm:spPr/>
      <dgm:t>
        <a:bodyPr/>
        <a:lstStyle/>
        <a:p>
          <a:endParaRPr lang="zh-CN" altLang="en-US"/>
        </a:p>
      </dgm:t>
    </dgm:pt>
    <dgm:pt modelId="{16846EED-FA01-4E13-B5A7-82A5424D3783}" type="pres">
      <dgm:prSet presAssocID="{60D5C615-17DF-411F-A041-5485DFD56AAC}" presName="hierChild2" presStyleCnt="0"/>
      <dgm:spPr/>
    </dgm:pt>
    <dgm:pt modelId="{BE0536CF-1697-4E5C-AF1B-0C790FBA2423}" type="pres">
      <dgm:prSet presAssocID="{34441EE5-B9A7-4F50-BD4F-50BC1A3E6323}" presName="Name10" presStyleLbl="parChTrans1D2" presStyleIdx="0" presStyleCnt="2"/>
      <dgm:spPr/>
      <dgm:t>
        <a:bodyPr/>
        <a:lstStyle/>
        <a:p>
          <a:endParaRPr lang="zh-CN" altLang="en-US"/>
        </a:p>
      </dgm:t>
    </dgm:pt>
    <dgm:pt modelId="{7FE72F22-DAF1-436F-A79A-BC82B73498FC}" type="pres">
      <dgm:prSet presAssocID="{5329AF2C-097F-47E0-AA67-7FC48AB9D788}" presName="hierRoot2" presStyleCnt="0"/>
      <dgm:spPr/>
    </dgm:pt>
    <dgm:pt modelId="{1FFAEDBC-34A9-498B-8AB6-4AF5F9FFD2A5}" type="pres">
      <dgm:prSet presAssocID="{5329AF2C-097F-47E0-AA67-7FC48AB9D788}" presName="composite2" presStyleCnt="0"/>
      <dgm:spPr/>
    </dgm:pt>
    <dgm:pt modelId="{E4470D51-54F2-488C-A455-388E04CA8EBE}" type="pres">
      <dgm:prSet presAssocID="{5329AF2C-097F-47E0-AA67-7FC48AB9D788}" presName="background2" presStyleLbl="node2" presStyleIdx="0" presStyleCnt="2"/>
      <dgm:spPr/>
    </dgm:pt>
    <dgm:pt modelId="{1E917035-A5BB-4CD9-9EEF-489DF78A19A3}" type="pres">
      <dgm:prSet presAssocID="{5329AF2C-097F-47E0-AA67-7FC48AB9D788}" presName="text2" presStyleLbl="fgAcc2" presStyleIdx="0" presStyleCnt="2" custLinFactNeighborX="-68926" custLinFactNeighborY="4430">
        <dgm:presLayoutVars>
          <dgm:chPref val="3"/>
        </dgm:presLayoutVars>
      </dgm:prSet>
      <dgm:spPr/>
      <dgm:t>
        <a:bodyPr/>
        <a:lstStyle/>
        <a:p>
          <a:endParaRPr lang="zh-CN" altLang="en-US"/>
        </a:p>
      </dgm:t>
    </dgm:pt>
    <dgm:pt modelId="{EDC5572A-E5FA-40FA-9993-067B6CD42655}" type="pres">
      <dgm:prSet presAssocID="{5329AF2C-097F-47E0-AA67-7FC48AB9D788}" presName="hierChild3" presStyleCnt="0"/>
      <dgm:spPr/>
    </dgm:pt>
    <dgm:pt modelId="{8C66424B-1F9D-47C7-9D2B-186538259495}" type="pres">
      <dgm:prSet presAssocID="{242E6669-9458-417B-8CE8-F213C9BE8E8F}" presName="Name10" presStyleLbl="parChTrans1D2" presStyleIdx="1" presStyleCnt="2"/>
      <dgm:spPr/>
      <dgm:t>
        <a:bodyPr/>
        <a:lstStyle/>
        <a:p>
          <a:endParaRPr lang="zh-CN" altLang="en-US"/>
        </a:p>
      </dgm:t>
    </dgm:pt>
    <dgm:pt modelId="{881ACDB1-48EB-4C35-B05A-BF13C25530D9}" type="pres">
      <dgm:prSet presAssocID="{54D422F2-F17D-4D4E-80E0-8C18F67C64D0}" presName="hierRoot2" presStyleCnt="0"/>
      <dgm:spPr/>
    </dgm:pt>
    <dgm:pt modelId="{1FE70017-373C-422B-8941-3DCAA108D1CC}" type="pres">
      <dgm:prSet presAssocID="{54D422F2-F17D-4D4E-80E0-8C18F67C64D0}" presName="composite2" presStyleCnt="0"/>
      <dgm:spPr/>
    </dgm:pt>
    <dgm:pt modelId="{36F5F3C5-1ABA-4956-A5A9-F40FD24B4E7F}" type="pres">
      <dgm:prSet presAssocID="{54D422F2-F17D-4D4E-80E0-8C18F67C64D0}" presName="background2" presStyleLbl="node2" presStyleIdx="1" presStyleCnt="2"/>
      <dgm:spPr/>
    </dgm:pt>
    <dgm:pt modelId="{23B3FC64-983A-416A-A8CE-6A4FAAD171BA}" type="pres">
      <dgm:prSet presAssocID="{54D422F2-F17D-4D4E-80E0-8C18F67C64D0}" presName="text2" presStyleLbl="fgAcc2" presStyleIdx="1" presStyleCnt="2" custLinFactNeighborX="33777" custLinFactNeighborY="-8311">
        <dgm:presLayoutVars>
          <dgm:chPref val="3"/>
        </dgm:presLayoutVars>
      </dgm:prSet>
      <dgm:spPr/>
      <dgm:t>
        <a:bodyPr/>
        <a:lstStyle/>
        <a:p>
          <a:endParaRPr lang="zh-CN" altLang="en-US"/>
        </a:p>
      </dgm:t>
    </dgm:pt>
    <dgm:pt modelId="{C5232264-5951-477A-85F0-87178DFC0245}" type="pres">
      <dgm:prSet presAssocID="{54D422F2-F17D-4D4E-80E0-8C18F67C64D0}" presName="hierChild3" presStyleCnt="0"/>
      <dgm:spPr/>
    </dgm:pt>
    <dgm:pt modelId="{E83A7D1E-4114-43F1-A812-33B392201A34}" type="pres">
      <dgm:prSet presAssocID="{260A6818-D90B-4B1A-9901-B293B8F9007F}" presName="Name17" presStyleLbl="parChTrans1D3" presStyleIdx="0" presStyleCnt="5"/>
      <dgm:spPr/>
      <dgm:t>
        <a:bodyPr/>
        <a:lstStyle/>
        <a:p>
          <a:endParaRPr lang="zh-CN" altLang="en-US"/>
        </a:p>
      </dgm:t>
    </dgm:pt>
    <dgm:pt modelId="{0EC3666D-60CE-4ACE-B575-FE9BAAF1AF09}" type="pres">
      <dgm:prSet presAssocID="{59488975-C35F-4A56-8D57-D65A00052A05}" presName="hierRoot3" presStyleCnt="0"/>
      <dgm:spPr/>
    </dgm:pt>
    <dgm:pt modelId="{2B000DD4-72C7-4A0E-BC26-EBB461670B22}" type="pres">
      <dgm:prSet presAssocID="{59488975-C35F-4A56-8D57-D65A00052A05}" presName="composite3" presStyleCnt="0"/>
      <dgm:spPr/>
    </dgm:pt>
    <dgm:pt modelId="{95672042-CED3-4A5F-AB0F-9E6818902351}" type="pres">
      <dgm:prSet presAssocID="{59488975-C35F-4A56-8D57-D65A00052A05}" presName="background3" presStyleLbl="node3" presStyleIdx="0" presStyleCnt="5"/>
      <dgm:spPr/>
    </dgm:pt>
    <dgm:pt modelId="{805C9E28-5FD8-4665-8645-62D9AADBFA6F}" type="pres">
      <dgm:prSet presAssocID="{59488975-C35F-4A56-8D57-D65A00052A05}" presName="text3" presStyleLbl="fgAcc3" presStyleIdx="0" presStyleCnt="5" custLinFactNeighborX="-4923" custLinFactNeighborY="43197">
        <dgm:presLayoutVars>
          <dgm:chPref val="3"/>
        </dgm:presLayoutVars>
      </dgm:prSet>
      <dgm:spPr/>
      <dgm:t>
        <a:bodyPr/>
        <a:lstStyle/>
        <a:p>
          <a:endParaRPr lang="zh-CN" altLang="en-US"/>
        </a:p>
      </dgm:t>
    </dgm:pt>
    <dgm:pt modelId="{807B12A7-8ECA-4D2B-9241-C1F2774B16D9}" type="pres">
      <dgm:prSet presAssocID="{59488975-C35F-4A56-8D57-D65A00052A05}" presName="hierChild4" presStyleCnt="0"/>
      <dgm:spPr/>
    </dgm:pt>
    <dgm:pt modelId="{5FC66CB3-FCFF-4C83-91DF-0C5D78A19172}" type="pres">
      <dgm:prSet presAssocID="{4F06052B-CDAA-415D-991E-B7976BF92601}" presName="Name17" presStyleLbl="parChTrans1D3" presStyleIdx="1" presStyleCnt="5"/>
      <dgm:spPr/>
      <dgm:t>
        <a:bodyPr/>
        <a:lstStyle/>
        <a:p>
          <a:endParaRPr lang="zh-CN" altLang="en-US"/>
        </a:p>
      </dgm:t>
    </dgm:pt>
    <dgm:pt modelId="{10843692-0518-4ED1-B8BF-F823F1116DE4}" type="pres">
      <dgm:prSet presAssocID="{6470F6BC-00F7-4DA6-93A8-F97A9899CD78}" presName="hierRoot3" presStyleCnt="0"/>
      <dgm:spPr/>
    </dgm:pt>
    <dgm:pt modelId="{F177DF61-DAFF-44B4-9E3A-A7409762D5FD}" type="pres">
      <dgm:prSet presAssocID="{6470F6BC-00F7-4DA6-93A8-F97A9899CD78}" presName="composite3" presStyleCnt="0"/>
      <dgm:spPr/>
    </dgm:pt>
    <dgm:pt modelId="{546B27CD-5670-4DEE-A9D9-324077DCED58}" type="pres">
      <dgm:prSet presAssocID="{6470F6BC-00F7-4DA6-93A8-F97A9899CD78}" presName="background3" presStyleLbl="node3" presStyleIdx="1" presStyleCnt="5"/>
      <dgm:spPr/>
    </dgm:pt>
    <dgm:pt modelId="{46434381-3127-4224-8C5C-0698D7F9E58F}" type="pres">
      <dgm:prSet presAssocID="{6470F6BC-00F7-4DA6-93A8-F97A9899CD78}" presName="text3" presStyleLbl="fgAcc3" presStyleIdx="1" presStyleCnt="5" custLinFactNeighborX="-4923" custLinFactNeighborY="43197">
        <dgm:presLayoutVars>
          <dgm:chPref val="3"/>
        </dgm:presLayoutVars>
      </dgm:prSet>
      <dgm:spPr/>
      <dgm:t>
        <a:bodyPr/>
        <a:lstStyle/>
        <a:p>
          <a:endParaRPr lang="zh-CN" altLang="en-US"/>
        </a:p>
      </dgm:t>
    </dgm:pt>
    <dgm:pt modelId="{699E15A3-0FA3-4CDB-A306-3E3D75A748A8}" type="pres">
      <dgm:prSet presAssocID="{6470F6BC-00F7-4DA6-93A8-F97A9899CD78}" presName="hierChild4" presStyleCnt="0"/>
      <dgm:spPr/>
    </dgm:pt>
    <dgm:pt modelId="{11D8B0CC-D25C-4BB9-B11F-28B2893992DF}" type="pres">
      <dgm:prSet presAssocID="{42A2902F-D992-426C-821C-A91B95BC4C18}" presName="Name17" presStyleLbl="parChTrans1D3" presStyleIdx="2" presStyleCnt="5"/>
      <dgm:spPr/>
      <dgm:t>
        <a:bodyPr/>
        <a:lstStyle/>
        <a:p>
          <a:endParaRPr lang="zh-CN" altLang="en-US"/>
        </a:p>
      </dgm:t>
    </dgm:pt>
    <dgm:pt modelId="{53EED203-82FC-4314-A5AF-4ED6043EA1F4}" type="pres">
      <dgm:prSet presAssocID="{B32DF41B-8F31-4C07-870A-11CD9A0429C0}" presName="hierRoot3" presStyleCnt="0"/>
      <dgm:spPr/>
    </dgm:pt>
    <dgm:pt modelId="{DA77E0F3-1F86-4A69-91C1-13F1F2583148}" type="pres">
      <dgm:prSet presAssocID="{B32DF41B-8F31-4C07-870A-11CD9A0429C0}" presName="composite3" presStyleCnt="0"/>
      <dgm:spPr/>
    </dgm:pt>
    <dgm:pt modelId="{16E3920D-E329-46D3-B16F-B02B190F8133}" type="pres">
      <dgm:prSet presAssocID="{B32DF41B-8F31-4C07-870A-11CD9A0429C0}" presName="background3" presStyleLbl="node3" presStyleIdx="2" presStyleCnt="5"/>
      <dgm:spPr/>
    </dgm:pt>
    <dgm:pt modelId="{2547C396-7EDC-4F5A-82F1-CFAC2F181A6F}" type="pres">
      <dgm:prSet presAssocID="{B32DF41B-8F31-4C07-870A-11CD9A0429C0}" presName="text3" presStyleLbl="fgAcc3" presStyleIdx="2" presStyleCnt="5" custLinFactNeighborX="-4923" custLinFactNeighborY="43197">
        <dgm:presLayoutVars>
          <dgm:chPref val="3"/>
        </dgm:presLayoutVars>
      </dgm:prSet>
      <dgm:spPr/>
      <dgm:t>
        <a:bodyPr/>
        <a:lstStyle/>
        <a:p>
          <a:endParaRPr lang="zh-CN" altLang="en-US"/>
        </a:p>
      </dgm:t>
    </dgm:pt>
    <dgm:pt modelId="{47E4922C-9BBB-44BC-8B18-1DD415A31E34}" type="pres">
      <dgm:prSet presAssocID="{B32DF41B-8F31-4C07-870A-11CD9A0429C0}" presName="hierChild4" presStyleCnt="0"/>
      <dgm:spPr/>
    </dgm:pt>
    <dgm:pt modelId="{6FA430B5-9275-492C-8F4C-471DBCA2B8C0}" type="pres">
      <dgm:prSet presAssocID="{00E659BE-968E-48BA-A987-3BA81F7E2110}" presName="Name17" presStyleLbl="parChTrans1D3" presStyleIdx="3" presStyleCnt="5"/>
      <dgm:spPr/>
      <dgm:t>
        <a:bodyPr/>
        <a:lstStyle/>
        <a:p>
          <a:endParaRPr lang="zh-CN" altLang="en-US"/>
        </a:p>
      </dgm:t>
    </dgm:pt>
    <dgm:pt modelId="{1A4E0589-68CF-4DE9-BAB3-4D057E5645D2}" type="pres">
      <dgm:prSet presAssocID="{FB68B7A5-5CBB-49C8-B3BA-60A574EFCADB}" presName="hierRoot3" presStyleCnt="0"/>
      <dgm:spPr/>
    </dgm:pt>
    <dgm:pt modelId="{A2288829-0EF6-49A0-90DE-0BDF4D35D581}" type="pres">
      <dgm:prSet presAssocID="{FB68B7A5-5CBB-49C8-B3BA-60A574EFCADB}" presName="composite3" presStyleCnt="0"/>
      <dgm:spPr/>
    </dgm:pt>
    <dgm:pt modelId="{963E961F-3063-4D77-85D0-1A78CB6B38D4}" type="pres">
      <dgm:prSet presAssocID="{FB68B7A5-5CBB-49C8-B3BA-60A574EFCADB}" presName="background3" presStyleLbl="node3" presStyleIdx="3" presStyleCnt="5"/>
      <dgm:spPr/>
    </dgm:pt>
    <dgm:pt modelId="{B6696540-272F-47AC-A076-8B7D459771DA}" type="pres">
      <dgm:prSet presAssocID="{FB68B7A5-5CBB-49C8-B3BA-60A574EFCADB}" presName="text3" presStyleLbl="fgAcc3" presStyleIdx="3" presStyleCnt="5" custLinFactNeighborX="-4923" custLinFactNeighborY="43197">
        <dgm:presLayoutVars>
          <dgm:chPref val="3"/>
        </dgm:presLayoutVars>
      </dgm:prSet>
      <dgm:spPr/>
      <dgm:t>
        <a:bodyPr/>
        <a:lstStyle/>
        <a:p>
          <a:endParaRPr lang="zh-CN" altLang="en-US"/>
        </a:p>
      </dgm:t>
    </dgm:pt>
    <dgm:pt modelId="{6AAECC24-0CB3-4410-8C1E-D7F7663AED9D}" type="pres">
      <dgm:prSet presAssocID="{FB68B7A5-5CBB-49C8-B3BA-60A574EFCADB}" presName="hierChild4" presStyleCnt="0"/>
      <dgm:spPr/>
    </dgm:pt>
    <dgm:pt modelId="{44525020-7A0F-4A33-9096-2B5187F6ACA0}" type="pres">
      <dgm:prSet presAssocID="{DE24D44C-CBED-4534-BF57-6F972C3C130E}" presName="Name17" presStyleLbl="parChTrans1D3" presStyleIdx="4" presStyleCnt="5"/>
      <dgm:spPr/>
      <dgm:t>
        <a:bodyPr/>
        <a:lstStyle/>
        <a:p>
          <a:endParaRPr lang="zh-CN" altLang="en-US"/>
        </a:p>
      </dgm:t>
    </dgm:pt>
    <dgm:pt modelId="{908C58BC-8140-4864-85F6-053D839EBF57}" type="pres">
      <dgm:prSet presAssocID="{D6D72EC6-91E5-41C9-92D4-0C26BAA838C2}" presName="hierRoot3" presStyleCnt="0"/>
      <dgm:spPr/>
    </dgm:pt>
    <dgm:pt modelId="{D8B80D9A-0ECC-4706-A7F4-BBC5C46F3DB0}" type="pres">
      <dgm:prSet presAssocID="{D6D72EC6-91E5-41C9-92D4-0C26BAA838C2}" presName="composite3" presStyleCnt="0"/>
      <dgm:spPr/>
    </dgm:pt>
    <dgm:pt modelId="{CB1A7389-C8CD-4A4F-A9AB-8093CF64A947}" type="pres">
      <dgm:prSet presAssocID="{D6D72EC6-91E5-41C9-92D4-0C26BAA838C2}" presName="background3" presStyleLbl="node3" presStyleIdx="4" presStyleCnt="5"/>
      <dgm:spPr/>
    </dgm:pt>
    <dgm:pt modelId="{346EA016-D91E-445C-9D53-C1BDFCF8FBAE}" type="pres">
      <dgm:prSet presAssocID="{D6D72EC6-91E5-41C9-92D4-0C26BAA838C2}" presName="text3" presStyleLbl="fgAcc3" presStyleIdx="4" presStyleCnt="5" custLinFactNeighborX="-4923" custLinFactNeighborY="43197">
        <dgm:presLayoutVars>
          <dgm:chPref val="3"/>
        </dgm:presLayoutVars>
      </dgm:prSet>
      <dgm:spPr/>
      <dgm:t>
        <a:bodyPr/>
        <a:lstStyle/>
        <a:p>
          <a:endParaRPr lang="zh-CN" altLang="en-US"/>
        </a:p>
      </dgm:t>
    </dgm:pt>
    <dgm:pt modelId="{1B5CEDF6-96C4-4961-BD1C-0562C14D37AA}" type="pres">
      <dgm:prSet presAssocID="{D6D72EC6-91E5-41C9-92D4-0C26BAA838C2}" presName="hierChild4" presStyleCnt="0"/>
      <dgm:spPr/>
    </dgm:pt>
  </dgm:ptLst>
  <dgm:cxnLst>
    <dgm:cxn modelId="{CD61775C-66D8-4910-972F-FA53A2D20BB8}" srcId="{60D5C615-17DF-411F-A041-5485DFD56AAC}" destId="{5329AF2C-097F-47E0-AA67-7FC48AB9D788}" srcOrd="0" destOrd="0" parTransId="{34441EE5-B9A7-4F50-BD4F-50BC1A3E6323}" sibTransId="{558BA004-E7C3-4DD2-B287-DAFB008D4F07}"/>
    <dgm:cxn modelId="{0B5E6585-33CD-469C-A7C7-8FBDE5741FCF}" srcId="{54D422F2-F17D-4D4E-80E0-8C18F67C64D0}" destId="{B32DF41B-8F31-4C07-870A-11CD9A0429C0}" srcOrd="2" destOrd="0" parTransId="{42A2902F-D992-426C-821C-A91B95BC4C18}" sibTransId="{875CFE0F-86CA-4B23-8E3C-8C86881CF3CC}"/>
    <dgm:cxn modelId="{D82F80EB-9B1E-48A0-810B-E1C902B931C7}" srcId="{AF681F9E-C3C3-466C-B322-5B6C411F1487}" destId="{60D5C615-17DF-411F-A041-5485DFD56AAC}" srcOrd="0" destOrd="0" parTransId="{2C23044A-CDAF-436C-B7B9-1CBB10226378}" sibTransId="{69F834AC-65D5-46E0-800B-A1529DFEB6D8}"/>
    <dgm:cxn modelId="{14A7A0D1-B335-432A-A99B-B9353B082EC1}" type="presOf" srcId="{242E6669-9458-417B-8CE8-F213C9BE8E8F}" destId="{8C66424B-1F9D-47C7-9D2B-186538259495}" srcOrd="0" destOrd="0" presId="urn:microsoft.com/office/officeart/2005/8/layout/hierarchy1"/>
    <dgm:cxn modelId="{671C8065-B905-49CB-9A3F-F9361923BF7B}" srcId="{60D5C615-17DF-411F-A041-5485DFD56AAC}" destId="{54D422F2-F17D-4D4E-80E0-8C18F67C64D0}" srcOrd="1" destOrd="0" parTransId="{242E6669-9458-417B-8CE8-F213C9BE8E8F}" sibTransId="{D039EE51-F099-4BC0-8C91-621442C87746}"/>
    <dgm:cxn modelId="{C749531C-9FA1-4310-97F1-950512141CAF}" type="presOf" srcId="{FB68B7A5-5CBB-49C8-B3BA-60A574EFCADB}" destId="{B6696540-272F-47AC-A076-8B7D459771DA}" srcOrd="0" destOrd="0" presId="urn:microsoft.com/office/officeart/2005/8/layout/hierarchy1"/>
    <dgm:cxn modelId="{74BC9E7A-5C9E-494B-96D8-7E6D338C02E8}" type="presOf" srcId="{DE24D44C-CBED-4534-BF57-6F972C3C130E}" destId="{44525020-7A0F-4A33-9096-2B5187F6ACA0}" srcOrd="0" destOrd="0" presId="urn:microsoft.com/office/officeart/2005/8/layout/hierarchy1"/>
    <dgm:cxn modelId="{936E1436-355E-45B7-94C9-A09E92767737}" srcId="{54D422F2-F17D-4D4E-80E0-8C18F67C64D0}" destId="{D6D72EC6-91E5-41C9-92D4-0C26BAA838C2}" srcOrd="4" destOrd="0" parTransId="{DE24D44C-CBED-4534-BF57-6F972C3C130E}" sibTransId="{AFB798E2-4F07-482E-AF24-DC3C2CE65CC6}"/>
    <dgm:cxn modelId="{BDD647B6-C0E3-41C9-988D-B1A8ED4C9BAA}" type="presOf" srcId="{42A2902F-D992-426C-821C-A91B95BC4C18}" destId="{11D8B0CC-D25C-4BB9-B11F-28B2893992DF}" srcOrd="0" destOrd="0" presId="urn:microsoft.com/office/officeart/2005/8/layout/hierarchy1"/>
    <dgm:cxn modelId="{0F51CFA4-B29D-454A-B49B-0A7814C288CE}" type="presOf" srcId="{54D422F2-F17D-4D4E-80E0-8C18F67C64D0}" destId="{23B3FC64-983A-416A-A8CE-6A4FAAD171BA}" srcOrd="0" destOrd="0" presId="urn:microsoft.com/office/officeart/2005/8/layout/hierarchy1"/>
    <dgm:cxn modelId="{B7375F09-8515-4F1B-8850-D352304E8FD5}" type="presOf" srcId="{34441EE5-B9A7-4F50-BD4F-50BC1A3E6323}" destId="{BE0536CF-1697-4E5C-AF1B-0C790FBA2423}" srcOrd="0" destOrd="0" presId="urn:microsoft.com/office/officeart/2005/8/layout/hierarchy1"/>
    <dgm:cxn modelId="{DEB96E73-46CC-4DE6-9554-83C36CC22D37}" type="presOf" srcId="{00E659BE-968E-48BA-A987-3BA81F7E2110}" destId="{6FA430B5-9275-492C-8F4C-471DBCA2B8C0}" srcOrd="0" destOrd="0" presId="urn:microsoft.com/office/officeart/2005/8/layout/hierarchy1"/>
    <dgm:cxn modelId="{203C5F5E-2983-433E-94BE-4E596A924C73}" type="presOf" srcId="{260A6818-D90B-4B1A-9901-B293B8F9007F}" destId="{E83A7D1E-4114-43F1-A812-33B392201A34}" srcOrd="0" destOrd="0" presId="urn:microsoft.com/office/officeart/2005/8/layout/hierarchy1"/>
    <dgm:cxn modelId="{F32CB223-CD5B-4BF2-9479-8C0894511CC0}" type="presOf" srcId="{59488975-C35F-4A56-8D57-D65A00052A05}" destId="{805C9E28-5FD8-4665-8645-62D9AADBFA6F}" srcOrd="0" destOrd="0" presId="urn:microsoft.com/office/officeart/2005/8/layout/hierarchy1"/>
    <dgm:cxn modelId="{56CF2648-F83A-45EA-A7AA-B954ED7690E5}" type="presOf" srcId="{6470F6BC-00F7-4DA6-93A8-F97A9899CD78}" destId="{46434381-3127-4224-8C5C-0698D7F9E58F}" srcOrd="0" destOrd="0" presId="urn:microsoft.com/office/officeart/2005/8/layout/hierarchy1"/>
    <dgm:cxn modelId="{10A408E4-47EE-47CC-ABE7-C51863A5AA09}" type="presOf" srcId="{60D5C615-17DF-411F-A041-5485DFD56AAC}" destId="{6E08CEA8-D17A-498B-8701-A6053CA1E2BA}" srcOrd="0" destOrd="0" presId="urn:microsoft.com/office/officeart/2005/8/layout/hierarchy1"/>
    <dgm:cxn modelId="{9FCDE5BD-9F54-41E2-8265-F99701E384C8}" type="presOf" srcId="{4F06052B-CDAA-415D-991E-B7976BF92601}" destId="{5FC66CB3-FCFF-4C83-91DF-0C5D78A19172}" srcOrd="0" destOrd="0" presId="urn:microsoft.com/office/officeart/2005/8/layout/hierarchy1"/>
    <dgm:cxn modelId="{554383BB-49BC-4197-A28E-D1307BB5E551}" type="presOf" srcId="{5329AF2C-097F-47E0-AA67-7FC48AB9D788}" destId="{1E917035-A5BB-4CD9-9EEF-489DF78A19A3}" srcOrd="0" destOrd="0" presId="urn:microsoft.com/office/officeart/2005/8/layout/hierarchy1"/>
    <dgm:cxn modelId="{5EF3419E-DCA5-46AA-9AA7-05B45958BE45}" type="presOf" srcId="{D6D72EC6-91E5-41C9-92D4-0C26BAA838C2}" destId="{346EA016-D91E-445C-9D53-C1BDFCF8FBAE}" srcOrd="0" destOrd="0" presId="urn:microsoft.com/office/officeart/2005/8/layout/hierarchy1"/>
    <dgm:cxn modelId="{81487C04-C575-49A6-902B-140466AB0C1B}" srcId="{54D422F2-F17D-4D4E-80E0-8C18F67C64D0}" destId="{FB68B7A5-5CBB-49C8-B3BA-60A574EFCADB}" srcOrd="3" destOrd="0" parTransId="{00E659BE-968E-48BA-A987-3BA81F7E2110}" sibTransId="{AACA2ADD-C13C-4E67-AF5A-DD74F65BFA8F}"/>
    <dgm:cxn modelId="{73C0B7FD-A29D-4959-B10E-09E328632ED4}" type="presOf" srcId="{B32DF41B-8F31-4C07-870A-11CD9A0429C0}" destId="{2547C396-7EDC-4F5A-82F1-CFAC2F181A6F}" srcOrd="0" destOrd="0" presId="urn:microsoft.com/office/officeart/2005/8/layout/hierarchy1"/>
    <dgm:cxn modelId="{06E4942E-2AAD-4F22-9A18-5721227B1A6F}" type="presOf" srcId="{AF681F9E-C3C3-466C-B322-5B6C411F1487}" destId="{A385B7F1-B3C5-4B55-9DFF-F4B82890C0A8}" srcOrd="0" destOrd="0" presId="urn:microsoft.com/office/officeart/2005/8/layout/hierarchy1"/>
    <dgm:cxn modelId="{BAC90E13-F48A-48CF-A420-071C5D07A534}" srcId="{54D422F2-F17D-4D4E-80E0-8C18F67C64D0}" destId="{6470F6BC-00F7-4DA6-93A8-F97A9899CD78}" srcOrd="1" destOrd="0" parTransId="{4F06052B-CDAA-415D-991E-B7976BF92601}" sibTransId="{FD10F52E-B507-465D-BA7D-5459A098F4F1}"/>
    <dgm:cxn modelId="{02BE2E49-8BC8-438F-BA9B-C37D817B7CF6}" srcId="{54D422F2-F17D-4D4E-80E0-8C18F67C64D0}" destId="{59488975-C35F-4A56-8D57-D65A00052A05}" srcOrd="0" destOrd="0" parTransId="{260A6818-D90B-4B1A-9901-B293B8F9007F}" sibTransId="{079726A9-4578-4641-BDDB-5E2939F9BDCD}"/>
    <dgm:cxn modelId="{8BB37467-185E-4B03-B9FD-B5764BAA7428}" type="presParOf" srcId="{A385B7F1-B3C5-4B55-9DFF-F4B82890C0A8}" destId="{53F80620-8E54-47BD-AD7E-D117019D0A6E}" srcOrd="0" destOrd="0" presId="urn:microsoft.com/office/officeart/2005/8/layout/hierarchy1"/>
    <dgm:cxn modelId="{8C41668C-C029-4DC1-9734-9701820DEF3A}" type="presParOf" srcId="{53F80620-8E54-47BD-AD7E-D117019D0A6E}" destId="{CEC13D98-20C8-4B81-B8BE-1054AE622680}" srcOrd="0" destOrd="0" presId="urn:microsoft.com/office/officeart/2005/8/layout/hierarchy1"/>
    <dgm:cxn modelId="{E79ABEC7-7C78-414F-8B0F-21C0821159C0}" type="presParOf" srcId="{CEC13D98-20C8-4B81-B8BE-1054AE622680}" destId="{18C80703-8DCF-497D-BAC9-622A223A992B}" srcOrd="0" destOrd="0" presId="urn:microsoft.com/office/officeart/2005/8/layout/hierarchy1"/>
    <dgm:cxn modelId="{FFAEEF25-6282-43CD-B551-31CFBE3055D6}" type="presParOf" srcId="{CEC13D98-20C8-4B81-B8BE-1054AE622680}" destId="{6E08CEA8-D17A-498B-8701-A6053CA1E2BA}" srcOrd="1" destOrd="0" presId="urn:microsoft.com/office/officeart/2005/8/layout/hierarchy1"/>
    <dgm:cxn modelId="{05A4E9BD-DA43-49C5-ADF8-CD42C951AF9F}" type="presParOf" srcId="{53F80620-8E54-47BD-AD7E-D117019D0A6E}" destId="{16846EED-FA01-4E13-B5A7-82A5424D3783}" srcOrd="1" destOrd="0" presId="urn:microsoft.com/office/officeart/2005/8/layout/hierarchy1"/>
    <dgm:cxn modelId="{68794BEB-8993-42F2-A028-A2ABCE3E3727}" type="presParOf" srcId="{16846EED-FA01-4E13-B5A7-82A5424D3783}" destId="{BE0536CF-1697-4E5C-AF1B-0C790FBA2423}" srcOrd="0" destOrd="0" presId="urn:microsoft.com/office/officeart/2005/8/layout/hierarchy1"/>
    <dgm:cxn modelId="{51BDCDFF-861B-4281-9029-8846B1112DD1}" type="presParOf" srcId="{16846EED-FA01-4E13-B5A7-82A5424D3783}" destId="{7FE72F22-DAF1-436F-A79A-BC82B73498FC}" srcOrd="1" destOrd="0" presId="urn:microsoft.com/office/officeart/2005/8/layout/hierarchy1"/>
    <dgm:cxn modelId="{F88F9D76-E130-400B-ABBC-0EB65D4B3EB3}" type="presParOf" srcId="{7FE72F22-DAF1-436F-A79A-BC82B73498FC}" destId="{1FFAEDBC-34A9-498B-8AB6-4AF5F9FFD2A5}" srcOrd="0" destOrd="0" presId="urn:microsoft.com/office/officeart/2005/8/layout/hierarchy1"/>
    <dgm:cxn modelId="{5E233070-5CCD-44A1-88A0-07945C433287}" type="presParOf" srcId="{1FFAEDBC-34A9-498B-8AB6-4AF5F9FFD2A5}" destId="{E4470D51-54F2-488C-A455-388E04CA8EBE}" srcOrd="0" destOrd="0" presId="urn:microsoft.com/office/officeart/2005/8/layout/hierarchy1"/>
    <dgm:cxn modelId="{8FB8FC51-1FAD-4390-9E4C-94B287EF159F}" type="presParOf" srcId="{1FFAEDBC-34A9-498B-8AB6-4AF5F9FFD2A5}" destId="{1E917035-A5BB-4CD9-9EEF-489DF78A19A3}" srcOrd="1" destOrd="0" presId="urn:microsoft.com/office/officeart/2005/8/layout/hierarchy1"/>
    <dgm:cxn modelId="{2F2F42E4-462E-42C2-8CEE-E270696E7DA7}" type="presParOf" srcId="{7FE72F22-DAF1-436F-A79A-BC82B73498FC}" destId="{EDC5572A-E5FA-40FA-9993-067B6CD42655}" srcOrd="1" destOrd="0" presId="urn:microsoft.com/office/officeart/2005/8/layout/hierarchy1"/>
    <dgm:cxn modelId="{060A2EFE-C603-4773-9291-F1E9618E9D1C}" type="presParOf" srcId="{16846EED-FA01-4E13-B5A7-82A5424D3783}" destId="{8C66424B-1F9D-47C7-9D2B-186538259495}" srcOrd="2" destOrd="0" presId="urn:microsoft.com/office/officeart/2005/8/layout/hierarchy1"/>
    <dgm:cxn modelId="{4E3F4B33-A470-4592-8B62-CC2719E963CE}" type="presParOf" srcId="{16846EED-FA01-4E13-B5A7-82A5424D3783}" destId="{881ACDB1-48EB-4C35-B05A-BF13C25530D9}" srcOrd="3" destOrd="0" presId="urn:microsoft.com/office/officeart/2005/8/layout/hierarchy1"/>
    <dgm:cxn modelId="{E319C32D-0E38-45F4-8201-FF56D30F90A1}" type="presParOf" srcId="{881ACDB1-48EB-4C35-B05A-BF13C25530D9}" destId="{1FE70017-373C-422B-8941-3DCAA108D1CC}" srcOrd="0" destOrd="0" presId="urn:microsoft.com/office/officeart/2005/8/layout/hierarchy1"/>
    <dgm:cxn modelId="{23E30CA4-3A9F-4360-9808-600BAB3846E9}" type="presParOf" srcId="{1FE70017-373C-422B-8941-3DCAA108D1CC}" destId="{36F5F3C5-1ABA-4956-A5A9-F40FD24B4E7F}" srcOrd="0" destOrd="0" presId="urn:microsoft.com/office/officeart/2005/8/layout/hierarchy1"/>
    <dgm:cxn modelId="{31FC280D-7E72-4C75-A2C5-24A1BD629E18}" type="presParOf" srcId="{1FE70017-373C-422B-8941-3DCAA108D1CC}" destId="{23B3FC64-983A-416A-A8CE-6A4FAAD171BA}" srcOrd="1" destOrd="0" presId="urn:microsoft.com/office/officeart/2005/8/layout/hierarchy1"/>
    <dgm:cxn modelId="{A196C9CE-82E8-441D-A27B-E345689D8ECB}" type="presParOf" srcId="{881ACDB1-48EB-4C35-B05A-BF13C25530D9}" destId="{C5232264-5951-477A-85F0-87178DFC0245}" srcOrd="1" destOrd="0" presId="urn:microsoft.com/office/officeart/2005/8/layout/hierarchy1"/>
    <dgm:cxn modelId="{242F3356-003B-40FE-96DE-EE1EDA1CE253}" type="presParOf" srcId="{C5232264-5951-477A-85F0-87178DFC0245}" destId="{E83A7D1E-4114-43F1-A812-33B392201A34}" srcOrd="0" destOrd="0" presId="urn:microsoft.com/office/officeart/2005/8/layout/hierarchy1"/>
    <dgm:cxn modelId="{515D8424-1D5E-42D7-8A38-0FCE1A22792A}" type="presParOf" srcId="{C5232264-5951-477A-85F0-87178DFC0245}" destId="{0EC3666D-60CE-4ACE-B575-FE9BAAF1AF09}" srcOrd="1" destOrd="0" presId="urn:microsoft.com/office/officeart/2005/8/layout/hierarchy1"/>
    <dgm:cxn modelId="{F668A59B-285F-49C1-B9C1-1D6C9B4B3A0E}" type="presParOf" srcId="{0EC3666D-60CE-4ACE-B575-FE9BAAF1AF09}" destId="{2B000DD4-72C7-4A0E-BC26-EBB461670B22}" srcOrd="0" destOrd="0" presId="urn:microsoft.com/office/officeart/2005/8/layout/hierarchy1"/>
    <dgm:cxn modelId="{41AA35CB-C8B6-4AC8-A24B-5336A790F262}" type="presParOf" srcId="{2B000DD4-72C7-4A0E-BC26-EBB461670B22}" destId="{95672042-CED3-4A5F-AB0F-9E6818902351}" srcOrd="0" destOrd="0" presId="urn:microsoft.com/office/officeart/2005/8/layout/hierarchy1"/>
    <dgm:cxn modelId="{47D752E8-3C8A-404D-9ABD-135EEE0A442E}" type="presParOf" srcId="{2B000DD4-72C7-4A0E-BC26-EBB461670B22}" destId="{805C9E28-5FD8-4665-8645-62D9AADBFA6F}" srcOrd="1" destOrd="0" presId="urn:microsoft.com/office/officeart/2005/8/layout/hierarchy1"/>
    <dgm:cxn modelId="{3D805B68-95F7-4302-9CE0-50B4A56CC47F}" type="presParOf" srcId="{0EC3666D-60CE-4ACE-B575-FE9BAAF1AF09}" destId="{807B12A7-8ECA-4D2B-9241-C1F2774B16D9}" srcOrd="1" destOrd="0" presId="urn:microsoft.com/office/officeart/2005/8/layout/hierarchy1"/>
    <dgm:cxn modelId="{1DAC2EB0-F2EC-4C9B-A0FE-A8ADB1CB4029}" type="presParOf" srcId="{C5232264-5951-477A-85F0-87178DFC0245}" destId="{5FC66CB3-FCFF-4C83-91DF-0C5D78A19172}" srcOrd="2" destOrd="0" presId="urn:microsoft.com/office/officeart/2005/8/layout/hierarchy1"/>
    <dgm:cxn modelId="{42AD93E8-C50C-443F-AEDE-255321EF794A}" type="presParOf" srcId="{C5232264-5951-477A-85F0-87178DFC0245}" destId="{10843692-0518-4ED1-B8BF-F823F1116DE4}" srcOrd="3" destOrd="0" presId="urn:microsoft.com/office/officeart/2005/8/layout/hierarchy1"/>
    <dgm:cxn modelId="{57186C9D-45A4-48AD-95A5-81700C17949C}" type="presParOf" srcId="{10843692-0518-4ED1-B8BF-F823F1116DE4}" destId="{F177DF61-DAFF-44B4-9E3A-A7409762D5FD}" srcOrd="0" destOrd="0" presId="urn:microsoft.com/office/officeart/2005/8/layout/hierarchy1"/>
    <dgm:cxn modelId="{E021F80C-5766-4E37-BF07-0B3084B00C88}" type="presParOf" srcId="{F177DF61-DAFF-44B4-9E3A-A7409762D5FD}" destId="{546B27CD-5670-4DEE-A9D9-324077DCED58}" srcOrd="0" destOrd="0" presId="urn:microsoft.com/office/officeart/2005/8/layout/hierarchy1"/>
    <dgm:cxn modelId="{BC2CF69D-C131-4114-B5DB-45FDCA93586C}" type="presParOf" srcId="{F177DF61-DAFF-44B4-9E3A-A7409762D5FD}" destId="{46434381-3127-4224-8C5C-0698D7F9E58F}" srcOrd="1" destOrd="0" presId="urn:microsoft.com/office/officeart/2005/8/layout/hierarchy1"/>
    <dgm:cxn modelId="{FBCF8225-DC66-41CD-B70E-6DBA20ED14F2}" type="presParOf" srcId="{10843692-0518-4ED1-B8BF-F823F1116DE4}" destId="{699E15A3-0FA3-4CDB-A306-3E3D75A748A8}" srcOrd="1" destOrd="0" presId="urn:microsoft.com/office/officeart/2005/8/layout/hierarchy1"/>
    <dgm:cxn modelId="{8883E4B8-2990-4665-AF21-F0B72973450C}" type="presParOf" srcId="{C5232264-5951-477A-85F0-87178DFC0245}" destId="{11D8B0CC-D25C-4BB9-B11F-28B2893992DF}" srcOrd="4" destOrd="0" presId="urn:microsoft.com/office/officeart/2005/8/layout/hierarchy1"/>
    <dgm:cxn modelId="{99787754-354C-40C2-808F-441DF76DB514}" type="presParOf" srcId="{C5232264-5951-477A-85F0-87178DFC0245}" destId="{53EED203-82FC-4314-A5AF-4ED6043EA1F4}" srcOrd="5" destOrd="0" presId="urn:microsoft.com/office/officeart/2005/8/layout/hierarchy1"/>
    <dgm:cxn modelId="{FD4ADDDE-D46B-4367-8C22-9060A541A868}" type="presParOf" srcId="{53EED203-82FC-4314-A5AF-4ED6043EA1F4}" destId="{DA77E0F3-1F86-4A69-91C1-13F1F2583148}" srcOrd="0" destOrd="0" presId="urn:microsoft.com/office/officeart/2005/8/layout/hierarchy1"/>
    <dgm:cxn modelId="{0BD2AD2A-EFD5-4EFE-B563-D6171B82C127}" type="presParOf" srcId="{DA77E0F3-1F86-4A69-91C1-13F1F2583148}" destId="{16E3920D-E329-46D3-B16F-B02B190F8133}" srcOrd="0" destOrd="0" presId="urn:microsoft.com/office/officeart/2005/8/layout/hierarchy1"/>
    <dgm:cxn modelId="{15091711-726C-4B38-87BB-E9D5AAEF6141}" type="presParOf" srcId="{DA77E0F3-1F86-4A69-91C1-13F1F2583148}" destId="{2547C396-7EDC-4F5A-82F1-CFAC2F181A6F}" srcOrd="1" destOrd="0" presId="urn:microsoft.com/office/officeart/2005/8/layout/hierarchy1"/>
    <dgm:cxn modelId="{57BEB28C-79C9-4292-AB4F-46CDA7109E3E}" type="presParOf" srcId="{53EED203-82FC-4314-A5AF-4ED6043EA1F4}" destId="{47E4922C-9BBB-44BC-8B18-1DD415A31E34}" srcOrd="1" destOrd="0" presId="urn:microsoft.com/office/officeart/2005/8/layout/hierarchy1"/>
    <dgm:cxn modelId="{06799889-A320-47DE-BDE6-FC0283037E71}" type="presParOf" srcId="{C5232264-5951-477A-85F0-87178DFC0245}" destId="{6FA430B5-9275-492C-8F4C-471DBCA2B8C0}" srcOrd="6" destOrd="0" presId="urn:microsoft.com/office/officeart/2005/8/layout/hierarchy1"/>
    <dgm:cxn modelId="{4C742161-4A7A-4FB4-BBA7-CB21F6E2F97D}" type="presParOf" srcId="{C5232264-5951-477A-85F0-87178DFC0245}" destId="{1A4E0589-68CF-4DE9-BAB3-4D057E5645D2}" srcOrd="7" destOrd="0" presId="urn:microsoft.com/office/officeart/2005/8/layout/hierarchy1"/>
    <dgm:cxn modelId="{2A58C164-6F34-4451-9D0A-0273FD035AFB}" type="presParOf" srcId="{1A4E0589-68CF-4DE9-BAB3-4D057E5645D2}" destId="{A2288829-0EF6-49A0-90DE-0BDF4D35D581}" srcOrd="0" destOrd="0" presId="urn:microsoft.com/office/officeart/2005/8/layout/hierarchy1"/>
    <dgm:cxn modelId="{F94A13A2-E3DA-4B7E-9198-5BB24ACFFBD2}" type="presParOf" srcId="{A2288829-0EF6-49A0-90DE-0BDF4D35D581}" destId="{963E961F-3063-4D77-85D0-1A78CB6B38D4}" srcOrd="0" destOrd="0" presId="urn:microsoft.com/office/officeart/2005/8/layout/hierarchy1"/>
    <dgm:cxn modelId="{D3D2C5F1-1D75-4C77-BA4C-D60C5A3AA8F9}" type="presParOf" srcId="{A2288829-0EF6-49A0-90DE-0BDF4D35D581}" destId="{B6696540-272F-47AC-A076-8B7D459771DA}" srcOrd="1" destOrd="0" presId="urn:microsoft.com/office/officeart/2005/8/layout/hierarchy1"/>
    <dgm:cxn modelId="{4E74212D-2542-433C-969A-164AC5936820}" type="presParOf" srcId="{1A4E0589-68CF-4DE9-BAB3-4D057E5645D2}" destId="{6AAECC24-0CB3-4410-8C1E-D7F7663AED9D}" srcOrd="1" destOrd="0" presId="urn:microsoft.com/office/officeart/2005/8/layout/hierarchy1"/>
    <dgm:cxn modelId="{78DCDE96-8E79-46A1-9B24-F00723FE9869}" type="presParOf" srcId="{C5232264-5951-477A-85F0-87178DFC0245}" destId="{44525020-7A0F-4A33-9096-2B5187F6ACA0}" srcOrd="8" destOrd="0" presId="urn:microsoft.com/office/officeart/2005/8/layout/hierarchy1"/>
    <dgm:cxn modelId="{9A42AA4E-802E-44E4-ADB7-C8C820AEB284}" type="presParOf" srcId="{C5232264-5951-477A-85F0-87178DFC0245}" destId="{908C58BC-8140-4864-85F6-053D839EBF57}" srcOrd="9" destOrd="0" presId="urn:microsoft.com/office/officeart/2005/8/layout/hierarchy1"/>
    <dgm:cxn modelId="{C4E90FCF-C71C-4E4E-8946-8A8DCDFC5CE1}" type="presParOf" srcId="{908C58BC-8140-4864-85F6-053D839EBF57}" destId="{D8B80D9A-0ECC-4706-A7F4-BBC5C46F3DB0}" srcOrd="0" destOrd="0" presId="urn:microsoft.com/office/officeart/2005/8/layout/hierarchy1"/>
    <dgm:cxn modelId="{53E92DAC-12D1-47C3-84A3-C9AE9CCCA028}" type="presParOf" srcId="{D8B80D9A-0ECC-4706-A7F4-BBC5C46F3DB0}" destId="{CB1A7389-C8CD-4A4F-A9AB-8093CF64A947}" srcOrd="0" destOrd="0" presId="urn:microsoft.com/office/officeart/2005/8/layout/hierarchy1"/>
    <dgm:cxn modelId="{3738A581-C213-4C3D-93A1-B5467D54372F}" type="presParOf" srcId="{D8B80D9A-0ECC-4706-A7F4-BBC5C46F3DB0}" destId="{346EA016-D91E-445C-9D53-C1BDFCF8FBAE}" srcOrd="1" destOrd="0" presId="urn:microsoft.com/office/officeart/2005/8/layout/hierarchy1"/>
    <dgm:cxn modelId="{B83FCED9-112B-4076-A220-DEE75F8DC485}" type="presParOf" srcId="{908C58BC-8140-4864-85F6-053D839EBF57}" destId="{1B5CEDF6-96C4-4961-BD1C-0562C14D37AA}"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525020-7A0F-4A33-9096-2B5187F6ACA0}">
      <dsp:nvSpPr>
        <dsp:cNvPr id="0" name=""/>
        <dsp:cNvSpPr/>
      </dsp:nvSpPr>
      <dsp:spPr>
        <a:xfrm>
          <a:off x="4447781" y="2584675"/>
          <a:ext cx="2786334" cy="836815"/>
        </a:xfrm>
        <a:custGeom>
          <a:avLst/>
          <a:gdLst/>
          <a:ahLst/>
          <a:cxnLst/>
          <a:rect l="0" t="0" r="0" b="0"/>
          <a:pathLst>
            <a:path>
              <a:moveTo>
                <a:pt x="0" y="0"/>
              </a:moveTo>
              <a:lnTo>
                <a:pt x="0" y="711357"/>
              </a:lnTo>
              <a:lnTo>
                <a:pt x="2786334" y="711357"/>
              </a:lnTo>
              <a:lnTo>
                <a:pt x="2786334" y="83681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FA430B5-9275-492C-8F4C-471DBCA2B8C0}">
      <dsp:nvSpPr>
        <dsp:cNvPr id="0" name=""/>
        <dsp:cNvSpPr/>
      </dsp:nvSpPr>
      <dsp:spPr>
        <a:xfrm>
          <a:off x="4447781" y="2584675"/>
          <a:ext cx="1131115" cy="836815"/>
        </a:xfrm>
        <a:custGeom>
          <a:avLst/>
          <a:gdLst/>
          <a:ahLst/>
          <a:cxnLst/>
          <a:rect l="0" t="0" r="0" b="0"/>
          <a:pathLst>
            <a:path>
              <a:moveTo>
                <a:pt x="0" y="0"/>
              </a:moveTo>
              <a:lnTo>
                <a:pt x="0" y="711357"/>
              </a:lnTo>
              <a:lnTo>
                <a:pt x="1131115" y="711357"/>
              </a:lnTo>
              <a:lnTo>
                <a:pt x="1131115" y="83681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1D8B0CC-D25C-4BB9-B11F-28B2893992DF}">
      <dsp:nvSpPr>
        <dsp:cNvPr id="0" name=""/>
        <dsp:cNvSpPr/>
      </dsp:nvSpPr>
      <dsp:spPr>
        <a:xfrm>
          <a:off x="3923679" y="2584675"/>
          <a:ext cx="524102" cy="836815"/>
        </a:xfrm>
        <a:custGeom>
          <a:avLst/>
          <a:gdLst/>
          <a:ahLst/>
          <a:cxnLst/>
          <a:rect l="0" t="0" r="0" b="0"/>
          <a:pathLst>
            <a:path>
              <a:moveTo>
                <a:pt x="524102" y="0"/>
              </a:moveTo>
              <a:lnTo>
                <a:pt x="524102" y="711357"/>
              </a:lnTo>
              <a:lnTo>
                <a:pt x="0" y="711357"/>
              </a:lnTo>
              <a:lnTo>
                <a:pt x="0" y="83681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FC66CB3-FCFF-4C83-91DF-0C5D78A19172}">
      <dsp:nvSpPr>
        <dsp:cNvPr id="0" name=""/>
        <dsp:cNvSpPr/>
      </dsp:nvSpPr>
      <dsp:spPr>
        <a:xfrm>
          <a:off x="2268461" y="2584675"/>
          <a:ext cx="2179320" cy="836815"/>
        </a:xfrm>
        <a:custGeom>
          <a:avLst/>
          <a:gdLst/>
          <a:ahLst/>
          <a:cxnLst/>
          <a:rect l="0" t="0" r="0" b="0"/>
          <a:pathLst>
            <a:path>
              <a:moveTo>
                <a:pt x="2179320" y="0"/>
              </a:moveTo>
              <a:lnTo>
                <a:pt x="2179320" y="711357"/>
              </a:lnTo>
              <a:lnTo>
                <a:pt x="0" y="711357"/>
              </a:lnTo>
              <a:lnTo>
                <a:pt x="0" y="83681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83A7D1E-4114-43F1-A812-33B392201A34}">
      <dsp:nvSpPr>
        <dsp:cNvPr id="0" name=""/>
        <dsp:cNvSpPr/>
      </dsp:nvSpPr>
      <dsp:spPr>
        <a:xfrm>
          <a:off x="613243" y="2584675"/>
          <a:ext cx="3834538" cy="836815"/>
        </a:xfrm>
        <a:custGeom>
          <a:avLst/>
          <a:gdLst/>
          <a:ahLst/>
          <a:cxnLst/>
          <a:rect l="0" t="0" r="0" b="0"/>
          <a:pathLst>
            <a:path>
              <a:moveTo>
                <a:pt x="3834538" y="0"/>
              </a:moveTo>
              <a:lnTo>
                <a:pt x="3834538" y="711357"/>
              </a:lnTo>
              <a:lnTo>
                <a:pt x="0" y="711357"/>
              </a:lnTo>
              <a:lnTo>
                <a:pt x="0" y="83681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C66424B-1F9D-47C7-9D2B-186538259495}">
      <dsp:nvSpPr>
        <dsp:cNvPr id="0" name=""/>
        <dsp:cNvSpPr/>
      </dsp:nvSpPr>
      <dsp:spPr>
        <a:xfrm>
          <a:off x="3162741" y="1402319"/>
          <a:ext cx="1285040" cy="322395"/>
        </a:xfrm>
        <a:custGeom>
          <a:avLst/>
          <a:gdLst/>
          <a:ahLst/>
          <a:cxnLst/>
          <a:rect l="0" t="0" r="0" b="0"/>
          <a:pathLst>
            <a:path>
              <a:moveTo>
                <a:pt x="0" y="0"/>
              </a:moveTo>
              <a:lnTo>
                <a:pt x="0" y="196937"/>
              </a:lnTo>
              <a:lnTo>
                <a:pt x="1285040" y="196937"/>
              </a:lnTo>
              <a:lnTo>
                <a:pt x="1285040" y="32239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E0536CF-1697-4E5C-AF1B-0C790FBA2423}">
      <dsp:nvSpPr>
        <dsp:cNvPr id="0" name=""/>
        <dsp:cNvSpPr/>
      </dsp:nvSpPr>
      <dsp:spPr>
        <a:xfrm>
          <a:off x="1401688" y="1402319"/>
          <a:ext cx="1761052" cy="431962"/>
        </a:xfrm>
        <a:custGeom>
          <a:avLst/>
          <a:gdLst/>
          <a:ahLst/>
          <a:cxnLst/>
          <a:rect l="0" t="0" r="0" b="0"/>
          <a:pathLst>
            <a:path>
              <a:moveTo>
                <a:pt x="1761052" y="0"/>
              </a:moveTo>
              <a:lnTo>
                <a:pt x="1761052" y="306504"/>
              </a:lnTo>
              <a:lnTo>
                <a:pt x="0" y="306504"/>
              </a:lnTo>
              <a:lnTo>
                <a:pt x="0" y="43196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8C80703-8DCF-497D-BAC9-622A223A992B}">
      <dsp:nvSpPr>
        <dsp:cNvPr id="0" name=""/>
        <dsp:cNvSpPr/>
      </dsp:nvSpPr>
      <dsp:spPr>
        <a:xfrm>
          <a:off x="2485606" y="542358"/>
          <a:ext cx="1354269" cy="85996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08CEA8-D17A-498B-8701-A6053CA1E2BA}">
      <dsp:nvSpPr>
        <dsp:cNvPr id="0" name=""/>
        <dsp:cNvSpPr/>
      </dsp:nvSpPr>
      <dsp:spPr>
        <a:xfrm>
          <a:off x="2636080" y="685309"/>
          <a:ext cx="1354269" cy="85996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zh-CN" altLang="en-US" sz="1700" kern="1200" dirty="0" smtClean="0"/>
            <a:t>根因分析</a:t>
          </a:r>
          <a:endParaRPr lang="zh-CN" altLang="en-US" sz="1700" kern="1200" dirty="0"/>
        </a:p>
      </dsp:txBody>
      <dsp:txXfrm>
        <a:off x="2661267" y="710496"/>
        <a:ext cx="1303895" cy="809587"/>
      </dsp:txXfrm>
    </dsp:sp>
    <dsp:sp modelId="{E4470D51-54F2-488C-A455-388E04CA8EBE}">
      <dsp:nvSpPr>
        <dsp:cNvPr id="0" name=""/>
        <dsp:cNvSpPr/>
      </dsp:nvSpPr>
      <dsp:spPr>
        <a:xfrm>
          <a:off x="724553" y="1834282"/>
          <a:ext cx="1354269" cy="85996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E917035-A5BB-4CD9-9EEF-489DF78A19A3}">
      <dsp:nvSpPr>
        <dsp:cNvPr id="0" name=""/>
        <dsp:cNvSpPr/>
      </dsp:nvSpPr>
      <dsp:spPr>
        <a:xfrm>
          <a:off x="875028" y="1977233"/>
          <a:ext cx="1354269" cy="85996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zh-CN" altLang="en-US" sz="1700" kern="1200" dirty="0" smtClean="0"/>
            <a:t>异常检测</a:t>
          </a:r>
          <a:endParaRPr lang="zh-CN" altLang="en-US" sz="1700" kern="1200" dirty="0"/>
        </a:p>
      </dsp:txBody>
      <dsp:txXfrm>
        <a:off x="900215" y="2002420"/>
        <a:ext cx="1303895" cy="809587"/>
      </dsp:txXfrm>
    </dsp:sp>
    <dsp:sp modelId="{36F5F3C5-1ABA-4956-A5A9-F40FD24B4E7F}">
      <dsp:nvSpPr>
        <dsp:cNvPr id="0" name=""/>
        <dsp:cNvSpPr/>
      </dsp:nvSpPr>
      <dsp:spPr>
        <a:xfrm>
          <a:off x="3770647" y="1724714"/>
          <a:ext cx="1354269" cy="85996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3B3FC64-983A-416A-A8CE-6A4FAAD171BA}">
      <dsp:nvSpPr>
        <dsp:cNvPr id="0" name=""/>
        <dsp:cNvSpPr/>
      </dsp:nvSpPr>
      <dsp:spPr>
        <a:xfrm>
          <a:off x="3921121" y="1867665"/>
          <a:ext cx="1354269" cy="85996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zh-CN" altLang="en-US" sz="1700" kern="1200" dirty="0" smtClean="0"/>
            <a:t>故障传播树构建</a:t>
          </a:r>
          <a:endParaRPr lang="zh-CN" altLang="en-US" sz="1700" kern="1200" dirty="0"/>
        </a:p>
      </dsp:txBody>
      <dsp:txXfrm>
        <a:off x="3946308" y="1892852"/>
        <a:ext cx="1303895" cy="809587"/>
      </dsp:txXfrm>
    </dsp:sp>
    <dsp:sp modelId="{95672042-CED3-4A5F-AB0F-9E6818902351}">
      <dsp:nvSpPr>
        <dsp:cNvPr id="0" name=""/>
        <dsp:cNvSpPr/>
      </dsp:nvSpPr>
      <dsp:spPr>
        <a:xfrm>
          <a:off x="-63891" y="3421491"/>
          <a:ext cx="1354269" cy="85996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05C9E28-5FD8-4665-8645-62D9AADBFA6F}">
      <dsp:nvSpPr>
        <dsp:cNvPr id="0" name=""/>
        <dsp:cNvSpPr/>
      </dsp:nvSpPr>
      <dsp:spPr>
        <a:xfrm>
          <a:off x="86582" y="3564441"/>
          <a:ext cx="1354269" cy="85996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zh-CN" altLang="en-US" sz="1700" kern="1200" dirty="0" smtClean="0"/>
            <a:t>异常事件关联挖掘</a:t>
          </a:r>
          <a:endParaRPr lang="zh-CN" altLang="en-US" sz="1700" kern="1200" dirty="0"/>
        </a:p>
      </dsp:txBody>
      <dsp:txXfrm>
        <a:off x="111769" y="3589628"/>
        <a:ext cx="1303895" cy="809587"/>
      </dsp:txXfrm>
    </dsp:sp>
    <dsp:sp modelId="{546B27CD-5670-4DEE-A9D9-324077DCED58}">
      <dsp:nvSpPr>
        <dsp:cNvPr id="0" name=""/>
        <dsp:cNvSpPr/>
      </dsp:nvSpPr>
      <dsp:spPr>
        <a:xfrm>
          <a:off x="1591326" y="3421491"/>
          <a:ext cx="1354269" cy="85996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6434381-3127-4224-8C5C-0698D7F9E58F}">
      <dsp:nvSpPr>
        <dsp:cNvPr id="0" name=""/>
        <dsp:cNvSpPr/>
      </dsp:nvSpPr>
      <dsp:spPr>
        <a:xfrm>
          <a:off x="1741801" y="3564441"/>
          <a:ext cx="1354269" cy="85996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zh-CN" altLang="en-US" sz="1700" kern="1200" dirty="0" smtClean="0"/>
            <a:t>事件</a:t>
          </a:r>
          <a:r>
            <a:rPr lang="en-US" altLang="zh-CN" sz="1700" kern="1200" dirty="0" smtClean="0"/>
            <a:t>-KPI</a:t>
          </a:r>
          <a:r>
            <a:rPr lang="zh-CN" altLang="en-US" sz="1700" kern="1200" dirty="0" smtClean="0"/>
            <a:t>关联挖掘</a:t>
          </a:r>
          <a:endParaRPr lang="zh-CN" altLang="en-US" sz="1700" kern="1200" dirty="0"/>
        </a:p>
      </dsp:txBody>
      <dsp:txXfrm>
        <a:off x="1766988" y="3589628"/>
        <a:ext cx="1303895" cy="809587"/>
      </dsp:txXfrm>
    </dsp:sp>
    <dsp:sp modelId="{16E3920D-E329-46D3-B16F-B02B190F8133}">
      <dsp:nvSpPr>
        <dsp:cNvPr id="0" name=""/>
        <dsp:cNvSpPr/>
      </dsp:nvSpPr>
      <dsp:spPr>
        <a:xfrm>
          <a:off x="3246544" y="3421491"/>
          <a:ext cx="1354269" cy="85996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547C396-7EDC-4F5A-82F1-CFAC2F181A6F}">
      <dsp:nvSpPr>
        <dsp:cNvPr id="0" name=""/>
        <dsp:cNvSpPr/>
      </dsp:nvSpPr>
      <dsp:spPr>
        <a:xfrm>
          <a:off x="3397019" y="3564441"/>
          <a:ext cx="1354269" cy="85996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altLang="zh-CN" sz="1700" kern="1200" dirty="0" smtClean="0"/>
            <a:t>KPI</a:t>
          </a:r>
          <a:r>
            <a:rPr lang="zh-CN" altLang="en-US" sz="1700" kern="1200" dirty="0" smtClean="0"/>
            <a:t>关联分析</a:t>
          </a:r>
          <a:endParaRPr lang="zh-CN" altLang="en-US" sz="1700" kern="1200" dirty="0"/>
        </a:p>
      </dsp:txBody>
      <dsp:txXfrm>
        <a:off x="3422206" y="3589628"/>
        <a:ext cx="1303895" cy="809587"/>
      </dsp:txXfrm>
    </dsp:sp>
    <dsp:sp modelId="{963E961F-3063-4D77-85D0-1A78CB6B38D4}">
      <dsp:nvSpPr>
        <dsp:cNvPr id="0" name=""/>
        <dsp:cNvSpPr/>
      </dsp:nvSpPr>
      <dsp:spPr>
        <a:xfrm>
          <a:off x="4901763" y="3421491"/>
          <a:ext cx="1354269" cy="85996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6696540-272F-47AC-A076-8B7D459771DA}">
      <dsp:nvSpPr>
        <dsp:cNvPr id="0" name=""/>
        <dsp:cNvSpPr/>
      </dsp:nvSpPr>
      <dsp:spPr>
        <a:xfrm>
          <a:off x="5052237" y="3564441"/>
          <a:ext cx="1354269" cy="85996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altLang="zh-CN" sz="1700" kern="1200" dirty="0" smtClean="0"/>
            <a:t>KPI</a:t>
          </a:r>
          <a:r>
            <a:rPr lang="zh-CN" altLang="en-US" sz="1700" kern="1200" dirty="0" smtClean="0"/>
            <a:t>聚类</a:t>
          </a:r>
          <a:endParaRPr lang="zh-CN" altLang="en-US" sz="1700" kern="1200" dirty="0"/>
        </a:p>
      </dsp:txBody>
      <dsp:txXfrm>
        <a:off x="5077424" y="3589628"/>
        <a:ext cx="1303895" cy="809587"/>
      </dsp:txXfrm>
    </dsp:sp>
    <dsp:sp modelId="{CB1A7389-C8CD-4A4F-A9AB-8093CF64A947}">
      <dsp:nvSpPr>
        <dsp:cNvPr id="0" name=""/>
        <dsp:cNvSpPr/>
      </dsp:nvSpPr>
      <dsp:spPr>
        <a:xfrm>
          <a:off x="6556981" y="3421491"/>
          <a:ext cx="1354269" cy="85996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6EA016-D91E-445C-9D53-C1BDFCF8FBAE}">
      <dsp:nvSpPr>
        <dsp:cNvPr id="0" name=""/>
        <dsp:cNvSpPr/>
      </dsp:nvSpPr>
      <dsp:spPr>
        <a:xfrm>
          <a:off x="6707455" y="3564441"/>
          <a:ext cx="1354269" cy="85996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zh-CN" altLang="en-US" sz="1700" kern="1200" dirty="0" smtClean="0"/>
            <a:t>全链路模块调用分析</a:t>
          </a:r>
          <a:endParaRPr lang="zh-CN" altLang="en-US" sz="1700" kern="1200" dirty="0"/>
        </a:p>
      </dsp:txBody>
      <dsp:txXfrm>
        <a:off x="6732642" y="3589628"/>
        <a:ext cx="1303895" cy="80958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D6BDDE-6A1D-46F5-9C9B-6287E7532B69}" type="datetimeFigureOut">
              <a:rPr lang="zh-CN" altLang="en-US" smtClean="0"/>
              <a:t>2017/12/26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AB2AAF-1555-4972-80AC-B14A04437104}" type="slidenum">
              <a:rPr lang="zh-CN" altLang="en-US" smtClean="0"/>
              <a:t>‹#›</a:t>
            </a:fld>
            <a:endParaRPr lang="zh-CN" altLang="en-US"/>
          </a:p>
        </p:txBody>
      </p:sp>
    </p:spTree>
    <p:extLst>
      <p:ext uri="{BB962C8B-B14F-4D97-AF65-F5344CB8AC3E}">
        <p14:creationId xmlns:p14="http://schemas.microsoft.com/office/powerpoint/2010/main" val="4113223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上次会议提出了构建珠海智慧运营平台</a:t>
            </a:r>
            <a:r>
              <a:rPr lang="en-US" altLang="zh-CN" dirty="0" smtClean="0"/>
              <a:t>-</a:t>
            </a:r>
            <a:r>
              <a:rPr lang="zh-CN" altLang="en-US" dirty="0" smtClean="0"/>
              <a:t>“网络大脑“的提议，并就大脑的三部分功能模块“感知决策控制”展开了深入讨论</a:t>
            </a:r>
            <a:endParaRPr lang="en-US" altLang="zh-CN" dirty="0" smtClean="0"/>
          </a:p>
          <a:p>
            <a:r>
              <a:rPr lang="zh-CN" altLang="en-US" dirty="0" smtClean="0"/>
              <a:t>本次</a:t>
            </a:r>
            <a:r>
              <a:rPr lang="en-US" altLang="zh-CN" dirty="0" err="1" smtClean="0"/>
              <a:t>ppt</a:t>
            </a:r>
            <a:r>
              <a:rPr lang="zh-CN" altLang="en-US" dirty="0" smtClean="0"/>
              <a:t>就在于将“智慧运营”这一概念进行具体化</a:t>
            </a: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a:t>
            </a:fld>
            <a:endParaRPr lang="zh-CN" altLang="en-US"/>
          </a:p>
        </p:txBody>
      </p:sp>
    </p:spTree>
    <p:extLst>
      <p:ext uri="{BB962C8B-B14F-4D97-AF65-F5344CB8AC3E}">
        <p14:creationId xmlns:p14="http://schemas.microsoft.com/office/powerpoint/2010/main" val="16500611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上次会议提出了构建珠海智慧运营平台</a:t>
            </a:r>
            <a:r>
              <a:rPr lang="en-US" altLang="zh-CN" dirty="0" smtClean="0"/>
              <a:t>-</a:t>
            </a:r>
            <a:r>
              <a:rPr lang="zh-CN" altLang="en-US" dirty="0" smtClean="0"/>
              <a:t>“网络大脑“的提议，并就大脑的三部分功能模块“感知决策控制”展开了深入讨论</a:t>
            </a:r>
            <a:endParaRPr lang="en-US" altLang="zh-CN" dirty="0" smtClean="0"/>
          </a:p>
          <a:p>
            <a:r>
              <a:rPr lang="zh-CN" altLang="en-US" dirty="0" smtClean="0"/>
              <a:t>本次</a:t>
            </a:r>
            <a:r>
              <a:rPr lang="en-US" altLang="zh-CN" dirty="0" err="1" smtClean="0"/>
              <a:t>ppt</a:t>
            </a:r>
            <a:r>
              <a:rPr lang="zh-CN" altLang="en-US" dirty="0" smtClean="0"/>
              <a:t>就在于将“智慧运营”这一概念进行具体化</a:t>
            </a: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3</a:t>
            </a:fld>
            <a:endParaRPr lang="zh-CN" altLang="en-US"/>
          </a:p>
        </p:txBody>
      </p:sp>
    </p:spTree>
    <p:extLst>
      <p:ext uri="{BB962C8B-B14F-4D97-AF65-F5344CB8AC3E}">
        <p14:creationId xmlns:p14="http://schemas.microsoft.com/office/powerpoint/2010/main" val="9150356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人工智能最热年</a:t>
            </a:r>
            <a:endParaRPr lang="en-US" altLang="zh-CN" dirty="0" smtClean="0"/>
          </a:p>
          <a:p>
            <a:r>
              <a:rPr lang="zh-CN" altLang="en-US" dirty="0" smtClean="0"/>
              <a:t>自动化运维的推进实施使得人员和流程的问题的到了有效解决</a:t>
            </a:r>
            <a:endParaRPr lang="en-US" altLang="zh-CN" dirty="0" smtClean="0"/>
          </a:p>
          <a:p>
            <a:r>
              <a:rPr lang="zh-CN" altLang="en-US" dirty="0" smtClean="0"/>
              <a:t>新的问题是随着网络和业务的不断发展，运维人员要关注的问题也呈现了指数级增长，虽然自动化运维解决了效率，但是也出现了新的难题如繁杂的报警信息，故障定位等</a:t>
            </a:r>
            <a:endParaRPr lang="en-US" altLang="zh-CN" dirty="0" smtClean="0"/>
          </a:p>
          <a:p>
            <a:r>
              <a:rPr lang="zh-CN" altLang="en-US" dirty="0" smtClean="0"/>
              <a:t>恰好进入了人工智能时代，</a:t>
            </a:r>
            <a:r>
              <a:rPr lang="en-US" altLang="zh-CN" dirty="0" smtClean="0"/>
              <a:t>Gartner</a:t>
            </a:r>
            <a:r>
              <a:rPr lang="zh-CN" altLang="en-US" dirty="0" smtClean="0"/>
              <a:t>在</a:t>
            </a:r>
            <a:r>
              <a:rPr lang="en-US" altLang="zh-CN" dirty="0" smtClean="0"/>
              <a:t>2016</a:t>
            </a:r>
            <a:r>
              <a:rPr lang="zh-CN" altLang="en-US" dirty="0" smtClean="0"/>
              <a:t>年提出了</a:t>
            </a:r>
            <a:r>
              <a:rPr lang="en-US" altLang="zh-CN" dirty="0" err="1" smtClean="0"/>
              <a:t>AIOps</a:t>
            </a:r>
            <a:r>
              <a:rPr lang="zh-CN" altLang="en-US" dirty="0" smtClean="0"/>
              <a:t>的</a:t>
            </a:r>
            <a:r>
              <a:rPr lang="zh-CN" altLang="en-US" dirty="0" smtClean="0"/>
              <a:t>概念，预计在</a:t>
            </a:r>
            <a:r>
              <a:rPr lang="en-US" altLang="zh-CN" dirty="0" smtClean="0"/>
              <a:t>2019</a:t>
            </a:r>
            <a:r>
              <a:rPr lang="zh-CN" altLang="en-US" dirty="0" smtClean="0"/>
              <a:t>年</a:t>
            </a:r>
            <a:r>
              <a:rPr lang="en-US" altLang="zh-CN" dirty="0" err="1" smtClean="0"/>
              <a:t>AIOps</a:t>
            </a:r>
            <a:r>
              <a:rPr lang="zh-CN" altLang="en-US" dirty="0" smtClean="0"/>
              <a:t>会达到</a:t>
            </a:r>
            <a:r>
              <a:rPr lang="en-US" altLang="zh-CN" dirty="0" smtClean="0"/>
              <a:t>25%</a:t>
            </a:r>
            <a:r>
              <a:rPr lang="zh-CN" altLang="en-US" dirty="0" smtClean="0"/>
              <a:t>的部署率，到</a:t>
            </a:r>
            <a:r>
              <a:rPr lang="en-US" altLang="zh-CN" dirty="0" smtClean="0"/>
              <a:t>2020</a:t>
            </a:r>
            <a:r>
              <a:rPr lang="zh-CN" altLang="en-US" dirty="0" smtClean="0"/>
              <a:t>年会达到</a:t>
            </a:r>
            <a:r>
              <a:rPr lang="en-US" altLang="zh-CN" dirty="0" smtClean="0"/>
              <a:t>50%</a:t>
            </a:r>
            <a:r>
              <a:rPr lang="zh-CN" altLang="en-US" dirty="0" smtClean="0"/>
              <a:t>的部署率。</a:t>
            </a:r>
            <a:endParaRPr lang="en-US" altLang="zh-CN" dirty="0" smtClean="0"/>
          </a:p>
          <a:p>
            <a:r>
              <a:rPr lang="zh-CN" altLang="en-US" dirty="0" smtClean="0"/>
              <a:t>。</a:t>
            </a: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4</a:t>
            </a:fld>
            <a:endParaRPr lang="zh-CN" altLang="en-US"/>
          </a:p>
        </p:txBody>
      </p:sp>
    </p:spTree>
    <p:extLst>
      <p:ext uri="{BB962C8B-B14F-4D97-AF65-F5344CB8AC3E}">
        <p14:creationId xmlns:p14="http://schemas.microsoft.com/office/powerpoint/2010/main" val="17194430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smtClean="0">
                <a:solidFill>
                  <a:schemeClr val="tx1"/>
                </a:solidFill>
                <a:effectLst/>
                <a:latin typeface="+mn-lt"/>
                <a:ea typeface="+mn-ea"/>
                <a:cs typeface="+mn-cs"/>
              </a:rPr>
              <a:t>自动化运维带来了很大进步，但毕竟系统软件是死的，只能</a:t>
            </a:r>
            <a:r>
              <a:rPr lang="en-US" altLang="zh-CN" sz="1200" kern="1200" dirty="0" smtClean="0">
                <a:solidFill>
                  <a:schemeClr val="tx1"/>
                </a:solidFill>
                <a:effectLst/>
                <a:latin typeface="+mn-lt"/>
                <a:ea typeface="+mn-ea"/>
                <a:cs typeface="+mn-cs"/>
              </a:rPr>
              <a:t>100%按照人类制定的流程来运行，不能自主适应，甚至不能处理“相似”的“新”问题。于是AI被尝试运用到IT运维这个领域，</a:t>
            </a:r>
            <a:r>
              <a:rPr lang="zh-CN" altLang="en-US" sz="1200" kern="1200" dirty="0" smtClean="0">
                <a:solidFill>
                  <a:schemeClr val="tx1"/>
                </a:solidFill>
                <a:effectLst/>
                <a:latin typeface="+mn-lt"/>
                <a:ea typeface="+mn-ea"/>
                <a:cs typeface="+mn-cs"/>
              </a:rPr>
              <a:t>提出科了智慧运维的概念。</a:t>
            </a:r>
            <a:endParaRPr lang="en-US" altLang="zh-CN" sz="120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智慧运维在自动化运维的基础上增加了一个基于机器学习的大脑，指挥着监测系统采集大脑决策所需的数据，做出分析、决策并指挥自动化脚本去执行大脑的决策，从而达到运维系统的整体目标。</a:t>
            </a:r>
          </a:p>
          <a:p>
            <a:r>
              <a:rPr lang="en-US" altLang="zh-CN" sz="1200" kern="1200" dirty="0" smtClean="0">
                <a:solidFill>
                  <a:schemeClr val="tx1"/>
                </a:solidFill>
                <a:effectLst/>
                <a:latin typeface="+mn-lt"/>
                <a:ea typeface="+mn-ea"/>
                <a:cs typeface="+mn-cs"/>
              </a:rPr>
              <a:t>AIOps这个词本身就体现了两个关键点。其一，Ops代表运维的场景，这是主旨，识别什么样的场景存在哪些痛点，AI可以帮助解决。其二，AI作为前缀代表技术，这是手段，AI技术门类很多，选择合适的，正确的技术去解决真正的问题，是需要切实履行的原则。</a:t>
            </a: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5</a:t>
            </a:fld>
            <a:endParaRPr lang="zh-CN" altLang="en-US"/>
          </a:p>
        </p:txBody>
      </p:sp>
    </p:spTree>
    <p:extLst>
      <p:ext uri="{BB962C8B-B14F-4D97-AF65-F5344CB8AC3E}">
        <p14:creationId xmlns:p14="http://schemas.microsoft.com/office/powerpoint/2010/main" val="38848316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完善的自动化运维体系是必须的，</a:t>
            </a:r>
            <a:r>
              <a:rPr lang="en-US" altLang="zh-CN" dirty="0" smtClean="0"/>
              <a:t>AI</a:t>
            </a:r>
            <a:r>
              <a:rPr lang="zh-CN" altLang="en-US" dirty="0" smtClean="0"/>
              <a:t>算法就是大脑，大脑负责快速发现问题和判断根因，一旦找到问题，完善的自动化脚本就在大脑指挥控制下执行相应操作，因此智慧化运维（</a:t>
            </a:r>
            <a:r>
              <a:rPr lang="en-US" altLang="zh-CN" dirty="0" err="1" smtClean="0"/>
              <a:t>AIOps</a:t>
            </a:r>
            <a:r>
              <a:rPr lang="zh-CN" altLang="en-US" dirty="0" smtClean="0"/>
              <a:t>必须是建立在高度完善的自动化运维基础之上的）</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t>A+B+C</a:t>
            </a:r>
            <a:r>
              <a:rPr lang="zh-CN" altLang="en-US" dirty="0" smtClean="0"/>
              <a:t>中的</a:t>
            </a:r>
            <a:r>
              <a:rPr lang="en-US" altLang="zh-CN" dirty="0" smtClean="0"/>
              <a:t>AI</a:t>
            </a:r>
            <a:r>
              <a:rPr lang="zh-CN" altLang="en-US" dirty="0" smtClean="0"/>
              <a:t>不仅指机器学习算法，也包括数据挖掘等技术。</a:t>
            </a:r>
            <a:endParaRPr lang="en-US" altLang="zh-CN" dirty="0" smtClean="0"/>
          </a:p>
        </p:txBody>
      </p:sp>
      <p:sp>
        <p:nvSpPr>
          <p:cNvPr id="4" name="灯片编号占位符 3"/>
          <p:cNvSpPr>
            <a:spLocks noGrp="1"/>
          </p:cNvSpPr>
          <p:nvPr>
            <p:ph type="sldNum" sz="quarter" idx="10"/>
          </p:nvPr>
        </p:nvSpPr>
        <p:spPr/>
        <p:txBody>
          <a:bodyPr/>
          <a:lstStyle/>
          <a:p>
            <a:fld id="{EBAB2AAF-1555-4972-80AC-B14A04437104}" type="slidenum">
              <a:rPr lang="zh-CN" altLang="en-US" smtClean="0"/>
              <a:t>6</a:t>
            </a:fld>
            <a:endParaRPr lang="zh-CN" altLang="en-US"/>
          </a:p>
        </p:txBody>
      </p:sp>
    </p:spTree>
    <p:extLst>
      <p:ext uri="{BB962C8B-B14F-4D97-AF65-F5344CB8AC3E}">
        <p14:creationId xmlns:p14="http://schemas.microsoft.com/office/powerpoint/2010/main" val="6029830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运维动作执行的一致有效就是指操作的自动化流程化。</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smtClean="0">
                <a:solidFill>
                  <a:schemeClr val="tx1"/>
                </a:solidFill>
                <a:effectLst/>
                <a:latin typeface="+mn-lt"/>
                <a:ea typeface="+mn-ea"/>
                <a:cs typeface="+mn-cs"/>
              </a:rPr>
              <a:t>一个“全知”（掌握业务，系统，基础，组织的各种信息）能够客观的，全面的“协调”人，系统，业务的角色。</a:t>
            </a: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8</a:t>
            </a:fld>
            <a:endParaRPr lang="zh-CN" altLang="en-US"/>
          </a:p>
        </p:txBody>
      </p:sp>
    </p:spTree>
    <p:extLst>
      <p:ext uri="{BB962C8B-B14F-4D97-AF65-F5344CB8AC3E}">
        <p14:creationId xmlns:p14="http://schemas.microsoft.com/office/powerpoint/2010/main" val="30251860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10</a:t>
            </a:fld>
            <a:endParaRPr lang="zh-CN" altLang="en-US"/>
          </a:p>
        </p:txBody>
      </p:sp>
    </p:spTree>
    <p:extLst>
      <p:ext uri="{BB962C8B-B14F-4D97-AF65-F5344CB8AC3E}">
        <p14:creationId xmlns:p14="http://schemas.microsoft.com/office/powerpoint/2010/main" val="156269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11</a:t>
            </a:fld>
            <a:endParaRPr lang="zh-CN" altLang="en-US"/>
          </a:p>
        </p:txBody>
      </p:sp>
    </p:spTree>
    <p:extLst>
      <p:ext uri="{BB962C8B-B14F-4D97-AF65-F5344CB8AC3E}">
        <p14:creationId xmlns:p14="http://schemas.microsoft.com/office/powerpoint/2010/main" val="16771790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12</a:t>
            </a:fld>
            <a:endParaRPr lang="zh-CN" altLang="en-US"/>
          </a:p>
        </p:txBody>
      </p:sp>
    </p:spTree>
    <p:extLst>
      <p:ext uri="{BB962C8B-B14F-4D97-AF65-F5344CB8AC3E}">
        <p14:creationId xmlns:p14="http://schemas.microsoft.com/office/powerpoint/2010/main" val="2668364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13</a:t>
            </a:fld>
            <a:endParaRPr lang="zh-CN" altLang="en-US"/>
          </a:p>
        </p:txBody>
      </p:sp>
    </p:spTree>
    <p:extLst>
      <p:ext uri="{BB962C8B-B14F-4D97-AF65-F5344CB8AC3E}">
        <p14:creationId xmlns:p14="http://schemas.microsoft.com/office/powerpoint/2010/main" val="37528563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14</a:t>
            </a:fld>
            <a:endParaRPr lang="zh-CN" altLang="en-US"/>
          </a:p>
        </p:txBody>
      </p:sp>
    </p:spTree>
    <p:extLst>
      <p:ext uri="{BB962C8B-B14F-4D97-AF65-F5344CB8AC3E}">
        <p14:creationId xmlns:p14="http://schemas.microsoft.com/office/powerpoint/2010/main" val="20548538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15</a:t>
            </a:fld>
            <a:endParaRPr lang="zh-CN" altLang="en-US"/>
          </a:p>
        </p:txBody>
      </p:sp>
    </p:spTree>
    <p:extLst>
      <p:ext uri="{BB962C8B-B14F-4D97-AF65-F5344CB8AC3E}">
        <p14:creationId xmlns:p14="http://schemas.microsoft.com/office/powerpoint/2010/main" val="2314782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16</a:t>
            </a:fld>
            <a:endParaRPr lang="zh-CN" altLang="en-US"/>
          </a:p>
        </p:txBody>
      </p:sp>
    </p:spTree>
    <p:extLst>
      <p:ext uri="{BB962C8B-B14F-4D97-AF65-F5344CB8AC3E}">
        <p14:creationId xmlns:p14="http://schemas.microsoft.com/office/powerpoint/2010/main" val="23477146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17</a:t>
            </a:fld>
            <a:endParaRPr lang="zh-CN" altLang="en-US"/>
          </a:p>
        </p:txBody>
      </p:sp>
    </p:spTree>
    <p:extLst>
      <p:ext uri="{BB962C8B-B14F-4D97-AF65-F5344CB8AC3E}">
        <p14:creationId xmlns:p14="http://schemas.microsoft.com/office/powerpoint/2010/main" val="11550113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smtClean="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18</a:t>
            </a:fld>
            <a:endParaRPr lang="zh-CN" altLang="en-US"/>
          </a:p>
        </p:txBody>
      </p:sp>
    </p:spTree>
    <p:extLst>
      <p:ext uri="{BB962C8B-B14F-4D97-AF65-F5344CB8AC3E}">
        <p14:creationId xmlns:p14="http://schemas.microsoft.com/office/powerpoint/2010/main" val="34975913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19</a:t>
            </a:fld>
            <a:endParaRPr lang="zh-CN" altLang="en-US"/>
          </a:p>
        </p:txBody>
      </p:sp>
    </p:spTree>
    <p:extLst>
      <p:ext uri="{BB962C8B-B14F-4D97-AF65-F5344CB8AC3E}">
        <p14:creationId xmlns:p14="http://schemas.microsoft.com/office/powerpoint/2010/main" val="26817568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20</a:t>
            </a:fld>
            <a:endParaRPr lang="zh-CN" altLang="en-US"/>
          </a:p>
        </p:txBody>
      </p:sp>
    </p:spTree>
    <p:extLst>
      <p:ext uri="{BB962C8B-B14F-4D97-AF65-F5344CB8AC3E}">
        <p14:creationId xmlns:p14="http://schemas.microsoft.com/office/powerpoint/2010/main" val="22449284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21</a:t>
            </a:fld>
            <a:endParaRPr lang="zh-CN" altLang="en-US"/>
          </a:p>
        </p:txBody>
      </p:sp>
    </p:spTree>
    <p:extLst>
      <p:ext uri="{BB962C8B-B14F-4D97-AF65-F5344CB8AC3E}">
        <p14:creationId xmlns:p14="http://schemas.microsoft.com/office/powerpoint/2010/main" val="34972100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22</a:t>
            </a:fld>
            <a:endParaRPr lang="zh-CN" altLang="en-US"/>
          </a:p>
        </p:txBody>
      </p:sp>
    </p:spTree>
    <p:extLst>
      <p:ext uri="{BB962C8B-B14F-4D97-AF65-F5344CB8AC3E}">
        <p14:creationId xmlns:p14="http://schemas.microsoft.com/office/powerpoint/2010/main" val="32548387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23</a:t>
            </a:fld>
            <a:endParaRPr lang="zh-CN" altLang="en-US"/>
          </a:p>
        </p:txBody>
      </p:sp>
    </p:spTree>
    <p:extLst>
      <p:ext uri="{BB962C8B-B14F-4D97-AF65-F5344CB8AC3E}">
        <p14:creationId xmlns:p14="http://schemas.microsoft.com/office/powerpoint/2010/main" val="14145373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24</a:t>
            </a:fld>
            <a:endParaRPr lang="zh-CN" altLang="en-US"/>
          </a:p>
        </p:txBody>
      </p:sp>
    </p:spTree>
    <p:extLst>
      <p:ext uri="{BB962C8B-B14F-4D97-AF65-F5344CB8AC3E}">
        <p14:creationId xmlns:p14="http://schemas.microsoft.com/office/powerpoint/2010/main" val="30980102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25</a:t>
            </a:fld>
            <a:endParaRPr lang="zh-CN" altLang="en-US"/>
          </a:p>
        </p:txBody>
      </p:sp>
    </p:spTree>
    <p:extLst>
      <p:ext uri="{BB962C8B-B14F-4D97-AF65-F5344CB8AC3E}">
        <p14:creationId xmlns:p14="http://schemas.microsoft.com/office/powerpoint/2010/main" val="5645994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26</a:t>
            </a:fld>
            <a:endParaRPr lang="zh-CN" altLang="en-US"/>
          </a:p>
        </p:txBody>
      </p:sp>
    </p:spTree>
    <p:extLst>
      <p:ext uri="{BB962C8B-B14F-4D97-AF65-F5344CB8AC3E}">
        <p14:creationId xmlns:p14="http://schemas.microsoft.com/office/powerpoint/2010/main" val="16192772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27</a:t>
            </a:fld>
            <a:endParaRPr lang="zh-CN" altLang="en-US"/>
          </a:p>
        </p:txBody>
      </p:sp>
    </p:spTree>
    <p:extLst>
      <p:ext uri="{BB962C8B-B14F-4D97-AF65-F5344CB8AC3E}">
        <p14:creationId xmlns:p14="http://schemas.microsoft.com/office/powerpoint/2010/main" val="23329955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office.msn.com.cn/Template/Home.shtml"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842373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43749" y="543840"/>
            <a:ext cx="3808933" cy="825045"/>
          </a:xfrm>
          <a:prstGeom prst="rect">
            <a:avLst/>
          </a:prstGeom>
        </p:spPr>
        <p:txBody>
          <a:bodyPr>
            <a:normAutofit/>
          </a:bodyPr>
          <a:lstStyle>
            <a:lvl1pPr>
              <a:defRPr sz="3200" b="1"/>
            </a:lvl1pPr>
          </a:lstStyle>
          <a:p>
            <a:r>
              <a:rPr lang="zh-CN" altLang="en-US" dirty="0" smtClean="0"/>
              <a:t>单击此处添加标题</a:t>
            </a:r>
            <a:endParaRPr lang="zh-CN" altLang="en-US" dirty="0"/>
          </a:p>
        </p:txBody>
      </p:sp>
      <p:sp>
        <p:nvSpPr>
          <p:cNvPr id="7" name="矩形 6"/>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userDrawn="1"/>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695682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仅标题">
    <p:bg>
      <p:bgPr>
        <a:solidFill>
          <a:schemeClr val="tx2">
            <a:lumMod val="50000"/>
          </a:schemeClr>
        </a:solidFill>
        <a:effectLst/>
      </p:bgPr>
    </p:bg>
    <p:spTree>
      <p:nvGrpSpPr>
        <p:cNvPr id="1" name=""/>
        <p:cNvGrpSpPr/>
        <p:nvPr/>
      </p:nvGrpSpPr>
      <p:grpSpPr>
        <a:xfrm>
          <a:off x="0" y="0"/>
          <a:ext cx="0" cy="0"/>
          <a:chOff x="0" y="0"/>
          <a:chExt cx="0" cy="0"/>
        </a:xfrm>
      </p:grpSpPr>
      <p:sp>
        <p:nvSpPr>
          <p:cNvPr id="6" name="矩形 5"/>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userDrawn="1"/>
        </p:nvCxnSpPr>
        <p:spPr>
          <a:xfrm>
            <a:off x="624114" y="543840"/>
            <a:ext cx="35814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标题 1"/>
          <p:cNvSpPr>
            <a:spLocks noGrp="1"/>
          </p:cNvSpPr>
          <p:nvPr>
            <p:ph type="title" hasCustomPrompt="1"/>
          </p:nvPr>
        </p:nvSpPr>
        <p:spPr>
          <a:xfrm>
            <a:off x="843749" y="543840"/>
            <a:ext cx="3808933" cy="825045"/>
          </a:xfrm>
          <a:prstGeom prst="rect">
            <a:avLst/>
          </a:prstGeom>
        </p:spPr>
        <p:txBody>
          <a:bodyPr>
            <a:normAutofit/>
          </a:bodyPr>
          <a:lstStyle>
            <a:lvl1pPr>
              <a:defRPr sz="3200" b="1">
                <a:solidFill>
                  <a:schemeClr val="bg1"/>
                </a:solidFill>
              </a:defRPr>
            </a:lvl1pPr>
          </a:lstStyle>
          <a:p>
            <a:r>
              <a:rPr lang="zh-CN" altLang="en-US" dirty="0" smtClean="0"/>
              <a:t>单击此处添加标题</a:t>
            </a:r>
            <a:endParaRPr lang="zh-CN" altLang="en-US" dirty="0"/>
          </a:p>
        </p:txBody>
      </p:sp>
    </p:spTree>
    <p:extLst>
      <p:ext uri="{BB962C8B-B14F-4D97-AF65-F5344CB8AC3E}">
        <p14:creationId xmlns:p14="http://schemas.microsoft.com/office/powerpoint/2010/main" val="107780534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矩形 2"/>
          <p:cNvSpPr/>
          <p:nvPr userDrawn="1"/>
        </p:nvSpPr>
        <p:spPr>
          <a:xfrm>
            <a:off x="0" y="0"/>
            <a:ext cx="12192000" cy="4210050"/>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userDrawn="1"/>
        </p:nvCxnSpPr>
        <p:spPr>
          <a:xfrm>
            <a:off x="624114" y="543840"/>
            <a:ext cx="35814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标题 1"/>
          <p:cNvSpPr>
            <a:spLocks noGrp="1"/>
          </p:cNvSpPr>
          <p:nvPr>
            <p:ph type="title" hasCustomPrompt="1"/>
          </p:nvPr>
        </p:nvSpPr>
        <p:spPr>
          <a:xfrm>
            <a:off x="843749" y="543840"/>
            <a:ext cx="3808933" cy="825045"/>
          </a:xfrm>
          <a:prstGeom prst="rect">
            <a:avLst/>
          </a:prstGeom>
        </p:spPr>
        <p:txBody>
          <a:bodyPr>
            <a:normAutofit/>
          </a:bodyPr>
          <a:lstStyle>
            <a:lvl1pPr>
              <a:defRPr sz="3200" b="1">
                <a:solidFill>
                  <a:schemeClr val="bg1"/>
                </a:solidFill>
              </a:defRPr>
            </a:lvl1pPr>
          </a:lstStyle>
          <a:p>
            <a:r>
              <a:rPr lang="zh-CN" altLang="en-US" dirty="0" smtClean="0"/>
              <a:t>单击此处添加标题</a:t>
            </a:r>
            <a:endParaRPr lang="zh-CN" altLang="en-US" dirty="0"/>
          </a:p>
        </p:txBody>
      </p:sp>
    </p:spTree>
    <p:extLst>
      <p:ext uri="{BB962C8B-B14F-4D97-AF65-F5344CB8AC3E}">
        <p14:creationId xmlns:p14="http://schemas.microsoft.com/office/powerpoint/2010/main" val="679673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chemeClr val="bg1">
            <a:lumMod val="95000"/>
          </a:schemeClr>
        </a:solidFill>
        <a:effectLst/>
      </p:bgPr>
    </p:bg>
    <p:spTree>
      <p:nvGrpSpPr>
        <p:cNvPr id="1" name=""/>
        <p:cNvGrpSpPr/>
        <p:nvPr/>
      </p:nvGrpSpPr>
      <p:grpSpPr>
        <a:xfrm>
          <a:off x="0" y="0"/>
          <a:ext cx="0" cy="0"/>
          <a:chOff x="0" y="0"/>
          <a:chExt cx="0" cy="0"/>
        </a:xfrm>
      </p:grpSpPr>
      <p:grpSp>
        <p:nvGrpSpPr>
          <p:cNvPr id="7" name="组合 6"/>
          <p:cNvGrpSpPr/>
          <p:nvPr userDrawn="1"/>
        </p:nvGrpSpPr>
        <p:grpSpPr>
          <a:xfrm>
            <a:off x="7421798" y="2425848"/>
            <a:ext cx="2599547" cy="2072335"/>
            <a:chOff x="7503886" y="1970815"/>
            <a:chExt cx="2599547" cy="2072335"/>
          </a:xfrm>
          <a:solidFill>
            <a:srgbClr val="88B40F"/>
          </a:solidFill>
        </p:grpSpPr>
        <p:sp>
          <p:nvSpPr>
            <p:cNvPr id="8" name="椭圆 7"/>
            <p:cNvSpPr/>
            <p:nvPr/>
          </p:nvSpPr>
          <p:spPr>
            <a:xfrm>
              <a:off x="7503886" y="1970815"/>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8186058" y="2736864"/>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9249415" y="2875350"/>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userDrawn="1"/>
        </p:nvGrpSpPr>
        <p:grpSpPr>
          <a:xfrm flipH="1">
            <a:off x="1962237" y="2511771"/>
            <a:ext cx="2599547" cy="2072335"/>
            <a:chOff x="1271166" y="2284597"/>
            <a:chExt cx="2599547" cy="2072335"/>
          </a:xfrm>
          <a:solidFill>
            <a:srgbClr val="88B40F"/>
          </a:solidFill>
        </p:grpSpPr>
        <p:sp>
          <p:nvSpPr>
            <p:cNvPr id="12" name="椭圆 11"/>
            <p:cNvSpPr/>
            <p:nvPr/>
          </p:nvSpPr>
          <p:spPr>
            <a:xfrm>
              <a:off x="1271166" y="2284597"/>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1953338" y="3050646"/>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3016695" y="3189132"/>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 9"/>
          <p:cNvGrpSpPr/>
          <p:nvPr userDrawn="1"/>
        </p:nvGrpSpPr>
        <p:grpSpPr>
          <a:xfrm>
            <a:off x="4143657" y="1469396"/>
            <a:ext cx="3671455" cy="3671455"/>
            <a:chOff x="2736273" y="748180"/>
            <a:chExt cx="3671455" cy="3671455"/>
          </a:xfrm>
        </p:grpSpPr>
        <p:sp>
          <p:nvSpPr>
            <p:cNvPr id="16" name="椭圆 15"/>
            <p:cNvSpPr/>
            <p:nvPr/>
          </p:nvSpPr>
          <p:spPr>
            <a:xfrm>
              <a:off x="2736273" y="748180"/>
              <a:ext cx="3671455" cy="3671455"/>
            </a:xfrm>
            <a:prstGeom prst="ellipse">
              <a:avLst/>
            </a:prstGeom>
            <a:solidFill>
              <a:srgbClr val="007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solidFill>
                  <a:srgbClr val="103154"/>
                </a:solidFill>
              </a:endParaRPr>
            </a:p>
          </p:txBody>
        </p:sp>
        <p:sp>
          <p:nvSpPr>
            <p:cNvPr id="17" name="矩形 16"/>
            <p:cNvSpPr/>
            <p:nvPr/>
          </p:nvSpPr>
          <p:spPr>
            <a:xfrm>
              <a:off x="4494148" y="1790555"/>
              <a:ext cx="184731" cy="707886"/>
            </a:xfrm>
            <a:prstGeom prst="rect">
              <a:avLst/>
            </a:prstGeom>
          </p:spPr>
          <p:txBody>
            <a:bodyPr wrap="none">
              <a:spAutoFit/>
            </a:bodyPr>
            <a:lstStyle/>
            <a:p>
              <a:pPr algn="ctr"/>
              <a:endParaRPr kumimoji="1" lang="en-US" altLang="zh-CN" sz="4000" b="1" dirty="0">
                <a:solidFill>
                  <a:schemeClr val="bg1"/>
                </a:solidFill>
              </a:endParaRPr>
            </a:p>
          </p:txBody>
        </p:sp>
      </p:grpSp>
    </p:spTree>
    <p:extLst>
      <p:ext uri="{BB962C8B-B14F-4D97-AF65-F5344CB8AC3E}">
        <p14:creationId xmlns:p14="http://schemas.microsoft.com/office/powerpoint/2010/main" val="3511279563"/>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8" name="矩形 7"/>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userDrawn="1"/>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627937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flipH="1">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Tree>
    <p:extLst>
      <p:ext uri="{BB962C8B-B14F-4D97-AF65-F5344CB8AC3E}">
        <p14:creationId xmlns:p14="http://schemas.microsoft.com/office/powerpoint/2010/main" val="3769804400"/>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E73A1C"/>
        </a:solidFill>
        <a:effectLst/>
      </p:bgPr>
    </p:bg>
    <p:spTree>
      <p:nvGrpSpPr>
        <p:cNvPr id="1" name=""/>
        <p:cNvGrpSpPr/>
        <p:nvPr/>
      </p:nvGrpSpPr>
      <p:grpSpPr>
        <a:xfrm>
          <a:off x="0" y="0"/>
          <a:ext cx="0" cy="0"/>
          <a:chOff x="0" y="0"/>
          <a:chExt cx="0" cy="0"/>
        </a:xfrm>
      </p:grpSpPr>
      <p:sp>
        <p:nvSpPr>
          <p:cNvPr id="7" name="矩形 6"/>
          <p:cNvSpPr/>
          <p:nvPr userDrawn="1"/>
        </p:nvSpPr>
        <p:spPr>
          <a:xfrm>
            <a:off x="440603" y="759873"/>
            <a:ext cx="662361" cy="379656"/>
          </a:xfrm>
          <a:prstGeom prst="rect">
            <a:avLst/>
          </a:prstGeom>
        </p:spPr>
        <p:txBody>
          <a:bodyPr wrap="none">
            <a:spAutoFit/>
          </a:bodyPr>
          <a:lstStyle/>
          <a:p>
            <a:pPr defTabSz="609585"/>
            <a:r>
              <a:rPr lang="zh-CN" altLang="en-US" sz="1867" dirty="0">
                <a:solidFill>
                  <a:srgbClr val="FFFFFF"/>
                </a:solidFill>
                <a:latin typeface="Segoe UI Light"/>
                <a:cs typeface="Segoe UI Light"/>
              </a:rPr>
              <a:t>标注</a:t>
            </a:r>
          </a:p>
        </p:txBody>
      </p:sp>
      <p:sp>
        <p:nvSpPr>
          <p:cNvPr id="8" name="矩形 7"/>
          <p:cNvSpPr/>
          <p:nvPr userDrawn="1"/>
        </p:nvSpPr>
        <p:spPr>
          <a:xfrm>
            <a:off x="2857674" y="841948"/>
            <a:ext cx="1402001" cy="3292440"/>
          </a:xfrm>
          <a:prstGeom prst="rect">
            <a:avLst/>
          </a:prstGeom>
        </p:spPr>
        <p:txBody>
          <a:bodyPr wrap="square">
            <a:spAutoFit/>
          </a:bodyPr>
          <a:lstStyle/>
          <a:p>
            <a:pPr defTabSz="609585">
              <a:lnSpc>
                <a:spcPct val="130000"/>
              </a:lnSpc>
            </a:pPr>
            <a:r>
              <a:rPr lang="zh-CN" altLang="en-US" sz="1333" dirty="0">
                <a:solidFill>
                  <a:srgbClr val="FFFFFF"/>
                </a:solidFill>
                <a:latin typeface="Segoe UI Light"/>
                <a:cs typeface="Segoe UI Light"/>
              </a:rPr>
              <a:t>字体使用 </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行距</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背景图片出处</a:t>
            </a: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声明</a:t>
            </a:r>
            <a:endParaRPr lang="en-US" altLang="zh-CN" sz="1333" dirty="0">
              <a:solidFill>
                <a:srgbClr val="FFFFFF"/>
              </a:solidFill>
              <a:latin typeface="Segoe UI Light"/>
              <a:cs typeface="Segoe UI Light"/>
            </a:endParaRPr>
          </a:p>
        </p:txBody>
      </p:sp>
      <p:sp>
        <p:nvSpPr>
          <p:cNvPr id="9" name="矩形 8"/>
          <p:cNvSpPr/>
          <p:nvPr userDrawn="1"/>
        </p:nvSpPr>
        <p:spPr>
          <a:xfrm>
            <a:off x="4395052" y="841948"/>
            <a:ext cx="3727457" cy="3825791"/>
          </a:xfrm>
          <a:prstGeom prst="rect">
            <a:avLst/>
          </a:prstGeom>
        </p:spPr>
        <p:txBody>
          <a:bodyPr wrap="square">
            <a:spAutoFit/>
          </a:bodyPr>
          <a:lstStyle/>
          <a:p>
            <a:pPr defTabSz="609585">
              <a:lnSpc>
                <a:spcPct val="130000"/>
              </a:lnSpc>
            </a:pPr>
            <a:r>
              <a:rPr lang="zh-CN" altLang="en-US" sz="1333" dirty="0">
                <a:solidFill>
                  <a:srgbClr val="FFFFFF"/>
                </a:solidFill>
                <a:latin typeface="Segoe UI Light"/>
                <a:cs typeface="Segoe UI Light"/>
              </a:rPr>
              <a:t>英文 </a:t>
            </a:r>
            <a:r>
              <a:rPr lang="en-US" altLang="zh-CN" sz="1333" dirty="0" smtClean="0">
                <a:solidFill>
                  <a:srgbClr val="FFFFFF"/>
                </a:solidFill>
                <a:latin typeface="Segoe UI Light"/>
                <a:cs typeface="Segoe UI Light"/>
              </a:rPr>
              <a:t>Calibri</a:t>
            </a: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中文 微软雅黑</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正文 </a:t>
            </a:r>
            <a:r>
              <a:rPr lang="en-US" altLang="zh-CN" sz="1333" dirty="0">
                <a:solidFill>
                  <a:srgbClr val="FFFFFF"/>
                </a:solidFill>
                <a:latin typeface="Segoe UI Light"/>
                <a:cs typeface="Segoe UI Light"/>
              </a:rPr>
              <a:t>1.3</a:t>
            </a: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en-US" altLang="zh-CN" sz="1333" dirty="0" err="1">
                <a:solidFill>
                  <a:srgbClr val="FFFFFF"/>
                </a:solidFill>
                <a:latin typeface="Segoe UI Light"/>
                <a:cs typeface="Segoe UI Light"/>
              </a:rPr>
              <a:t>cn.bing.com</a:t>
            </a: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r>
              <a:rPr lang="zh-CN" altLang="en-US" sz="1333" dirty="0">
                <a:solidFill>
                  <a:prstClr val="white"/>
                </a:solidFill>
              </a:rPr>
              <a:t>互联网是一个开放共享的平台</a:t>
            </a:r>
          </a:p>
          <a:p>
            <a:pPr defTabSz="609585">
              <a:lnSpc>
                <a:spcPct val="130000"/>
              </a:lnSpc>
            </a:pPr>
            <a:r>
              <a:rPr lang="zh-CN" altLang="en-US" sz="1333" dirty="0" smtClean="0">
                <a:solidFill>
                  <a:prstClr val="white"/>
                </a:solidFill>
              </a:rPr>
              <a:t>Office</a:t>
            </a:r>
            <a:r>
              <a:rPr lang="en-US" altLang="zh-CN" sz="1333" dirty="0" smtClean="0">
                <a:solidFill>
                  <a:prstClr val="white"/>
                </a:solidFill>
              </a:rPr>
              <a:t>PLUS</a:t>
            </a:r>
            <a:r>
              <a:rPr lang="zh-CN" altLang="en-US" sz="1333" dirty="0" smtClean="0">
                <a:solidFill>
                  <a:prstClr val="white"/>
                </a:solidFill>
              </a:rPr>
              <a:t> </a:t>
            </a:r>
            <a:r>
              <a:rPr lang="zh-CN" altLang="en-US" sz="1333" dirty="0">
                <a:solidFill>
                  <a:prstClr val="white"/>
                </a:solidFill>
              </a:rPr>
              <a:t>部分设计灵感与元素来源于网络</a:t>
            </a:r>
          </a:p>
          <a:p>
            <a:pPr defTabSz="609585">
              <a:lnSpc>
                <a:spcPct val="130000"/>
              </a:lnSpc>
            </a:pPr>
            <a:r>
              <a:rPr lang="zh-CN" altLang="en-US" sz="1333" dirty="0">
                <a:solidFill>
                  <a:prstClr val="white"/>
                </a:solidFill>
              </a:rPr>
              <a:t>如有建议请联系officeplus@microsoft.com</a:t>
            </a:r>
            <a:endParaRPr lang="en-US" altLang="zh-CN" sz="1333" dirty="0">
              <a:solidFill>
                <a:srgbClr val="FFFFFF"/>
              </a:solidFill>
              <a:latin typeface="Segoe UI Light"/>
              <a:cs typeface="Segoe UI Light"/>
            </a:endParaRPr>
          </a:p>
        </p:txBody>
      </p:sp>
      <p:sp>
        <p:nvSpPr>
          <p:cNvPr id="10" name="矩形 9"/>
          <p:cNvSpPr/>
          <p:nvPr userDrawn="1"/>
        </p:nvSpPr>
        <p:spPr>
          <a:xfrm>
            <a:off x="440603" y="182445"/>
            <a:ext cx="816249" cy="256545"/>
          </a:xfrm>
          <a:prstGeom prst="rect">
            <a:avLst/>
          </a:prstGeom>
        </p:spPr>
        <p:txBody>
          <a:bodyPr wrap="none">
            <a:spAutoFit/>
          </a:bodyPr>
          <a:lstStyle/>
          <a:p>
            <a:pPr defTabSz="609585"/>
            <a:r>
              <a:rPr kumimoji="1" lang="en-US" altLang="zh-CN" sz="1067" dirty="0" err="1" smtClean="0">
                <a:solidFill>
                  <a:srgbClr val="FFFFFF"/>
                </a:solidFill>
                <a:latin typeface="Segoe UI Light"/>
                <a:cs typeface="Segoe UI Light"/>
              </a:rPr>
              <a:t>OfficePLUS</a:t>
            </a:r>
            <a:endParaRPr lang="zh-CN" altLang="en-US" sz="1067" dirty="0">
              <a:solidFill>
                <a:srgbClr val="FFFFFF"/>
              </a:solidFill>
              <a:latin typeface="Segoe UI Light"/>
              <a:cs typeface="Segoe UI Light"/>
            </a:endParaRPr>
          </a:p>
        </p:txBody>
      </p:sp>
    </p:spTree>
    <p:extLst>
      <p:ext uri="{BB962C8B-B14F-4D97-AF65-F5344CB8AC3E}">
        <p14:creationId xmlns:p14="http://schemas.microsoft.com/office/powerpoint/2010/main" val="198280753"/>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pic>
        <p:nvPicPr>
          <p:cNvPr id="8" name="图片 7">
            <a:hlinkClick r:id="rId2"/>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86431" y="2521041"/>
            <a:ext cx="3177903" cy="418585"/>
          </a:xfrm>
          <a:prstGeom prst="rect">
            <a:avLst/>
          </a:prstGeom>
        </p:spPr>
      </p:pic>
      <p:sp>
        <p:nvSpPr>
          <p:cNvPr id="9" name="文本框 8"/>
          <p:cNvSpPr txBox="1"/>
          <p:nvPr userDrawn="1"/>
        </p:nvSpPr>
        <p:spPr>
          <a:xfrm>
            <a:off x="4259746" y="3740751"/>
            <a:ext cx="3347390" cy="297454"/>
          </a:xfrm>
          <a:prstGeom prst="rect">
            <a:avLst/>
          </a:prstGeom>
          <a:noFill/>
        </p:spPr>
        <p:txBody>
          <a:bodyPr wrap="none" rtlCol="0">
            <a:spAutoFit/>
          </a:bodyPr>
          <a:lstStyle/>
          <a:p>
            <a:pPr algn="ctr"/>
            <a:r>
              <a:rPr kumimoji="1" lang="zh-CN" altLang="en-US" sz="1333" dirty="0">
                <a:solidFill>
                  <a:schemeClr val="tx1">
                    <a:lumMod val="75000"/>
                    <a:lumOff val="25000"/>
                  </a:schemeClr>
                </a:solidFill>
              </a:rPr>
              <a:t>点击</a:t>
            </a:r>
            <a:r>
              <a:rPr kumimoji="1" lang="en-US" altLang="zh-CN" sz="1333" dirty="0">
                <a:solidFill>
                  <a:schemeClr val="tx1">
                    <a:lumMod val="75000"/>
                    <a:lumOff val="25000"/>
                  </a:schemeClr>
                </a:solidFill>
              </a:rPr>
              <a:t>Logo</a:t>
            </a:r>
            <a:r>
              <a:rPr kumimoji="1" lang="zh-CN" altLang="en-US" sz="1333" dirty="0">
                <a:solidFill>
                  <a:schemeClr val="tx1">
                    <a:lumMod val="75000"/>
                    <a:lumOff val="25000"/>
                  </a:schemeClr>
                </a:solidFill>
              </a:rPr>
              <a:t>获取更多优质模板（放映模式）</a:t>
            </a:r>
          </a:p>
        </p:txBody>
      </p:sp>
    </p:spTree>
    <p:extLst>
      <p:ext uri="{BB962C8B-B14F-4D97-AF65-F5344CB8AC3E}">
        <p14:creationId xmlns:p14="http://schemas.microsoft.com/office/powerpoint/2010/main" val="3911828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3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06973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4" r:id="rId3"/>
    <p:sldLayoutId id="2147483657" r:id="rId4"/>
    <p:sldLayoutId id="2147483651" r:id="rId5"/>
    <p:sldLayoutId id="2147483652" r:id="rId6"/>
    <p:sldLayoutId id="2147483653" r:id="rId7"/>
    <p:sldLayoutId id="2147483655" r:id="rId8"/>
    <p:sldLayoutId id="2147483656" r:id="rId9"/>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84481" y="2724835"/>
            <a:ext cx="3987666" cy="1200329"/>
          </a:xfrm>
          <a:prstGeom prst="rect">
            <a:avLst/>
          </a:prstGeom>
        </p:spPr>
        <p:txBody>
          <a:bodyPr wrap="square">
            <a:spAutoFit/>
          </a:bodyPr>
          <a:lstStyle/>
          <a:p>
            <a:pPr algn="ctr"/>
            <a:r>
              <a:rPr kumimoji="1" lang="zh-CN" altLang="en-US" sz="3600" b="1" dirty="0">
                <a:solidFill>
                  <a:schemeClr val="bg1"/>
                </a:solidFill>
              </a:rPr>
              <a:t>基于大数据</a:t>
            </a:r>
            <a:r>
              <a:rPr kumimoji="1" lang="zh-CN" altLang="en-US" sz="3600" b="1" dirty="0" smtClean="0">
                <a:solidFill>
                  <a:schemeClr val="bg1"/>
                </a:solidFill>
              </a:rPr>
              <a:t>的</a:t>
            </a:r>
            <a:endParaRPr kumimoji="1" lang="en-US" altLang="zh-CN" sz="3600" b="1" dirty="0" smtClean="0">
              <a:solidFill>
                <a:schemeClr val="bg1"/>
              </a:solidFill>
            </a:endParaRPr>
          </a:p>
          <a:p>
            <a:pPr algn="ctr"/>
            <a:r>
              <a:rPr kumimoji="1" lang="zh-CN" altLang="en-US" sz="3600" b="1" dirty="0" smtClean="0">
                <a:solidFill>
                  <a:schemeClr val="bg1"/>
                </a:solidFill>
              </a:rPr>
              <a:t>智慧</a:t>
            </a:r>
            <a:r>
              <a:rPr kumimoji="1" lang="zh-CN" altLang="en-US" sz="3600" b="1" dirty="0">
                <a:solidFill>
                  <a:schemeClr val="bg1"/>
                </a:solidFill>
              </a:rPr>
              <a:t>网络运</a:t>
            </a:r>
            <a:r>
              <a:rPr kumimoji="1" lang="zh-CN" altLang="en-US" sz="3600" b="1" dirty="0" smtClean="0">
                <a:solidFill>
                  <a:schemeClr val="bg1"/>
                </a:solidFill>
              </a:rPr>
              <a:t>维</a:t>
            </a:r>
            <a:r>
              <a:rPr kumimoji="1" lang="zh-CN" altLang="en-US" sz="3600" b="1" dirty="0">
                <a:solidFill>
                  <a:schemeClr val="bg1"/>
                </a:solidFill>
              </a:rPr>
              <a:t>平</a:t>
            </a:r>
            <a:r>
              <a:rPr kumimoji="1" lang="zh-CN" altLang="en-US" sz="3600" b="1" dirty="0" smtClean="0">
                <a:solidFill>
                  <a:schemeClr val="bg1"/>
                </a:solidFill>
              </a:rPr>
              <a:t>台</a:t>
            </a:r>
            <a:endParaRPr kumimoji="1" lang="en-US" altLang="zh-CN" sz="3600" b="1" dirty="0">
              <a:solidFill>
                <a:schemeClr val="bg1"/>
              </a:solidFill>
            </a:endParaRPr>
          </a:p>
        </p:txBody>
      </p:sp>
    </p:spTree>
    <p:extLst>
      <p:ext uri="{BB962C8B-B14F-4D97-AF65-F5344CB8AC3E}">
        <p14:creationId xmlns:p14="http://schemas.microsoft.com/office/powerpoint/2010/main" val="3586063360"/>
      </p:ext>
    </p:extLst>
  </p:cSld>
  <p:clrMapOvr>
    <a:masterClrMapping/>
  </p:clrMapOvr>
  <p:transition spd="med">
    <p:pull/>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会议回顾</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p:nvPicPr>
        <p:blipFill>
          <a:blip r:embed="rId3"/>
          <a:stretch>
            <a:fillRect/>
          </a:stretch>
        </p:blipFill>
        <p:spPr>
          <a:xfrm>
            <a:off x="624114" y="1723701"/>
            <a:ext cx="5005161" cy="3315024"/>
          </a:xfrm>
          <a:prstGeom prst="rect">
            <a:avLst/>
          </a:prstGeom>
        </p:spPr>
      </p:pic>
      <p:sp>
        <p:nvSpPr>
          <p:cNvPr id="46" name="Freeform 1"/>
          <p:cNvSpPr>
            <a:spLocks noChangeArrowheads="1"/>
          </p:cNvSpPr>
          <p:nvPr/>
        </p:nvSpPr>
        <p:spPr bwMode="auto">
          <a:xfrm rot="-1380000">
            <a:off x="5721266" y="2232153"/>
            <a:ext cx="5797977" cy="2282967"/>
          </a:xfrm>
          <a:custGeom>
            <a:avLst/>
            <a:gdLst>
              <a:gd name="T0" fmla="*/ 2147483647 w 4040"/>
              <a:gd name="T1" fmla="*/ 26459757 h 1888"/>
              <a:gd name="T2" fmla="*/ 2147483647 w 4040"/>
              <a:gd name="T3" fmla="*/ 163168723 h 1888"/>
              <a:gd name="T4" fmla="*/ 2147483647 w 4040"/>
              <a:gd name="T5" fmla="*/ 401306570 h 1888"/>
              <a:gd name="T6" fmla="*/ 1398508473 w 4040"/>
              <a:gd name="T7" fmla="*/ 727643923 h 1888"/>
              <a:gd name="T8" fmla="*/ 650335021 w 4040"/>
              <a:gd name="T9" fmla="*/ 1124540287 h 1888"/>
              <a:gd name="T10" fmla="*/ 166900107 w 4040"/>
              <a:gd name="T11" fmla="*/ 1583176738 h 1888"/>
              <a:gd name="T12" fmla="*/ 0 w 4040"/>
              <a:gd name="T13" fmla="*/ 2081503178 h 1888"/>
              <a:gd name="T14" fmla="*/ 166900107 w 4040"/>
              <a:gd name="T15" fmla="*/ 2147483647 h 1888"/>
              <a:gd name="T16" fmla="*/ 650335021 w 4040"/>
              <a:gd name="T17" fmla="*/ 2147483647 h 1888"/>
              <a:gd name="T18" fmla="*/ 1398508473 w 4040"/>
              <a:gd name="T19" fmla="*/ 2147483647 h 1888"/>
              <a:gd name="T20" fmla="*/ 2147483647 w 4040"/>
              <a:gd name="T21" fmla="*/ 2147483647 h 1888"/>
              <a:gd name="T22" fmla="*/ 2147483647 w 4040"/>
              <a:gd name="T23" fmla="*/ 2147483647 h 1888"/>
              <a:gd name="T24" fmla="*/ 2147483647 w 4040"/>
              <a:gd name="T25" fmla="*/ 2147483647 h 1888"/>
              <a:gd name="T26" fmla="*/ 2147483647 w 4040"/>
              <a:gd name="T27" fmla="*/ 2147483647 h 1888"/>
              <a:gd name="T28" fmla="*/ 2147483647 w 4040"/>
              <a:gd name="T29" fmla="*/ 2147483647 h 1888"/>
              <a:gd name="T30" fmla="*/ 2147483647 w 4040"/>
              <a:gd name="T31" fmla="*/ 2147483647 h 1888"/>
              <a:gd name="T32" fmla="*/ 2147483647 w 4040"/>
              <a:gd name="T33" fmla="*/ 2147483647 h 1888"/>
              <a:gd name="T34" fmla="*/ 2147483647 w 4040"/>
              <a:gd name="T35" fmla="*/ 2147483647 h 1888"/>
              <a:gd name="T36" fmla="*/ 2147483647 w 4040"/>
              <a:gd name="T37" fmla="*/ 2147483647 h 1888"/>
              <a:gd name="T38" fmla="*/ 2147483647 w 4040"/>
              <a:gd name="T39" fmla="*/ 2147483647 h 1888"/>
              <a:gd name="T40" fmla="*/ 2147483647 w 4040"/>
              <a:gd name="T41" fmla="*/ 1741935210 h 1888"/>
              <a:gd name="T42" fmla="*/ 2147483647 w 4040"/>
              <a:gd name="T43" fmla="*/ 1270069629 h 1888"/>
              <a:gd name="T44" fmla="*/ 2147483647 w 4040"/>
              <a:gd name="T45" fmla="*/ 851122425 h 1888"/>
              <a:gd name="T46" fmla="*/ 2147483647 w 4040"/>
              <a:gd name="T47" fmla="*/ 502735346 h 1888"/>
              <a:gd name="T48" fmla="*/ 2147483647 w 4040"/>
              <a:gd name="T49" fmla="*/ 233727595 h 1888"/>
              <a:gd name="T50" fmla="*/ 2147483647 w 4040"/>
              <a:gd name="T51" fmla="*/ 61739924 h 1888"/>
              <a:gd name="T52" fmla="*/ 2147483647 w 4040"/>
              <a:gd name="T53" fmla="*/ 0 h 1888"/>
              <a:gd name="T54" fmla="*/ 2147483647 w 4040"/>
              <a:gd name="T55" fmla="*/ 2147483647 h 1888"/>
              <a:gd name="T56" fmla="*/ 2147483647 w 4040"/>
              <a:gd name="T57" fmla="*/ 2147483647 h 1888"/>
              <a:gd name="T58" fmla="*/ 2147483647 w 4040"/>
              <a:gd name="T59" fmla="*/ 2147483647 h 1888"/>
              <a:gd name="T60" fmla="*/ 1317937145 w 4040"/>
              <a:gd name="T61" fmla="*/ 2147483647 h 1888"/>
              <a:gd name="T62" fmla="*/ 644581017 w 4040"/>
              <a:gd name="T63" fmla="*/ 2147483647 h 1888"/>
              <a:gd name="T64" fmla="*/ 253227189 w 4040"/>
              <a:gd name="T65" fmla="*/ 2147483647 h 1888"/>
              <a:gd name="T66" fmla="*/ 195676914 w 4040"/>
              <a:gd name="T67" fmla="*/ 1905103886 h 1888"/>
              <a:gd name="T68" fmla="*/ 477679267 w 4040"/>
              <a:gd name="T69" fmla="*/ 1464108256 h 1888"/>
              <a:gd name="T70" fmla="*/ 1064708366 w 4040"/>
              <a:gd name="T71" fmla="*/ 1071620797 h 1888"/>
              <a:gd name="T72" fmla="*/ 1904964760 w 4040"/>
              <a:gd name="T73" fmla="*/ 740873053 h 1888"/>
              <a:gd name="T74" fmla="*/ 2147483647 w 4040"/>
              <a:gd name="T75" fmla="*/ 489506215 h 1888"/>
              <a:gd name="T76" fmla="*/ 2147483647 w 4040"/>
              <a:gd name="T77" fmla="*/ 326337446 h 1888"/>
              <a:gd name="T78" fmla="*/ 2147483647 w 4040"/>
              <a:gd name="T79" fmla="*/ 264597545 h 1888"/>
              <a:gd name="T80" fmla="*/ 2147483647 w 4040"/>
              <a:gd name="T81" fmla="*/ 326337446 h 1888"/>
              <a:gd name="T82" fmla="*/ 2147483647 w 4040"/>
              <a:gd name="T83" fmla="*/ 489506215 h 1888"/>
              <a:gd name="T84" fmla="*/ 2147483647 w 4040"/>
              <a:gd name="T85" fmla="*/ 740873053 h 1888"/>
              <a:gd name="T86" fmla="*/ 2147483647 w 4040"/>
              <a:gd name="T87" fmla="*/ 1071620797 h 1888"/>
              <a:gd name="T88" fmla="*/ 2147483647 w 4040"/>
              <a:gd name="T89" fmla="*/ 1464108256 h 1888"/>
              <a:gd name="T90" fmla="*/ 2147483647 w 4040"/>
              <a:gd name="T91" fmla="*/ 1905103886 h 1888"/>
              <a:gd name="T92" fmla="*/ 2147483647 w 4040"/>
              <a:gd name="T93" fmla="*/ 2147483647 h 1888"/>
              <a:gd name="T94" fmla="*/ 2147483647 w 4040"/>
              <a:gd name="T95" fmla="*/ 2147483647 h 1888"/>
              <a:gd name="T96" fmla="*/ 2147483647 w 4040"/>
              <a:gd name="T97" fmla="*/ 2147483647 h 1888"/>
              <a:gd name="T98" fmla="*/ 2147483647 w 4040"/>
              <a:gd name="T99" fmla="*/ 2147483647 h 1888"/>
              <a:gd name="T100" fmla="*/ 2147483647 w 4040"/>
              <a:gd name="T101" fmla="*/ 2147483647 h 1888"/>
              <a:gd name="T102" fmla="*/ 2147483647 w 4040"/>
              <a:gd name="T103" fmla="*/ 2147483647 h 1888"/>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4040"/>
              <a:gd name="T157" fmla="*/ 0 h 1888"/>
              <a:gd name="T158" fmla="*/ 4040 w 4040"/>
              <a:gd name="T159" fmla="*/ 1888 h 1888"/>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4040" h="1888">
                <a:moveTo>
                  <a:pt x="2020" y="0"/>
                </a:moveTo>
                <a:lnTo>
                  <a:pt x="1854" y="4"/>
                </a:lnTo>
                <a:lnTo>
                  <a:pt x="1692" y="12"/>
                </a:lnTo>
                <a:lnTo>
                  <a:pt x="1534" y="28"/>
                </a:lnTo>
                <a:lnTo>
                  <a:pt x="1382" y="48"/>
                </a:lnTo>
                <a:lnTo>
                  <a:pt x="1234" y="74"/>
                </a:lnTo>
                <a:lnTo>
                  <a:pt x="1092" y="106"/>
                </a:lnTo>
                <a:lnTo>
                  <a:pt x="956" y="142"/>
                </a:lnTo>
                <a:lnTo>
                  <a:pt x="828" y="182"/>
                </a:lnTo>
                <a:lnTo>
                  <a:pt x="706" y="228"/>
                </a:lnTo>
                <a:lnTo>
                  <a:pt x="592" y="276"/>
                </a:lnTo>
                <a:lnTo>
                  <a:pt x="486" y="330"/>
                </a:lnTo>
                <a:lnTo>
                  <a:pt x="390" y="386"/>
                </a:lnTo>
                <a:lnTo>
                  <a:pt x="302" y="446"/>
                </a:lnTo>
                <a:lnTo>
                  <a:pt x="226" y="510"/>
                </a:lnTo>
                <a:lnTo>
                  <a:pt x="158" y="576"/>
                </a:lnTo>
                <a:lnTo>
                  <a:pt x="102" y="646"/>
                </a:lnTo>
                <a:lnTo>
                  <a:pt x="58" y="718"/>
                </a:lnTo>
                <a:lnTo>
                  <a:pt x="26" y="790"/>
                </a:lnTo>
                <a:lnTo>
                  <a:pt x="6" y="866"/>
                </a:lnTo>
                <a:lnTo>
                  <a:pt x="0" y="944"/>
                </a:lnTo>
                <a:lnTo>
                  <a:pt x="6" y="1022"/>
                </a:lnTo>
                <a:lnTo>
                  <a:pt x="26" y="1098"/>
                </a:lnTo>
                <a:lnTo>
                  <a:pt x="58" y="1170"/>
                </a:lnTo>
                <a:lnTo>
                  <a:pt x="102" y="1242"/>
                </a:lnTo>
                <a:lnTo>
                  <a:pt x="158" y="1312"/>
                </a:lnTo>
                <a:lnTo>
                  <a:pt x="226" y="1378"/>
                </a:lnTo>
                <a:lnTo>
                  <a:pt x="302" y="1442"/>
                </a:lnTo>
                <a:lnTo>
                  <a:pt x="390" y="1502"/>
                </a:lnTo>
                <a:lnTo>
                  <a:pt x="486" y="1558"/>
                </a:lnTo>
                <a:lnTo>
                  <a:pt x="592" y="1612"/>
                </a:lnTo>
                <a:lnTo>
                  <a:pt x="706" y="1660"/>
                </a:lnTo>
                <a:lnTo>
                  <a:pt x="828" y="1706"/>
                </a:lnTo>
                <a:lnTo>
                  <a:pt x="956" y="1746"/>
                </a:lnTo>
                <a:lnTo>
                  <a:pt x="1092" y="1782"/>
                </a:lnTo>
                <a:lnTo>
                  <a:pt x="1234" y="1814"/>
                </a:lnTo>
                <a:lnTo>
                  <a:pt x="1382" y="1840"/>
                </a:lnTo>
                <a:lnTo>
                  <a:pt x="1534" y="1860"/>
                </a:lnTo>
                <a:lnTo>
                  <a:pt x="1692" y="1876"/>
                </a:lnTo>
                <a:lnTo>
                  <a:pt x="1854" y="1884"/>
                </a:lnTo>
                <a:lnTo>
                  <a:pt x="2020" y="1888"/>
                </a:lnTo>
                <a:lnTo>
                  <a:pt x="2186" y="1884"/>
                </a:lnTo>
                <a:lnTo>
                  <a:pt x="2348" y="1876"/>
                </a:lnTo>
                <a:lnTo>
                  <a:pt x="2506" y="1860"/>
                </a:lnTo>
                <a:lnTo>
                  <a:pt x="2658" y="1840"/>
                </a:lnTo>
                <a:lnTo>
                  <a:pt x="2806" y="1814"/>
                </a:lnTo>
                <a:lnTo>
                  <a:pt x="2948" y="1782"/>
                </a:lnTo>
                <a:lnTo>
                  <a:pt x="3084" y="1746"/>
                </a:lnTo>
                <a:lnTo>
                  <a:pt x="3212" y="1706"/>
                </a:lnTo>
                <a:lnTo>
                  <a:pt x="3334" y="1660"/>
                </a:lnTo>
                <a:lnTo>
                  <a:pt x="3448" y="1612"/>
                </a:lnTo>
                <a:lnTo>
                  <a:pt x="3554" y="1558"/>
                </a:lnTo>
                <a:lnTo>
                  <a:pt x="3650" y="1502"/>
                </a:lnTo>
                <a:lnTo>
                  <a:pt x="3738" y="1442"/>
                </a:lnTo>
                <a:lnTo>
                  <a:pt x="3814" y="1378"/>
                </a:lnTo>
                <a:lnTo>
                  <a:pt x="3882" y="1312"/>
                </a:lnTo>
                <a:lnTo>
                  <a:pt x="3938" y="1242"/>
                </a:lnTo>
                <a:lnTo>
                  <a:pt x="3982" y="1170"/>
                </a:lnTo>
                <a:lnTo>
                  <a:pt x="4014" y="1098"/>
                </a:lnTo>
                <a:lnTo>
                  <a:pt x="4034" y="1022"/>
                </a:lnTo>
                <a:lnTo>
                  <a:pt x="4040" y="944"/>
                </a:lnTo>
                <a:lnTo>
                  <a:pt x="4034" y="866"/>
                </a:lnTo>
                <a:lnTo>
                  <a:pt x="4014" y="790"/>
                </a:lnTo>
                <a:lnTo>
                  <a:pt x="3982" y="718"/>
                </a:lnTo>
                <a:lnTo>
                  <a:pt x="3938" y="646"/>
                </a:lnTo>
                <a:lnTo>
                  <a:pt x="3882" y="576"/>
                </a:lnTo>
                <a:lnTo>
                  <a:pt x="3814" y="510"/>
                </a:lnTo>
                <a:lnTo>
                  <a:pt x="3738" y="446"/>
                </a:lnTo>
                <a:lnTo>
                  <a:pt x="3650" y="386"/>
                </a:lnTo>
                <a:lnTo>
                  <a:pt x="3554" y="330"/>
                </a:lnTo>
                <a:lnTo>
                  <a:pt x="3448" y="276"/>
                </a:lnTo>
                <a:lnTo>
                  <a:pt x="3334" y="228"/>
                </a:lnTo>
                <a:lnTo>
                  <a:pt x="3212" y="182"/>
                </a:lnTo>
                <a:lnTo>
                  <a:pt x="3084" y="142"/>
                </a:lnTo>
                <a:lnTo>
                  <a:pt x="2948" y="106"/>
                </a:lnTo>
                <a:lnTo>
                  <a:pt x="2806" y="74"/>
                </a:lnTo>
                <a:lnTo>
                  <a:pt x="2658" y="48"/>
                </a:lnTo>
                <a:lnTo>
                  <a:pt x="2506" y="28"/>
                </a:lnTo>
                <a:lnTo>
                  <a:pt x="2348" y="12"/>
                </a:lnTo>
                <a:lnTo>
                  <a:pt x="2186" y="4"/>
                </a:lnTo>
                <a:lnTo>
                  <a:pt x="2020" y="0"/>
                </a:lnTo>
                <a:close/>
                <a:moveTo>
                  <a:pt x="1922" y="1748"/>
                </a:moveTo>
                <a:lnTo>
                  <a:pt x="1762" y="1746"/>
                </a:lnTo>
                <a:lnTo>
                  <a:pt x="1606" y="1736"/>
                </a:lnTo>
                <a:lnTo>
                  <a:pt x="1454" y="1722"/>
                </a:lnTo>
                <a:lnTo>
                  <a:pt x="1306" y="1702"/>
                </a:lnTo>
                <a:lnTo>
                  <a:pt x="1164" y="1678"/>
                </a:lnTo>
                <a:lnTo>
                  <a:pt x="1028" y="1648"/>
                </a:lnTo>
                <a:lnTo>
                  <a:pt x="898" y="1614"/>
                </a:lnTo>
                <a:lnTo>
                  <a:pt x="776" y="1576"/>
                </a:lnTo>
                <a:lnTo>
                  <a:pt x="662" y="1532"/>
                </a:lnTo>
                <a:lnTo>
                  <a:pt x="554" y="1486"/>
                </a:lnTo>
                <a:lnTo>
                  <a:pt x="458" y="1436"/>
                </a:lnTo>
                <a:lnTo>
                  <a:pt x="370" y="1382"/>
                </a:lnTo>
                <a:lnTo>
                  <a:pt x="292" y="1326"/>
                </a:lnTo>
                <a:lnTo>
                  <a:pt x="224" y="1266"/>
                </a:lnTo>
                <a:lnTo>
                  <a:pt x="166" y="1204"/>
                </a:lnTo>
                <a:lnTo>
                  <a:pt x="122" y="1140"/>
                </a:lnTo>
                <a:lnTo>
                  <a:pt x="88" y="1074"/>
                </a:lnTo>
                <a:lnTo>
                  <a:pt x="68" y="1004"/>
                </a:lnTo>
                <a:lnTo>
                  <a:pt x="62" y="934"/>
                </a:lnTo>
                <a:lnTo>
                  <a:pt x="68" y="864"/>
                </a:lnTo>
                <a:lnTo>
                  <a:pt x="88" y="796"/>
                </a:lnTo>
                <a:lnTo>
                  <a:pt x="122" y="730"/>
                </a:lnTo>
                <a:lnTo>
                  <a:pt x="166" y="664"/>
                </a:lnTo>
                <a:lnTo>
                  <a:pt x="224" y="602"/>
                </a:lnTo>
                <a:lnTo>
                  <a:pt x="292" y="544"/>
                </a:lnTo>
                <a:lnTo>
                  <a:pt x="370" y="486"/>
                </a:lnTo>
                <a:lnTo>
                  <a:pt x="458" y="434"/>
                </a:lnTo>
                <a:lnTo>
                  <a:pt x="554" y="382"/>
                </a:lnTo>
                <a:lnTo>
                  <a:pt x="662" y="336"/>
                </a:lnTo>
                <a:lnTo>
                  <a:pt x="776" y="294"/>
                </a:lnTo>
                <a:lnTo>
                  <a:pt x="898" y="256"/>
                </a:lnTo>
                <a:lnTo>
                  <a:pt x="1028" y="222"/>
                </a:lnTo>
                <a:lnTo>
                  <a:pt x="1164" y="192"/>
                </a:lnTo>
                <a:lnTo>
                  <a:pt x="1306" y="166"/>
                </a:lnTo>
                <a:lnTo>
                  <a:pt x="1454" y="148"/>
                </a:lnTo>
                <a:lnTo>
                  <a:pt x="1606" y="132"/>
                </a:lnTo>
                <a:lnTo>
                  <a:pt x="1762" y="124"/>
                </a:lnTo>
                <a:lnTo>
                  <a:pt x="1922" y="120"/>
                </a:lnTo>
                <a:lnTo>
                  <a:pt x="2084" y="124"/>
                </a:lnTo>
                <a:lnTo>
                  <a:pt x="2240" y="132"/>
                </a:lnTo>
                <a:lnTo>
                  <a:pt x="2392" y="148"/>
                </a:lnTo>
                <a:lnTo>
                  <a:pt x="2540" y="166"/>
                </a:lnTo>
                <a:lnTo>
                  <a:pt x="2682" y="192"/>
                </a:lnTo>
                <a:lnTo>
                  <a:pt x="2818" y="222"/>
                </a:lnTo>
                <a:lnTo>
                  <a:pt x="2948" y="256"/>
                </a:lnTo>
                <a:lnTo>
                  <a:pt x="3070" y="294"/>
                </a:lnTo>
                <a:lnTo>
                  <a:pt x="3184" y="336"/>
                </a:lnTo>
                <a:lnTo>
                  <a:pt x="3292" y="382"/>
                </a:lnTo>
                <a:lnTo>
                  <a:pt x="3388" y="434"/>
                </a:lnTo>
                <a:lnTo>
                  <a:pt x="3476" y="486"/>
                </a:lnTo>
                <a:lnTo>
                  <a:pt x="3554" y="544"/>
                </a:lnTo>
                <a:lnTo>
                  <a:pt x="3622" y="602"/>
                </a:lnTo>
                <a:lnTo>
                  <a:pt x="3680" y="664"/>
                </a:lnTo>
                <a:lnTo>
                  <a:pt x="3724" y="730"/>
                </a:lnTo>
                <a:lnTo>
                  <a:pt x="3758" y="796"/>
                </a:lnTo>
                <a:lnTo>
                  <a:pt x="3778" y="864"/>
                </a:lnTo>
                <a:lnTo>
                  <a:pt x="3784" y="934"/>
                </a:lnTo>
                <a:lnTo>
                  <a:pt x="3778" y="1004"/>
                </a:lnTo>
                <a:lnTo>
                  <a:pt x="3758" y="1074"/>
                </a:lnTo>
                <a:lnTo>
                  <a:pt x="3724" y="1140"/>
                </a:lnTo>
                <a:lnTo>
                  <a:pt x="3680" y="1204"/>
                </a:lnTo>
                <a:lnTo>
                  <a:pt x="3622" y="1266"/>
                </a:lnTo>
                <a:lnTo>
                  <a:pt x="3554" y="1326"/>
                </a:lnTo>
                <a:lnTo>
                  <a:pt x="3476" y="1382"/>
                </a:lnTo>
                <a:lnTo>
                  <a:pt x="3388" y="1436"/>
                </a:lnTo>
                <a:lnTo>
                  <a:pt x="3292" y="1486"/>
                </a:lnTo>
                <a:lnTo>
                  <a:pt x="3184" y="1532"/>
                </a:lnTo>
                <a:lnTo>
                  <a:pt x="3070" y="1576"/>
                </a:lnTo>
                <a:lnTo>
                  <a:pt x="2948" y="1614"/>
                </a:lnTo>
                <a:lnTo>
                  <a:pt x="2818" y="1648"/>
                </a:lnTo>
                <a:lnTo>
                  <a:pt x="2682" y="1678"/>
                </a:lnTo>
                <a:lnTo>
                  <a:pt x="2540" y="1702"/>
                </a:lnTo>
                <a:lnTo>
                  <a:pt x="2392" y="1722"/>
                </a:lnTo>
                <a:lnTo>
                  <a:pt x="2240" y="1736"/>
                </a:lnTo>
                <a:lnTo>
                  <a:pt x="2084" y="1746"/>
                </a:lnTo>
                <a:lnTo>
                  <a:pt x="1922" y="1748"/>
                </a:lnTo>
                <a:close/>
              </a:path>
            </a:pathLst>
          </a:custGeom>
          <a:gradFill rotWithShape="0">
            <a:gsLst>
              <a:gs pos="0">
                <a:srgbClr val="83B7E7"/>
              </a:gs>
              <a:gs pos="100000">
                <a:srgbClr val="F2F7FB"/>
              </a:gs>
            </a:gsLst>
            <a:lin ang="10800000" scaled="1"/>
          </a:gradFill>
          <a:ln w="9525">
            <a:noFill/>
            <a:round/>
            <a:headEnd/>
            <a:tailEnd/>
          </a:ln>
        </p:spPr>
        <p:txBody>
          <a:bodyPr wrap="none" anchor="ctr"/>
          <a:lstStyle/>
          <a:p>
            <a:pPr defTabSz="449263">
              <a:buClr>
                <a:srgbClr val="FFFFFF"/>
              </a:buClr>
              <a:buSzPct val="100000"/>
              <a:buFont typeface="Arial" charset="0"/>
              <a:buNone/>
            </a:pPr>
            <a:endParaRPr lang="zh-CN" altLang="en-US">
              <a:solidFill>
                <a:srgbClr val="FFFFFF"/>
              </a:solidFill>
            </a:endParaRPr>
          </a:p>
        </p:txBody>
      </p:sp>
      <p:sp>
        <p:nvSpPr>
          <p:cNvPr id="47" name="Oval 2"/>
          <p:cNvSpPr>
            <a:spLocks noChangeArrowheads="1"/>
          </p:cNvSpPr>
          <p:nvPr/>
        </p:nvSpPr>
        <p:spPr bwMode="auto">
          <a:xfrm rot="-1560000">
            <a:off x="8230770" y="2129556"/>
            <a:ext cx="902534" cy="248205"/>
          </a:xfrm>
          <a:prstGeom prst="ellipse">
            <a:avLst/>
          </a:prstGeom>
          <a:solidFill>
            <a:srgbClr val="020A53">
              <a:alpha val="70195"/>
            </a:srgbClr>
          </a:solidFill>
          <a:ln w="9525">
            <a:noFill/>
            <a:round/>
            <a:headEnd/>
            <a:tailEnd/>
          </a:ln>
        </p:spPr>
        <p:txBody>
          <a:bodyPr wrap="none" anchor="ctr"/>
          <a:lstStyle/>
          <a:p>
            <a:pPr defTabSz="449263">
              <a:buClr>
                <a:srgbClr val="FFFFFF"/>
              </a:buClr>
              <a:buSzPct val="100000"/>
              <a:buFont typeface="Arial" charset="0"/>
              <a:buNone/>
            </a:pPr>
            <a:endParaRPr lang="zh-CN" altLang="en-US">
              <a:solidFill>
                <a:srgbClr val="FFFFFF"/>
              </a:solidFill>
            </a:endParaRPr>
          </a:p>
        </p:txBody>
      </p:sp>
      <p:sp>
        <p:nvSpPr>
          <p:cNvPr id="48" name="Oval 3"/>
          <p:cNvSpPr>
            <a:spLocks noChangeArrowheads="1"/>
          </p:cNvSpPr>
          <p:nvPr/>
        </p:nvSpPr>
        <p:spPr bwMode="auto">
          <a:xfrm rot="-1560000">
            <a:off x="10453039" y="3273601"/>
            <a:ext cx="902534" cy="248205"/>
          </a:xfrm>
          <a:prstGeom prst="ellipse">
            <a:avLst/>
          </a:prstGeom>
          <a:solidFill>
            <a:srgbClr val="020A53">
              <a:alpha val="70195"/>
            </a:srgbClr>
          </a:solidFill>
          <a:ln w="9525">
            <a:noFill/>
            <a:round/>
            <a:headEnd/>
            <a:tailEnd/>
          </a:ln>
        </p:spPr>
        <p:txBody>
          <a:bodyPr wrap="none" anchor="ctr"/>
          <a:lstStyle/>
          <a:p>
            <a:pPr defTabSz="449263">
              <a:buClr>
                <a:srgbClr val="FFFFFF"/>
              </a:buClr>
              <a:buSzPct val="100000"/>
              <a:buFont typeface="Arial" charset="0"/>
              <a:buNone/>
            </a:pPr>
            <a:endParaRPr lang="zh-CN" altLang="en-US">
              <a:solidFill>
                <a:srgbClr val="FFFFFF"/>
              </a:solidFill>
            </a:endParaRPr>
          </a:p>
        </p:txBody>
      </p:sp>
      <p:sp>
        <p:nvSpPr>
          <p:cNvPr id="49" name="Oval 4"/>
          <p:cNvSpPr>
            <a:spLocks noChangeArrowheads="1"/>
          </p:cNvSpPr>
          <p:nvPr/>
        </p:nvSpPr>
        <p:spPr bwMode="auto">
          <a:xfrm rot="-1560000">
            <a:off x="7544645" y="4596007"/>
            <a:ext cx="902534" cy="248205"/>
          </a:xfrm>
          <a:prstGeom prst="ellipse">
            <a:avLst/>
          </a:prstGeom>
          <a:solidFill>
            <a:srgbClr val="020A53">
              <a:alpha val="70195"/>
            </a:srgbClr>
          </a:solidFill>
          <a:ln w="9525">
            <a:noFill/>
            <a:round/>
            <a:headEnd/>
            <a:tailEnd/>
          </a:ln>
        </p:spPr>
        <p:txBody>
          <a:bodyPr wrap="none" anchor="ctr"/>
          <a:lstStyle/>
          <a:p>
            <a:pPr defTabSz="449263">
              <a:buClr>
                <a:srgbClr val="FFFFFF"/>
              </a:buClr>
              <a:buSzPct val="100000"/>
              <a:buFont typeface="Arial" charset="0"/>
              <a:buNone/>
            </a:pPr>
            <a:endParaRPr lang="zh-CN" altLang="en-US">
              <a:solidFill>
                <a:srgbClr val="FFFFFF"/>
              </a:solidFill>
            </a:endParaRPr>
          </a:p>
        </p:txBody>
      </p:sp>
      <p:sp>
        <p:nvSpPr>
          <p:cNvPr id="50" name="Oval 8"/>
          <p:cNvSpPr>
            <a:spLocks noChangeArrowheads="1"/>
          </p:cNvSpPr>
          <p:nvPr/>
        </p:nvSpPr>
        <p:spPr bwMode="auto">
          <a:xfrm>
            <a:off x="7784649" y="1451978"/>
            <a:ext cx="1086533" cy="1038065"/>
          </a:xfrm>
          <a:prstGeom prst="ellipse">
            <a:avLst/>
          </a:prstGeom>
          <a:gradFill rotWithShape="0">
            <a:gsLst>
              <a:gs pos="0">
                <a:srgbClr val="8A52C8"/>
              </a:gs>
              <a:gs pos="100000">
                <a:srgbClr val="2F1C44"/>
              </a:gs>
            </a:gsLst>
            <a:path path="shape">
              <a:fillToRect l="50000" t="50000" r="50000" b="50000"/>
            </a:path>
          </a:gradFill>
          <a:ln w="9525">
            <a:noFill/>
            <a:round/>
            <a:headEnd/>
            <a:tailEnd/>
          </a:ln>
        </p:spPr>
        <p:txBody>
          <a:bodyPr wrap="none" anchor="ctr"/>
          <a:lstStyle/>
          <a:p>
            <a:pPr defTabSz="449263">
              <a:buClr>
                <a:srgbClr val="FFFFFF"/>
              </a:buClr>
              <a:buSzPct val="100000"/>
              <a:buFont typeface="Arial" charset="0"/>
              <a:buNone/>
            </a:pPr>
            <a:endParaRPr lang="zh-CN" altLang="en-US">
              <a:solidFill>
                <a:srgbClr val="FFFFFF"/>
              </a:solidFill>
            </a:endParaRPr>
          </a:p>
        </p:txBody>
      </p:sp>
      <p:sp>
        <p:nvSpPr>
          <p:cNvPr id="51" name="Oval 10"/>
          <p:cNvSpPr>
            <a:spLocks noChangeArrowheads="1"/>
          </p:cNvSpPr>
          <p:nvPr/>
        </p:nvSpPr>
        <p:spPr bwMode="auto">
          <a:xfrm>
            <a:off x="7048506" y="3901236"/>
            <a:ext cx="1085190" cy="1038064"/>
          </a:xfrm>
          <a:prstGeom prst="ellipse">
            <a:avLst/>
          </a:prstGeom>
          <a:gradFill rotWithShape="0">
            <a:gsLst>
              <a:gs pos="0">
                <a:srgbClr val="2F7ADF"/>
              </a:gs>
              <a:gs pos="100000">
                <a:srgbClr val="102B4F"/>
              </a:gs>
            </a:gsLst>
            <a:path path="shape">
              <a:fillToRect l="50000" t="50000" r="50000" b="50000"/>
            </a:path>
          </a:gradFill>
          <a:ln w="9525">
            <a:noFill/>
            <a:round/>
            <a:headEnd/>
            <a:tailEnd/>
          </a:ln>
        </p:spPr>
        <p:txBody>
          <a:bodyPr wrap="none" anchor="ctr"/>
          <a:lstStyle/>
          <a:p>
            <a:pPr defTabSz="449263">
              <a:buClr>
                <a:srgbClr val="FFFFFF"/>
              </a:buClr>
              <a:buSzPct val="100000"/>
              <a:buFont typeface="Arial" charset="0"/>
              <a:buNone/>
            </a:pPr>
            <a:endParaRPr lang="zh-CN" altLang="en-US">
              <a:solidFill>
                <a:srgbClr val="FFFFFF"/>
              </a:solidFill>
            </a:endParaRPr>
          </a:p>
        </p:txBody>
      </p:sp>
      <p:sp>
        <p:nvSpPr>
          <p:cNvPr id="52" name="Oval 12"/>
          <p:cNvSpPr>
            <a:spLocks noChangeArrowheads="1"/>
          </p:cNvSpPr>
          <p:nvPr/>
        </p:nvSpPr>
        <p:spPr bwMode="auto">
          <a:xfrm>
            <a:off x="9997821" y="2614999"/>
            <a:ext cx="1026095" cy="1038065"/>
          </a:xfrm>
          <a:prstGeom prst="ellipse">
            <a:avLst/>
          </a:prstGeom>
          <a:gradFill rotWithShape="0">
            <a:gsLst>
              <a:gs pos="0">
                <a:srgbClr val="DD8739"/>
              </a:gs>
              <a:gs pos="100000">
                <a:srgbClr val="4B2E13"/>
              </a:gs>
            </a:gsLst>
            <a:path path="shape">
              <a:fillToRect l="50000" t="50000" r="50000" b="50000"/>
            </a:path>
          </a:gradFill>
          <a:ln w="9525">
            <a:noFill/>
            <a:round/>
            <a:headEnd/>
            <a:tailEnd/>
          </a:ln>
        </p:spPr>
        <p:txBody>
          <a:bodyPr wrap="none" anchor="ctr"/>
          <a:lstStyle/>
          <a:p>
            <a:pPr defTabSz="449263">
              <a:buClr>
                <a:srgbClr val="FFFFFF"/>
              </a:buClr>
              <a:buSzPct val="100000"/>
              <a:buFont typeface="Arial" charset="0"/>
              <a:buNone/>
            </a:pPr>
            <a:endParaRPr lang="zh-CN" altLang="en-US">
              <a:solidFill>
                <a:srgbClr val="FFFFFF"/>
              </a:solidFill>
            </a:endParaRPr>
          </a:p>
        </p:txBody>
      </p:sp>
      <p:sp>
        <p:nvSpPr>
          <p:cNvPr id="53" name="Text Box 14"/>
          <p:cNvSpPr txBox="1">
            <a:spLocks noChangeArrowheads="1"/>
          </p:cNvSpPr>
          <p:nvPr/>
        </p:nvSpPr>
        <p:spPr bwMode="auto">
          <a:xfrm>
            <a:off x="7909945" y="1711783"/>
            <a:ext cx="938995" cy="463846"/>
          </a:xfrm>
          <a:prstGeom prst="rect">
            <a:avLst/>
          </a:prstGeom>
          <a:noFill/>
          <a:ln w="9525">
            <a:noFill/>
            <a:round/>
            <a:headEnd/>
            <a:tailEnd/>
          </a:ln>
        </p:spPr>
        <p:txBody>
          <a:bodyPr wrap="square" lIns="90000" tIns="46800" rIns="90000" bIns="46800">
            <a:spAutoFit/>
          </a:bodyPr>
          <a:lstStyle/>
          <a:p>
            <a:pPr defTabSz="449263" eaLnBrk="0" hangingPunct="0">
              <a:buClr>
                <a:srgbClr val="FFFFFF"/>
              </a:buClr>
              <a:buSzPct val="100000"/>
              <a:buFont typeface="Verdan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2400" b="1" dirty="0" smtClean="0">
                <a:solidFill>
                  <a:srgbClr val="FFFFFF"/>
                </a:solidFill>
                <a:latin typeface="Verdana" pitchFamily="34" charset="0"/>
              </a:rPr>
              <a:t>感知</a:t>
            </a:r>
            <a:endParaRPr lang="en-GB" altLang="zh-CN" sz="2400" b="1" dirty="0">
              <a:solidFill>
                <a:srgbClr val="FFFFFF"/>
              </a:solidFill>
              <a:latin typeface="Verdana" pitchFamily="34" charset="0"/>
            </a:endParaRPr>
          </a:p>
        </p:txBody>
      </p:sp>
      <p:sp>
        <p:nvSpPr>
          <p:cNvPr id="79" name="Text Box 15"/>
          <p:cNvSpPr txBox="1">
            <a:spLocks noChangeArrowheads="1"/>
          </p:cNvSpPr>
          <p:nvPr/>
        </p:nvSpPr>
        <p:spPr bwMode="auto">
          <a:xfrm>
            <a:off x="10105834" y="2929111"/>
            <a:ext cx="810071" cy="463846"/>
          </a:xfrm>
          <a:prstGeom prst="rect">
            <a:avLst/>
          </a:prstGeom>
          <a:noFill/>
          <a:ln w="9525">
            <a:noFill/>
            <a:round/>
            <a:headEnd/>
            <a:tailEnd/>
          </a:ln>
        </p:spPr>
        <p:txBody>
          <a:bodyPr wrap="square" lIns="90000" tIns="46800" rIns="90000" bIns="46800">
            <a:spAutoFit/>
          </a:bodyPr>
          <a:lstStyle/>
          <a:p>
            <a:pPr defTabSz="449263" eaLnBrk="0" hangingPunct="0">
              <a:buClr>
                <a:srgbClr val="FFFFFF"/>
              </a:buClr>
              <a:buSzPct val="100000"/>
              <a:buFont typeface="Verdan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2400" b="1" dirty="0" smtClean="0">
                <a:solidFill>
                  <a:srgbClr val="FFFFFF"/>
                </a:solidFill>
                <a:latin typeface="Verdana" pitchFamily="34" charset="0"/>
              </a:rPr>
              <a:t>决策</a:t>
            </a:r>
            <a:endParaRPr lang="en-GB" altLang="zh-CN" sz="2400" b="1" dirty="0">
              <a:solidFill>
                <a:srgbClr val="FFFFFF"/>
              </a:solidFill>
              <a:latin typeface="Verdana" pitchFamily="34" charset="0"/>
            </a:endParaRPr>
          </a:p>
        </p:txBody>
      </p:sp>
      <p:sp>
        <p:nvSpPr>
          <p:cNvPr id="80" name="Text Box 17"/>
          <p:cNvSpPr txBox="1">
            <a:spLocks noChangeArrowheads="1"/>
          </p:cNvSpPr>
          <p:nvPr/>
        </p:nvSpPr>
        <p:spPr bwMode="auto">
          <a:xfrm>
            <a:off x="7224696" y="4251880"/>
            <a:ext cx="841441" cy="463846"/>
          </a:xfrm>
          <a:prstGeom prst="rect">
            <a:avLst/>
          </a:prstGeom>
          <a:noFill/>
          <a:ln w="9525">
            <a:noFill/>
            <a:round/>
            <a:headEnd/>
            <a:tailEnd/>
          </a:ln>
        </p:spPr>
        <p:txBody>
          <a:bodyPr wrap="square" lIns="90000" tIns="46800" rIns="90000" bIns="46800">
            <a:spAutoFit/>
          </a:bodyPr>
          <a:lstStyle/>
          <a:p>
            <a:pPr defTabSz="449263" eaLnBrk="0" hangingPunct="0">
              <a:buClr>
                <a:srgbClr val="FFFFFF"/>
              </a:buClr>
              <a:buSzPct val="100000"/>
              <a:buFont typeface="Verdan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2400" b="1" dirty="0" smtClean="0">
                <a:solidFill>
                  <a:srgbClr val="FFFFFF"/>
                </a:solidFill>
                <a:latin typeface="Verdana" pitchFamily="34" charset="0"/>
              </a:rPr>
              <a:t>控制</a:t>
            </a:r>
            <a:endParaRPr lang="en-GB" altLang="zh-CN" sz="2400" b="1" dirty="0">
              <a:solidFill>
                <a:srgbClr val="FFFFFF"/>
              </a:solidFill>
              <a:latin typeface="Verdana" pitchFamily="34" charset="0"/>
            </a:endParaRPr>
          </a:p>
        </p:txBody>
      </p:sp>
      <p:sp>
        <p:nvSpPr>
          <p:cNvPr id="81" name="Text Box 18"/>
          <p:cNvSpPr txBox="1">
            <a:spLocks noChangeArrowheads="1"/>
          </p:cNvSpPr>
          <p:nvPr/>
        </p:nvSpPr>
        <p:spPr bwMode="auto">
          <a:xfrm>
            <a:off x="7535912" y="3072532"/>
            <a:ext cx="2191869" cy="525401"/>
          </a:xfrm>
          <a:prstGeom prst="rect">
            <a:avLst/>
          </a:prstGeom>
          <a:noFill/>
          <a:ln w="9525">
            <a:noFill/>
            <a:round/>
            <a:headEnd/>
            <a:tailEnd/>
          </a:ln>
        </p:spPr>
        <p:txBody>
          <a:bodyPr wrap="square" lIns="90000" tIns="46800" rIns="90000" bIns="46800">
            <a:spAutoFit/>
          </a:bodyPr>
          <a:lstStyle/>
          <a:p>
            <a:pPr algn="ctr" defTabSz="449263" eaLnBrk="0" hangingPunct="0">
              <a:buClr>
                <a:srgbClr val="FFFFFF"/>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2800" b="1" dirty="0" smtClean="0">
                <a:solidFill>
                  <a:srgbClr val="FF0000"/>
                </a:solidFill>
              </a:rPr>
              <a:t>网络大脑</a:t>
            </a:r>
            <a:endParaRPr lang="en-GB" altLang="zh-CN" sz="2800" b="1" dirty="0">
              <a:solidFill>
                <a:srgbClr val="FF0000"/>
              </a:solidFill>
            </a:endParaRPr>
          </a:p>
        </p:txBody>
      </p:sp>
      <p:sp>
        <p:nvSpPr>
          <p:cNvPr id="18" name="矩形 17"/>
          <p:cNvSpPr/>
          <p:nvPr/>
        </p:nvSpPr>
        <p:spPr>
          <a:xfrm>
            <a:off x="0" y="2641226"/>
            <a:ext cx="12192000" cy="1594017"/>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smtClean="0">
                <a:solidFill>
                  <a:schemeClr val="bg1"/>
                </a:solidFill>
              </a:rPr>
              <a:t>网络大脑：展示珠海网络情况能力</a:t>
            </a:r>
            <a:r>
              <a:rPr lang="en-US" altLang="zh-CN" sz="2400" b="1" dirty="0" smtClean="0">
                <a:solidFill>
                  <a:schemeClr val="bg1"/>
                </a:solidFill>
              </a:rPr>
              <a:t>+</a:t>
            </a:r>
            <a:r>
              <a:rPr lang="zh-CN" altLang="en-US" sz="2400" b="1" dirty="0" smtClean="0">
                <a:solidFill>
                  <a:schemeClr val="bg1"/>
                </a:solidFill>
              </a:rPr>
              <a:t>实现智慧运维</a:t>
            </a:r>
            <a:endParaRPr lang="zh-CN" altLang="en-US" sz="2400" b="1" dirty="0">
              <a:solidFill>
                <a:schemeClr val="bg1"/>
              </a:solidFill>
            </a:endParaRPr>
          </a:p>
        </p:txBody>
      </p:sp>
    </p:spTree>
    <p:extLst>
      <p:ext uri="{BB962C8B-B14F-4D97-AF65-F5344CB8AC3E}">
        <p14:creationId xmlns:p14="http://schemas.microsoft.com/office/powerpoint/2010/main" val="2480680556"/>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4517344" y="3019437"/>
            <a:ext cx="3157311" cy="1077218"/>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此处需加对于网络全景图的方案</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57829972"/>
      </p:ext>
    </p:extLst>
  </p:cSld>
  <p:clrMapOvr>
    <a:masterClrMapping/>
  </p:clrMapOvr>
  <p:transition spd="med">
    <p:pull/>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3052536"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运维发展历史</a:t>
            </a:r>
            <a:endParaRPr lang="zh-CN" altLang="en-US" dirty="0">
              <a:solidFill>
                <a:srgbClr val="333F50"/>
              </a:solidFill>
            </a:endParaRPr>
          </a:p>
        </p:txBody>
      </p:sp>
      <p:sp>
        <p:nvSpPr>
          <p:cNvPr id="3" name="流程图: 过程 2"/>
          <p:cNvSpPr/>
          <p:nvPr/>
        </p:nvSpPr>
        <p:spPr>
          <a:xfrm>
            <a:off x="1083452" y="1612098"/>
            <a:ext cx="2235881" cy="95690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smtClean="0"/>
              <a:t>手工运维</a:t>
            </a:r>
            <a:endParaRPr lang="zh-CN" altLang="en-US" sz="2400" dirty="0"/>
          </a:p>
        </p:txBody>
      </p:sp>
      <p:sp>
        <p:nvSpPr>
          <p:cNvPr id="20" name="流程图: 过程 19"/>
          <p:cNvSpPr/>
          <p:nvPr/>
        </p:nvSpPr>
        <p:spPr>
          <a:xfrm>
            <a:off x="4715546" y="1611155"/>
            <a:ext cx="2235881" cy="95690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自动</a:t>
            </a:r>
            <a:r>
              <a:rPr lang="zh-CN" altLang="en-US" sz="2400" dirty="0" smtClean="0"/>
              <a:t>运维</a:t>
            </a:r>
            <a:endParaRPr lang="zh-CN" altLang="en-US" sz="2400" dirty="0"/>
          </a:p>
        </p:txBody>
      </p:sp>
      <p:sp>
        <p:nvSpPr>
          <p:cNvPr id="21" name="流程图: 过程 20"/>
          <p:cNvSpPr/>
          <p:nvPr/>
        </p:nvSpPr>
        <p:spPr>
          <a:xfrm>
            <a:off x="8347640" y="1611155"/>
            <a:ext cx="2235881" cy="95690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智慧</a:t>
            </a:r>
            <a:r>
              <a:rPr lang="zh-CN" altLang="en-US" sz="2400" dirty="0" smtClean="0"/>
              <a:t>运维（</a:t>
            </a:r>
            <a:r>
              <a:rPr lang="en-US" altLang="zh-CN" sz="2400" dirty="0" err="1" smtClean="0"/>
              <a:t>AIOps</a:t>
            </a:r>
            <a:r>
              <a:rPr lang="zh-CN" altLang="en-US" sz="2400" dirty="0" smtClean="0"/>
              <a:t>）</a:t>
            </a:r>
            <a:endParaRPr lang="zh-CN" altLang="en-US" sz="2400" dirty="0"/>
          </a:p>
        </p:txBody>
      </p:sp>
      <p:sp>
        <p:nvSpPr>
          <p:cNvPr id="7" name="上箭头 6"/>
          <p:cNvSpPr/>
          <p:nvPr/>
        </p:nvSpPr>
        <p:spPr>
          <a:xfrm rot="5400000">
            <a:off x="3772056" y="1780216"/>
            <a:ext cx="490764" cy="614589"/>
          </a:xfrm>
          <a:prstGeom prst="upArrow">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23" name="上箭头 22"/>
          <p:cNvSpPr/>
          <p:nvPr/>
        </p:nvSpPr>
        <p:spPr>
          <a:xfrm rot="5400000">
            <a:off x="7404153" y="1782312"/>
            <a:ext cx="490764" cy="614589"/>
          </a:xfrm>
          <a:prstGeom prst="up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graphicFrame>
        <p:nvGraphicFramePr>
          <p:cNvPr id="10" name="图表 9"/>
          <p:cNvGraphicFramePr/>
          <p:nvPr>
            <p:extLst>
              <p:ext uri="{D42A27DB-BD31-4B8C-83A1-F6EECF244321}">
                <p14:modId xmlns:p14="http://schemas.microsoft.com/office/powerpoint/2010/main" val="2391081818"/>
              </p:ext>
            </p:extLst>
          </p:nvPr>
        </p:nvGraphicFramePr>
        <p:xfrm>
          <a:off x="1533525" y="3322215"/>
          <a:ext cx="4690836" cy="2537340"/>
        </p:xfrm>
        <a:graphic>
          <a:graphicData uri="http://schemas.openxmlformats.org/drawingml/2006/chart">
            <c:chart xmlns:c="http://schemas.openxmlformats.org/drawingml/2006/chart" xmlns:r="http://schemas.openxmlformats.org/officeDocument/2006/relationships" r:id="rId3"/>
          </a:graphicData>
        </a:graphic>
      </p:graphicFrame>
      <p:sp>
        <p:nvSpPr>
          <p:cNvPr id="32" name="文本框 31"/>
          <p:cNvSpPr txBox="1"/>
          <p:nvPr/>
        </p:nvSpPr>
        <p:spPr>
          <a:xfrm>
            <a:off x="5941510" y="-46055"/>
            <a:ext cx="6402890" cy="1384995"/>
          </a:xfrm>
          <a:prstGeom prst="rect">
            <a:avLst/>
          </a:prstGeom>
          <a:noFill/>
        </p:spPr>
        <p:txBody>
          <a:bodyPr wrap="square" rtlCol="0">
            <a:spAutoFit/>
          </a:bodyPr>
          <a:lstStyle/>
          <a:p>
            <a:pPr indent="457200">
              <a:lnSpc>
                <a:spcPct val="150000"/>
              </a:lnSpc>
            </a:pPr>
            <a:r>
              <a:rPr lang="zh-CN" altLang="en-US" sz="1400" dirty="0" smtClean="0"/>
              <a:t>新的挑战</a:t>
            </a:r>
            <a:r>
              <a:rPr lang="zh-CN" altLang="en-US" sz="1400" dirty="0" smtClean="0"/>
              <a:t>：</a:t>
            </a:r>
            <a:endParaRPr lang="en-US" altLang="zh-CN" sz="1400" dirty="0" smtClean="0"/>
          </a:p>
          <a:p>
            <a:pPr marL="285750" indent="-285750">
              <a:lnSpc>
                <a:spcPct val="150000"/>
              </a:lnSpc>
              <a:buFont typeface="Arial" panose="020B0604020202020204" pitchFamily="34" charset="0"/>
              <a:buChar char="•"/>
            </a:pPr>
            <a:r>
              <a:rPr lang="zh-CN" altLang="en-US" sz="1400" dirty="0" smtClean="0"/>
              <a:t>海量监测</a:t>
            </a:r>
            <a:r>
              <a:rPr lang="en-US" altLang="zh-CN" sz="1400" dirty="0" smtClean="0"/>
              <a:t>KPI</a:t>
            </a:r>
            <a:r>
              <a:rPr lang="zh-CN" altLang="en-US" sz="1400" dirty="0" smtClean="0"/>
              <a:t>如何快速发现异常（带宽利用率、</a:t>
            </a:r>
            <a:r>
              <a:rPr lang="en-US" altLang="zh-CN" sz="1400" dirty="0" smtClean="0"/>
              <a:t>CPU</a:t>
            </a:r>
            <a:r>
              <a:rPr lang="zh-CN" altLang="en-US" sz="1400" dirty="0" smtClean="0"/>
              <a:t>利用率、家宽用户数等）</a:t>
            </a:r>
            <a:endParaRPr lang="en-US" altLang="zh-CN" sz="1400" dirty="0" smtClean="0"/>
          </a:p>
          <a:p>
            <a:pPr marL="285750" indent="-285750">
              <a:lnSpc>
                <a:spcPct val="150000"/>
              </a:lnSpc>
              <a:buFont typeface="Arial" panose="020B0604020202020204" pitchFamily="34" charset="0"/>
              <a:buChar char="•"/>
            </a:pPr>
            <a:r>
              <a:rPr lang="zh-CN" altLang="en-US" sz="1400" dirty="0" smtClean="0"/>
              <a:t>繁杂</a:t>
            </a:r>
            <a:r>
              <a:rPr lang="zh-CN" altLang="en-US" sz="1400" dirty="0" smtClean="0"/>
              <a:t>的报警</a:t>
            </a:r>
            <a:r>
              <a:rPr lang="zh-CN" altLang="en-US" sz="1400" dirty="0" smtClean="0"/>
              <a:t>信息（硬件设备、传输、环境、性能）</a:t>
            </a:r>
            <a:endParaRPr lang="en-US" altLang="zh-CN" sz="1400" dirty="0" smtClean="0">
              <a:solidFill>
                <a:srgbClr val="FF0000"/>
              </a:solidFill>
            </a:endParaRPr>
          </a:p>
          <a:p>
            <a:pPr marL="285750" indent="-285750">
              <a:lnSpc>
                <a:spcPct val="150000"/>
              </a:lnSpc>
              <a:buFont typeface="Arial" panose="020B0604020202020204" pitchFamily="34" charset="0"/>
              <a:buChar char="•"/>
            </a:pPr>
            <a:r>
              <a:rPr lang="zh-CN" altLang="en-US" sz="1400" dirty="0" smtClean="0"/>
              <a:t>故障发生如何</a:t>
            </a:r>
            <a:r>
              <a:rPr lang="zh-CN" altLang="en-US" sz="1400" dirty="0" smtClean="0"/>
              <a:t>定位</a:t>
            </a:r>
            <a:r>
              <a:rPr lang="zh-CN" altLang="en-US" sz="1400" dirty="0" smtClean="0"/>
              <a:t>（线网组成复杂）</a:t>
            </a:r>
            <a:endParaRPr lang="en-US" altLang="zh-CN" sz="1400" dirty="0" smtClean="0">
              <a:solidFill>
                <a:srgbClr val="FF0000"/>
              </a:solidFill>
            </a:endParaRPr>
          </a:p>
        </p:txBody>
      </p:sp>
      <p:graphicFrame>
        <p:nvGraphicFramePr>
          <p:cNvPr id="14" name="图表 13"/>
          <p:cNvGraphicFramePr/>
          <p:nvPr>
            <p:extLst>
              <p:ext uri="{D42A27DB-BD31-4B8C-83A1-F6EECF244321}">
                <p14:modId xmlns:p14="http://schemas.microsoft.com/office/powerpoint/2010/main" val="700433080"/>
              </p:ext>
            </p:extLst>
          </p:nvPr>
        </p:nvGraphicFramePr>
        <p:xfrm>
          <a:off x="6433911" y="3253944"/>
          <a:ext cx="5330825" cy="2631592"/>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258609966"/>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barn(inVertical)">
                                      <p:cBhvr>
                                        <p:cTn id="19" dur="500"/>
                                        <p:tgtEl>
                                          <p:spTgt spid="10"/>
                                        </p:tgtEl>
                                      </p:cBhvr>
                                    </p:animEffect>
                                  </p:childTnLst>
                                </p:cTn>
                              </p:par>
                              <p:par>
                                <p:cTn id="20" presetID="2" presetClass="entr" presetSubtype="4"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 calcmode="lin" valueType="num">
                                      <p:cBhvr additive="base">
                                        <p:cTn id="22" dur="500" fill="hold"/>
                                        <p:tgtEl>
                                          <p:spTgt spid="20"/>
                                        </p:tgtEl>
                                        <p:attrNameLst>
                                          <p:attrName>ppt_x</p:attrName>
                                        </p:attrNameLst>
                                      </p:cBhvr>
                                      <p:tavLst>
                                        <p:tav tm="0">
                                          <p:val>
                                            <p:strVal val="#ppt_x"/>
                                          </p:val>
                                        </p:tav>
                                        <p:tav tm="100000">
                                          <p:val>
                                            <p:strVal val="#ppt_x"/>
                                          </p:val>
                                        </p:tav>
                                      </p:tavLst>
                                    </p:anim>
                                    <p:anim calcmode="lin" valueType="num">
                                      <p:cBhvr additive="base">
                                        <p:cTn id="23"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21"/>
                                        </p:tgtEl>
                                        <p:attrNameLst>
                                          <p:attrName>style.visibility</p:attrName>
                                        </p:attrNameLst>
                                      </p:cBhvr>
                                      <p:to>
                                        <p:strVal val="visible"/>
                                      </p:to>
                                    </p:set>
                                    <p:anim calcmode="lin" valueType="num">
                                      <p:cBhvr additive="base">
                                        <p:cTn id="28" dur="500" fill="hold"/>
                                        <p:tgtEl>
                                          <p:spTgt spid="21"/>
                                        </p:tgtEl>
                                        <p:attrNameLst>
                                          <p:attrName>ppt_x</p:attrName>
                                        </p:attrNameLst>
                                      </p:cBhvr>
                                      <p:tavLst>
                                        <p:tav tm="0">
                                          <p:val>
                                            <p:strVal val="#ppt_x"/>
                                          </p:val>
                                        </p:tav>
                                        <p:tav tm="100000">
                                          <p:val>
                                            <p:strVal val="#ppt_x"/>
                                          </p:val>
                                        </p:tav>
                                      </p:tavLst>
                                    </p:anim>
                                    <p:anim calcmode="lin" valueType="num">
                                      <p:cBhvr additive="base">
                                        <p:cTn id="29"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grpId="0" nodeType="click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barn(inVertical)">
                                      <p:cBhvr>
                                        <p:cTn id="34" dur="500"/>
                                        <p:tgtEl>
                                          <p:spTgt spid="32"/>
                                        </p:tgtEl>
                                      </p:cBhvr>
                                    </p:animEffect>
                                  </p:childTnLst>
                                </p:cTn>
                              </p:par>
                              <p:par>
                                <p:cTn id="35" presetID="2" presetClass="entr" presetSubtype="4"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anim calcmode="lin" valueType="num">
                                      <p:cBhvr additive="base">
                                        <p:cTn id="37" dur="500" fill="hold"/>
                                        <p:tgtEl>
                                          <p:spTgt spid="23"/>
                                        </p:tgtEl>
                                        <p:attrNameLst>
                                          <p:attrName>ppt_x</p:attrName>
                                        </p:attrNameLst>
                                      </p:cBhvr>
                                      <p:tavLst>
                                        <p:tav tm="0">
                                          <p:val>
                                            <p:strVal val="#ppt_x"/>
                                          </p:val>
                                        </p:tav>
                                        <p:tav tm="100000">
                                          <p:val>
                                            <p:strVal val="#ppt_x"/>
                                          </p:val>
                                        </p:tav>
                                      </p:tavLst>
                                    </p:anim>
                                    <p:anim calcmode="lin" valueType="num">
                                      <p:cBhvr additive="base">
                                        <p:cTn id="3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2" presetClass="entr" presetSubtype="2"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ipe(right)">
                                      <p:cBhvr>
                                        <p:cTn id="4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0" grpId="0" animBg="1"/>
      <p:bldP spid="21" grpId="0" animBg="1"/>
      <p:bldP spid="7" grpId="0" animBg="1"/>
      <p:bldP spid="23" grpId="0" animBg="1"/>
      <p:bldGraphic spid="10" grpId="0">
        <p:bldAsOne/>
      </p:bldGraphic>
      <p:bldP spid="32" grpId="0"/>
      <p:bldGraphic spid="14" grpId="0">
        <p:bldAsOne/>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直接连接符 11"/>
          <p:cNvCxnSpPr/>
          <p:nvPr/>
        </p:nvCxnSpPr>
        <p:spPr>
          <a:xfrm>
            <a:off x="7942012" y="3372000"/>
            <a:ext cx="23100" cy="1140988"/>
          </a:xfrm>
          <a:prstGeom prst="line">
            <a:avLst/>
          </a:prstGeom>
          <a:noFill/>
          <a:ln w="25400" cap="rnd">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cxnSp>
      <p:cxnSp>
        <p:nvCxnSpPr>
          <p:cNvPr id="13" name="直接连接符 12"/>
          <p:cNvCxnSpPr/>
          <p:nvPr/>
        </p:nvCxnSpPr>
        <p:spPr>
          <a:xfrm flipH="1">
            <a:off x="6493518" y="4699561"/>
            <a:ext cx="1268895" cy="455580"/>
          </a:xfrm>
          <a:prstGeom prst="line">
            <a:avLst/>
          </a:prstGeom>
          <a:noFill/>
          <a:ln w="25400" cap="rnd">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cxnSp>
      <p:cxnSp>
        <p:nvCxnSpPr>
          <p:cNvPr id="15" name="直接连接符 14"/>
          <p:cNvCxnSpPr/>
          <p:nvPr/>
        </p:nvCxnSpPr>
        <p:spPr>
          <a:xfrm>
            <a:off x="8117387" y="4699561"/>
            <a:ext cx="1355052" cy="480558"/>
          </a:xfrm>
          <a:prstGeom prst="line">
            <a:avLst/>
          </a:prstGeom>
          <a:noFill/>
          <a:ln w="25400" cap="rnd">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cxnSp>
      <p:sp>
        <p:nvSpPr>
          <p:cNvPr id="16" name="矩形 6"/>
          <p:cNvSpPr>
            <a:spLocks noChangeArrowheads="1"/>
          </p:cNvSpPr>
          <p:nvPr/>
        </p:nvSpPr>
        <p:spPr bwMode="auto">
          <a:xfrm>
            <a:off x="5250371" y="5405040"/>
            <a:ext cx="223544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defTabSz="914400" fontAlgn="base">
              <a:spcBef>
                <a:spcPct val="0"/>
              </a:spcBef>
              <a:spcAft>
                <a:spcPct val="0"/>
              </a:spcAft>
            </a:pPr>
            <a:r>
              <a:rPr lang="zh-CN" altLang="en-US" sz="1200" dirty="0" smtClean="0">
                <a:solidFill>
                  <a:schemeClr val="bg2">
                    <a:lumMod val="10000"/>
                  </a:schemeClr>
                </a:solidFill>
                <a:latin typeface="微软雅黑" panose="020B0503020204020204" pitchFamily="34" charset="-122"/>
                <a:ea typeface="微软雅黑" panose="020B0503020204020204" pitchFamily="34" charset="-122"/>
              </a:rPr>
              <a:t>自动化</a:t>
            </a:r>
            <a:r>
              <a:rPr lang="zh-CN" altLang="en-US" sz="1200" dirty="0" smtClean="0">
                <a:solidFill>
                  <a:schemeClr val="bg2">
                    <a:lumMod val="10000"/>
                  </a:schemeClr>
                </a:solidFill>
                <a:latin typeface="微软雅黑" panose="020B0503020204020204" pitchFamily="34" charset="-122"/>
                <a:ea typeface="微软雅黑" panose="020B0503020204020204" pitchFamily="34" charset="-122"/>
              </a:rPr>
              <a:t>脚本、通知提示</a:t>
            </a:r>
            <a:endParaRPr lang="zh-CN" altLang="en-US" sz="1200" dirty="0">
              <a:solidFill>
                <a:schemeClr val="bg2">
                  <a:lumMod val="10000"/>
                </a:schemeClr>
              </a:solidFill>
              <a:latin typeface="Century Gothic" panose="020B0502020202020204" pitchFamily="34" charset="0"/>
            </a:endParaRPr>
          </a:p>
        </p:txBody>
      </p:sp>
      <p:sp>
        <p:nvSpPr>
          <p:cNvPr id="17" name="矩形 6"/>
          <p:cNvSpPr>
            <a:spLocks noChangeArrowheads="1"/>
          </p:cNvSpPr>
          <p:nvPr/>
        </p:nvSpPr>
        <p:spPr bwMode="auto">
          <a:xfrm>
            <a:off x="8808529" y="5405039"/>
            <a:ext cx="162134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defTabSz="914400" fontAlgn="base">
              <a:spcBef>
                <a:spcPct val="0"/>
              </a:spcBef>
              <a:spcAft>
                <a:spcPct val="0"/>
              </a:spcAft>
            </a:pPr>
            <a:r>
              <a:rPr lang="zh-CN" altLang="en-US" sz="1200" dirty="0" smtClean="0">
                <a:solidFill>
                  <a:schemeClr val="bg2">
                    <a:lumMod val="10000"/>
                  </a:schemeClr>
                </a:solidFill>
                <a:latin typeface="微软雅黑" panose="020B0503020204020204" pitchFamily="34" charset="-122"/>
                <a:ea typeface="微软雅黑" panose="020B0503020204020204" pitchFamily="34" charset="-122"/>
              </a:rPr>
              <a:t>机器学习、人工决策</a:t>
            </a:r>
            <a:endParaRPr lang="zh-CN" altLang="en-US" sz="1200" dirty="0">
              <a:solidFill>
                <a:schemeClr val="bg2">
                  <a:lumMod val="10000"/>
                </a:schemeClr>
              </a:solidFill>
              <a:latin typeface="Century Gothic" panose="020B0502020202020204" pitchFamily="34" charset="0"/>
            </a:endParaRPr>
          </a:p>
        </p:txBody>
      </p:sp>
      <p:sp>
        <p:nvSpPr>
          <p:cNvPr id="20" name="矩形 6"/>
          <p:cNvSpPr>
            <a:spLocks noChangeArrowheads="1"/>
          </p:cNvSpPr>
          <p:nvPr/>
        </p:nvSpPr>
        <p:spPr bwMode="auto">
          <a:xfrm>
            <a:off x="7279679" y="2522575"/>
            <a:ext cx="136991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defTabSz="914400" fontAlgn="base">
              <a:spcBef>
                <a:spcPct val="0"/>
              </a:spcBef>
              <a:spcAft>
                <a:spcPct val="0"/>
              </a:spcAft>
            </a:pPr>
            <a:r>
              <a:rPr lang="zh-CN" altLang="en-US" sz="1200" dirty="0" smtClean="0">
                <a:solidFill>
                  <a:schemeClr val="bg2">
                    <a:lumMod val="10000"/>
                  </a:schemeClr>
                </a:solidFill>
                <a:latin typeface="微软雅黑" panose="020B0503020204020204" pitchFamily="34" charset="-122"/>
                <a:ea typeface="微软雅黑" panose="020B0503020204020204" pitchFamily="34" charset="-122"/>
              </a:rPr>
              <a:t>对海量日志的监测</a:t>
            </a:r>
            <a:endParaRPr lang="zh-CN" altLang="en-US" sz="1200" dirty="0">
              <a:solidFill>
                <a:schemeClr val="bg2">
                  <a:lumMod val="10000"/>
                </a:schemeClr>
              </a:solidFill>
              <a:latin typeface="Century Gothic" panose="020B0502020202020204" pitchFamily="34" charset="0"/>
            </a:endParaRPr>
          </a:p>
        </p:txBody>
      </p:sp>
      <p:grpSp>
        <p:nvGrpSpPr>
          <p:cNvPr id="21" name="组合 20"/>
          <p:cNvGrpSpPr/>
          <p:nvPr/>
        </p:nvGrpSpPr>
        <p:grpSpPr>
          <a:xfrm>
            <a:off x="7651649" y="4383320"/>
            <a:ext cx="540034" cy="538834"/>
            <a:chOff x="5932231" y="4415044"/>
            <a:chExt cx="488440" cy="509247"/>
          </a:xfrm>
        </p:grpSpPr>
        <p:sp>
          <p:nvSpPr>
            <p:cNvPr id="22" name="椭圆 21"/>
            <p:cNvSpPr/>
            <p:nvPr/>
          </p:nvSpPr>
          <p:spPr>
            <a:xfrm>
              <a:off x="5932231" y="4435851"/>
              <a:ext cx="488440" cy="488440"/>
            </a:xfrm>
            <a:prstGeom prst="ellipse">
              <a:avLst/>
            </a:prstGeom>
            <a:solidFill>
              <a:srgbClr val="007A3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endParaRPr lang="zh-CN" altLang="en-US">
                <a:solidFill>
                  <a:prstClr val="white"/>
                </a:solidFill>
              </a:endParaRPr>
            </a:p>
          </p:txBody>
        </p:sp>
        <p:sp>
          <p:nvSpPr>
            <p:cNvPr id="23" name="矩形 22"/>
            <p:cNvSpPr/>
            <p:nvPr/>
          </p:nvSpPr>
          <p:spPr>
            <a:xfrm>
              <a:off x="5935187" y="4415044"/>
              <a:ext cx="119677" cy="363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400" fontAlgn="base">
                <a:spcBef>
                  <a:spcPct val="0"/>
                </a:spcBef>
                <a:spcAft>
                  <a:spcPct val="0"/>
                </a:spcAft>
              </a:pPr>
              <a:endParaRPr lang="zh-CN" altLang="en-US" sz="2800" b="1" dirty="0">
                <a:solidFill>
                  <a:srgbClr val="EAE7D4"/>
                </a:solidFill>
                <a:ea typeface="微软雅黑" pitchFamily="34" charset="-122"/>
              </a:endParaRPr>
            </a:p>
          </p:txBody>
        </p:sp>
      </p:grpSp>
      <p:sp>
        <p:nvSpPr>
          <p:cNvPr id="24" name="椭圆 23"/>
          <p:cNvSpPr/>
          <p:nvPr/>
        </p:nvSpPr>
        <p:spPr>
          <a:xfrm>
            <a:off x="7703446" y="3092363"/>
            <a:ext cx="488237" cy="446384"/>
          </a:xfrm>
          <a:prstGeom prst="ellipse">
            <a:avLst/>
          </a:prstGeom>
          <a:solidFill>
            <a:srgbClr val="00DE6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endParaRPr lang="zh-CN" altLang="en-US" sz="1200" dirty="0">
              <a:solidFill>
                <a:prstClr val="white"/>
              </a:solidFill>
            </a:endParaRPr>
          </a:p>
        </p:txBody>
      </p:sp>
      <p:grpSp>
        <p:nvGrpSpPr>
          <p:cNvPr id="25" name="组合 24"/>
          <p:cNvGrpSpPr/>
          <p:nvPr/>
        </p:nvGrpSpPr>
        <p:grpSpPr>
          <a:xfrm>
            <a:off x="9245216" y="4913920"/>
            <a:ext cx="526956" cy="446384"/>
            <a:chOff x="7402397" y="5003093"/>
            <a:chExt cx="859892" cy="810266"/>
          </a:xfrm>
        </p:grpSpPr>
        <p:sp>
          <p:nvSpPr>
            <p:cNvPr id="26" name="椭圆 25"/>
            <p:cNvSpPr/>
            <p:nvPr/>
          </p:nvSpPr>
          <p:spPr>
            <a:xfrm>
              <a:off x="7402397" y="5003093"/>
              <a:ext cx="810266" cy="810266"/>
            </a:xfrm>
            <a:prstGeom prst="ellipse">
              <a:avLst/>
            </a:prstGeom>
            <a:solidFill>
              <a:srgbClr val="00DE6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endParaRPr lang="zh-CN" altLang="en-US">
                <a:solidFill>
                  <a:prstClr val="white"/>
                </a:solidFill>
              </a:endParaRPr>
            </a:p>
          </p:txBody>
        </p:sp>
        <p:sp>
          <p:nvSpPr>
            <p:cNvPr id="27" name="矩形 26"/>
            <p:cNvSpPr/>
            <p:nvPr/>
          </p:nvSpPr>
          <p:spPr>
            <a:xfrm>
              <a:off x="7458716" y="5199286"/>
              <a:ext cx="803573" cy="5028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400" fontAlgn="base">
                <a:spcBef>
                  <a:spcPct val="0"/>
                </a:spcBef>
                <a:spcAft>
                  <a:spcPct val="0"/>
                </a:spcAft>
              </a:pPr>
              <a:r>
                <a:rPr lang="zh-CN" altLang="en-US" sz="1200" b="1" dirty="0" smtClean="0">
                  <a:solidFill>
                    <a:srgbClr val="EAE7D4"/>
                  </a:solidFill>
                  <a:ea typeface="微软雅黑" pitchFamily="34" charset="-122"/>
                </a:rPr>
                <a:t>决策</a:t>
              </a:r>
              <a:endParaRPr lang="zh-CN" altLang="en-US" sz="2000" b="1" dirty="0">
                <a:solidFill>
                  <a:srgbClr val="EAE7D4"/>
                </a:solidFill>
                <a:ea typeface="微软雅黑" pitchFamily="34" charset="-122"/>
              </a:endParaRPr>
            </a:p>
          </p:txBody>
        </p:sp>
      </p:grpSp>
      <p:grpSp>
        <p:nvGrpSpPr>
          <p:cNvPr id="28" name="组合 27"/>
          <p:cNvGrpSpPr/>
          <p:nvPr/>
        </p:nvGrpSpPr>
        <p:grpSpPr>
          <a:xfrm>
            <a:off x="6121870" y="3214195"/>
            <a:ext cx="2077914" cy="2144797"/>
            <a:chOff x="4070096" y="1933242"/>
            <a:chExt cx="3390756" cy="3893186"/>
          </a:xfrm>
        </p:grpSpPr>
        <p:sp>
          <p:nvSpPr>
            <p:cNvPr id="29" name="椭圆 28"/>
            <p:cNvSpPr/>
            <p:nvPr/>
          </p:nvSpPr>
          <p:spPr>
            <a:xfrm>
              <a:off x="4070096" y="5016162"/>
              <a:ext cx="810266" cy="810266"/>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endParaRPr lang="zh-CN" altLang="en-US">
                <a:solidFill>
                  <a:prstClr val="white"/>
                </a:solidFill>
              </a:endParaRPr>
            </a:p>
          </p:txBody>
        </p:sp>
        <p:sp>
          <p:nvSpPr>
            <p:cNvPr id="30" name="矩形 29"/>
            <p:cNvSpPr/>
            <p:nvPr/>
          </p:nvSpPr>
          <p:spPr>
            <a:xfrm>
              <a:off x="4070096" y="5183289"/>
              <a:ext cx="803573" cy="5028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400" fontAlgn="base">
                <a:spcBef>
                  <a:spcPct val="0"/>
                </a:spcBef>
                <a:spcAft>
                  <a:spcPct val="0"/>
                </a:spcAft>
              </a:pPr>
              <a:r>
                <a:rPr lang="zh-CN" altLang="en-US" sz="1200" b="1" dirty="0" smtClean="0">
                  <a:solidFill>
                    <a:srgbClr val="EAE7D4"/>
                  </a:solidFill>
                  <a:ea typeface="微软雅黑" pitchFamily="34" charset="-122"/>
                </a:rPr>
                <a:t>控制</a:t>
              </a:r>
              <a:endParaRPr lang="zh-CN" altLang="en-US" sz="2000" b="1" dirty="0">
                <a:solidFill>
                  <a:srgbClr val="EAE7D4"/>
                </a:solidFill>
                <a:ea typeface="微软雅黑" pitchFamily="34" charset="-122"/>
              </a:endParaRPr>
            </a:p>
          </p:txBody>
        </p:sp>
        <p:sp>
          <p:nvSpPr>
            <p:cNvPr id="32" name="矩形 31"/>
            <p:cNvSpPr/>
            <p:nvPr/>
          </p:nvSpPr>
          <p:spPr>
            <a:xfrm>
              <a:off x="6657280" y="1933242"/>
              <a:ext cx="803572" cy="5028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400" fontAlgn="base">
                <a:spcBef>
                  <a:spcPct val="0"/>
                </a:spcBef>
                <a:spcAft>
                  <a:spcPct val="0"/>
                </a:spcAft>
              </a:pPr>
              <a:r>
                <a:rPr lang="zh-CN" altLang="en-US" sz="1200" b="1" dirty="0" smtClean="0">
                  <a:solidFill>
                    <a:srgbClr val="EAE7D4"/>
                  </a:solidFill>
                  <a:ea typeface="微软雅黑" pitchFamily="34" charset="-122"/>
                </a:rPr>
                <a:t>感知</a:t>
              </a:r>
              <a:endParaRPr lang="zh-CN" altLang="en-US" sz="2000" b="1" dirty="0">
                <a:solidFill>
                  <a:srgbClr val="EAE7D4"/>
                </a:solidFill>
                <a:ea typeface="微软雅黑" pitchFamily="34" charset="-122"/>
              </a:endParaRPr>
            </a:p>
          </p:txBody>
        </p:sp>
      </p:grpSp>
      <p:sp>
        <p:nvSpPr>
          <p:cNvPr id="33" name="文本框 32"/>
          <p:cNvSpPr txBox="1"/>
          <p:nvPr/>
        </p:nvSpPr>
        <p:spPr>
          <a:xfrm>
            <a:off x="7660928" y="4483316"/>
            <a:ext cx="607418" cy="276999"/>
          </a:xfrm>
          <a:prstGeom prst="rect">
            <a:avLst/>
          </a:prstGeom>
          <a:noFill/>
        </p:spPr>
        <p:txBody>
          <a:bodyPr wrap="square" rtlCol="0">
            <a:spAutoFit/>
          </a:bodyPr>
          <a:lstStyle/>
          <a:p>
            <a:r>
              <a:rPr lang="en-US" altLang="zh-CN" sz="1200" b="1" dirty="0" err="1" smtClean="0">
                <a:solidFill>
                  <a:schemeClr val="bg1"/>
                </a:solidFill>
              </a:rPr>
              <a:t>AIOps</a:t>
            </a:r>
            <a:endParaRPr lang="zh-CN" altLang="en-US" sz="1100" b="1" dirty="0">
              <a:solidFill>
                <a:schemeClr val="bg1"/>
              </a:solidFill>
            </a:endParaRPr>
          </a:p>
        </p:txBody>
      </p:sp>
      <p:sp>
        <p:nvSpPr>
          <p:cNvPr id="34" name="文本框 33"/>
          <p:cNvSpPr txBox="1"/>
          <p:nvPr/>
        </p:nvSpPr>
        <p:spPr>
          <a:xfrm>
            <a:off x="9520819" y="3273890"/>
            <a:ext cx="1383389" cy="1200329"/>
          </a:xfrm>
          <a:prstGeom prst="rect">
            <a:avLst/>
          </a:prstGeom>
          <a:noFill/>
        </p:spPr>
        <p:txBody>
          <a:bodyPr wrap="square" rtlCol="0">
            <a:spAutoFit/>
          </a:bodyPr>
          <a:lstStyle/>
          <a:p>
            <a:r>
              <a:rPr lang="zh-CN" altLang="en-US" dirty="0" smtClean="0">
                <a:solidFill>
                  <a:schemeClr val="bg2">
                    <a:lumMod val="10000"/>
                  </a:schemeClr>
                </a:solidFill>
              </a:rPr>
              <a:t>通过闭环反馈机制，完成自我学习的过程</a:t>
            </a:r>
            <a:endParaRPr lang="zh-CN" altLang="en-US" dirty="0">
              <a:solidFill>
                <a:schemeClr val="bg2">
                  <a:lumMod val="10000"/>
                </a:schemeClr>
              </a:solidFill>
            </a:endParaRPr>
          </a:p>
        </p:txBody>
      </p:sp>
      <p:cxnSp>
        <p:nvCxnSpPr>
          <p:cNvPr id="35" name="直接箭头连接符 34"/>
          <p:cNvCxnSpPr>
            <a:endCxn id="26" idx="1"/>
          </p:cNvCxnSpPr>
          <p:nvPr/>
        </p:nvCxnSpPr>
        <p:spPr>
          <a:xfrm>
            <a:off x="8117387" y="3491194"/>
            <a:ext cx="1200546" cy="1488097"/>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a:stCxn id="26" idx="2"/>
            <a:endCxn id="29" idx="6"/>
          </p:cNvCxnSpPr>
          <p:nvPr/>
        </p:nvCxnSpPr>
        <p:spPr>
          <a:xfrm flipH="1" flipV="1">
            <a:off x="6618415" y="5135800"/>
            <a:ext cx="2626801" cy="1312"/>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a:stCxn id="29" idx="7"/>
            <a:endCxn id="24" idx="3"/>
          </p:cNvCxnSpPr>
          <p:nvPr/>
        </p:nvCxnSpPr>
        <p:spPr>
          <a:xfrm flipV="1">
            <a:off x="6545698" y="3473376"/>
            <a:ext cx="1229249" cy="1504603"/>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3052536"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721810" y="943949"/>
            <a:ext cx="3944865" cy="369332"/>
          </a:xfrm>
          <a:prstGeom prst="rect">
            <a:avLst/>
          </a:prstGeom>
          <a:noFill/>
        </p:spPr>
        <p:txBody>
          <a:bodyPr wrap="square" rtlCol="0">
            <a:spAutoFit/>
          </a:bodyPr>
          <a:lstStyle/>
          <a:p>
            <a:r>
              <a:rPr lang="en-US" altLang="zh-CN" dirty="0" err="1" smtClean="0">
                <a:solidFill>
                  <a:srgbClr val="333F50"/>
                </a:solidFill>
              </a:rPr>
              <a:t>AIOps</a:t>
            </a:r>
            <a:r>
              <a:rPr lang="zh-CN" altLang="en-US" dirty="0" smtClean="0">
                <a:solidFill>
                  <a:srgbClr val="333F50"/>
                </a:solidFill>
              </a:rPr>
              <a:t>（</a:t>
            </a:r>
            <a:r>
              <a:rPr lang="en-US" altLang="zh-CN" dirty="0">
                <a:solidFill>
                  <a:srgbClr val="333F50"/>
                </a:solidFill>
              </a:rPr>
              <a:t>A</a:t>
            </a:r>
            <a:r>
              <a:rPr lang="en-US" altLang="zh-CN" dirty="0" smtClean="0">
                <a:solidFill>
                  <a:srgbClr val="333F50"/>
                </a:solidFill>
              </a:rPr>
              <a:t>lgorithm IT Operations</a:t>
            </a:r>
            <a:r>
              <a:rPr lang="zh-CN" altLang="en-US" dirty="0" smtClean="0">
                <a:solidFill>
                  <a:srgbClr val="333F50"/>
                </a:solidFill>
              </a:rPr>
              <a:t>）</a:t>
            </a:r>
            <a:endParaRPr lang="zh-CN" altLang="en-US" dirty="0">
              <a:solidFill>
                <a:srgbClr val="333F50"/>
              </a:solidFill>
            </a:endParaRPr>
          </a:p>
        </p:txBody>
      </p:sp>
      <p:sp>
        <p:nvSpPr>
          <p:cNvPr id="2" name="文本框 1"/>
          <p:cNvSpPr txBox="1"/>
          <p:nvPr/>
        </p:nvSpPr>
        <p:spPr>
          <a:xfrm>
            <a:off x="5698731" y="1313281"/>
            <a:ext cx="4171375" cy="923330"/>
          </a:xfrm>
          <a:prstGeom prst="rect">
            <a:avLst/>
          </a:prstGeom>
          <a:noFill/>
        </p:spPr>
        <p:txBody>
          <a:bodyPr wrap="square" rtlCol="0">
            <a:spAutoFit/>
          </a:bodyPr>
          <a:lstStyle/>
          <a:p>
            <a:pPr indent="457200">
              <a:lnSpc>
                <a:spcPct val="150000"/>
              </a:lnSpc>
            </a:pPr>
            <a:r>
              <a:rPr lang="en-US" altLang="zh-CN" dirty="0" smtClean="0"/>
              <a:t>Ops = </a:t>
            </a:r>
            <a:r>
              <a:rPr lang="zh-CN" altLang="en-US" dirty="0" smtClean="0"/>
              <a:t>运维场景（主旨）</a:t>
            </a:r>
            <a:endParaRPr lang="en-US" altLang="zh-CN" dirty="0" smtClean="0"/>
          </a:p>
          <a:p>
            <a:pPr indent="457200">
              <a:lnSpc>
                <a:spcPct val="150000"/>
              </a:lnSpc>
            </a:pPr>
            <a:r>
              <a:rPr lang="en-US" altLang="zh-CN" dirty="0" smtClean="0"/>
              <a:t>AI = </a:t>
            </a:r>
            <a:r>
              <a:rPr lang="zh-CN" altLang="en-US" dirty="0" smtClean="0"/>
              <a:t>代表技术（手段）</a:t>
            </a:r>
            <a:endParaRPr lang="zh-CN" altLang="en-US" dirty="0"/>
          </a:p>
        </p:txBody>
      </p:sp>
      <p:sp>
        <p:nvSpPr>
          <p:cNvPr id="8" name="文本框 7"/>
          <p:cNvSpPr txBox="1"/>
          <p:nvPr/>
        </p:nvSpPr>
        <p:spPr>
          <a:xfrm>
            <a:off x="346981" y="2080808"/>
            <a:ext cx="4772025" cy="1338828"/>
          </a:xfrm>
          <a:prstGeom prst="rect">
            <a:avLst/>
          </a:prstGeom>
          <a:noFill/>
        </p:spPr>
        <p:txBody>
          <a:bodyPr wrap="square" rtlCol="0">
            <a:spAutoFit/>
          </a:bodyPr>
          <a:lstStyle/>
          <a:p>
            <a:pPr indent="457200">
              <a:lnSpc>
                <a:spcPct val="150000"/>
              </a:lnSpc>
            </a:pPr>
            <a:r>
              <a:rPr lang="zh-CN" altLang="en-US" dirty="0" smtClean="0"/>
              <a:t>传统自动化运维的缺点：</a:t>
            </a:r>
            <a:endParaRPr lang="en-US" altLang="zh-CN" dirty="0"/>
          </a:p>
          <a:p>
            <a:pPr marL="285750" indent="-285750">
              <a:lnSpc>
                <a:spcPct val="150000"/>
              </a:lnSpc>
              <a:buFont typeface="Arial" panose="020B0604020202020204" pitchFamily="34" charset="0"/>
              <a:buChar char="•"/>
            </a:pPr>
            <a:r>
              <a:rPr lang="zh-CN" altLang="en-US" dirty="0" smtClean="0"/>
              <a:t>根据人为制定流程，不能自主适应</a:t>
            </a:r>
            <a:endParaRPr lang="en-US" altLang="zh-CN" dirty="0" smtClean="0"/>
          </a:p>
          <a:p>
            <a:pPr marL="285750" indent="-285750">
              <a:lnSpc>
                <a:spcPct val="150000"/>
              </a:lnSpc>
              <a:buFont typeface="Arial" panose="020B0604020202020204" pitchFamily="34" charset="0"/>
              <a:buChar char="•"/>
            </a:pPr>
            <a:r>
              <a:rPr lang="zh-CN" altLang="en-US" dirty="0" smtClean="0"/>
              <a:t>无法面临新的挑战和大规模运维问题</a:t>
            </a:r>
            <a:endParaRPr lang="en-US" altLang="zh-CN" dirty="0" smtClean="0"/>
          </a:p>
        </p:txBody>
      </p:sp>
      <p:sp>
        <p:nvSpPr>
          <p:cNvPr id="9" name="文本框 8"/>
          <p:cNvSpPr txBox="1"/>
          <p:nvPr/>
        </p:nvSpPr>
        <p:spPr>
          <a:xfrm>
            <a:off x="346981" y="4002318"/>
            <a:ext cx="3947886" cy="1754326"/>
          </a:xfrm>
          <a:prstGeom prst="rect">
            <a:avLst/>
          </a:prstGeom>
          <a:noFill/>
        </p:spPr>
        <p:txBody>
          <a:bodyPr wrap="square" rtlCol="0">
            <a:spAutoFit/>
          </a:bodyPr>
          <a:lstStyle/>
          <a:p>
            <a:pPr indent="457200">
              <a:lnSpc>
                <a:spcPct val="150000"/>
              </a:lnSpc>
            </a:pPr>
            <a:r>
              <a:rPr lang="zh-CN" altLang="en-US" dirty="0" smtClean="0"/>
              <a:t>智慧运维：</a:t>
            </a:r>
            <a:endParaRPr lang="en-US" altLang="zh-CN" dirty="0" smtClean="0"/>
          </a:p>
          <a:p>
            <a:pPr marL="285750" indent="-285750">
              <a:lnSpc>
                <a:spcPct val="150000"/>
              </a:lnSpc>
              <a:buFont typeface="Arial" panose="020B0604020202020204" pitchFamily="34" charset="0"/>
              <a:buChar char="•"/>
            </a:pPr>
            <a:r>
              <a:rPr lang="zh-CN" altLang="en-US" dirty="0" smtClean="0"/>
              <a:t>机器学习</a:t>
            </a:r>
            <a:r>
              <a:rPr lang="zh-CN" altLang="en-US" dirty="0"/>
              <a:t>算法自动地从海量运维数</a:t>
            </a:r>
            <a:r>
              <a:rPr lang="zh-CN" altLang="en-US" dirty="0" smtClean="0"/>
              <a:t>据中</a:t>
            </a:r>
            <a:r>
              <a:rPr lang="zh-CN" altLang="en-US" dirty="0"/>
              <a:t>不断地学习，不断地提炼并总结规则</a:t>
            </a:r>
            <a:r>
              <a:rPr lang="zh-CN" altLang="en-US" dirty="0" smtClean="0"/>
              <a:t>。</a:t>
            </a:r>
            <a:endParaRPr lang="zh-CN" altLang="en-US" dirty="0"/>
          </a:p>
        </p:txBody>
      </p:sp>
      <p:sp>
        <p:nvSpPr>
          <p:cNvPr id="19" name="矩形 18"/>
          <p:cNvSpPr/>
          <p:nvPr/>
        </p:nvSpPr>
        <p:spPr>
          <a:xfrm>
            <a:off x="0" y="2641226"/>
            <a:ext cx="12192000" cy="1594017"/>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2400" b="1" dirty="0">
                <a:solidFill>
                  <a:srgbClr val="FF0000"/>
                </a:solidFill>
              </a:rPr>
              <a:t>通过人工智能的方式，进一步提升运维效率，包括运维决策、故障预测和问题分析等</a:t>
            </a:r>
            <a:endParaRPr lang="zh-CN" altLang="en-US" sz="2400" b="1" dirty="0">
              <a:solidFill>
                <a:srgbClr val="FF0000"/>
              </a:solidFill>
            </a:endParaRPr>
          </a:p>
        </p:txBody>
      </p:sp>
    </p:spTree>
    <p:extLst>
      <p:ext uri="{BB962C8B-B14F-4D97-AF65-F5344CB8AC3E}">
        <p14:creationId xmlns:p14="http://schemas.microsoft.com/office/powerpoint/2010/main" val="149313994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barn(inVertical)">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down)">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par>
                                <p:cTn id="31" presetID="22" presetClass="entr" presetSubtype="4"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wipe(down)">
                                      <p:cBhvr>
                                        <p:cTn id="33" dur="500"/>
                                        <p:tgtEl>
                                          <p:spTgt spid="13"/>
                                        </p:tgtEl>
                                      </p:cBhvr>
                                    </p:animEffect>
                                  </p:childTnLst>
                                </p:cTn>
                              </p:par>
                              <p:par>
                                <p:cTn id="34" presetID="22" presetClass="entr" presetSubtype="4" fill="hold"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down)">
                                      <p:cBhvr>
                                        <p:cTn id="36" dur="500"/>
                                        <p:tgtEl>
                                          <p:spTgt spid="15"/>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wipe(down)">
                                      <p:cBhvr>
                                        <p:cTn id="39" dur="500"/>
                                        <p:tgtEl>
                                          <p:spTgt spid="17"/>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wipe(down)">
                                      <p:cBhvr>
                                        <p:cTn id="42" dur="500"/>
                                        <p:tgtEl>
                                          <p:spTgt spid="20"/>
                                        </p:tgtEl>
                                      </p:cBhvr>
                                    </p:animEffect>
                                  </p:childTnLst>
                                </p:cTn>
                              </p:par>
                              <p:par>
                                <p:cTn id="43" presetID="22" presetClass="entr" presetSubtype="4" fill="hold" nodeType="with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wipe(down)">
                                      <p:cBhvr>
                                        <p:cTn id="45" dur="500"/>
                                        <p:tgtEl>
                                          <p:spTgt spid="21"/>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wipe(down)">
                                      <p:cBhvr>
                                        <p:cTn id="48" dur="500"/>
                                        <p:tgtEl>
                                          <p:spTgt spid="24"/>
                                        </p:tgtEl>
                                      </p:cBhvr>
                                    </p:animEffect>
                                  </p:childTnLst>
                                </p:cTn>
                              </p:par>
                              <p:par>
                                <p:cTn id="49" presetID="22" presetClass="entr" presetSubtype="4" fill="hold" nodeType="with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wipe(down)">
                                      <p:cBhvr>
                                        <p:cTn id="51" dur="500"/>
                                        <p:tgtEl>
                                          <p:spTgt spid="25"/>
                                        </p:tgtEl>
                                      </p:cBhvr>
                                    </p:animEffect>
                                  </p:childTnLst>
                                </p:cTn>
                              </p:par>
                              <p:par>
                                <p:cTn id="52" presetID="22" presetClass="entr" presetSubtype="4" fill="hold" nodeType="with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wipe(down)">
                                      <p:cBhvr>
                                        <p:cTn id="54" dur="500"/>
                                        <p:tgtEl>
                                          <p:spTgt spid="28"/>
                                        </p:tgtEl>
                                      </p:cBhvr>
                                    </p:animEffect>
                                  </p:childTnLst>
                                </p:cTn>
                              </p:par>
                              <p:par>
                                <p:cTn id="55" presetID="22" presetClass="entr" presetSubtype="4" fill="hold" grpId="0" nodeType="withEffect">
                                  <p:stCondLst>
                                    <p:cond delay="0"/>
                                  </p:stCondLst>
                                  <p:childTnLst>
                                    <p:set>
                                      <p:cBhvr>
                                        <p:cTn id="56" dur="1" fill="hold">
                                          <p:stCondLst>
                                            <p:cond delay="0"/>
                                          </p:stCondLst>
                                        </p:cTn>
                                        <p:tgtEl>
                                          <p:spTgt spid="33"/>
                                        </p:tgtEl>
                                        <p:attrNameLst>
                                          <p:attrName>style.visibility</p:attrName>
                                        </p:attrNameLst>
                                      </p:cBhvr>
                                      <p:to>
                                        <p:strVal val="visible"/>
                                      </p:to>
                                    </p:set>
                                    <p:animEffect transition="in" filter="wipe(down)">
                                      <p:cBhvr>
                                        <p:cTn id="57" dur="500"/>
                                        <p:tgtEl>
                                          <p:spTgt spid="33"/>
                                        </p:tgtEl>
                                      </p:cBhvr>
                                    </p:animEffect>
                                  </p:childTnLst>
                                </p:cTn>
                              </p:par>
                              <p:par>
                                <p:cTn id="58" presetID="22" presetClass="entr" presetSubtype="4" fill="hold" grpId="0" nodeType="withEffect">
                                  <p:stCondLst>
                                    <p:cond delay="0"/>
                                  </p:stCondLst>
                                  <p:childTnLst>
                                    <p:set>
                                      <p:cBhvr>
                                        <p:cTn id="59" dur="1" fill="hold">
                                          <p:stCondLst>
                                            <p:cond delay="0"/>
                                          </p:stCondLst>
                                        </p:cTn>
                                        <p:tgtEl>
                                          <p:spTgt spid="34"/>
                                        </p:tgtEl>
                                        <p:attrNameLst>
                                          <p:attrName>style.visibility</p:attrName>
                                        </p:attrNameLst>
                                      </p:cBhvr>
                                      <p:to>
                                        <p:strVal val="visible"/>
                                      </p:to>
                                    </p:set>
                                    <p:animEffect transition="in" filter="wipe(down)">
                                      <p:cBhvr>
                                        <p:cTn id="60" dur="500"/>
                                        <p:tgtEl>
                                          <p:spTgt spid="34"/>
                                        </p:tgtEl>
                                      </p:cBhvr>
                                    </p:animEffect>
                                  </p:childTnLst>
                                </p:cTn>
                              </p:par>
                              <p:par>
                                <p:cTn id="61" presetID="22" presetClass="entr" presetSubtype="4"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wipe(down)">
                                      <p:cBhvr>
                                        <p:cTn id="63" dur="500"/>
                                        <p:tgtEl>
                                          <p:spTgt spid="16"/>
                                        </p:tgtEl>
                                      </p:cBhvr>
                                    </p:animEffect>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grpId="0" nodeType="clickEffect">
                                  <p:stCondLst>
                                    <p:cond delay="0"/>
                                  </p:stCondLst>
                                  <p:childTnLst>
                                    <p:set>
                                      <p:cBhvr>
                                        <p:cTn id="67" dur="1" fill="hold">
                                          <p:stCondLst>
                                            <p:cond delay="0"/>
                                          </p:stCondLst>
                                        </p:cTn>
                                        <p:tgtEl>
                                          <p:spTgt spid="19"/>
                                        </p:tgtEl>
                                        <p:attrNameLst>
                                          <p:attrName>style.visibility</p:attrName>
                                        </p:attrNameLst>
                                      </p:cBhvr>
                                      <p:to>
                                        <p:strVal val="visible"/>
                                      </p:to>
                                    </p:set>
                                    <p:anim calcmode="lin" valueType="num">
                                      <p:cBhvr additive="base">
                                        <p:cTn id="68" dur="500" fill="hold"/>
                                        <p:tgtEl>
                                          <p:spTgt spid="19"/>
                                        </p:tgtEl>
                                        <p:attrNameLst>
                                          <p:attrName>ppt_x</p:attrName>
                                        </p:attrNameLst>
                                      </p:cBhvr>
                                      <p:tavLst>
                                        <p:tav tm="0">
                                          <p:val>
                                            <p:strVal val="#ppt_x"/>
                                          </p:val>
                                        </p:tav>
                                        <p:tav tm="100000">
                                          <p:val>
                                            <p:strVal val="#ppt_x"/>
                                          </p:val>
                                        </p:tav>
                                      </p:tavLst>
                                    </p:anim>
                                    <p:anim calcmode="lin" valueType="num">
                                      <p:cBhvr additive="base">
                                        <p:cTn id="69"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20" grpId="0"/>
      <p:bldP spid="24" grpId="0" animBg="1"/>
      <p:bldP spid="33" grpId="0"/>
      <p:bldP spid="34" grpId="0"/>
      <p:bldP spid="2" grpId="0"/>
      <p:bldP spid="8" grpId="0"/>
      <p:bldP spid="9" grpId="0"/>
      <p:bldP spid="1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624114" y="4219575"/>
            <a:ext cx="3500211" cy="2291860"/>
          </a:xfrm>
          <a:prstGeom prst="rect">
            <a:avLst/>
          </a:prstGeom>
          <a:noFill/>
          <a:ln w="2857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3052536"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a:t>
            </a:r>
            <a:r>
              <a:rPr lang="zh-CN" altLang="en-US" sz="3200" b="1" dirty="0">
                <a:latin typeface="微软雅黑" panose="020B0503020204020204" pitchFamily="34" charset="-122"/>
                <a:ea typeface="微软雅黑" panose="020B0503020204020204" pitchFamily="34" charset="-122"/>
              </a:rPr>
              <a:t>构建</a:t>
            </a: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p:cNvSpPr txBox="1"/>
          <p:nvPr/>
        </p:nvSpPr>
        <p:spPr>
          <a:xfrm>
            <a:off x="567539" y="1306113"/>
            <a:ext cx="3944865" cy="369332"/>
          </a:xfrm>
          <a:prstGeom prst="rect">
            <a:avLst/>
          </a:prstGeom>
          <a:noFill/>
        </p:spPr>
        <p:txBody>
          <a:bodyPr wrap="square" rtlCol="0">
            <a:spAutoFit/>
          </a:bodyPr>
          <a:lstStyle/>
          <a:p>
            <a:r>
              <a:rPr lang="zh-CN" altLang="en-US" dirty="0" smtClean="0">
                <a:solidFill>
                  <a:srgbClr val="333F50"/>
                </a:solidFill>
              </a:rPr>
              <a:t>构建</a:t>
            </a:r>
            <a:r>
              <a:rPr lang="en-US" altLang="zh-CN" dirty="0" err="1" smtClean="0">
                <a:solidFill>
                  <a:srgbClr val="333F50"/>
                </a:solidFill>
              </a:rPr>
              <a:t>AIOps</a:t>
            </a:r>
            <a:r>
              <a:rPr lang="zh-CN" altLang="en-US" dirty="0" smtClean="0">
                <a:solidFill>
                  <a:srgbClr val="333F50"/>
                </a:solidFill>
              </a:rPr>
              <a:t>使用的技术</a:t>
            </a:r>
            <a:endParaRPr lang="zh-CN" altLang="en-US" dirty="0">
              <a:solidFill>
                <a:srgbClr val="333F50"/>
              </a:solidFill>
            </a:endParaRPr>
          </a:p>
        </p:txBody>
      </p:sp>
      <p:sp>
        <p:nvSpPr>
          <p:cNvPr id="10" name="文本框 9"/>
          <p:cNvSpPr txBox="1"/>
          <p:nvPr/>
        </p:nvSpPr>
        <p:spPr>
          <a:xfrm>
            <a:off x="283156" y="2025935"/>
            <a:ext cx="4109811" cy="1477328"/>
          </a:xfrm>
          <a:prstGeom prst="rect">
            <a:avLst/>
          </a:prstGeom>
          <a:noFill/>
        </p:spPr>
        <p:txBody>
          <a:bodyPr wrap="square" rtlCol="0">
            <a:spAutoFit/>
          </a:bodyPr>
          <a:lstStyle/>
          <a:p>
            <a:pPr algn="ctr"/>
            <a:r>
              <a:rPr lang="en-US" altLang="zh-CN" dirty="0" smtClean="0"/>
              <a:t>A</a:t>
            </a:r>
            <a:r>
              <a:rPr lang="zh-CN" altLang="en-US" dirty="0" smtClean="0"/>
              <a:t>（</a:t>
            </a:r>
            <a:r>
              <a:rPr lang="en-US" altLang="zh-CN" dirty="0"/>
              <a:t>A</a:t>
            </a:r>
            <a:r>
              <a:rPr lang="en-US" altLang="zh-CN" dirty="0" smtClean="0"/>
              <a:t>rtificial </a:t>
            </a:r>
            <a:r>
              <a:rPr lang="en-US" altLang="zh-CN" dirty="0"/>
              <a:t>I</a:t>
            </a:r>
            <a:r>
              <a:rPr lang="en-US" altLang="zh-CN" dirty="0" smtClean="0"/>
              <a:t>ntelligent</a:t>
            </a:r>
            <a:r>
              <a:rPr lang="zh-CN" altLang="en-US" dirty="0" smtClean="0"/>
              <a:t>）</a:t>
            </a:r>
            <a:endParaRPr lang="en-US" altLang="zh-CN" dirty="0"/>
          </a:p>
          <a:p>
            <a:pPr algn="ctr"/>
            <a:r>
              <a:rPr lang="en-US" altLang="zh-CN" dirty="0" smtClean="0"/>
              <a:t>+</a:t>
            </a:r>
          </a:p>
          <a:p>
            <a:pPr algn="ctr"/>
            <a:r>
              <a:rPr lang="en-US" altLang="zh-CN" dirty="0" smtClean="0"/>
              <a:t>B</a:t>
            </a:r>
            <a:r>
              <a:rPr lang="zh-CN" altLang="en-US" dirty="0" smtClean="0"/>
              <a:t>（</a:t>
            </a:r>
            <a:r>
              <a:rPr lang="en-US" altLang="zh-CN" dirty="0" smtClean="0"/>
              <a:t>Big Data</a:t>
            </a:r>
            <a:r>
              <a:rPr lang="zh-CN" altLang="en-US" dirty="0" smtClean="0"/>
              <a:t>）</a:t>
            </a:r>
            <a:endParaRPr lang="en-US" altLang="zh-CN" dirty="0" smtClean="0"/>
          </a:p>
          <a:p>
            <a:pPr algn="ctr"/>
            <a:r>
              <a:rPr lang="en-US" altLang="zh-CN" dirty="0" smtClean="0"/>
              <a:t>+</a:t>
            </a:r>
          </a:p>
          <a:p>
            <a:pPr algn="ctr"/>
            <a:r>
              <a:rPr lang="en-US" altLang="zh-CN" dirty="0" smtClean="0"/>
              <a:t>C</a:t>
            </a:r>
            <a:r>
              <a:rPr lang="zh-CN" altLang="en-US" dirty="0" smtClean="0"/>
              <a:t>（</a:t>
            </a:r>
            <a:r>
              <a:rPr lang="en-US" altLang="zh-CN" dirty="0" smtClean="0"/>
              <a:t>Cloud</a:t>
            </a:r>
            <a:r>
              <a:rPr lang="zh-CN" altLang="en-US" dirty="0" smtClean="0"/>
              <a:t>）</a:t>
            </a:r>
            <a:endParaRPr lang="zh-CN" altLang="en-US" dirty="0"/>
          </a:p>
        </p:txBody>
      </p:sp>
      <p:pic>
        <p:nvPicPr>
          <p:cNvPr id="65" name="Picture 2" descr="“big data icon”的图片搜索结果"/>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32054" y="1986033"/>
            <a:ext cx="1473203" cy="1138384"/>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6" descr="“tech icon”的图片搜索结果"/>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957264" y="2060662"/>
            <a:ext cx="1867471" cy="1020514"/>
          </a:xfrm>
          <a:prstGeom prst="rect">
            <a:avLst/>
          </a:prstGeom>
          <a:noFill/>
          <a:extLst>
            <a:ext uri="{909E8E84-426E-40DD-AFC4-6F175D3DCCD1}">
              <a14:hiddenFill xmlns:a14="http://schemas.microsoft.com/office/drawing/2010/main">
                <a:solidFill>
                  <a:srgbClr val="FFFFFF"/>
                </a:solidFill>
              </a14:hiddenFill>
            </a:ext>
          </a:extLst>
        </p:spPr>
      </p:pic>
      <p:sp>
        <p:nvSpPr>
          <p:cNvPr id="68" name="文本框 67"/>
          <p:cNvSpPr txBox="1"/>
          <p:nvPr/>
        </p:nvSpPr>
        <p:spPr>
          <a:xfrm>
            <a:off x="6613090" y="2202206"/>
            <a:ext cx="839568" cy="646331"/>
          </a:xfrm>
          <a:prstGeom prst="rect">
            <a:avLst/>
          </a:prstGeom>
          <a:noFill/>
        </p:spPr>
        <p:txBody>
          <a:bodyPr wrap="square" rtlCol="0">
            <a:spAutoFit/>
          </a:bodyPr>
          <a:lstStyle/>
          <a:p>
            <a:pPr algn="ctr"/>
            <a:r>
              <a:rPr lang="en-US" altLang="zh-CN" sz="3600" b="1" dirty="0" smtClean="0"/>
              <a:t>+</a:t>
            </a:r>
            <a:endParaRPr lang="zh-CN" altLang="en-US" sz="3600" b="1" dirty="0"/>
          </a:p>
        </p:txBody>
      </p:sp>
      <p:sp>
        <p:nvSpPr>
          <p:cNvPr id="69" name="文本框 68"/>
          <p:cNvSpPr txBox="1"/>
          <p:nvPr/>
        </p:nvSpPr>
        <p:spPr>
          <a:xfrm>
            <a:off x="8563974" y="2256110"/>
            <a:ext cx="839568" cy="646331"/>
          </a:xfrm>
          <a:prstGeom prst="rect">
            <a:avLst/>
          </a:prstGeom>
          <a:noFill/>
        </p:spPr>
        <p:txBody>
          <a:bodyPr wrap="square" rtlCol="0">
            <a:spAutoFit/>
          </a:bodyPr>
          <a:lstStyle/>
          <a:p>
            <a:pPr algn="ctr"/>
            <a:r>
              <a:rPr lang="en-US" altLang="zh-CN" sz="3600" b="1" dirty="0" smtClean="0"/>
              <a:t>+</a:t>
            </a:r>
            <a:endParaRPr lang="zh-CN" altLang="en-US" sz="3600" b="1" dirty="0"/>
          </a:p>
        </p:txBody>
      </p:sp>
      <p:pic>
        <p:nvPicPr>
          <p:cNvPr id="1026" name="Picture 2" descr="相关图片"/>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44752" y="1901493"/>
            <a:ext cx="1355566" cy="1355566"/>
          </a:xfrm>
          <a:prstGeom prst="rect">
            <a:avLst/>
          </a:prstGeom>
          <a:noFill/>
          <a:extLst>
            <a:ext uri="{909E8E84-426E-40DD-AFC4-6F175D3DCCD1}">
              <a14:hiddenFill xmlns:a14="http://schemas.microsoft.com/office/drawing/2010/main">
                <a:solidFill>
                  <a:srgbClr val="FFFFFF"/>
                </a:solidFill>
              </a14:hiddenFill>
            </a:ext>
          </a:extLst>
        </p:spPr>
      </p:pic>
      <p:sp>
        <p:nvSpPr>
          <p:cNvPr id="37" name="文本框 36"/>
          <p:cNvSpPr txBox="1"/>
          <p:nvPr/>
        </p:nvSpPr>
        <p:spPr>
          <a:xfrm>
            <a:off x="624114" y="3639468"/>
            <a:ext cx="3944865" cy="369332"/>
          </a:xfrm>
          <a:prstGeom prst="rect">
            <a:avLst/>
          </a:prstGeom>
          <a:noFill/>
        </p:spPr>
        <p:txBody>
          <a:bodyPr wrap="square" rtlCol="0">
            <a:spAutoFit/>
          </a:bodyPr>
          <a:lstStyle/>
          <a:p>
            <a:r>
              <a:rPr lang="zh-CN" altLang="en-US" dirty="0" smtClean="0">
                <a:solidFill>
                  <a:srgbClr val="333F50"/>
                </a:solidFill>
              </a:rPr>
              <a:t>构建</a:t>
            </a:r>
            <a:r>
              <a:rPr lang="en-US" altLang="zh-CN" dirty="0" err="1" smtClean="0">
                <a:solidFill>
                  <a:srgbClr val="333F50"/>
                </a:solidFill>
              </a:rPr>
              <a:t>AIOps</a:t>
            </a:r>
            <a:r>
              <a:rPr lang="zh-CN" altLang="en-US" dirty="0" smtClean="0">
                <a:solidFill>
                  <a:srgbClr val="333F50"/>
                </a:solidFill>
              </a:rPr>
              <a:t>的前提条件</a:t>
            </a:r>
            <a:endParaRPr lang="zh-CN" altLang="en-US" dirty="0">
              <a:solidFill>
                <a:srgbClr val="333F50"/>
              </a:solidFill>
            </a:endParaRPr>
          </a:p>
        </p:txBody>
      </p:sp>
      <p:sp>
        <p:nvSpPr>
          <p:cNvPr id="38" name="文本框 37"/>
          <p:cNvSpPr txBox="1"/>
          <p:nvPr/>
        </p:nvSpPr>
        <p:spPr>
          <a:xfrm>
            <a:off x="648728" y="4280592"/>
            <a:ext cx="3556786" cy="21698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海量的数据</a:t>
            </a:r>
            <a:endParaRPr lang="en-US" altLang="zh-CN" dirty="0" smtClean="0"/>
          </a:p>
          <a:p>
            <a:pPr marL="285750" indent="285750">
              <a:lnSpc>
                <a:spcPct val="150000"/>
              </a:lnSpc>
              <a:buFont typeface="Arial" panose="020B0604020202020204" pitchFamily="34" charset="0"/>
              <a:buChar char="•"/>
            </a:pPr>
            <a:r>
              <a:rPr lang="zh-CN" altLang="en-US" dirty="0" smtClean="0"/>
              <a:t>适合的运</a:t>
            </a:r>
            <a:r>
              <a:rPr lang="zh-CN" altLang="en-US" dirty="0" smtClean="0"/>
              <a:t>维问题</a:t>
            </a:r>
            <a:endParaRPr lang="en-US" altLang="zh-CN" dirty="0" smtClean="0"/>
          </a:p>
          <a:p>
            <a:pPr marL="285750" indent="285750">
              <a:lnSpc>
                <a:spcPct val="150000"/>
              </a:lnSpc>
              <a:buFont typeface="Arial" panose="020B0604020202020204" pitchFamily="34" charset="0"/>
              <a:buChar char="•"/>
            </a:pPr>
            <a:r>
              <a:rPr lang="zh-CN" altLang="en-US" dirty="0" smtClean="0"/>
              <a:t>较为先进的算法</a:t>
            </a:r>
            <a:endParaRPr lang="en-US" altLang="zh-CN" dirty="0" smtClean="0"/>
          </a:p>
          <a:p>
            <a:pPr marL="285750" indent="285750">
              <a:lnSpc>
                <a:spcPct val="150000"/>
              </a:lnSpc>
              <a:buFont typeface="Arial" panose="020B0604020202020204" pitchFamily="34" charset="0"/>
              <a:buChar char="•"/>
            </a:pPr>
            <a:r>
              <a:rPr lang="zh-CN" altLang="en-US" dirty="0" smtClean="0"/>
              <a:t>高速的计算能力</a:t>
            </a:r>
            <a:endParaRPr lang="en-US" altLang="zh-CN" dirty="0" smtClean="0"/>
          </a:p>
          <a:p>
            <a:pPr marL="285750" indent="285750">
              <a:lnSpc>
                <a:spcPct val="150000"/>
              </a:lnSpc>
              <a:buFont typeface="Arial" panose="020B0604020202020204" pitchFamily="34" charset="0"/>
              <a:buChar char="•"/>
            </a:pPr>
            <a:r>
              <a:rPr lang="zh-CN" altLang="en-US" dirty="0" smtClean="0"/>
              <a:t>高度完善的自动化运维体系</a:t>
            </a:r>
            <a:endParaRPr lang="zh-CN" altLang="en-US" dirty="0"/>
          </a:p>
        </p:txBody>
      </p:sp>
      <p:sp>
        <p:nvSpPr>
          <p:cNvPr id="48" name="矩形 47"/>
          <p:cNvSpPr/>
          <p:nvPr/>
        </p:nvSpPr>
        <p:spPr>
          <a:xfrm>
            <a:off x="6613090" y="4219474"/>
            <a:ext cx="3500211" cy="2291860"/>
          </a:xfrm>
          <a:prstGeom prst="rect">
            <a:avLst/>
          </a:prstGeom>
          <a:noFill/>
          <a:ln w="2857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16" name="圆角矩形 15"/>
          <p:cNvSpPr/>
          <p:nvPr/>
        </p:nvSpPr>
        <p:spPr>
          <a:xfrm>
            <a:off x="6886575" y="4448159"/>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t>海量运维</a:t>
            </a:r>
            <a:r>
              <a:rPr lang="zh-CN" altLang="en-US" sz="1100" dirty="0"/>
              <a:t>数</a:t>
            </a:r>
            <a:r>
              <a:rPr lang="zh-CN" altLang="en-US" sz="1100" dirty="0" smtClean="0"/>
              <a:t>据（事件、性能、资源、事件等）</a:t>
            </a:r>
            <a:endParaRPr lang="zh-CN" altLang="en-US" sz="1100" dirty="0"/>
          </a:p>
        </p:txBody>
      </p:sp>
      <p:sp>
        <p:nvSpPr>
          <p:cNvPr id="49" name="圆角矩形 48"/>
          <p:cNvSpPr/>
          <p:nvPr/>
        </p:nvSpPr>
        <p:spPr>
          <a:xfrm>
            <a:off x="6886575" y="4828482"/>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异常检测、故障定位、智能规划</a:t>
            </a:r>
            <a:endParaRPr lang="zh-CN" altLang="en-US" sz="1200" dirty="0"/>
          </a:p>
        </p:txBody>
      </p:sp>
      <p:sp>
        <p:nvSpPr>
          <p:cNvPr id="51" name="圆角矩形 50"/>
          <p:cNvSpPr/>
          <p:nvPr/>
        </p:nvSpPr>
        <p:spPr>
          <a:xfrm>
            <a:off x="6886575" y="5273875"/>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存在大量成熟的</a:t>
            </a:r>
            <a:r>
              <a:rPr lang="en-US" altLang="zh-CN" sz="1200" dirty="0" smtClean="0"/>
              <a:t>AI</a:t>
            </a:r>
            <a:r>
              <a:rPr lang="zh-CN" altLang="en-US" sz="1200" dirty="0" smtClean="0"/>
              <a:t>算法可以使用</a:t>
            </a:r>
            <a:endParaRPr lang="zh-CN" altLang="en-US" sz="1200" dirty="0"/>
          </a:p>
        </p:txBody>
      </p:sp>
      <p:sp>
        <p:nvSpPr>
          <p:cNvPr id="61" name="圆角矩形 60"/>
          <p:cNvSpPr/>
          <p:nvPr/>
        </p:nvSpPr>
        <p:spPr>
          <a:xfrm>
            <a:off x="6886575" y="5668768"/>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高速的服务器集群</a:t>
            </a:r>
            <a:endParaRPr lang="zh-CN" altLang="en-US" sz="1200" dirty="0"/>
          </a:p>
        </p:txBody>
      </p:sp>
      <p:sp>
        <p:nvSpPr>
          <p:cNvPr id="62" name="圆角矩形 61"/>
          <p:cNvSpPr/>
          <p:nvPr/>
        </p:nvSpPr>
        <p:spPr>
          <a:xfrm>
            <a:off x="6886575" y="6055292"/>
            <a:ext cx="3004424" cy="276225"/>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目前自动化运维还未完善</a:t>
            </a:r>
            <a:endParaRPr lang="zh-CN" altLang="en-US" sz="1200" dirty="0"/>
          </a:p>
        </p:txBody>
      </p:sp>
      <p:sp>
        <p:nvSpPr>
          <p:cNvPr id="22" name="右箭头 21"/>
          <p:cNvSpPr/>
          <p:nvPr/>
        </p:nvSpPr>
        <p:spPr>
          <a:xfrm>
            <a:off x="4568979" y="4966594"/>
            <a:ext cx="1631796" cy="702174"/>
          </a:xfrm>
          <a:prstGeom prst="rightArrow">
            <a:avLst/>
          </a:prstGeom>
          <a:solidFill>
            <a:schemeClr val="tx1">
              <a:lumMod val="85000"/>
              <a:lumOff val="1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10025856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wipe(down)">
                                      <p:cBhvr>
                                        <p:cTn id="7" dur="500"/>
                                        <p:tgtEl>
                                          <p:spTgt spid="60"/>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down)">
                                      <p:cBhvr>
                                        <p:cTn id="10" dur="500"/>
                                        <p:tgtEl>
                                          <p:spTgt spid="10"/>
                                        </p:tgtEl>
                                      </p:cBhvr>
                                    </p:animEffect>
                                  </p:childTnLst>
                                </p:cTn>
                              </p:par>
                              <p:par>
                                <p:cTn id="11" presetID="22" presetClass="entr" presetSubtype="4" fill="hold" nodeType="withEffect">
                                  <p:stCondLst>
                                    <p:cond delay="0"/>
                                  </p:stCondLst>
                                  <p:childTnLst>
                                    <p:set>
                                      <p:cBhvr>
                                        <p:cTn id="12" dur="1" fill="hold">
                                          <p:stCondLst>
                                            <p:cond delay="0"/>
                                          </p:stCondLst>
                                        </p:cTn>
                                        <p:tgtEl>
                                          <p:spTgt spid="1026"/>
                                        </p:tgtEl>
                                        <p:attrNameLst>
                                          <p:attrName>style.visibility</p:attrName>
                                        </p:attrNameLst>
                                      </p:cBhvr>
                                      <p:to>
                                        <p:strVal val="visible"/>
                                      </p:to>
                                    </p:set>
                                    <p:animEffect transition="in" filter="wipe(down)">
                                      <p:cBhvr>
                                        <p:cTn id="13" dur="500"/>
                                        <p:tgtEl>
                                          <p:spTgt spid="1026"/>
                                        </p:tgtEl>
                                      </p:cBhvr>
                                    </p:animEffect>
                                  </p:childTnLst>
                                </p:cTn>
                              </p:par>
                              <p:par>
                                <p:cTn id="14" presetID="22" presetClass="entr" presetSubtype="4" fill="hold" nodeType="withEffect">
                                  <p:stCondLst>
                                    <p:cond delay="0"/>
                                  </p:stCondLst>
                                  <p:childTnLst>
                                    <p:set>
                                      <p:cBhvr>
                                        <p:cTn id="15" dur="1" fill="hold">
                                          <p:stCondLst>
                                            <p:cond delay="0"/>
                                          </p:stCondLst>
                                        </p:cTn>
                                        <p:tgtEl>
                                          <p:spTgt spid="65"/>
                                        </p:tgtEl>
                                        <p:attrNameLst>
                                          <p:attrName>style.visibility</p:attrName>
                                        </p:attrNameLst>
                                      </p:cBhvr>
                                      <p:to>
                                        <p:strVal val="visible"/>
                                      </p:to>
                                    </p:set>
                                    <p:animEffect transition="in" filter="wipe(down)">
                                      <p:cBhvr>
                                        <p:cTn id="16" dur="500"/>
                                        <p:tgtEl>
                                          <p:spTgt spid="65"/>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68"/>
                                        </p:tgtEl>
                                        <p:attrNameLst>
                                          <p:attrName>style.visibility</p:attrName>
                                        </p:attrNameLst>
                                      </p:cBhvr>
                                      <p:to>
                                        <p:strVal val="visible"/>
                                      </p:to>
                                    </p:set>
                                    <p:animEffect transition="in" filter="wipe(down)">
                                      <p:cBhvr>
                                        <p:cTn id="19" dur="500"/>
                                        <p:tgtEl>
                                          <p:spTgt spid="68"/>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69"/>
                                        </p:tgtEl>
                                        <p:attrNameLst>
                                          <p:attrName>style.visibility</p:attrName>
                                        </p:attrNameLst>
                                      </p:cBhvr>
                                      <p:to>
                                        <p:strVal val="visible"/>
                                      </p:to>
                                    </p:set>
                                    <p:animEffect transition="in" filter="wipe(down)">
                                      <p:cBhvr>
                                        <p:cTn id="22" dur="500"/>
                                        <p:tgtEl>
                                          <p:spTgt spid="69"/>
                                        </p:tgtEl>
                                      </p:cBhvr>
                                    </p:animEffect>
                                  </p:childTnLst>
                                </p:cTn>
                              </p:par>
                              <p:par>
                                <p:cTn id="23" presetID="22" presetClass="entr" presetSubtype="4" fill="hold" nodeType="withEffect">
                                  <p:stCondLst>
                                    <p:cond delay="0"/>
                                  </p:stCondLst>
                                  <p:childTnLst>
                                    <p:set>
                                      <p:cBhvr>
                                        <p:cTn id="24" dur="1" fill="hold">
                                          <p:stCondLst>
                                            <p:cond delay="0"/>
                                          </p:stCondLst>
                                        </p:cTn>
                                        <p:tgtEl>
                                          <p:spTgt spid="67"/>
                                        </p:tgtEl>
                                        <p:attrNameLst>
                                          <p:attrName>style.visibility</p:attrName>
                                        </p:attrNameLst>
                                      </p:cBhvr>
                                      <p:to>
                                        <p:strVal val="visible"/>
                                      </p:to>
                                    </p:set>
                                    <p:animEffect transition="in" filter="wipe(down)">
                                      <p:cBhvr>
                                        <p:cTn id="25" dur="500"/>
                                        <p:tgtEl>
                                          <p:spTgt spid="67"/>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38"/>
                                        </p:tgtEl>
                                        <p:attrNameLst>
                                          <p:attrName>style.visibility</p:attrName>
                                        </p:attrNameLst>
                                      </p:cBhvr>
                                      <p:to>
                                        <p:strVal val="visible"/>
                                      </p:to>
                                    </p:set>
                                    <p:animEffect transition="in" filter="wipe(down)">
                                      <p:cBhvr>
                                        <p:cTn id="28" dur="500"/>
                                        <p:tgtEl>
                                          <p:spTgt spid="38"/>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wipe(down)">
                                      <p:cBhvr>
                                        <p:cTn id="31"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10" grpId="0"/>
      <p:bldP spid="68" grpId="0"/>
      <p:bldP spid="69" grpId="0"/>
      <p:bldP spid="37" grpId="0"/>
      <p:bldP spid="3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24114" y="10310"/>
            <a:ext cx="3052536"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a:t>
            </a:r>
            <a:r>
              <a:rPr lang="zh-CN" altLang="en-US" sz="3200" b="1" dirty="0">
                <a:latin typeface="微软雅黑" panose="020B0503020204020204" pitchFamily="34" charset="-122"/>
                <a:ea typeface="微软雅黑" panose="020B0503020204020204" pitchFamily="34" charset="-122"/>
              </a:rPr>
              <a:t>构建</a:t>
            </a:r>
          </a:p>
        </p:txBody>
      </p:sp>
      <p:sp>
        <p:nvSpPr>
          <p:cNvPr id="4" name="文本框 3"/>
          <p:cNvSpPr txBox="1"/>
          <p:nvPr/>
        </p:nvSpPr>
        <p:spPr>
          <a:xfrm>
            <a:off x="338364" y="1685925"/>
            <a:ext cx="5124450" cy="3831818"/>
          </a:xfrm>
          <a:prstGeom prst="rect">
            <a:avLst/>
          </a:prstGeom>
          <a:noFill/>
        </p:spPr>
        <p:txBody>
          <a:bodyPr wrap="square" rtlCol="0">
            <a:spAutoFit/>
          </a:bodyPr>
          <a:lstStyle/>
          <a:p>
            <a:pPr indent="457200">
              <a:lnSpc>
                <a:spcPct val="150000"/>
              </a:lnSpc>
            </a:pPr>
            <a:r>
              <a:rPr lang="zh-CN" altLang="en-US" dirty="0" smtClean="0"/>
              <a:t>完善的自动化</a:t>
            </a:r>
            <a:r>
              <a:rPr lang="zh-CN" altLang="en-US" dirty="0"/>
              <a:t>网络</a:t>
            </a:r>
            <a:r>
              <a:rPr lang="zh-CN" altLang="en-US" dirty="0" smtClean="0"/>
              <a:t>运维平台：</a:t>
            </a:r>
            <a:endParaRPr lang="en-US" altLang="zh-CN" dirty="0" smtClean="0"/>
          </a:p>
          <a:p>
            <a:pPr marL="285750" indent="457200">
              <a:lnSpc>
                <a:spcPct val="150000"/>
              </a:lnSpc>
              <a:buFont typeface="Arial" panose="020B0604020202020204" pitchFamily="34" charset="0"/>
              <a:buChar char="•"/>
            </a:pPr>
            <a:r>
              <a:rPr lang="zh-CN" altLang="en-US" dirty="0" smtClean="0"/>
              <a:t>完善统一的数据采集系统</a:t>
            </a:r>
            <a:endParaRPr lang="en-US" altLang="zh-CN" dirty="0" smtClean="0"/>
          </a:p>
          <a:p>
            <a:pPr marL="285750" indent="457200">
              <a:lnSpc>
                <a:spcPct val="150000"/>
              </a:lnSpc>
              <a:buFont typeface="Arial" panose="020B0604020202020204" pitchFamily="34" charset="0"/>
              <a:buChar char="•"/>
            </a:pPr>
            <a:r>
              <a:rPr lang="zh-CN" altLang="en-US" dirty="0" smtClean="0"/>
              <a:t>对监控数据的结构化存储</a:t>
            </a:r>
            <a:endParaRPr lang="en-US" altLang="zh-CN" dirty="0" smtClean="0"/>
          </a:p>
          <a:p>
            <a:pPr marL="285750" indent="457200">
              <a:lnSpc>
                <a:spcPct val="150000"/>
              </a:lnSpc>
              <a:buFont typeface="Arial" panose="020B0604020202020204" pitchFamily="34" charset="0"/>
              <a:buChar char="•"/>
            </a:pPr>
            <a:r>
              <a:rPr lang="zh-CN" altLang="en-US" dirty="0" smtClean="0"/>
              <a:t>告警通知的快速与方式多样性</a:t>
            </a:r>
            <a:endParaRPr lang="en-US" altLang="zh-CN" dirty="0" smtClean="0"/>
          </a:p>
          <a:p>
            <a:pPr marL="285750" indent="457200">
              <a:lnSpc>
                <a:spcPct val="150000"/>
              </a:lnSpc>
              <a:buFont typeface="Arial" panose="020B0604020202020204" pitchFamily="34" charset="0"/>
              <a:buChar char="•"/>
            </a:pPr>
            <a:r>
              <a:rPr lang="zh-CN" altLang="en-US" dirty="0" smtClean="0"/>
              <a:t>自动生成各种资源、性能分析报表</a:t>
            </a:r>
            <a:endParaRPr lang="en-US" altLang="zh-CN" dirty="0" smtClean="0"/>
          </a:p>
          <a:p>
            <a:pPr marL="285750" indent="457200">
              <a:lnSpc>
                <a:spcPct val="150000"/>
              </a:lnSpc>
              <a:buFont typeface="Arial" panose="020B0604020202020204" pitchFamily="34" charset="0"/>
              <a:buChar char="•"/>
            </a:pPr>
            <a:r>
              <a:rPr lang="zh-CN" altLang="en-US" dirty="0" smtClean="0"/>
              <a:t>全网资产的统一管理和网络拓扑</a:t>
            </a:r>
            <a:endParaRPr lang="en-US" altLang="zh-CN" dirty="0" smtClean="0"/>
          </a:p>
          <a:p>
            <a:pPr marL="285750" indent="457200">
              <a:lnSpc>
                <a:spcPct val="150000"/>
              </a:lnSpc>
              <a:buFont typeface="Arial" panose="020B0604020202020204" pitchFamily="34" charset="0"/>
              <a:buChar char="•"/>
            </a:pPr>
            <a:r>
              <a:rPr lang="zh-CN" altLang="en-US" dirty="0" smtClean="0"/>
              <a:t>良好的网络评估模型</a:t>
            </a:r>
            <a:endParaRPr lang="en-US" altLang="zh-CN" dirty="0" smtClean="0"/>
          </a:p>
          <a:p>
            <a:pPr marL="285750" indent="457200">
              <a:lnSpc>
                <a:spcPct val="150000"/>
              </a:lnSpc>
              <a:buFont typeface="Arial" panose="020B0604020202020204" pitchFamily="34" charset="0"/>
              <a:buChar char="•"/>
            </a:pPr>
            <a:r>
              <a:rPr lang="zh-CN" altLang="en-US" dirty="0"/>
              <a:t>全</a:t>
            </a:r>
            <a:r>
              <a:rPr lang="zh-CN" altLang="en-US" dirty="0" smtClean="0"/>
              <a:t>网业务情况的可视化展示</a:t>
            </a:r>
            <a:endParaRPr lang="en-US" altLang="zh-CN" dirty="0" smtClean="0"/>
          </a:p>
          <a:p>
            <a:pPr marL="285750" indent="457200">
              <a:lnSpc>
                <a:spcPct val="150000"/>
              </a:lnSpc>
              <a:buFont typeface="Arial" panose="020B0604020202020204" pitchFamily="34" charset="0"/>
              <a:buChar char="•"/>
            </a:pPr>
            <a:r>
              <a:rPr lang="zh-CN" altLang="en-US" dirty="0" smtClean="0"/>
              <a:t>提供可扩展的自动化脚本接口</a:t>
            </a:r>
            <a:endParaRPr lang="en-US" altLang="zh-CN" dirty="0" smtClean="0"/>
          </a:p>
        </p:txBody>
      </p:sp>
      <p:sp>
        <p:nvSpPr>
          <p:cNvPr id="6" name="文本框 5"/>
          <p:cNvSpPr txBox="1"/>
          <p:nvPr/>
        </p:nvSpPr>
        <p:spPr>
          <a:xfrm>
            <a:off x="6448425" y="1809750"/>
            <a:ext cx="4686300" cy="3000821"/>
          </a:xfrm>
          <a:prstGeom prst="rect">
            <a:avLst/>
          </a:prstGeom>
          <a:noFill/>
        </p:spPr>
        <p:txBody>
          <a:bodyPr wrap="square" rtlCol="0">
            <a:spAutoFit/>
          </a:bodyPr>
          <a:lstStyle/>
          <a:p>
            <a:pPr indent="457200">
              <a:lnSpc>
                <a:spcPct val="150000"/>
              </a:lnSpc>
            </a:pPr>
            <a:r>
              <a:rPr lang="zh-CN" altLang="en-US" dirty="0" smtClean="0"/>
              <a:t>现状：</a:t>
            </a:r>
            <a:endParaRPr lang="en-US" altLang="zh-CN" dirty="0" smtClean="0"/>
          </a:p>
          <a:p>
            <a:pPr marL="571500" indent="-285750">
              <a:lnSpc>
                <a:spcPct val="150000"/>
              </a:lnSpc>
              <a:buFont typeface="Arial" panose="020B0604020202020204" pitchFamily="34" charset="0"/>
              <a:buChar char="•"/>
            </a:pPr>
            <a:r>
              <a:rPr lang="zh-CN" altLang="en-US" dirty="0" smtClean="0"/>
              <a:t>数据获取有较为完善的手段</a:t>
            </a:r>
            <a:endParaRPr lang="en-US" altLang="zh-CN" dirty="0" smtClean="0"/>
          </a:p>
          <a:p>
            <a:pPr marL="571500" indent="-285750">
              <a:lnSpc>
                <a:spcPct val="150000"/>
              </a:lnSpc>
              <a:buFont typeface="Arial" panose="020B0604020202020204" pitchFamily="34" charset="0"/>
              <a:buChar char="•"/>
            </a:pPr>
            <a:r>
              <a:rPr lang="zh-CN" altLang="en-US" dirty="0" smtClean="0"/>
              <a:t>对于数据分析仍需要人为进行操作</a:t>
            </a:r>
            <a:endParaRPr lang="en-US" altLang="zh-CN" dirty="0" smtClean="0"/>
          </a:p>
          <a:p>
            <a:pPr marL="571500" indent="-285750">
              <a:lnSpc>
                <a:spcPct val="150000"/>
              </a:lnSpc>
              <a:buFont typeface="Arial" panose="020B0604020202020204" pitchFamily="34" charset="0"/>
              <a:buChar char="•"/>
            </a:pPr>
            <a:r>
              <a:rPr lang="zh-CN" altLang="en-US" dirty="0" smtClean="0"/>
              <a:t>现有平台不支持报表导出</a:t>
            </a:r>
            <a:endParaRPr lang="en-US" altLang="zh-CN" dirty="0" smtClean="0"/>
          </a:p>
          <a:p>
            <a:pPr marL="571500" indent="-285750">
              <a:lnSpc>
                <a:spcPct val="150000"/>
              </a:lnSpc>
              <a:buFont typeface="Arial" panose="020B0604020202020204" pitchFamily="34" charset="0"/>
              <a:buChar char="•"/>
            </a:pPr>
            <a:r>
              <a:rPr lang="zh-CN" altLang="en-US" dirty="0" smtClean="0"/>
              <a:t>对数据的可视化形式较为单一</a:t>
            </a:r>
            <a:endParaRPr lang="en-US" altLang="zh-CN" dirty="0" smtClean="0"/>
          </a:p>
          <a:p>
            <a:pPr marL="571500" indent="-285750">
              <a:lnSpc>
                <a:spcPct val="150000"/>
              </a:lnSpc>
              <a:buFont typeface="Arial" panose="020B0604020202020204" pitchFamily="34" charset="0"/>
              <a:buChar char="•"/>
            </a:pPr>
            <a:r>
              <a:rPr lang="zh-CN" altLang="en-US" dirty="0" smtClean="0"/>
              <a:t>现有平台不支持扩展的自动化脚本</a:t>
            </a:r>
            <a:endParaRPr lang="en-US" altLang="zh-CN" dirty="0" smtClean="0"/>
          </a:p>
          <a:p>
            <a:pPr marL="571500" indent="-285750">
              <a:lnSpc>
                <a:spcPct val="150000"/>
              </a:lnSpc>
              <a:buFont typeface="Arial" panose="020B0604020202020204" pitchFamily="34" charset="0"/>
              <a:buChar char="•"/>
            </a:pPr>
            <a:r>
              <a:rPr lang="zh-CN" altLang="en-US" dirty="0" smtClean="0"/>
              <a:t>存在多种网管工具</a:t>
            </a:r>
            <a:endParaRPr lang="en-US" altLang="zh-CN" dirty="0"/>
          </a:p>
        </p:txBody>
      </p:sp>
      <p:sp>
        <p:nvSpPr>
          <p:cNvPr id="8" name="矩形 7"/>
          <p:cNvSpPr/>
          <p:nvPr/>
        </p:nvSpPr>
        <p:spPr>
          <a:xfrm>
            <a:off x="4524167" y="5606534"/>
            <a:ext cx="2800767" cy="523220"/>
          </a:xfrm>
          <a:prstGeom prst="rect">
            <a:avLst/>
          </a:prstGeom>
        </p:spPr>
        <p:txBody>
          <a:bodyPr wrap="none">
            <a:spAutoFit/>
          </a:bodyPr>
          <a:lstStyle/>
          <a:p>
            <a:pPr algn="ctr"/>
            <a:r>
              <a:rPr lang="zh-CN" altLang="en-US" dirty="0">
                <a:solidFill>
                  <a:srgbClr val="FF0000"/>
                </a:solidFill>
              </a:rPr>
              <a:t>（</a:t>
            </a:r>
            <a:r>
              <a:rPr lang="zh-CN" altLang="en-US" sz="2800" dirty="0">
                <a:solidFill>
                  <a:srgbClr val="FF0000"/>
                </a:solidFill>
              </a:rPr>
              <a:t>仍需修改商榷</a:t>
            </a:r>
            <a:r>
              <a:rPr lang="zh-CN" altLang="en-US" dirty="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233323414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3052536"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a:t>
            </a:r>
            <a:r>
              <a:rPr lang="zh-CN" altLang="en-US" sz="3200" b="1" dirty="0">
                <a:latin typeface="微软雅黑" panose="020B0503020204020204" pitchFamily="34" charset="-122"/>
                <a:ea typeface="微软雅黑" panose="020B0503020204020204" pitchFamily="34" charset="-122"/>
              </a:rPr>
              <a:t>构建</a:t>
            </a: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构建</a:t>
            </a:r>
            <a:r>
              <a:rPr lang="en-US" altLang="zh-CN" dirty="0" err="1" smtClean="0">
                <a:solidFill>
                  <a:srgbClr val="333F50"/>
                </a:solidFill>
              </a:rPr>
              <a:t>AIOps</a:t>
            </a:r>
            <a:r>
              <a:rPr lang="zh-CN" altLang="en-US" dirty="0" smtClean="0">
                <a:solidFill>
                  <a:srgbClr val="333F50"/>
                </a:solidFill>
              </a:rPr>
              <a:t>的出发点</a:t>
            </a:r>
            <a:endParaRPr lang="zh-CN" altLang="en-US" dirty="0">
              <a:solidFill>
                <a:srgbClr val="333F50"/>
              </a:solidFill>
            </a:endParaRPr>
          </a:p>
        </p:txBody>
      </p:sp>
      <p:sp>
        <p:nvSpPr>
          <p:cNvPr id="2" name="文本框 1"/>
          <p:cNvSpPr txBox="1"/>
          <p:nvPr/>
        </p:nvSpPr>
        <p:spPr>
          <a:xfrm>
            <a:off x="3676650" y="1571925"/>
            <a:ext cx="5514975" cy="466281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书同文</a:t>
            </a:r>
            <a:endParaRPr lang="en-US" altLang="zh-CN" dirty="0" smtClean="0"/>
          </a:p>
          <a:p>
            <a:pPr marL="742950" lvl="1" indent="285750">
              <a:lnSpc>
                <a:spcPct val="150000"/>
              </a:lnSpc>
              <a:buFont typeface="Wingdings" panose="05000000000000000000" pitchFamily="2" charset="2"/>
              <a:buChar char="Ø"/>
            </a:pPr>
            <a:r>
              <a:rPr lang="zh-CN" altLang="en-US" dirty="0" smtClean="0"/>
              <a:t>使用一致的运维语言描述所有业务</a:t>
            </a:r>
            <a:endParaRPr lang="en-US" altLang="zh-CN" dirty="0" smtClean="0"/>
          </a:p>
          <a:p>
            <a:pPr marL="742950" lvl="1" indent="285750">
              <a:lnSpc>
                <a:spcPct val="150000"/>
              </a:lnSpc>
              <a:buFont typeface="Wingdings" panose="05000000000000000000" pitchFamily="2" charset="2"/>
              <a:buChar char="Ø"/>
            </a:pPr>
            <a:r>
              <a:rPr lang="zh-CN" altLang="en-US" dirty="0" smtClean="0"/>
              <a:t>所有的数据都格式化存储“集群”“应用”“服务”“资源”</a:t>
            </a:r>
            <a:r>
              <a:rPr lang="en-US" altLang="zh-CN" dirty="0" smtClean="0"/>
              <a:t>…</a:t>
            </a:r>
          </a:p>
          <a:p>
            <a:pPr marL="285750" indent="285750">
              <a:lnSpc>
                <a:spcPct val="150000"/>
              </a:lnSpc>
              <a:buFont typeface="Arial" panose="020B0604020202020204" pitchFamily="34" charset="0"/>
              <a:buChar char="•"/>
            </a:pPr>
            <a:r>
              <a:rPr lang="zh-CN" altLang="en-US" dirty="0"/>
              <a:t>车同</a:t>
            </a:r>
            <a:r>
              <a:rPr lang="zh-CN" altLang="en-US" dirty="0" smtClean="0"/>
              <a:t>轨</a:t>
            </a:r>
            <a:endParaRPr lang="en-US" altLang="zh-CN" dirty="0" smtClean="0"/>
          </a:p>
          <a:p>
            <a:pPr marL="742950" lvl="1" indent="285750">
              <a:lnSpc>
                <a:spcPct val="150000"/>
              </a:lnSpc>
              <a:buFont typeface="Wingdings" panose="05000000000000000000" pitchFamily="2" charset="2"/>
              <a:buChar char="Ø"/>
            </a:pPr>
            <a:r>
              <a:rPr lang="zh-CN" altLang="en-US" dirty="0" smtClean="0"/>
              <a:t>合并功能类似的冗余平台</a:t>
            </a:r>
            <a:endParaRPr lang="en-US" altLang="zh-CN" dirty="0" smtClean="0"/>
          </a:p>
          <a:p>
            <a:pPr marL="742950" lvl="1" indent="285750">
              <a:lnSpc>
                <a:spcPct val="150000"/>
              </a:lnSpc>
              <a:buFont typeface="Wingdings" panose="05000000000000000000" pitchFamily="2" charset="2"/>
              <a:buChar char="Ø"/>
            </a:pPr>
            <a:r>
              <a:rPr lang="zh-CN" altLang="en-US" dirty="0" smtClean="0"/>
              <a:t>保证运维动作执行的一致有效</a:t>
            </a:r>
            <a:endParaRPr lang="en-US" altLang="zh-CN" dirty="0" smtClean="0"/>
          </a:p>
          <a:p>
            <a:pPr marL="285750" indent="285750">
              <a:lnSpc>
                <a:spcPct val="150000"/>
              </a:lnSpc>
              <a:buFont typeface="Arial" panose="020B0604020202020204" pitchFamily="34" charset="0"/>
              <a:buChar char="•"/>
            </a:pPr>
            <a:r>
              <a:rPr lang="zh-CN" altLang="en-US" dirty="0" smtClean="0"/>
              <a:t>行同伦</a:t>
            </a:r>
            <a:endParaRPr lang="en-US" altLang="zh-CN" dirty="0" smtClean="0"/>
          </a:p>
          <a:p>
            <a:pPr marL="742950" lvl="1" indent="285750">
              <a:lnSpc>
                <a:spcPct val="150000"/>
              </a:lnSpc>
              <a:buFont typeface="Wingdings" panose="05000000000000000000" pitchFamily="2" charset="2"/>
              <a:buChar char="Ø"/>
            </a:pPr>
            <a:r>
              <a:rPr lang="zh-CN" altLang="en-US" dirty="0" smtClean="0"/>
              <a:t>感知：如异常检测</a:t>
            </a:r>
            <a:endParaRPr lang="en-US" altLang="zh-CN" dirty="0" smtClean="0"/>
          </a:p>
          <a:p>
            <a:pPr marL="742950" lvl="1" indent="285750">
              <a:lnSpc>
                <a:spcPct val="150000"/>
              </a:lnSpc>
              <a:buFont typeface="Wingdings" panose="05000000000000000000" pitchFamily="2" charset="2"/>
              <a:buChar char="Ø"/>
            </a:pPr>
            <a:r>
              <a:rPr lang="zh-CN" altLang="en-US" dirty="0" smtClean="0"/>
              <a:t>决策：</a:t>
            </a:r>
            <a:r>
              <a:rPr lang="zh-CN" altLang="en-US" dirty="0" smtClean="0"/>
              <a:t>如根因分析</a:t>
            </a:r>
            <a:endParaRPr lang="en-US" altLang="zh-CN" dirty="0" smtClean="0"/>
          </a:p>
          <a:p>
            <a:pPr marL="742950" lvl="1" indent="285750">
              <a:lnSpc>
                <a:spcPct val="150000"/>
              </a:lnSpc>
              <a:buFont typeface="Wingdings" panose="05000000000000000000" pitchFamily="2" charset="2"/>
              <a:buChar char="Ø"/>
            </a:pPr>
            <a:r>
              <a:rPr lang="zh-CN" altLang="en-US" dirty="0" smtClean="0"/>
              <a:t>控制：</a:t>
            </a:r>
            <a:r>
              <a:rPr lang="zh-CN" altLang="en-US" dirty="0" smtClean="0"/>
              <a:t>执行决策或对此作出预测</a:t>
            </a:r>
            <a:endParaRPr lang="zh-CN" altLang="en-US" dirty="0"/>
          </a:p>
        </p:txBody>
      </p:sp>
      <p:pic>
        <p:nvPicPr>
          <p:cNvPr id="2050" name="Picture 2" descr="https://ss3.bdstatic.com/70cFv8Sh_Q1YnxGkpoWK1HF6hhy/it/u=1570058580,1468513833&amp;fm=27&amp;gp=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10700" y="2212068"/>
            <a:ext cx="2286000" cy="2743201"/>
          </a:xfrm>
          <a:prstGeom prst="rect">
            <a:avLst/>
          </a:prstGeom>
          <a:noFill/>
          <a:extLst>
            <a:ext uri="{909E8E84-426E-40DD-AFC4-6F175D3DCCD1}">
              <a14:hiddenFill xmlns:a14="http://schemas.microsoft.com/office/drawing/2010/main">
                <a:solidFill>
                  <a:srgbClr val="FFFFFF"/>
                </a:solidFill>
              </a14:hiddenFill>
            </a:ext>
          </a:extLst>
        </p:spPr>
      </p:pic>
      <p:sp>
        <p:nvSpPr>
          <p:cNvPr id="7" name="左大括号 6"/>
          <p:cNvSpPr/>
          <p:nvPr/>
        </p:nvSpPr>
        <p:spPr>
          <a:xfrm>
            <a:off x="2762250" y="1685925"/>
            <a:ext cx="771525" cy="2733675"/>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2" name="左大括号 31"/>
          <p:cNvSpPr/>
          <p:nvPr/>
        </p:nvSpPr>
        <p:spPr>
          <a:xfrm>
            <a:off x="1269319" y="1682090"/>
            <a:ext cx="771525" cy="4521351"/>
          </a:xfrm>
          <a:prstGeom prst="leftBrace">
            <a:avLst/>
          </a:prstGeom>
          <a:ln w="28575"/>
        </p:spPr>
        <p:style>
          <a:lnRef idx="1">
            <a:schemeClr val="accent2"/>
          </a:lnRef>
          <a:fillRef idx="0">
            <a:schemeClr val="accent2"/>
          </a:fillRef>
          <a:effectRef idx="0">
            <a:schemeClr val="accent2"/>
          </a:effectRef>
          <a:fontRef idx="minor">
            <a:schemeClr val="tx1"/>
          </a:fontRef>
        </p:style>
        <p:txBody>
          <a:bodyPr rtlCol="0" anchor="ctr"/>
          <a:lstStyle/>
          <a:p>
            <a:pPr algn="ctr"/>
            <a:endParaRPr lang="zh-CN" altLang="en-US"/>
          </a:p>
        </p:txBody>
      </p:sp>
      <p:sp>
        <p:nvSpPr>
          <p:cNvPr id="8" name="文本框 7"/>
          <p:cNvSpPr txBox="1"/>
          <p:nvPr/>
        </p:nvSpPr>
        <p:spPr>
          <a:xfrm>
            <a:off x="2091984" y="2591097"/>
            <a:ext cx="619125" cy="923330"/>
          </a:xfrm>
          <a:prstGeom prst="rect">
            <a:avLst/>
          </a:prstGeom>
          <a:noFill/>
        </p:spPr>
        <p:txBody>
          <a:bodyPr wrap="square" rtlCol="0">
            <a:spAutoFit/>
          </a:bodyPr>
          <a:lstStyle/>
          <a:p>
            <a:r>
              <a:rPr lang="zh-CN" altLang="en-US" dirty="0" smtClean="0"/>
              <a:t>自动化</a:t>
            </a:r>
            <a:endParaRPr lang="zh-CN" altLang="en-US" dirty="0"/>
          </a:p>
        </p:txBody>
      </p:sp>
      <p:sp>
        <p:nvSpPr>
          <p:cNvPr id="34" name="文本框 33"/>
          <p:cNvSpPr txBox="1"/>
          <p:nvPr/>
        </p:nvSpPr>
        <p:spPr>
          <a:xfrm>
            <a:off x="540656" y="3447775"/>
            <a:ext cx="619125" cy="923330"/>
          </a:xfrm>
          <a:prstGeom prst="rect">
            <a:avLst/>
          </a:prstGeom>
          <a:noFill/>
        </p:spPr>
        <p:txBody>
          <a:bodyPr wrap="square" rtlCol="0">
            <a:spAutoFit/>
          </a:bodyPr>
          <a:lstStyle/>
          <a:p>
            <a:r>
              <a:rPr lang="zh-CN" altLang="en-US" dirty="0" smtClean="0"/>
              <a:t>智慧化</a:t>
            </a:r>
            <a:endParaRPr lang="zh-CN" altLang="en-US" dirty="0"/>
          </a:p>
        </p:txBody>
      </p:sp>
      <p:sp>
        <p:nvSpPr>
          <p:cNvPr id="14" name="矩形 13"/>
          <p:cNvSpPr/>
          <p:nvPr/>
        </p:nvSpPr>
        <p:spPr>
          <a:xfrm>
            <a:off x="0" y="3185851"/>
            <a:ext cx="12192000" cy="1513827"/>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3073570" y="3170776"/>
            <a:ext cx="6096000" cy="1200329"/>
          </a:xfrm>
          <a:prstGeom prst="rect">
            <a:avLst/>
          </a:prstGeom>
        </p:spPr>
        <p:txBody>
          <a:bodyPr>
            <a:spAutoFit/>
          </a:bodyPr>
          <a:lstStyle/>
          <a:p>
            <a:pPr marL="342900" indent="457200" fontAlgn="ctr">
              <a:lnSpc>
                <a:spcPct val="150000"/>
              </a:lnSpc>
              <a:buFont typeface="+mj-lt"/>
              <a:buAutoNum type="arabicPeriod"/>
            </a:pPr>
            <a:r>
              <a:rPr lang="zh-CN" altLang="zh-CN" sz="2400" dirty="0">
                <a:solidFill>
                  <a:schemeClr val="bg1"/>
                </a:solidFill>
                <a:ea typeface="Microsoft YaHei" panose="020B0503020204020204" pitchFamily="34" charset="-122"/>
              </a:rPr>
              <a:t>自动化是</a:t>
            </a:r>
            <a:r>
              <a:rPr lang="zh-CN" altLang="zh-CN" sz="2400" dirty="0" smtClean="0">
                <a:solidFill>
                  <a:schemeClr val="bg1"/>
                </a:solidFill>
                <a:ea typeface="Microsoft YaHei" panose="020B0503020204020204" pitchFamily="34" charset="-122"/>
              </a:rPr>
              <a:t>智</a:t>
            </a:r>
            <a:r>
              <a:rPr lang="zh-CN" altLang="en-US" sz="2400" dirty="0" smtClean="0">
                <a:solidFill>
                  <a:schemeClr val="bg1"/>
                </a:solidFill>
                <a:ea typeface="Microsoft YaHei" panose="020B0503020204020204" pitchFamily="34" charset="-122"/>
              </a:rPr>
              <a:t>慧</a:t>
            </a:r>
            <a:r>
              <a:rPr lang="zh-CN" altLang="zh-CN" sz="2400" dirty="0" smtClean="0">
                <a:solidFill>
                  <a:schemeClr val="bg1"/>
                </a:solidFill>
                <a:ea typeface="Microsoft YaHei" panose="020B0503020204020204" pitchFamily="34" charset="-122"/>
              </a:rPr>
              <a:t>化</a:t>
            </a:r>
            <a:r>
              <a:rPr lang="zh-CN" altLang="zh-CN" sz="2400" dirty="0">
                <a:solidFill>
                  <a:schemeClr val="bg1"/>
                </a:solidFill>
                <a:ea typeface="Microsoft YaHei" panose="020B0503020204020204" pitchFamily="34" charset="-122"/>
              </a:rPr>
              <a:t>的前提</a:t>
            </a:r>
            <a:endParaRPr lang="zh-CN" altLang="zh-CN" sz="2400" dirty="0">
              <a:solidFill>
                <a:schemeClr val="bg1"/>
              </a:solidFill>
              <a:ea typeface="Calibri" panose="020F0502020204030204" pitchFamily="34" charset="0"/>
            </a:endParaRPr>
          </a:p>
          <a:p>
            <a:pPr marL="342900" indent="457200" fontAlgn="ctr">
              <a:lnSpc>
                <a:spcPct val="150000"/>
              </a:lnSpc>
              <a:buFont typeface="+mj-lt"/>
              <a:buAutoNum type="arabicPeriod"/>
            </a:pPr>
            <a:r>
              <a:rPr lang="zh-CN" altLang="zh-CN" sz="2400" dirty="0">
                <a:solidFill>
                  <a:schemeClr val="bg1"/>
                </a:solidFill>
                <a:ea typeface="Microsoft YaHei" panose="020B0503020204020204" pitchFamily="34" charset="-122"/>
              </a:rPr>
              <a:t>数据结构化是</a:t>
            </a:r>
            <a:r>
              <a:rPr lang="zh-CN" altLang="zh-CN" sz="2400" dirty="0" smtClean="0">
                <a:solidFill>
                  <a:schemeClr val="bg1"/>
                </a:solidFill>
                <a:ea typeface="Microsoft YaHei" panose="020B0503020204020204" pitchFamily="34" charset="-122"/>
              </a:rPr>
              <a:t>智</a:t>
            </a:r>
            <a:r>
              <a:rPr lang="zh-CN" altLang="en-US" sz="2400" dirty="0" smtClean="0">
                <a:solidFill>
                  <a:schemeClr val="bg1"/>
                </a:solidFill>
                <a:ea typeface="Microsoft YaHei" panose="020B0503020204020204" pitchFamily="34" charset="-122"/>
              </a:rPr>
              <a:t>慧</a:t>
            </a:r>
            <a:r>
              <a:rPr lang="zh-CN" altLang="zh-CN" sz="2400" dirty="0" smtClean="0">
                <a:solidFill>
                  <a:schemeClr val="bg1"/>
                </a:solidFill>
                <a:ea typeface="Microsoft YaHei" panose="020B0503020204020204" pitchFamily="34" charset="-122"/>
              </a:rPr>
              <a:t>化</a:t>
            </a:r>
            <a:r>
              <a:rPr lang="zh-CN" altLang="zh-CN" sz="2400" dirty="0">
                <a:solidFill>
                  <a:schemeClr val="bg1"/>
                </a:solidFill>
                <a:ea typeface="Microsoft YaHei" panose="020B0503020204020204" pitchFamily="34" charset="-122"/>
              </a:rPr>
              <a:t>的源动力</a:t>
            </a:r>
            <a:endParaRPr lang="zh-CN" altLang="zh-CN" sz="2400" dirty="0">
              <a:solidFill>
                <a:schemeClr val="bg1"/>
              </a:solidFill>
              <a:ea typeface="Calibri" panose="020F0502020204030204" pitchFamily="34" charset="0"/>
            </a:endParaRPr>
          </a:p>
        </p:txBody>
      </p:sp>
    </p:spTree>
    <p:extLst>
      <p:ext uri="{BB962C8B-B14F-4D97-AF65-F5344CB8AC3E}">
        <p14:creationId xmlns:p14="http://schemas.microsoft.com/office/powerpoint/2010/main" val="77559014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34649" y="3153690"/>
            <a:ext cx="3918751" cy="1046835"/>
          </a:xfrm>
        </p:spPr>
        <p:txBody>
          <a:bodyPr>
            <a:normAutofit fontScale="90000"/>
          </a:bodyPr>
          <a:lstStyle/>
          <a:p>
            <a:r>
              <a:rPr lang="zh-CN" altLang="en-US" dirty="0" smtClean="0"/>
              <a:t>此处需加对于自动化平台的构建方案简单介绍</a:t>
            </a:r>
            <a:endParaRPr lang="zh-CN" altLang="en-US" dirty="0"/>
          </a:p>
        </p:txBody>
      </p:sp>
    </p:spTree>
    <p:extLst>
      <p:ext uri="{BB962C8B-B14F-4D97-AF65-F5344CB8AC3E}">
        <p14:creationId xmlns:p14="http://schemas.microsoft.com/office/powerpoint/2010/main" val="422759119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3581400"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721810" y="943949"/>
            <a:ext cx="3944865" cy="369332"/>
          </a:xfrm>
          <a:prstGeom prst="rect">
            <a:avLst/>
          </a:prstGeom>
          <a:noFill/>
        </p:spPr>
        <p:txBody>
          <a:bodyPr wrap="square" rtlCol="0">
            <a:spAutoFit/>
          </a:bodyPr>
          <a:lstStyle/>
          <a:p>
            <a:r>
              <a:rPr lang="en-US" altLang="zh-CN" dirty="0" smtClean="0">
                <a:solidFill>
                  <a:srgbClr val="333F50"/>
                </a:solidFill>
              </a:rPr>
              <a:t>AI</a:t>
            </a:r>
            <a:r>
              <a:rPr lang="zh-CN" altLang="en-US" dirty="0" smtClean="0">
                <a:solidFill>
                  <a:srgbClr val="333F50"/>
                </a:solidFill>
              </a:rPr>
              <a:t>算法擅长什么</a:t>
            </a:r>
            <a:endParaRPr lang="zh-CN" altLang="en-US" dirty="0">
              <a:solidFill>
                <a:srgbClr val="333F50"/>
              </a:solidFill>
            </a:endParaRPr>
          </a:p>
        </p:txBody>
      </p:sp>
      <p:pic>
        <p:nvPicPr>
          <p:cNvPr id="1026" name="Picture 2" descr="https://gss3.bdstatic.com/7Po3dSag_xI4khGkpoWK1HF6hhy/baike/w%3D268%3Bg%3D0/sign=04c773fa9245d688a302b5a29cf91a23/2934349b033b5bb50ed09a3736d3d539b700bcf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6625" y="2588305"/>
            <a:ext cx="2552700" cy="1990725"/>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4438075" y="2014008"/>
            <a:ext cx="6258500" cy="3416320"/>
          </a:xfrm>
          <a:prstGeom prst="rect">
            <a:avLst/>
          </a:prstGeom>
          <a:noFill/>
        </p:spPr>
        <p:txBody>
          <a:bodyPr wrap="square" rtlCol="0">
            <a:spAutoFit/>
          </a:bodyPr>
          <a:lstStyle/>
          <a:p>
            <a:pPr indent="457200">
              <a:lnSpc>
                <a:spcPct val="150000"/>
              </a:lnSpc>
            </a:pPr>
            <a:r>
              <a:rPr lang="zh-CN" altLang="en-US" dirty="0" smtClean="0"/>
              <a:t>人工智能在解决以下类型问题是，不管问题多么复杂，都有可能做到甚至超越人类的水平，这类问题的特点是：</a:t>
            </a:r>
            <a:endParaRPr lang="en-US" altLang="zh-CN" dirty="0" smtClean="0"/>
          </a:p>
          <a:p>
            <a:pPr indent="457200">
              <a:lnSpc>
                <a:spcPct val="150000"/>
              </a:lnSpc>
            </a:pPr>
            <a:r>
              <a:rPr lang="zh-CN" altLang="en-US" dirty="0" smtClean="0">
                <a:latin typeface="等线" panose="02010600030101010101" pitchFamily="2" charset="-122"/>
                <a:ea typeface="等线" panose="02010600030101010101" pitchFamily="2" charset="-122"/>
              </a:rPr>
              <a:t>（</a:t>
            </a:r>
            <a:r>
              <a:rPr lang="en-US" altLang="zh-CN" dirty="0" smtClean="0">
                <a:latin typeface="等线" panose="02010600030101010101" pitchFamily="2" charset="-122"/>
                <a:ea typeface="等线" panose="02010600030101010101" pitchFamily="2" charset="-122"/>
              </a:rPr>
              <a:t>1</a:t>
            </a:r>
            <a:r>
              <a:rPr lang="zh-CN" altLang="en-US" dirty="0" smtClean="0">
                <a:latin typeface="等线" panose="02010600030101010101" pitchFamily="2" charset="-122"/>
                <a:ea typeface="等线" panose="02010600030101010101" pitchFamily="2" charset="-122"/>
              </a:rPr>
              <a:t>） 有充足的数据或知识</a:t>
            </a:r>
            <a:endParaRPr lang="en-US" altLang="zh-CN" dirty="0" smtClean="0">
              <a:latin typeface="等线" panose="02010600030101010101" pitchFamily="2" charset="-122"/>
              <a:ea typeface="等线" panose="02010600030101010101" pitchFamily="2" charset="-122"/>
            </a:endParaRPr>
          </a:p>
          <a:p>
            <a:pPr indent="457200">
              <a:lnSpc>
                <a:spcPct val="150000"/>
              </a:lnSpc>
            </a:pPr>
            <a:r>
              <a:rPr lang="zh-CN" altLang="en-US" dirty="0" smtClean="0">
                <a:latin typeface="等线" panose="02010600030101010101" pitchFamily="2" charset="-122"/>
                <a:ea typeface="等线" panose="02010600030101010101" pitchFamily="2" charset="-122"/>
              </a:rPr>
              <a:t>（</a:t>
            </a:r>
            <a:r>
              <a:rPr lang="en-US" altLang="zh-CN" dirty="0" smtClean="0">
                <a:latin typeface="等线" panose="02010600030101010101" pitchFamily="2" charset="-122"/>
                <a:ea typeface="等线" panose="02010600030101010101" pitchFamily="2" charset="-122"/>
              </a:rPr>
              <a:t>2</a:t>
            </a:r>
            <a:r>
              <a:rPr lang="zh-CN" altLang="en-US" dirty="0" smtClean="0">
                <a:latin typeface="等线" panose="02010600030101010101" pitchFamily="2" charset="-122"/>
                <a:ea typeface="等线" panose="02010600030101010101" pitchFamily="2" charset="-122"/>
              </a:rPr>
              <a:t>） 完全信息</a:t>
            </a:r>
            <a:endParaRPr lang="en-US" altLang="zh-CN" dirty="0" smtClean="0">
              <a:latin typeface="等线" panose="02010600030101010101" pitchFamily="2" charset="-122"/>
              <a:ea typeface="等线" panose="02010600030101010101" pitchFamily="2" charset="-122"/>
            </a:endParaRPr>
          </a:p>
          <a:p>
            <a:pPr indent="457200">
              <a:lnSpc>
                <a:spcPct val="150000"/>
              </a:lnSpc>
            </a:pPr>
            <a:r>
              <a:rPr lang="zh-CN" altLang="en-US" dirty="0" smtClean="0">
                <a:latin typeface="等线" panose="02010600030101010101" pitchFamily="2" charset="-122"/>
                <a:ea typeface="等线" panose="02010600030101010101" pitchFamily="2" charset="-122"/>
              </a:rPr>
              <a:t>（</a:t>
            </a:r>
            <a:r>
              <a:rPr lang="en-US" altLang="zh-CN" dirty="0" smtClean="0">
                <a:latin typeface="等线" panose="02010600030101010101" pitchFamily="2" charset="-122"/>
                <a:ea typeface="等线" panose="02010600030101010101" pitchFamily="2" charset="-122"/>
              </a:rPr>
              <a:t>3</a:t>
            </a:r>
            <a:r>
              <a:rPr lang="zh-CN" altLang="en-US" dirty="0" smtClean="0">
                <a:latin typeface="等线" panose="02010600030101010101" pitchFamily="2" charset="-122"/>
                <a:ea typeface="等线" panose="02010600030101010101" pitchFamily="2" charset="-122"/>
              </a:rPr>
              <a:t>） 确定性（</a:t>
            </a:r>
            <a:r>
              <a:rPr lang="en-US" altLang="zh-CN" dirty="0" smtClean="0">
                <a:latin typeface="等线" panose="02010600030101010101" pitchFamily="2" charset="-122"/>
                <a:ea typeface="等线" panose="02010600030101010101" pitchFamily="2" charset="-122"/>
              </a:rPr>
              <a:t>well defined</a:t>
            </a:r>
            <a:r>
              <a:rPr lang="zh-CN" altLang="en-US" dirty="0" smtClean="0">
                <a:latin typeface="等线" panose="02010600030101010101" pitchFamily="2" charset="-122"/>
                <a:ea typeface="等线" panose="02010600030101010101" pitchFamily="2" charset="-122"/>
              </a:rPr>
              <a:t>）</a:t>
            </a:r>
            <a:endParaRPr lang="en-US" altLang="zh-CN" dirty="0" smtClean="0">
              <a:latin typeface="等线" panose="02010600030101010101" pitchFamily="2" charset="-122"/>
              <a:ea typeface="等线" panose="02010600030101010101" pitchFamily="2" charset="-122"/>
            </a:endParaRPr>
          </a:p>
          <a:p>
            <a:pPr indent="457200">
              <a:lnSpc>
                <a:spcPct val="150000"/>
              </a:lnSpc>
            </a:pPr>
            <a:r>
              <a:rPr lang="zh-CN" altLang="en-US" dirty="0" smtClean="0">
                <a:latin typeface="等线" panose="02010600030101010101" pitchFamily="2" charset="-122"/>
                <a:ea typeface="等线" panose="02010600030101010101" pitchFamily="2" charset="-122"/>
              </a:rPr>
              <a:t>（</a:t>
            </a:r>
            <a:r>
              <a:rPr lang="en-US" altLang="zh-CN" dirty="0" smtClean="0">
                <a:latin typeface="等线" panose="02010600030101010101" pitchFamily="2" charset="-122"/>
                <a:ea typeface="等线" panose="02010600030101010101" pitchFamily="2" charset="-122"/>
              </a:rPr>
              <a:t>4</a:t>
            </a:r>
            <a:r>
              <a:rPr lang="zh-CN" altLang="en-US" dirty="0" smtClean="0">
                <a:latin typeface="等线" panose="02010600030101010101" pitchFamily="2" charset="-122"/>
                <a:ea typeface="等线" panose="02010600030101010101" pitchFamily="2" charset="-122"/>
              </a:rPr>
              <a:t>） 单领域</a:t>
            </a:r>
            <a:endParaRPr lang="en-US" altLang="zh-CN" dirty="0" smtClean="0">
              <a:latin typeface="等线" panose="02010600030101010101" pitchFamily="2" charset="-122"/>
              <a:ea typeface="等线" panose="02010600030101010101" pitchFamily="2" charset="-122"/>
            </a:endParaRPr>
          </a:p>
          <a:p>
            <a:pPr algn="r"/>
            <a:endParaRPr lang="en-US" altLang="zh-CN" dirty="0" smtClean="0"/>
          </a:p>
          <a:p>
            <a:pPr algn="r"/>
            <a:r>
              <a:rPr lang="en-US" altLang="zh-CN" dirty="0" smtClean="0"/>
              <a:t>----- </a:t>
            </a:r>
            <a:r>
              <a:rPr lang="zh-CN" altLang="en-US" dirty="0" smtClean="0"/>
              <a:t>张钹院士</a:t>
            </a:r>
            <a:endParaRPr lang="en-US" altLang="zh-CN" dirty="0" smtClean="0"/>
          </a:p>
          <a:p>
            <a:pPr algn="r"/>
            <a:r>
              <a:rPr lang="en-US" altLang="zh-CN" dirty="0" smtClean="0"/>
              <a:t>2017</a:t>
            </a:r>
            <a:r>
              <a:rPr lang="zh-CN" altLang="en-US" dirty="0" smtClean="0"/>
              <a:t>年</a:t>
            </a:r>
            <a:r>
              <a:rPr lang="en-US" altLang="zh-CN" dirty="0" smtClean="0"/>
              <a:t>5</a:t>
            </a:r>
            <a:r>
              <a:rPr lang="zh-CN" altLang="en-US" dirty="0" smtClean="0"/>
              <a:t>月</a:t>
            </a:r>
            <a:endParaRPr lang="zh-CN" altLang="en-US" dirty="0"/>
          </a:p>
        </p:txBody>
      </p:sp>
    </p:spTree>
    <p:extLst>
      <p:ext uri="{BB962C8B-B14F-4D97-AF65-F5344CB8AC3E}">
        <p14:creationId xmlns:p14="http://schemas.microsoft.com/office/powerpoint/2010/main" val="318361003"/>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ppt_x"/>
                                          </p:val>
                                        </p:tav>
                                        <p:tav tm="100000">
                                          <p:val>
                                            <p:strVal val="#ppt_x"/>
                                          </p:val>
                                        </p:tav>
                                      </p:tavLst>
                                    </p:anim>
                                    <p:anim calcmode="lin" valueType="num">
                                      <p:cBhvr additive="base">
                                        <p:cTn id="8" dur="500" fill="hold"/>
                                        <p:tgtEl>
                                          <p:spTgt spid="102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3581400"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483621" y="3332696"/>
            <a:ext cx="2030979" cy="507831"/>
          </a:xfrm>
          <a:prstGeom prst="rect">
            <a:avLst/>
          </a:prstGeom>
          <a:solidFill>
            <a:schemeClr val="tx2">
              <a:lumMod val="75000"/>
            </a:schemeClr>
          </a:solidFill>
        </p:spPr>
        <p:txBody>
          <a:bodyPr wrap="square" rtlCol="0">
            <a:spAutoFit/>
          </a:bodyPr>
          <a:lstStyle/>
          <a:p>
            <a:pPr marL="285750" algn="ctr">
              <a:lnSpc>
                <a:spcPct val="150000"/>
              </a:lnSpc>
            </a:pPr>
            <a:r>
              <a:rPr lang="zh-CN" altLang="en-US" dirty="0" smtClean="0">
                <a:solidFill>
                  <a:schemeClr val="bg1"/>
                </a:solidFill>
              </a:rPr>
              <a:t>故障管理</a:t>
            </a:r>
            <a:endParaRPr lang="en-US" altLang="zh-CN" dirty="0" smtClean="0">
              <a:solidFill>
                <a:schemeClr val="bg1"/>
              </a:solidFill>
            </a:endParaRPr>
          </a:p>
        </p:txBody>
      </p:sp>
      <p:sp>
        <p:nvSpPr>
          <p:cNvPr id="9" name="圆角矩形 8"/>
          <p:cNvSpPr/>
          <p:nvPr/>
        </p:nvSpPr>
        <p:spPr>
          <a:xfrm>
            <a:off x="4748439" y="1193115"/>
            <a:ext cx="3385911" cy="47357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a:off x="5058000" y="4659081"/>
            <a:ext cx="2766787" cy="1095829"/>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dirty="0" smtClean="0"/>
              <a:t>异常检测（</a:t>
            </a:r>
            <a:r>
              <a:rPr lang="zh-CN" altLang="en-US" dirty="0" smtClean="0">
                <a:solidFill>
                  <a:schemeClr val="tx1"/>
                </a:solidFill>
              </a:rPr>
              <a:t>感知</a:t>
            </a:r>
            <a:r>
              <a:rPr lang="zh-CN" altLang="en-US" dirty="0" smtClean="0"/>
              <a:t>）</a:t>
            </a:r>
            <a:endParaRPr lang="zh-CN" altLang="en-US" dirty="0"/>
          </a:p>
        </p:txBody>
      </p:sp>
      <p:sp>
        <p:nvSpPr>
          <p:cNvPr id="11" name="圆角矩形 10"/>
          <p:cNvSpPr/>
          <p:nvPr/>
        </p:nvSpPr>
        <p:spPr>
          <a:xfrm>
            <a:off x="5058002" y="3071128"/>
            <a:ext cx="2766786" cy="1054098"/>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dirty="0" smtClean="0"/>
              <a:t>根因分析（</a:t>
            </a:r>
            <a:r>
              <a:rPr lang="zh-CN" altLang="en-US" dirty="0" smtClean="0">
                <a:solidFill>
                  <a:schemeClr val="tx1"/>
                </a:solidFill>
              </a:rPr>
              <a:t>决策</a:t>
            </a:r>
            <a:r>
              <a:rPr lang="zh-CN" altLang="en-US" dirty="0" smtClean="0"/>
              <a:t>）</a:t>
            </a:r>
            <a:endParaRPr lang="zh-CN" altLang="en-US" dirty="0"/>
          </a:p>
        </p:txBody>
      </p:sp>
      <p:sp>
        <p:nvSpPr>
          <p:cNvPr id="12" name="圆角矩形 11"/>
          <p:cNvSpPr/>
          <p:nvPr/>
        </p:nvSpPr>
        <p:spPr>
          <a:xfrm>
            <a:off x="5058000" y="1418313"/>
            <a:ext cx="2766787" cy="1118959"/>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dirty="0" smtClean="0"/>
              <a:t>故障预测（</a:t>
            </a:r>
            <a:r>
              <a:rPr lang="zh-CN" altLang="en-US" dirty="0" smtClean="0">
                <a:solidFill>
                  <a:schemeClr val="tx1"/>
                </a:solidFill>
              </a:rPr>
              <a:t>控制</a:t>
            </a:r>
            <a:r>
              <a:rPr lang="zh-CN" altLang="en-US" dirty="0" smtClean="0"/>
              <a:t>）</a:t>
            </a:r>
            <a:endParaRPr lang="zh-CN" altLang="en-US" dirty="0"/>
          </a:p>
        </p:txBody>
      </p:sp>
      <p:sp>
        <p:nvSpPr>
          <p:cNvPr id="13" name="左大括号 12"/>
          <p:cNvSpPr/>
          <p:nvPr/>
        </p:nvSpPr>
        <p:spPr>
          <a:xfrm>
            <a:off x="3248025" y="1135279"/>
            <a:ext cx="1009650" cy="4925796"/>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文本框 13"/>
          <p:cNvSpPr txBox="1"/>
          <p:nvPr/>
        </p:nvSpPr>
        <p:spPr>
          <a:xfrm>
            <a:off x="8625114" y="2340116"/>
            <a:ext cx="3228975" cy="3000821"/>
          </a:xfrm>
          <a:prstGeom prst="rect">
            <a:avLst/>
          </a:prstGeom>
          <a:noFill/>
        </p:spPr>
        <p:txBody>
          <a:bodyPr wrap="square" rtlCol="0">
            <a:spAutoFit/>
          </a:bodyPr>
          <a:lstStyle/>
          <a:p>
            <a:pPr indent="457200">
              <a:lnSpc>
                <a:spcPct val="150000"/>
              </a:lnSpc>
            </a:pPr>
            <a:r>
              <a:rPr lang="zh-CN" altLang="en-US" dirty="0" smtClean="0"/>
              <a:t>智能化故障管理由异常检测、根因分析、以及故障预测组成，这三部分分别对应了大脑“感知决策控制”三元组。同时这三个模块又各自也存在着三元组，即故障管理中每一部分都能体现网络大脑的智慧。</a:t>
            </a:r>
            <a:endParaRPr lang="zh-CN" altLang="en-US" dirty="0"/>
          </a:p>
        </p:txBody>
      </p:sp>
    </p:spTree>
    <p:extLst>
      <p:ext uri="{BB962C8B-B14F-4D97-AF65-F5344CB8AC3E}">
        <p14:creationId xmlns:p14="http://schemas.microsoft.com/office/powerpoint/2010/main" val="2352854039"/>
      </p:ext>
    </p:extLst>
  </p:cSld>
  <p:clrMapOvr>
    <a:masterClrMapping/>
  </p:clrMapOvr>
  <p:transition spd="med">
    <p:pull/>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5757636"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r>
              <a:rPr lang="en-US" altLang="zh-CN" sz="3200" b="1" dirty="0" smtClean="0">
                <a:latin typeface="微软雅黑" panose="020B0503020204020204" pitchFamily="34" charset="-122"/>
                <a:ea typeface="微软雅黑" panose="020B0503020204020204" pitchFamily="34" charset="-122"/>
              </a:rPr>
              <a:t>--- </a:t>
            </a:r>
            <a:r>
              <a:rPr lang="zh-CN" altLang="en-US" sz="3200" b="1" dirty="0">
                <a:latin typeface="微软雅黑" panose="020B0503020204020204" pitchFamily="34" charset="-122"/>
                <a:ea typeface="微软雅黑" panose="020B0503020204020204" pitchFamily="34" charset="-122"/>
              </a:rPr>
              <a:t>故障管理</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624114" y="657028"/>
            <a:ext cx="3944865"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异常</a:t>
            </a:r>
            <a:r>
              <a:rPr lang="zh-CN" altLang="en-US" dirty="0" smtClean="0">
                <a:solidFill>
                  <a:srgbClr val="333F50"/>
                </a:solidFill>
              </a:rPr>
              <a:t>检测</a:t>
            </a:r>
            <a:endParaRPr lang="zh-CN" altLang="en-US" dirty="0">
              <a:solidFill>
                <a:srgbClr val="333F50"/>
              </a:solidFill>
            </a:endParaRPr>
          </a:p>
        </p:txBody>
      </p:sp>
      <p:sp>
        <p:nvSpPr>
          <p:cNvPr id="7" name="文本框 6"/>
          <p:cNvSpPr txBox="1"/>
          <p:nvPr/>
        </p:nvSpPr>
        <p:spPr>
          <a:xfrm>
            <a:off x="721810" y="1958290"/>
            <a:ext cx="4610100" cy="152618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600" dirty="0" smtClean="0">
                <a:latin typeface="微软雅黑" panose="020B0503020204020204" pitchFamily="34" charset="-122"/>
                <a:ea typeface="微软雅黑" panose="020B0503020204020204" pitchFamily="34" charset="-122"/>
              </a:rPr>
              <a:t>在城域网维护过程中，存在着大量的</a:t>
            </a:r>
            <a:r>
              <a:rPr lang="en-US" altLang="zh-CN" sz="1600" dirty="0" smtClean="0">
                <a:latin typeface="微软雅黑" panose="020B0503020204020204" pitchFamily="34" charset="-122"/>
                <a:ea typeface="微软雅黑" panose="020B0503020204020204" pitchFamily="34" charset="-122"/>
              </a:rPr>
              <a:t>KPI</a:t>
            </a:r>
            <a:r>
              <a:rPr lang="zh-CN" altLang="en-US" sz="1600" dirty="0" smtClean="0">
                <a:latin typeface="微软雅黑" panose="020B0503020204020204" pitchFamily="34" charset="-122"/>
                <a:ea typeface="微软雅黑" panose="020B0503020204020204" pitchFamily="34" charset="-122"/>
              </a:rPr>
              <a:t>指标（链路利用率、端口状态、</a:t>
            </a:r>
            <a:r>
              <a:rPr lang="en-US" altLang="zh-CN" sz="1600" dirty="0" smtClean="0">
                <a:latin typeface="微软雅黑" panose="020B0503020204020204" pitchFamily="34" charset="-122"/>
                <a:ea typeface="微软雅黑" panose="020B0503020204020204" pitchFamily="34" charset="-122"/>
              </a:rPr>
              <a:t>CPU</a:t>
            </a:r>
            <a:r>
              <a:rPr lang="zh-CN" altLang="en-US" sz="1600" dirty="0" smtClean="0">
                <a:latin typeface="微软雅黑" panose="020B0503020204020204" pitchFamily="34" charset="-122"/>
                <a:ea typeface="微软雅黑" panose="020B0503020204020204" pitchFamily="34" charset="-122"/>
              </a:rPr>
              <a:t>利用率、内存利用率</a:t>
            </a:r>
            <a:r>
              <a:rPr lang="en-US" altLang="zh-CN" sz="1600" dirty="0" smtClean="0">
                <a:latin typeface="微软雅黑" panose="020B0503020204020204" pitchFamily="34" charset="-122"/>
                <a:ea typeface="微软雅黑" panose="020B0503020204020204" pitchFamily="34" charset="-122"/>
              </a:rPr>
              <a:t>…</a:t>
            </a:r>
            <a:r>
              <a:rPr lang="zh-CN" altLang="en-US" sz="1600" dirty="0" smtClean="0">
                <a:latin typeface="微软雅黑" panose="020B0503020204020204" pitchFamily="34" charset="-122"/>
                <a:ea typeface="微软雅黑" panose="020B0503020204020204" pitchFamily="34" charset="-122"/>
              </a:rPr>
              <a:t>），当这些</a:t>
            </a:r>
            <a:r>
              <a:rPr lang="en-US" altLang="zh-CN" sz="1600" dirty="0" smtClean="0">
                <a:latin typeface="微软雅黑" panose="020B0503020204020204" pitchFamily="34" charset="-122"/>
                <a:ea typeface="微软雅黑" panose="020B0503020204020204" pitchFamily="34" charset="-122"/>
              </a:rPr>
              <a:t>KPI</a:t>
            </a:r>
            <a:r>
              <a:rPr lang="zh-CN" altLang="en-US" sz="1600" dirty="0" smtClean="0">
                <a:latin typeface="微软雅黑" panose="020B0503020204020204" pitchFamily="34" charset="-122"/>
                <a:ea typeface="微软雅黑" panose="020B0503020204020204" pitchFamily="34" charset="-122"/>
              </a:rPr>
              <a:t>指标发生异常时，如何能够快速检测。</a:t>
            </a:r>
            <a:endParaRPr lang="en-US" altLang="zh-CN" sz="1600" dirty="0" smtClean="0">
              <a:latin typeface="微软雅黑" panose="020B0503020204020204" pitchFamily="34" charset="-122"/>
              <a:ea typeface="微软雅黑" panose="020B0503020204020204" pitchFamily="34" charset="-122"/>
            </a:endParaRPr>
          </a:p>
        </p:txBody>
      </p:sp>
      <p:pic>
        <p:nvPicPr>
          <p:cNvPr id="1026" name="Picture 2" descr="“aiops 异常检测”的图片搜索结果"/>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5300" y="1827212"/>
            <a:ext cx="6074759" cy="3392034"/>
          </a:xfrm>
          <a:prstGeom prst="rect">
            <a:avLst/>
          </a:prstGeom>
          <a:noFill/>
          <a:extLst>
            <a:ext uri="{909E8E84-426E-40DD-AFC4-6F175D3DCCD1}">
              <a14:hiddenFill xmlns:a14="http://schemas.microsoft.com/office/drawing/2010/main">
                <a:solidFill>
                  <a:srgbClr val="FFFFFF"/>
                </a:solidFill>
              </a14:hiddenFill>
            </a:ext>
          </a:extLst>
        </p:spPr>
      </p:pic>
      <p:sp>
        <p:nvSpPr>
          <p:cNvPr id="12" name="矩形 11"/>
          <p:cNvSpPr/>
          <p:nvPr/>
        </p:nvSpPr>
        <p:spPr>
          <a:xfrm>
            <a:off x="1033823" y="3514483"/>
            <a:ext cx="2552344" cy="50783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输入</a:t>
            </a:r>
            <a:endParaRPr lang="en-US" altLang="zh-CN" dirty="0"/>
          </a:p>
        </p:txBody>
      </p:sp>
      <p:sp>
        <p:nvSpPr>
          <p:cNvPr id="13" name="矩形 12"/>
          <p:cNvSpPr/>
          <p:nvPr/>
        </p:nvSpPr>
        <p:spPr>
          <a:xfrm>
            <a:off x="1033823" y="5111781"/>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输出</a:t>
            </a:r>
            <a:endParaRPr lang="en-US" altLang="zh-CN" dirty="0"/>
          </a:p>
        </p:txBody>
      </p:sp>
      <p:sp>
        <p:nvSpPr>
          <p:cNvPr id="14" name="文本框 13"/>
          <p:cNvSpPr txBox="1"/>
          <p:nvPr/>
        </p:nvSpPr>
        <p:spPr>
          <a:xfrm>
            <a:off x="721810" y="4149277"/>
            <a:ext cx="4010025" cy="879087"/>
          </a:xfrm>
          <a:prstGeom prst="rect">
            <a:avLst/>
          </a:prstGeom>
          <a:noFill/>
        </p:spPr>
        <p:txBody>
          <a:bodyPr wrap="square" rtlCol="0">
            <a:spAutoFit/>
          </a:bodyPr>
          <a:lstStyle/>
          <a:p>
            <a:pPr marL="285750" indent="457200">
              <a:lnSpc>
                <a:spcPct val="150000"/>
              </a:lnSpc>
              <a:buFont typeface="Arial" panose="020B0604020202020204" pitchFamily="34" charset="0"/>
              <a:buChar char="•"/>
            </a:pPr>
            <a:r>
              <a:rPr lang="zh-CN" altLang="en-US" dirty="0"/>
              <a:t>一根待标注的</a:t>
            </a:r>
            <a:r>
              <a:rPr lang="en-US" altLang="zh-CN" dirty="0"/>
              <a:t>KPI</a:t>
            </a:r>
            <a:r>
              <a:rPr lang="zh-CN" altLang="en-US" dirty="0"/>
              <a:t>曲线和一段已经标注出的异常</a:t>
            </a:r>
            <a:r>
              <a:rPr lang="zh-CN" altLang="en-US" dirty="0" smtClean="0"/>
              <a:t>片段</a:t>
            </a:r>
            <a:r>
              <a:rPr lang="zh-CN" altLang="en-US" dirty="0"/>
              <a:t>（模板）</a:t>
            </a:r>
            <a:endParaRPr lang="en-US" altLang="zh-CN" dirty="0" smtClean="0"/>
          </a:p>
        </p:txBody>
      </p:sp>
      <p:sp>
        <p:nvSpPr>
          <p:cNvPr id="15" name="文本框 14"/>
          <p:cNvSpPr txBox="1"/>
          <p:nvPr/>
        </p:nvSpPr>
        <p:spPr>
          <a:xfrm>
            <a:off x="721810" y="5693164"/>
            <a:ext cx="4010025" cy="879087"/>
          </a:xfrm>
          <a:prstGeom prst="rect">
            <a:avLst/>
          </a:prstGeom>
          <a:noFill/>
        </p:spPr>
        <p:txBody>
          <a:bodyPr wrap="square" rtlCol="0">
            <a:spAutoFit/>
          </a:bodyPr>
          <a:lstStyle/>
          <a:p>
            <a:pPr marL="285750" indent="457200">
              <a:lnSpc>
                <a:spcPct val="150000"/>
              </a:lnSpc>
              <a:buFont typeface="Arial" panose="020B0604020202020204" pitchFamily="34" charset="0"/>
              <a:buChar char="•"/>
            </a:pPr>
            <a:r>
              <a:rPr lang="en-US" altLang="zh-CN" dirty="0"/>
              <a:t>KPI</a:t>
            </a:r>
            <a:r>
              <a:rPr lang="zh-CN" altLang="en-US" dirty="0"/>
              <a:t>曲线上与模板相似的异常片段 </a:t>
            </a:r>
            <a:endParaRPr lang="en-US" altLang="zh-CN" dirty="0" smtClean="0"/>
          </a:p>
        </p:txBody>
      </p:sp>
      <p:sp>
        <p:nvSpPr>
          <p:cNvPr id="16" name="矩形 15"/>
          <p:cNvSpPr/>
          <p:nvPr/>
        </p:nvSpPr>
        <p:spPr>
          <a:xfrm>
            <a:off x="1033823" y="1577419"/>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问题描述</a:t>
            </a:r>
            <a:endParaRPr lang="en-US" altLang="zh-CN" dirty="0"/>
          </a:p>
        </p:txBody>
      </p:sp>
    </p:spTree>
    <p:extLst>
      <p:ext uri="{BB962C8B-B14F-4D97-AF65-F5344CB8AC3E}">
        <p14:creationId xmlns:p14="http://schemas.microsoft.com/office/powerpoint/2010/main" val="1847586922"/>
      </p:ext>
    </p:extLst>
  </p:cSld>
  <p:clrMapOvr>
    <a:masterClrMapping/>
  </p:clrMapOvr>
  <p:transition spd="med">
    <p:pull/>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3581400"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异常</a:t>
            </a:r>
            <a:r>
              <a:rPr lang="zh-CN" altLang="en-US" dirty="0" smtClean="0">
                <a:solidFill>
                  <a:srgbClr val="333F50"/>
                </a:solidFill>
              </a:rPr>
              <a:t>检测</a:t>
            </a:r>
            <a:endParaRPr lang="zh-CN" altLang="en-US" dirty="0">
              <a:solidFill>
                <a:srgbClr val="333F50"/>
              </a:solidFill>
            </a:endParaRPr>
          </a:p>
        </p:txBody>
      </p:sp>
      <p:sp>
        <p:nvSpPr>
          <p:cNvPr id="7" name="文本框 6"/>
          <p:cNvSpPr txBox="1"/>
          <p:nvPr/>
        </p:nvSpPr>
        <p:spPr>
          <a:xfrm>
            <a:off x="3310164" y="1972725"/>
            <a:ext cx="4610100" cy="3416320"/>
          </a:xfrm>
          <a:prstGeom prst="rect">
            <a:avLst/>
          </a:prstGeom>
          <a:noFill/>
        </p:spPr>
        <p:txBody>
          <a:bodyPr wrap="square" rtlCol="0">
            <a:spAutoFit/>
          </a:bodyPr>
          <a:lstStyle/>
          <a:p>
            <a:pPr indent="457200">
              <a:lnSpc>
                <a:spcPct val="150000"/>
              </a:lnSpc>
            </a:pPr>
            <a:r>
              <a:rPr lang="en-US" altLang="zh-CN" dirty="0" err="1" smtClean="0"/>
              <a:t>AIOps</a:t>
            </a:r>
            <a:r>
              <a:rPr lang="zh-CN" altLang="en-US" dirty="0" smtClean="0"/>
              <a:t>搭建后解决思路：</a:t>
            </a:r>
            <a:endParaRPr lang="en-US" altLang="zh-CN" dirty="0" smtClean="0"/>
          </a:p>
          <a:p>
            <a:pPr marL="285750" indent="-285750">
              <a:lnSpc>
                <a:spcPct val="150000"/>
              </a:lnSpc>
              <a:buFont typeface="Arial" panose="020B0604020202020204" pitchFamily="34" charset="0"/>
              <a:buChar char="•"/>
            </a:pPr>
            <a:r>
              <a:rPr lang="zh-CN" altLang="en-US" dirty="0" smtClean="0"/>
              <a:t>对于原始数据，先经过一个无监督分类算法对数据进行预筛选，提高标记效率</a:t>
            </a:r>
            <a:endParaRPr lang="en-US" altLang="zh-CN" dirty="0" smtClean="0"/>
          </a:p>
          <a:p>
            <a:pPr marL="285750" indent="-285750">
              <a:lnSpc>
                <a:spcPct val="150000"/>
              </a:lnSpc>
              <a:buFont typeface="Arial" panose="020B0604020202020204" pitchFamily="34" charset="0"/>
              <a:buChar char="•"/>
            </a:pPr>
            <a:r>
              <a:rPr lang="zh-CN" altLang="en-US" dirty="0" smtClean="0"/>
              <a:t>然后通过运维工程师在预筛选好的数据上对于异常的时序段进行标记</a:t>
            </a:r>
            <a:endParaRPr lang="en-US" altLang="zh-CN" dirty="0" smtClean="0"/>
          </a:p>
          <a:p>
            <a:pPr marL="285750" indent="-285750">
              <a:lnSpc>
                <a:spcPct val="150000"/>
              </a:lnSpc>
              <a:buFont typeface="Arial" panose="020B0604020202020204" pitchFamily="34" charset="0"/>
              <a:buChar char="•"/>
            </a:pPr>
            <a:r>
              <a:rPr lang="zh-CN" altLang="en-US" dirty="0" smtClean="0"/>
              <a:t>将数据、标记、以及工程师制定的对于算法的准确性期望输入到机器学习算法中，让算法对这一过程进行学习和参数调整。</a:t>
            </a:r>
            <a:endParaRPr lang="en-US" altLang="zh-CN" dirty="0" smtClean="0"/>
          </a:p>
        </p:txBody>
      </p:sp>
    </p:spTree>
    <p:extLst>
      <p:ext uri="{BB962C8B-B14F-4D97-AF65-F5344CB8AC3E}">
        <p14:creationId xmlns:p14="http://schemas.microsoft.com/office/powerpoint/2010/main" val="3301882768"/>
      </p:ext>
    </p:extLst>
  </p:cSld>
  <p:clrMapOvr>
    <a:masterClrMapping/>
  </p:clrMapOvr>
  <p:transition spd="med">
    <p:pull/>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文本框 48"/>
          <p:cNvSpPr txBox="1"/>
          <p:nvPr/>
        </p:nvSpPr>
        <p:spPr>
          <a:xfrm>
            <a:off x="624114" y="10310"/>
            <a:ext cx="5757636"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r>
              <a:rPr lang="en-US" altLang="zh-CN" sz="3200" b="1" dirty="0" smtClean="0">
                <a:latin typeface="微软雅黑" panose="020B0503020204020204" pitchFamily="34" charset="-122"/>
                <a:ea typeface="微软雅黑" panose="020B0503020204020204" pitchFamily="34" charset="-122"/>
              </a:rPr>
              <a:t>--- </a:t>
            </a:r>
            <a:r>
              <a:rPr lang="zh-CN" altLang="en-US" sz="3200" b="1" dirty="0">
                <a:latin typeface="微软雅黑" panose="020B0503020204020204" pitchFamily="34" charset="-122"/>
                <a:ea typeface="微软雅黑" panose="020B0503020204020204" pitchFamily="34" charset="-122"/>
              </a:rPr>
              <a:t>故障管理</a:t>
            </a:r>
            <a:endParaRPr lang="zh-CN" altLang="en-US" sz="3200" b="1" dirty="0">
              <a:latin typeface="微软雅黑" panose="020B0503020204020204" pitchFamily="34" charset="-122"/>
              <a:ea typeface="微软雅黑" panose="020B0503020204020204" pitchFamily="34" charset="-122"/>
            </a:endParaRPr>
          </a:p>
        </p:txBody>
      </p:sp>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624114" y="686265"/>
            <a:ext cx="3944865"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异常</a:t>
            </a:r>
            <a:r>
              <a:rPr lang="zh-CN" altLang="en-US" dirty="0" smtClean="0">
                <a:solidFill>
                  <a:srgbClr val="333F50"/>
                </a:solidFill>
              </a:rPr>
              <a:t>检测</a:t>
            </a:r>
            <a:endParaRPr lang="zh-CN" altLang="en-US" dirty="0">
              <a:solidFill>
                <a:srgbClr val="333F50"/>
              </a:solidFill>
            </a:endParaRPr>
          </a:p>
        </p:txBody>
      </p:sp>
      <p:sp>
        <p:nvSpPr>
          <p:cNvPr id="40" name="矩形 39"/>
          <p:cNvSpPr/>
          <p:nvPr/>
        </p:nvSpPr>
        <p:spPr>
          <a:xfrm>
            <a:off x="2912533" y="5804120"/>
            <a:ext cx="8141670" cy="990600"/>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zh-CN" altLang="en-US"/>
          </a:p>
        </p:txBody>
      </p:sp>
      <p:sp>
        <p:nvSpPr>
          <p:cNvPr id="50" name="圆柱形 49"/>
          <p:cNvSpPr/>
          <p:nvPr/>
        </p:nvSpPr>
        <p:spPr>
          <a:xfrm>
            <a:off x="3175316" y="5960736"/>
            <a:ext cx="1062606" cy="694154"/>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p:cNvSpPr txBox="1"/>
          <p:nvPr/>
        </p:nvSpPr>
        <p:spPr>
          <a:xfrm>
            <a:off x="3392584" y="6169188"/>
            <a:ext cx="723900" cy="369332"/>
          </a:xfrm>
          <a:prstGeom prst="rect">
            <a:avLst/>
          </a:prstGeom>
          <a:noFill/>
        </p:spPr>
        <p:txBody>
          <a:bodyPr wrap="square" rtlCol="0">
            <a:spAutoFit/>
          </a:bodyPr>
          <a:lstStyle/>
          <a:p>
            <a:r>
              <a:rPr lang="zh-CN" altLang="en-US" dirty="0" smtClean="0"/>
              <a:t>数据</a:t>
            </a:r>
            <a:endParaRPr lang="zh-CN" altLang="en-US" dirty="0"/>
          </a:p>
        </p:txBody>
      </p:sp>
      <p:cxnSp>
        <p:nvCxnSpPr>
          <p:cNvPr id="52" name="直接箭头连接符 51"/>
          <p:cNvCxnSpPr/>
          <p:nvPr/>
        </p:nvCxnSpPr>
        <p:spPr>
          <a:xfrm>
            <a:off x="4237922" y="6341941"/>
            <a:ext cx="245281"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a:xfrm>
            <a:off x="4511624" y="6162960"/>
            <a:ext cx="923925"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a:t>检测器</a:t>
            </a:r>
          </a:p>
        </p:txBody>
      </p:sp>
      <p:sp>
        <p:nvSpPr>
          <p:cNvPr id="54" name="文本框 53"/>
          <p:cNvSpPr txBox="1"/>
          <p:nvPr/>
        </p:nvSpPr>
        <p:spPr>
          <a:xfrm>
            <a:off x="5867308" y="6162960"/>
            <a:ext cx="681038" cy="369332"/>
          </a:xfrm>
          <a:prstGeom prst="rect">
            <a:avLst/>
          </a:prstGeom>
          <a:ln w="19050">
            <a:solidFill>
              <a:srgbClr val="00AC4E"/>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特征</a:t>
            </a:r>
            <a:endParaRPr lang="zh-CN" altLang="en-US" dirty="0"/>
          </a:p>
        </p:txBody>
      </p:sp>
      <p:cxnSp>
        <p:nvCxnSpPr>
          <p:cNvPr id="56" name="直接箭头连接符 55"/>
          <p:cNvCxnSpPr>
            <a:endCxn id="54" idx="1"/>
          </p:cNvCxnSpPr>
          <p:nvPr/>
        </p:nvCxnSpPr>
        <p:spPr>
          <a:xfrm>
            <a:off x="5435549" y="6333375"/>
            <a:ext cx="431759" cy="1425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9" name="圆角矩形 58"/>
          <p:cNvSpPr/>
          <p:nvPr/>
        </p:nvSpPr>
        <p:spPr>
          <a:xfrm>
            <a:off x="4205514" y="176897"/>
            <a:ext cx="7277100" cy="5501694"/>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60" name="圆柱形 59"/>
          <p:cNvSpPr/>
          <p:nvPr/>
        </p:nvSpPr>
        <p:spPr>
          <a:xfrm>
            <a:off x="4856331" y="836653"/>
            <a:ext cx="1062606" cy="694154"/>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5073599" y="1045105"/>
            <a:ext cx="723900" cy="369332"/>
          </a:xfrm>
          <a:prstGeom prst="rect">
            <a:avLst/>
          </a:prstGeom>
          <a:noFill/>
        </p:spPr>
        <p:txBody>
          <a:bodyPr wrap="square" rtlCol="0">
            <a:spAutoFit/>
          </a:bodyPr>
          <a:lstStyle/>
          <a:p>
            <a:r>
              <a:rPr lang="zh-CN" altLang="en-US" dirty="0" smtClean="0"/>
              <a:t>数据</a:t>
            </a:r>
            <a:endParaRPr lang="zh-CN" altLang="en-US" dirty="0"/>
          </a:p>
        </p:txBody>
      </p:sp>
      <p:sp>
        <p:nvSpPr>
          <p:cNvPr id="62" name="文本框 61"/>
          <p:cNvSpPr txBox="1"/>
          <p:nvPr/>
        </p:nvSpPr>
        <p:spPr>
          <a:xfrm>
            <a:off x="4952155" y="1983009"/>
            <a:ext cx="923925"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a:t>检测器</a:t>
            </a:r>
          </a:p>
        </p:txBody>
      </p:sp>
      <p:sp>
        <p:nvSpPr>
          <p:cNvPr id="63" name="文本框 62"/>
          <p:cNvSpPr txBox="1"/>
          <p:nvPr/>
        </p:nvSpPr>
        <p:spPr>
          <a:xfrm>
            <a:off x="5073599" y="2993747"/>
            <a:ext cx="681038" cy="369332"/>
          </a:xfrm>
          <a:prstGeom prst="rect">
            <a:avLst/>
          </a:prstGeom>
          <a:ln w="19050">
            <a:solidFill>
              <a:srgbClr val="00AC4E"/>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特征</a:t>
            </a:r>
            <a:endParaRPr lang="zh-CN" altLang="en-US" dirty="0"/>
          </a:p>
        </p:txBody>
      </p:sp>
      <p:sp>
        <p:nvSpPr>
          <p:cNvPr id="64" name="文本框 63"/>
          <p:cNvSpPr txBox="1"/>
          <p:nvPr/>
        </p:nvSpPr>
        <p:spPr>
          <a:xfrm>
            <a:off x="6164218" y="1051962"/>
            <a:ext cx="1638300"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无监督分类器</a:t>
            </a:r>
            <a:endParaRPr lang="zh-CN" altLang="en-US" dirty="0"/>
          </a:p>
        </p:txBody>
      </p:sp>
      <p:sp>
        <p:nvSpPr>
          <p:cNvPr id="65" name="文本框 64"/>
          <p:cNvSpPr txBox="1"/>
          <p:nvPr/>
        </p:nvSpPr>
        <p:spPr>
          <a:xfrm>
            <a:off x="7844064" y="1731772"/>
            <a:ext cx="1219200"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a:solidFill>
                  <a:schemeClr val="dk1"/>
                </a:solidFill>
              </a:rPr>
              <a:t>标记工具</a:t>
            </a:r>
          </a:p>
        </p:txBody>
      </p:sp>
      <p:sp>
        <p:nvSpPr>
          <p:cNvPr id="66" name="文本框 65"/>
          <p:cNvSpPr txBox="1"/>
          <p:nvPr/>
        </p:nvSpPr>
        <p:spPr>
          <a:xfrm>
            <a:off x="9457480" y="3009404"/>
            <a:ext cx="1400175"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准确性倾向</a:t>
            </a:r>
            <a:endParaRPr lang="zh-CN" altLang="en-US" dirty="0"/>
          </a:p>
        </p:txBody>
      </p:sp>
      <p:pic>
        <p:nvPicPr>
          <p:cNvPr id="67" name="Picture 6" descr="“person icon”的图片搜索结果"/>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36410" y="210596"/>
            <a:ext cx="834509" cy="834509"/>
          </a:xfrm>
          <a:prstGeom prst="rect">
            <a:avLst/>
          </a:prstGeom>
          <a:noFill/>
          <a:extLst>
            <a:ext uri="{909E8E84-426E-40DD-AFC4-6F175D3DCCD1}">
              <a14:hiddenFill xmlns:a14="http://schemas.microsoft.com/office/drawing/2010/main">
                <a:solidFill>
                  <a:srgbClr val="FFFFFF"/>
                </a:solidFill>
              </a14:hiddenFill>
            </a:ext>
          </a:extLst>
        </p:spPr>
      </p:pic>
      <p:sp>
        <p:nvSpPr>
          <p:cNvPr id="68" name="文本框 67"/>
          <p:cNvSpPr txBox="1"/>
          <p:nvPr/>
        </p:nvSpPr>
        <p:spPr>
          <a:xfrm>
            <a:off x="8091714" y="3027789"/>
            <a:ext cx="723900"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a:t>标记</a:t>
            </a:r>
          </a:p>
        </p:txBody>
      </p:sp>
      <p:sp>
        <p:nvSpPr>
          <p:cNvPr id="69" name="矩形 68"/>
          <p:cNvSpPr/>
          <p:nvPr/>
        </p:nvSpPr>
        <p:spPr>
          <a:xfrm>
            <a:off x="5064073" y="3722604"/>
            <a:ext cx="6012657" cy="1156163"/>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文本框 69"/>
          <p:cNvSpPr txBox="1"/>
          <p:nvPr/>
        </p:nvSpPr>
        <p:spPr>
          <a:xfrm>
            <a:off x="4903956" y="4038575"/>
            <a:ext cx="4933950" cy="461665"/>
          </a:xfrm>
          <a:prstGeom prst="rect">
            <a:avLst/>
          </a:prstGeom>
          <a:noFill/>
        </p:spPr>
        <p:txBody>
          <a:bodyPr wrap="square" rtlCol="0">
            <a:spAutoFit/>
          </a:bodyPr>
          <a:lstStyle/>
          <a:p>
            <a:pPr algn="ctr"/>
            <a:r>
              <a:rPr lang="zh-CN" altLang="en-US" sz="2400" dirty="0" smtClean="0"/>
              <a:t>机器学习算法（如随机森林）</a:t>
            </a:r>
            <a:endParaRPr lang="zh-CN" altLang="en-US" sz="2400" dirty="0"/>
          </a:p>
        </p:txBody>
      </p:sp>
      <p:cxnSp>
        <p:nvCxnSpPr>
          <p:cNvPr id="71" name="直接箭头连接符 70"/>
          <p:cNvCxnSpPr/>
          <p:nvPr/>
        </p:nvCxnSpPr>
        <p:spPr>
          <a:xfrm>
            <a:off x="9988435" y="3378736"/>
            <a:ext cx="0" cy="659839"/>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2" name="直接箭头连接符 71"/>
          <p:cNvCxnSpPr>
            <a:stCxn id="60" idx="3"/>
          </p:cNvCxnSpPr>
          <p:nvPr/>
        </p:nvCxnSpPr>
        <p:spPr>
          <a:xfrm>
            <a:off x="5387634" y="1530807"/>
            <a:ext cx="0" cy="51190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a:stCxn id="62" idx="2"/>
            <a:endCxn id="63" idx="0"/>
          </p:cNvCxnSpPr>
          <p:nvPr/>
        </p:nvCxnSpPr>
        <p:spPr>
          <a:xfrm>
            <a:off x="5414118" y="2352341"/>
            <a:ext cx="0" cy="641406"/>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接箭头连接符 73"/>
          <p:cNvCxnSpPr>
            <a:endCxn id="68" idx="0"/>
          </p:cNvCxnSpPr>
          <p:nvPr/>
        </p:nvCxnSpPr>
        <p:spPr>
          <a:xfrm>
            <a:off x="8453664" y="2101104"/>
            <a:ext cx="0" cy="926685"/>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接箭头连接符 74"/>
          <p:cNvCxnSpPr/>
          <p:nvPr/>
        </p:nvCxnSpPr>
        <p:spPr>
          <a:xfrm>
            <a:off x="5435549" y="3371336"/>
            <a:ext cx="0" cy="351268"/>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6" name="直接箭头连接符 75"/>
          <p:cNvCxnSpPr/>
          <p:nvPr/>
        </p:nvCxnSpPr>
        <p:spPr>
          <a:xfrm>
            <a:off x="8479857" y="3397121"/>
            <a:ext cx="0" cy="351268"/>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接箭头连接符 76"/>
          <p:cNvCxnSpPr>
            <a:stCxn id="60" idx="4"/>
          </p:cNvCxnSpPr>
          <p:nvPr/>
        </p:nvCxnSpPr>
        <p:spPr>
          <a:xfrm>
            <a:off x="5918937" y="1183730"/>
            <a:ext cx="245281"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接箭头连接符 77"/>
          <p:cNvCxnSpPr>
            <a:stCxn id="64" idx="2"/>
          </p:cNvCxnSpPr>
          <p:nvPr/>
        </p:nvCxnSpPr>
        <p:spPr>
          <a:xfrm>
            <a:off x="6983368" y="1421294"/>
            <a:ext cx="0" cy="365463"/>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79" name="文本框 78"/>
          <p:cNvSpPr txBox="1"/>
          <p:nvPr/>
        </p:nvSpPr>
        <p:spPr>
          <a:xfrm>
            <a:off x="6373768" y="1798343"/>
            <a:ext cx="1219200" cy="338554"/>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sz="1600" dirty="0"/>
              <a:t>预分</a:t>
            </a:r>
            <a:r>
              <a:rPr lang="zh-CN" altLang="en-US" sz="1600" dirty="0" smtClean="0"/>
              <a:t>类数据</a:t>
            </a:r>
            <a:endParaRPr lang="zh-CN" altLang="en-US" sz="1600" dirty="0">
              <a:solidFill>
                <a:schemeClr val="dk1"/>
              </a:solidFill>
            </a:endParaRPr>
          </a:p>
        </p:txBody>
      </p:sp>
      <p:cxnSp>
        <p:nvCxnSpPr>
          <p:cNvPr id="80" name="直接箭头连接符 79"/>
          <p:cNvCxnSpPr/>
          <p:nvPr/>
        </p:nvCxnSpPr>
        <p:spPr>
          <a:xfrm>
            <a:off x="7598783" y="1928524"/>
            <a:ext cx="245281"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接箭头连接符 80"/>
          <p:cNvCxnSpPr/>
          <p:nvPr/>
        </p:nvCxnSpPr>
        <p:spPr>
          <a:xfrm>
            <a:off x="8453664" y="1165343"/>
            <a:ext cx="0" cy="51190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82" name="文本框 81"/>
          <p:cNvSpPr txBox="1"/>
          <p:nvPr/>
        </p:nvSpPr>
        <p:spPr>
          <a:xfrm>
            <a:off x="8486324" y="1170634"/>
            <a:ext cx="270688" cy="430887"/>
          </a:xfrm>
          <a:prstGeom prst="rect">
            <a:avLst/>
          </a:prstGeom>
          <a:noFill/>
        </p:spPr>
        <p:txBody>
          <a:bodyPr wrap="square" rtlCol="0">
            <a:spAutoFit/>
          </a:bodyPr>
          <a:lstStyle/>
          <a:p>
            <a:r>
              <a:rPr lang="zh-CN" altLang="en-US" sz="1100" dirty="0" smtClean="0"/>
              <a:t>使用</a:t>
            </a:r>
            <a:endParaRPr lang="zh-CN" altLang="en-US" sz="1100" dirty="0"/>
          </a:p>
        </p:txBody>
      </p:sp>
      <p:cxnSp>
        <p:nvCxnSpPr>
          <p:cNvPr id="83" name="直接连接符 82"/>
          <p:cNvCxnSpPr>
            <a:stCxn id="67" idx="3"/>
          </p:cNvCxnSpPr>
          <p:nvPr/>
        </p:nvCxnSpPr>
        <p:spPr>
          <a:xfrm>
            <a:off x="8870919" y="627851"/>
            <a:ext cx="1088941" cy="6835"/>
          </a:xfrm>
          <a:prstGeom prst="line">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4" name="直接箭头连接符 83"/>
          <p:cNvCxnSpPr/>
          <p:nvPr/>
        </p:nvCxnSpPr>
        <p:spPr>
          <a:xfrm>
            <a:off x="9969385" y="632456"/>
            <a:ext cx="19050" cy="2395333"/>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85" name="文本框 84"/>
          <p:cNvSpPr txBox="1"/>
          <p:nvPr/>
        </p:nvSpPr>
        <p:spPr>
          <a:xfrm>
            <a:off x="9959860" y="1497324"/>
            <a:ext cx="270688" cy="430887"/>
          </a:xfrm>
          <a:prstGeom prst="rect">
            <a:avLst/>
          </a:prstGeom>
          <a:noFill/>
        </p:spPr>
        <p:txBody>
          <a:bodyPr wrap="square" rtlCol="0">
            <a:spAutoFit/>
          </a:bodyPr>
          <a:lstStyle/>
          <a:p>
            <a:r>
              <a:rPr lang="zh-CN" altLang="en-US" sz="1100" dirty="0"/>
              <a:t>指定</a:t>
            </a:r>
          </a:p>
        </p:txBody>
      </p:sp>
      <p:sp>
        <p:nvSpPr>
          <p:cNvPr id="86" name="文本框 85"/>
          <p:cNvSpPr txBox="1"/>
          <p:nvPr/>
        </p:nvSpPr>
        <p:spPr>
          <a:xfrm>
            <a:off x="9416998" y="4121053"/>
            <a:ext cx="1162050" cy="276999"/>
          </a:xfrm>
          <a:prstGeom prst="rect">
            <a:avLst/>
          </a:prstGeom>
          <a:solidFill>
            <a:schemeClr val="tx1">
              <a:lumMod val="65000"/>
              <a:lumOff val="35000"/>
            </a:schemeClr>
          </a:solidFill>
          <a:ln>
            <a:solidFill>
              <a:srgbClr val="002060"/>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sz="1200" dirty="0" smtClean="0">
                <a:solidFill>
                  <a:schemeClr val="bg1"/>
                </a:solidFill>
              </a:rPr>
              <a:t>分类阈值调整</a:t>
            </a:r>
            <a:endParaRPr lang="zh-CN" altLang="en-US" sz="1200" dirty="0">
              <a:solidFill>
                <a:schemeClr val="bg1"/>
              </a:solidFill>
            </a:endParaRPr>
          </a:p>
        </p:txBody>
      </p:sp>
      <p:sp>
        <p:nvSpPr>
          <p:cNvPr id="87" name="下箭头 86"/>
          <p:cNvSpPr/>
          <p:nvPr/>
        </p:nvSpPr>
        <p:spPr>
          <a:xfrm>
            <a:off x="7796377" y="4859974"/>
            <a:ext cx="657287" cy="41364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文本框 87"/>
          <p:cNvSpPr txBox="1"/>
          <p:nvPr/>
        </p:nvSpPr>
        <p:spPr>
          <a:xfrm>
            <a:off x="7190947" y="5282373"/>
            <a:ext cx="1868146"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最新异常分类器</a:t>
            </a:r>
            <a:endParaRPr lang="zh-CN" altLang="en-US" dirty="0"/>
          </a:p>
        </p:txBody>
      </p:sp>
      <p:sp>
        <p:nvSpPr>
          <p:cNvPr id="89" name="文本框 88"/>
          <p:cNvSpPr txBox="1"/>
          <p:nvPr/>
        </p:nvSpPr>
        <p:spPr>
          <a:xfrm>
            <a:off x="925644" y="6112103"/>
            <a:ext cx="1156314" cy="374633"/>
          </a:xfrm>
          <a:prstGeom prst="rect">
            <a:avLst/>
          </a:prstGeom>
          <a:noFill/>
        </p:spPr>
        <p:txBody>
          <a:bodyPr wrap="square" rtlCol="0">
            <a:spAutoFit/>
          </a:bodyPr>
          <a:lstStyle/>
          <a:p>
            <a:r>
              <a:rPr lang="zh-CN" altLang="en-US" dirty="0" smtClean="0">
                <a:solidFill>
                  <a:srgbClr val="7030A0"/>
                </a:solidFill>
              </a:rPr>
              <a:t>在线检测</a:t>
            </a:r>
            <a:endParaRPr lang="zh-CN" altLang="en-US" dirty="0">
              <a:solidFill>
                <a:srgbClr val="7030A0"/>
              </a:solidFill>
            </a:endParaRPr>
          </a:p>
        </p:txBody>
      </p:sp>
      <p:sp>
        <p:nvSpPr>
          <p:cNvPr id="90" name="文本框 89"/>
          <p:cNvSpPr txBox="1"/>
          <p:nvPr/>
        </p:nvSpPr>
        <p:spPr>
          <a:xfrm>
            <a:off x="7055387" y="6155834"/>
            <a:ext cx="1868146"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最新异常分类器</a:t>
            </a:r>
            <a:endParaRPr lang="zh-CN" altLang="en-US" dirty="0"/>
          </a:p>
        </p:txBody>
      </p:sp>
      <p:cxnSp>
        <p:nvCxnSpPr>
          <p:cNvPr id="91" name="直接箭头连接符 90"/>
          <p:cNvCxnSpPr>
            <a:endCxn id="90" idx="1"/>
          </p:cNvCxnSpPr>
          <p:nvPr/>
        </p:nvCxnSpPr>
        <p:spPr>
          <a:xfrm>
            <a:off x="6552122" y="6333375"/>
            <a:ext cx="503265" cy="7125"/>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4" name="直接箭头连接符 93"/>
          <p:cNvCxnSpPr/>
          <p:nvPr/>
        </p:nvCxnSpPr>
        <p:spPr>
          <a:xfrm>
            <a:off x="8963489" y="6351843"/>
            <a:ext cx="625805" cy="1332"/>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96" name="文本框 95"/>
          <p:cNvSpPr txBox="1"/>
          <p:nvPr/>
        </p:nvSpPr>
        <p:spPr>
          <a:xfrm>
            <a:off x="9589293" y="6195586"/>
            <a:ext cx="1268361" cy="369332"/>
          </a:xfrm>
          <a:prstGeom prst="rect">
            <a:avLst/>
          </a:prstGeom>
          <a:noFill/>
        </p:spPr>
        <p:txBody>
          <a:bodyPr wrap="square" rtlCol="0">
            <a:spAutoFit/>
          </a:bodyPr>
          <a:lstStyle/>
          <a:p>
            <a:r>
              <a:rPr lang="zh-CN" altLang="en-US" dirty="0" smtClean="0"/>
              <a:t>检测结果</a:t>
            </a:r>
            <a:endParaRPr lang="zh-CN" altLang="en-US" dirty="0"/>
          </a:p>
        </p:txBody>
      </p:sp>
      <p:sp>
        <p:nvSpPr>
          <p:cNvPr id="97" name="文本框 96"/>
          <p:cNvSpPr txBox="1"/>
          <p:nvPr/>
        </p:nvSpPr>
        <p:spPr>
          <a:xfrm>
            <a:off x="924898" y="2558412"/>
            <a:ext cx="1157060" cy="369332"/>
          </a:xfrm>
          <a:prstGeom prst="rect">
            <a:avLst/>
          </a:prstGeom>
          <a:noFill/>
        </p:spPr>
        <p:txBody>
          <a:bodyPr wrap="square" rtlCol="0">
            <a:spAutoFit/>
          </a:bodyPr>
          <a:lstStyle/>
          <a:p>
            <a:r>
              <a:rPr lang="zh-CN" altLang="en-US" dirty="0" smtClean="0">
                <a:solidFill>
                  <a:schemeClr val="accent1">
                    <a:lumMod val="50000"/>
                  </a:schemeClr>
                </a:solidFill>
              </a:rPr>
              <a:t>离线训练</a:t>
            </a:r>
            <a:endParaRPr lang="zh-CN" altLang="en-US" dirty="0">
              <a:solidFill>
                <a:schemeClr val="accent1">
                  <a:lumMod val="50000"/>
                </a:schemeClr>
              </a:solidFill>
            </a:endParaRPr>
          </a:p>
        </p:txBody>
      </p:sp>
    </p:spTree>
    <p:extLst>
      <p:ext uri="{BB962C8B-B14F-4D97-AF65-F5344CB8AC3E}">
        <p14:creationId xmlns:p14="http://schemas.microsoft.com/office/powerpoint/2010/main" val="2364516790"/>
      </p:ext>
    </p:extLst>
  </p:cSld>
  <p:clrMapOvr>
    <a:masterClrMapping/>
  </p:clrMapOvr>
  <p:transition spd="med">
    <p:pull/>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异常</a:t>
            </a:r>
            <a:r>
              <a:rPr lang="zh-CN" altLang="en-US" dirty="0" smtClean="0">
                <a:solidFill>
                  <a:srgbClr val="333F50"/>
                </a:solidFill>
              </a:rPr>
              <a:t>检测</a:t>
            </a:r>
            <a:endParaRPr lang="zh-CN" altLang="en-US" dirty="0">
              <a:solidFill>
                <a:srgbClr val="333F50"/>
              </a:solidFill>
            </a:endParaRPr>
          </a:p>
        </p:txBody>
      </p:sp>
      <p:sp>
        <p:nvSpPr>
          <p:cNvPr id="7" name="文本框 6"/>
          <p:cNvSpPr txBox="1"/>
          <p:nvPr/>
        </p:nvSpPr>
        <p:spPr>
          <a:xfrm>
            <a:off x="624114" y="1554654"/>
            <a:ext cx="4610100" cy="1338828"/>
          </a:xfrm>
          <a:prstGeom prst="rect">
            <a:avLst/>
          </a:prstGeom>
          <a:noFill/>
        </p:spPr>
        <p:txBody>
          <a:bodyPr wrap="square" rtlCol="0">
            <a:spAutoFit/>
          </a:bodyPr>
          <a:lstStyle/>
          <a:p>
            <a:pPr indent="457200">
              <a:lnSpc>
                <a:spcPct val="150000"/>
              </a:lnSpc>
            </a:pPr>
            <a:r>
              <a:rPr lang="zh-CN" altLang="en-US" dirty="0" smtClean="0"/>
              <a:t>问题：</a:t>
            </a:r>
            <a:endParaRPr lang="en-US" altLang="zh-CN" dirty="0" smtClean="0"/>
          </a:p>
          <a:p>
            <a:pPr marL="285750" indent="-285750">
              <a:lnSpc>
                <a:spcPct val="150000"/>
              </a:lnSpc>
              <a:buFont typeface="Arial" panose="020B0604020202020204" pitchFamily="34" charset="0"/>
              <a:buChar char="•"/>
            </a:pPr>
            <a:r>
              <a:rPr lang="zh-CN" altLang="en-US" dirty="0" smtClean="0"/>
              <a:t>对于</a:t>
            </a:r>
            <a:r>
              <a:rPr lang="zh-CN" altLang="en-US" dirty="0" smtClean="0"/>
              <a:t>几千</a:t>
            </a:r>
            <a:r>
              <a:rPr lang="zh-CN" altLang="en-US" dirty="0" smtClean="0"/>
              <a:t>条</a:t>
            </a:r>
            <a:r>
              <a:rPr lang="zh-CN" altLang="en-US" dirty="0" smtClean="0"/>
              <a:t>监控</a:t>
            </a:r>
            <a:r>
              <a:rPr lang="en-US" altLang="zh-CN" dirty="0" smtClean="0"/>
              <a:t>KPI</a:t>
            </a:r>
            <a:r>
              <a:rPr lang="zh-CN" altLang="en-US" dirty="0" smtClean="0"/>
              <a:t>，是否对于每一条曲线都需要通过反复测验确定算法呢</a:t>
            </a:r>
            <a:r>
              <a:rPr lang="zh-CN" altLang="en-US" dirty="0"/>
              <a:t>？</a:t>
            </a:r>
            <a:endParaRPr lang="en-US" altLang="zh-CN" dirty="0" smtClean="0"/>
          </a:p>
        </p:txBody>
      </p:sp>
      <p:sp>
        <p:nvSpPr>
          <p:cNvPr id="2" name="文本框 1"/>
          <p:cNvSpPr txBox="1"/>
          <p:nvPr/>
        </p:nvSpPr>
        <p:spPr>
          <a:xfrm>
            <a:off x="338364" y="3280303"/>
            <a:ext cx="5181600" cy="2585323"/>
          </a:xfrm>
          <a:prstGeom prst="rect">
            <a:avLst/>
          </a:prstGeom>
          <a:noFill/>
        </p:spPr>
        <p:txBody>
          <a:bodyPr wrap="square" rtlCol="0">
            <a:spAutoFit/>
          </a:bodyPr>
          <a:lstStyle/>
          <a:p>
            <a:pPr indent="457200">
              <a:lnSpc>
                <a:spcPct val="150000"/>
              </a:lnSpc>
            </a:pPr>
            <a:r>
              <a:rPr lang="zh-CN" altLang="en-US" dirty="0" smtClean="0"/>
              <a:t>答： 不需要！</a:t>
            </a:r>
            <a:endParaRPr lang="en-US" altLang="zh-CN" dirty="0" smtClean="0"/>
          </a:p>
          <a:p>
            <a:pPr indent="457200">
              <a:lnSpc>
                <a:spcPct val="150000"/>
              </a:lnSpc>
            </a:pPr>
            <a:r>
              <a:rPr lang="zh-CN" altLang="en-US" dirty="0" smtClean="0"/>
              <a:t>虽然监控</a:t>
            </a:r>
            <a:r>
              <a:rPr lang="en-US" altLang="zh-CN" dirty="0" smtClean="0"/>
              <a:t>KPI</a:t>
            </a:r>
            <a:r>
              <a:rPr lang="zh-CN" altLang="en-US" dirty="0" smtClean="0"/>
              <a:t>数量很多，但是种类却不多。</a:t>
            </a:r>
            <a:endParaRPr lang="en-US" altLang="zh-CN" dirty="0" smtClean="0"/>
          </a:p>
          <a:p>
            <a:pPr indent="457200">
              <a:lnSpc>
                <a:spcPct val="150000"/>
              </a:lnSpc>
            </a:pPr>
            <a:r>
              <a:rPr lang="zh-CN" altLang="en-US" dirty="0" smtClean="0"/>
              <a:t>可以使用</a:t>
            </a:r>
            <a:r>
              <a:rPr lang="en-US" altLang="zh-CN" dirty="0" smtClean="0"/>
              <a:t>KPI</a:t>
            </a:r>
            <a:r>
              <a:rPr lang="zh-CN" altLang="en-US" dirty="0" smtClean="0"/>
              <a:t>聚合算法，对</a:t>
            </a:r>
            <a:r>
              <a:rPr lang="en-US" altLang="zh-CN" dirty="0" smtClean="0"/>
              <a:t>KPI</a:t>
            </a:r>
            <a:r>
              <a:rPr lang="zh-CN" altLang="en-US" dirty="0" smtClean="0"/>
              <a:t>进行分类，然</a:t>
            </a:r>
            <a:r>
              <a:rPr lang="zh-CN" altLang="en-US" dirty="0"/>
              <a:t>后</a:t>
            </a:r>
            <a:r>
              <a:rPr lang="zh-CN" altLang="en-US" dirty="0" smtClean="0"/>
              <a:t>对于每一类选择合适的算法，使用迁移学习的方法，将一个训练好的模型迁移到同类曲线的监控上，同时还可大大减少训练时间。</a:t>
            </a:r>
            <a:endParaRPr lang="zh-CN" altLang="en-US" dirty="0"/>
          </a:p>
        </p:txBody>
      </p:sp>
      <p:pic>
        <p:nvPicPr>
          <p:cNvPr id="4098" name="Picture 2" descr="https://github.com/iopsai/iops/blob/master/pictures/anomaly_detection/figure2.png?raw=tru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403252"/>
            <a:ext cx="6148161" cy="781019"/>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https://github.com/iopsai/iops/blob/master/pictures/anomaly_detection/figure3.png?raw=tru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3313343"/>
            <a:ext cx="6148161" cy="428626"/>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https://github.com/iopsai/iops/blob/master/pictures/anomaly_detection/figure4.png?raw=tru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4408601"/>
            <a:ext cx="5991225" cy="1076637"/>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p:cNvSpPr txBox="1"/>
          <p:nvPr/>
        </p:nvSpPr>
        <p:spPr>
          <a:xfrm>
            <a:off x="7781925" y="2733675"/>
            <a:ext cx="2400300" cy="261610"/>
          </a:xfrm>
          <a:prstGeom prst="rect">
            <a:avLst/>
          </a:prstGeom>
          <a:noFill/>
        </p:spPr>
        <p:txBody>
          <a:bodyPr wrap="square" rtlCol="0">
            <a:spAutoFit/>
          </a:bodyPr>
          <a:lstStyle/>
          <a:p>
            <a:pPr algn="ctr"/>
            <a:r>
              <a:rPr lang="zh-CN" altLang="en-US" sz="1100" dirty="0" smtClean="0"/>
              <a:t>周期性</a:t>
            </a:r>
            <a:r>
              <a:rPr lang="en-US" altLang="zh-CN" sz="1100" dirty="0" smtClean="0"/>
              <a:t>KPI</a:t>
            </a:r>
            <a:endParaRPr lang="zh-CN" altLang="en-US" sz="1100" dirty="0"/>
          </a:p>
        </p:txBody>
      </p:sp>
      <p:sp>
        <p:nvSpPr>
          <p:cNvPr id="15" name="文本框 14"/>
          <p:cNvSpPr txBox="1"/>
          <p:nvPr/>
        </p:nvSpPr>
        <p:spPr>
          <a:xfrm>
            <a:off x="7781925" y="3886232"/>
            <a:ext cx="2400300" cy="261610"/>
          </a:xfrm>
          <a:prstGeom prst="rect">
            <a:avLst/>
          </a:prstGeom>
          <a:noFill/>
        </p:spPr>
        <p:txBody>
          <a:bodyPr wrap="square" rtlCol="0">
            <a:spAutoFit/>
          </a:bodyPr>
          <a:lstStyle/>
          <a:p>
            <a:pPr algn="ctr"/>
            <a:r>
              <a:rPr lang="zh-CN" altLang="en-US" sz="1100" dirty="0" smtClean="0"/>
              <a:t>稳定性</a:t>
            </a:r>
            <a:r>
              <a:rPr lang="en-US" altLang="zh-CN" sz="1100" dirty="0" smtClean="0"/>
              <a:t>KPI</a:t>
            </a:r>
            <a:endParaRPr lang="zh-CN" altLang="en-US" sz="1100" dirty="0"/>
          </a:p>
        </p:txBody>
      </p:sp>
      <p:sp>
        <p:nvSpPr>
          <p:cNvPr id="16" name="文本框 15"/>
          <p:cNvSpPr txBox="1"/>
          <p:nvPr/>
        </p:nvSpPr>
        <p:spPr>
          <a:xfrm>
            <a:off x="7781925" y="5734821"/>
            <a:ext cx="2400300" cy="261610"/>
          </a:xfrm>
          <a:prstGeom prst="rect">
            <a:avLst/>
          </a:prstGeom>
          <a:noFill/>
        </p:spPr>
        <p:txBody>
          <a:bodyPr wrap="square" rtlCol="0">
            <a:spAutoFit/>
          </a:bodyPr>
          <a:lstStyle/>
          <a:p>
            <a:pPr algn="ctr"/>
            <a:r>
              <a:rPr lang="zh-CN" altLang="en-US" sz="1100" dirty="0" smtClean="0"/>
              <a:t>不稳定性</a:t>
            </a:r>
            <a:r>
              <a:rPr lang="en-US" altLang="zh-CN" sz="1100" dirty="0" smtClean="0"/>
              <a:t>KPI</a:t>
            </a:r>
            <a:endParaRPr lang="zh-CN" altLang="en-US" sz="1100" dirty="0"/>
          </a:p>
        </p:txBody>
      </p:sp>
      <p:sp>
        <p:nvSpPr>
          <p:cNvPr id="17" name="文本框 16"/>
          <p:cNvSpPr txBox="1"/>
          <p:nvPr/>
        </p:nvSpPr>
        <p:spPr>
          <a:xfrm>
            <a:off x="624114" y="10310"/>
            <a:ext cx="5757636"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r>
              <a:rPr lang="en-US" altLang="zh-CN" sz="3200" b="1" dirty="0" smtClean="0">
                <a:latin typeface="微软雅黑" panose="020B0503020204020204" pitchFamily="34" charset="-122"/>
                <a:ea typeface="微软雅黑" panose="020B0503020204020204" pitchFamily="34" charset="-122"/>
              </a:rPr>
              <a:t>--- </a:t>
            </a:r>
            <a:r>
              <a:rPr lang="zh-CN" altLang="en-US" sz="3200" b="1" dirty="0">
                <a:latin typeface="微软雅黑" panose="020B0503020204020204" pitchFamily="34" charset="-122"/>
                <a:ea typeface="微软雅黑" panose="020B0503020204020204" pitchFamily="34" charset="-122"/>
              </a:rPr>
              <a:t>故障管理</a:t>
            </a:r>
            <a:endParaRPr lang="zh-CN" altLang="en-US" sz="32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52877511"/>
      </p:ext>
    </p:extLst>
  </p:cSld>
  <p:clrMapOvr>
    <a:masterClrMapping/>
  </p:clrMapOvr>
  <p:transition spd="med">
    <p:pull/>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根因</a:t>
            </a:r>
            <a:r>
              <a:rPr lang="zh-CN" altLang="en-US" dirty="0" smtClean="0">
                <a:solidFill>
                  <a:srgbClr val="333F50"/>
                </a:solidFill>
              </a:rPr>
              <a:t>分析</a:t>
            </a:r>
            <a:endParaRPr lang="zh-CN" altLang="en-US" dirty="0">
              <a:solidFill>
                <a:srgbClr val="333F50"/>
              </a:solidFill>
            </a:endParaRPr>
          </a:p>
        </p:txBody>
      </p:sp>
      <p:sp>
        <p:nvSpPr>
          <p:cNvPr id="7" name="文本框 6"/>
          <p:cNvSpPr txBox="1"/>
          <p:nvPr/>
        </p:nvSpPr>
        <p:spPr>
          <a:xfrm>
            <a:off x="624114" y="3004048"/>
            <a:ext cx="4610100" cy="171213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latin typeface="等线 Light" panose="02010600030101010101" pitchFamily="2" charset="-122"/>
                <a:ea typeface="等线 Light" panose="02010600030101010101" pitchFamily="2" charset="-122"/>
              </a:rPr>
              <a:t>当</a:t>
            </a:r>
            <a:r>
              <a:rPr lang="zh-CN" altLang="en-US" dirty="0" smtClean="0">
                <a:latin typeface="等线 Light" panose="02010600030101010101" pitchFamily="2" charset="-122"/>
                <a:ea typeface="等线 Light" panose="02010600030101010101" pitchFamily="2" charset="-122"/>
              </a:rPr>
              <a:t>一个</a:t>
            </a:r>
            <a:r>
              <a:rPr lang="en-US" altLang="zh-CN" dirty="0" smtClean="0">
                <a:latin typeface="等线 Light" panose="02010600030101010101" pitchFamily="2" charset="-122"/>
                <a:ea typeface="等线 Light" panose="02010600030101010101" pitchFamily="2" charset="-122"/>
              </a:rPr>
              <a:t>KPI</a:t>
            </a:r>
            <a:r>
              <a:rPr lang="zh-CN" altLang="en-US" dirty="0" smtClean="0">
                <a:latin typeface="等线 Light" panose="02010600030101010101" pitchFamily="2" charset="-122"/>
                <a:ea typeface="等线 Light" panose="02010600030101010101" pitchFamily="2" charset="-122"/>
              </a:rPr>
              <a:t>指标发生异常时，往往伴随着其他</a:t>
            </a:r>
            <a:r>
              <a:rPr lang="en-US" altLang="zh-CN" dirty="0" smtClean="0">
                <a:latin typeface="等线 Light" panose="02010600030101010101" pitchFamily="2" charset="-122"/>
                <a:ea typeface="等线 Light" panose="02010600030101010101" pitchFamily="2" charset="-122"/>
              </a:rPr>
              <a:t>KPI</a:t>
            </a:r>
            <a:r>
              <a:rPr lang="zh-CN" altLang="en-US" dirty="0" smtClean="0">
                <a:latin typeface="等线 Light" panose="02010600030101010101" pitchFamily="2" charset="-122"/>
                <a:ea typeface="等线 Light" panose="02010600030101010101" pitchFamily="2" charset="-122"/>
              </a:rPr>
              <a:t>指标的变化，这些变化的</a:t>
            </a:r>
            <a:r>
              <a:rPr lang="en-US" altLang="zh-CN" dirty="0" smtClean="0">
                <a:latin typeface="等线 Light" panose="02010600030101010101" pitchFamily="2" charset="-122"/>
                <a:ea typeface="等线 Light" panose="02010600030101010101" pitchFamily="2" charset="-122"/>
              </a:rPr>
              <a:t>KPI</a:t>
            </a:r>
            <a:r>
              <a:rPr lang="zh-CN" altLang="en-US" dirty="0" smtClean="0">
                <a:latin typeface="等线 Light" panose="02010600030101010101" pitchFamily="2" charset="-122"/>
                <a:ea typeface="等线 Light" panose="02010600030101010101" pitchFamily="2" charset="-122"/>
              </a:rPr>
              <a:t>之间是否存在着关联？如何快速定位某一个</a:t>
            </a:r>
            <a:r>
              <a:rPr lang="en-US" altLang="zh-CN" dirty="0" smtClean="0">
                <a:latin typeface="等线 Light" panose="02010600030101010101" pitchFamily="2" charset="-122"/>
                <a:ea typeface="等线 Light" panose="02010600030101010101" pitchFamily="2" charset="-122"/>
              </a:rPr>
              <a:t>KPI</a:t>
            </a:r>
            <a:r>
              <a:rPr lang="zh-CN" altLang="en-US" dirty="0" smtClean="0">
                <a:latin typeface="等线 Light" panose="02010600030101010101" pitchFamily="2" charset="-122"/>
                <a:ea typeface="等线 Light" panose="02010600030101010101" pitchFamily="2" charset="-122"/>
              </a:rPr>
              <a:t>指标异常的原因？</a:t>
            </a:r>
            <a:endParaRPr lang="en-US" altLang="zh-CN" dirty="0" smtClean="0">
              <a:latin typeface="等线 Light" panose="02010600030101010101" pitchFamily="2" charset="-122"/>
              <a:ea typeface="等线 Light" panose="02010600030101010101" pitchFamily="2" charset="-122"/>
            </a:endParaRPr>
          </a:p>
        </p:txBody>
      </p:sp>
      <p:pic>
        <p:nvPicPr>
          <p:cNvPr id="3" name="图片 2"/>
          <p:cNvPicPr>
            <a:picLocks noChangeAspect="1"/>
          </p:cNvPicPr>
          <p:nvPr/>
        </p:nvPicPr>
        <p:blipFill>
          <a:blip r:embed="rId3"/>
          <a:stretch>
            <a:fillRect/>
          </a:stretch>
        </p:blipFill>
        <p:spPr>
          <a:xfrm>
            <a:off x="6761162" y="2213428"/>
            <a:ext cx="3937635" cy="2692400"/>
          </a:xfrm>
          <a:prstGeom prst="rect">
            <a:avLst/>
          </a:prstGeom>
        </p:spPr>
      </p:pic>
      <p:sp>
        <p:nvSpPr>
          <p:cNvPr id="9" name="文本框 8"/>
          <p:cNvSpPr txBox="1"/>
          <p:nvPr/>
        </p:nvSpPr>
        <p:spPr>
          <a:xfrm>
            <a:off x="624114" y="10310"/>
            <a:ext cx="5757636"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r>
              <a:rPr lang="en-US" altLang="zh-CN" sz="3200" b="1" dirty="0" smtClean="0">
                <a:latin typeface="微软雅黑" panose="020B0503020204020204" pitchFamily="34" charset="-122"/>
                <a:ea typeface="微软雅黑" panose="020B0503020204020204" pitchFamily="34" charset="-122"/>
              </a:rPr>
              <a:t>--- </a:t>
            </a:r>
            <a:r>
              <a:rPr lang="zh-CN" altLang="en-US" sz="3200" b="1" dirty="0">
                <a:latin typeface="微软雅黑" panose="020B0503020204020204" pitchFamily="34" charset="-122"/>
                <a:ea typeface="微软雅黑" panose="020B0503020204020204" pitchFamily="34" charset="-122"/>
              </a:rPr>
              <a:t>故障管理</a:t>
            </a:r>
            <a:endParaRPr lang="zh-CN" altLang="en-US" sz="3200" b="1" dirty="0">
              <a:latin typeface="微软雅黑" panose="020B0503020204020204" pitchFamily="34" charset="-122"/>
              <a:ea typeface="微软雅黑" panose="020B0503020204020204" pitchFamily="34" charset="-122"/>
            </a:endParaRPr>
          </a:p>
        </p:txBody>
      </p:sp>
      <p:sp>
        <p:nvSpPr>
          <p:cNvPr id="10" name="矩形 9"/>
          <p:cNvSpPr/>
          <p:nvPr/>
        </p:nvSpPr>
        <p:spPr>
          <a:xfrm>
            <a:off x="721810" y="2357718"/>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问题描述</a:t>
            </a:r>
            <a:endParaRPr lang="en-US" altLang="zh-CN" dirty="0"/>
          </a:p>
        </p:txBody>
      </p:sp>
    </p:spTree>
    <p:extLst>
      <p:ext uri="{BB962C8B-B14F-4D97-AF65-F5344CB8AC3E}">
        <p14:creationId xmlns:p14="http://schemas.microsoft.com/office/powerpoint/2010/main" val="2265818408"/>
      </p:ext>
    </p:extLst>
  </p:cSld>
  <p:clrMapOvr>
    <a:masterClrMapping/>
  </p:clrMapOvr>
  <p:transition spd="med">
    <p:pull/>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根</a:t>
            </a:r>
            <a:r>
              <a:rPr lang="zh-CN" altLang="en-US" dirty="0" smtClean="0">
                <a:solidFill>
                  <a:srgbClr val="333F50"/>
                </a:solidFill>
              </a:rPr>
              <a:t>因分析</a:t>
            </a:r>
            <a:endParaRPr lang="zh-CN" altLang="en-US" dirty="0">
              <a:solidFill>
                <a:srgbClr val="333F50"/>
              </a:solidFill>
            </a:endParaRPr>
          </a:p>
        </p:txBody>
      </p:sp>
      <p:sp>
        <p:nvSpPr>
          <p:cNvPr id="2" name="文本框 1"/>
          <p:cNvSpPr txBox="1"/>
          <p:nvPr/>
        </p:nvSpPr>
        <p:spPr>
          <a:xfrm>
            <a:off x="721811" y="2379888"/>
            <a:ext cx="4574090" cy="2585323"/>
          </a:xfrm>
          <a:prstGeom prst="rect">
            <a:avLst/>
          </a:prstGeom>
          <a:noFill/>
        </p:spPr>
        <p:txBody>
          <a:bodyPr wrap="square" rtlCol="0">
            <a:spAutoFit/>
          </a:bodyPr>
          <a:lstStyle/>
          <a:p>
            <a:pPr indent="457200">
              <a:lnSpc>
                <a:spcPct val="150000"/>
              </a:lnSpc>
            </a:pPr>
            <a:r>
              <a:rPr lang="zh-CN" altLang="en-US" dirty="0" smtClean="0"/>
              <a:t>根因分析 </a:t>
            </a:r>
            <a:r>
              <a:rPr lang="en-US" altLang="zh-CN" dirty="0" smtClean="0"/>
              <a:t>= </a:t>
            </a:r>
            <a:r>
              <a:rPr lang="zh-CN" altLang="en-US" dirty="0" smtClean="0"/>
              <a:t>异常分析 </a:t>
            </a:r>
            <a:r>
              <a:rPr lang="en-US" altLang="zh-CN" dirty="0" smtClean="0"/>
              <a:t>+ </a:t>
            </a:r>
            <a:r>
              <a:rPr lang="zh-CN" altLang="en-US" dirty="0" smtClean="0"/>
              <a:t>故障传播链构建</a:t>
            </a:r>
            <a:endParaRPr lang="en-US" altLang="zh-CN" dirty="0" smtClean="0"/>
          </a:p>
          <a:p>
            <a:pPr indent="457200">
              <a:lnSpc>
                <a:spcPct val="150000"/>
              </a:lnSpc>
            </a:pPr>
            <a:r>
              <a:rPr lang="zh-CN" altLang="en-US" dirty="0" smtClean="0"/>
              <a:t>对于故障定位问题，如果有一个及时的监测和准确的报警，又有一个完整的故障传播链，那么根因的分析就很简单了，只需顺着故障传播链依次查找，就能找到故障的根因。</a:t>
            </a:r>
            <a:endParaRPr lang="en-US" altLang="zh-CN" dirty="0" smtClean="0"/>
          </a:p>
        </p:txBody>
      </p:sp>
      <p:sp>
        <p:nvSpPr>
          <p:cNvPr id="9" name="文本框 8"/>
          <p:cNvSpPr txBox="1"/>
          <p:nvPr/>
        </p:nvSpPr>
        <p:spPr>
          <a:xfrm>
            <a:off x="6648450" y="943949"/>
            <a:ext cx="4267200" cy="923330"/>
          </a:xfrm>
          <a:prstGeom prst="rect">
            <a:avLst/>
          </a:prstGeom>
          <a:noFill/>
        </p:spPr>
        <p:txBody>
          <a:bodyPr wrap="square" rtlCol="0">
            <a:spAutoFit/>
          </a:bodyPr>
          <a:lstStyle/>
          <a:p>
            <a:pPr indent="457200">
              <a:lnSpc>
                <a:spcPct val="150000"/>
              </a:lnSpc>
            </a:pPr>
            <a:r>
              <a:rPr lang="zh-CN" altLang="en-US" dirty="0" smtClean="0"/>
              <a:t>解决思路：</a:t>
            </a:r>
            <a:endParaRPr lang="en-US" altLang="zh-CN" dirty="0" smtClean="0"/>
          </a:p>
          <a:p>
            <a:pPr marL="285750" indent="-285750">
              <a:lnSpc>
                <a:spcPct val="150000"/>
              </a:lnSpc>
              <a:buFont typeface="Arial" panose="020B0604020202020204" pitchFamily="34" charset="0"/>
              <a:buChar char="•"/>
            </a:pPr>
            <a:endParaRPr lang="zh-CN" altLang="en-US" dirty="0"/>
          </a:p>
        </p:txBody>
      </p:sp>
      <p:sp>
        <p:nvSpPr>
          <p:cNvPr id="11" name="圆角矩形 10"/>
          <p:cNvSpPr/>
          <p:nvPr/>
        </p:nvSpPr>
        <p:spPr>
          <a:xfrm>
            <a:off x="7094035" y="1472241"/>
            <a:ext cx="3539871" cy="16810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457200">
              <a:lnSpc>
                <a:spcPct val="150000"/>
              </a:lnSpc>
            </a:pPr>
            <a:r>
              <a:rPr lang="zh-CN" altLang="en-US" dirty="0"/>
              <a:t>是否存在像异常检测一样，直接通过一个算法使用类似于黑盒方法进行解决？</a:t>
            </a:r>
            <a:endParaRPr lang="en-US" altLang="zh-CN" dirty="0"/>
          </a:p>
        </p:txBody>
      </p:sp>
      <p:pic>
        <p:nvPicPr>
          <p:cNvPr id="12" name="Picture 2" descr="“wrong icon”的图片搜索结果"/>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49766" y="1280473"/>
            <a:ext cx="2064567" cy="2064567"/>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p:cNvSpPr txBox="1"/>
          <p:nvPr/>
        </p:nvSpPr>
        <p:spPr>
          <a:xfrm>
            <a:off x="6773232" y="4407170"/>
            <a:ext cx="4181475" cy="879087"/>
          </a:xfrm>
          <a:prstGeom prst="rect">
            <a:avLst/>
          </a:prstGeom>
          <a:noFill/>
        </p:spPr>
        <p:txBody>
          <a:bodyPr wrap="square" rtlCol="0">
            <a:spAutoFit/>
          </a:bodyPr>
          <a:lstStyle/>
          <a:p>
            <a:pPr indent="457200">
              <a:lnSpc>
                <a:spcPct val="150000"/>
              </a:lnSpc>
            </a:pPr>
            <a:r>
              <a:rPr lang="zh-CN" altLang="en-US" dirty="0" smtClean="0"/>
              <a:t>由于根因分析问题较为复杂，使用单独的</a:t>
            </a:r>
            <a:r>
              <a:rPr lang="en-US" altLang="zh-CN" dirty="0" smtClean="0"/>
              <a:t>AI</a:t>
            </a:r>
            <a:r>
              <a:rPr lang="zh-CN" altLang="en-US" dirty="0" smtClean="0"/>
              <a:t>算法无法解决</a:t>
            </a:r>
            <a:endParaRPr lang="zh-CN" altLang="en-US" dirty="0"/>
          </a:p>
        </p:txBody>
      </p:sp>
      <p:sp>
        <p:nvSpPr>
          <p:cNvPr id="13" name="文本框 12"/>
          <p:cNvSpPr txBox="1"/>
          <p:nvPr/>
        </p:nvSpPr>
        <p:spPr>
          <a:xfrm>
            <a:off x="624114" y="10310"/>
            <a:ext cx="5757636"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r>
              <a:rPr lang="en-US" altLang="zh-CN" sz="3200" b="1" dirty="0" smtClean="0">
                <a:latin typeface="微软雅黑" panose="020B0503020204020204" pitchFamily="34" charset="-122"/>
                <a:ea typeface="微软雅黑" panose="020B0503020204020204" pitchFamily="34" charset="-122"/>
              </a:rPr>
              <a:t>--- </a:t>
            </a:r>
            <a:r>
              <a:rPr lang="zh-CN" altLang="en-US" sz="3200" b="1" dirty="0">
                <a:latin typeface="微软雅黑" panose="020B0503020204020204" pitchFamily="34" charset="-122"/>
                <a:ea typeface="微软雅黑" panose="020B0503020204020204" pitchFamily="34" charset="-122"/>
              </a:rPr>
              <a:t>故障管理</a:t>
            </a:r>
            <a:endParaRPr lang="zh-CN" altLang="en-US" sz="32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9934532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p:cTn id="11" dur="500" fill="hold"/>
                                        <p:tgtEl>
                                          <p:spTgt spid="12"/>
                                        </p:tgtEl>
                                        <p:attrNameLst>
                                          <p:attrName>ppt_w</p:attrName>
                                        </p:attrNameLst>
                                      </p:cBhvr>
                                      <p:tavLst>
                                        <p:tav tm="0">
                                          <p:val>
                                            <p:fltVal val="0"/>
                                          </p:val>
                                        </p:tav>
                                        <p:tav tm="100000">
                                          <p:val>
                                            <p:strVal val="#ppt_w"/>
                                          </p:val>
                                        </p:tav>
                                      </p:tavLst>
                                    </p:anim>
                                    <p:anim calcmode="lin" valueType="num">
                                      <p:cBhvr>
                                        <p:cTn id="12" dur="500" fill="hold"/>
                                        <p:tgtEl>
                                          <p:spTgt spid="12"/>
                                        </p:tgtEl>
                                        <p:attrNameLst>
                                          <p:attrName>ppt_h</p:attrName>
                                        </p:attrNameLst>
                                      </p:cBhvr>
                                      <p:tavLst>
                                        <p:tav tm="0">
                                          <p:val>
                                            <p:fltVal val="0"/>
                                          </p:val>
                                        </p:tav>
                                        <p:tav tm="100000">
                                          <p:val>
                                            <p:strVal val="#ppt_h"/>
                                          </p:val>
                                        </p:tav>
                                      </p:tavLst>
                                    </p:anim>
                                    <p:animEffect transition="in" filter="fade">
                                      <p:cBhvr>
                                        <p:cTn id="1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庖丁解牛</a:t>
            </a:r>
            <a:endParaRPr lang="zh-CN" altLang="en-US" dirty="0">
              <a:solidFill>
                <a:srgbClr val="333F50"/>
              </a:solidFill>
            </a:endParaRPr>
          </a:p>
        </p:txBody>
      </p:sp>
      <p:pic>
        <p:nvPicPr>
          <p:cNvPr id="3074" name="Picture 2" descr="“庖丁解牛 漫画”的图片搜索结果"/>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4114" y="1723701"/>
            <a:ext cx="5711716" cy="4049518"/>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7093819" y="1880653"/>
            <a:ext cx="4100362" cy="369332"/>
          </a:xfrm>
          <a:prstGeom prst="rect">
            <a:avLst/>
          </a:prstGeom>
          <a:noFill/>
        </p:spPr>
        <p:txBody>
          <a:bodyPr wrap="square" rtlCol="0">
            <a:spAutoFit/>
          </a:bodyPr>
          <a:lstStyle/>
          <a:p>
            <a:pPr lvl="0">
              <a:defRPr/>
            </a:pPr>
            <a:r>
              <a:rPr lang="zh-CN" altLang="en-US"/>
              <a:t>目无全牛 官止神行</a:t>
            </a:r>
            <a:endParaRPr lang="en-US" altLang="zh-CN" dirty="0"/>
          </a:p>
        </p:txBody>
      </p:sp>
      <p:sp>
        <p:nvSpPr>
          <p:cNvPr id="3" name="文本框 2"/>
          <p:cNvSpPr txBox="1"/>
          <p:nvPr/>
        </p:nvSpPr>
        <p:spPr>
          <a:xfrm>
            <a:off x="7093819" y="3285164"/>
            <a:ext cx="3811604" cy="369332"/>
          </a:xfrm>
          <a:prstGeom prst="rect">
            <a:avLst/>
          </a:prstGeom>
          <a:noFill/>
        </p:spPr>
        <p:txBody>
          <a:bodyPr wrap="square" rtlCol="0">
            <a:spAutoFit/>
          </a:bodyPr>
          <a:lstStyle/>
          <a:p>
            <a:r>
              <a:rPr lang="zh-CN" altLang="en-US" dirty="0" smtClean="0"/>
              <a:t>批郤导窾</a:t>
            </a:r>
            <a:r>
              <a:rPr lang="en-US" altLang="zh-CN" dirty="0"/>
              <a:t> </a:t>
            </a:r>
            <a:r>
              <a:rPr lang="zh-CN" altLang="en-US" dirty="0" smtClean="0"/>
              <a:t>切中</a:t>
            </a:r>
            <a:r>
              <a:rPr lang="zh-CN" altLang="en-US" dirty="0"/>
              <a:t>肯綮</a:t>
            </a:r>
          </a:p>
        </p:txBody>
      </p:sp>
      <p:sp>
        <p:nvSpPr>
          <p:cNvPr id="10" name="文本框 9"/>
          <p:cNvSpPr txBox="1"/>
          <p:nvPr/>
        </p:nvSpPr>
        <p:spPr>
          <a:xfrm>
            <a:off x="7093819" y="4689675"/>
            <a:ext cx="3811604" cy="369332"/>
          </a:xfrm>
          <a:prstGeom prst="rect">
            <a:avLst/>
          </a:prstGeom>
          <a:noFill/>
        </p:spPr>
        <p:txBody>
          <a:bodyPr wrap="square" rtlCol="0">
            <a:spAutoFit/>
          </a:bodyPr>
          <a:lstStyle/>
          <a:p>
            <a:r>
              <a:rPr lang="zh-CN" altLang="en-US" dirty="0" smtClean="0"/>
              <a:t>游刃有余 踌躇满志</a:t>
            </a:r>
            <a:endParaRPr lang="zh-CN" altLang="en-US" dirty="0"/>
          </a:p>
        </p:txBody>
      </p:sp>
      <p:sp>
        <p:nvSpPr>
          <p:cNvPr id="12" name="矩形 11"/>
          <p:cNvSpPr/>
          <p:nvPr/>
        </p:nvSpPr>
        <p:spPr>
          <a:xfrm>
            <a:off x="0" y="2887749"/>
            <a:ext cx="12192000" cy="1743631"/>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497518" y="3344065"/>
            <a:ext cx="8875207" cy="830997"/>
          </a:xfrm>
          <a:prstGeom prst="rect">
            <a:avLst/>
          </a:prstGeom>
          <a:noFill/>
        </p:spPr>
        <p:txBody>
          <a:bodyPr wrap="square" rtlCol="0">
            <a:spAutoFit/>
          </a:bodyPr>
          <a:lstStyle/>
          <a:p>
            <a:r>
              <a:rPr lang="zh-CN" altLang="en-US" sz="2400" dirty="0" smtClean="0">
                <a:solidFill>
                  <a:schemeClr val="bg1"/>
                </a:solidFill>
              </a:rPr>
              <a:t>将一个整体的大问题分解成许多具有“确定性（</a:t>
            </a:r>
            <a:r>
              <a:rPr lang="en-US" altLang="zh-CN" sz="2400" dirty="0" smtClean="0">
                <a:solidFill>
                  <a:schemeClr val="bg1"/>
                </a:solidFill>
              </a:rPr>
              <a:t>well defined</a:t>
            </a:r>
            <a:r>
              <a:rPr lang="zh-CN" altLang="en-US" sz="2400" dirty="0" smtClean="0">
                <a:solidFill>
                  <a:schemeClr val="bg1"/>
                </a:solidFill>
              </a:rPr>
              <a:t>）”的问题，这些问题就都变成</a:t>
            </a:r>
            <a:r>
              <a:rPr lang="en-US" altLang="zh-CN" sz="2400" dirty="0" smtClean="0">
                <a:solidFill>
                  <a:schemeClr val="bg1"/>
                </a:solidFill>
              </a:rPr>
              <a:t>AI</a:t>
            </a:r>
            <a:r>
              <a:rPr lang="zh-CN" altLang="en-US" sz="2400" dirty="0" smtClean="0">
                <a:solidFill>
                  <a:schemeClr val="bg1"/>
                </a:solidFill>
              </a:rPr>
              <a:t>算法可以解决的了</a:t>
            </a:r>
            <a:endParaRPr lang="zh-CN" altLang="en-US" sz="2400" dirty="0">
              <a:solidFill>
                <a:schemeClr val="bg1"/>
              </a:solidFill>
            </a:endParaRPr>
          </a:p>
        </p:txBody>
      </p:sp>
      <p:sp>
        <p:nvSpPr>
          <p:cNvPr id="13" name="文本框 12"/>
          <p:cNvSpPr txBox="1"/>
          <p:nvPr/>
        </p:nvSpPr>
        <p:spPr>
          <a:xfrm>
            <a:off x="624114" y="10310"/>
            <a:ext cx="5757636"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r>
              <a:rPr lang="en-US" altLang="zh-CN" sz="3200" b="1" dirty="0" smtClean="0">
                <a:latin typeface="微软雅黑" panose="020B0503020204020204" pitchFamily="34" charset="-122"/>
                <a:ea typeface="微软雅黑" panose="020B0503020204020204" pitchFamily="34" charset="-122"/>
              </a:rPr>
              <a:t>--- </a:t>
            </a:r>
            <a:r>
              <a:rPr lang="zh-CN" altLang="en-US" sz="3200" b="1" dirty="0">
                <a:latin typeface="微软雅黑" panose="020B0503020204020204" pitchFamily="34" charset="-122"/>
                <a:ea typeface="微软雅黑" panose="020B0503020204020204" pitchFamily="34" charset="-122"/>
              </a:rPr>
              <a:t>故障管理</a:t>
            </a:r>
            <a:endParaRPr lang="zh-CN" altLang="en-US" sz="32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19826880"/>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barn(inVertical)">
                                      <p:cBhvr>
                                        <p:cTn id="7" dur="500"/>
                                        <p:tgtEl>
                                          <p:spTgt spid="307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00" fill="hold"/>
                                        <p:tgtEl>
                                          <p:spTgt spid="7"/>
                                        </p:tgtEl>
                                        <p:attrNameLst>
                                          <p:attrName>ppt_x</p:attrName>
                                        </p:attrNameLst>
                                      </p:cBhvr>
                                      <p:tavLst>
                                        <p:tav tm="0">
                                          <p:val>
                                            <p:strVal val="#ppt_x"/>
                                          </p:val>
                                        </p:tav>
                                        <p:tav tm="100000">
                                          <p:val>
                                            <p:strVal val="#ppt_x"/>
                                          </p:val>
                                        </p:tav>
                                      </p:tavLst>
                                    </p:anim>
                                    <p:anim calcmode="lin" valueType="num">
                                      <p:cBhvr additive="base">
                                        <p:cTn id="25" dur="500" fill="hold"/>
                                        <p:tgtEl>
                                          <p:spTgt spid="7"/>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 calcmode="lin" valueType="num">
                                      <p:cBhvr additive="base">
                                        <p:cTn id="28" dur="500" fill="hold"/>
                                        <p:tgtEl>
                                          <p:spTgt spid="12"/>
                                        </p:tgtEl>
                                        <p:attrNameLst>
                                          <p:attrName>ppt_x</p:attrName>
                                        </p:attrNameLst>
                                      </p:cBhvr>
                                      <p:tavLst>
                                        <p:tav tm="0">
                                          <p:val>
                                            <p:strVal val="#ppt_x"/>
                                          </p:val>
                                        </p:tav>
                                        <p:tav tm="100000">
                                          <p:val>
                                            <p:strVal val="#ppt_x"/>
                                          </p:val>
                                        </p:tav>
                                      </p:tavLst>
                                    </p:anim>
                                    <p:anim calcmode="lin" valueType="num">
                                      <p:cBhvr additive="base">
                                        <p:cTn id="29"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0" grpId="0"/>
      <p:bldP spid="12" grpId="0" animBg="1"/>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根因分析</a:t>
            </a:r>
            <a:r>
              <a:rPr lang="en-US" altLang="zh-CN" dirty="0" smtClean="0">
                <a:solidFill>
                  <a:srgbClr val="333F50"/>
                </a:solidFill>
              </a:rPr>
              <a:t>– </a:t>
            </a:r>
            <a:r>
              <a:rPr lang="zh-CN" altLang="en-US" dirty="0" smtClean="0">
                <a:solidFill>
                  <a:srgbClr val="333F50"/>
                </a:solidFill>
              </a:rPr>
              <a:t>庖丁解牛</a:t>
            </a:r>
            <a:endParaRPr lang="zh-CN" altLang="en-US" dirty="0">
              <a:solidFill>
                <a:srgbClr val="333F50"/>
              </a:solidFill>
            </a:endParaRPr>
          </a:p>
        </p:txBody>
      </p:sp>
      <p:graphicFrame>
        <p:nvGraphicFramePr>
          <p:cNvPr id="2" name="图示 1"/>
          <p:cNvGraphicFramePr/>
          <p:nvPr>
            <p:extLst>
              <p:ext uri="{D42A27DB-BD31-4B8C-83A1-F6EECF244321}">
                <p14:modId xmlns:p14="http://schemas.microsoft.com/office/powerpoint/2010/main" val="1341806470"/>
              </p:ext>
            </p:extLst>
          </p:nvPr>
        </p:nvGraphicFramePr>
        <p:xfrm>
          <a:off x="2174874" y="1286026"/>
          <a:ext cx="8131175" cy="45952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文本框 7"/>
          <p:cNvSpPr txBox="1"/>
          <p:nvPr/>
        </p:nvSpPr>
        <p:spPr>
          <a:xfrm>
            <a:off x="624114" y="10310"/>
            <a:ext cx="5757636"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r>
              <a:rPr lang="en-US" altLang="zh-CN" sz="3200" b="1" dirty="0" smtClean="0">
                <a:latin typeface="微软雅黑" panose="020B0503020204020204" pitchFamily="34" charset="-122"/>
                <a:ea typeface="微软雅黑" panose="020B0503020204020204" pitchFamily="34" charset="-122"/>
              </a:rPr>
              <a:t>--- </a:t>
            </a:r>
            <a:r>
              <a:rPr lang="zh-CN" altLang="en-US" sz="3200" b="1" dirty="0">
                <a:latin typeface="微软雅黑" panose="020B0503020204020204" pitchFamily="34" charset="-122"/>
                <a:ea typeface="微软雅黑" panose="020B0503020204020204" pitchFamily="34" charset="-122"/>
              </a:rPr>
              <a:t>故障管理</a:t>
            </a:r>
            <a:endParaRPr lang="zh-CN" altLang="en-US" sz="32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60687073"/>
      </p:ext>
    </p:extLst>
  </p:cSld>
  <p:clrMapOvr>
    <a:masterClrMapping/>
  </p:clrMapOvr>
  <p:transition spd="med">
    <p:pull/>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p:cNvSpPr txBox="1"/>
          <p:nvPr/>
        </p:nvSpPr>
        <p:spPr>
          <a:xfrm>
            <a:off x="721810" y="943949"/>
            <a:ext cx="5469440"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根</a:t>
            </a:r>
            <a:r>
              <a:rPr lang="zh-CN" altLang="en-US" dirty="0" smtClean="0">
                <a:solidFill>
                  <a:srgbClr val="333F50"/>
                </a:solidFill>
              </a:rPr>
              <a:t>因分析</a:t>
            </a:r>
            <a:r>
              <a:rPr lang="en-US" altLang="zh-CN" dirty="0" smtClean="0">
                <a:solidFill>
                  <a:srgbClr val="333F50"/>
                </a:solidFill>
                <a:sym typeface="Wingdings" panose="05000000000000000000" pitchFamily="2" charset="2"/>
              </a:rPr>
              <a:t></a:t>
            </a:r>
            <a:r>
              <a:rPr lang="zh-CN" altLang="en-US" dirty="0" smtClean="0">
                <a:solidFill>
                  <a:srgbClr val="333F50"/>
                </a:solidFill>
                <a:sym typeface="Wingdings" panose="05000000000000000000" pitchFamily="2" charset="2"/>
              </a:rPr>
              <a:t>故障传播树构建</a:t>
            </a:r>
            <a:endParaRPr lang="zh-CN" altLang="en-US" dirty="0">
              <a:solidFill>
                <a:srgbClr val="333F50"/>
              </a:solidFill>
            </a:endParaRPr>
          </a:p>
        </p:txBody>
      </p:sp>
      <p:pic>
        <p:nvPicPr>
          <p:cNvPr id="18" name="图片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64735" y="1564212"/>
            <a:ext cx="8965115" cy="4412953"/>
          </a:xfrm>
          <a:prstGeom prst="rect">
            <a:avLst/>
          </a:prstGeom>
        </p:spPr>
      </p:pic>
      <p:sp>
        <p:nvSpPr>
          <p:cNvPr id="8" name="文本框 7"/>
          <p:cNvSpPr txBox="1"/>
          <p:nvPr/>
        </p:nvSpPr>
        <p:spPr>
          <a:xfrm>
            <a:off x="624114" y="10310"/>
            <a:ext cx="5757636"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r>
              <a:rPr lang="en-US" altLang="zh-CN" sz="3200" b="1" dirty="0" smtClean="0">
                <a:latin typeface="微软雅黑" panose="020B0503020204020204" pitchFamily="34" charset="-122"/>
                <a:ea typeface="微软雅黑" panose="020B0503020204020204" pitchFamily="34" charset="-122"/>
              </a:rPr>
              <a:t>--- </a:t>
            </a:r>
            <a:r>
              <a:rPr lang="zh-CN" altLang="en-US" sz="3200" b="1" dirty="0">
                <a:latin typeface="微软雅黑" panose="020B0503020204020204" pitchFamily="34" charset="-122"/>
                <a:ea typeface="微软雅黑" panose="020B0503020204020204" pitchFamily="34" charset="-122"/>
              </a:rPr>
              <a:t>故障管理</a:t>
            </a:r>
            <a:endParaRPr lang="zh-CN" altLang="en-US" sz="32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38263002"/>
      </p:ext>
    </p:extLst>
  </p:cSld>
  <p:clrMapOvr>
    <a:masterClrMapping/>
  </p:clrMapOvr>
  <p:transition spd="med">
    <p:pull/>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6288590"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根</a:t>
            </a:r>
            <a:r>
              <a:rPr lang="zh-CN" altLang="en-US" dirty="0" smtClean="0">
                <a:solidFill>
                  <a:srgbClr val="333F50"/>
                </a:solidFill>
              </a:rPr>
              <a:t>因分析</a:t>
            </a:r>
            <a:r>
              <a:rPr lang="en-US" altLang="zh-CN" dirty="0" smtClean="0">
                <a:solidFill>
                  <a:srgbClr val="333F50"/>
                </a:solidFill>
                <a:sym typeface="Wingdings" panose="05000000000000000000" pitchFamily="2" charset="2"/>
              </a:rPr>
              <a:t></a:t>
            </a:r>
            <a:r>
              <a:rPr lang="zh-CN" altLang="en-US" dirty="0" smtClean="0">
                <a:solidFill>
                  <a:srgbClr val="333F50"/>
                </a:solidFill>
                <a:sym typeface="Wingdings" panose="05000000000000000000" pitchFamily="2" charset="2"/>
              </a:rPr>
              <a:t>故障传播树构建</a:t>
            </a:r>
            <a:r>
              <a:rPr lang="en-US" altLang="zh-CN" dirty="0" smtClean="0">
                <a:solidFill>
                  <a:srgbClr val="333F50"/>
                </a:solidFill>
                <a:sym typeface="Wingdings" panose="05000000000000000000" pitchFamily="2" charset="2"/>
              </a:rPr>
              <a:t></a:t>
            </a:r>
            <a:r>
              <a:rPr lang="zh-CN" altLang="en-US" dirty="0" smtClean="0">
                <a:solidFill>
                  <a:srgbClr val="333F50"/>
                </a:solidFill>
                <a:sym typeface="Wingdings" panose="05000000000000000000" pitchFamily="2" charset="2"/>
              </a:rPr>
              <a:t>异常事件关联挖掘</a:t>
            </a:r>
            <a:endParaRPr lang="zh-CN" altLang="en-US" dirty="0">
              <a:solidFill>
                <a:srgbClr val="333F50"/>
              </a:solidFill>
            </a:endParaRPr>
          </a:p>
        </p:txBody>
      </p:sp>
      <p:sp>
        <p:nvSpPr>
          <p:cNvPr id="13" name="矩形 12"/>
          <p:cNvSpPr/>
          <p:nvPr/>
        </p:nvSpPr>
        <p:spPr>
          <a:xfrm>
            <a:off x="1033823" y="3514483"/>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a:t>输入</a:t>
            </a:r>
            <a:endParaRPr lang="en-US" altLang="zh-CN" dirty="0"/>
          </a:p>
        </p:txBody>
      </p:sp>
      <p:sp>
        <p:nvSpPr>
          <p:cNvPr id="14" name="矩形 13"/>
          <p:cNvSpPr/>
          <p:nvPr/>
        </p:nvSpPr>
        <p:spPr>
          <a:xfrm>
            <a:off x="1033823" y="5111781"/>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输出</a:t>
            </a:r>
            <a:endParaRPr lang="en-US" altLang="zh-CN" dirty="0"/>
          </a:p>
        </p:txBody>
      </p:sp>
      <p:sp>
        <p:nvSpPr>
          <p:cNvPr id="15" name="文本框 14"/>
          <p:cNvSpPr txBox="1"/>
          <p:nvPr/>
        </p:nvSpPr>
        <p:spPr>
          <a:xfrm>
            <a:off x="721810" y="4149277"/>
            <a:ext cx="4010025" cy="480901"/>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smtClean="0"/>
              <a:t>近</a:t>
            </a:r>
            <a:r>
              <a:rPr lang="zh-CN" altLang="en-US" dirty="0"/>
              <a:t>段时间发生的异常事件 </a:t>
            </a:r>
            <a:endParaRPr lang="en-US" altLang="zh-CN" dirty="0" smtClean="0"/>
          </a:p>
        </p:txBody>
      </p:sp>
      <p:sp>
        <p:nvSpPr>
          <p:cNvPr id="16" name="文本框 15"/>
          <p:cNvSpPr txBox="1"/>
          <p:nvPr/>
        </p:nvSpPr>
        <p:spPr>
          <a:xfrm>
            <a:off x="721810" y="5693164"/>
            <a:ext cx="4010025" cy="463588"/>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smtClean="0"/>
              <a:t>异常事件的关联规则</a:t>
            </a:r>
            <a:endParaRPr lang="en-US" altLang="zh-CN" dirty="0" smtClean="0"/>
          </a:p>
        </p:txBody>
      </p:sp>
      <p:sp>
        <p:nvSpPr>
          <p:cNvPr id="17" name="矩形 16"/>
          <p:cNvSpPr/>
          <p:nvPr/>
        </p:nvSpPr>
        <p:spPr>
          <a:xfrm>
            <a:off x="1033823" y="1675384"/>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问题描述</a:t>
            </a:r>
            <a:endParaRPr lang="en-US" altLang="zh-CN" dirty="0"/>
          </a:p>
        </p:txBody>
      </p:sp>
      <p:sp>
        <p:nvSpPr>
          <p:cNvPr id="3" name="文本框 2"/>
          <p:cNvSpPr txBox="1"/>
          <p:nvPr/>
        </p:nvSpPr>
        <p:spPr>
          <a:xfrm>
            <a:off x="721810" y="2473358"/>
            <a:ext cx="3698012" cy="92333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a:t>分析异常事件两两之间的关联关系 </a:t>
            </a:r>
          </a:p>
        </p:txBody>
      </p:sp>
      <p:pic>
        <p:nvPicPr>
          <p:cNvPr id="18" name="图片 17"/>
          <p:cNvPicPr>
            <a:picLocks noChangeAspect="1"/>
          </p:cNvPicPr>
          <p:nvPr/>
        </p:nvPicPr>
        <p:blipFill>
          <a:blip r:embed="rId3"/>
          <a:stretch>
            <a:fillRect/>
          </a:stretch>
        </p:blipFill>
        <p:spPr>
          <a:xfrm>
            <a:off x="5953125" y="1143205"/>
            <a:ext cx="5214938" cy="5206144"/>
          </a:xfrm>
          <a:prstGeom prst="rect">
            <a:avLst/>
          </a:prstGeom>
        </p:spPr>
      </p:pic>
      <p:sp>
        <p:nvSpPr>
          <p:cNvPr id="20" name="矩形 19"/>
          <p:cNvSpPr/>
          <p:nvPr/>
        </p:nvSpPr>
        <p:spPr>
          <a:xfrm>
            <a:off x="-1" y="2652184"/>
            <a:ext cx="12192000" cy="1743631"/>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2414814" y="3220158"/>
            <a:ext cx="8875207" cy="461665"/>
          </a:xfrm>
          <a:prstGeom prst="rect">
            <a:avLst/>
          </a:prstGeom>
          <a:noFill/>
        </p:spPr>
        <p:txBody>
          <a:bodyPr wrap="square" rtlCol="0">
            <a:spAutoFit/>
          </a:bodyPr>
          <a:lstStyle/>
          <a:p>
            <a:r>
              <a:rPr lang="zh-CN" altLang="en-US" sz="2400" dirty="0" smtClean="0">
                <a:solidFill>
                  <a:schemeClr val="bg1"/>
                </a:solidFill>
              </a:rPr>
              <a:t>解决算法：</a:t>
            </a:r>
            <a:r>
              <a:rPr lang="en-US" altLang="zh-CN" sz="2400" dirty="0" smtClean="0">
                <a:solidFill>
                  <a:schemeClr val="bg1"/>
                </a:solidFill>
              </a:rPr>
              <a:t>FP-Growth</a:t>
            </a:r>
            <a:r>
              <a:rPr lang="zh-CN" altLang="en-US" sz="2400" dirty="0" smtClean="0">
                <a:solidFill>
                  <a:schemeClr val="bg1"/>
                </a:solidFill>
              </a:rPr>
              <a:t>、</a:t>
            </a:r>
            <a:r>
              <a:rPr lang="en-US" altLang="zh-CN" sz="2400" dirty="0" err="1" smtClean="0">
                <a:solidFill>
                  <a:schemeClr val="bg1"/>
                </a:solidFill>
              </a:rPr>
              <a:t>Apriori</a:t>
            </a:r>
            <a:r>
              <a:rPr lang="zh-CN" altLang="en-US" sz="2400" dirty="0" smtClean="0">
                <a:solidFill>
                  <a:schemeClr val="bg1"/>
                </a:solidFill>
              </a:rPr>
              <a:t>、随机森林</a:t>
            </a:r>
            <a:endParaRPr lang="zh-CN" altLang="en-US" sz="2400" dirty="0">
              <a:solidFill>
                <a:schemeClr val="bg1"/>
              </a:solidFill>
            </a:endParaRPr>
          </a:p>
        </p:txBody>
      </p:sp>
      <p:sp>
        <p:nvSpPr>
          <p:cNvPr id="19" name="文本框 18"/>
          <p:cNvSpPr txBox="1"/>
          <p:nvPr/>
        </p:nvSpPr>
        <p:spPr>
          <a:xfrm>
            <a:off x="624114" y="10310"/>
            <a:ext cx="5757636"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r>
              <a:rPr lang="en-US" altLang="zh-CN" sz="3200" b="1" dirty="0" smtClean="0">
                <a:latin typeface="微软雅黑" panose="020B0503020204020204" pitchFamily="34" charset="-122"/>
                <a:ea typeface="微软雅黑" panose="020B0503020204020204" pitchFamily="34" charset="-122"/>
              </a:rPr>
              <a:t>--- </a:t>
            </a:r>
            <a:r>
              <a:rPr lang="zh-CN" altLang="en-US" sz="3200" b="1" dirty="0">
                <a:latin typeface="微软雅黑" panose="020B0503020204020204" pitchFamily="34" charset="-122"/>
                <a:ea typeface="微软雅黑" panose="020B0503020204020204" pitchFamily="34" charset="-122"/>
              </a:rPr>
              <a:t>故障管理</a:t>
            </a:r>
            <a:endParaRPr lang="zh-CN" altLang="en-US" sz="32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08776506"/>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down)">
                                      <p:cBhvr>
                                        <p:cTn id="10" dur="500"/>
                                        <p:tgtEl>
                                          <p:spTgt spid="15"/>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wipe(down)">
                                      <p:cBhvr>
                                        <p:cTn id="13" dur="500"/>
                                        <p:tgtEl>
                                          <p:spTgt spid="17"/>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down)">
                                      <p:cBhvr>
                                        <p:cTn id="16" dur="500"/>
                                        <p:tgtEl>
                                          <p:spTgt spid="3"/>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down)">
                                      <p:cBhvr>
                                        <p:cTn id="19" dur="500"/>
                                        <p:tgtEl>
                                          <p:spTgt spid="14"/>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down)">
                                      <p:cBhvr>
                                        <p:cTn id="22" dur="500"/>
                                        <p:tgtEl>
                                          <p:spTgt spid="16"/>
                                        </p:tgtEl>
                                      </p:cBhvr>
                                    </p:animEffect>
                                  </p:childTnLst>
                                </p:cTn>
                              </p:par>
                              <p:par>
                                <p:cTn id="23" presetID="22" presetClass="entr" presetSubtype="4"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wipe(down)">
                                      <p:cBhvr>
                                        <p:cTn id="25" dur="5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0"/>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p:bldP spid="16" grpId="0"/>
      <p:bldP spid="17" grpId="0" animBg="1"/>
      <p:bldP spid="3" grpId="0"/>
      <p:bldP spid="20" grpId="0" animBg="1"/>
      <p:bldP spid="2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5603595" y="1515545"/>
            <a:ext cx="6197879" cy="4094363"/>
          </a:xfrm>
          <a:prstGeom prst="rect">
            <a:avLst/>
          </a:prstGeom>
        </p:spPr>
      </p:pic>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6117140"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根</a:t>
            </a:r>
            <a:r>
              <a:rPr lang="zh-CN" altLang="en-US" dirty="0" smtClean="0">
                <a:solidFill>
                  <a:srgbClr val="333F50"/>
                </a:solidFill>
              </a:rPr>
              <a:t>因分析</a:t>
            </a:r>
            <a:r>
              <a:rPr lang="en-US" altLang="zh-CN" dirty="0" smtClean="0">
                <a:solidFill>
                  <a:srgbClr val="333F50"/>
                </a:solidFill>
                <a:sym typeface="Wingdings" panose="05000000000000000000" pitchFamily="2" charset="2"/>
              </a:rPr>
              <a:t></a:t>
            </a:r>
            <a:r>
              <a:rPr lang="zh-CN" altLang="en-US" dirty="0" smtClean="0">
                <a:solidFill>
                  <a:srgbClr val="333F50"/>
                </a:solidFill>
                <a:sym typeface="Wingdings" panose="05000000000000000000" pitchFamily="2" charset="2"/>
              </a:rPr>
              <a:t>故障传播树构建</a:t>
            </a:r>
            <a:r>
              <a:rPr lang="en-US" altLang="zh-CN" dirty="0" smtClean="0">
                <a:solidFill>
                  <a:srgbClr val="333F50"/>
                </a:solidFill>
                <a:sym typeface="Wingdings" panose="05000000000000000000" pitchFamily="2" charset="2"/>
              </a:rPr>
              <a:t></a:t>
            </a:r>
            <a:r>
              <a:rPr lang="zh-CN" altLang="en-US" dirty="0" smtClean="0">
                <a:solidFill>
                  <a:srgbClr val="333F50"/>
                </a:solidFill>
                <a:sym typeface="Wingdings" panose="05000000000000000000" pitchFamily="2" charset="2"/>
              </a:rPr>
              <a:t>事件</a:t>
            </a:r>
            <a:r>
              <a:rPr lang="en-US" altLang="zh-CN" dirty="0" smtClean="0">
                <a:solidFill>
                  <a:srgbClr val="333F50"/>
                </a:solidFill>
                <a:sym typeface="Wingdings" panose="05000000000000000000" pitchFamily="2" charset="2"/>
              </a:rPr>
              <a:t>-KPI</a:t>
            </a:r>
            <a:r>
              <a:rPr lang="zh-CN" altLang="en-US" dirty="0" smtClean="0">
                <a:solidFill>
                  <a:srgbClr val="333F50"/>
                </a:solidFill>
                <a:sym typeface="Wingdings" panose="05000000000000000000" pitchFamily="2" charset="2"/>
              </a:rPr>
              <a:t>关联挖掘</a:t>
            </a:r>
            <a:endParaRPr lang="zh-CN" altLang="en-US" dirty="0">
              <a:solidFill>
                <a:srgbClr val="333F50"/>
              </a:solidFill>
            </a:endParaRPr>
          </a:p>
        </p:txBody>
      </p:sp>
      <p:sp>
        <p:nvSpPr>
          <p:cNvPr id="13" name="矩形 12"/>
          <p:cNvSpPr/>
          <p:nvPr/>
        </p:nvSpPr>
        <p:spPr>
          <a:xfrm>
            <a:off x="1033823" y="3514483"/>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a:t>输入</a:t>
            </a:r>
            <a:endParaRPr lang="en-US" altLang="zh-CN" dirty="0"/>
          </a:p>
        </p:txBody>
      </p:sp>
      <p:sp>
        <p:nvSpPr>
          <p:cNvPr id="14" name="矩形 13"/>
          <p:cNvSpPr/>
          <p:nvPr/>
        </p:nvSpPr>
        <p:spPr>
          <a:xfrm>
            <a:off x="1033823" y="5111781"/>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输出</a:t>
            </a:r>
            <a:endParaRPr lang="en-US" altLang="zh-CN" dirty="0"/>
          </a:p>
        </p:txBody>
      </p:sp>
      <p:sp>
        <p:nvSpPr>
          <p:cNvPr id="15" name="文本框 14"/>
          <p:cNvSpPr txBox="1"/>
          <p:nvPr/>
        </p:nvSpPr>
        <p:spPr>
          <a:xfrm>
            <a:off x="721810" y="4149277"/>
            <a:ext cx="4010025" cy="480901"/>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smtClean="0"/>
              <a:t>一条</a:t>
            </a:r>
            <a:r>
              <a:rPr lang="en-US" altLang="zh-CN" dirty="0" smtClean="0"/>
              <a:t>KPI</a:t>
            </a:r>
            <a:r>
              <a:rPr lang="zh-CN" altLang="en-US" dirty="0" smtClean="0"/>
              <a:t>曲线，一条事件数据源</a:t>
            </a:r>
            <a:endParaRPr lang="en-US" altLang="zh-CN" dirty="0" smtClean="0"/>
          </a:p>
        </p:txBody>
      </p:sp>
      <p:sp>
        <p:nvSpPr>
          <p:cNvPr id="16" name="文本框 15"/>
          <p:cNvSpPr txBox="1"/>
          <p:nvPr/>
        </p:nvSpPr>
        <p:spPr>
          <a:xfrm>
            <a:off x="721810" y="5693164"/>
            <a:ext cx="4526465" cy="507831"/>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smtClean="0"/>
              <a:t>是否相关、先后顺序、变化方向关系</a:t>
            </a:r>
            <a:endParaRPr lang="en-US" altLang="zh-CN" dirty="0" smtClean="0"/>
          </a:p>
        </p:txBody>
      </p:sp>
      <p:sp>
        <p:nvSpPr>
          <p:cNvPr id="17" name="矩形 16"/>
          <p:cNvSpPr/>
          <p:nvPr/>
        </p:nvSpPr>
        <p:spPr>
          <a:xfrm>
            <a:off x="1033823" y="1675384"/>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问题描述</a:t>
            </a:r>
            <a:endParaRPr lang="en-US" altLang="zh-CN" dirty="0"/>
          </a:p>
        </p:txBody>
      </p:sp>
      <p:sp>
        <p:nvSpPr>
          <p:cNvPr id="3" name="文本框 2"/>
          <p:cNvSpPr txBox="1"/>
          <p:nvPr/>
        </p:nvSpPr>
        <p:spPr>
          <a:xfrm>
            <a:off x="721810" y="2473358"/>
            <a:ext cx="3698012" cy="92333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分析事件与</a:t>
            </a:r>
            <a:r>
              <a:rPr lang="en-US" altLang="zh-CN" dirty="0" smtClean="0"/>
              <a:t>KPI</a:t>
            </a:r>
            <a:r>
              <a:rPr lang="zh-CN" altLang="en-US" dirty="0" smtClean="0"/>
              <a:t>之间</a:t>
            </a:r>
            <a:r>
              <a:rPr lang="zh-CN" altLang="en-US" dirty="0"/>
              <a:t>的关联关系 </a:t>
            </a:r>
          </a:p>
        </p:txBody>
      </p:sp>
      <p:sp>
        <p:nvSpPr>
          <p:cNvPr id="20" name="矩形 19"/>
          <p:cNvSpPr/>
          <p:nvPr/>
        </p:nvSpPr>
        <p:spPr>
          <a:xfrm>
            <a:off x="0" y="2579174"/>
            <a:ext cx="12192000" cy="1743631"/>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2414814" y="3220158"/>
            <a:ext cx="8875207" cy="461665"/>
          </a:xfrm>
          <a:prstGeom prst="rect">
            <a:avLst/>
          </a:prstGeom>
          <a:noFill/>
        </p:spPr>
        <p:txBody>
          <a:bodyPr wrap="square" rtlCol="0">
            <a:spAutoFit/>
          </a:bodyPr>
          <a:lstStyle/>
          <a:p>
            <a:r>
              <a:rPr lang="zh-CN" altLang="en-US" sz="2400" dirty="0" smtClean="0">
                <a:solidFill>
                  <a:schemeClr val="bg1"/>
                </a:solidFill>
              </a:rPr>
              <a:t>解决算法：</a:t>
            </a:r>
            <a:r>
              <a:rPr lang="en-US" altLang="zh-CN" sz="2400" dirty="0">
                <a:solidFill>
                  <a:schemeClr val="bg1"/>
                </a:solidFill>
              </a:rPr>
              <a:t>Pearson </a:t>
            </a:r>
            <a:r>
              <a:rPr lang="en-US" altLang="zh-CN" sz="2400" dirty="0" smtClean="0">
                <a:solidFill>
                  <a:schemeClr val="bg1"/>
                </a:solidFill>
              </a:rPr>
              <a:t>Correlation</a:t>
            </a:r>
            <a:r>
              <a:rPr lang="zh-CN" altLang="en-US" sz="2400" dirty="0" smtClean="0">
                <a:solidFill>
                  <a:schemeClr val="bg1"/>
                </a:solidFill>
              </a:rPr>
              <a:t>、</a:t>
            </a:r>
            <a:r>
              <a:rPr lang="en-US" altLang="zh-CN" sz="2400" dirty="0" smtClean="0">
                <a:solidFill>
                  <a:schemeClr val="bg1"/>
                </a:solidFill>
              </a:rPr>
              <a:t>KNN</a:t>
            </a:r>
            <a:r>
              <a:rPr lang="zh-CN" altLang="en-US" sz="2400" dirty="0" smtClean="0">
                <a:solidFill>
                  <a:schemeClr val="bg1"/>
                </a:solidFill>
              </a:rPr>
              <a:t>、</a:t>
            </a:r>
            <a:r>
              <a:rPr lang="en-US" altLang="zh-CN" sz="2400" dirty="0" smtClean="0">
                <a:solidFill>
                  <a:schemeClr val="bg1"/>
                </a:solidFill>
              </a:rPr>
              <a:t>A/</a:t>
            </a:r>
            <a:r>
              <a:rPr lang="en-US" altLang="zh-CN" sz="2400" dirty="0" err="1" smtClean="0">
                <a:solidFill>
                  <a:schemeClr val="bg1"/>
                </a:solidFill>
              </a:rPr>
              <a:t>Btest</a:t>
            </a:r>
            <a:endParaRPr lang="zh-CN" altLang="en-US" sz="2400" dirty="0">
              <a:solidFill>
                <a:schemeClr val="bg1"/>
              </a:solidFill>
            </a:endParaRPr>
          </a:p>
        </p:txBody>
      </p:sp>
      <p:sp>
        <p:nvSpPr>
          <p:cNvPr id="18" name="文本框 17"/>
          <p:cNvSpPr txBox="1"/>
          <p:nvPr/>
        </p:nvSpPr>
        <p:spPr>
          <a:xfrm>
            <a:off x="624114" y="10310"/>
            <a:ext cx="5757636"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r>
              <a:rPr lang="en-US" altLang="zh-CN" sz="3200" b="1" dirty="0" smtClean="0">
                <a:latin typeface="微软雅黑" panose="020B0503020204020204" pitchFamily="34" charset="-122"/>
                <a:ea typeface="微软雅黑" panose="020B0503020204020204" pitchFamily="34" charset="-122"/>
              </a:rPr>
              <a:t>--- </a:t>
            </a:r>
            <a:r>
              <a:rPr lang="zh-CN" altLang="en-US" sz="3200" b="1" dirty="0">
                <a:latin typeface="微软雅黑" panose="020B0503020204020204" pitchFamily="34" charset="-122"/>
                <a:ea typeface="微软雅黑" panose="020B0503020204020204" pitchFamily="34" charset="-122"/>
              </a:rPr>
              <a:t>故障管理</a:t>
            </a:r>
            <a:endParaRPr lang="zh-CN" altLang="en-US" sz="32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5857286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down)">
                                      <p:cBhvr>
                                        <p:cTn id="12" dur="500"/>
                                        <p:tgtEl>
                                          <p:spTgt spid="13"/>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down)">
                                      <p:cBhvr>
                                        <p:cTn id="15" dur="500"/>
                                        <p:tgtEl>
                                          <p:spTgt spid="15"/>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wipe(down)">
                                      <p:cBhvr>
                                        <p:cTn id="18" dur="500"/>
                                        <p:tgtEl>
                                          <p:spTgt spid="17"/>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down)">
                                      <p:cBhvr>
                                        <p:cTn id="21" dur="500"/>
                                        <p:tgtEl>
                                          <p:spTgt spid="3"/>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down)">
                                      <p:cBhvr>
                                        <p:cTn id="24" dur="500"/>
                                        <p:tgtEl>
                                          <p:spTgt spid="14"/>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down)">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p:bldP spid="16" grpId="0"/>
      <p:bldP spid="17" grpId="0" animBg="1"/>
      <p:bldP spid="3" grpId="0"/>
      <p:bldP spid="20" grpId="0" animBg="1"/>
      <p:bldP spid="2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6000982" y="1675384"/>
            <a:ext cx="5400675" cy="3962400"/>
          </a:xfrm>
          <a:prstGeom prst="rect">
            <a:avLst/>
          </a:prstGeom>
        </p:spPr>
      </p:pic>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5231315"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根</a:t>
            </a:r>
            <a:r>
              <a:rPr lang="zh-CN" altLang="en-US" dirty="0" smtClean="0">
                <a:solidFill>
                  <a:srgbClr val="333F50"/>
                </a:solidFill>
              </a:rPr>
              <a:t>因分析</a:t>
            </a:r>
            <a:r>
              <a:rPr lang="en-US" altLang="zh-CN" dirty="0" smtClean="0">
                <a:solidFill>
                  <a:srgbClr val="333F50"/>
                </a:solidFill>
                <a:sym typeface="Wingdings" panose="05000000000000000000" pitchFamily="2" charset="2"/>
              </a:rPr>
              <a:t></a:t>
            </a:r>
            <a:r>
              <a:rPr lang="zh-CN" altLang="en-US" dirty="0" smtClean="0">
                <a:solidFill>
                  <a:srgbClr val="333F50"/>
                </a:solidFill>
                <a:sym typeface="Wingdings" panose="05000000000000000000" pitchFamily="2" charset="2"/>
              </a:rPr>
              <a:t>故障传播树构建</a:t>
            </a:r>
            <a:r>
              <a:rPr lang="en-US" altLang="zh-CN" dirty="0" smtClean="0">
                <a:solidFill>
                  <a:srgbClr val="333F50"/>
                </a:solidFill>
                <a:sym typeface="Wingdings" panose="05000000000000000000" pitchFamily="2" charset="2"/>
              </a:rPr>
              <a:t>KPI</a:t>
            </a:r>
            <a:r>
              <a:rPr lang="zh-CN" altLang="en-US" dirty="0" smtClean="0">
                <a:solidFill>
                  <a:srgbClr val="333F50"/>
                </a:solidFill>
                <a:sym typeface="Wingdings" panose="05000000000000000000" pitchFamily="2" charset="2"/>
              </a:rPr>
              <a:t>聚类</a:t>
            </a:r>
            <a:endParaRPr lang="zh-CN" altLang="en-US" dirty="0">
              <a:solidFill>
                <a:srgbClr val="333F50"/>
              </a:solidFill>
            </a:endParaRPr>
          </a:p>
        </p:txBody>
      </p:sp>
      <p:sp>
        <p:nvSpPr>
          <p:cNvPr id="13" name="矩形 12"/>
          <p:cNvSpPr/>
          <p:nvPr/>
        </p:nvSpPr>
        <p:spPr>
          <a:xfrm>
            <a:off x="1033823" y="3514483"/>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a:t>输入</a:t>
            </a:r>
            <a:endParaRPr lang="en-US" altLang="zh-CN" dirty="0"/>
          </a:p>
        </p:txBody>
      </p:sp>
      <p:sp>
        <p:nvSpPr>
          <p:cNvPr id="14" name="矩形 13"/>
          <p:cNvSpPr/>
          <p:nvPr/>
        </p:nvSpPr>
        <p:spPr>
          <a:xfrm>
            <a:off x="1033823" y="5111781"/>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输出</a:t>
            </a:r>
            <a:endParaRPr lang="en-US" altLang="zh-CN" dirty="0"/>
          </a:p>
        </p:txBody>
      </p:sp>
      <p:sp>
        <p:nvSpPr>
          <p:cNvPr id="15" name="文本框 14"/>
          <p:cNvSpPr txBox="1"/>
          <p:nvPr/>
        </p:nvSpPr>
        <p:spPr>
          <a:xfrm>
            <a:off x="721810" y="4149277"/>
            <a:ext cx="4010025" cy="463588"/>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a:t>大量</a:t>
            </a:r>
            <a:r>
              <a:rPr lang="en-US" altLang="zh-CN" dirty="0"/>
              <a:t>KPI</a:t>
            </a:r>
            <a:r>
              <a:rPr lang="zh-CN" altLang="en-US" dirty="0"/>
              <a:t>时序数据曲线 </a:t>
            </a:r>
            <a:endParaRPr lang="en-US" altLang="zh-CN" dirty="0" smtClean="0"/>
          </a:p>
        </p:txBody>
      </p:sp>
      <p:sp>
        <p:nvSpPr>
          <p:cNvPr id="16" name="文本框 15"/>
          <p:cNvSpPr txBox="1"/>
          <p:nvPr/>
        </p:nvSpPr>
        <p:spPr>
          <a:xfrm>
            <a:off x="721810" y="5693164"/>
            <a:ext cx="4010025" cy="463588"/>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a:t>每条曲线所属的类别</a:t>
            </a:r>
            <a:endParaRPr lang="en-US" altLang="zh-CN" dirty="0" smtClean="0"/>
          </a:p>
        </p:txBody>
      </p:sp>
      <p:sp>
        <p:nvSpPr>
          <p:cNvPr id="17" name="矩形 16"/>
          <p:cNvSpPr/>
          <p:nvPr/>
        </p:nvSpPr>
        <p:spPr>
          <a:xfrm>
            <a:off x="1033823" y="1675384"/>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问题描述</a:t>
            </a:r>
            <a:endParaRPr lang="en-US" altLang="zh-CN" dirty="0"/>
          </a:p>
        </p:txBody>
      </p:sp>
      <p:sp>
        <p:nvSpPr>
          <p:cNvPr id="3" name="文本框 2"/>
          <p:cNvSpPr txBox="1"/>
          <p:nvPr/>
        </p:nvSpPr>
        <p:spPr>
          <a:xfrm>
            <a:off x="624114" y="2304343"/>
            <a:ext cx="3698012" cy="102739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400" dirty="0"/>
              <a:t>面对大规模</a:t>
            </a:r>
            <a:r>
              <a:rPr lang="en-US" altLang="zh-CN" sz="1400" dirty="0"/>
              <a:t>KPI</a:t>
            </a:r>
            <a:r>
              <a:rPr lang="zh-CN" altLang="en-US" sz="1400" dirty="0"/>
              <a:t>时序数据曲线，选取合适</a:t>
            </a:r>
            <a:r>
              <a:rPr lang="zh-CN" altLang="en-US" sz="1400" dirty="0" smtClean="0"/>
              <a:t>的度量</a:t>
            </a:r>
            <a:r>
              <a:rPr lang="zh-CN" altLang="en-US" sz="1400" dirty="0"/>
              <a:t>刻画曲线间的相似性，采用聚类与</a:t>
            </a:r>
            <a:r>
              <a:rPr lang="zh-CN" altLang="en-US" sz="1400" dirty="0" smtClean="0"/>
              <a:t>分派算法</a:t>
            </a:r>
            <a:r>
              <a:rPr lang="zh-CN" altLang="en-US" sz="1400" dirty="0"/>
              <a:t>快速确定曲线类别。</a:t>
            </a:r>
          </a:p>
        </p:txBody>
      </p:sp>
      <p:sp>
        <p:nvSpPr>
          <p:cNvPr id="20" name="矩形 19"/>
          <p:cNvSpPr/>
          <p:nvPr/>
        </p:nvSpPr>
        <p:spPr>
          <a:xfrm>
            <a:off x="0" y="2579171"/>
            <a:ext cx="12192000" cy="1743631"/>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2414815" y="3207107"/>
            <a:ext cx="8875207" cy="461665"/>
          </a:xfrm>
          <a:prstGeom prst="rect">
            <a:avLst/>
          </a:prstGeom>
          <a:noFill/>
        </p:spPr>
        <p:txBody>
          <a:bodyPr wrap="square" rtlCol="0">
            <a:spAutoFit/>
          </a:bodyPr>
          <a:lstStyle/>
          <a:p>
            <a:r>
              <a:rPr lang="zh-CN" altLang="en-US" sz="2400" dirty="0" smtClean="0">
                <a:solidFill>
                  <a:schemeClr val="bg1"/>
                </a:solidFill>
              </a:rPr>
              <a:t>解决算法：</a:t>
            </a:r>
            <a:r>
              <a:rPr lang="en-US" altLang="zh-CN" sz="2400" dirty="0">
                <a:solidFill>
                  <a:schemeClr val="bg1"/>
                </a:solidFill>
              </a:rPr>
              <a:t>DBSCAN</a:t>
            </a:r>
            <a:r>
              <a:rPr lang="zh-CN" altLang="en-US" sz="2400" dirty="0" smtClean="0">
                <a:solidFill>
                  <a:schemeClr val="bg1"/>
                </a:solidFill>
              </a:rPr>
              <a:t>、</a:t>
            </a:r>
            <a:r>
              <a:rPr lang="en-US" altLang="zh-CN" sz="2400" dirty="0">
                <a:solidFill>
                  <a:schemeClr val="bg1"/>
                </a:solidFill>
              </a:rPr>
              <a:t>K-</a:t>
            </a:r>
            <a:r>
              <a:rPr lang="en-US" altLang="zh-CN" sz="2400" dirty="0" err="1">
                <a:solidFill>
                  <a:schemeClr val="bg1"/>
                </a:solidFill>
              </a:rPr>
              <a:t>medoids</a:t>
            </a:r>
            <a:r>
              <a:rPr lang="zh-CN" altLang="en-US" sz="2400" dirty="0" smtClean="0">
                <a:solidFill>
                  <a:schemeClr val="bg1"/>
                </a:solidFill>
              </a:rPr>
              <a:t>、</a:t>
            </a:r>
            <a:r>
              <a:rPr lang="en-US" altLang="zh-CN" sz="2400" dirty="0">
                <a:solidFill>
                  <a:schemeClr val="bg1"/>
                </a:solidFill>
              </a:rPr>
              <a:t>CLARANS</a:t>
            </a:r>
            <a:endParaRPr lang="zh-CN" altLang="en-US" sz="2400" dirty="0">
              <a:solidFill>
                <a:schemeClr val="bg1"/>
              </a:solidFill>
            </a:endParaRPr>
          </a:p>
        </p:txBody>
      </p:sp>
      <p:sp>
        <p:nvSpPr>
          <p:cNvPr id="18" name="文本框 17"/>
          <p:cNvSpPr txBox="1"/>
          <p:nvPr/>
        </p:nvSpPr>
        <p:spPr>
          <a:xfrm>
            <a:off x="624114" y="10310"/>
            <a:ext cx="5757636"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r>
              <a:rPr lang="en-US" altLang="zh-CN" sz="3200" b="1" dirty="0" smtClean="0">
                <a:latin typeface="微软雅黑" panose="020B0503020204020204" pitchFamily="34" charset="-122"/>
                <a:ea typeface="微软雅黑" panose="020B0503020204020204" pitchFamily="34" charset="-122"/>
              </a:rPr>
              <a:t>--- </a:t>
            </a:r>
            <a:r>
              <a:rPr lang="zh-CN" altLang="en-US" sz="3200" b="1" dirty="0">
                <a:latin typeface="微软雅黑" panose="020B0503020204020204" pitchFamily="34" charset="-122"/>
                <a:ea typeface="微软雅黑" panose="020B0503020204020204" pitchFamily="34" charset="-122"/>
              </a:rPr>
              <a:t>故障管理</a:t>
            </a:r>
            <a:endParaRPr lang="zh-CN" altLang="en-US" sz="32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57073813"/>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down)">
                                      <p:cBhvr>
                                        <p:cTn id="12" dur="500"/>
                                        <p:tgtEl>
                                          <p:spTgt spid="13"/>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down)">
                                      <p:cBhvr>
                                        <p:cTn id="15" dur="500"/>
                                        <p:tgtEl>
                                          <p:spTgt spid="15"/>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wipe(down)">
                                      <p:cBhvr>
                                        <p:cTn id="18" dur="500"/>
                                        <p:tgtEl>
                                          <p:spTgt spid="17"/>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down)">
                                      <p:cBhvr>
                                        <p:cTn id="21" dur="500"/>
                                        <p:tgtEl>
                                          <p:spTgt spid="3"/>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down)">
                                      <p:cBhvr>
                                        <p:cTn id="24" dur="500"/>
                                        <p:tgtEl>
                                          <p:spTgt spid="14"/>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down)">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p:bldP spid="16" grpId="0"/>
      <p:bldP spid="17" grpId="0" animBg="1"/>
      <p:bldP spid="3" grpId="0"/>
      <p:bldP spid="20" grpId="0" animBg="1"/>
      <p:bldP spid="2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5703117" y="1486310"/>
            <a:ext cx="5410200" cy="4391025"/>
          </a:xfrm>
          <a:prstGeom prst="rect">
            <a:avLst/>
          </a:prstGeom>
        </p:spPr>
      </p:pic>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5605422" cy="369332"/>
          </a:xfrm>
          <a:prstGeom prst="rect">
            <a:avLst/>
          </a:prstGeom>
          <a:noFill/>
        </p:spPr>
        <p:txBody>
          <a:bodyPr wrap="square" rtlCol="0">
            <a:spAutoFit/>
          </a:bodyPr>
          <a:lstStyle/>
          <a:p>
            <a:r>
              <a:rPr lang="zh-CN" altLang="en-US" dirty="0">
                <a:solidFill>
                  <a:srgbClr val="333F50"/>
                </a:solidFill>
              </a:rPr>
              <a:t>故障</a:t>
            </a:r>
            <a:r>
              <a:rPr lang="zh-CN" altLang="en-US" dirty="0" smtClean="0">
                <a:solidFill>
                  <a:srgbClr val="333F50"/>
                </a:solidFill>
              </a:rPr>
              <a:t>管理</a:t>
            </a:r>
            <a:r>
              <a:rPr lang="en-US" altLang="zh-CN" dirty="0" smtClean="0">
                <a:solidFill>
                  <a:srgbClr val="333F50"/>
                </a:solidFill>
                <a:sym typeface="Wingdings" panose="05000000000000000000" pitchFamily="2" charset="2"/>
              </a:rPr>
              <a:t></a:t>
            </a:r>
            <a:r>
              <a:rPr lang="zh-CN" altLang="en-US" dirty="0" smtClean="0">
                <a:solidFill>
                  <a:srgbClr val="333F50"/>
                </a:solidFill>
              </a:rPr>
              <a:t>根</a:t>
            </a:r>
            <a:r>
              <a:rPr lang="zh-CN" altLang="en-US" dirty="0" smtClean="0">
                <a:solidFill>
                  <a:srgbClr val="333F50"/>
                </a:solidFill>
              </a:rPr>
              <a:t>因分析</a:t>
            </a:r>
            <a:r>
              <a:rPr lang="en-US" altLang="zh-CN" dirty="0" smtClean="0">
                <a:solidFill>
                  <a:srgbClr val="333F50"/>
                </a:solidFill>
                <a:sym typeface="Wingdings" panose="05000000000000000000" pitchFamily="2" charset="2"/>
              </a:rPr>
              <a:t></a:t>
            </a:r>
            <a:r>
              <a:rPr lang="zh-CN" altLang="en-US" dirty="0" smtClean="0">
                <a:solidFill>
                  <a:srgbClr val="333F50"/>
                </a:solidFill>
                <a:sym typeface="Wingdings" panose="05000000000000000000" pitchFamily="2" charset="2"/>
              </a:rPr>
              <a:t>故障传播树构建</a:t>
            </a:r>
            <a:r>
              <a:rPr lang="en-US" altLang="zh-CN" dirty="0" smtClean="0">
                <a:solidFill>
                  <a:srgbClr val="333F50"/>
                </a:solidFill>
                <a:sym typeface="Wingdings" panose="05000000000000000000" pitchFamily="2" charset="2"/>
              </a:rPr>
              <a:t>KPI</a:t>
            </a:r>
            <a:r>
              <a:rPr lang="zh-CN" altLang="en-US" dirty="0" smtClean="0">
                <a:solidFill>
                  <a:srgbClr val="333F50"/>
                </a:solidFill>
                <a:sym typeface="Wingdings" panose="05000000000000000000" pitchFamily="2" charset="2"/>
              </a:rPr>
              <a:t>关联关系</a:t>
            </a:r>
            <a:endParaRPr lang="zh-CN" altLang="en-US" dirty="0">
              <a:solidFill>
                <a:srgbClr val="333F50"/>
              </a:solidFill>
            </a:endParaRPr>
          </a:p>
        </p:txBody>
      </p:sp>
      <p:sp>
        <p:nvSpPr>
          <p:cNvPr id="13" name="矩形 12"/>
          <p:cNvSpPr/>
          <p:nvPr/>
        </p:nvSpPr>
        <p:spPr>
          <a:xfrm>
            <a:off x="1033823" y="3514483"/>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a:t>输入</a:t>
            </a:r>
            <a:endParaRPr lang="en-US" altLang="zh-CN" dirty="0"/>
          </a:p>
        </p:txBody>
      </p:sp>
      <p:sp>
        <p:nvSpPr>
          <p:cNvPr id="14" name="矩形 13"/>
          <p:cNvSpPr/>
          <p:nvPr/>
        </p:nvSpPr>
        <p:spPr>
          <a:xfrm>
            <a:off x="1033823" y="5111781"/>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输出</a:t>
            </a:r>
            <a:endParaRPr lang="en-US" altLang="zh-CN" dirty="0"/>
          </a:p>
        </p:txBody>
      </p:sp>
      <p:sp>
        <p:nvSpPr>
          <p:cNvPr id="15" name="文本框 14"/>
          <p:cNvSpPr txBox="1"/>
          <p:nvPr/>
        </p:nvSpPr>
        <p:spPr>
          <a:xfrm>
            <a:off x="721810" y="4149277"/>
            <a:ext cx="4010025" cy="480901"/>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a:t>两条时序</a:t>
            </a:r>
            <a:r>
              <a:rPr lang="en-US" altLang="zh-CN" dirty="0"/>
              <a:t>KPI</a:t>
            </a:r>
            <a:r>
              <a:rPr lang="zh-CN" altLang="en-US" dirty="0"/>
              <a:t>数据</a:t>
            </a:r>
            <a:endParaRPr lang="en-US" altLang="zh-CN" dirty="0" smtClean="0"/>
          </a:p>
        </p:txBody>
      </p:sp>
      <p:sp>
        <p:nvSpPr>
          <p:cNvPr id="16" name="文本框 15"/>
          <p:cNvSpPr txBox="1"/>
          <p:nvPr/>
        </p:nvSpPr>
        <p:spPr>
          <a:xfrm>
            <a:off x="721810" y="5693164"/>
            <a:ext cx="4010025" cy="463588"/>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a:t>两条曲线波动是否相关</a:t>
            </a:r>
            <a:endParaRPr lang="en-US" altLang="zh-CN" dirty="0" smtClean="0"/>
          </a:p>
        </p:txBody>
      </p:sp>
      <p:sp>
        <p:nvSpPr>
          <p:cNvPr id="17" name="矩形 16"/>
          <p:cNvSpPr/>
          <p:nvPr/>
        </p:nvSpPr>
        <p:spPr>
          <a:xfrm>
            <a:off x="1033823" y="1675384"/>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问题描述</a:t>
            </a:r>
            <a:endParaRPr lang="en-US" altLang="zh-CN" dirty="0"/>
          </a:p>
        </p:txBody>
      </p:sp>
      <p:sp>
        <p:nvSpPr>
          <p:cNvPr id="3" name="文本框 2"/>
          <p:cNvSpPr txBox="1"/>
          <p:nvPr/>
        </p:nvSpPr>
        <p:spPr>
          <a:xfrm>
            <a:off x="624114" y="2205074"/>
            <a:ext cx="3698012" cy="133882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dirty="0" smtClean="0"/>
              <a:t>KPI</a:t>
            </a:r>
            <a:r>
              <a:rPr lang="zh-CN" altLang="en-US" dirty="0"/>
              <a:t>波动的相关性对于根因分析、</a:t>
            </a:r>
            <a:r>
              <a:rPr lang="zh-CN" altLang="en-US" dirty="0" smtClean="0"/>
              <a:t>故障定位</a:t>
            </a:r>
            <a:r>
              <a:rPr lang="zh-CN" altLang="en-US" dirty="0"/>
              <a:t>等可以提供很好的线索</a:t>
            </a:r>
          </a:p>
        </p:txBody>
      </p:sp>
      <p:sp>
        <p:nvSpPr>
          <p:cNvPr id="20" name="矩形 19"/>
          <p:cNvSpPr/>
          <p:nvPr/>
        </p:nvSpPr>
        <p:spPr>
          <a:xfrm>
            <a:off x="-1" y="2652184"/>
            <a:ext cx="12192000" cy="1743631"/>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2414814" y="3220158"/>
            <a:ext cx="8875207" cy="461665"/>
          </a:xfrm>
          <a:prstGeom prst="rect">
            <a:avLst/>
          </a:prstGeom>
          <a:noFill/>
        </p:spPr>
        <p:txBody>
          <a:bodyPr wrap="square" rtlCol="0">
            <a:spAutoFit/>
          </a:bodyPr>
          <a:lstStyle/>
          <a:p>
            <a:r>
              <a:rPr lang="zh-CN" altLang="en-US" sz="2400" dirty="0" smtClean="0">
                <a:solidFill>
                  <a:schemeClr val="bg1"/>
                </a:solidFill>
              </a:rPr>
              <a:t>解决算法：</a:t>
            </a:r>
            <a:r>
              <a:rPr lang="en-US" altLang="zh-CN" sz="2400" dirty="0" smtClean="0">
                <a:solidFill>
                  <a:schemeClr val="bg1"/>
                </a:solidFill>
              </a:rPr>
              <a:t>FP-Growth</a:t>
            </a:r>
            <a:r>
              <a:rPr lang="zh-CN" altLang="en-US" sz="2400" dirty="0" smtClean="0">
                <a:solidFill>
                  <a:schemeClr val="bg1"/>
                </a:solidFill>
              </a:rPr>
              <a:t>、</a:t>
            </a:r>
            <a:r>
              <a:rPr lang="en-US" altLang="zh-CN" sz="2400" dirty="0" err="1" smtClean="0">
                <a:solidFill>
                  <a:schemeClr val="bg1"/>
                </a:solidFill>
              </a:rPr>
              <a:t>Apriori</a:t>
            </a:r>
            <a:r>
              <a:rPr lang="zh-CN" altLang="en-US" sz="2400" dirty="0" smtClean="0">
                <a:solidFill>
                  <a:schemeClr val="bg1"/>
                </a:solidFill>
              </a:rPr>
              <a:t>、随机森林</a:t>
            </a:r>
            <a:endParaRPr lang="zh-CN" altLang="en-US" sz="2400" dirty="0">
              <a:solidFill>
                <a:schemeClr val="bg1"/>
              </a:solidFill>
            </a:endParaRPr>
          </a:p>
        </p:txBody>
      </p:sp>
      <p:sp>
        <p:nvSpPr>
          <p:cNvPr id="18" name="文本框 17"/>
          <p:cNvSpPr txBox="1"/>
          <p:nvPr/>
        </p:nvSpPr>
        <p:spPr>
          <a:xfrm>
            <a:off x="624114" y="10310"/>
            <a:ext cx="5757636"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r>
              <a:rPr lang="en-US" altLang="zh-CN" sz="3200" b="1" dirty="0" smtClean="0">
                <a:latin typeface="微软雅黑" panose="020B0503020204020204" pitchFamily="34" charset="-122"/>
                <a:ea typeface="微软雅黑" panose="020B0503020204020204" pitchFamily="34" charset="-122"/>
              </a:rPr>
              <a:t>--- </a:t>
            </a:r>
            <a:r>
              <a:rPr lang="zh-CN" altLang="en-US" sz="3200" b="1" dirty="0">
                <a:latin typeface="微软雅黑" panose="020B0503020204020204" pitchFamily="34" charset="-122"/>
                <a:ea typeface="微软雅黑" panose="020B0503020204020204" pitchFamily="34" charset="-122"/>
              </a:rPr>
              <a:t>故障管理</a:t>
            </a:r>
            <a:endParaRPr lang="zh-CN" altLang="en-US" sz="32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8517885"/>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down)">
                                      <p:cBhvr>
                                        <p:cTn id="12" dur="500"/>
                                        <p:tgtEl>
                                          <p:spTgt spid="13"/>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down)">
                                      <p:cBhvr>
                                        <p:cTn id="15" dur="500"/>
                                        <p:tgtEl>
                                          <p:spTgt spid="15"/>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wipe(down)">
                                      <p:cBhvr>
                                        <p:cTn id="18" dur="500"/>
                                        <p:tgtEl>
                                          <p:spTgt spid="17"/>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down)">
                                      <p:cBhvr>
                                        <p:cTn id="21" dur="500"/>
                                        <p:tgtEl>
                                          <p:spTgt spid="3"/>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down)">
                                      <p:cBhvr>
                                        <p:cTn id="24" dur="500"/>
                                        <p:tgtEl>
                                          <p:spTgt spid="14"/>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down)">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p:bldP spid="16" grpId="0"/>
      <p:bldP spid="17" grpId="0" animBg="1"/>
      <p:bldP spid="3" grpId="0"/>
      <p:bldP spid="20" grpId="0" animBg="1"/>
      <p:bldP spid="2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624114" y="10310"/>
            <a:ext cx="5757636"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r>
              <a:rPr lang="en-US" altLang="zh-CN" sz="3200" b="1" dirty="0" smtClean="0">
                <a:latin typeface="微软雅黑" panose="020B0503020204020204" pitchFamily="34" charset="-122"/>
                <a:ea typeface="微软雅黑" panose="020B0503020204020204" pitchFamily="34" charset="-122"/>
              </a:rPr>
              <a:t>--- </a:t>
            </a:r>
            <a:r>
              <a:rPr lang="zh-CN" altLang="en-US" sz="3200" b="1" dirty="0">
                <a:latin typeface="微软雅黑" panose="020B0503020204020204" pitchFamily="34" charset="-122"/>
                <a:ea typeface="微软雅黑" panose="020B0503020204020204" pitchFamily="34" charset="-122"/>
              </a:rPr>
              <a:t>故障管理</a:t>
            </a:r>
            <a:endParaRPr lang="zh-CN" altLang="en-US" sz="32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2433638" y="2571750"/>
            <a:ext cx="7405688" cy="2169825"/>
          </a:xfrm>
          <a:prstGeom prst="rect">
            <a:avLst/>
          </a:prstGeom>
          <a:noFill/>
        </p:spPr>
        <p:txBody>
          <a:bodyPr wrap="square" rtlCol="0">
            <a:spAutoFit/>
          </a:bodyPr>
          <a:lstStyle/>
          <a:p>
            <a:pPr indent="457200">
              <a:lnSpc>
                <a:spcPct val="150000"/>
              </a:lnSpc>
            </a:pPr>
            <a:r>
              <a:rPr lang="zh-CN" altLang="en-US" dirty="0" smtClean="0"/>
              <a:t>在对异常进行</a:t>
            </a:r>
            <a:r>
              <a:rPr lang="en-US" altLang="zh-CN" dirty="0" smtClean="0"/>
              <a:t>KPI</a:t>
            </a:r>
            <a:r>
              <a:rPr lang="zh-CN" altLang="en-US" dirty="0"/>
              <a:t>根</a:t>
            </a:r>
            <a:r>
              <a:rPr lang="zh-CN" altLang="en-US" dirty="0" smtClean="0"/>
              <a:t>因分析后，得到了导致这个异常的根因，然后</a:t>
            </a:r>
            <a:endParaRPr lang="en-US" altLang="zh-CN" dirty="0" smtClean="0"/>
          </a:p>
          <a:p>
            <a:pPr marL="285750" indent="-285750">
              <a:lnSpc>
                <a:spcPct val="150000"/>
              </a:lnSpc>
              <a:buFont typeface="Arial" panose="020B0604020202020204" pitchFamily="34" charset="0"/>
              <a:buChar char="•"/>
            </a:pPr>
            <a:r>
              <a:rPr lang="zh-CN" altLang="en-US" dirty="0" smtClean="0"/>
              <a:t>通过查找运维人员预设的经验库中的解决方案，如果存在相应的解决方案，那么可以通过完善的自动化脚本对故障进行止损处理；</a:t>
            </a:r>
            <a:endParaRPr lang="en-US" altLang="zh-CN" dirty="0" smtClean="0"/>
          </a:p>
          <a:p>
            <a:pPr marL="285750" indent="-285750">
              <a:lnSpc>
                <a:spcPct val="150000"/>
              </a:lnSpc>
              <a:buFont typeface="Arial" panose="020B0604020202020204" pitchFamily="34" charset="0"/>
              <a:buChar char="•"/>
            </a:pPr>
            <a:r>
              <a:rPr lang="zh-CN" altLang="en-US" dirty="0" smtClean="0"/>
              <a:t>对于相应解决方案不在经验库中的问题，可以通过多渠道的通知方式（短信、</a:t>
            </a:r>
            <a:r>
              <a:rPr lang="en-US" altLang="zh-CN" dirty="0" smtClean="0"/>
              <a:t>email</a:t>
            </a:r>
            <a:r>
              <a:rPr lang="zh-CN" altLang="en-US" dirty="0" smtClean="0"/>
              <a:t>等）对相关责任运维人员进行通知。</a:t>
            </a:r>
            <a:endParaRPr lang="zh-CN" altLang="en-US" dirty="0"/>
          </a:p>
        </p:txBody>
      </p:sp>
    </p:spTree>
    <p:extLst>
      <p:ext uri="{BB962C8B-B14F-4D97-AF65-F5344CB8AC3E}">
        <p14:creationId xmlns:p14="http://schemas.microsoft.com/office/powerpoint/2010/main" val="1259129687"/>
      </p:ext>
    </p:extLst>
  </p:cSld>
  <p:clrMapOvr>
    <a:masterClrMapping/>
  </p:clrMapOvr>
  <p:transition spd="med">
    <p:pull/>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img.blog.csdn.net/2017050916163530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1750" y="1991490"/>
            <a:ext cx="4978400" cy="3103419"/>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5231315" cy="369332"/>
          </a:xfrm>
          <a:prstGeom prst="rect">
            <a:avLst/>
          </a:prstGeom>
          <a:noFill/>
        </p:spPr>
        <p:txBody>
          <a:bodyPr wrap="square" rtlCol="0">
            <a:spAutoFit/>
          </a:bodyPr>
          <a:lstStyle/>
          <a:p>
            <a:r>
              <a:rPr lang="zh-CN" altLang="en-US" dirty="0" smtClean="0">
                <a:solidFill>
                  <a:srgbClr val="333F50"/>
                </a:solidFill>
              </a:rPr>
              <a:t>故障管理</a:t>
            </a:r>
            <a:r>
              <a:rPr lang="en-US" altLang="zh-CN" dirty="0" smtClean="0">
                <a:solidFill>
                  <a:srgbClr val="333F50"/>
                </a:solidFill>
                <a:sym typeface="Wingdings" panose="05000000000000000000" pitchFamily="2" charset="2"/>
              </a:rPr>
              <a:t></a:t>
            </a:r>
            <a:r>
              <a:rPr lang="zh-CN" altLang="en-US" dirty="0" smtClean="0">
                <a:solidFill>
                  <a:srgbClr val="333F50"/>
                </a:solidFill>
                <a:sym typeface="Wingdings" panose="05000000000000000000" pitchFamily="2" charset="2"/>
              </a:rPr>
              <a:t>故障预测</a:t>
            </a:r>
            <a:endParaRPr lang="zh-CN" altLang="en-US" dirty="0">
              <a:solidFill>
                <a:srgbClr val="333F50"/>
              </a:solidFill>
            </a:endParaRPr>
          </a:p>
        </p:txBody>
      </p:sp>
      <p:sp>
        <p:nvSpPr>
          <p:cNvPr id="13" name="矩形 12"/>
          <p:cNvSpPr/>
          <p:nvPr/>
        </p:nvSpPr>
        <p:spPr>
          <a:xfrm>
            <a:off x="1033823" y="3514483"/>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a:t>输入</a:t>
            </a:r>
            <a:endParaRPr lang="en-US" altLang="zh-CN" dirty="0"/>
          </a:p>
        </p:txBody>
      </p:sp>
      <p:sp>
        <p:nvSpPr>
          <p:cNvPr id="14" name="矩形 13"/>
          <p:cNvSpPr/>
          <p:nvPr/>
        </p:nvSpPr>
        <p:spPr>
          <a:xfrm>
            <a:off x="1033823" y="5111781"/>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输出</a:t>
            </a:r>
            <a:endParaRPr lang="en-US" altLang="zh-CN" dirty="0"/>
          </a:p>
        </p:txBody>
      </p:sp>
      <p:sp>
        <p:nvSpPr>
          <p:cNvPr id="15" name="文本框 14"/>
          <p:cNvSpPr txBox="1"/>
          <p:nvPr/>
        </p:nvSpPr>
        <p:spPr>
          <a:xfrm>
            <a:off x="721810" y="4149277"/>
            <a:ext cx="4010025" cy="480901"/>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smtClean="0"/>
              <a:t>一条时序数据</a:t>
            </a:r>
            <a:endParaRPr lang="en-US" altLang="zh-CN" dirty="0" smtClean="0"/>
          </a:p>
        </p:txBody>
      </p:sp>
      <p:sp>
        <p:nvSpPr>
          <p:cNvPr id="16" name="文本框 15"/>
          <p:cNvSpPr txBox="1"/>
          <p:nvPr/>
        </p:nvSpPr>
        <p:spPr>
          <a:xfrm>
            <a:off x="721810" y="5693164"/>
            <a:ext cx="4010025" cy="463588"/>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smtClean="0"/>
              <a:t>是否有出现异常的趋势</a:t>
            </a:r>
            <a:endParaRPr lang="en-US" altLang="zh-CN" dirty="0" smtClean="0"/>
          </a:p>
        </p:txBody>
      </p:sp>
      <p:sp>
        <p:nvSpPr>
          <p:cNvPr id="17" name="矩形 16"/>
          <p:cNvSpPr/>
          <p:nvPr/>
        </p:nvSpPr>
        <p:spPr>
          <a:xfrm>
            <a:off x="1033823" y="1675384"/>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问题描述</a:t>
            </a:r>
            <a:endParaRPr lang="en-US" altLang="zh-CN" dirty="0"/>
          </a:p>
        </p:txBody>
      </p:sp>
      <p:sp>
        <p:nvSpPr>
          <p:cNvPr id="3" name="文本框 2"/>
          <p:cNvSpPr txBox="1"/>
          <p:nvPr/>
        </p:nvSpPr>
        <p:spPr>
          <a:xfrm>
            <a:off x="624114" y="2205074"/>
            <a:ext cx="3698012" cy="133882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使用根因分析，异常检测的结果，对于未发生的问题进行预测，将问题处理在萌芽阶段。</a:t>
            </a:r>
            <a:endParaRPr lang="zh-CN" altLang="en-US" dirty="0"/>
          </a:p>
        </p:txBody>
      </p:sp>
      <p:sp>
        <p:nvSpPr>
          <p:cNvPr id="20" name="矩形 19"/>
          <p:cNvSpPr/>
          <p:nvPr/>
        </p:nvSpPr>
        <p:spPr>
          <a:xfrm>
            <a:off x="-1" y="2652184"/>
            <a:ext cx="12192000" cy="1743631"/>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2414814" y="3220158"/>
            <a:ext cx="8875207" cy="461665"/>
          </a:xfrm>
          <a:prstGeom prst="rect">
            <a:avLst/>
          </a:prstGeom>
          <a:noFill/>
        </p:spPr>
        <p:txBody>
          <a:bodyPr wrap="square" rtlCol="0">
            <a:spAutoFit/>
          </a:bodyPr>
          <a:lstStyle/>
          <a:p>
            <a:r>
              <a:rPr lang="zh-CN" altLang="en-US" sz="2400" dirty="0" smtClean="0">
                <a:solidFill>
                  <a:schemeClr val="bg1"/>
                </a:solidFill>
              </a:rPr>
              <a:t>解决算法</a:t>
            </a:r>
            <a:r>
              <a:rPr lang="zh-CN" altLang="en-US" sz="2400" dirty="0" smtClean="0">
                <a:solidFill>
                  <a:schemeClr val="bg1"/>
                </a:solidFill>
              </a:rPr>
              <a:t>：决策树、</a:t>
            </a:r>
            <a:r>
              <a:rPr lang="zh-CN" altLang="en-US" sz="2400" dirty="0" smtClean="0">
                <a:solidFill>
                  <a:schemeClr val="bg1"/>
                </a:solidFill>
              </a:rPr>
              <a:t>支持向量机</a:t>
            </a:r>
            <a:r>
              <a:rPr lang="zh-CN" altLang="en-US" sz="2400" dirty="0" smtClean="0">
                <a:solidFill>
                  <a:schemeClr val="bg1"/>
                </a:solidFill>
              </a:rPr>
              <a:t>、</a:t>
            </a:r>
            <a:r>
              <a:rPr lang="zh-CN" altLang="en-US" sz="2400" dirty="0" smtClean="0">
                <a:solidFill>
                  <a:schemeClr val="bg1"/>
                </a:solidFill>
              </a:rPr>
              <a:t>随机森林</a:t>
            </a:r>
            <a:endParaRPr lang="zh-CN" altLang="en-US" sz="2400" dirty="0">
              <a:solidFill>
                <a:schemeClr val="bg1"/>
              </a:solidFill>
            </a:endParaRPr>
          </a:p>
        </p:txBody>
      </p:sp>
      <p:sp>
        <p:nvSpPr>
          <p:cNvPr id="18" name="文本框 17"/>
          <p:cNvSpPr txBox="1"/>
          <p:nvPr/>
        </p:nvSpPr>
        <p:spPr>
          <a:xfrm>
            <a:off x="624114" y="10310"/>
            <a:ext cx="5757636"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r>
              <a:rPr lang="en-US" altLang="zh-CN" sz="3200" b="1" dirty="0" smtClean="0">
                <a:latin typeface="微软雅黑" panose="020B0503020204020204" pitchFamily="34" charset="-122"/>
                <a:ea typeface="微软雅黑" panose="020B0503020204020204" pitchFamily="34" charset="-122"/>
              </a:rPr>
              <a:t>--- </a:t>
            </a:r>
            <a:r>
              <a:rPr lang="zh-CN" altLang="en-US" sz="3200" b="1" dirty="0">
                <a:latin typeface="微软雅黑" panose="020B0503020204020204" pitchFamily="34" charset="-122"/>
                <a:ea typeface="微软雅黑" panose="020B0503020204020204" pitchFamily="34" charset="-122"/>
              </a:rPr>
              <a:t>故障管理</a:t>
            </a:r>
            <a:endParaRPr lang="zh-CN" altLang="en-US" sz="32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68793557"/>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down)">
                                      <p:cBhvr>
                                        <p:cTn id="10" dur="500"/>
                                        <p:tgtEl>
                                          <p:spTgt spid="15"/>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wipe(down)">
                                      <p:cBhvr>
                                        <p:cTn id="13" dur="500"/>
                                        <p:tgtEl>
                                          <p:spTgt spid="17"/>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down)">
                                      <p:cBhvr>
                                        <p:cTn id="16" dur="500"/>
                                        <p:tgtEl>
                                          <p:spTgt spid="3"/>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down)">
                                      <p:cBhvr>
                                        <p:cTn id="19" dur="500"/>
                                        <p:tgtEl>
                                          <p:spTgt spid="14"/>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down)">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p:bldP spid="16" grpId="0"/>
      <p:bldP spid="17" grpId="0" animBg="1"/>
      <p:bldP spid="3" grpId="0"/>
      <p:bldP spid="20" grpId="0" animBg="1"/>
      <p:bldP spid="2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9332"/>
          </a:xfrm>
          <a:prstGeom prst="rect">
            <a:avLst/>
          </a:prstGeom>
          <a:noFill/>
        </p:spPr>
        <p:txBody>
          <a:bodyPr wrap="square" rtlCol="0">
            <a:spAutoFit/>
          </a:bodyPr>
          <a:lstStyle/>
          <a:p>
            <a:r>
              <a:rPr lang="zh-CN" altLang="en-US" dirty="0" smtClean="0">
                <a:solidFill>
                  <a:srgbClr val="333F50"/>
                </a:solidFill>
              </a:rPr>
              <a:t>其他应用</a:t>
            </a:r>
            <a:endParaRPr lang="zh-CN" altLang="en-US" dirty="0">
              <a:solidFill>
                <a:srgbClr val="333F50"/>
              </a:solidFill>
            </a:endParaRPr>
          </a:p>
        </p:txBody>
      </p:sp>
      <p:sp>
        <p:nvSpPr>
          <p:cNvPr id="2" name="文本框 1"/>
          <p:cNvSpPr txBox="1"/>
          <p:nvPr/>
        </p:nvSpPr>
        <p:spPr>
          <a:xfrm>
            <a:off x="2943225" y="2409825"/>
            <a:ext cx="5562600" cy="258532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在实际情况中，还有其他运维场景可以应用智慧化运维的方法，但是</a:t>
            </a:r>
            <a:r>
              <a:rPr lang="zh-CN" altLang="en-US" dirty="0"/>
              <a:t>有时由于数据采集不全等原因，完整的根因分析条件不具备，这就要求我们降低要求，“退而求其次”，解决简单一些但是同样有实际意义的</a:t>
            </a:r>
            <a:r>
              <a:rPr lang="zh-CN" altLang="en-US" dirty="0" smtClean="0"/>
              <a:t>问题，如报警信息</a:t>
            </a:r>
            <a:r>
              <a:rPr lang="zh-CN" altLang="en-US" dirty="0" smtClean="0"/>
              <a:t>聚合（过滤）、动态阈值调整等</a:t>
            </a:r>
            <a:r>
              <a:rPr lang="zh-CN" altLang="en-US" dirty="0" smtClean="0"/>
              <a:t>。</a:t>
            </a:r>
            <a:endParaRPr lang="zh-CN" altLang="en-US" dirty="0"/>
          </a:p>
        </p:txBody>
      </p:sp>
      <p:sp>
        <p:nvSpPr>
          <p:cNvPr id="8" name="文本框 7"/>
          <p:cNvSpPr txBox="1"/>
          <p:nvPr/>
        </p:nvSpPr>
        <p:spPr>
          <a:xfrm>
            <a:off x="624114" y="10310"/>
            <a:ext cx="5757636"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r>
              <a:rPr lang="en-US" altLang="zh-CN" sz="3200" b="1" dirty="0" smtClean="0">
                <a:latin typeface="微软雅黑" panose="020B0503020204020204" pitchFamily="34" charset="-122"/>
                <a:ea typeface="微软雅黑" panose="020B0503020204020204" pitchFamily="34" charset="-122"/>
              </a:rPr>
              <a:t>--- </a:t>
            </a:r>
            <a:r>
              <a:rPr lang="zh-CN" altLang="en-US" sz="3200" b="1" dirty="0">
                <a:latin typeface="微软雅黑" panose="020B0503020204020204" pitchFamily="34" charset="-122"/>
                <a:ea typeface="微软雅黑" panose="020B0503020204020204" pitchFamily="34" charset="-122"/>
              </a:rPr>
              <a:t>故障管理</a:t>
            </a:r>
            <a:endParaRPr lang="zh-CN" altLang="en-US" sz="32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56307085"/>
      </p:ext>
    </p:extLst>
  </p:cSld>
  <p:clrMapOvr>
    <a:masterClrMapping/>
  </p:clrMapOvr>
  <p:transition spd="med">
    <p:pull/>
  </p:transition>
  <p:timing>
    <p:tnLst>
      <p:par>
        <p:cTn id="1" dur="indefinite" restart="never" nodeType="tmRoot"/>
      </p:par>
    </p:tnLst>
  </p:timing>
</p:sld>
</file>

<file path=ppt/theme/theme1.xml><?xml version="1.0" encoding="utf-8"?>
<a:theme xmlns:a="http://schemas.openxmlformats.org/drawingml/2006/main" name="Office 主题">
  <a:themeElements>
    <a:clrScheme name="自定义 27">
      <a:dk1>
        <a:sysClr val="windowText" lastClr="000000"/>
      </a:dk1>
      <a:lt1>
        <a:sysClr val="window" lastClr="FFFFFF"/>
      </a:lt1>
      <a:dk2>
        <a:srgbClr val="44546A"/>
      </a:dk2>
      <a:lt2>
        <a:srgbClr val="E7E6E6"/>
      </a:lt2>
      <a:accent1>
        <a:srgbClr val="12C869"/>
      </a:accent1>
      <a:accent2>
        <a:srgbClr val="323F4F"/>
      </a:accent2>
      <a:accent3>
        <a:srgbClr val="A5A5A5"/>
      </a:accent3>
      <a:accent4>
        <a:srgbClr val="FFC000"/>
      </a:accent4>
      <a:accent5>
        <a:srgbClr val="4472C4"/>
      </a:accent5>
      <a:accent6>
        <a:srgbClr val="70AD47"/>
      </a:accent6>
      <a:hlink>
        <a:srgbClr val="0563C1"/>
      </a:hlink>
      <a:folHlink>
        <a:srgbClr val="954F72"/>
      </a:folHlink>
    </a:clrScheme>
    <a:fontScheme name="officeplus">
      <a:majorFont>
        <a:latin typeface="Calibri Light"/>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3700</TotalTime>
  <Words>2241</Words>
  <Application>Microsoft Office PowerPoint</Application>
  <PresentationFormat>宽屏</PresentationFormat>
  <Paragraphs>277</Paragraphs>
  <Slides>27</Slides>
  <Notes>24</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27</vt:i4>
      </vt:variant>
    </vt:vector>
  </HeadingPairs>
  <TitlesOfParts>
    <vt:vector size="39" baseType="lpstr">
      <vt:lpstr>等线</vt:lpstr>
      <vt:lpstr>等线 Light</vt:lpstr>
      <vt:lpstr>Microsoft YaHei</vt:lpstr>
      <vt:lpstr>Microsoft YaHei</vt:lpstr>
      <vt:lpstr>Arial</vt:lpstr>
      <vt:lpstr>Calibri</vt:lpstr>
      <vt:lpstr>Calibri Light</vt:lpstr>
      <vt:lpstr>Century Gothic</vt:lpstr>
      <vt:lpstr>Segoe UI Light</vt:lpstr>
      <vt:lpstr>Verdana</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此处需加对于自动化平台的构建方案简单介绍</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Asus</dc:creator>
  <cp:lastModifiedBy>cong x</cp:lastModifiedBy>
  <cp:revision>243</cp:revision>
  <dcterms:created xsi:type="dcterms:W3CDTF">2015-08-05T01:47:03Z</dcterms:created>
  <dcterms:modified xsi:type="dcterms:W3CDTF">2017-12-26T16:25:51Z</dcterms:modified>
</cp:coreProperties>
</file>