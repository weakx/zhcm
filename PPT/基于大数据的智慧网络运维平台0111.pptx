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80" r:id="rId2"/>
    <p:sldId id="257" r:id="rId3"/>
    <p:sldId id="319" r:id="rId4"/>
    <p:sldId id="271" r:id="rId5"/>
    <p:sldId id="322" r:id="rId6"/>
    <p:sldId id="328" r:id="rId7"/>
    <p:sldId id="329" r:id="rId8"/>
    <p:sldId id="330" r:id="rId9"/>
    <p:sldId id="326" r:id="rId10"/>
    <p:sldId id="321" r:id="rId11"/>
    <p:sldId id="289" r:id="rId12"/>
    <p:sldId id="335" r:id="rId13"/>
    <p:sldId id="334" r:id="rId14"/>
    <p:sldId id="336" r:id="rId15"/>
    <p:sldId id="337" r:id="rId16"/>
    <p:sldId id="338" r:id="rId17"/>
    <p:sldId id="339" r:id="rId18"/>
    <p:sldId id="340" r:id="rId19"/>
    <p:sldId id="341" r:id="rId20"/>
    <p:sldId id="342" r:id="rId21"/>
    <p:sldId id="343" r:id="rId22"/>
    <p:sldId id="344" r:id="rId23"/>
    <p:sldId id="345" r:id="rId24"/>
    <p:sldId id="346" r:id="rId25"/>
    <p:sldId id="323" r:id="rId26"/>
    <p:sldId id="331" r:id="rId27"/>
    <p:sldId id="332" r:id="rId28"/>
    <p:sldId id="333" r:id="rId29"/>
    <p:sldId id="277"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5A00"/>
    <a:srgbClr val="00AC4E"/>
    <a:srgbClr val="007A37"/>
    <a:srgbClr val="00DE64"/>
    <a:srgbClr val="FFFFFF"/>
    <a:srgbClr val="00B050"/>
    <a:srgbClr val="33C073"/>
    <a:srgbClr val="5EF1A4"/>
    <a:srgbClr val="E73A1C"/>
    <a:srgbClr val="333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6" autoAdjust="0"/>
    <p:restoredTop sz="88084" autoAdjust="0"/>
  </p:normalViewPr>
  <p:slideViewPr>
    <p:cSldViewPr snapToGrid="0">
      <p:cViewPr varScale="1">
        <p:scale>
          <a:sx n="101" d="100"/>
          <a:sy n="101" d="100"/>
        </p:scale>
        <p:origin x="70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自动化运维带来了很大进步，但毕竟系统软件是死的，只能</a:t>
            </a:r>
            <a:r>
              <a:rPr lang="en-US" altLang="zh-CN" sz="1200" kern="1200" dirty="0" smtClean="0">
                <a:solidFill>
                  <a:schemeClr val="tx1"/>
                </a:solidFill>
                <a:effectLst/>
                <a:latin typeface="+mn-lt"/>
                <a:ea typeface="+mn-ea"/>
                <a:cs typeface="+mn-cs"/>
              </a:rPr>
              <a:t>100%按照人类制定的流程来运行，不能自主适应，甚至不能处理“相似”的“新”问题。于是AI被尝试运用到IT运维这个领域，</a:t>
            </a:r>
            <a:r>
              <a:rPr lang="zh-CN" altLang="en-US" sz="1200" kern="1200" dirty="0" smtClean="0">
                <a:solidFill>
                  <a:schemeClr val="tx1"/>
                </a:solidFill>
                <a:effectLst/>
                <a:latin typeface="+mn-lt"/>
                <a:ea typeface="+mn-ea"/>
                <a:cs typeface="+mn-cs"/>
              </a:rPr>
              <a:t>提出科了智慧运维的概念。</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智慧运维在自动化运维的基础上增加了一个基于机器学习的大脑，指挥着监测系统采集大脑决策所需的数据，做出分析、决策并指挥自动化脚本去执行大脑的决策，从而达到运维系统的整体目标。</a:t>
            </a:r>
          </a:p>
          <a:p>
            <a:r>
              <a:rPr lang="en-US" altLang="zh-CN" sz="1200" kern="1200" dirty="0" smtClean="0">
                <a:solidFill>
                  <a:schemeClr val="tx1"/>
                </a:solidFill>
                <a:effectLst/>
                <a:latin typeface="+mn-lt"/>
                <a:ea typeface="+mn-ea"/>
                <a:cs typeface="+mn-cs"/>
              </a:rPr>
              <a:t>AIOps这个词本身就体现了两个关键点。其一，Ops代表运维的场景，这是主旨，识别什么样的场景存在哪些痛点，AI可以帮助解决。其二，AI作为前缀代表技术，这是手段，AI技术门类很多，选择合适的，正确的技术去解决真正的问题，是需要切实履行的原则。</a:t>
            </a: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BAB2AAF-1555-4972-80AC-B14A04437104}"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40375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完善的自动化运维体系是必须的，</a:t>
            </a:r>
            <a:r>
              <a:rPr lang="en-US" altLang="zh-CN" dirty="0" smtClean="0"/>
              <a:t>AI</a:t>
            </a:r>
            <a:r>
              <a:rPr lang="zh-CN" altLang="en-US" dirty="0" smtClean="0"/>
              <a:t>算法就是大脑，大脑负责快速发现问题和判断根因，一旦找到问题，完善的自动化脚本就在大脑指挥控制下执行相应操作，因此智慧化运维（</a:t>
            </a:r>
            <a:r>
              <a:rPr lang="en-US" altLang="zh-CN" dirty="0" err="1" smtClean="0"/>
              <a:t>AIOps</a:t>
            </a:r>
            <a:r>
              <a:rPr lang="zh-CN" altLang="en-US" dirty="0" smtClean="0"/>
              <a:t>必须是建立在高度完善的自动化运维基础之上的）</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A+B+C</a:t>
            </a:r>
            <a:r>
              <a:rPr lang="zh-CN" altLang="en-US" dirty="0" smtClean="0"/>
              <a:t>中的</a:t>
            </a:r>
            <a:r>
              <a:rPr lang="en-US" altLang="zh-CN" dirty="0" smtClean="0"/>
              <a:t>AI</a:t>
            </a:r>
            <a:r>
              <a:rPr lang="zh-CN" altLang="en-US" dirty="0" smtClean="0"/>
              <a:t>不仅指机器学习算法，也包括数据挖掘等技术。</a:t>
            </a: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14</a:t>
            </a:fld>
            <a:endParaRPr lang="zh-CN" altLang="en-US"/>
          </a:p>
        </p:txBody>
      </p:sp>
    </p:spTree>
    <p:extLst>
      <p:ext uri="{BB962C8B-B14F-4D97-AF65-F5344CB8AC3E}">
        <p14:creationId xmlns:p14="http://schemas.microsoft.com/office/powerpoint/2010/main" val="1901555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15</a:t>
            </a:fld>
            <a:endParaRPr lang="zh-CN" altLang="en-US"/>
          </a:p>
        </p:txBody>
      </p:sp>
    </p:spTree>
    <p:extLst>
      <p:ext uri="{BB962C8B-B14F-4D97-AF65-F5344CB8AC3E}">
        <p14:creationId xmlns:p14="http://schemas.microsoft.com/office/powerpoint/2010/main" val="31852913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16</a:t>
            </a:fld>
            <a:endParaRPr lang="zh-CN" altLang="en-US"/>
          </a:p>
        </p:txBody>
      </p:sp>
    </p:spTree>
    <p:extLst>
      <p:ext uri="{BB962C8B-B14F-4D97-AF65-F5344CB8AC3E}">
        <p14:creationId xmlns:p14="http://schemas.microsoft.com/office/powerpoint/2010/main" val="454846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498220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3381356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1352929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3952856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2093303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2766605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987854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198916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应用场景</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216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721810" y="2380801"/>
            <a:ext cx="3686174" cy="3416320"/>
          </a:xfrm>
          <a:prstGeom prst="rect">
            <a:avLst/>
          </a:prstGeom>
          <a:noFill/>
        </p:spPr>
        <p:txBody>
          <a:bodyPr wrap="square" rtlCol="0">
            <a:spAutoFit/>
          </a:bodyPr>
          <a:lstStyle/>
          <a:p>
            <a:pPr indent="457200">
              <a:lnSpc>
                <a:spcPct val="150000"/>
              </a:lnSpc>
            </a:pPr>
            <a:r>
              <a:rPr lang="zh-CN" altLang="en-US" dirty="0" smtClean="0"/>
              <a:t>现阶段城域网运维主要系统为网佳系统</a:t>
            </a:r>
            <a:r>
              <a:rPr lang="zh-CN" altLang="en-US" dirty="0" smtClean="0"/>
              <a:t>，</a:t>
            </a:r>
            <a:r>
              <a:rPr lang="zh-CN" altLang="en-US" dirty="0" smtClean="0"/>
              <a:t>但随着</a:t>
            </a:r>
            <a:r>
              <a:rPr lang="zh-CN" altLang="en-US" dirty="0" smtClean="0">
                <a:solidFill>
                  <a:srgbClr val="FFC000"/>
                </a:solidFill>
              </a:rPr>
              <a:t>运维业务（详细）的拓展与管理设备（详细）的增加</a:t>
            </a:r>
            <a:r>
              <a:rPr lang="zh-CN" altLang="en-US" dirty="0" smtClean="0"/>
              <a:t>，现有系统已经已经难以满足日常运维需求，如批量数据的获取、大规模数据的分析、直观的报表生成与导出、</a:t>
            </a:r>
            <a:r>
              <a:rPr lang="en-US" altLang="zh-CN" dirty="0" smtClean="0"/>
              <a:t>KPI</a:t>
            </a:r>
            <a:r>
              <a:rPr lang="zh-CN" altLang="en-US" dirty="0" smtClean="0"/>
              <a:t>异常的检测与告警、故障快速处理等。</a:t>
            </a:r>
            <a:endParaRPr lang="zh-CN" altLang="en-US"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67325" y="1733549"/>
            <a:ext cx="6553200" cy="3686175"/>
          </a:xfrm>
          <a:prstGeom prst="rect">
            <a:avLst/>
          </a:prstGeom>
        </p:spPr>
      </p:pic>
      <p:sp>
        <p:nvSpPr>
          <p:cNvPr id="8" name="文本框 7"/>
          <p:cNvSpPr txBox="1"/>
          <p:nvPr/>
        </p:nvSpPr>
        <p:spPr>
          <a:xfrm>
            <a:off x="5810250" y="5705475"/>
            <a:ext cx="5172075" cy="276999"/>
          </a:xfrm>
          <a:prstGeom prst="rect">
            <a:avLst/>
          </a:prstGeom>
          <a:noFill/>
        </p:spPr>
        <p:txBody>
          <a:bodyPr wrap="square" rtlCol="0">
            <a:spAutoFit/>
          </a:bodyPr>
          <a:lstStyle/>
          <a:p>
            <a:pPr algn="ctr"/>
            <a:r>
              <a:rPr lang="zh-CN" altLang="en-US" sz="1200" dirty="0" smtClean="0"/>
              <a:t>网佳系统截图</a:t>
            </a:r>
            <a:endParaRPr lang="zh-CN" altLang="en-US" sz="1200" dirty="0"/>
          </a:p>
        </p:txBody>
      </p:sp>
      <p:sp>
        <p:nvSpPr>
          <p:cNvPr id="9" name="圆角矩形 8"/>
          <p:cNvSpPr/>
          <p:nvPr/>
        </p:nvSpPr>
        <p:spPr>
          <a:xfrm>
            <a:off x="5972175" y="685800"/>
            <a:ext cx="2933700" cy="6274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橙字原因可具体修改</a:t>
            </a:r>
            <a:endParaRPr lang="zh-CN" altLang="en-US" dirty="0"/>
          </a:p>
        </p:txBody>
      </p:sp>
      <p:cxnSp>
        <p:nvCxnSpPr>
          <p:cNvPr id="11" name="直接箭头连接符 10"/>
          <p:cNvCxnSpPr/>
          <p:nvPr/>
        </p:nvCxnSpPr>
        <p:spPr>
          <a:xfrm flipH="1">
            <a:off x="4314825" y="1104900"/>
            <a:ext cx="1495425" cy="1275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descr="“TELNET huawei”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9150" y="2058986"/>
            <a:ext cx="5931262" cy="2989263"/>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312057" y="1915191"/>
            <a:ext cx="4819650" cy="341632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smtClean="0"/>
              <a:t>由于系统的生命周期较快速发展的运维工作的相对滞后性，现阶段运维人员对于部分数据的获取，仍需手动</a:t>
            </a:r>
            <a:r>
              <a:rPr lang="en-US" altLang="zh-CN" dirty="0" smtClean="0"/>
              <a:t>Telnet</a:t>
            </a:r>
            <a:r>
              <a:rPr lang="zh-CN" altLang="en-US" dirty="0" smtClean="0"/>
              <a:t>登录具体设备查看获取，对于</a:t>
            </a:r>
            <a:r>
              <a:rPr lang="zh-CN" altLang="en-US" dirty="0" smtClean="0"/>
              <a:t>非专业人士或缺少经验的运维人员来说，不熟悉指令库的情况下无法</a:t>
            </a:r>
            <a:r>
              <a:rPr lang="zh-CN" altLang="en-US" dirty="0" smtClean="0"/>
              <a:t>进行相应操作；而对于制作月度报表的批量数据的获取，需通过</a:t>
            </a:r>
            <a:r>
              <a:rPr lang="en-US" altLang="zh-CN" dirty="0" smtClean="0"/>
              <a:t>IPNET</a:t>
            </a:r>
            <a:r>
              <a:rPr lang="zh-CN" altLang="en-US" dirty="0" smtClean="0"/>
              <a:t>网管网登录省公司平台进行获取，流程相对复杂。</a:t>
            </a:r>
            <a:endParaRPr lang="en-US" altLang="zh-CN" dirty="0"/>
          </a:p>
        </p:txBody>
      </p:sp>
      <p:sp>
        <p:nvSpPr>
          <p:cNvPr id="7" name="文本框 6"/>
          <p:cNvSpPr txBox="1"/>
          <p:nvPr/>
        </p:nvSpPr>
        <p:spPr>
          <a:xfrm>
            <a:off x="6981825" y="5314950"/>
            <a:ext cx="3228975" cy="276999"/>
          </a:xfrm>
          <a:prstGeom prst="rect">
            <a:avLst/>
          </a:prstGeom>
          <a:noFill/>
        </p:spPr>
        <p:txBody>
          <a:bodyPr wrap="square" rtlCol="0">
            <a:spAutoFit/>
          </a:bodyPr>
          <a:lstStyle/>
          <a:p>
            <a:pPr algn="ctr"/>
            <a:r>
              <a:rPr lang="en-US" altLang="zh-CN" sz="1200" dirty="0" smtClean="0"/>
              <a:t>Telnet</a:t>
            </a:r>
            <a:r>
              <a:rPr lang="zh-CN" altLang="en-US" sz="1200" dirty="0" smtClean="0"/>
              <a:t>登录界面</a:t>
            </a:r>
            <a:endParaRPr lang="zh-CN" altLang="en-US" sz="1200" dirty="0"/>
          </a:p>
        </p:txBody>
      </p:sp>
    </p:spTree>
    <p:extLst>
      <p:ext uri="{BB962C8B-B14F-4D97-AF65-F5344CB8AC3E}">
        <p14:creationId xmlns:p14="http://schemas.microsoft.com/office/powerpoint/2010/main" val="4066279875"/>
      </p:ext>
    </p:extLst>
  </p:cSld>
  <p:clrMapOvr>
    <a:masterClrMapping/>
  </p:clrMapOvr>
  <p:transition spd="med">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457200" y="2496214"/>
            <a:ext cx="4638675" cy="2585323"/>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smtClean="0"/>
              <a:t>现有系统</a:t>
            </a:r>
            <a:r>
              <a:rPr lang="zh-CN" altLang="en-US" dirty="0" smtClean="0"/>
              <a:t>数据</a:t>
            </a:r>
            <a:r>
              <a:rPr lang="zh-CN" altLang="en-US" dirty="0"/>
              <a:t>呈现方式单一</a:t>
            </a:r>
            <a:r>
              <a:rPr lang="zh-CN" altLang="en-US" dirty="0" smtClean="0"/>
              <a:t>，无法直观获取网络</a:t>
            </a:r>
            <a:r>
              <a:rPr lang="zh-CN" altLang="en-US" dirty="0" smtClean="0"/>
              <a:t>情况</a:t>
            </a:r>
            <a:r>
              <a:rPr lang="zh-CN" altLang="en-US" dirty="0" smtClean="0"/>
              <a:t>，</a:t>
            </a:r>
            <a:r>
              <a:rPr lang="zh-CN" altLang="en-US" dirty="0" smtClean="0"/>
              <a:t>因此对于大规模</a:t>
            </a:r>
            <a:r>
              <a:rPr lang="zh-CN" altLang="en-US" dirty="0" smtClean="0"/>
              <a:t>的</a:t>
            </a:r>
            <a:r>
              <a:rPr lang="zh-CN" altLang="en-US" dirty="0" smtClean="0"/>
              <a:t>数据的进一步分析</a:t>
            </a:r>
            <a:r>
              <a:rPr lang="zh-CN" altLang="en-US" dirty="0" smtClean="0"/>
              <a:t>，需要手动获取数据后对</a:t>
            </a:r>
            <a:r>
              <a:rPr lang="zh-CN" altLang="en-US" dirty="0"/>
              <a:t>数据</a:t>
            </a:r>
            <a:r>
              <a:rPr lang="zh-CN" altLang="en-US" dirty="0" smtClean="0"/>
              <a:t>进行规范化处理</a:t>
            </a:r>
            <a:r>
              <a:rPr lang="zh-CN" altLang="en-US" dirty="0" smtClean="0"/>
              <a:t>，</a:t>
            </a:r>
            <a:r>
              <a:rPr lang="zh-CN" altLang="en-US" dirty="0" smtClean="0"/>
              <a:t>然后通过</a:t>
            </a:r>
            <a:r>
              <a:rPr lang="en-US" altLang="zh-CN" dirty="0" smtClean="0"/>
              <a:t>Excel</a:t>
            </a:r>
            <a:r>
              <a:rPr lang="zh-CN" altLang="en-US" dirty="0" smtClean="0"/>
              <a:t>表格或其他数据处理工具来对数据进行分析处理，存在着个人</a:t>
            </a:r>
            <a:r>
              <a:rPr lang="zh-CN" altLang="en-US" dirty="0" smtClean="0">
                <a:solidFill>
                  <a:srgbClr val="FF0000"/>
                </a:solidFill>
              </a:rPr>
              <a:t>经验性差异</a:t>
            </a:r>
            <a:r>
              <a:rPr lang="zh-CN" altLang="en-US" dirty="0" smtClean="0"/>
              <a:t>问题</a:t>
            </a:r>
            <a:r>
              <a:rPr lang="zh-CN" altLang="en-US" dirty="0" smtClean="0"/>
              <a:t>。</a:t>
            </a:r>
            <a:endParaRPr lang="en-US" altLang="zh-CN" dirty="0"/>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91175" y="1449527"/>
            <a:ext cx="6265333" cy="3524250"/>
          </a:xfrm>
          <a:prstGeom prst="rect">
            <a:avLst/>
          </a:prstGeom>
        </p:spPr>
      </p:pic>
    </p:spTree>
    <p:extLst>
      <p:ext uri="{BB962C8B-B14F-4D97-AF65-F5344CB8AC3E}">
        <p14:creationId xmlns:p14="http://schemas.microsoft.com/office/powerpoint/2010/main" val="3086638107"/>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266826" y="2684344"/>
            <a:ext cx="4381500" cy="1338828"/>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smtClean="0"/>
              <a:t>现有系统导出数据</a:t>
            </a:r>
            <a:r>
              <a:rPr lang="en-US" altLang="zh-CN" dirty="0" smtClean="0"/>
              <a:t>Excel</a:t>
            </a:r>
            <a:r>
              <a:rPr lang="zh-CN" altLang="en-US" dirty="0" smtClean="0"/>
              <a:t>表格内容十分单薄，无法直观反映展示整个城域网数据、设备状态等动态变化情况</a:t>
            </a:r>
            <a:endParaRPr lang="en-US" altLang="zh-CN" dirty="0"/>
          </a:p>
        </p:txBody>
      </p:sp>
      <p:pic>
        <p:nvPicPr>
          <p:cNvPr id="7" name="图片 6"/>
          <p:cNvPicPr>
            <a:picLocks noChangeAspect="1"/>
          </p:cNvPicPr>
          <p:nvPr/>
        </p:nvPicPr>
        <p:blipFill>
          <a:blip r:embed="rId2"/>
          <a:stretch>
            <a:fillRect/>
          </a:stretch>
        </p:blipFill>
        <p:spPr>
          <a:xfrm>
            <a:off x="7061019" y="1755462"/>
            <a:ext cx="3376991" cy="2776312"/>
          </a:xfrm>
          <a:prstGeom prst="rect">
            <a:avLst/>
          </a:prstGeom>
        </p:spPr>
      </p:pic>
    </p:spTree>
    <p:extLst>
      <p:ext uri="{BB962C8B-B14F-4D97-AF65-F5344CB8AC3E}">
        <p14:creationId xmlns:p14="http://schemas.microsoft.com/office/powerpoint/2010/main" val="3582696954"/>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27881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r>
              <a:rPr lang="en-US" altLang="zh-CN" dirty="0">
                <a:solidFill>
                  <a:srgbClr val="333F50"/>
                </a:solidFill>
              </a:rPr>
              <a:t>-</a:t>
            </a:r>
            <a:r>
              <a:rPr lang="zh-CN" altLang="en-US" dirty="0">
                <a:solidFill>
                  <a:srgbClr val="333F50"/>
                </a:solidFill>
              </a:rPr>
              <a:t>（以城域网为例</a:t>
            </a:r>
            <a:r>
              <a:rPr lang="zh-CN" altLang="en-US" dirty="0" smtClean="0">
                <a:solidFill>
                  <a:srgbClr val="333F50"/>
                </a:solidFill>
              </a:rPr>
              <a:t>）</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641892" y="2706505"/>
            <a:ext cx="4438650" cy="1754326"/>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t>对于新兴业务如</a:t>
            </a:r>
            <a:r>
              <a:rPr lang="en-US" altLang="zh-CN" dirty="0" smtClean="0"/>
              <a:t>IPTV</a:t>
            </a:r>
            <a:r>
              <a:rPr lang="zh-CN" altLang="en-US" dirty="0" smtClean="0"/>
              <a:t>、</a:t>
            </a:r>
            <a:r>
              <a:rPr lang="en-US" altLang="zh-CN" dirty="0" smtClean="0"/>
              <a:t>WLAN</a:t>
            </a:r>
            <a:r>
              <a:rPr lang="zh-CN" altLang="en-US" dirty="0" smtClean="0"/>
              <a:t>等业务，运维人员无法通过平台获取</a:t>
            </a:r>
            <a:r>
              <a:rPr lang="zh-CN" altLang="en-US" dirty="0"/>
              <a:t>数据及报表</a:t>
            </a:r>
            <a:r>
              <a:rPr lang="zh-CN" altLang="en-US" dirty="0" smtClean="0"/>
              <a:t>，仍需手动登录设备或通过省公司平台获取数据，即存在功能扩展性</a:t>
            </a:r>
            <a:r>
              <a:rPr lang="zh-CN" altLang="en-US" dirty="0"/>
              <a:t>问题。</a:t>
            </a:r>
            <a:endParaRPr lang="en-US" altLang="zh-CN" dirty="0"/>
          </a:p>
        </p:txBody>
      </p:sp>
      <p:pic>
        <p:nvPicPr>
          <p:cNvPr id="7" name="图片 6"/>
          <p:cNvPicPr>
            <a:picLocks noChangeAspect="1"/>
          </p:cNvPicPr>
          <p:nvPr/>
        </p:nvPicPr>
        <p:blipFill>
          <a:blip r:embed="rId2"/>
          <a:stretch>
            <a:fillRect/>
          </a:stretch>
        </p:blipFill>
        <p:spPr>
          <a:xfrm>
            <a:off x="5872443" y="4641662"/>
            <a:ext cx="5738660" cy="938167"/>
          </a:xfrm>
          <a:prstGeom prst="rect">
            <a:avLst/>
          </a:prstGeom>
        </p:spPr>
      </p:pic>
      <p:pic>
        <p:nvPicPr>
          <p:cNvPr id="2050" name="Picture 2" descr="“IPTV”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3023" y="1128615"/>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920975"/>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2276475" y="2842628"/>
            <a:ext cx="8058150" cy="1754326"/>
          </a:xfrm>
          <a:prstGeom prst="rect">
            <a:avLst/>
          </a:prstGeom>
          <a:noFill/>
        </p:spPr>
        <p:txBody>
          <a:bodyPr wrap="square" rtlCol="0">
            <a:spAutoFit/>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通过构建的“网络大脑”，将各部分进行统一调控，全局管理</a:t>
            </a:r>
            <a:r>
              <a:rPr lang="zh-CN" altLang="en-US" dirty="0" smtClean="0"/>
              <a:t>。</a:t>
            </a:r>
            <a:endParaRPr lang="zh-CN" altLang="en-US" dirty="0"/>
          </a:p>
        </p:txBody>
      </p:sp>
    </p:spTree>
    <p:extLst>
      <p:ext uri="{BB962C8B-B14F-4D97-AF65-F5344CB8AC3E}">
        <p14:creationId xmlns:p14="http://schemas.microsoft.com/office/powerpoint/2010/main" val="826175779"/>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01924" y="2295684"/>
            <a:ext cx="4178600" cy="3000821"/>
          </a:xfrm>
          <a:prstGeom prst="rect">
            <a:avLst/>
          </a:prstGeom>
          <a:noFill/>
        </p:spPr>
        <p:txBody>
          <a:bodyPr wrap="square" rtlCol="0">
            <a:spAutoFit/>
          </a:bodyPr>
          <a:lstStyle/>
          <a:p>
            <a:pPr indent="457200">
              <a:lnSpc>
                <a:spcPct val="150000"/>
              </a:lnSpc>
            </a:pPr>
            <a:r>
              <a:rPr lang="zh-CN" altLang="en-US" dirty="0" smtClean="0"/>
              <a:t>通过将现有资源进行整合，结合发展迅猛的云计算、大</a:t>
            </a:r>
            <a:r>
              <a:rPr lang="zh-CN" altLang="en-US" dirty="0" smtClean="0"/>
              <a:t>数据、人工智能等</a:t>
            </a:r>
            <a:r>
              <a:rPr lang="zh-CN" altLang="en-US" dirty="0" smtClean="0"/>
              <a:t>技术，将不同运维工作中的各种需求、工具、经验进行集成归一化，使得能够通过该平台既能展示整个珠海网络情况，从全局把控网络质量，又能满足网络日常维护需求，成为真正的珠海网络大脑。</a:t>
            </a:r>
            <a:endParaRPr lang="zh-CN" altLang="en-US" dirty="0"/>
          </a:p>
        </p:txBody>
      </p:sp>
      <p:pic>
        <p:nvPicPr>
          <p:cNvPr id="13" name="Picture 2" descr="“big data icon”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8055" y="3098795"/>
            <a:ext cx="1473203" cy="11383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tools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54872" y="1466820"/>
            <a:ext cx="839568" cy="83956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tech icon”的图片搜索结果"/>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62264" y="4684914"/>
            <a:ext cx="1867471" cy="1020514"/>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platform icon”的图片搜索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28051" y="2443414"/>
            <a:ext cx="2619978" cy="1949264"/>
          </a:xfrm>
          <a:prstGeom prst="rect">
            <a:avLst/>
          </a:prstGeom>
          <a:noFill/>
          <a:extLst>
            <a:ext uri="{909E8E84-426E-40DD-AFC4-6F175D3DCCD1}">
              <a14:hiddenFill xmlns:a14="http://schemas.microsoft.com/office/drawing/2010/main">
                <a:solidFill>
                  <a:srgbClr val="FFFFFF"/>
                </a:solidFill>
              </a14:hiddenFill>
            </a:ext>
          </a:extLst>
        </p:spPr>
      </p:pic>
      <p:sp>
        <p:nvSpPr>
          <p:cNvPr id="19" name="右箭头 18"/>
          <p:cNvSpPr/>
          <p:nvPr/>
        </p:nvSpPr>
        <p:spPr>
          <a:xfrm>
            <a:off x="6779459" y="3384614"/>
            <a:ext cx="2062633" cy="523291"/>
          </a:xfrm>
          <a:prstGeom prst="rightArrow">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7" name="文本框 16"/>
          <p:cNvSpPr txBox="1"/>
          <p:nvPr/>
        </p:nvSpPr>
        <p:spPr>
          <a:xfrm>
            <a:off x="5615162" y="2526880"/>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21" name="文本框 20"/>
          <p:cNvSpPr txBox="1"/>
          <p:nvPr/>
        </p:nvSpPr>
        <p:spPr>
          <a:xfrm>
            <a:off x="5654872" y="4127833"/>
            <a:ext cx="839568" cy="646331"/>
          </a:xfrm>
          <a:prstGeom prst="rect">
            <a:avLst/>
          </a:prstGeom>
          <a:noFill/>
        </p:spPr>
        <p:txBody>
          <a:bodyPr wrap="square" rtlCol="0">
            <a:spAutoFit/>
          </a:bodyPr>
          <a:lstStyle/>
          <a:p>
            <a:pPr algn="ctr"/>
            <a:r>
              <a:rPr lang="en-US" altLang="zh-CN" sz="3600" b="1" dirty="0" smtClean="0"/>
              <a:t>+</a:t>
            </a:r>
            <a:endParaRPr lang="zh-CN" altLang="en-US" sz="3600" b="1" dirty="0"/>
          </a:p>
        </p:txBody>
      </p:sp>
      <p:sp>
        <p:nvSpPr>
          <p:cNvPr id="18" name="文本框 17"/>
          <p:cNvSpPr txBox="1"/>
          <p:nvPr/>
        </p:nvSpPr>
        <p:spPr>
          <a:xfrm>
            <a:off x="5501227" y="1128615"/>
            <a:ext cx="1146857" cy="276999"/>
          </a:xfrm>
          <a:prstGeom prst="rect">
            <a:avLst/>
          </a:prstGeom>
          <a:noFill/>
        </p:spPr>
        <p:txBody>
          <a:bodyPr wrap="square" rtlCol="0">
            <a:spAutoFit/>
          </a:bodyPr>
          <a:lstStyle/>
          <a:p>
            <a:r>
              <a:rPr lang="zh-CN" altLang="en-US" sz="1200" dirty="0" smtClean="0"/>
              <a:t>丰富运维经验</a:t>
            </a:r>
            <a:endParaRPr lang="zh-CN" altLang="en-US" sz="1200" dirty="0"/>
          </a:p>
        </p:txBody>
      </p:sp>
      <p:sp>
        <p:nvSpPr>
          <p:cNvPr id="23" name="文本框 22"/>
          <p:cNvSpPr txBox="1"/>
          <p:nvPr/>
        </p:nvSpPr>
        <p:spPr>
          <a:xfrm>
            <a:off x="5501226" y="3022363"/>
            <a:ext cx="1146857" cy="276999"/>
          </a:xfrm>
          <a:prstGeom prst="rect">
            <a:avLst/>
          </a:prstGeom>
          <a:noFill/>
        </p:spPr>
        <p:txBody>
          <a:bodyPr wrap="square" rtlCol="0">
            <a:spAutoFit/>
          </a:bodyPr>
          <a:lstStyle/>
          <a:p>
            <a:r>
              <a:rPr lang="zh-CN" altLang="en-US" sz="1200" dirty="0" smtClean="0"/>
              <a:t>海量数据资源</a:t>
            </a:r>
            <a:endParaRPr lang="zh-CN" altLang="en-US" sz="1200" dirty="0"/>
          </a:p>
        </p:txBody>
      </p:sp>
      <p:sp>
        <p:nvSpPr>
          <p:cNvPr id="24" name="文本框 23"/>
          <p:cNvSpPr txBox="1"/>
          <p:nvPr/>
        </p:nvSpPr>
        <p:spPr>
          <a:xfrm>
            <a:off x="5501227" y="4532091"/>
            <a:ext cx="1146857" cy="276999"/>
          </a:xfrm>
          <a:prstGeom prst="rect">
            <a:avLst/>
          </a:prstGeom>
          <a:noFill/>
        </p:spPr>
        <p:txBody>
          <a:bodyPr wrap="square" rtlCol="0">
            <a:spAutoFit/>
          </a:bodyPr>
          <a:lstStyle/>
          <a:p>
            <a:pPr algn="ctr"/>
            <a:r>
              <a:rPr lang="zh-CN" altLang="en-US" sz="1200" dirty="0" smtClean="0"/>
              <a:t>新兴技术</a:t>
            </a:r>
            <a:endParaRPr lang="zh-CN" altLang="en-US" sz="1200" dirty="0"/>
          </a:p>
        </p:txBody>
      </p:sp>
      <p:sp>
        <p:nvSpPr>
          <p:cNvPr id="20" name="文本框 19"/>
          <p:cNvSpPr txBox="1"/>
          <p:nvPr/>
        </p:nvSpPr>
        <p:spPr>
          <a:xfrm>
            <a:off x="8528051" y="4532091"/>
            <a:ext cx="3390900" cy="369332"/>
          </a:xfrm>
          <a:prstGeom prst="rect">
            <a:avLst/>
          </a:prstGeom>
          <a:noFill/>
        </p:spPr>
        <p:txBody>
          <a:bodyPr wrap="square" rtlCol="0">
            <a:spAutoFit/>
          </a:bodyPr>
          <a:lstStyle/>
          <a:p>
            <a:r>
              <a:rPr lang="zh-CN" altLang="en-US" dirty="0" smtClean="0"/>
              <a:t>智慧网络运维平台（网络大脑）</a:t>
            </a:r>
            <a:endParaRPr lang="zh-CN" altLang="en-US" dirty="0"/>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4" name="矩形 3"/>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7" name="矩形 6"/>
          <p:cNvSpPr/>
          <p:nvPr/>
        </p:nvSpPr>
        <p:spPr>
          <a:xfrm>
            <a:off x="1329324" y="3244537"/>
            <a:ext cx="3486247" cy="678261"/>
          </a:xfrm>
          <a:prstGeom prst="rect">
            <a:avLst/>
          </a:prstGeom>
        </p:spPr>
        <p:txBody>
          <a:bodyPr wrap="square" lIns="68570" tIns="34289" rIns="68570" bIns="34289">
            <a:spAutoFit/>
          </a:bodyPr>
          <a:lstStyle/>
          <a:p>
            <a:pPr defTabSz="685681">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展现珠海网络情况、能力</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a:p>
            <a:pPr defTabSz="685681">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实现珠海网络智慧运维</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0" name="矩形 9"/>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平台功能</a:t>
            </a:r>
            <a:endParaRPr lang="zh-CN" altLang="en-US" sz="3200" b="1" dirty="0"/>
          </a:p>
        </p:txBody>
      </p:sp>
      <p:sp>
        <p:nvSpPr>
          <p:cNvPr id="11" name="矩形 10"/>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986972" y="3119512"/>
            <a:ext cx="2218055" cy="166687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4" name="矩形 13"/>
          <p:cNvSpPr/>
          <p:nvPr/>
        </p:nvSpPr>
        <p:spPr>
          <a:xfrm>
            <a:off x="8296927" y="3374976"/>
            <a:ext cx="3598370" cy="134683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实时直观感知网络状态</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快速确切获取网络参数</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智能精准挖掘有效信息</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高效规范管理网络运维</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2057133"/>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367064" y="2059212"/>
            <a:ext cx="3657599" cy="463588"/>
          </a:xfrm>
          <a:prstGeom prst="rect">
            <a:avLst/>
          </a:prstGeom>
          <a:noFill/>
        </p:spPr>
        <p:txBody>
          <a:bodyPr wrap="square" rtlCol="0">
            <a:spAutoFit/>
          </a:bodyPr>
          <a:lstStyle/>
          <a:p>
            <a:pPr indent="457200">
              <a:lnSpc>
                <a:spcPct val="150000"/>
              </a:lnSpc>
            </a:pPr>
            <a:r>
              <a:rPr lang="zh-CN" altLang="en-US" dirty="0" smtClean="0">
                <a:solidFill>
                  <a:srgbClr val="333F50"/>
                </a:solidFill>
              </a:rPr>
              <a:t>什么是智慧网络运维？</a:t>
            </a:r>
            <a:endParaRPr lang="zh-CN" altLang="en-US" dirty="0">
              <a:solidFill>
                <a:srgbClr val="333F50"/>
              </a:solidFill>
            </a:endParaRPr>
          </a:p>
        </p:txBody>
      </p:sp>
      <p:sp>
        <p:nvSpPr>
          <p:cNvPr id="5" name="文本框 4"/>
          <p:cNvSpPr txBox="1"/>
          <p:nvPr/>
        </p:nvSpPr>
        <p:spPr>
          <a:xfrm>
            <a:off x="1367064" y="2522800"/>
            <a:ext cx="9805761" cy="2585323"/>
          </a:xfrm>
          <a:prstGeom prst="rect">
            <a:avLst/>
          </a:prstGeom>
          <a:noFill/>
        </p:spPr>
        <p:txBody>
          <a:bodyPr wrap="square" rtlCol="0">
            <a:spAutoFit/>
          </a:bodyPr>
          <a:lstStyle/>
          <a:p>
            <a:pPr indent="457200">
              <a:lnSpc>
                <a:spcPct val="150000"/>
              </a:lnSpc>
            </a:pPr>
            <a:r>
              <a:rPr lang="zh-CN" altLang="en-US" dirty="0"/>
              <a:t>答：人工智能和机器学习技术的发展，推动大量依赖人脑决策和手工操作的</a:t>
            </a:r>
            <a:r>
              <a:rPr lang="en-US" altLang="zh-CN" dirty="0"/>
              <a:t>IT </a:t>
            </a:r>
            <a:r>
              <a:rPr lang="zh-CN" altLang="en-US" dirty="0"/>
              <a:t>运维向着</a:t>
            </a:r>
            <a:r>
              <a:rPr lang="en-US" altLang="zh-CN" dirty="0" err="1" smtClean="0"/>
              <a:t>AIOps</a:t>
            </a:r>
            <a:r>
              <a:rPr lang="zh-CN" altLang="en-US" dirty="0"/>
              <a:t>智慧</a:t>
            </a:r>
            <a:r>
              <a:rPr lang="zh-CN" altLang="en-US" dirty="0" smtClean="0"/>
              <a:t>运</a:t>
            </a:r>
            <a:r>
              <a:rPr lang="zh-CN" altLang="en-US" dirty="0"/>
              <a:t>维的方向快速前进。特别是当机器学习算法与基于大数据的业务运维管理平台整合，在告警过滤、异常监测、自动修复等环节发挥效用，就能</a:t>
            </a:r>
            <a:r>
              <a:rPr lang="zh-CN" altLang="en-US" dirty="0" smtClean="0"/>
              <a:t>把运维部门</a:t>
            </a:r>
            <a:r>
              <a:rPr lang="zh-CN" altLang="en-US" dirty="0"/>
              <a:t>从繁复耗时、容易出错的基础运维工作中彻底解放出来，专注于更有价值的业务运维</a:t>
            </a:r>
            <a:r>
              <a:rPr lang="zh-CN" altLang="en-US" dirty="0" smtClean="0"/>
              <a:t>。</a:t>
            </a:r>
            <a:endParaRPr lang="en-US" altLang="zh-CN" dirty="0" smtClean="0"/>
          </a:p>
          <a:p>
            <a:pPr indent="457200">
              <a:lnSpc>
                <a:spcPct val="150000"/>
              </a:lnSpc>
            </a:pPr>
            <a:r>
              <a:rPr lang="zh-CN" altLang="en-US" dirty="0"/>
              <a:t>同时也</a:t>
            </a:r>
            <a:r>
              <a:rPr lang="zh-CN" altLang="en-US" dirty="0" smtClean="0"/>
              <a:t>是我们传统</a:t>
            </a:r>
            <a:r>
              <a:rPr lang="en-US" altLang="zh-CN" dirty="0" smtClean="0"/>
              <a:t>CT</a:t>
            </a:r>
            <a:r>
              <a:rPr lang="zh-CN" altLang="en-US" dirty="0" smtClean="0"/>
              <a:t>转向</a:t>
            </a:r>
            <a:r>
              <a:rPr lang="en-US" altLang="zh-CN" dirty="0" smtClean="0"/>
              <a:t>IT</a:t>
            </a:r>
            <a:r>
              <a:rPr lang="zh-CN" altLang="en-US" dirty="0" smtClean="0"/>
              <a:t>这一数字化</a:t>
            </a:r>
            <a:r>
              <a:rPr lang="zh-CN" altLang="en-US" dirty="0"/>
              <a:t>转型的必然结果，企业的数字化程度越高，</a:t>
            </a:r>
            <a:r>
              <a:rPr lang="en-US" altLang="zh-CN" dirty="0"/>
              <a:t>IT</a:t>
            </a:r>
            <a:r>
              <a:rPr lang="zh-CN" altLang="en-US" dirty="0"/>
              <a:t>规模越大也越复杂，就越需要快捷、高效、精准的运维管理平台作为业务的有效支撑。</a:t>
            </a:r>
          </a:p>
        </p:txBody>
      </p:sp>
    </p:spTree>
    <p:extLst>
      <p:ext uri="{BB962C8B-B14F-4D97-AF65-F5344CB8AC3E}">
        <p14:creationId xmlns:p14="http://schemas.microsoft.com/office/powerpoint/2010/main" val="1750128556"/>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7942012" y="3372000"/>
            <a:ext cx="23100" cy="114098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3" name="直接连接符 12"/>
          <p:cNvCxnSpPr/>
          <p:nvPr/>
        </p:nvCxnSpPr>
        <p:spPr>
          <a:xfrm flipH="1">
            <a:off x="6493518" y="4699561"/>
            <a:ext cx="1268895" cy="455580"/>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5" name="直接连接符 14"/>
          <p:cNvCxnSpPr/>
          <p:nvPr/>
        </p:nvCxnSpPr>
        <p:spPr>
          <a:xfrm>
            <a:off x="8117387" y="4699561"/>
            <a:ext cx="1355052" cy="480558"/>
          </a:xfrm>
          <a:prstGeom prst="line">
            <a:avLst/>
          </a:prstGeom>
          <a:noFill/>
          <a:ln w="25400" cap="rnd">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16" name="矩形 6"/>
          <p:cNvSpPr>
            <a:spLocks noChangeArrowheads="1"/>
          </p:cNvSpPr>
          <p:nvPr/>
        </p:nvSpPr>
        <p:spPr bwMode="auto">
          <a:xfrm>
            <a:off x="5250371" y="5405040"/>
            <a:ext cx="223544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mn-cs"/>
              </a:rPr>
              <a:t>自动化脚本、通知提示</a:t>
            </a:r>
            <a:endParaRPr kumimoji="0" lang="zh-CN" altLang="en-US" sz="12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微软雅黑"/>
              <a:cs typeface="+mn-cs"/>
            </a:endParaRPr>
          </a:p>
        </p:txBody>
      </p:sp>
      <p:sp>
        <p:nvSpPr>
          <p:cNvPr id="17" name="矩形 6"/>
          <p:cNvSpPr>
            <a:spLocks noChangeArrowheads="1"/>
          </p:cNvSpPr>
          <p:nvPr/>
        </p:nvSpPr>
        <p:spPr bwMode="auto">
          <a:xfrm>
            <a:off x="8808529" y="5405039"/>
            <a:ext cx="16213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mn-cs"/>
              </a:rPr>
              <a:t>机器学习、人工决策</a:t>
            </a:r>
            <a:endParaRPr kumimoji="0" lang="zh-CN" altLang="en-US" sz="12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微软雅黑"/>
              <a:cs typeface="+mn-cs"/>
            </a:endParaRPr>
          </a:p>
        </p:txBody>
      </p:sp>
      <p:sp>
        <p:nvSpPr>
          <p:cNvPr id="20" name="矩形 6"/>
          <p:cNvSpPr>
            <a:spLocks noChangeArrowheads="1"/>
          </p:cNvSpPr>
          <p:nvPr/>
        </p:nvSpPr>
        <p:spPr bwMode="auto">
          <a:xfrm>
            <a:off x="7279679" y="2522575"/>
            <a:ext cx="136991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200" b="0" i="0" u="none" strike="noStrike" kern="1200" cap="none" spc="0" normalizeH="0" baseline="0" noProof="0" dirty="0" smtClean="0">
                <a:ln>
                  <a:noFill/>
                </a:ln>
                <a:solidFill>
                  <a:srgbClr val="E7E6E6">
                    <a:lumMod val="10000"/>
                  </a:srgbClr>
                </a:solidFill>
                <a:effectLst/>
                <a:uLnTx/>
                <a:uFillTx/>
                <a:latin typeface="微软雅黑" panose="020B0503020204020204" pitchFamily="34" charset="-122"/>
                <a:ea typeface="微软雅黑" panose="020B0503020204020204" pitchFamily="34" charset="-122"/>
                <a:cs typeface="+mn-cs"/>
              </a:rPr>
              <a:t>对海量日志的监测</a:t>
            </a:r>
            <a:endParaRPr kumimoji="0" lang="zh-CN" altLang="en-US" sz="12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微软雅黑"/>
              <a:cs typeface="+mn-cs"/>
            </a:endParaRPr>
          </a:p>
        </p:txBody>
      </p:sp>
      <p:grpSp>
        <p:nvGrpSpPr>
          <p:cNvPr id="21" name="组合 20"/>
          <p:cNvGrpSpPr/>
          <p:nvPr/>
        </p:nvGrpSpPr>
        <p:grpSpPr>
          <a:xfrm>
            <a:off x="7651649" y="4383320"/>
            <a:ext cx="540034" cy="538834"/>
            <a:chOff x="5932231" y="4415044"/>
            <a:chExt cx="488440" cy="509247"/>
          </a:xfrm>
        </p:grpSpPr>
        <p:sp>
          <p:nvSpPr>
            <p:cNvPr id="22" name="椭圆 21"/>
            <p:cNvSpPr/>
            <p:nvPr/>
          </p:nvSpPr>
          <p:spPr>
            <a:xfrm>
              <a:off x="5932231" y="4435851"/>
              <a:ext cx="488440" cy="488440"/>
            </a:xfrm>
            <a:prstGeom prst="ellipse">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23" name="矩形 22"/>
            <p:cNvSpPr/>
            <p:nvPr/>
          </p:nvSpPr>
          <p:spPr>
            <a:xfrm>
              <a:off x="5935187" y="4415044"/>
              <a:ext cx="119677" cy="36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grpSp>
      <p:sp>
        <p:nvSpPr>
          <p:cNvPr id="24" name="椭圆 23"/>
          <p:cNvSpPr/>
          <p:nvPr/>
        </p:nvSpPr>
        <p:spPr>
          <a:xfrm>
            <a:off x="7703446" y="3092363"/>
            <a:ext cx="488237" cy="446384"/>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dirty="0">
              <a:ln>
                <a:noFill/>
              </a:ln>
              <a:solidFill>
                <a:prstClr val="white"/>
              </a:solidFill>
              <a:effectLst/>
              <a:uLnTx/>
              <a:uFillTx/>
              <a:latin typeface="Calibri"/>
              <a:ea typeface="微软雅黑"/>
              <a:cs typeface="+mn-cs"/>
            </a:endParaRPr>
          </a:p>
        </p:txBody>
      </p:sp>
      <p:grpSp>
        <p:nvGrpSpPr>
          <p:cNvPr id="25" name="组合 24"/>
          <p:cNvGrpSpPr/>
          <p:nvPr/>
        </p:nvGrpSpPr>
        <p:grpSpPr>
          <a:xfrm>
            <a:off x="9245216" y="4913920"/>
            <a:ext cx="526956" cy="446384"/>
            <a:chOff x="7402397" y="5003093"/>
            <a:chExt cx="859892" cy="810266"/>
          </a:xfrm>
        </p:grpSpPr>
        <p:sp>
          <p:nvSpPr>
            <p:cNvPr id="26" name="椭圆 25"/>
            <p:cNvSpPr/>
            <p:nvPr/>
          </p:nvSpPr>
          <p:spPr>
            <a:xfrm>
              <a:off x="7402397" y="5003093"/>
              <a:ext cx="810266" cy="810266"/>
            </a:xfrm>
            <a:prstGeom prst="ellipse">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27" name="矩形 26"/>
            <p:cNvSpPr/>
            <p:nvPr/>
          </p:nvSpPr>
          <p:spPr>
            <a:xfrm>
              <a:off x="7458716" y="5199286"/>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smtClean="0">
                  <a:ln>
                    <a:noFill/>
                  </a:ln>
                  <a:solidFill>
                    <a:srgbClr val="EAE7D4"/>
                  </a:solidFill>
                  <a:effectLst/>
                  <a:uLnTx/>
                  <a:uFillTx/>
                  <a:latin typeface="Calibri"/>
                  <a:ea typeface="微软雅黑" pitchFamily="34" charset="-122"/>
                  <a:cs typeface="+mn-cs"/>
                </a:rPr>
                <a:t>决策</a:t>
              </a:r>
              <a:endParaRPr kumimoji="0" lang="zh-CN" altLang="en-US" sz="20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grpSp>
      <p:grpSp>
        <p:nvGrpSpPr>
          <p:cNvPr id="28" name="组合 27"/>
          <p:cNvGrpSpPr/>
          <p:nvPr/>
        </p:nvGrpSpPr>
        <p:grpSpPr>
          <a:xfrm>
            <a:off x="6121870" y="3214195"/>
            <a:ext cx="2077914" cy="2144797"/>
            <a:chOff x="4070096" y="1933242"/>
            <a:chExt cx="3390756" cy="3893186"/>
          </a:xfrm>
        </p:grpSpPr>
        <p:sp>
          <p:nvSpPr>
            <p:cNvPr id="29" name="椭圆 28"/>
            <p:cNvSpPr/>
            <p:nvPr/>
          </p:nvSpPr>
          <p:spPr>
            <a:xfrm>
              <a:off x="4070096" y="5016162"/>
              <a:ext cx="810266" cy="810266"/>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30" name="矩形 29"/>
            <p:cNvSpPr/>
            <p:nvPr/>
          </p:nvSpPr>
          <p:spPr>
            <a:xfrm>
              <a:off x="4070096" y="5183289"/>
              <a:ext cx="803573"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smtClean="0">
                  <a:ln>
                    <a:noFill/>
                  </a:ln>
                  <a:solidFill>
                    <a:srgbClr val="EAE7D4"/>
                  </a:solidFill>
                  <a:effectLst/>
                  <a:uLnTx/>
                  <a:uFillTx/>
                  <a:latin typeface="Calibri"/>
                  <a:ea typeface="微软雅黑" pitchFamily="34" charset="-122"/>
                  <a:cs typeface="+mn-cs"/>
                </a:rPr>
                <a:t>控制</a:t>
              </a:r>
              <a:endParaRPr kumimoji="0" lang="zh-CN" altLang="en-US" sz="20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sp>
          <p:nvSpPr>
            <p:cNvPr id="32" name="矩形 31"/>
            <p:cNvSpPr/>
            <p:nvPr/>
          </p:nvSpPr>
          <p:spPr>
            <a:xfrm>
              <a:off x="6657280" y="1933242"/>
              <a:ext cx="803572" cy="502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200" b="1" i="0" u="none" strike="noStrike" kern="1200" cap="none" spc="0" normalizeH="0" baseline="0" noProof="0" dirty="0" smtClean="0">
                  <a:ln>
                    <a:noFill/>
                  </a:ln>
                  <a:solidFill>
                    <a:srgbClr val="EAE7D4"/>
                  </a:solidFill>
                  <a:effectLst/>
                  <a:uLnTx/>
                  <a:uFillTx/>
                  <a:latin typeface="Calibri"/>
                  <a:ea typeface="微软雅黑" pitchFamily="34" charset="-122"/>
                  <a:cs typeface="+mn-cs"/>
                </a:rPr>
                <a:t>感知</a:t>
              </a:r>
              <a:endParaRPr kumimoji="0" lang="zh-CN" altLang="en-US" sz="2000" b="1" i="0" u="none" strike="noStrike" kern="1200" cap="none" spc="0" normalizeH="0" baseline="0" noProof="0" dirty="0">
                <a:ln>
                  <a:noFill/>
                </a:ln>
                <a:solidFill>
                  <a:srgbClr val="EAE7D4"/>
                </a:solidFill>
                <a:effectLst/>
                <a:uLnTx/>
                <a:uFillTx/>
                <a:latin typeface="Calibri"/>
                <a:ea typeface="微软雅黑" pitchFamily="34" charset="-122"/>
                <a:cs typeface="+mn-cs"/>
              </a:endParaRPr>
            </a:p>
          </p:txBody>
        </p:sp>
      </p:grpSp>
      <p:sp>
        <p:nvSpPr>
          <p:cNvPr id="33" name="文本框 32"/>
          <p:cNvSpPr txBox="1"/>
          <p:nvPr/>
        </p:nvSpPr>
        <p:spPr>
          <a:xfrm>
            <a:off x="7660928" y="4483316"/>
            <a:ext cx="607418"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err="1" smtClean="0">
                <a:ln>
                  <a:noFill/>
                </a:ln>
                <a:solidFill>
                  <a:prstClr val="white"/>
                </a:solidFill>
                <a:effectLst/>
                <a:uLnTx/>
                <a:uFillTx/>
                <a:latin typeface="Calibri"/>
                <a:ea typeface="微软雅黑"/>
                <a:cs typeface="+mn-cs"/>
              </a:rPr>
              <a:t>AIOps</a:t>
            </a:r>
            <a:endParaRPr kumimoji="0" lang="zh-CN" altLang="en-US" sz="1100" b="1" i="0" u="none" strike="noStrike" kern="1200" cap="none" spc="0" normalizeH="0" baseline="0" noProof="0" dirty="0">
              <a:ln>
                <a:noFill/>
              </a:ln>
              <a:solidFill>
                <a:prstClr val="white"/>
              </a:solidFill>
              <a:effectLst/>
              <a:uLnTx/>
              <a:uFillTx/>
              <a:latin typeface="Calibri"/>
              <a:ea typeface="微软雅黑"/>
              <a:cs typeface="+mn-cs"/>
            </a:endParaRPr>
          </a:p>
        </p:txBody>
      </p:sp>
      <p:sp>
        <p:nvSpPr>
          <p:cNvPr id="34" name="文本框 33"/>
          <p:cNvSpPr txBox="1"/>
          <p:nvPr/>
        </p:nvSpPr>
        <p:spPr>
          <a:xfrm>
            <a:off x="9520819" y="3273890"/>
            <a:ext cx="1383389"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srgbClr val="E7E6E6">
                    <a:lumMod val="10000"/>
                  </a:srgbClr>
                </a:solidFill>
                <a:effectLst/>
                <a:uLnTx/>
                <a:uFillTx/>
                <a:latin typeface="Calibri"/>
                <a:ea typeface="微软雅黑"/>
                <a:cs typeface="+mn-cs"/>
              </a:rPr>
              <a:t>通过闭环反馈机制，完成自我学习的过程</a:t>
            </a:r>
            <a:endParaRPr kumimoji="0" lang="zh-CN" altLang="en-US" sz="1800" b="0" i="0" u="none" strike="noStrike" kern="1200" cap="none" spc="0" normalizeH="0" baseline="0" noProof="0" dirty="0">
              <a:ln>
                <a:noFill/>
              </a:ln>
              <a:solidFill>
                <a:srgbClr val="E7E6E6">
                  <a:lumMod val="10000"/>
                </a:srgbClr>
              </a:solidFill>
              <a:effectLst/>
              <a:uLnTx/>
              <a:uFillTx/>
              <a:latin typeface="Calibri"/>
              <a:ea typeface="微软雅黑"/>
              <a:cs typeface="+mn-cs"/>
            </a:endParaRPr>
          </a:p>
        </p:txBody>
      </p:sp>
      <p:cxnSp>
        <p:nvCxnSpPr>
          <p:cNvPr id="35" name="直接箭头连接符 34"/>
          <p:cNvCxnSpPr>
            <a:endCxn id="26" idx="1"/>
          </p:cNvCxnSpPr>
          <p:nvPr/>
        </p:nvCxnSpPr>
        <p:spPr>
          <a:xfrm>
            <a:off x="8117387" y="3491194"/>
            <a:ext cx="1200546" cy="1488097"/>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26" idx="2"/>
            <a:endCxn id="29" idx="6"/>
          </p:cNvCxnSpPr>
          <p:nvPr/>
        </p:nvCxnSpPr>
        <p:spPr>
          <a:xfrm flipH="1" flipV="1">
            <a:off x="6618415" y="5135800"/>
            <a:ext cx="2626801" cy="1312"/>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9" idx="7"/>
            <a:endCxn id="24" idx="3"/>
          </p:cNvCxnSpPr>
          <p:nvPr/>
        </p:nvCxnSpPr>
        <p:spPr>
          <a:xfrm flipV="1">
            <a:off x="6545698" y="3473376"/>
            <a:ext cx="1229249" cy="150460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5" name="文本框 4"/>
          <p:cNvSpPr txBox="1"/>
          <p:nvPr/>
        </p:nvSpPr>
        <p:spPr>
          <a:xfrm>
            <a:off x="624114" y="10310"/>
            <a:ext cx="3052536"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项目提出</a:t>
            </a:r>
            <a:endParaRPr kumimoji="0"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18" name="文本框 17"/>
          <p:cNvSpPr txBox="1"/>
          <p:nvPr/>
        </p:nvSpPr>
        <p:spPr>
          <a:xfrm>
            <a:off x="721810" y="943949"/>
            <a:ext cx="39448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smtClean="0">
                <a:ln>
                  <a:noFill/>
                </a:ln>
                <a:solidFill>
                  <a:srgbClr val="333F50"/>
                </a:solidFill>
                <a:effectLst/>
                <a:uLnTx/>
                <a:uFillTx/>
                <a:latin typeface="Calibri"/>
                <a:ea typeface="微软雅黑"/>
                <a:cs typeface="+mn-cs"/>
              </a:rPr>
              <a:t>AIOps</a:t>
            </a:r>
            <a:r>
              <a:rPr kumimoji="0" lang="zh-CN" altLang="en-US" sz="1800" b="0" i="0" u="none" strike="noStrike" kern="1200" cap="none" spc="0" normalizeH="0" baseline="0" noProof="0" dirty="0" smtClean="0">
                <a:ln>
                  <a:noFill/>
                </a:ln>
                <a:solidFill>
                  <a:srgbClr val="333F50"/>
                </a:solidFill>
                <a:effectLst/>
                <a:uLnTx/>
                <a:uFillTx/>
                <a:latin typeface="Calibri"/>
                <a:ea typeface="微软雅黑"/>
                <a:cs typeface="+mn-cs"/>
              </a:rPr>
              <a:t>（</a:t>
            </a:r>
            <a:r>
              <a:rPr kumimoji="0" lang="en-US" altLang="zh-CN" sz="1800" b="0" i="0" u="none" strike="noStrike" kern="1200" cap="none" spc="0" normalizeH="0" baseline="0" noProof="0" dirty="0">
                <a:ln>
                  <a:noFill/>
                </a:ln>
                <a:solidFill>
                  <a:srgbClr val="333F50"/>
                </a:solidFill>
                <a:effectLst/>
                <a:uLnTx/>
                <a:uFillTx/>
                <a:latin typeface="Calibri"/>
                <a:ea typeface="微软雅黑"/>
                <a:cs typeface="+mn-cs"/>
              </a:rPr>
              <a:t>A</a:t>
            </a:r>
            <a:r>
              <a:rPr kumimoji="0" lang="en-US" altLang="zh-CN" sz="1800" b="0" i="0" u="none" strike="noStrike" kern="1200" cap="none" spc="0" normalizeH="0" baseline="0" noProof="0" dirty="0" smtClean="0">
                <a:ln>
                  <a:noFill/>
                </a:ln>
                <a:solidFill>
                  <a:srgbClr val="333F50"/>
                </a:solidFill>
                <a:effectLst/>
                <a:uLnTx/>
                <a:uFillTx/>
                <a:latin typeface="Calibri"/>
                <a:ea typeface="微软雅黑"/>
                <a:cs typeface="+mn-cs"/>
              </a:rPr>
              <a:t>lgorithm IT Operations</a:t>
            </a:r>
            <a:r>
              <a:rPr kumimoji="0" lang="zh-CN" altLang="en-US" sz="1800" b="0" i="0" u="none" strike="noStrike" kern="1200" cap="none" spc="0" normalizeH="0" baseline="0" noProof="0" dirty="0" smtClean="0">
                <a:ln>
                  <a:noFill/>
                </a:ln>
                <a:solidFill>
                  <a:srgbClr val="333F50"/>
                </a:solidFill>
                <a:effectLst/>
                <a:uLnTx/>
                <a:uFillTx/>
                <a:latin typeface="Calibri"/>
                <a:ea typeface="微软雅黑"/>
                <a:cs typeface="+mn-cs"/>
              </a:rPr>
              <a:t>）</a:t>
            </a:r>
            <a:endParaRPr kumimoji="0" lang="zh-CN" altLang="en-US" sz="1800" b="0" i="0" u="none" strike="noStrike" kern="1200" cap="none" spc="0" normalizeH="0" baseline="0" noProof="0" dirty="0">
              <a:ln>
                <a:noFill/>
              </a:ln>
              <a:solidFill>
                <a:srgbClr val="333F50"/>
              </a:solidFill>
              <a:effectLst/>
              <a:uLnTx/>
              <a:uFillTx/>
              <a:latin typeface="Calibri"/>
              <a:ea typeface="微软雅黑"/>
              <a:cs typeface="+mn-cs"/>
            </a:endParaRPr>
          </a:p>
        </p:txBody>
      </p:sp>
      <p:sp>
        <p:nvSpPr>
          <p:cNvPr id="2" name="文本框 1"/>
          <p:cNvSpPr txBox="1"/>
          <p:nvPr/>
        </p:nvSpPr>
        <p:spPr>
          <a:xfrm>
            <a:off x="5698731" y="1313281"/>
            <a:ext cx="4171375" cy="923330"/>
          </a:xfrm>
          <a:prstGeom prst="rect">
            <a:avLst/>
          </a:prstGeom>
          <a:noFill/>
        </p:spPr>
        <p:txBody>
          <a:bodyPr wrap="square" rtlCol="0">
            <a:spAutoFit/>
          </a:bodyPr>
          <a:lstStyle/>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rPr>
              <a:t>Ops = </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运维场景（主旨）</a:t>
            </a:r>
            <a:endPar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rPr>
              <a:t>AI = </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代表技术（手段）</a:t>
            </a:r>
            <a:endParaRPr kumimoji="0" lang="zh-CN" altLang="en-US" sz="1800" b="0" i="0" u="none" strike="noStrike" kern="1200" cap="none" spc="0" normalizeH="0" baseline="0" noProof="0" dirty="0">
              <a:ln>
                <a:noFill/>
              </a:ln>
              <a:solidFill>
                <a:prstClr val="black"/>
              </a:solidFill>
              <a:effectLst/>
              <a:uLnTx/>
              <a:uFillTx/>
              <a:latin typeface="Calibri"/>
              <a:ea typeface="微软雅黑"/>
              <a:cs typeface="+mn-cs"/>
            </a:endParaRPr>
          </a:p>
        </p:txBody>
      </p:sp>
      <p:sp>
        <p:nvSpPr>
          <p:cNvPr id="8" name="文本框 7"/>
          <p:cNvSpPr txBox="1"/>
          <p:nvPr/>
        </p:nvSpPr>
        <p:spPr>
          <a:xfrm>
            <a:off x="346981" y="1614474"/>
            <a:ext cx="4772025" cy="1338828"/>
          </a:xfrm>
          <a:prstGeom prst="rect">
            <a:avLst/>
          </a:prstGeom>
          <a:noFill/>
        </p:spPr>
        <p:txBody>
          <a:bodyPr wrap="square" rtlCol="0">
            <a:spAutoFit/>
          </a:bodyPr>
          <a:lstStyle/>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传统自动化运维的缺点：</a:t>
            </a:r>
            <a:endParaRPr kumimoji="0" lang="en-US" altLang="zh-CN" sz="1800" b="0" i="0" u="none" strike="noStrike" kern="1200" cap="none" spc="0" normalizeH="0" baseline="0" noProof="0" dirty="0">
              <a:ln>
                <a:noFill/>
              </a:ln>
              <a:solidFill>
                <a:prstClr val="black"/>
              </a:solidFill>
              <a:effectLst/>
              <a:uLnTx/>
              <a:uFillTx/>
              <a:latin typeface="Calibri"/>
              <a:ea typeface="微软雅黑"/>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根据人为制定流程，不能自主适应</a:t>
            </a:r>
            <a:endPar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无法面临新的挑战和大规模运维问题</a:t>
            </a:r>
            <a:endPar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endParaRPr>
          </a:p>
        </p:txBody>
      </p:sp>
      <p:sp>
        <p:nvSpPr>
          <p:cNvPr id="9" name="文本框 8"/>
          <p:cNvSpPr txBox="1"/>
          <p:nvPr/>
        </p:nvSpPr>
        <p:spPr>
          <a:xfrm>
            <a:off x="346981" y="4002318"/>
            <a:ext cx="3947886" cy="1754326"/>
          </a:xfrm>
          <a:prstGeom prst="rect">
            <a:avLst/>
          </a:prstGeom>
          <a:noFill/>
        </p:spPr>
        <p:txBody>
          <a:bodyPr wrap="square" rtlCol="0">
            <a:spAutoFit/>
          </a:bodyPr>
          <a:lstStyle/>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智慧运维：</a:t>
            </a:r>
            <a:endParaRPr kumimoji="0" lang="en-US" altLang="zh-CN" sz="1800" b="0" i="0" u="none" strike="noStrike" kern="1200" cap="none" spc="0" normalizeH="0" baseline="0" noProof="0" dirty="0" smtClean="0">
              <a:ln>
                <a:noFill/>
              </a:ln>
              <a:solidFill>
                <a:prstClr val="black"/>
              </a:solidFill>
              <a:effectLst/>
              <a:uLnTx/>
              <a:uFillTx/>
              <a:latin typeface="Calibri"/>
              <a:ea typeface="微软雅黑"/>
              <a:cs typeface="+mn-cs"/>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机器学习</a:t>
            </a:r>
            <a:r>
              <a:rPr kumimoji="0" lang="zh-CN" altLang="en-US" sz="1800" b="0" i="0" u="none" strike="noStrike" kern="1200" cap="none" spc="0" normalizeH="0" baseline="0" noProof="0" dirty="0">
                <a:ln>
                  <a:noFill/>
                </a:ln>
                <a:solidFill>
                  <a:prstClr val="black"/>
                </a:solidFill>
                <a:effectLst/>
                <a:uLnTx/>
                <a:uFillTx/>
                <a:latin typeface="Calibri"/>
                <a:ea typeface="微软雅黑"/>
                <a:cs typeface="+mn-cs"/>
              </a:rPr>
              <a:t>算法自动地从海量运维数</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据中</a:t>
            </a:r>
            <a:r>
              <a:rPr kumimoji="0" lang="zh-CN" altLang="en-US" sz="1800" b="0" i="0" u="none" strike="noStrike" kern="1200" cap="none" spc="0" normalizeH="0" baseline="0" noProof="0" dirty="0">
                <a:ln>
                  <a:noFill/>
                </a:ln>
                <a:solidFill>
                  <a:prstClr val="black"/>
                </a:solidFill>
                <a:effectLst/>
                <a:uLnTx/>
                <a:uFillTx/>
                <a:latin typeface="Calibri"/>
                <a:ea typeface="微软雅黑"/>
                <a:cs typeface="+mn-cs"/>
              </a:rPr>
              <a:t>不断地学习，不断地提炼并总结规则</a:t>
            </a:r>
            <a:r>
              <a:rPr kumimoji="0" lang="zh-CN" altLang="en-US" sz="1800" b="0" i="0" u="none" strike="noStrike" kern="1200" cap="none" spc="0" normalizeH="0" baseline="0" noProof="0" dirty="0" smtClean="0">
                <a:ln>
                  <a:noFill/>
                </a:ln>
                <a:solidFill>
                  <a:prstClr val="black"/>
                </a:solidFill>
                <a:effectLst/>
                <a:uLnTx/>
                <a:uFillTx/>
                <a:latin typeface="Calibri"/>
                <a:ea typeface="微软雅黑"/>
                <a:cs typeface="+mn-cs"/>
              </a:rPr>
              <a:t>。</a:t>
            </a:r>
            <a:endParaRPr kumimoji="0" lang="zh-CN" altLang="en-US" sz="1800" b="0" i="0" u="none" strike="noStrike" kern="1200" cap="none" spc="0" normalizeH="0" baseline="0" noProof="0" dirty="0">
              <a:ln>
                <a:noFill/>
              </a:ln>
              <a:solidFill>
                <a:prstClr val="black"/>
              </a:solidFill>
              <a:effectLst/>
              <a:uLnTx/>
              <a:uFillTx/>
              <a:latin typeface="Calibri"/>
              <a:ea typeface="微软雅黑"/>
              <a:cs typeface="+mn-cs"/>
            </a:endParaRPr>
          </a:p>
        </p:txBody>
      </p:sp>
      <p:sp>
        <p:nvSpPr>
          <p:cNvPr id="19" name="矩形 18"/>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smtClean="0">
                <a:ln>
                  <a:noFill/>
                </a:ln>
                <a:solidFill>
                  <a:srgbClr val="FF0000"/>
                </a:solidFill>
                <a:effectLst/>
                <a:uLnTx/>
                <a:uFillTx/>
                <a:latin typeface="Calibri"/>
                <a:ea typeface="微软雅黑"/>
                <a:cs typeface="+mn-cs"/>
              </a:rPr>
              <a:t>在自动化运维的基础上，</a:t>
            </a:r>
            <a:r>
              <a:rPr kumimoji="0" lang="zh-CN" altLang="zh-CN" sz="2400" b="1" i="0" u="none" strike="noStrike" kern="1200" cap="none" spc="0" normalizeH="0" baseline="0" noProof="0" dirty="0" smtClean="0">
                <a:ln>
                  <a:noFill/>
                </a:ln>
                <a:solidFill>
                  <a:srgbClr val="FF0000"/>
                </a:solidFill>
                <a:effectLst/>
                <a:uLnTx/>
                <a:uFillTx/>
                <a:latin typeface="Calibri"/>
                <a:ea typeface="微软雅黑"/>
                <a:cs typeface="+mn-cs"/>
              </a:rPr>
              <a:t>通过</a:t>
            </a:r>
            <a:r>
              <a:rPr kumimoji="0" lang="zh-CN" altLang="zh-CN" sz="2400" b="1" i="0" u="none" strike="noStrike" kern="1200" cap="none" spc="0" normalizeH="0" baseline="0" noProof="0" dirty="0">
                <a:ln>
                  <a:noFill/>
                </a:ln>
                <a:solidFill>
                  <a:srgbClr val="FF0000"/>
                </a:solidFill>
                <a:effectLst/>
                <a:uLnTx/>
                <a:uFillTx/>
                <a:latin typeface="Calibri"/>
                <a:ea typeface="微软雅黑"/>
                <a:cs typeface="+mn-cs"/>
              </a:rPr>
              <a:t>人工智能的方式，进一步提升运维效率，包括运维决策、故障预测和问题分析等</a:t>
            </a:r>
            <a:endParaRPr kumimoji="0" lang="zh-CN" altLang="en-US" sz="2400" b="1" i="0" u="none" strike="noStrike" kern="1200" cap="none" spc="0" normalizeH="0" baseline="0" noProof="0" dirty="0">
              <a:ln>
                <a:noFill/>
              </a:ln>
              <a:solidFill>
                <a:srgbClr val="FF0000"/>
              </a:solidFill>
              <a:effectLst/>
              <a:uLnTx/>
              <a:uFillTx/>
              <a:latin typeface="Calibri"/>
              <a:ea typeface="微软雅黑"/>
              <a:cs typeface="+mn-cs"/>
            </a:endParaRPr>
          </a:p>
        </p:txBody>
      </p:sp>
    </p:spTree>
    <p:extLst>
      <p:ext uri="{BB962C8B-B14F-4D97-AF65-F5344CB8AC3E}">
        <p14:creationId xmlns:p14="http://schemas.microsoft.com/office/powerpoint/2010/main" val="397053222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inVertical)">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par>
                                <p:cTn id="31" presetID="22" presetClass="entr" presetSubtype="4"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down)">
                                      <p:cBhvr>
                                        <p:cTn id="33" dur="500"/>
                                        <p:tgtEl>
                                          <p:spTgt spid="13"/>
                                        </p:tgtEl>
                                      </p:cBhvr>
                                    </p:animEffect>
                                  </p:childTnLst>
                                </p:cTn>
                              </p:par>
                              <p:par>
                                <p:cTn id="34" presetID="22" presetClass="entr" presetSubtype="4"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down)">
                                      <p:cBhvr>
                                        <p:cTn id="36" dur="500"/>
                                        <p:tgtEl>
                                          <p:spTgt spid="15"/>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down)">
                                      <p:cBhvr>
                                        <p:cTn id="39" dur="500"/>
                                        <p:tgtEl>
                                          <p:spTgt spid="17"/>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down)">
                                      <p:cBhvr>
                                        <p:cTn id="42" dur="500"/>
                                        <p:tgtEl>
                                          <p:spTgt spid="20"/>
                                        </p:tgtEl>
                                      </p:cBhvr>
                                    </p:animEffect>
                                  </p:childTnLst>
                                </p:cTn>
                              </p:par>
                              <p:par>
                                <p:cTn id="43" presetID="22" presetClass="entr" presetSubtype="4"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down)">
                                      <p:cBhvr>
                                        <p:cTn id="45" dur="500"/>
                                        <p:tgtEl>
                                          <p:spTgt spid="21"/>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ipe(down)">
                                      <p:cBhvr>
                                        <p:cTn id="48" dur="500"/>
                                        <p:tgtEl>
                                          <p:spTgt spid="24"/>
                                        </p:tgtEl>
                                      </p:cBhvr>
                                    </p:animEffect>
                                  </p:childTnLst>
                                </p:cTn>
                              </p:par>
                              <p:par>
                                <p:cTn id="49" presetID="22" presetClass="entr" presetSubtype="4"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down)">
                                      <p:cBhvr>
                                        <p:cTn id="51" dur="500"/>
                                        <p:tgtEl>
                                          <p:spTgt spid="25"/>
                                        </p:tgtEl>
                                      </p:cBhvr>
                                    </p:animEffect>
                                  </p:childTnLst>
                                </p:cTn>
                              </p:par>
                              <p:par>
                                <p:cTn id="52" presetID="22" presetClass="entr" presetSubtype="4" fill="hold"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down)">
                                      <p:cBhvr>
                                        <p:cTn id="54" dur="500"/>
                                        <p:tgtEl>
                                          <p:spTgt spid="28"/>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wipe(down)">
                                      <p:cBhvr>
                                        <p:cTn id="57" dur="500"/>
                                        <p:tgtEl>
                                          <p:spTgt spid="33"/>
                                        </p:tgtEl>
                                      </p:cBhvr>
                                    </p:animEffect>
                                  </p:childTnLst>
                                </p:cTn>
                              </p:par>
                              <p:par>
                                <p:cTn id="58" presetID="22" presetClass="entr" presetSubtype="4" fill="hold" grpId="0" nodeType="with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down)">
                                      <p:cBhvr>
                                        <p:cTn id="60" dur="500"/>
                                        <p:tgtEl>
                                          <p:spTgt spid="34"/>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wipe(down)">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p:tgtEl>
                                          <p:spTgt spid="19"/>
                                        </p:tgtEl>
                                        <p:attrNameLst>
                                          <p:attrName>ppt_x</p:attrName>
                                        </p:attrNameLst>
                                      </p:cBhvr>
                                      <p:tavLst>
                                        <p:tav tm="0">
                                          <p:val>
                                            <p:strVal val="#ppt_x"/>
                                          </p:val>
                                        </p:tav>
                                        <p:tav tm="100000">
                                          <p:val>
                                            <p:strVal val="#ppt_x"/>
                                          </p:val>
                                        </p:tav>
                                      </p:tavLst>
                                    </p:anim>
                                    <p:anim calcmode="lin" valueType="num">
                                      <p:cBhvr additive="base">
                                        <p:cTn id="69"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0" grpId="0"/>
      <p:bldP spid="24" grpId="0" animBg="1"/>
      <p:bldP spid="33" grpId="0"/>
      <p:bldP spid="34" grpId="0"/>
      <p:bldP spid="2" grpId="0"/>
      <p:bldP spid="8" grpId="0"/>
      <p:bldP spid="9" grpId="0"/>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05139" y="2656003"/>
            <a:ext cx="3500211" cy="2291860"/>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3052536"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项目提出</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1205139" y="2075896"/>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8" name="文本框 37"/>
          <p:cNvSpPr txBox="1"/>
          <p:nvPr/>
        </p:nvSpPr>
        <p:spPr>
          <a:xfrm>
            <a:off x="1229753" y="2717020"/>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48" name="矩形 47"/>
          <p:cNvSpPr/>
          <p:nvPr/>
        </p:nvSpPr>
        <p:spPr>
          <a:xfrm>
            <a:off x="7194115" y="2655902"/>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6" name="圆角矩形 15"/>
          <p:cNvSpPr/>
          <p:nvPr/>
        </p:nvSpPr>
        <p:spPr>
          <a:xfrm>
            <a:off x="7467600" y="2884587"/>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49" name="圆角矩形 48"/>
          <p:cNvSpPr/>
          <p:nvPr/>
        </p:nvSpPr>
        <p:spPr>
          <a:xfrm>
            <a:off x="7467600" y="3264910"/>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51" name="圆角矩形 50"/>
          <p:cNvSpPr/>
          <p:nvPr/>
        </p:nvSpPr>
        <p:spPr>
          <a:xfrm>
            <a:off x="7467600" y="371030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61" name="圆角矩形 60"/>
          <p:cNvSpPr/>
          <p:nvPr/>
        </p:nvSpPr>
        <p:spPr>
          <a:xfrm>
            <a:off x="7467600" y="410519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62" name="圆角矩形 61"/>
          <p:cNvSpPr/>
          <p:nvPr/>
        </p:nvSpPr>
        <p:spPr>
          <a:xfrm>
            <a:off x="7467600" y="4491720"/>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22" name="右箭头 21"/>
          <p:cNvSpPr/>
          <p:nvPr/>
        </p:nvSpPr>
        <p:spPr>
          <a:xfrm>
            <a:off x="5150004" y="3403022"/>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1097292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3" name="文本框 2"/>
          <p:cNvSpPr txBox="1"/>
          <p:nvPr/>
        </p:nvSpPr>
        <p:spPr>
          <a:xfrm>
            <a:off x="4237799" y="1874903"/>
            <a:ext cx="2653452" cy="34163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数据采集模块</a:t>
            </a:r>
          </a:p>
          <a:p>
            <a:pPr marL="285750" indent="-285750">
              <a:lnSpc>
                <a:spcPct val="150000"/>
              </a:lnSpc>
              <a:buFont typeface="Arial" panose="020B0604020202020204" pitchFamily="34" charset="0"/>
              <a:buChar char="•"/>
            </a:pPr>
            <a:r>
              <a:rPr lang="zh-CN" altLang="en-US" dirty="0"/>
              <a:t>数据解码模块</a:t>
            </a:r>
          </a:p>
          <a:p>
            <a:pPr marL="285750" indent="-285750">
              <a:lnSpc>
                <a:spcPct val="150000"/>
              </a:lnSpc>
              <a:buFont typeface="Arial" panose="020B0604020202020204" pitchFamily="34" charset="0"/>
              <a:buChar char="•"/>
            </a:pPr>
            <a:r>
              <a:rPr lang="zh-CN" altLang="en-US" dirty="0"/>
              <a:t>数据存储模块</a:t>
            </a:r>
          </a:p>
          <a:p>
            <a:pPr marL="285750" indent="-285750">
              <a:lnSpc>
                <a:spcPct val="150000"/>
              </a:lnSpc>
              <a:buFont typeface="Arial" panose="020B0604020202020204" pitchFamily="34" charset="0"/>
              <a:buChar char="•"/>
            </a:pPr>
            <a:r>
              <a:rPr lang="zh-CN" altLang="en-US" dirty="0" smtClean="0"/>
              <a:t>自主学习模块</a:t>
            </a:r>
            <a:endParaRPr lang="zh-CN" altLang="en-US" dirty="0"/>
          </a:p>
          <a:p>
            <a:pPr marL="285750" indent="-285750">
              <a:lnSpc>
                <a:spcPct val="150000"/>
              </a:lnSpc>
              <a:buFont typeface="Arial" panose="020B0604020202020204" pitchFamily="34" charset="0"/>
              <a:buChar char="•"/>
            </a:pPr>
            <a:r>
              <a:rPr lang="zh-CN" altLang="en-US" dirty="0"/>
              <a:t>业务管理模块</a:t>
            </a:r>
          </a:p>
          <a:p>
            <a:pPr marL="285750" indent="-285750">
              <a:lnSpc>
                <a:spcPct val="150000"/>
              </a:lnSpc>
              <a:buFont typeface="Arial" panose="020B0604020202020204" pitchFamily="34" charset="0"/>
              <a:buChar char="•"/>
            </a:pPr>
            <a:r>
              <a:rPr lang="zh-CN" altLang="en-US" dirty="0"/>
              <a:t>场景保障模块</a:t>
            </a:r>
          </a:p>
          <a:p>
            <a:pPr marL="285750" indent="-285750">
              <a:lnSpc>
                <a:spcPct val="150000"/>
              </a:lnSpc>
              <a:buFont typeface="Arial" panose="020B0604020202020204" pitchFamily="34" charset="0"/>
              <a:buChar char="•"/>
            </a:pPr>
            <a:r>
              <a:rPr lang="zh-CN" altLang="en-US" dirty="0"/>
              <a:t>故障处理模块</a:t>
            </a:r>
          </a:p>
          <a:p>
            <a:pPr marL="285750" indent="-285750">
              <a:lnSpc>
                <a:spcPct val="150000"/>
              </a:lnSpc>
              <a:buFont typeface="Arial" panose="020B0604020202020204" pitchFamily="34" charset="0"/>
              <a:buChar char="•"/>
            </a:pPr>
            <a:r>
              <a:rPr lang="zh-CN" altLang="en-US" dirty="0"/>
              <a:t>用户呈现模块</a:t>
            </a:r>
          </a:p>
        </p:txBody>
      </p:sp>
      <p:sp>
        <p:nvSpPr>
          <p:cNvPr id="2" name="文本框 1"/>
          <p:cNvSpPr txBox="1"/>
          <p:nvPr/>
        </p:nvSpPr>
        <p:spPr>
          <a:xfrm>
            <a:off x="7162800" y="3362325"/>
            <a:ext cx="2152650" cy="369332"/>
          </a:xfrm>
          <a:prstGeom prst="rect">
            <a:avLst/>
          </a:prstGeom>
          <a:noFill/>
        </p:spPr>
        <p:txBody>
          <a:bodyPr wrap="square" rtlCol="0">
            <a:spAutoFit/>
          </a:bodyPr>
          <a:lstStyle/>
          <a:p>
            <a:r>
              <a:rPr lang="zh-CN" altLang="en-US" dirty="0" smtClean="0">
                <a:solidFill>
                  <a:srgbClr val="FF0000"/>
                </a:solidFill>
              </a:rPr>
              <a:t>（待完善）</a:t>
            </a:r>
            <a:endParaRPr lang="zh-CN" altLang="en-US" dirty="0">
              <a:solidFill>
                <a:srgbClr val="FF0000"/>
              </a:solidFill>
            </a:endParaRPr>
          </a:p>
        </p:txBody>
      </p:sp>
    </p:spTree>
    <p:extLst>
      <p:ext uri="{BB962C8B-B14F-4D97-AF65-F5344CB8AC3E}">
        <p14:creationId xmlns:p14="http://schemas.microsoft.com/office/powerpoint/2010/main" val="604773487"/>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grpSp>
        <p:nvGrpSpPr>
          <p:cNvPr id="33" name="组合 32"/>
          <p:cNvGrpSpPr/>
          <p:nvPr/>
        </p:nvGrpSpPr>
        <p:grpSpPr>
          <a:xfrm>
            <a:off x="1202690" y="1461135"/>
            <a:ext cx="9715500" cy="4213860"/>
            <a:chOff x="1893" y="2614"/>
            <a:chExt cx="15300" cy="6636"/>
          </a:xfrm>
        </p:grpSpPr>
        <p:sp>
          <p:nvSpPr>
            <p:cNvPr id="2" name="圆角矩形 1"/>
            <p:cNvSpPr/>
            <p:nvPr/>
          </p:nvSpPr>
          <p:spPr>
            <a:xfrm>
              <a:off x="1893" y="3967"/>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数据采集模块</a:t>
              </a:r>
            </a:p>
          </p:txBody>
        </p:sp>
        <p:sp>
          <p:nvSpPr>
            <p:cNvPr id="5" name="圆角矩形 4"/>
            <p:cNvSpPr/>
            <p:nvPr/>
          </p:nvSpPr>
          <p:spPr>
            <a:xfrm>
              <a:off x="1893" y="6281"/>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数据解码模块</a:t>
              </a:r>
            </a:p>
          </p:txBody>
        </p:sp>
        <p:sp>
          <p:nvSpPr>
            <p:cNvPr id="9" name="圆角矩形 8"/>
            <p:cNvSpPr/>
            <p:nvPr/>
          </p:nvSpPr>
          <p:spPr>
            <a:xfrm>
              <a:off x="5602" y="6281"/>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数据存储模块</a:t>
              </a:r>
            </a:p>
          </p:txBody>
        </p:sp>
        <p:sp>
          <p:nvSpPr>
            <p:cNvPr id="10" name="圆角矩形 9"/>
            <p:cNvSpPr/>
            <p:nvPr/>
          </p:nvSpPr>
          <p:spPr>
            <a:xfrm>
              <a:off x="5602" y="3967"/>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自主学习模块</a:t>
              </a:r>
              <a:endParaRPr lang="zh-CN" altLang="en-US" dirty="0"/>
            </a:p>
          </p:txBody>
        </p:sp>
        <p:sp>
          <p:nvSpPr>
            <p:cNvPr id="11" name="圆角矩形 10"/>
            <p:cNvSpPr/>
            <p:nvPr/>
          </p:nvSpPr>
          <p:spPr>
            <a:xfrm>
              <a:off x="10049" y="8298"/>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业务管理模块</a:t>
              </a:r>
            </a:p>
          </p:txBody>
        </p:sp>
        <p:sp>
          <p:nvSpPr>
            <p:cNvPr id="12" name="圆角矩形 11"/>
            <p:cNvSpPr/>
            <p:nvPr/>
          </p:nvSpPr>
          <p:spPr>
            <a:xfrm>
              <a:off x="10049" y="2614"/>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场景保障模块</a:t>
              </a:r>
            </a:p>
          </p:txBody>
        </p:sp>
        <p:sp>
          <p:nvSpPr>
            <p:cNvPr id="13" name="圆角矩形 12"/>
            <p:cNvSpPr/>
            <p:nvPr/>
          </p:nvSpPr>
          <p:spPr>
            <a:xfrm>
              <a:off x="10050" y="5507"/>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故障处理模块</a:t>
              </a:r>
            </a:p>
          </p:txBody>
        </p:sp>
        <p:sp>
          <p:nvSpPr>
            <p:cNvPr id="14" name="圆角矩形 13"/>
            <p:cNvSpPr/>
            <p:nvPr/>
          </p:nvSpPr>
          <p:spPr>
            <a:xfrm>
              <a:off x="15105" y="5508"/>
              <a:ext cx="2089"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用户呈现模块</a:t>
              </a:r>
            </a:p>
          </p:txBody>
        </p:sp>
        <p:sp>
          <p:nvSpPr>
            <p:cNvPr id="15" name="下箭头 14"/>
            <p:cNvSpPr/>
            <p:nvPr/>
          </p:nvSpPr>
          <p:spPr>
            <a:xfrm>
              <a:off x="2604" y="5088"/>
              <a:ext cx="668" cy="10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下箭头 15"/>
            <p:cNvSpPr/>
            <p:nvPr/>
          </p:nvSpPr>
          <p:spPr>
            <a:xfrm rot="16200000">
              <a:off x="4458" y="6281"/>
              <a:ext cx="668" cy="10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下箭头 16"/>
            <p:cNvSpPr/>
            <p:nvPr/>
          </p:nvSpPr>
          <p:spPr>
            <a:xfrm rot="10800000">
              <a:off x="6313" y="5088"/>
              <a:ext cx="668" cy="102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4225" y="5310"/>
              <a:ext cx="2088" cy="580"/>
            </a:xfrm>
            <a:prstGeom prst="rect">
              <a:avLst/>
            </a:prstGeom>
            <a:noFill/>
          </p:spPr>
          <p:txBody>
            <a:bodyPr wrap="none" rtlCol="0">
              <a:spAutoFit/>
            </a:bodyPr>
            <a:lstStyle/>
            <a:p>
              <a:pPr algn="r"/>
              <a:r>
                <a:rPr lang="zh-CN" altLang="en-US" dirty="0"/>
                <a:t>建立经验库</a:t>
              </a:r>
            </a:p>
          </p:txBody>
        </p:sp>
        <p:sp>
          <p:nvSpPr>
            <p:cNvPr id="20" name="左右箭头 19"/>
            <p:cNvSpPr/>
            <p:nvPr/>
          </p:nvSpPr>
          <p:spPr>
            <a:xfrm rot="1740000">
              <a:off x="7732" y="7550"/>
              <a:ext cx="1916" cy="6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7070" y="8298"/>
              <a:ext cx="1728" cy="580"/>
            </a:xfrm>
            <a:prstGeom prst="rect">
              <a:avLst/>
            </a:prstGeom>
            <a:noFill/>
          </p:spPr>
          <p:txBody>
            <a:bodyPr wrap="none" rtlCol="0">
              <a:spAutoFit/>
            </a:bodyPr>
            <a:lstStyle/>
            <a:p>
              <a:r>
                <a:rPr lang="zh-CN" altLang="en-US" dirty="0"/>
                <a:t>实时监测</a:t>
              </a:r>
            </a:p>
          </p:txBody>
        </p:sp>
        <p:sp>
          <p:nvSpPr>
            <p:cNvPr id="22" name="下箭头 21"/>
            <p:cNvSpPr/>
            <p:nvPr/>
          </p:nvSpPr>
          <p:spPr>
            <a:xfrm rot="10800000">
              <a:off x="10759" y="6639"/>
              <a:ext cx="668" cy="14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左右箭头 22"/>
            <p:cNvSpPr/>
            <p:nvPr/>
          </p:nvSpPr>
          <p:spPr>
            <a:xfrm rot="1740000">
              <a:off x="7912" y="5016"/>
              <a:ext cx="1916" cy="6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左右箭头 23"/>
            <p:cNvSpPr/>
            <p:nvPr/>
          </p:nvSpPr>
          <p:spPr>
            <a:xfrm rot="20040000">
              <a:off x="7905" y="3688"/>
              <a:ext cx="1916" cy="6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7691" y="2614"/>
              <a:ext cx="1728" cy="1016"/>
            </a:xfrm>
            <a:prstGeom prst="rect">
              <a:avLst/>
            </a:prstGeom>
            <a:noFill/>
          </p:spPr>
          <p:txBody>
            <a:bodyPr wrap="none" rtlCol="0">
              <a:spAutoFit/>
            </a:bodyPr>
            <a:lstStyle/>
            <a:p>
              <a:pPr algn="ctr"/>
              <a:r>
                <a:rPr lang="zh-CN" altLang="en-US" dirty="0"/>
                <a:t>历史数据</a:t>
              </a:r>
            </a:p>
            <a:p>
              <a:pPr algn="ctr"/>
              <a:r>
                <a:rPr lang="zh-CN" altLang="en-US" dirty="0"/>
                <a:t>建模</a:t>
              </a:r>
            </a:p>
          </p:txBody>
        </p:sp>
        <p:sp>
          <p:nvSpPr>
            <p:cNvPr id="26" name="文本框 25"/>
            <p:cNvSpPr txBox="1"/>
            <p:nvPr/>
          </p:nvSpPr>
          <p:spPr>
            <a:xfrm>
              <a:off x="9870" y="6992"/>
              <a:ext cx="1008" cy="1016"/>
            </a:xfrm>
            <a:prstGeom prst="rect">
              <a:avLst/>
            </a:prstGeom>
            <a:noFill/>
          </p:spPr>
          <p:txBody>
            <a:bodyPr wrap="none" rtlCol="0">
              <a:spAutoFit/>
            </a:bodyPr>
            <a:lstStyle/>
            <a:p>
              <a:r>
                <a:rPr lang="zh-CN" altLang="en-US" dirty="0"/>
                <a:t>异常</a:t>
              </a:r>
            </a:p>
            <a:p>
              <a:r>
                <a:rPr lang="zh-CN" altLang="en-US" dirty="0"/>
                <a:t>上报</a:t>
              </a:r>
            </a:p>
          </p:txBody>
        </p:sp>
        <p:sp>
          <p:nvSpPr>
            <p:cNvPr id="27" name="文本框 26"/>
            <p:cNvSpPr txBox="1"/>
            <p:nvPr/>
          </p:nvSpPr>
          <p:spPr>
            <a:xfrm>
              <a:off x="7941" y="5976"/>
              <a:ext cx="1749" cy="1016"/>
            </a:xfrm>
            <a:prstGeom prst="rect">
              <a:avLst/>
            </a:prstGeom>
            <a:noFill/>
          </p:spPr>
          <p:txBody>
            <a:bodyPr wrap="square" rtlCol="0">
              <a:spAutoFit/>
            </a:bodyPr>
            <a:lstStyle/>
            <a:p>
              <a:pPr algn="ctr"/>
              <a:r>
                <a:rPr lang="zh-CN" altLang="en-US" dirty="0"/>
                <a:t>故障处理指令</a:t>
              </a:r>
            </a:p>
          </p:txBody>
        </p:sp>
        <p:sp>
          <p:nvSpPr>
            <p:cNvPr id="28" name="下箭头 27"/>
            <p:cNvSpPr/>
            <p:nvPr/>
          </p:nvSpPr>
          <p:spPr>
            <a:xfrm rot="16200000">
              <a:off x="13285" y="4789"/>
              <a:ext cx="668" cy="238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13337" y="3302"/>
              <a:ext cx="1368" cy="580"/>
            </a:xfrm>
            <a:prstGeom prst="rect">
              <a:avLst/>
            </a:prstGeom>
            <a:noFill/>
          </p:spPr>
          <p:txBody>
            <a:bodyPr wrap="none" rtlCol="0">
              <a:spAutoFit/>
            </a:bodyPr>
            <a:lstStyle/>
            <a:p>
              <a:r>
                <a:rPr lang="zh-CN" altLang="en-US" dirty="0"/>
                <a:t>可视化</a:t>
              </a:r>
            </a:p>
          </p:txBody>
        </p:sp>
        <p:sp>
          <p:nvSpPr>
            <p:cNvPr id="30" name="下箭头 29"/>
            <p:cNvSpPr/>
            <p:nvPr/>
          </p:nvSpPr>
          <p:spPr>
            <a:xfrm rot="18300000">
              <a:off x="13286" y="2972"/>
              <a:ext cx="668" cy="28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下箭头 31"/>
            <p:cNvSpPr/>
            <p:nvPr/>
          </p:nvSpPr>
          <p:spPr>
            <a:xfrm rot="3300000" flipV="1">
              <a:off x="13286" y="6136"/>
              <a:ext cx="668" cy="28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71602285"/>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数据采集模块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120902"/>
          </a:xfrm>
          <a:prstGeom prst="rect">
            <a:avLst/>
          </a:prstGeom>
          <a:noFill/>
        </p:spPr>
        <p:txBody>
          <a:bodyPr wrap="square" rtlCol="0">
            <a:spAutoFit/>
          </a:bodyPr>
          <a:lstStyle/>
          <a:p>
            <a:pPr indent="457200" algn="l">
              <a:lnSpc>
                <a:spcPct val="150000"/>
              </a:lnSpc>
            </a:pPr>
            <a:r>
              <a:rPr lang="zh-CN" altLang="en-US" b="1" dirty="0"/>
              <a:t>模块简介</a:t>
            </a:r>
          </a:p>
          <a:p>
            <a:pPr indent="457200" algn="l">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effectLst/>
                <a:latin typeface="微软雅黑" panose="020B0503020204020204" pitchFamily="34" charset="-122"/>
                <a:ea typeface="微软雅黑" panose="020B0503020204020204" pitchFamily="34" charset="-122"/>
                <a:sym typeface="+mn-ea"/>
              </a:rPr>
              <a:t>网络运维所需处理的数据包括用户、业务、网络、设备四种，</a:t>
            </a:r>
            <a:r>
              <a:rPr lang="zh-CN" dirty="0">
                <a:effectLst/>
                <a:latin typeface="微软雅黑" panose="020B0503020204020204" pitchFamily="34" charset="-122"/>
                <a:ea typeface="微软雅黑" panose="020B0503020204020204" pitchFamily="34" charset="-122"/>
                <a:sym typeface="+mn-ea"/>
              </a:rPr>
              <a:t>日常工作中</a:t>
            </a:r>
            <a:r>
              <a:rPr lang="zh-CN" altLang="en-US" dirty="0">
                <a:effectLst/>
                <a:latin typeface="微软雅黑" panose="020B0503020204020204" pitchFamily="34" charset="-122"/>
                <a:ea typeface="微软雅黑" panose="020B0503020204020204" pitchFamily="34" charset="-122"/>
                <a:sym typeface="+mn-ea"/>
              </a:rPr>
              <a:t>需要手工选定，无法实现自动下载，且不同源文件的存放位置不同，人工手工管理过于繁杂。采集系统可由用户自定义目标源，通过采集系统，可以实现多个源同时自动实时上传下载文件，解决了数据异源端口，手工下载不统一等繁杂问题。</a:t>
            </a:r>
            <a:endParaRPr lang="zh-CN" altLang="en-US" dirty="0">
              <a:latin typeface="微软雅黑" panose="020B0503020204020204" pitchFamily="34" charset="-122"/>
              <a:ea typeface="微软雅黑" panose="020B0503020204020204" pitchFamily="34" charset="-122"/>
            </a:endParaRPr>
          </a:p>
        </p:txBody>
      </p:sp>
      <p:sp>
        <p:nvSpPr>
          <p:cNvPr id="5" name="文本框 4"/>
          <p:cNvSpPr txBox="1"/>
          <p:nvPr/>
        </p:nvSpPr>
        <p:spPr>
          <a:xfrm>
            <a:off x="1245235" y="4195764"/>
            <a:ext cx="9309735" cy="1338828"/>
          </a:xfrm>
          <a:prstGeom prst="rect">
            <a:avLst/>
          </a:prstGeom>
          <a:noFill/>
        </p:spPr>
        <p:txBody>
          <a:bodyPr wrap="square" rtlCol="0">
            <a:spAutoFit/>
          </a:bodyPr>
          <a:lstStyle/>
          <a:p>
            <a:pPr indent="457200" algn="l">
              <a:lnSpc>
                <a:spcPct val="150000"/>
              </a:lnSpc>
            </a:pPr>
            <a:r>
              <a:rPr lang="zh-CN" altLang="en-US" b="1" dirty="0"/>
              <a:t>模块功能</a:t>
            </a:r>
          </a:p>
          <a:p>
            <a:pPr indent="457200" algn="l">
              <a:lnSpc>
                <a:spcPct val="150000"/>
              </a:lnSpc>
            </a:pPr>
            <a:r>
              <a:rPr lang="zh-CN" altLang="en-US" dirty="0">
                <a:latin typeface="宋体" panose="02010600030101010101" pitchFamily="2" charset="-122"/>
                <a:ea typeface="宋体" panose="02010600030101010101" pitchFamily="2" charset="-122"/>
              </a:rPr>
              <a:t>    </a:t>
            </a:r>
            <a:r>
              <a:rPr lang="zh-CN" altLang="en-US" dirty="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a:t>
            </a:r>
            <a:r>
              <a:rPr lang="zh-CN" altLang="en-US" dirty="0">
                <a:latin typeface="微软雅黑" panose="020B0503020204020204" pitchFamily="34" charset="-122"/>
                <a:ea typeface="微软雅黑" panose="020B0503020204020204" pitchFamily="34" charset="-122"/>
                <a:sym typeface="+mn-ea"/>
              </a:rPr>
              <a:t>实时采集上传。</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90286099"/>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数据解码模块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06878"/>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altLang="en-US" dirty="0">
                <a:effectLst/>
                <a:latin typeface="+mn-ea"/>
                <a:sym typeface="+mn-ea"/>
              </a:rPr>
              <a:t>通过采集系统采集到的相关数据保留着网管侧的源格式，有</a:t>
            </a:r>
            <a:r>
              <a:rPr lang="en-US" altLang="zh-CN" dirty="0">
                <a:effectLst/>
                <a:latin typeface="+mn-ea"/>
                <a:sym typeface="+mn-ea"/>
              </a:rPr>
              <a:t>xml</a:t>
            </a:r>
            <a:r>
              <a:rPr lang="zh-CN" altLang="en-US" dirty="0">
                <a:effectLst/>
                <a:latin typeface="+mn-ea"/>
                <a:sym typeface="+mn-ea"/>
              </a:rPr>
              <a:t>等格式的非结构化数据，不具备良好的数据交互接口。通过解码模块将多端异源数据经过不同规则解析</a:t>
            </a:r>
            <a:r>
              <a:rPr lang="en-US" altLang="zh-CN" dirty="0">
                <a:effectLst/>
                <a:latin typeface="+mn-ea"/>
                <a:sym typeface="+mn-ea"/>
              </a:rPr>
              <a:t>,</a:t>
            </a:r>
            <a:r>
              <a:rPr lang="zh-CN" altLang="en-US" dirty="0">
                <a:effectLst/>
                <a:latin typeface="+mn-ea"/>
                <a:sym typeface="+mn-ea"/>
              </a:rPr>
              <a:t>使得原本不规则的数据经过汇总重整，变成结构化的可读数据，最终上传至数据仓库。</a:t>
            </a:r>
            <a:endParaRPr lang="zh-CN" altLang="en-US" dirty="0">
              <a:latin typeface="+mn-ea"/>
            </a:endParaRPr>
          </a:p>
        </p:txBody>
      </p:sp>
      <p:sp>
        <p:nvSpPr>
          <p:cNvPr id="5" name="文本框 4"/>
          <p:cNvSpPr txBox="1"/>
          <p:nvPr/>
        </p:nvSpPr>
        <p:spPr>
          <a:xfrm>
            <a:off x="1245235" y="409696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文件归类</a:t>
            </a:r>
          </a:p>
          <a:p>
            <a:pPr indent="457200" algn="l">
              <a:lnSpc>
                <a:spcPct val="150000"/>
              </a:lnSpc>
            </a:pPr>
            <a:r>
              <a:rPr lang="zh-CN" altLang="en-US" dirty="0">
                <a:effectLst/>
                <a:latin typeface="+mn-ea"/>
                <a:sym typeface="+mn-ea"/>
              </a:rPr>
              <a:t>    汇总解析</a:t>
            </a:r>
          </a:p>
          <a:p>
            <a:pPr indent="457200" algn="l">
              <a:lnSpc>
                <a:spcPct val="150000"/>
              </a:lnSpc>
            </a:pPr>
            <a:r>
              <a:rPr lang="zh-CN" altLang="en-US" dirty="0">
                <a:effectLst/>
                <a:latin typeface="+mn-ea"/>
                <a:sym typeface="+mn-ea"/>
              </a:rPr>
              <a:t>    数据入库。</a:t>
            </a:r>
            <a:endParaRPr lang="zh-CN" altLang="en-US" dirty="0">
              <a:latin typeface="+mn-ea"/>
            </a:endParaRPr>
          </a:p>
        </p:txBody>
      </p:sp>
    </p:spTree>
    <p:extLst>
      <p:ext uri="{BB962C8B-B14F-4D97-AF65-F5344CB8AC3E}">
        <p14:creationId xmlns:p14="http://schemas.microsoft.com/office/powerpoint/2010/main" val="1357939562"/>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数据存储模块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该模块是网络大脑的记忆区，存放上传后的汇总数据，由于</a:t>
            </a:r>
            <a:r>
              <a:rPr lang="zh-CN" altLang="en-US" dirty="0">
                <a:effectLst/>
                <a:latin typeface="+mn-ea"/>
                <a:sym typeface="+mn-ea"/>
              </a:rPr>
              <a:t>网络数据种类繁杂且体量巨大，需要结构化底层设计数据存储，以便于支撑数据的后期决策等应用。同时经验库通过人工干预和自主学习进行不断丰富完善。</a:t>
            </a:r>
            <a:endParaRPr lang="zh-CN" dirty="0">
              <a:latin typeface="+mn-ea"/>
            </a:endParaRPr>
          </a:p>
        </p:txBody>
      </p:sp>
      <p:sp>
        <p:nvSpPr>
          <p:cNvPr id="5" name="文本框 4"/>
          <p:cNvSpPr txBox="1"/>
          <p:nvPr/>
        </p:nvSpPr>
        <p:spPr>
          <a:xfrm>
            <a:off x="1245234" y="4208626"/>
            <a:ext cx="9309735" cy="1291379"/>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基础数据库：用于存放未加工的所有类型结构化数据</a:t>
            </a:r>
          </a:p>
          <a:p>
            <a:pPr indent="457200" algn="l">
              <a:lnSpc>
                <a:spcPct val="150000"/>
              </a:lnSpc>
            </a:pPr>
            <a:r>
              <a:rPr lang="zh-CN" altLang="en-US" dirty="0">
                <a:latin typeface="+mn-ea"/>
              </a:rPr>
              <a:t>    </a:t>
            </a:r>
            <a:r>
              <a:rPr lang="zh-CN" altLang="en-US" dirty="0">
                <a:effectLst/>
                <a:latin typeface="+mn-ea"/>
                <a:sym typeface="+mn-ea"/>
              </a:rPr>
              <a:t>经验库：算法库、模型库、场景库、指令库等</a:t>
            </a:r>
            <a:endParaRPr lang="zh-CN" altLang="en-US" dirty="0">
              <a:latin typeface="+mn-ea"/>
            </a:endParaRPr>
          </a:p>
        </p:txBody>
      </p:sp>
    </p:spTree>
    <p:extLst>
      <p:ext uri="{BB962C8B-B14F-4D97-AF65-F5344CB8AC3E}">
        <p14:creationId xmlns:p14="http://schemas.microsoft.com/office/powerpoint/2010/main" val="2508229857"/>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自主</a:t>
            </a:r>
            <a:r>
              <a:rPr lang="zh-CN" altLang="en-US" dirty="0" smtClean="0">
                <a:solidFill>
                  <a:srgbClr val="333F50"/>
                </a:solidFill>
              </a:rPr>
              <a:t>学习模块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16982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该模块是网络大脑执行决策的控制核心，以现有经验库为依据</a:t>
            </a:r>
            <a:r>
              <a:rPr lang="zh-CN" dirty="0" smtClean="0">
                <a:effectLst/>
                <a:latin typeface="+mn-ea"/>
                <a:sym typeface="+mn-ea"/>
              </a:rPr>
              <a:t>，</a:t>
            </a:r>
            <a:r>
              <a:rPr lang="zh-CN" altLang="en-US" dirty="0" smtClean="0">
                <a:effectLst/>
                <a:latin typeface="+mn-ea"/>
                <a:sym typeface="+mn-ea"/>
              </a:rPr>
              <a:t>包含了大量成熟的机器学习相关算法，</a:t>
            </a:r>
            <a:r>
              <a:rPr lang="zh-CN" altLang="en-US" dirty="0" smtClean="0">
                <a:latin typeface="+mn-ea"/>
                <a:sym typeface="+mn-ea"/>
              </a:rPr>
              <a:t>在现有的运维大数据上运行人工智能算法，挖掘数据与数据、数据与事件、事件与事件之间的关联分析，还包括数据模式发现及预测，</a:t>
            </a:r>
            <a:r>
              <a:rPr lang="zh-CN" altLang="en-US" dirty="0" smtClean="0">
                <a:latin typeface="+mn-ea"/>
                <a:sym typeface="+mn-ea"/>
              </a:rPr>
              <a:t>通过生成的学习模型为上层模块的数据在线分析、异常检测等应用场景提供支撑。</a:t>
            </a:r>
            <a:endParaRPr lang="zh-CN" dirty="0">
              <a:latin typeface="+mn-ea"/>
            </a:endParaRPr>
          </a:p>
        </p:txBody>
      </p:sp>
      <p:sp>
        <p:nvSpPr>
          <p:cNvPr id="5" name="文本框 4"/>
          <p:cNvSpPr txBox="1"/>
          <p:nvPr/>
        </p:nvSpPr>
        <p:spPr>
          <a:xfrm>
            <a:off x="1245235" y="417159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规则制定</a:t>
            </a:r>
          </a:p>
          <a:p>
            <a:pPr indent="457200" algn="l">
              <a:lnSpc>
                <a:spcPct val="150000"/>
              </a:lnSpc>
            </a:pPr>
            <a:r>
              <a:rPr lang="zh-CN" altLang="en-US" dirty="0">
                <a:effectLst/>
                <a:latin typeface="+mn-ea"/>
                <a:sym typeface="+mn-ea"/>
              </a:rPr>
              <a:t>    风险评估</a:t>
            </a:r>
          </a:p>
          <a:p>
            <a:pPr indent="457200" algn="l">
              <a:lnSpc>
                <a:spcPct val="150000"/>
              </a:lnSpc>
            </a:pPr>
            <a:r>
              <a:rPr lang="zh-CN" altLang="en-US" dirty="0">
                <a:effectLst/>
                <a:latin typeface="+mn-ea"/>
                <a:sym typeface="+mn-ea"/>
              </a:rPr>
              <a:t>    行为选择。</a:t>
            </a:r>
            <a:endParaRPr lang="zh-CN" altLang="en-US" dirty="0">
              <a:latin typeface="+mn-ea"/>
            </a:endParaRPr>
          </a:p>
        </p:txBody>
      </p:sp>
    </p:spTree>
    <p:extLst>
      <p:ext uri="{BB962C8B-B14F-4D97-AF65-F5344CB8AC3E}">
        <p14:creationId xmlns:p14="http://schemas.microsoft.com/office/powerpoint/2010/main" val="3274374161"/>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业务管理模块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585323"/>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由于网维中心各部门数据的格式、类型等不同，数据无法有效的被整合、归类。数据管理及分析工作受操作人员工作时间和地域限制，数据存储与利用效率低，对同一指标进行分析时往往需要重复采集分析数据，增大了无效的测试工作量。业务查询模块为各部门提供开放的数据接口，解决工程人员查询、监控、管理数据的难点，</a:t>
            </a:r>
            <a:r>
              <a:rPr lang="zh-CN" altLang="en-US" dirty="0" smtClean="0">
                <a:latin typeface="+mn-ea"/>
                <a:sym typeface="+mn-ea"/>
              </a:rPr>
              <a:t>对</a:t>
            </a:r>
            <a:r>
              <a:rPr lang="zh-CN" altLang="en-US" dirty="0">
                <a:latin typeface="+mn-ea"/>
                <a:sym typeface="+mn-ea"/>
              </a:rPr>
              <a:t>业务</a:t>
            </a:r>
            <a:r>
              <a:rPr lang="zh-CN" altLang="en-US" dirty="0" smtClean="0">
                <a:latin typeface="+mn-ea"/>
                <a:sym typeface="+mn-ea"/>
              </a:rPr>
              <a:t>流量及用户体验情况</a:t>
            </a:r>
            <a:r>
              <a:rPr lang="zh-CN" altLang="en-US" dirty="0">
                <a:latin typeface="+mn-ea"/>
                <a:sym typeface="+mn-ea"/>
              </a:rPr>
              <a:t>进行实时主动的监控</a:t>
            </a:r>
            <a:r>
              <a:rPr lang="zh-CN" altLang="en-US" dirty="0" smtClean="0">
                <a:latin typeface="+mn-ea"/>
                <a:sym typeface="+mn-ea"/>
              </a:rPr>
              <a:t>管理，并按照分类周期性导出数据报表</a:t>
            </a:r>
            <a:r>
              <a:rPr lang="zh-CN" altLang="en-US" dirty="0">
                <a:latin typeface="+mn-ea"/>
                <a:sym typeface="+mn-ea"/>
              </a:rPr>
              <a:t>。</a:t>
            </a:r>
            <a:endParaRPr lang="zh-CN" dirty="0">
              <a:latin typeface="+mn-ea"/>
            </a:endParaRPr>
          </a:p>
        </p:txBody>
      </p:sp>
      <p:sp>
        <p:nvSpPr>
          <p:cNvPr id="5" name="文本框 4"/>
          <p:cNvSpPr txBox="1"/>
          <p:nvPr/>
        </p:nvSpPr>
        <p:spPr>
          <a:xfrm>
            <a:off x="1245234" y="4654997"/>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指标归类整合</a:t>
            </a:r>
          </a:p>
          <a:p>
            <a:pPr indent="457200" algn="l">
              <a:lnSpc>
                <a:spcPct val="150000"/>
              </a:lnSpc>
            </a:pPr>
            <a:r>
              <a:rPr lang="zh-CN" altLang="en-US" dirty="0">
                <a:effectLst/>
                <a:latin typeface="+mn-ea"/>
                <a:sym typeface="+mn-ea"/>
              </a:rPr>
              <a:t>    实时自主监控</a:t>
            </a:r>
          </a:p>
          <a:p>
            <a:pPr indent="457200" algn="l">
              <a:lnSpc>
                <a:spcPct val="150000"/>
              </a:lnSpc>
            </a:pPr>
            <a:r>
              <a:rPr lang="zh-CN" altLang="en-US" dirty="0">
                <a:effectLst/>
                <a:latin typeface="+mn-ea"/>
                <a:sym typeface="+mn-ea"/>
              </a:rPr>
              <a:t>    报表自动生成。</a:t>
            </a:r>
            <a:endParaRPr lang="zh-CN" altLang="en-US" dirty="0">
              <a:latin typeface="+mn-ea"/>
            </a:endParaRPr>
          </a:p>
        </p:txBody>
      </p:sp>
    </p:spTree>
    <p:extLst>
      <p:ext uri="{BB962C8B-B14F-4D97-AF65-F5344CB8AC3E}">
        <p14:creationId xmlns:p14="http://schemas.microsoft.com/office/powerpoint/2010/main" val="3999067076"/>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场景保障模块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05403"/>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该模块通过对历史数据建模分析，预测场景话务，评估资源瓶颈，主动优化调整，扭转传统场景保障只能被动监控应急处理的局面，可基于样本点的网络质量指标，自动统计问题小区与弱覆盖区域。</a:t>
            </a:r>
            <a:endParaRPr lang="zh-CN" dirty="0">
              <a:latin typeface="+mn-ea"/>
            </a:endParaRPr>
          </a:p>
        </p:txBody>
      </p:sp>
      <p:sp>
        <p:nvSpPr>
          <p:cNvPr id="5" name="文本框 4"/>
          <p:cNvSpPr txBox="1"/>
          <p:nvPr/>
        </p:nvSpPr>
        <p:spPr>
          <a:xfrm>
            <a:off x="1245235" y="4039235"/>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场景预测</a:t>
            </a:r>
          </a:p>
          <a:p>
            <a:pPr indent="457200" algn="l">
              <a:lnSpc>
                <a:spcPct val="150000"/>
              </a:lnSpc>
            </a:pPr>
            <a:r>
              <a:rPr lang="zh-CN" altLang="en-US" dirty="0">
                <a:effectLst/>
                <a:latin typeface="+mn-ea"/>
                <a:sym typeface="+mn-ea"/>
              </a:rPr>
              <a:t>    网络结构优化</a:t>
            </a:r>
          </a:p>
          <a:p>
            <a:pPr indent="457200" algn="l">
              <a:lnSpc>
                <a:spcPct val="150000"/>
              </a:lnSpc>
            </a:pPr>
            <a:r>
              <a:rPr lang="zh-CN" altLang="en-US" dirty="0">
                <a:effectLst/>
                <a:latin typeface="+mn-ea"/>
                <a:sym typeface="+mn-ea"/>
              </a:rPr>
              <a:t>    投诉预警与回溯分析</a:t>
            </a:r>
          </a:p>
          <a:p>
            <a:pPr indent="457200" algn="l">
              <a:lnSpc>
                <a:spcPct val="150000"/>
              </a:lnSpc>
            </a:pPr>
            <a:r>
              <a:rPr lang="zh-CN" altLang="en-US" dirty="0">
                <a:effectLst/>
                <a:latin typeface="+mn-ea"/>
                <a:sym typeface="+mn-ea"/>
              </a:rPr>
              <a:t>    重要场景应用。</a:t>
            </a:r>
            <a:endParaRPr lang="zh-CN" altLang="en-US" dirty="0">
              <a:latin typeface="+mn-ea"/>
            </a:endParaRPr>
          </a:p>
        </p:txBody>
      </p:sp>
    </p:spTree>
    <p:extLst>
      <p:ext uri="{BB962C8B-B14F-4D97-AF65-F5344CB8AC3E}">
        <p14:creationId xmlns:p14="http://schemas.microsoft.com/office/powerpoint/2010/main" val="3713701858"/>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故障处理模块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2120902"/>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业务管理模块监控到异常发生时需要进行故障处理，智慧网络运维平台可以实现智能化故障处理，通过业务管理进行实时异常检测，对检测到的异常按照故障传播链依次查找进行故障定位，然后利用模型匹配模块</a:t>
            </a:r>
            <a:r>
              <a:rPr lang="zh-CN" altLang="en-US" dirty="0" smtClean="0">
                <a:latin typeface="+mn-ea"/>
                <a:sym typeface="+mn-ea"/>
              </a:rPr>
              <a:t>查找预设经验库中解决方案，若存在则可以通过完善的自动化脚本对故障进行止损处理，否则上报至相关运维责任人员。</a:t>
            </a:r>
            <a:endParaRPr lang="zh-CN" dirty="0">
              <a:latin typeface="+mn-ea"/>
            </a:endParaRPr>
          </a:p>
        </p:txBody>
      </p:sp>
      <p:sp>
        <p:nvSpPr>
          <p:cNvPr id="5" name="文本框 4"/>
          <p:cNvSpPr txBox="1"/>
          <p:nvPr/>
        </p:nvSpPr>
        <p:spPr>
          <a:xfrm>
            <a:off x="1245234" y="3897396"/>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智能告警识别</a:t>
            </a:r>
          </a:p>
          <a:p>
            <a:pPr indent="457200" algn="l">
              <a:lnSpc>
                <a:spcPct val="150000"/>
              </a:lnSpc>
            </a:pPr>
            <a:r>
              <a:rPr lang="zh-CN" altLang="en-US" dirty="0">
                <a:effectLst/>
                <a:latin typeface="+mn-ea"/>
                <a:sym typeface="+mn-ea"/>
              </a:rPr>
              <a:t>    异常根因分析与故障定位</a:t>
            </a:r>
          </a:p>
          <a:p>
            <a:pPr indent="457200" algn="l">
              <a:lnSpc>
                <a:spcPct val="150000"/>
              </a:lnSpc>
            </a:pPr>
            <a:r>
              <a:rPr lang="zh-CN" altLang="en-US" dirty="0">
                <a:effectLst/>
                <a:latin typeface="+mn-ea"/>
                <a:sym typeface="+mn-ea"/>
              </a:rPr>
              <a:t>    自主故障处理</a:t>
            </a:r>
          </a:p>
          <a:p>
            <a:pPr indent="457200" algn="l">
              <a:lnSpc>
                <a:spcPct val="150000"/>
              </a:lnSpc>
            </a:pPr>
            <a:r>
              <a:rPr lang="zh-CN" altLang="en-US" dirty="0">
                <a:effectLst/>
                <a:latin typeface="+mn-ea"/>
                <a:sym typeface="+mn-ea"/>
              </a:rPr>
              <a:t>    故障告警上报。</a:t>
            </a:r>
            <a:endParaRPr lang="zh-CN" altLang="en-US" dirty="0">
              <a:latin typeface="+mn-ea"/>
            </a:endParaRPr>
          </a:p>
        </p:txBody>
      </p:sp>
    </p:spTree>
    <p:extLst>
      <p:ext uri="{BB962C8B-B14F-4D97-AF65-F5344CB8AC3E}">
        <p14:creationId xmlns:p14="http://schemas.microsoft.com/office/powerpoint/2010/main" val="1022080839"/>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用户呈现模块</a:t>
            </a:r>
            <a:endParaRPr lang="zh-CN" altLang="en-US" dirty="0">
              <a:solidFill>
                <a:srgbClr val="333F50"/>
              </a:solidFill>
            </a:endParaRPr>
          </a:p>
        </p:txBody>
      </p:sp>
      <p:sp>
        <p:nvSpPr>
          <p:cNvPr id="8" name="文本框 7"/>
          <p:cNvSpPr txBox="1"/>
          <p:nvPr/>
        </p:nvSpPr>
        <p:spPr>
          <a:xfrm>
            <a:off x="624114" y="10310"/>
            <a:ext cx="5757636" cy="583565"/>
          </a:xfrm>
          <a:prstGeom prst="rect">
            <a:avLst/>
          </a:prstGeom>
          <a:noFill/>
        </p:spPr>
        <p:txBody>
          <a:bodyPr wrap="square" rtlCol="0">
            <a:spAutoFit/>
          </a:bodyPr>
          <a:lstStyle/>
          <a:p>
            <a:r>
              <a:rPr lang="zh-CN" sz="3200" b="1" dirty="0" err="1" smtClean="0">
                <a:latin typeface="微软雅黑" panose="020B0503020204020204" charset="-122"/>
                <a:ea typeface="微软雅黑" panose="020B0503020204020204" charset="-122"/>
              </a:rPr>
              <a:t>平台建设思路</a:t>
            </a:r>
            <a:endParaRPr lang="zh-CN" sz="3200" b="1" dirty="0">
              <a:latin typeface="微软雅黑" panose="020B0503020204020204" charset="-122"/>
              <a:ea typeface="微软雅黑" panose="020B0503020204020204" charset="-122"/>
            </a:endParaRPr>
          </a:p>
        </p:txBody>
      </p:sp>
      <p:sp>
        <p:nvSpPr>
          <p:cNvPr id="2" name="文本框 1"/>
          <p:cNvSpPr txBox="1"/>
          <p:nvPr/>
        </p:nvSpPr>
        <p:spPr>
          <a:xfrm>
            <a:off x="1245235" y="154241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effectLst/>
                <a:latin typeface="+mn-ea"/>
                <a:sym typeface="+mn-ea"/>
              </a:rPr>
              <a:t>为了对网络进行综合全面的评价和分析，为科学高效的智能网络运维管理提供人为干预指导，我们需要利用数据可视化技术，实时呈现网络整体情况，为当下决策提供数据支撑，为运维工作提供强有力的指导作用</a:t>
            </a:r>
            <a:r>
              <a:rPr lang="zh-CN" altLang="en-US" dirty="0">
                <a:latin typeface="+mn-ea"/>
                <a:sym typeface="+mn-ea"/>
              </a:rPr>
              <a:t>。</a:t>
            </a:r>
            <a:endParaRPr lang="zh-CN" dirty="0">
              <a:latin typeface="+mn-ea"/>
            </a:endParaRPr>
          </a:p>
        </p:txBody>
      </p:sp>
      <p:sp>
        <p:nvSpPr>
          <p:cNvPr id="5" name="文本框 4"/>
          <p:cNvSpPr txBox="1"/>
          <p:nvPr/>
        </p:nvSpPr>
        <p:spPr>
          <a:xfrm>
            <a:off x="1245235" y="386938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网络全景概览</a:t>
            </a:r>
          </a:p>
          <a:p>
            <a:pPr indent="457200" algn="l">
              <a:lnSpc>
                <a:spcPct val="150000"/>
              </a:lnSpc>
            </a:pPr>
            <a:r>
              <a:rPr lang="zh-CN" altLang="en-US" dirty="0">
                <a:effectLst/>
                <a:latin typeface="+mn-ea"/>
                <a:sym typeface="+mn-ea"/>
              </a:rPr>
              <a:t>    指标量化评估与统计呈现</a:t>
            </a:r>
          </a:p>
          <a:p>
            <a:pPr indent="457200" algn="l">
              <a:lnSpc>
                <a:spcPct val="150000"/>
              </a:lnSpc>
            </a:pPr>
            <a:r>
              <a:rPr lang="zh-CN" altLang="en-US" dirty="0">
                <a:effectLst/>
                <a:latin typeface="+mn-ea"/>
                <a:sym typeface="+mn-ea"/>
              </a:rPr>
              <a:t>    设备拓扑结构呈现。</a:t>
            </a:r>
            <a:endParaRPr lang="zh-CN" altLang="en-US" dirty="0">
              <a:latin typeface="+mn-ea"/>
            </a:endParaRPr>
          </a:p>
        </p:txBody>
      </p:sp>
    </p:spTree>
    <p:extLst>
      <p:ext uri="{BB962C8B-B14F-4D97-AF65-F5344CB8AC3E}">
        <p14:creationId xmlns:p14="http://schemas.microsoft.com/office/powerpoint/2010/main" val="3414754668"/>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在新平台的支撑下（还以城域网日常运维为例）。通过完善的数据采集系统（大脑的感知）能够直接对珠海本地的全网设备的多种数据源进行数据采集</a:t>
            </a:r>
            <a:r>
              <a:rPr lang="zh-CN" altLang="en-US" dirty="0" smtClean="0"/>
              <a:t>、通过解码、存储模块对数据进行结构化存储，</a:t>
            </a:r>
            <a:r>
              <a:rPr lang="zh-CN" altLang="en-US" dirty="0" smtClean="0"/>
              <a:t>供上层应用使用</a:t>
            </a:r>
            <a:r>
              <a:rPr lang="zh-CN" altLang="en-US" dirty="0" smtClean="0"/>
              <a:t>。</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图：数据采集、</a:t>
            </a:r>
            <a:r>
              <a:rPr lang="zh-CN" altLang="en-US" dirty="0" smtClean="0"/>
              <a:t>结构化存储</a:t>
            </a:r>
            <a:endParaRPr lang="zh-CN" altLang="en-US" dirty="0"/>
          </a:p>
        </p:txBody>
      </p:sp>
    </p:spTree>
    <p:extLst>
      <p:ext uri="{BB962C8B-B14F-4D97-AF65-F5344CB8AC3E}">
        <p14:creationId xmlns:p14="http://schemas.microsoft.com/office/powerpoint/2010/main" val="963061433"/>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3"/>
            <a:ext cx="4171951" cy="30008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对于存储的数据，</a:t>
            </a:r>
            <a:r>
              <a:rPr lang="zh-CN" altLang="en-US" dirty="0" smtClean="0"/>
              <a:t>能够通过自主学习模块离线训练得到的</a:t>
            </a:r>
            <a:r>
              <a:rPr lang="zh-CN" altLang="en-US" dirty="0" smtClean="0">
                <a:solidFill>
                  <a:srgbClr val="FF0000"/>
                </a:solidFill>
              </a:rPr>
              <a:t>分析预测模型</a:t>
            </a:r>
            <a:r>
              <a:rPr lang="zh-CN" altLang="en-US" dirty="0" smtClean="0"/>
              <a:t>，在线进行</a:t>
            </a:r>
            <a:r>
              <a:rPr lang="zh-CN" altLang="en-US" dirty="0" smtClean="0"/>
              <a:t>数据的快速</a:t>
            </a:r>
            <a:r>
              <a:rPr lang="zh-CN" altLang="en-US" dirty="0" smtClean="0"/>
              <a:t>的统计分析及预测（</a:t>
            </a:r>
            <a:r>
              <a:rPr lang="zh-CN" altLang="en-US" dirty="0" smtClean="0"/>
              <a:t>决策），并通过多样化的数据可视化技术进行直观呈现，除此之外</a:t>
            </a:r>
            <a:r>
              <a:rPr lang="zh-CN" altLang="en-US" dirty="0" smtClean="0"/>
              <a:t>，业务管理模块支持</a:t>
            </a:r>
            <a:r>
              <a:rPr lang="zh-CN" altLang="en-US" dirty="0" smtClean="0"/>
              <a:t>分类分周期个性化的报表生成与导出。</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图：统计分析、可视化</a:t>
            </a:r>
            <a:endParaRPr lang="zh-CN" altLang="en-US" dirty="0"/>
          </a:p>
        </p:txBody>
      </p:sp>
    </p:spTree>
    <p:extLst>
      <p:ext uri="{BB962C8B-B14F-4D97-AF65-F5344CB8AC3E}">
        <p14:creationId xmlns:p14="http://schemas.microsoft.com/office/powerpoint/2010/main" val="3079824730"/>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对于数据及设备的展示，通过用户呈现模块的全景概览，可以快速直观的了解整个网络、设备、业务的运行情况，同时通过拓扑发现算法生成的拓扑图通过与业务流相关联，能够达到对业务流向与底层硬件的关联把握。</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图：拓扑结构</a:t>
            </a:r>
            <a:endParaRPr lang="zh-CN" altLang="en-US" dirty="0"/>
          </a:p>
        </p:txBody>
      </p:sp>
    </p:spTree>
    <p:extLst>
      <p:ext uri="{BB962C8B-B14F-4D97-AF65-F5344CB8AC3E}">
        <p14:creationId xmlns:p14="http://schemas.microsoft.com/office/powerpoint/2010/main" val="2792394096"/>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应用场景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基于大数据的智慧网络运维平台</a:t>
            </a:r>
            <a:endParaRPr lang="zh-CN" altLang="en-US" dirty="0">
              <a:solidFill>
                <a:srgbClr val="333F50"/>
              </a:solidFill>
            </a:endParaRPr>
          </a:p>
        </p:txBody>
      </p:sp>
      <p:sp>
        <p:nvSpPr>
          <p:cNvPr id="9" name="文本框 8"/>
          <p:cNvSpPr txBox="1"/>
          <p:nvPr/>
        </p:nvSpPr>
        <p:spPr>
          <a:xfrm>
            <a:off x="6667499" y="2581274"/>
            <a:ext cx="4410075"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系统保留开放的应用和数据接口，对于未来新兴的业务也可通过对系统的扩展进行业务支撑</a:t>
            </a:r>
            <a:r>
              <a:rPr lang="zh-CN" altLang="en-US" dirty="0" smtClean="0"/>
              <a:t>，通过系统的自主学习模块中所包含的各种学习算法快速训练适应于新兴业务的智能模型，提高</a:t>
            </a:r>
            <a:r>
              <a:rPr lang="zh-CN" altLang="en-US" dirty="0" smtClean="0"/>
              <a:t>系统的可扩展性。</a:t>
            </a:r>
            <a:endParaRPr lang="zh-CN" altLang="en-US" dirty="0"/>
          </a:p>
        </p:txBody>
      </p:sp>
      <p:sp>
        <p:nvSpPr>
          <p:cNvPr id="10" name="文本框 9"/>
          <p:cNvSpPr txBox="1"/>
          <p:nvPr/>
        </p:nvSpPr>
        <p:spPr>
          <a:xfrm>
            <a:off x="1009650" y="3573434"/>
            <a:ext cx="4572000" cy="369332"/>
          </a:xfrm>
          <a:prstGeom prst="rect">
            <a:avLst/>
          </a:prstGeom>
          <a:noFill/>
        </p:spPr>
        <p:txBody>
          <a:bodyPr wrap="square" rtlCol="0">
            <a:spAutoFit/>
          </a:bodyPr>
          <a:lstStyle/>
          <a:p>
            <a:r>
              <a:rPr lang="zh-CN" altLang="en-US" dirty="0" smtClean="0"/>
              <a:t>图：开放应用接口</a:t>
            </a:r>
            <a:endParaRPr lang="zh-CN" altLang="en-US" dirty="0"/>
          </a:p>
        </p:txBody>
      </p:sp>
    </p:spTree>
    <p:extLst>
      <p:ext uri="{BB962C8B-B14F-4D97-AF65-F5344CB8AC3E}">
        <p14:creationId xmlns:p14="http://schemas.microsoft.com/office/powerpoint/2010/main" val="1773551730"/>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1580</TotalTime>
  <Words>2454</Words>
  <Application>Microsoft Office PowerPoint</Application>
  <PresentationFormat>宽屏</PresentationFormat>
  <Paragraphs>229</Paragraphs>
  <Slides>29</Slides>
  <Notes>12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29</vt:i4>
      </vt:variant>
    </vt:vector>
  </HeadingPairs>
  <TitlesOfParts>
    <vt:vector size="40" baseType="lpstr">
      <vt:lpstr>Lato Light</vt:lpstr>
      <vt:lpstr>等线</vt:lpstr>
      <vt:lpstr>宋体</vt:lpstr>
      <vt:lpstr>微软雅黑</vt:lpstr>
      <vt:lpstr>微软雅黑 Light</vt:lpstr>
      <vt:lpstr>Arial</vt:lpstr>
      <vt:lpstr>Calibri</vt:lpstr>
      <vt:lpstr>Calibri Light</vt:lpstr>
      <vt:lpstr>Century Gothic</vt:lpstr>
      <vt:lpstr>Segoe UI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144</cp:revision>
  <dcterms:created xsi:type="dcterms:W3CDTF">2015-08-05T01:47:03Z</dcterms:created>
  <dcterms:modified xsi:type="dcterms:W3CDTF">2018-01-11T03:53:55Z</dcterms:modified>
</cp:coreProperties>
</file>