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96" r:id="rId2"/>
    <p:sldId id="1169" r:id="rId3"/>
    <p:sldId id="1149" r:id="rId4"/>
    <p:sldId id="1170" r:id="rId5"/>
    <p:sldId id="1166" r:id="rId6"/>
    <p:sldId id="1167" r:id="rId7"/>
    <p:sldId id="1152" r:id="rId8"/>
    <p:sldId id="1171" r:id="rId9"/>
    <p:sldId id="1150" r:id="rId10"/>
    <p:sldId id="1154" r:id="rId11"/>
    <p:sldId id="1172" r:id="rId12"/>
    <p:sldId id="1155" r:id="rId13"/>
    <p:sldId id="1153" r:id="rId14"/>
    <p:sldId id="1156" r:id="rId15"/>
    <p:sldId id="1159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58">
          <p15:clr>
            <a:srgbClr val="A4A3A4"/>
          </p15:clr>
        </p15:guide>
        <p15:guide id="2" pos="3929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d" initials="h" lastIdx="1" clrIdx="0"/>
  <p:cmAuthor id="2" name="Lara Young" initials="LY" lastIdx="1" clrIdx="1"/>
  <p:cmAuthor id="3" name="邹立斌" initials="W用" lastIdx="3" clrIdx="2">
    <p:extLst>
      <p:ext uri="{19B8F6BF-5375-455C-9EA6-DF929625EA0E}">
        <p15:presenceInfo xmlns:p15="http://schemas.microsoft.com/office/powerpoint/2012/main" userId="邹立斌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5732"/>
    <a:srgbClr val="F6F6F6"/>
    <a:srgbClr val="8EC31F"/>
    <a:srgbClr val="BCDB7A"/>
    <a:srgbClr val="0085D0"/>
    <a:srgbClr val="A9D18E"/>
    <a:srgbClr val="EFF3F2"/>
    <a:srgbClr val="0AFCFA"/>
    <a:srgbClr val="D91617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中度样式 2 - 强调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62" autoAdjust="0"/>
    <p:restoredTop sz="83993" autoAdjust="0"/>
  </p:normalViewPr>
  <p:slideViewPr>
    <p:cSldViewPr snapToGrid="0">
      <p:cViewPr varScale="1">
        <p:scale>
          <a:sx n="60" d="100"/>
          <a:sy n="60" d="100"/>
        </p:scale>
        <p:origin x="1128" y="54"/>
      </p:cViewPr>
      <p:guideLst>
        <p:guide orient="horz" pos="2058"/>
        <p:guide pos="392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50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pPr/>
              <a:t>2018/4/10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50926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pPr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0662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以上问题的存在，需要通过管理流程和工作流程上的改变来彻底解决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pPr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88252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 smtClean="0">
                <a:solidFill>
                  <a:schemeClr val="bg1"/>
                </a:solidFill>
              </a:rPr>
              <a:t>1</a:t>
            </a:r>
            <a:r>
              <a:rPr lang="zh-CN" altLang="en-US" dirty="0" smtClean="0">
                <a:solidFill>
                  <a:schemeClr val="bg1"/>
                </a:solidFill>
              </a:rPr>
              <a:t>、网络运维方法创新</a:t>
            </a:r>
            <a:endParaRPr lang="en-US" altLang="zh-CN" dirty="0" smtClean="0">
              <a:solidFill>
                <a:schemeClr val="bg1"/>
              </a:solidFill>
            </a:endParaRPr>
          </a:p>
          <a:p>
            <a:r>
              <a:rPr lang="en-US" altLang="zh-CN" dirty="0" smtClean="0"/>
              <a:t>2</a:t>
            </a:r>
            <a:r>
              <a:rPr lang="zh-CN" altLang="en-US" smtClean="0"/>
              <a:t>、盘活网络数据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pPr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461089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pPr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756164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pPr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77888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/>
          <p:cNvSpPr/>
          <p:nvPr userDrawn="1">
            <p:custDataLst>
              <p:tags r:id="rId1"/>
            </p:custDataLst>
          </p:nvPr>
        </p:nvSpPr>
        <p:spPr bwMode="auto">
          <a:xfrm>
            <a:off x="285750" y="165100"/>
            <a:ext cx="379730" cy="713105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square" anchor="ctr" anchorCtr="0">
            <a:normAutofit/>
          </a:bodyPr>
          <a:lstStyle/>
          <a:p>
            <a:pPr marL="0" marR="0" lvl="0" indent="0" algn="ctr" defTabSz="913765" eaLnBrk="1" latinLnBrk="0" hangingPunct="1"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>
            <p:custDataLst>
              <p:tags r:id="rId1"/>
            </p:custDataLst>
          </p:nvPr>
        </p:nvSpPr>
        <p:spPr bwMode="auto">
          <a:xfrm>
            <a:off x="285750" y="165100"/>
            <a:ext cx="379730" cy="713105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square" anchor="ctr" anchorCtr="0">
            <a:normAutofit/>
          </a:bodyPr>
          <a:lstStyle/>
          <a:p>
            <a:pPr marL="0" marR="0" lvl="0" indent="0" algn="ctr" defTabSz="913765" eaLnBrk="1" latinLnBrk="0" hangingPunct="1"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1"/>
            </p:custDataLst>
          </p:nvPr>
        </p:nvSpPr>
        <p:spPr bwMode="auto">
          <a:xfrm>
            <a:off x="285750" y="165100"/>
            <a:ext cx="379730" cy="713105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square" anchor="ctr" anchorCtr="0">
            <a:normAutofit/>
          </a:bodyPr>
          <a:lstStyle/>
          <a:p>
            <a:pPr marL="0" marR="0" lvl="0" indent="0" algn="ctr" defTabSz="913765" eaLnBrk="1" latinLnBrk="0" hangingPunct="1"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 userDrawn="1">
            <p:custDataLst>
              <p:tags r:id="rId1"/>
            </p:custDataLst>
          </p:nvPr>
        </p:nvSpPr>
        <p:spPr bwMode="auto">
          <a:xfrm>
            <a:off x="285750" y="165100"/>
            <a:ext cx="379730" cy="713105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square" anchor="ctr" anchorCtr="0">
            <a:normAutofit/>
          </a:bodyPr>
          <a:lstStyle/>
          <a:p>
            <a:pPr marL="0" marR="0" lvl="0" indent="0" algn="ctr" defTabSz="913765" eaLnBrk="1" latinLnBrk="0" hangingPunct="1"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1"/>
            </p:custDataLst>
          </p:nvPr>
        </p:nvSpPr>
        <p:spPr bwMode="auto">
          <a:xfrm>
            <a:off x="285750" y="165100"/>
            <a:ext cx="379730" cy="713105"/>
          </a:xfrm>
          <a:prstGeom prst="rect">
            <a:avLst/>
          </a:prstGeom>
          <a:solidFill>
            <a:srgbClr val="0085D0"/>
          </a:solidFill>
          <a:ln>
            <a:noFill/>
          </a:ln>
          <a:effectLst/>
        </p:spPr>
        <p:txBody>
          <a:bodyPr wrap="square" anchor="ctr" anchorCtr="0">
            <a:normAutofit/>
          </a:bodyPr>
          <a:lstStyle/>
          <a:p>
            <a:pPr marL="0" marR="0" lvl="0" indent="0" algn="ctr" defTabSz="913765" eaLnBrk="1" latinLnBrk="0" hangingPunct="1"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1"/>
            </p:custDataLst>
          </p:nvPr>
        </p:nvSpPr>
        <p:spPr bwMode="auto">
          <a:xfrm>
            <a:off x="285750" y="165100"/>
            <a:ext cx="379730" cy="713105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square" anchor="ctr" anchorCtr="0">
            <a:normAutofit/>
          </a:bodyPr>
          <a:lstStyle/>
          <a:p>
            <a:pPr marL="0" marR="0" lvl="0" indent="0" algn="ctr" defTabSz="913765" eaLnBrk="1" latinLnBrk="0" hangingPunct="1"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>
            <p:custDataLst>
              <p:tags r:id="rId1"/>
            </p:custDataLst>
          </p:nvPr>
        </p:nvSpPr>
        <p:spPr bwMode="auto">
          <a:xfrm>
            <a:off x="285750" y="165100"/>
            <a:ext cx="379730" cy="713105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square" anchor="ctr" anchorCtr="0">
            <a:normAutofit/>
          </a:bodyPr>
          <a:lstStyle/>
          <a:p>
            <a:pPr marL="0" marR="0" lvl="0" indent="0" algn="ctr" defTabSz="913765" eaLnBrk="1" latinLnBrk="0" hangingPunct="1"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>
            <p:custDataLst>
              <p:tags r:id="rId1"/>
            </p:custDataLst>
          </p:nvPr>
        </p:nvSpPr>
        <p:spPr bwMode="auto">
          <a:xfrm>
            <a:off x="285750" y="165100"/>
            <a:ext cx="379730" cy="713105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square" anchor="ctr" anchorCtr="0">
            <a:normAutofit/>
          </a:bodyPr>
          <a:lstStyle/>
          <a:p>
            <a:pPr marL="0" marR="0" lvl="0" indent="0" algn="ctr" defTabSz="913765" eaLnBrk="1" latinLnBrk="0" hangingPunct="1"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>
            <p:custDataLst>
              <p:tags r:id="rId1"/>
            </p:custDataLst>
          </p:nvPr>
        </p:nvSpPr>
        <p:spPr bwMode="auto">
          <a:xfrm>
            <a:off x="285750" y="165100"/>
            <a:ext cx="379730" cy="713105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square" anchor="ctr" anchorCtr="0">
            <a:normAutofit/>
          </a:bodyPr>
          <a:lstStyle/>
          <a:p>
            <a:pPr marL="0" marR="0" lvl="0" indent="0" algn="ctr" defTabSz="913765" eaLnBrk="1" latinLnBrk="0" hangingPunct="1"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>
            <p:custDataLst>
              <p:tags r:id="rId1"/>
            </p:custDataLst>
          </p:nvPr>
        </p:nvSpPr>
        <p:spPr bwMode="auto">
          <a:xfrm>
            <a:off x="285750" y="165100"/>
            <a:ext cx="379730" cy="713105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square" anchor="ctr" anchorCtr="0">
            <a:normAutofit/>
          </a:bodyPr>
          <a:lstStyle/>
          <a:p>
            <a:pPr marL="0" marR="0" lvl="0" indent="0" algn="ctr" defTabSz="913765" eaLnBrk="1" latinLnBrk="0" hangingPunct="1"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/>
          <p:cNvSpPr/>
          <p:nvPr userDrawn="1">
            <p:custDataLst>
              <p:tags r:id="rId1"/>
            </p:custDataLst>
          </p:nvPr>
        </p:nvSpPr>
        <p:spPr bwMode="auto">
          <a:xfrm>
            <a:off x="0" y="194906"/>
            <a:ext cx="219859" cy="622901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square" anchor="ctr" anchorCtr="0">
            <a:normAutofit/>
          </a:bodyPr>
          <a:lstStyle/>
          <a:p>
            <a:pPr marL="0" marR="0" lvl="0" indent="0" algn="ctr" defTabSz="913765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矩形 15"/>
          <p:cNvSpPr/>
          <p:nvPr userDrawn="1">
            <p:custDataLst>
              <p:tags r:id="rId2"/>
            </p:custDataLst>
          </p:nvPr>
        </p:nvSpPr>
        <p:spPr bwMode="auto">
          <a:xfrm>
            <a:off x="11661569" y="194905"/>
            <a:ext cx="530431" cy="622901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square" anchor="ctr" anchorCtr="0">
            <a:normAutofit/>
          </a:bodyPr>
          <a:lstStyle/>
          <a:p>
            <a:pPr marL="0" marR="0" lvl="0" indent="0" algn="ctr" defTabSz="913765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smGrid">
          <a:fgClr>
            <a:srgbClr val="F6F6F6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440893" y="1717020"/>
            <a:ext cx="8770049" cy="21476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CN" altLang="en-US" sz="5400" b="1" dirty="0" smtClean="0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基于大数据的智慧</a:t>
            </a:r>
            <a:endParaRPr lang="en-US" altLang="zh-CN" sz="5400" b="1" dirty="0" smtClean="0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30000"/>
              </a:lnSpc>
            </a:pPr>
            <a:r>
              <a:rPr lang="zh-CN" altLang="en-US" sz="5400" b="1" dirty="0" smtClean="0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网络运维平台</a:t>
            </a:r>
            <a:endParaRPr lang="zh-CN" altLang="en-US" sz="5400" b="1" dirty="0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7" name="直接连接符 6"/>
          <p:cNvCxnSpPr/>
          <p:nvPr/>
        </p:nvCxnSpPr>
        <p:spPr>
          <a:xfrm>
            <a:off x="3213847" y="4007060"/>
            <a:ext cx="5768788" cy="0"/>
          </a:xfrm>
          <a:prstGeom prst="line">
            <a:avLst/>
          </a:prstGeom>
          <a:ln w="63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621537" y="214757"/>
            <a:ext cx="797340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3200" b="1" dirty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目录</a:t>
            </a:r>
          </a:p>
        </p:txBody>
      </p:sp>
      <p:sp>
        <p:nvSpPr>
          <p:cNvPr id="3" name="Rectangle 35"/>
          <p:cNvSpPr>
            <a:spLocks noChangeArrowheads="1"/>
          </p:cNvSpPr>
          <p:nvPr/>
        </p:nvSpPr>
        <p:spPr bwMode="auto">
          <a:xfrm>
            <a:off x="3979314" y="1360679"/>
            <a:ext cx="3739324" cy="816994"/>
          </a:xfrm>
          <a:prstGeom prst="rect">
            <a:avLst/>
          </a:prstGeom>
          <a:solidFill>
            <a:srgbClr val="CC0000"/>
          </a:solidFill>
          <a:ln w="9525" algn="ctr">
            <a:noFill/>
            <a:miter lim="800000"/>
          </a:ln>
          <a:effectLst/>
        </p:spPr>
        <p:txBody>
          <a:bodyPr lIns="79152" tIns="39576" rIns="79152" bIns="39576" anchor="ctr">
            <a:noAutofit/>
          </a:bodyPr>
          <a:lstStyle/>
          <a:p>
            <a:pPr defTabSz="800735" fontAlgn="base"/>
            <a:r>
              <a:rPr lang="zh-CN" altLang="en-US" sz="24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+mn-ea"/>
              </a:rPr>
              <a:t>一、建设背景</a:t>
            </a:r>
          </a:p>
        </p:txBody>
      </p:sp>
      <p:sp>
        <p:nvSpPr>
          <p:cNvPr id="4" name="Rectangle 35"/>
          <p:cNvSpPr>
            <a:spLocks noChangeArrowheads="1"/>
          </p:cNvSpPr>
          <p:nvPr/>
        </p:nvSpPr>
        <p:spPr bwMode="auto">
          <a:xfrm>
            <a:off x="3979314" y="2507159"/>
            <a:ext cx="3739324" cy="816994"/>
          </a:xfrm>
          <a:prstGeom prst="rect">
            <a:avLst/>
          </a:prstGeom>
          <a:solidFill>
            <a:srgbClr val="808080"/>
          </a:solidFill>
          <a:ln w="9525" algn="ctr">
            <a:noFill/>
            <a:miter lim="800000"/>
          </a:ln>
          <a:effectLst/>
        </p:spPr>
        <p:txBody>
          <a:bodyPr lIns="79152" tIns="39576" rIns="79152" bIns="39576" anchor="ctr"/>
          <a:lstStyle/>
          <a:p>
            <a:pPr defTabSz="800735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+mn-ea"/>
              </a:rPr>
              <a:t>二、建设目标</a:t>
            </a:r>
          </a:p>
        </p:txBody>
      </p:sp>
      <p:sp>
        <p:nvSpPr>
          <p:cNvPr id="5" name="Rectangle 35"/>
          <p:cNvSpPr>
            <a:spLocks noChangeArrowheads="1"/>
          </p:cNvSpPr>
          <p:nvPr/>
        </p:nvSpPr>
        <p:spPr bwMode="auto">
          <a:xfrm>
            <a:off x="3979314" y="3686658"/>
            <a:ext cx="3739324" cy="816994"/>
          </a:xfrm>
          <a:prstGeom prst="rect">
            <a:avLst/>
          </a:prstGeom>
          <a:solidFill>
            <a:srgbClr val="808080"/>
          </a:solidFill>
          <a:ln w="9525" algn="ctr">
            <a:noFill/>
            <a:miter lim="800000"/>
          </a:ln>
          <a:effectLst/>
        </p:spPr>
        <p:txBody>
          <a:bodyPr lIns="79152" tIns="39576" rIns="79152" bIns="39576" anchor="ctr"/>
          <a:lstStyle/>
          <a:p>
            <a:pPr defTabSz="800735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 kern="0" dirty="0" smtClean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三、计划与举措</a:t>
            </a:r>
            <a:endParaRPr lang="zh-CN" altLang="en-US" sz="240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6" name="Rectangle 35"/>
          <p:cNvSpPr>
            <a:spLocks noChangeArrowheads="1"/>
          </p:cNvSpPr>
          <p:nvPr/>
        </p:nvSpPr>
        <p:spPr bwMode="auto">
          <a:xfrm>
            <a:off x="3979314" y="4811878"/>
            <a:ext cx="3739324" cy="816994"/>
          </a:xfrm>
          <a:prstGeom prst="rect">
            <a:avLst/>
          </a:prstGeom>
          <a:solidFill>
            <a:srgbClr val="808080"/>
          </a:solidFill>
          <a:ln w="9525" algn="ctr">
            <a:noFill/>
            <a:miter lim="800000"/>
          </a:ln>
          <a:effectLst/>
        </p:spPr>
        <p:txBody>
          <a:bodyPr lIns="79152" tIns="39576" rIns="79152" bIns="39576" anchor="ctr"/>
          <a:lstStyle/>
          <a:p>
            <a:pPr defTabSz="800735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 kern="0" dirty="0" smtClean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四、应用场景</a:t>
            </a:r>
            <a:endParaRPr lang="zh-CN" altLang="en-US" sz="240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75500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621537" y="214757"/>
            <a:ext cx="797340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3200" b="1" dirty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网络管理</a:t>
            </a:r>
            <a:r>
              <a:rPr lang="zh-CN" altLang="en-US" sz="3200" b="1" dirty="0" smtClean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工作 </a:t>
            </a:r>
            <a:r>
              <a:rPr lang="en-US" altLang="zh-CN" sz="3200" b="1" dirty="0" smtClean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– </a:t>
            </a:r>
            <a:r>
              <a:rPr lang="zh-CN" altLang="en-US" sz="3200" b="1" dirty="0" smtClean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面临的痛点</a:t>
            </a:r>
            <a:endParaRPr lang="zh-CN" altLang="en-US" sz="3200" b="1" dirty="0">
              <a:solidFill>
                <a:srgbClr val="8EC31F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510857" y="1161262"/>
            <a:ext cx="1011238" cy="1011238"/>
          </a:xfrm>
          <a:prstGeom prst="ellipse">
            <a:avLst/>
          </a:prstGeom>
          <a:noFill/>
          <a:ln w="38100">
            <a:solidFill>
              <a:srgbClr val="0098A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srgbClr val="C89800"/>
              </a:solidFill>
            </a:endParaRPr>
          </a:p>
        </p:txBody>
      </p:sp>
      <p:sp>
        <p:nvSpPr>
          <p:cNvPr id="11" name="椭圆 10"/>
          <p:cNvSpPr/>
          <p:nvPr/>
        </p:nvSpPr>
        <p:spPr>
          <a:xfrm>
            <a:off x="618807" y="1269212"/>
            <a:ext cx="795338" cy="795338"/>
          </a:xfrm>
          <a:prstGeom prst="ellipse">
            <a:avLst/>
          </a:prstGeom>
          <a:noFill/>
          <a:ln>
            <a:solidFill>
              <a:srgbClr val="0098A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12" name="TextBox 19"/>
          <p:cNvSpPr txBox="1">
            <a:spLocks noChangeArrowheads="1"/>
          </p:cNvSpPr>
          <p:nvPr/>
        </p:nvSpPr>
        <p:spPr bwMode="auto">
          <a:xfrm>
            <a:off x="799782" y="1327950"/>
            <a:ext cx="469900" cy="769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000">
                <a:solidFill>
                  <a:schemeClr val="accent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accent2"/>
                </a:solidFill>
                <a:latin typeface="Arial" panose="020B0604020202020204" pitchFamily="34" charset="0"/>
                <a:ea typeface="仿宋_GB2312" panose="02010609030101010101" pitchFamily="49" charset="-122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CN" sz="4400" b="1" dirty="0">
                <a:solidFill>
                  <a:srgbClr val="0098A8"/>
                </a:solidFill>
                <a:latin typeface="Calibri" panose="020F0502020204030204" pitchFamily="34" charset="0"/>
                <a:ea typeface="宋体" panose="02010600030101010101" pitchFamily="2" charset="-122"/>
              </a:rPr>
              <a:t>1</a:t>
            </a:r>
            <a:endParaRPr lang="zh-CN" altLang="en-US" sz="4400" b="1" dirty="0">
              <a:solidFill>
                <a:srgbClr val="0098A8"/>
              </a:solidFill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cxnSp>
        <p:nvCxnSpPr>
          <p:cNvPr id="13" name="直接箭头连接符 12"/>
          <p:cNvCxnSpPr/>
          <p:nvPr/>
        </p:nvCxnSpPr>
        <p:spPr>
          <a:xfrm>
            <a:off x="2154337" y="2206406"/>
            <a:ext cx="8570912" cy="0"/>
          </a:xfrm>
          <a:prstGeom prst="straightConnector1">
            <a:avLst/>
          </a:prstGeom>
          <a:ln w="28575">
            <a:solidFill>
              <a:srgbClr val="0098A8"/>
            </a:solidFill>
            <a:prstDash val="dash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25"/>
          <p:cNvSpPr txBox="1">
            <a:spLocks noChangeArrowheads="1"/>
          </p:cNvSpPr>
          <p:nvPr/>
        </p:nvSpPr>
        <p:spPr bwMode="auto">
          <a:xfrm>
            <a:off x="2154335" y="1423257"/>
            <a:ext cx="141577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000">
                <a:solidFill>
                  <a:schemeClr val="accent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accent2"/>
                </a:solidFill>
                <a:latin typeface="Arial" panose="020B0604020202020204" pitchFamily="34" charset="0"/>
                <a:ea typeface="仿宋_GB2312" panose="02010609030101010101" pitchFamily="49" charset="-122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zh-CN" altLang="en-US" sz="2400" b="1" dirty="0" smtClean="0">
                <a:solidFill>
                  <a:srgbClr val="3C3C3C"/>
                </a:solidFill>
                <a:latin typeface="微软雅黑" panose="020B0503020204020204" pitchFamily="34" charset="-122"/>
              </a:rPr>
              <a:t>忙而无成</a:t>
            </a:r>
            <a:endParaRPr lang="zh-CN" altLang="en-US" sz="2400" b="1" dirty="0">
              <a:solidFill>
                <a:srgbClr val="3C3C3C"/>
              </a:solidFill>
              <a:latin typeface="微软雅黑" panose="020B0503020204020204" pitchFamily="34" charset="-122"/>
            </a:endParaRPr>
          </a:p>
        </p:txBody>
      </p:sp>
      <p:sp>
        <p:nvSpPr>
          <p:cNvPr id="15" name="TextBox 26"/>
          <p:cNvSpPr txBox="1"/>
          <p:nvPr/>
        </p:nvSpPr>
        <p:spPr>
          <a:xfrm>
            <a:off x="3770136" y="1304608"/>
            <a:ext cx="7251999" cy="9325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/>
            </a:pP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基础维护做细坐实，需要投入</a:t>
            </a:r>
            <a:r>
              <a:rPr lang="zh-CN" altLang="en-US" sz="1400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大量的时间和精力（约</a:t>
            </a:r>
            <a:r>
              <a:rPr lang="en-US" altLang="zh-CN" sz="1400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1/4</a:t>
            </a:r>
            <a:r>
              <a:rPr lang="zh-CN" altLang="en-US" sz="1400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时间每人天）且存在疏漏可能，</a:t>
            </a: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如：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每周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BSC APG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备份（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1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人天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/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周），指标通报（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1-2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小时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/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天），日测（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1-2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小时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/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天），局数据核对（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4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小时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/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周）</a:t>
            </a: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等；</a:t>
            </a:r>
            <a:endParaRPr lang="en-US" altLang="zh-CN" sz="1400" dirty="0" smtClean="0">
              <a:latin typeface="微软雅黑" panose="020B0503020204020204" pitchFamily="34" charset="-122"/>
              <a:ea typeface="微软雅黑" panose="020B0503020204020204" pitchFamily="34" charset="-122"/>
              <a:sym typeface="Arial"/>
            </a:endParaRPr>
          </a:p>
        </p:txBody>
      </p:sp>
      <p:sp>
        <p:nvSpPr>
          <p:cNvPr id="16" name="椭圆 15"/>
          <p:cNvSpPr/>
          <p:nvPr/>
        </p:nvSpPr>
        <p:spPr>
          <a:xfrm>
            <a:off x="536762" y="2526512"/>
            <a:ext cx="1009650" cy="1011238"/>
          </a:xfrm>
          <a:prstGeom prst="ellipse">
            <a:avLst/>
          </a:prstGeom>
          <a:noFill/>
          <a:ln w="38100">
            <a:solidFill>
              <a:srgbClr val="0098A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srgbClr val="C89800"/>
              </a:solidFill>
            </a:endParaRPr>
          </a:p>
        </p:txBody>
      </p:sp>
      <p:sp>
        <p:nvSpPr>
          <p:cNvPr id="17" name="椭圆 16"/>
          <p:cNvSpPr/>
          <p:nvPr/>
        </p:nvSpPr>
        <p:spPr>
          <a:xfrm>
            <a:off x="643124" y="2634462"/>
            <a:ext cx="796925" cy="796925"/>
          </a:xfrm>
          <a:prstGeom prst="ellipse">
            <a:avLst/>
          </a:prstGeom>
          <a:noFill/>
          <a:ln>
            <a:solidFill>
              <a:srgbClr val="0098A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18" name="TextBox 31"/>
          <p:cNvSpPr txBox="1">
            <a:spLocks noChangeArrowheads="1"/>
          </p:cNvSpPr>
          <p:nvPr/>
        </p:nvSpPr>
        <p:spPr bwMode="auto">
          <a:xfrm>
            <a:off x="824099" y="2693200"/>
            <a:ext cx="469900" cy="769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000">
                <a:solidFill>
                  <a:schemeClr val="accent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accent2"/>
                </a:solidFill>
                <a:latin typeface="Arial" panose="020B0604020202020204" pitchFamily="34" charset="0"/>
                <a:ea typeface="仿宋_GB2312" panose="02010609030101010101" pitchFamily="49" charset="-122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CN" sz="4400" b="1" dirty="0">
                <a:solidFill>
                  <a:srgbClr val="0098A8"/>
                </a:solidFill>
                <a:latin typeface="Calibri" panose="020F0502020204030204" pitchFamily="34" charset="0"/>
                <a:ea typeface="宋体" panose="02010600030101010101" pitchFamily="2" charset="-122"/>
              </a:rPr>
              <a:t>2</a:t>
            </a:r>
            <a:endParaRPr lang="zh-CN" altLang="en-US" sz="4400" b="1" dirty="0">
              <a:solidFill>
                <a:srgbClr val="0098A8"/>
              </a:solidFill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cxnSp>
        <p:nvCxnSpPr>
          <p:cNvPr id="19" name="直接箭头连接符 18"/>
          <p:cNvCxnSpPr/>
          <p:nvPr/>
        </p:nvCxnSpPr>
        <p:spPr>
          <a:xfrm>
            <a:off x="2154337" y="3543081"/>
            <a:ext cx="8570912" cy="28575"/>
          </a:xfrm>
          <a:prstGeom prst="straightConnector1">
            <a:avLst/>
          </a:prstGeom>
          <a:ln w="28575">
            <a:solidFill>
              <a:srgbClr val="0098A8"/>
            </a:solidFill>
            <a:prstDash val="dash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33"/>
          <p:cNvSpPr txBox="1">
            <a:spLocks noChangeArrowheads="1"/>
          </p:cNvSpPr>
          <p:nvPr/>
        </p:nvSpPr>
        <p:spPr bwMode="auto">
          <a:xfrm>
            <a:off x="2154335" y="2662018"/>
            <a:ext cx="141577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000">
                <a:solidFill>
                  <a:schemeClr val="accent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accent2"/>
                </a:solidFill>
                <a:latin typeface="Arial" panose="020B0604020202020204" pitchFamily="34" charset="0"/>
                <a:ea typeface="仿宋_GB2312" panose="02010609030101010101" pitchFamily="49" charset="-122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zh-CN" altLang="en-US" sz="2400" b="1" dirty="0" smtClean="0">
                <a:solidFill>
                  <a:srgbClr val="3C3C3C"/>
                </a:solidFill>
                <a:latin typeface="微软雅黑" panose="020B0503020204020204" pitchFamily="34" charset="-122"/>
              </a:rPr>
              <a:t>专而不全</a:t>
            </a:r>
            <a:endParaRPr lang="zh-CN" altLang="en-US" sz="2400" b="1" dirty="0">
              <a:solidFill>
                <a:srgbClr val="3C3C3C"/>
              </a:solidFill>
              <a:latin typeface="微软雅黑" panose="020B0503020204020204" pitchFamily="34" charset="-122"/>
            </a:endParaRPr>
          </a:p>
        </p:txBody>
      </p:sp>
      <p:sp>
        <p:nvSpPr>
          <p:cNvPr id="21" name="TextBox 34"/>
          <p:cNvSpPr txBox="1"/>
          <p:nvPr/>
        </p:nvSpPr>
        <p:spPr>
          <a:xfrm>
            <a:off x="3866454" y="4071299"/>
            <a:ext cx="5146675" cy="345094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lnSpc>
                <a:spcPct val="130000"/>
              </a:lnSpc>
              <a:defRPr/>
            </a:pP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无可视化手段，</a:t>
            </a:r>
            <a:r>
              <a:rPr lang="zh-CN" altLang="en-US" sz="1400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信息传达和沟通效率低</a:t>
            </a:r>
            <a:endParaRPr lang="en-US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椭圆 21"/>
          <p:cNvSpPr/>
          <p:nvPr/>
        </p:nvSpPr>
        <p:spPr>
          <a:xfrm>
            <a:off x="574282" y="3880650"/>
            <a:ext cx="1011237" cy="1011237"/>
          </a:xfrm>
          <a:prstGeom prst="ellipse">
            <a:avLst/>
          </a:prstGeom>
          <a:noFill/>
          <a:ln w="38100">
            <a:solidFill>
              <a:srgbClr val="0098A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srgbClr val="C89800"/>
              </a:solidFill>
            </a:endParaRPr>
          </a:p>
        </p:txBody>
      </p:sp>
      <p:sp>
        <p:nvSpPr>
          <p:cNvPr id="23" name="椭圆 22"/>
          <p:cNvSpPr/>
          <p:nvPr/>
        </p:nvSpPr>
        <p:spPr>
          <a:xfrm>
            <a:off x="682232" y="3988600"/>
            <a:ext cx="796925" cy="795337"/>
          </a:xfrm>
          <a:prstGeom prst="ellipse">
            <a:avLst/>
          </a:prstGeom>
          <a:noFill/>
          <a:ln>
            <a:solidFill>
              <a:srgbClr val="0098A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24" name="TextBox 38"/>
          <p:cNvSpPr txBox="1">
            <a:spLocks noChangeArrowheads="1"/>
          </p:cNvSpPr>
          <p:nvPr/>
        </p:nvSpPr>
        <p:spPr bwMode="auto">
          <a:xfrm>
            <a:off x="822696" y="3988600"/>
            <a:ext cx="469900" cy="769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000">
                <a:solidFill>
                  <a:schemeClr val="accent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accent2"/>
                </a:solidFill>
                <a:latin typeface="Arial" panose="020B0604020202020204" pitchFamily="34" charset="0"/>
                <a:ea typeface="仿宋_GB2312" panose="02010609030101010101" pitchFamily="49" charset="-122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CN" sz="4400" b="1">
                <a:solidFill>
                  <a:srgbClr val="0098A8"/>
                </a:solidFill>
                <a:latin typeface="Calibri" panose="020F0502020204030204" pitchFamily="34" charset="0"/>
                <a:ea typeface="宋体" panose="02010600030101010101" pitchFamily="2" charset="-122"/>
              </a:rPr>
              <a:t>3</a:t>
            </a:r>
            <a:endParaRPr lang="zh-CN" altLang="en-US" sz="4400" b="1">
              <a:solidFill>
                <a:srgbClr val="0098A8"/>
              </a:solidFill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cxnSp>
        <p:nvCxnSpPr>
          <p:cNvPr id="25" name="直接箭头连接符 24"/>
          <p:cNvCxnSpPr/>
          <p:nvPr/>
        </p:nvCxnSpPr>
        <p:spPr>
          <a:xfrm>
            <a:off x="2154337" y="4882931"/>
            <a:ext cx="8719674" cy="53975"/>
          </a:xfrm>
          <a:prstGeom prst="straightConnector1">
            <a:avLst/>
          </a:prstGeom>
          <a:ln w="28575">
            <a:solidFill>
              <a:srgbClr val="0098A8"/>
            </a:solidFill>
            <a:prstDash val="dash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40"/>
          <p:cNvSpPr txBox="1">
            <a:spLocks noChangeArrowheads="1"/>
          </p:cNvSpPr>
          <p:nvPr/>
        </p:nvSpPr>
        <p:spPr bwMode="auto">
          <a:xfrm>
            <a:off x="2154336" y="4005699"/>
            <a:ext cx="141577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000">
                <a:solidFill>
                  <a:schemeClr val="accent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accent2"/>
                </a:solidFill>
                <a:latin typeface="Arial" panose="020B0604020202020204" pitchFamily="34" charset="0"/>
                <a:ea typeface="仿宋_GB2312" panose="02010609030101010101" pitchFamily="49" charset="-122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zh-CN" altLang="en-US" sz="2400" b="1" dirty="0" smtClean="0">
                <a:solidFill>
                  <a:srgbClr val="3C3C3C"/>
                </a:solidFill>
                <a:latin typeface="微软雅黑" panose="020B0503020204020204" pitchFamily="34" charset="-122"/>
              </a:rPr>
              <a:t>知而不显</a:t>
            </a:r>
            <a:endParaRPr lang="zh-CN" altLang="en-US" sz="2400" b="1" dirty="0">
              <a:solidFill>
                <a:srgbClr val="3C3C3C"/>
              </a:solidFill>
              <a:latin typeface="微软雅黑" panose="020B0503020204020204" pitchFamily="34" charset="-122"/>
            </a:endParaRPr>
          </a:p>
        </p:txBody>
      </p:sp>
      <p:sp>
        <p:nvSpPr>
          <p:cNvPr id="28" name="椭圆 27"/>
          <p:cNvSpPr/>
          <p:nvPr/>
        </p:nvSpPr>
        <p:spPr>
          <a:xfrm>
            <a:off x="571186" y="5263362"/>
            <a:ext cx="1011238" cy="1011238"/>
          </a:xfrm>
          <a:prstGeom prst="ellipse">
            <a:avLst/>
          </a:prstGeom>
          <a:noFill/>
          <a:ln w="38100">
            <a:solidFill>
              <a:srgbClr val="0098A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srgbClr val="C89800"/>
              </a:solidFill>
            </a:endParaRPr>
          </a:p>
        </p:txBody>
      </p:sp>
      <p:sp>
        <p:nvSpPr>
          <p:cNvPr id="29" name="椭圆 28"/>
          <p:cNvSpPr/>
          <p:nvPr/>
        </p:nvSpPr>
        <p:spPr>
          <a:xfrm>
            <a:off x="679136" y="5369725"/>
            <a:ext cx="796925" cy="796925"/>
          </a:xfrm>
          <a:prstGeom prst="ellipse">
            <a:avLst/>
          </a:prstGeom>
          <a:noFill/>
          <a:ln>
            <a:solidFill>
              <a:srgbClr val="0098A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30" name="TextBox 45"/>
          <p:cNvSpPr txBox="1">
            <a:spLocks noChangeArrowheads="1"/>
          </p:cNvSpPr>
          <p:nvPr/>
        </p:nvSpPr>
        <p:spPr bwMode="auto">
          <a:xfrm>
            <a:off x="819600" y="5371313"/>
            <a:ext cx="46990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000">
                <a:solidFill>
                  <a:schemeClr val="accent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accent2"/>
                </a:solidFill>
                <a:latin typeface="Arial" panose="020B0604020202020204" pitchFamily="34" charset="0"/>
                <a:ea typeface="仿宋_GB2312" panose="02010609030101010101" pitchFamily="49" charset="-122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CN" sz="4400" b="1">
                <a:solidFill>
                  <a:srgbClr val="0098A8"/>
                </a:solidFill>
                <a:latin typeface="Calibri" panose="020F0502020204030204" pitchFamily="34" charset="0"/>
                <a:ea typeface="宋体" panose="02010600030101010101" pitchFamily="2" charset="-122"/>
              </a:rPr>
              <a:t>4</a:t>
            </a:r>
            <a:endParaRPr lang="zh-CN" altLang="en-US" sz="4400" b="1">
              <a:solidFill>
                <a:srgbClr val="0098A8"/>
              </a:solidFill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cxnSp>
        <p:nvCxnSpPr>
          <p:cNvPr id="31" name="直接箭头连接符 30"/>
          <p:cNvCxnSpPr/>
          <p:nvPr/>
        </p:nvCxnSpPr>
        <p:spPr>
          <a:xfrm flipV="1">
            <a:off x="2154337" y="6295806"/>
            <a:ext cx="8719674" cy="11112"/>
          </a:xfrm>
          <a:prstGeom prst="straightConnector1">
            <a:avLst/>
          </a:prstGeom>
          <a:ln w="28575">
            <a:solidFill>
              <a:srgbClr val="0098A8"/>
            </a:solidFill>
            <a:prstDash val="dash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47"/>
          <p:cNvSpPr txBox="1">
            <a:spLocks noChangeArrowheads="1"/>
          </p:cNvSpPr>
          <p:nvPr/>
        </p:nvSpPr>
        <p:spPr bwMode="auto">
          <a:xfrm>
            <a:off x="2121000" y="5397281"/>
            <a:ext cx="141577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000">
                <a:solidFill>
                  <a:schemeClr val="accent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accent2"/>
                </a:solidFill>
                <a:latin typeface="Arial" panose="020B0604020202020204" pitchFamily="34" charset="0"/>
                <a:ea typeface="仿宋_GB2312" panose="02010609030101010101" pitchFamily="49" charset="-122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zh-CN" altLang="en-US" sz="2400" b="1" dirty="0" smtClean="0">
                <a:solidFill>
                  <a:srgbClr val="3C3C3C"/>
                </a:solidFill>
                <a:latin typeface="微软雅黑" panose="020B0503020204020204" pitchFamily="34" charset="-122"/>
              </a:rPr>
              <a:t>有心无力</a:t>
            </a:r>
            <a:endParaRPr lang="zh-CN" altLang="en-US" sz="2400" b="1" dirty="0">
              <a:solidFill>
                <a:srgbClr val="3C3C3C"/>
              </a:solidFill>
              <a:latin typeface="微软雅黑" panose="020B0503020204020204" pitchFamily="34" charset="-122"/>
            </a:endParaRPr>
          </a:p>
        </p:txBody>
      </p:sp>
      <p:sp>
        <p:nvSpPr>
          <p:cNvPr id="42" name="TextBox 34"/>
          <p:cNvSpPr txBox="1"/>
          <p:nvPr/>
        </p:nvSpPr>
        <p:spPr>
          <a:xfrm>
            <a:off x="3788371" y="2510450"/>
            <a:ext cx="704482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专人专网维护</a:t>
            </a: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，专业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跨度大，</a:t>
            </a:r>
            <a:r>
              <a:rPr lang="zh-CN" altLang="en-US" sz="14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无法全程全</a:t>
            </a:r>
            <a:r>
              <a:rPr lang="zh-CN" altLang="en-US" sz="1400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网，人员复用难</a:t>
            </a: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，如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城域网（陈朝勇）、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CDN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（林庆忠）、交换网（聂敏泉），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IMS\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互联互通（徐晓颖）、承载网（</a:t>
            </a: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陈熙东）等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  <a:cs typeface="Lato Light" charset="0"/>
              <a:sym typeface="Arial"/>
            </a:endParaRPr>
          </a:p>
        </p:txBody>
      </p:sp>
      <p:sp>
        <p:nvSpPr>
          <p:cNvPr id="33" name="TextBox 34"/>
          <p:cNvSpPr txBox="1"/>
          <p:nvPr/>
        </p:nvSpPr>
        <p:spPr>
          <a:xfrm>
            <a:off x="3817759" y="5507209"/>
            <a:ext cx="7074695" cy="345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/>
            </a:pP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故障、投诉发生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后才进行分析和</a:t>
            </a: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处理，想做到</a:t>
            </a:r>
            <a:r>
              <a:rPr lang="zh-CN" altLang="en-US" sz="1400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先于故障发现问题、先于投诉解决问题</a:t>
            </a:r>
            <a:endParaRPr lang="en-US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288206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621537" y="214757"/>
            <a:ext cx="797340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3200" b="1" dirty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目录</a:t>
            </a:r>
          </a:p>
        </p:txBody>
      </p:sp>
      <p:sp>
        <p:nvSpPr>
          <p:cNvPr id="3" name="Rectangle 35"/>
          <p:cNvSpPr>
            <a:spLocks noChangeArrowheads="1"/>
          </p:cNvSpPr>
          <p:nvPr/>
        </p:nvSpPr>
        <p:spPr bwMode="auto">
          <a:xfrm>
            <a:off x="3979314" y="1360679"/>
            <a:ext cx="3739324" cy="816994"/>
          </a:xfrm>
          <a:prstGeom prst="rect">
            <a:avLst/>
          </a:prstGeom>
          <a:solidFill>
            <a:srgbClr val="808080"/>
          </a:solidFill>
          <a:ln w="9525" algn="ctr">
            <a:noFill/>
            <a:miter lim="800000"/>
          </a:ln>
          <a:effectLst/>
        </p:spPr>
        <p:txBody>
          <a:bodyPr lIns="79152" tIns="39576" rIns="79152" bIns="39576" anchor="ctr"/>
          <a:lstStyle/>
          <a:p>
            <a:pPr defTabSz="800735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+mn-ea"/>
              </a:rPr>
              <a:t>一、建设背景</a:t>
            </a:r>
          </a:p>
        </p:txBody>
      </p:sp>
      <p:sp>
        <p:nvSpPr>
          <p:cNvPr id="4" name="Rectangle 35"/>
          <p:cNvSpPr>
            <a:spLocks noChangeArrowheads="1"/>
          </p:cNvSpPr>
          <p:nvPr/>
        </p:nvSpPr>
        <p:spPr bwMode="auto">
          <a:xfrm>
            <a:off x="3979314" y="2507159"/>
            <a:ext cx="3739324" cy="816994"/>
          </a:xfrm>
          <a:prstGeom prst="rect">
            <a:avLst/>
          </a:prstGeom>
          <a:solidFill>
            <a:srgbClr val="CC0000"/>
          </a:solidFill>
          <a:ln w="9525" algn="ctr">
            <a:noFill/>
            <a:miter lim="800000"/>
          </a:ln>
          <a:effectLst/>
        </p:spPr>
        <p:txBody>
          <a:bodyPr lIns="79152" tIns="39576" rIns="79152" bIns="39576" anchor="ctr">
            <a:noAutofit/>
          </a:bodyPr>
          <a:lstStyle/>
          <a:p>
            <a:pPr defTabSz="800735" fontAlgn="base"/>
            <a:r>
              <a:rPr lang="zh-CN" altLang="en-US" sz="24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+mn-ea"/>
              </a:rPr>
              <a:t>二、建设目标</a:t>
            </a:r>
          </a:p>
        </p:txBody>
      </p:sp>
      <p:sp>
        <p:nvSpPr>
          <p:cNvPr id="5" name="Rectangle 35"/>
          <p:cNvSpPr>
            <a:spLocks noChangeArrowheads="1"/>
          </p:cNvSpPr>
          <p:nvPr/>
        </p:nvSpPr>
        <p:spPr bwMode="auto">
          <a:xfrm>
            <a:off x="3979314" y="3686658"/>
            <a:ext cx="3739324" cy="816994"/>
          </a:xfrm>
          <a:prstGeom prst="rect">
            <a:avLst/>
          </a:prstGeom>
          <a:solidFill>
            <a:srgbClr val="808080"/>
          </a:solidFill>
          <a:ln w="9525" algn="ctr">
            <a:noFill/>
            <a:miter lim="800000"/>
          </a:ln>
          <a:effectLst/>
        </p:spPr>
        <p:txBody>
          <a:bodyPr lIns="79152" tIns="39576" rIns="79152" bIns="39576" anchor="ctr"/>
          <a:lstStyle/>
          <a:p>
            <a:pPr defTabSz="800735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 kern="0" dirty="0" smtClean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三、计划与举措</a:t>
            </a:r>
            <a:endParaRPr lang="zh-CN" altLang="en-US" sz="240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6" name="Rectangle 35"/>
          <p:cNvSpPr>
            <a:spLocks noChangeArrowheads="1"/>
          </p:cNvSpPr>
          <p:nvPr/>
        </p:nvSpPr>
        <p:spPr bwMode="auto">
          <a:xfrm>
            <a:off x="3979314" y="4811878"/>
            <a:ext cx="3739324" cy="816994"/>
          </a:xfrm>
          <a:prstGeom prst="rect">
            <a:avLst/>
          </a:prstGeom>
          <a:solidFill>
            <a:srgbClr val="808080"/>
          </a:solidFill>
          <a:ln w="9525" algn="ctr">
            <a:noFill/>
            <a:miter lim="800000"/>
          </a:ln>
          <a:effectLst/>
        </p:spPr>
        <p:txBody>
          <a:bodyPr lIns="79152" tIns="39576" rIns="79152" bIns="39576" anchor="ctr"/>
          <a:lstStyle/>
          <a:p>
            <a:pPr defTabSz="800735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 kern="0" dirty="0" smtClean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四、应用场景</a:t>
            </a:r>
            <a:endParaRPr lang="zh-CN" altLang="en-US" sz="240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89547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1790" y="2294355"/>
            <a:ext cx="6673147" cy="2339640"/>
          </a:xfrm>
          <a:prstGeom prst="rect">
            <a:avLst/>
          </a:prstGeom>
        </p:spPr>
      </p:pic>
      <p:sp>
        <p:nvSpPr>
          <p:cNvPr id="4" name="矩形 3"/>
          <p:cNvSpPr/>
          <p:nvPr/>
        </p:nvSpPr>
        <p:spPr>
          <a:xfrm>
            <a:off x="621537" y="214757"/>
            <a:ext cx="797340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3200" b="1" dirty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网络管理</a:t>
            </a:r>
            <a:r>
              <a:rPr lang="zh-CN" altLang="en-US" sz="3200" b="1" dirty="0" smtClean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工作 </a:t>
            </a:r>
            <a:r>
              <a:rPr lang="en-US" altLang="zh-CN" sz="3200" b="1" dirty="0" smtClean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– </a:t>
            </a:r>
            <a:r>
              <a:rPr lang="zh-CN" altLang="en-US" sz="3200" b="1" dirty="0" smtClean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愿景</a:t>
            </a:r>
            <a:endParaRPr lang="zh-CN" altLang="en-US" sz="3200" b="1" dirty="0">
              <a:solidFill>
                <a:srgbClr val="8EC31F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" name="虚尾箭头 8"/>
          <p:cNvSpPr/>
          <p:nvPr/>
        </p:nvSpPr>
        <p:spPr>
          <a:xfrm>
            <a:off x="2440983" y="2854014"/>
            <a:ext cx="5656881" cy="581695"/>
          </a:xfrm>
          <a:prstGeom prst="stripedRightArrow">
            <a:avLst/>
          </a:prstGeom>
          <a:solidFill>
            <a:srgbClr val="8EC31F"/>
          </a:solidFill>
          <a:ln>
            <a:solidFill>
              <a:srgbClr val="FAFAF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需求</a:t>
            </a:r>
            <a:r>
              <a:rPr lang="en-US" altLang="zh-CN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决策</a:t>
            </a:r>
            <a:r>
              <a:rPr lang="en-US" altLang="zh-CN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任务下发</a:t>
            </a:r>
            <a:endParaRPr lang="zh-CN" altLang="en-US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虚尾箭头 9"/>
          <p:cNvSpPr/>
          <p:nvPr/>
        </p:nvSpPr>
        <p:spPr>
          <a:xfrm rot="10800000">
            <a:off x="2249107" y="3316636"/>
            <a:ext cx="5656881" cy="649806"/>
          </a:xfrm>
          <a:prstGeom prst="stripedRightArrow">
            <a:avLst/>
          </a:prstGeom>
          <a:solidFill>
            <a:srgbClr val="8EC31F"/>
          </a:solidFill>
          <a:ln>
            <a:solidFill>
              <a:srgbClr val="FAFAF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/>
          <p:cNvSpPr txBox="1"/>
          <p:nvPr/>
        </p:nvSpPr>
        <p:spPr>
          <a:xfrm>
            <a:off x="3758339" y="3466705"/>
            <a:ext cx="30221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决策建议</a:t>
            </a:r>
            <a:r>
              <a:rPr lang="en-US" altLang="zh-CN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结果反馈、呈现</a:t>
            </a:r>
            <a:endParaRPr lang="zh-CN" altLang="en-US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圆角矩形 17"/>
          <p:cNvSpPr/>
          <p:nvPr/>
        </p:nvSpPr>
        <p:spPr>
          <a:xfrm>
            <a:off x="9426424" y="1217978"/>
            <a:ext cx="1441343" cy="382795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大脑系统</a:t>
            </a:r>
            <a:endParaRPr lang="zh-CN" altLang="en-US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513051" y="1217978"/>
            <a:ext cx="1441343" cy="382795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需求角色</a:t>
            </a:r>
            <a:endParaRPr lang="zh-CN" altLang="en-US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直角上箭头 19"/>
          <p:cNvSpPr/>
          <p:nvPr/>
        </p:nvSpPr>
        <p:spPr>
          <a:xfrm>
            <a:off x="7722230" y="5023767"/>
            <a:ext cx="3145538" cy="1431056"/>
          </a:xfrm>
          <a:prstGeom prst="bentUpArrow">
            <a:avLst>
              <a:gd name="adj1" fmla="val 9227"/>
              <a:gd name="adj2" fmla="val 13629"/>
              <a:gd name="adj3" fmla="val 14018"/>
            </a:avLst>
          </a:prstGeom>
          <a:solidFill>
            <a:srgbClr val="8EC3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6" name="组合 25"/>
          <p:cNvGrpSpPr/>
          <p:nvPr/>
        </p:nvGrpSpPr>
        <p:grpSpPr>
          <a:xfrm>
            <a:off x="7722230" y="5050643"/>
            <a:ext cx="2145896" cy="1178422"/>
            <a:chOff x="7722230" y="5050643"/>
            <a:chExt cx="2145896" cy="1178422"/>
          </a:xfrm>
          <a:solidFill>
            <a:srgbClr val="8EC31F"/>
          </a:solidFill>
        </p:grpSpPr>
        <p:sp>
          <p:nvSpPr>
            <p:cNvPr id="24" name="矩形 23"/>
            <p:cNvSpPr/>
            <p:nvPr/>
          </p:nvSpPr>
          <p:spPr>
            <a:xfrm>
              <a:off x="9701939" y="5050643"/>
              <a:ext cx="166187" cy="11050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" name="左箭头 24"/>
            <p:cNvSpPr/>
            <p:nvPr/>
          </p:nvSpPr>
          <p:spPr>
            <a:xfrm>
              <a:off x="7722230" y="5905033"/>
              <a:ext cx="2064836" cy="324032"/>
            </a:xfrm>
            <a:prstGeom prst="leftArrow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7" name="文本框 26"/>
          <p:cNvSpPr txBox="1"/>
          <p:nvPr/>
        </p:nvSpPr>
        <p:spPr>
          <a:xfrm>
            <a:off x="8506622" y="5646662"/>
            <a:ext cx="15767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 smtClean="0">
                <a:solidFill>
                  <a:schemeClr val="accent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任务下发</a:t>
            </a:r>
            <a:endParaRPr lang="zh-CN" altLang="en-US" b="1" dirty="0">
              <a:solidFill>
                <a:schemeClr val="accent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10717898" y="5646662"/>
            <a:ext cx="11215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 smtClean="0">
                <a:solidFill>
                  <a:schemeClr val="accent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结果反馈</a:t>
            </a:r>
            <a:endParaRPr lang="zh-CN" altLang="en-US" b="1" dirty="0">
              <a:solidFill>
                <a:schemeClr val="accent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圆角矩形 28"/>
          <p:cNvSpPr/>
          <p:nvPr/>
        </p:nvSpPr>
        <p:spPr>
          <a:xfrm>
            <a:off x="4047832" y="5937420"/>
            <a:ext cx="1441343" cy="382795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执行系统</a:t>
            </a:r>
            <a:endParaRPr lang="zh-CN" altLang="en-US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0" name="图片 2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993" y="2130861"/>
            <a:ext cx="1237595" cy="2371550"/>
          </a:xfrm>
          <a:prstGeom prst="rect">
            <a:avLst/>
          </a:prstGeom>
        </p:spPr>
      </p:pic>
      <p:pic>
        <p:nvPicPr>
          <p:cNvPr id="31" name="图片 3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7057" y="1639725"/>
            <a:ext cx="3085714" cy="3200000"/>
          </a:xfrm>
          <a:prstGeom prst="rect">
            <a:avLst/>
          </a:prstGeom>
        </p:spPr>
      </p:pic>
      <p:pic>
        <p:nvPicPr>
          <p:cNvPr id="32" name="图片 3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9078" y="5327577"/>
            <a:ext cx="1095416" cy="1483929"/>
          </a:xfrm>
          <a:prstGeom prst="rect">
            <a:avLst/>
          </a:prstGeom>
        </p:spPr>
      </p:pic>
      <p:pic>
        <p:nvPicPr>
          <p:cNvPr id="33" name="图片 3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9591" y="5486400"/>
            <a:ext cx="983732" cy="1332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67018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621537" y="214757"/>
            <a:ext cx="797340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3200" b="1" dirty="0" smtClean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大脑系统 </a:t>
            </a:r>
            <a:r>
              <a:rPr lang="en-US" altLang="zh-CN" sz="3200" b="1" dirty="0" smtClean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-  </a:t>
            </a:r>
            <a:r>
              <a:rPr lang="zh-CN" altLang="en-US" sz="3200" b="1" dirty="0" smtClean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建设方案</a:t>
            </a:r>
            <a:endParaRPr lang="zh-CN" altLang="en-US" sz="3200" b="1" dirty="0">
              <a:solidFill>
                <a:srgbClr val="8EC31F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" y="946105"/>
            <a:ext cx="11986567" cy="5274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4103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/>
          <p:cNvSpPr/>
          <p:nvPr/>
        </p:nvSpPr>
        <p:spPr>
          <a:xfrm>
            <a:off x="1120457" y="1237462"/>
            <a:ext cx="983294" cy="985038"/>
          </a:xfrm>
          <a:prstGeom prst="ellipse">
            <a:avLst/>
          </a:prstGeom>
          <a:noFill/>
          <a:ln w="38100">
            <a:solidFill>
              <a:srgbClr val="0098A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srgbClr val="C89800"/>
              </a:solidFill>
            </a:endParaRPr>
          </a:p>
        </p:txBody>
      </p:sp>
      <p:sp>
        <p:nvSpPr>
          <p:cNvPr id="3" name="椭圆 2"/>
          <p:cNvSpPr/>
          <p:nvPr/>
        </p:nvSpPr>
        <p:spPr>
          <a:xfrm>
            <a:off x="1228407" y="1345412"/>
            <a:ext cx="773360" cy="774732"/>
          </a:xfrm>
          <a:prstGeom prst="ellipse">
            <a:avLst/>
          </a:prstGeom>
          <a:noFill/>
          <a:ln>
            <a:solidFill>
              <a:srgbClr val="0098A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4" name="TextBox 19"/>
          <p:cNvSpPr txBox="1">
            <a:spLocks noChangeArrowheads="1"/>
          </p:cNvSpPr>
          <p:nvPr/>
        </p:nvSpPr>
        <p:spPr bwMode="auto">
          <a:xfrm>
            <a:off x="1409382" y="1404150"/>
            <a:ext cx="456915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2000">
                <a:solidFill>
                  <a:schemeClr val="accent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accent2"/>
                </a:solidFill>
                <a:latin typeface="Arial" panose="020B0604020202020204" pitchFamily="34" charset="0"/>
                <a:ea typeface="仿宋_GB2312" panose="02010609030101010101" pitchFamily="49" charset="-122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CN" sz="4400" b="1" dirty="0">
                <a:solidFill>
                  <a:srgbClr val="0098A8"/>
                </a:solidFill>
                <a:latin typeface="Calibri" panose="020F0502020204030204" pitchFamily="34" charset="0"/>
                <a:ea typeface="宋体" panose="02010600030101010101" pitchFamily="2" charset="-122"/>
              </a:rPr>
              <a:t>1</a:t>
            </a:r>
            <a:endParaRPr lang="zh-CN" altLang="en-US" sz="4400" b="1" dirty="0">
              <a:solidFill>
                <a:srgbClr val="0098A8"/>
              </a:solidFill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6" name="TextBox 25"/>
          <p:cNvSpPr txBox="1">
            <a:spLocks noChangeArrowheads="1"/>
          </p:cNvSpPr>
          <p:nvPr/>
        </p:nvSpPr>
        <p:spPr bwMode="auto">
          <a:xfrm>
            <a:off x="3041232" y="1499457"/>
            <a:ext cx="80022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000">
                <a:solidFill>
                  <a:schemeClr val="accent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accent2"/>
                </a:solidFill>
                <a:latin typeface="Arial" panose="020B0604020202020204" pitchFamily="34" charset="0"/>
                <a:ea typeface="仿宋_GB2312" panose="02010609030101010101" pitchFamily="49" charset="-122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zh-CN" altLang="en-US" sz="2400" b="1" dirty="0" smtClean="0">
                <a:solidFill>
                  <a:srgbClr val="3C3C3C"/>
                </a:solidFill>
                <a:latin typeface="微软雅黑" panose="020B0503020204020204" pitchFamily="34" charset="-122"/>
              </a:rPr>
              <a:t>自动</a:t>
            </a:r>
            <a:endParaRPr lang="zh-CN" altLang="en-US" sz="2400" b="1" dirty="0">
              <a:solidFill>
                <a:srgbClr val="3C3C3C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TextBox 26"/>
          <p:cNvSpPr txBox="1"/>
          <p:nvPr/>
        </p:nvSpPr>
        <p:spPr>
          <a:xfrm>
            <a:off x="4297848" y="1506035"/>
            <a:ext cx="7589351" cy="732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/>
            </a:pPr>
            <a:r>
              <a:rPr lang="zh-CN" altLang="en-US" sz="16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数据获取全自动化、需求收集全自动化，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旨在将</a:t>
            </a:r>
            <a:r>
              <a:rPr lang="zh-CN" altLang="en-US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重复、低效能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的工作</a:t>
            </a:r>
            <a:r>
              <a:rPr lang="zh-CN" altLang="en-US" sz="16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通过执行系统完成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sym typeface="Arial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1146362" y="2602712"/>
            <a:ext cx="981750" cy="985038"/>
          </a:xfrm>
          <a:prstGeom prst="ellipse">
            <a:avLst/>
          </a:prstGeom>
          <a:noFill/>
          <a:ln w="38100">
            <a:solidFill>
              <a:srgbClr val="0098A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srgbClr val="C89800"/>
              </a:solidFill>
            </a:endParaRPr>
          </a:p>
        </p:txBody>
      </p:sp>
      <p:sp>
        <p:nvSpPr>
          <p:cNvPr id="9" name="椭圆 8"/>
          <p:cNvSpPr/>
          <p:nvPr/>
        </p:nvSpPr>
        <p:spPr>
          <a:xfrm>
            <a:off x="1252724" y="2710663"/>
            <a:ext cx="774903" cy="776278"/>
          </a:xfrm>
          <a:prstGeom prst="ellipse">
            <a:avLst/>
          </a:prstGeom>
          <a:noFill/>
          <a:ln>
            <a:solidFill>
              <a:srgbClr val="0098A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10" name="TextBox 31"/>
          <p:cNvSpPr txBox="1">
            <a:spLocks noChangeArrowheads="1"/>
          </p:cNvSpPr>
          <p:nvPr/>
        </p:nvSpPr>
        <p:spPr bwMode="auto">
          <a:xfrm>
            <a:off x="1433699" y="2769400"/>
            <a:ext cx="456915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2000">
                <a:solidFill>
                  <a:schemeClr val="accent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accent2"/>
                </a:solidFill>
                <a:latin typeface="Arial" panose="020B0604020202020204" pitchFamily="34" charset="0"/>
                <a:ea typeface="仿宋_GB2312" panose="02010609030101010101" pitchFamily="49" charset="-122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CN" sz="4400" b="1" dirty="0">
                <a:solidFill>
                  <a:srgbClr val="0098A8"/>
                </a:solidFill>
                <a:latin typeface="Calibri" panose="020F0502020204030204" pitchFamily="34" charset="0"/>
                <a:ea typeface="宋体" panose="02010600030101010101" pitchFamily="2" charset="-122"/>
              </a:rPr>
              <a:t>2</a:t>
            </a:r>
            <a:endParaRPr lang="zh-CN" altLang="en-US" sz="4400" b="1" dirty="0">
              <a:solidFill>
                <a:srgbClr val="0098A8"/>
              </a:solidFill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12" name="TextBox 33"/>
          <p:cNvSpPr txBox="1">
            <a:spLocks noChangeArrowheads="1"/>
          </p:cNvSpPr>
          <p:nvPr/>
        </p:nvSpPr>
        <p:spPr bwMode="auto">
          <a:xfrm>
            <a:off x="3056472" y="2738218"/>
            <a:ext cx="80022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000">
                <a:solidFill>
                  <a:schemeClr val="accent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accent2"/>
                </a:solidFill>
                <a:latin typeface="Arial" panose="020B0604020202020204" pitchFamily="34" charset="0"/>
                <a:ea typeface="仿宋_GB2312" panose="02010609030101010101" pitchFamily="49" charset="-122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zh-CN" altLang="en-US" sz="2400" b="1" dirty="0" smtClean="0">
                <a:solidFill>
                  <a:srgbClr val="3C3C3C"/>
                </a:solidFill>
                <a:latin typeface="微软雅黑" panose="020B0503020204020204" pitchFamily="34" charset="-122"/>
              </a:rPr>
              <a:t>可视</a:t>
            </a:r>
            <a:endParaRPr lang="zh-CN" altLang="en-US" sz="2400" b="1" dirty="0">
              <a:solidFill>
                <a:srgbClr val="3C3C3C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TextBox 34"/>
          <p:cNvSpPr txBox="1"/>
          <p:nvPr/>
        </p:nvSpPr>
        <p:spPr>
          <a:xfrm>
            <a:off x="4379736" y="3946477"/>
            <a:ext cx="7074696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/>
            </a:pPr>
            <a:r>
              <a:rPr lang="en-US" altLang="zh-CN" sz="16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6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、初级智慧阶段：旨在采用简单机器学习，实现</a:t>
            </a:r>
            <a:r>
              <a:rPr lang="zh-CN" altLang="en-US" sz="16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性能、故障、投诉等预警、               </a:t>
            </a:r>
            <a:endParaRPr lang="en-US" altLang="zh-CN" sz="1600" b="1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30000"/>
              </a:lnSpc>
              <a:defRPr/>
            </a:pPr>
            <a:r>
              <a:rPr lang="en-US" altLang="zh-CN" sz="16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                          </a:t>
            </a:r>
            <a:r>
              <a:rPr lang="zh-CN" altLang="en-US" sz="16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分析和修复 </a:t>
            </a:r>
            <a:r>
              <a:rPr lang="zh-CN" altLang="en-US" sz="1600" b="1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，消除专业壁垒，实现人员复用</a:t>
            </a:r>
            <a:r>
              <a:rPr lang="zh-CN" altLang="en-US" sz="16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endParaRPr lang="en-US" altLang="zh-CN" sz="1600" b="1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30000"/>
              </a:lnSpc>
              <a:defRPr/>
            </a:pPr>
            <a:r>
              <a:rPr lang="en-US" altLang="zh-CN" sz="16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6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、高级智慧阶段：旨在利用深度学习，实现网络</a:t>
            </a:r>
            <a:r>
              <a:rPr lang="zh-CN" altLang="en-US" sz="1600" b="1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自规划和优化</a:t>
            </a:r>
            <a:endParaRPr lang="en-US" altLang="zh-CN" sz="16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椭圆 13"/>
          <p:cNvSpPr/>
          <p:nvPr/>
        </p:nvSpPr>
        <p:spPr>
          <a:xfrm>
            <a:off x="1183882" y="3956850"/>
            <a:ext cx="983293" cy="985037"/>
          </a:xfrm>
          <a:prstGeom prst="ellipse">
            <a:avLst/>
          </a:prstGeom>
          <a:noFill/>
          <a:ln w="38100">
            <a:solidFill>
              <a:srgbClr val="0098A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srgbClr val="C89800"/>
              </a:solidFill>
            </a:endParaRPr>
          </a:p>
        </p:txBody>
      </p:sp>
      <p:sp>
        <p:nvSpPr>
          <p:cNvPr id="15" name="椭圆 14"/>
          <p:cNvSpPr/>
          <p:nvPr/>
        </p:nvSpPr>
        <p:spPr>
          <a:xfrm>
            <a:off x="1291832" y="4064800"/>
            <a:ext cx="774903" cy="774731"/>
          </a:xfrm>
          <a:prstGeom prst="ellipse">
            <a:avLst/>
          </a:prstGeom>
          <a:noFill/>
          <a:ln>
            <a:solidFill>
              <a:srgbClr val="0098A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16" name="TextBox 38"/>
          <p:cNvSpPr txBox="1">
            <a:spLocks noChangeArrowheads="1"/>
          </p:cNvSpPr>
          <p:nvPr/>
        </p:nvSpPr>
        <p:spPr bwMode="auto">
          <a:xfrm>
            <a:off x="1432296" y="4064800"/>
            <a:ext cx="456915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2000">
                <a:solidFill>
                  <a:schemeClr val="accent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accent2"/>
                </a:solidFill>
                <a:latin typeface="Arial" panose="020B0604020202020204" pitchFamily="34" charset="0"/>
                <a:ea typeface="仿宋_GB2312" panose="02010609030101010101" pitchFamily="49" charset="-122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CN" sz="4400" b="1">
                <a:solidFill>
                  <a:srgbClr val="0098A8"/>
                </a:solidFill>
                <a:latin typeface="Calibri" panose="020F0502020204030204" pitchFamily="34" charset="0"/>
                <a:ea typeface="宋体" panose="02010600030101010101" pitchFamily="2" charset="-122"/>
              </a:rPr>
              <a:t>3</a:t>
            </a:r>
            <a:endParaRPr lang="zh-CN" altLang="en-US" sz="4400" b="1">
              <a:solidFill>
                <a:srgbClr val="0098A8"/>
              </a:solidFill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18" name="TextBox 40"/>
          <p:cNvSpPr txBox="1">
            <a:spLocks noChangeArrowheads="1"/>
          </p:cNvSpPr>
          <p:nvPr/>
        </p:nvSpPr>
        <p:spPr bwMode="auto">
          <a:xfrm>
            <a:off x="3071713" y="4081899"/>
            <a:ext cx="80022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000">
                <a:solidFill>
                  <a:schemeClr val="accent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accent2"/>
                </a:solidFill>
                <a:latin typeface="Arial" panose="020B0604020202020204" pitchFamily="34" charset="0"/>
                <a:ea typeface="仿宋_GB2312" panose="02010609030101010101" pitchFamily="49" charset="-122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zh-CN" altLang="en-US" sz="2400" b="1" dirty="0" smtClean="0">
                <a:solidFill>
                  <a:srgbClr val="3C3C3C"/>
                </a:solidFill>
                <a:latin typeface="微软雅黑" panose="020B0503020204020204" pitchFamily="34" charset="-122"/>
              </a:rPr>
              <a:t>智慧</a:t>
            </a:r>
            <a:endParaRPr lang="zh-CN" altLang="en-US" sz="2400" b="1" dirty="0">
              <a:solidFill>
                <a:srgbClr val="3C3C3C"/>
              </a:solidFill>
              <a:latin typeface="微软雅黑" panose="020B0503020204020204" pitchFamily="34" charset="-122"/>
            </a:endParaRPr>
          </a:p>
        </p:txBody>
      </p:sp>
      <p:sp>
        <p:nvSpPr>
          <p:cNvPr id="19" name="椭圆 18"/>
          <p:cNvSpPr/>
          <p:nvPr/>
        </p:nvSpPr>
        <p:spPr>
          <a:xfrm>
            <a:off x="1180786" y="5339562"/>
            <a:ext cx="983294" cy="985038"/>
          </a:xfrm>
          <a:prstGeom prst="ellipse">
            <a:avLst/>
          </a:prstGeom>
          <a:noFill/>
          <a:ln w="38100">
            <a:solidFill>
              <a:srgbClr val="0098A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srgbClr val="C89800"/>
              </a:solidFill>
            </a:endParaRPr>
          </a:p>
        </p:txBody>
      </p:sp>
      <p:sp>
        <p:nvSpPr>
          <p:cNvPr id="20" name="椭圆 19"/>
          <p:cNvSpPr/>
          <p:nvPr/>
        </p:nvSpPr>
        <p:spPr>
          <a:xfrm>
            <a:off x="1288736" y="5445926"/>
            <a:ext cx="774903" cy="776278"/>
          </a:xfrm>
          <a:prstGeom prst="ellipse">
            <a:avLst/>
          </a:prstGeom>
          <a:noFill/>
          <a:ln>
            <a:solidFill>
              <a:srgbClr val="0098A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21" name="TextBox 45"/>
          <p:cNvSpPr txBox="1">
            <a:spLocks noChangeArrowheads="1"/>
          </p:cNvSpPr>
          <p:nvPr/>
        </p:nvSpPr>
        <p:spPr bwMode="auto">
          <a:xfrm>
            <a:off x="1429200" y="5447513"/>
            <a:ext cx="456915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2000">
                <a:solidFill>
                  <a:schemeClr val="accent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accent2"/>
                </a:solidFill>
                <a:latin typeface="Arial" panose="020B0604020202020204" pitchFamily="34" charset="0"/>
                <a:ea typeface="仿宋_GB2312" panose="02010609030101010101" pitchFamily="49" charset="-122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CN" sz="4400" b="1">
                <a:solidFill>
                  <a:srgbClr val="0098A8"/>
                </a:solidFill>
                <a:latin typeface="Calibri" panose="020F0502020204030204" pitchFamily="34" charset="0"/>
                <a:ea typeface="宋体" panose="02010600030101010101" pitchFamily="2" charset="-122"/>
              </a:rPr>
              <a:t>4</a:t>
            </a:r>
            <a:endParaRPr lang="zh-CN" altLang="en-US" sz="4400" b="1">
              <a:solidFill>
                <a:srgbClr val="0098A8"/>
              </a:solidFill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23" name="TextBox 47"/>
          <p:cNvSpPr txBox="1">
            <a:spLocks noChangeArrowheads="1"/>
          </p:cNvSpPr>
          <p:nvPr/>
        </p:nvSpPr>
        <p:spPr bwMode="auto">
          <a:xfrm>
            <a:off x="3071713" y="5538781"/>
            <a:ext cx="80021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000">
                <a:solidFill>
                  <a:schemeClr val="accent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accent2"/>
                </a:solidFill>
                <a:latin typeface="Arial" panose="020B0604020202020204" pitchFamily="34" charset="0"/>
                <a:ea typeface="仿宋_GB2312" panose="02010609030101010101" pitchFamily="49" charset="-122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zh-CN" altLang="en-US" sz="2400" b="1" dirty="0" smtClean="0">
                <a:solidFill>
                  <a:srgbClr val="3C3C3C"/>
                </a:solidFill>
                <a:latin typeface="微软雅黑" panose="020B0503020204020204" pitchFamily="34" charset="-122"/>
              </a:rPr>
              <a:t>无人</a:t>
            </a:r>
            <a:endParaRPr lang="zh-CN" altLang="en-US" sz="2400" b="1" dirty="0">
              <a:solidFill>
                <a:srgbClr val="3C3C3C"/>
              </a:solidFill>
              <a:latin typeface="微软雅黑" panose="020B0503020204020204" pitchFamily="34" charset="-122"/>
            </a:endParaRPr>
          </a:p>
        </p:txBody>
      </p:sp>
      <p:sp>
        <p:nvSpPr>
          <p:cNvPr id="24" name="TextBox 34"/>
          <p:cNvSpPr txBox="1"/>
          <p:nvPr/>
        </p:nvSpPr>
        <p:spPr>
          <a:xfrm>
            <a:off x="4352439" y="2742104"/>
            <a:ext cx="653847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zh-CN" altLang="en-US" sz="1600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Lato Light" charset="0"/>
                <a:sym typeface="Arial"/>
              </a:rPr>
              <a:t>反馈结果可视化，旨在借助图形化手段、</a:t>
            </a:r>
            <a:r>
              <a:rPr lang="zh-CN" altLang="en-US" sz="1600" b="1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to Light" charset="0"/>
                <a:sym typeface="Arial"/>
              </a:rPr>
              <a:t>清晰有效地传达与沟通信息</a:t>
            </a:r>
            <a:endParaRPr lang="en-US" altLang="zh-CN" sz="16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to Light" charset="0"/>
              <a:sym typeface="Arial"/>
            </a:endParaRPr>
          </a:p>
        </p:txBody>
      </p:sp>
      <p:sp>
        <p:nvSpPr>
          <p:cNvPr id="25" name="TextBox 34"/>
          <p:cNvSpPr txBox="1"/>
          <p:nvPr/>
        </p:nvSpPr>
        <p:spPr>
          <a:xfrm>
            <a:off x="4379736" y="5584594"/>
            <a:ext cx="7074695" cy="412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/>
            </a:pPr>
            <a:r>
              <a:rPr lang="zh-CN" altLang="en-US" sz="16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旨在实现</a:t>
            </a:r>
            <a:r>
              <a:rPr lang="zh-CN" altLang="en-US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大脑替代人脑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看网管网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756618" y="240325"/>
            <a:ext cx="797340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3200" b="1" dirty="0" smtClean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大脑系统 </a:t>
            </a:r>
            <a:r>
              <a:rPr lang="en-US" altLang="zh-CN" sz="3200" b="1" dirty="0" smtClean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-  </a:t>
            </a:r>
            <a:r>
              <a:rPr lang="zh-CN" altLang="en-US" sz="3200" b="1" dirty="0" smtClean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建设目标</a:t>
            </a:r>
            <a:endParaRPr lang="zh-CN" altLang="en-US" sz="3200" b="1" dirty="0">
              <a:solidFill>
                <a:srgbClr val="8EC31F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439605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621537" y="214757"/>
            <a:ext cx="797340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3200" b="1" dirty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目录</a:t>
            </a:r>
          </a:p>
        </p:txBody>
      </p:sp>
      <p:sp>
        <p:nvSpPr>
          <p:cNvPr id="3" name="Rectangle 35"/>
          <p:cNvSpPr>
            <a:spLocks noChangeArrowheads="1"/>
          </p:cNvSpPr>
          <p:nvPr/>
        </p:nvSpPr>
        <p:spPr bwMode="auto">
          <a:xfrm>
            <a:off x="3979314" y="1360679"/>
            <a:ext cx="3739324" cy="816994"/>
          </a:xfrm>
          <a:prstGeom prst="rect">
            <a:avLst/>
          </a:prstGeom>
          <a:solidFill>
            <a:srgbClr val="808080"/>
          </a:solidFill>
          <a:ln w="9525" algn="ctr">
            <a:noFill/>
            <a:miter lim="800000"/>
          </a:ln>
          <a:effectLst/>
        </p:spPr>
        <p:txBody>
          <a:bodyPr lIns="79152" tIns="39576" rIns="79152" bIns="39576" anchor="ctr"/>
          <a:lstStyle/>
          <a:p>
            <a:pPr defTabSz="800735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+mn-ea"/>
              </a:rPr>
              <a:t>一、建设背景</a:t>
            </a:r>
          </a:p>
        </p:txBody>
      </p:sp>
      <p:sp>
        <p:nvSpPr>
          <p:cNvPr id="4" name="Rectangle 35"/>
          <p:cNvSpPr>
            <a:spLocks noChangeArrowheads="1"/>
          </p:cNvSpPr>
          <p:nvPr/>
        </p:nvSpPr>
        <p:spPr bwMode="auto">
          <a:xfrm>
            <a:off x="3979314" y="2507159"/>
            <a:ext cx="3739324" cy="816994"/>
          </a:xfrm>
          <a:prstGeom prst="rect">
            <a:avLst/>
          </a:prstGeom>
          <a:solidFill>
            <a:srgbClr val="808080"/>
          </a:solidFill>
          <a:ln w="9525" algn="ctr">
            <a:noFill/>
            <a:miter lim="800000"/>
          </a:ln>
          <a:effectLst/>
        </p:spPr>
        <p:txBody>
          <a:bodyPr lIns="79152" tIns="39576" rIns="79152" bIns="39576" anchor="ctr"/>
          <a:lstStyle/>
          <a:p>
            <a:pPr defTabSz="800735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+mn-ea"/>
              </a:rPr>
              <a:t>二、建设目标</a:t>
            </a:r>
          </a:p>
        </p:txBody>
      </p:sp>
      <p:sp>
        <p:nvSpPr>
          <p:cNvPr id="5" name="Rectangle 35"/>
          <p:cNvSpPr>
            <a:spLocks noChangeArrowheads="1"/>
          </p:cNvSpPr>
          <p:nvPr/>
        </p:nvSpPr>
        <p:spPr bwMode="auto">
          <a:xfrm>
            <a:off x="3979314" y="3686658"/>
            <a:ext cx="3739324" cy="816994"/>
          </a:xfrm>
          <a:prstGeom prst="rect">
            <a:avLst/>
          </a:prstGeom>
          <a:solidFill>
            <a:srgbClr val="CC0000"/>
          </a:solidFill>
          <a:ln w="9525" algn="ctr">
            <a:noFill/>
            <a:miter lim="800000"/>
          </a:ln>
          <a:effectLst/>
        </p:spPr>
        <p:txBody>
          <a:bodyPr lIns="79152" tIns="39576" rIns="79152" bIns="39576" anchor="ctr">
            <a:noAutofit/>
          </a:bodyPr>
          <a:lstStyle/>
          <a:p>
            <a:pPr defTabSz="800735" fontAlgn="base"/>
            <a:r>
              <a:rPr lang="zh-CN" altLang="en-US" sz="24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三、计划与举措</a:t>
            </a:r>
          </a:p>
        </p:txBody>
      </p:sp>
      <p:sp>
        <p:nvSpPr>
          <p:cNvPr id="6" name="Rectangle 35"/>
          <p:cNvSpPr>
            <a:spLocks noChangeArrowheads="1"/>
          </p:cNvSpPr>
          <p:nvPr/>
        </p:nvSpPr>
        <p:spPr bwMode="auto">
          <a:xfrm>
            <a:off x="3979314" y="4811878"/>
            <a:ext cx="3739324" cy="816994"/>
          </a:xfrm>
          <a:prstGeom prst="rect">
            <a:avLst/>
          </a:prstGeom>
          <a:solidFill>
            <a:srgbClr val="808080"/>
          </a:solidFill>
          <a:ln w="9525" algn="ctr">
            <a:noFill/>
            <a:miter lim="800000"/>
          </a:ln>
          <a:effectLst/>
        </p:spPr>
        <p:txBody>
          <a:bodyPr lIns="79152" tIns="39576" rIns="79152" bIns="39576" anchor="ctr"/>
          <a:lstStyle/>
          <a:p>
            <a:pPr defTabSz="800735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 kern="0" dirty="0" smtClean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四、应用场景</a:t>
            </a:r>
            <a:endParaRPr lang="zh-CN" altLang="en-US" sz="240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3865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671751" y="228824"/>
            <a:ext cx="797340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3200" b="1" dirty="0" smtClean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大脑系统 </a:t>
            </a:r>
            <a:r>
              <a:rPr lang="en-US" altLang="zh-CN" sz="3200" b="1" dirty="0" smtClean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- </a:t>
            </a:r>
            <a:r>
              <a:rPr lang="zh-CN" altLang="en-US" sz="3200" b="1" dirty="0" smtClean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建设</a:t>
            </a:r>
            <a:r>
              <a:rPr lang="zh-CN" altLang="en-US" sz="3200" b="1" dirty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计划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674" y="1052338"/>
            <a:ext cx="10935851" cy="5400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7078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671751" y="228824"/>
            <a:ext cx="797340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3200" b="1" dirty="0" smtClean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大脑系统 </a:t>
            </a:r>
            <a:r>
              <a:rPr lang="en-US" altLang="zh-CN" sz="3200" b="1" dirty="0" smtClean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– </a:t>
            </a:r>
            <a:r>
              <a:rPr lang="zh-CN" altLang="en-US" sz="3200" b="1" dirty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平台架构</a:t>
            </a:r>
          </a:p>
        </p:txBody>
      </p:sp>
      <p:sp>
        <p:nvSpPr>
          <p:cNvPr id="3" name="矩形 2"/>
          <p:cNvSpPr/>
          <p:nvPr/>
        </p:nvSpPr>
        <p:spPr>
          <a:xfrm>
            <a:off x="980583" y="5043340"/>
            <a:ext cx="1415846" cy="56042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数据源</a:t>
            </a:r>
            <a:endParaRPr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985503" y="4394411"/>
            <a:ext cx="1415846" cy="530942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数据采集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985503" y="2673816"/>
            <a:ext cx="1415846" cy="164685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数据分析</a:t>
            </a:r>
            <a:endParaRPr lang="zh-CN" altLang="en-US" dirty="0"/>
          </a:p>
        </p:txBody>
      </p:sp>
      <p:sp>
        <p:nvSpPr>
          <p:cNvPr id="6" name="矩形 5"/>
          <p:cNvSpPr/>
          <p:nvPr/>
        </p:nvSpPr>
        <p:spPr>
          <a:xfrm>
            <a:off x="1000248" y="1788862"/>
            <a:ext cx="1415846" cy="781665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应用中心</a:t>
            </a:r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>
            <a:off x="8630067" y="2678376"/>
            <a:ext cx="1415846" cy="165181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控制系统</a:t>
            </a:r>
            <a:endParaRPr lang="en-US" altLang="zh-CN" dirty="0" smtClean="0"/>
          </a:p>
          <a:p>
            <a:pPr algn="ctr"/>
            <a:r>
              <a:rPr lang="zh-CN" altLang="en-US" sz="1600" dirty="0"/>
              <a:t>决策结果执行</a:t>
            </a:r>
          </a:p>
          <a:p>
            <a:pPr algn="ctr"/>
            <a:r>
              <a:rPr lang="zh-CN" altLang="en-US" sz="1600" dirty="0"/>
              <a:t>事件</a:t>
            </a:r>
            <a:r>
              <a:rPr lang="zh-CN" altLang="en-US" sz="1600" dirty="0" smtClean="0"/>
              <a:t>日志</a:t>
            </a:r>
            <a:endParaRPr lang="zh-CN" altLang="en-US" sz="1600" dirty="0"/>
          </a:p>
        </p:txBody>
      </p:sp>
      <p:sp>
        <p:nvSpPr>
          <p:cNvPr id="8" name="矩形 7"/>
          <p:cNvSpPr/>
          <p:nvPr/>
        </p:nvSpPr>
        <p:spPr>
          <a:xfrm>
            <a:off x="2425926" y="1788555"/>
            <a:ext cx="7639664" cy="781665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网络全景图、运维场景应用、故障跟踪处理、信息查询、多维分析等</a:t>
            </a:r>
            <a:endParaRPr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2425925" y="5038109"/>
            <a:ext cx="8967020" cy="5604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网络设备数据、监控设备数据、其他系统数据、台账数据</a:t>
            </a:r>
            <a:endParaRPr lang="zh-CN" altLang="en-US" dirty="0"/>
          </a:p>
        </p:txBody>
      </p:sp>
      <p:sp>
        <p:nvSpPr>
          <p:cNvPr id="10" name="矩形 9"/>
          <p:cNvSpPr/>
          <p:nvPr/>
        </p:nvSpPr>
        <p:spPr>
          <a:xfrm>
            <a:off x="2425925" y="4389187"/>
            <a:ext cx="7639665" cy="545677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数据采集、数据处理</a:t>
            </a:r>
            <a:endParaRPr lang="zh-CN" altLang="en-US" dirty="0"/>
          </a:p>
        </p:txBody>
      </p:sp>
      <p:sp>
        <p:nvSpPr>
          <p:cNvPr id="11" name="矩形 10"/>
          <p:cNvSpPr/>
          <p:nvPr/>
        </p:nvSpPr>
        <p:spPr>
          <a:xfrm>
            <a:off x="2425925" y="2688207"/>
            <a:ext cx="6061587" cy="47686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配置管理</a:t>
            </a:r>
            <a:endParaRPr lang="zh-CN" altLang="en-US" dirty="0"/>
          </a:p>
        </p:txBody>
      </p:sp>
      <p:sp>
        <p:nvSpPr>
          <p:cNvPr id="12" name="矩形 11"/>
          <p:cNvSpPr/>
          <p:nvPr/>
        </p:nvSpPr>
        <p:spPr>
          <a:xfrm>
            <a:off x="10168816" y="1798388"/>
            <a:ext cx="1238861" cy="3121742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管理中心 </a:t>
            </a:r>
            <a:endParaRPr lang="en-US" altLang="zh-CN" dirty="0" smtClean="0"/>
          </a:p>
          <a:p>
            <a:pPr algn="ctr"/>
            <a:endParaRPr lang="en-US" altLang="zh-CN" dirty="0" smtClean="0"/>
          </a:p>
          <a:p>
            <a:pPr algn="ctr"/>
            <a:r>
              <a:rPr lang="zh-CN" altLang="en-US" dirty="0" smtClean="0"/>
              <a:t>用户管理</a:t>
            </a:r>
            <a:endParaRPr lang="en-US" altLang="zh-CN" dirty="0" smtClean="0"/>
          </a:p>
          <a:p>
            <a:pPr algn="ctr"/>
            <a:r>
              <a:rPr lang="zh-CN" altLang="en-US" dirty="0" smtClean="0"/>
              <a:t>安全管理</a:t>
            </a:r>
            <a:endParaRPr lang="en-US" altLang="zh-CN" dirty="0" smtClean="0"/>
          </a:p>
          <a:p>
            <a:pPr algn="ctr"/>
            <a:r>
              <a:rPr lang="zh-CN" altLang="en-US" dirty="0" smtClean="0"/>
              <a:t>日志管理</a:t>
            </a:r>
            <a:endParaRPr lang="zh-CN" altLang="en-US" dirty="0"/>
          </a:p>
        </p:txBody>
      </p:sp>
      <p:sp>
        <p:nvSpPr>
          <p:cNvPr id="13" name="矩形 12"/>
          <p:cNvSpPr/>
          <p:nvPr/>
        </p:nvSpPr>
        <p:spPr>
          <a:xfrm>
            <a:off x="2425925" y="3224067"/>
            <a:ext cx="6076336" cy="53094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智库管理：算法库、模型库、特征库、机器学习机制</a:t>
            </a:r>
            <a:endParaRPr lang="zh-CN" altLang="en-US" dirty="0"/>
          </a:p>
        </p:txBody>
      </p:sp>
      <p:sp>
        <p:nvSpPr>
          <p:cNvPr id="14" name="矩形 13"/>
          <p:cNvSpPr/>
          <p:nvPr/>
        </p:nvSpPr>
        <p:spPr>
          <a:xfrm>
            <a:off x="2425925" y="3804166"/>
            <a:ext cx="6056670" cy="511279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大数据处理引擎、人工智能引擎、可视化呈现处理引擎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186183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621537" y="214757"/>
            <a:ext cx="797340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3200" b="1" dirty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目录</a:t>
            </a:r>
          </a:p>
        </p:txBody>
      </p:sp>
      <p:sp>
        <p:nvSpPr>
          <p:cNvPr id="3" name="Rectangle 35"/>
          <p:cNvSpPr>
            <a:spLocks noChangeArrowheads="1"/>
          </p:cNvSpPr>
          <p:nvPr/>
        </p:nvSpPr>
        <p:spPr bwMode="auto">
          <a:xfrm>
            <a:off x="3979314" y="1360679"/>
            <a:ext cx="3739324" cy="816994"/>
          </a:xfrm>
          <a:prstGeom prst="rect">
            <a:avLst/>
          </a:prstGeom>
          <a:solidFill>
            <a:srgbClr val="808080"/>
          </a:solidFill>
          <a:ln w="9525" algn="ctr">
            <a:noFill/>
            <a:miter lim="800000"/>
          </a:ln>
          <a:effectLst/>
        </p:spPr>
        <p:txBody>
          <a:bodyPr lIns="79152" tIns="39576" rIns="79152" bIns="39576" anchor="ctr"/>
          <a:lstStyle/>
          <a:p>
            <a:pPr defTabSz="800735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+mn-ea"/>
              </a:rPr>
              <a:t>一、建设背景</a:t>
            </a:r>
          </a:p>
        </p:txBody>
      </p:sp>
      <p:sp>
        <p:nvSpPr>
          <p:cNvPr id="4" name="Rectangle 35"/>
          <p:cNvSpPr>
            <a:spLocks noChangeArrowheads="1"/>
          </p:cNvSpPr>
          <p:nvPr/>
        </p:nvSpPr>
        <p:spPr bwMode="auto">
          <a:xfrm>
            <a:off x="3979314" y="2507159"/>
            <a:ext cx="3739324" cy="816994"/>
          </a:xfrm>
          <a:prstGeom prst="rect">
            <a:avLst/>
          </a:prstGeom>
          <a:solidFill>
            <a:srgbClr val="808080"/>
          </a:solidFill>
          <a:ln w="9525" algn="ctr">
            <a:noFill/>
            <a:miter lim="800000"/>
          </a:ln>
          <a:effectLst/>
        </p:spPr>
        <p:txBody>
          <a:bodyPr lIns="79152" tIns="39576" rIns="79152" bIns="39576" anchor="ctr"/>
          <a:lstStyle/>
          <a:p>
            <a:pPr defTabSz="800735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+mn-ea"/>
              </a:rPr>
              <a:t>二、建设目标</a:t>
            </a:r>
          </a:p>
        </p:txBody>
      </p:sp>
      <p:sp>
        <p:nvSpPr>
          <p:cNvPr id="5" name="Rectangle 35"/>
          <p:cNvSpPr>
            <a:spLocks noChangeArrowheads="1"/>
          </p:cNvSpPr>
          <p:nvPr/>
        </p:nvSpPr>
        <p:spPr bwMode="auto">
          <a:xfrm>
            <a:off x="3979314" y="3686658"/>
            <a:ext cx="3739324" cy="816994"/>
          </a:xfrm>
          <a:prstGeom prst="rect">
            <a:avLst/>
          </a:prstGeom>
          <a:solidFill>
            <a:srgbClr val="808080"/>
          </a:solidFill>
          <a:ln w="9525" algn="ctr">
            <a:noFill/>
            <a:miter lim="800000"/>
          </a:ln>
          <a:effectLst/>
        </p:spPr>
        <p:txBody>
          <a:bodyPr lIns="79152" tIns="39576" rIns="79152" bIns="39576" anchor="ctr"/>
          <a:lstStyle/>
          <a:p>
            <a:pPr defTabSz="800735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三、计划与举措</a:t>
            </a:r>
          </a:p>
        </p:txBody>
      </p:sp>
      <p:sp>
        <p:nvSpPr>
          <p:cNvPr id="6" name="Rectangle 35"/>
          <p:cNvSpPr>
            <a:spLocks noChangeArrowheads="1"/>
          </p:cNvSpPr>
          <p:nvPr/>
        </p:nvSpPr>
        <p:spPr bwMode="auto">
          <a:xfrm>
            <a:off x="3979314" y="4811878"/>
            <a:ext cx="3739324" cy="816994"/>
          </a:xfrm>
          <a:prstGeom prst="rect">
            <a:avLst/>
          </a:prstGeom>
          <a:solidFill>
            <a:srgbClr val="CC0000"/>
          </a:solidFill>
          <a:ln w="9525" algn="ctr">
            <a:noFill/>
            <a:miter lim="800000"/>
          </a:ln>
          <a:effectLst/>
        </p:spPr>
        <p:txBody>
          <a:bodyPr lIns="79152" tIns="39576" rIns="79152" bIns="39576" anchor="ctr">
            <a:noAutofit/>
          </a:bodyPr>
          <a:lstStyle/>
          <a:p>
            <a:pPr defTabSz="800735" fontAlgn="base"/>
            <a:r>
              <a:rPr lang="zh-CN" altLang="en-US" sz="24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四、应用场景</a:t>
            </a:r>
          </a:p>
        </p:txBody>
      </p:sp>
    </p:spTree>
    <p:extLst>
      <p:ext uri="{BB962C8B-B14F-4D97-AF65-F5344CB8AC3E}">
        <p14:creationId xmlns:p14="http://schemas.microsoft.com/office/powerpoint/2010/main" val="31530644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850" y="616342"/>
            <a:ext cx="11777500" cy="6388470"/>
          </a:xfrm>
          <a:prstGeom prst="rect">
            <a:avLst/>
          </a:prstGeom>
        </p:spPr>
      </p:pic>
      <p:sp>
        <p:nvSpPr>
          <p:cNvPr id="3" name="矩形 2"/>
          <p:cNvSpPr/>
          <p:nvPr/>
        </p:nvSpPr>
        <p:spPr>
          <a:xfrm>
            <a:off x="649250" y="213111"/>
            <a:ext cx="598433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3200" b="1" dirty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应用场景 </a:t>
            </a:r>
            <a:r>
              <a:rPr lang="en-US" altLang="zh-CN" sz="3200" b="1" dirty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– </a:t>
            </a:r>
            <a:r>
              <a:rPr lang="zh-CN" altLang="en-US" sz="3200" b="1" dirty="0" smtClean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网络设备可视化</a:t>
            </a:r>
            <a:r>
              <a:rPr lang="zh-CN" altLang="en-US" sz="3200" b="1" dirty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场景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512618" y="5846618"/>
            <a:ext cx="50430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 smtClean="0">
                <a:solidFill>
                  <a:srgbClr val="FF0000"/>
                </a:solidFill>
              </a:rPr>
              <a:t>一览掌握全网网络拓扑关系、设备状态等信息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14478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395" y="1144109"/>
            <a:ext cx="10102851" cy="4670991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649250" y="213111"/>
            <a:ext cx="598433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3200" b="1" dirty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应用场景 </a:t>
            </a:r>
            <a:r>
              <a:rPr lang="en-US" altLang="zh-CN" sz="3200" b="1" dirty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– </a:t>
            </a:r>
            <a:r>
              <a:rPr lang="zh-CN" altLang="en-US" sz="3200" b="1" dirty="0" smtClean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业务质量可视化</a:t>
            </a:r>
            <a:r>
              <a:rPr lang="zh-CN" altLang="en-US" sz="3200" b="1" dirty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场景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4230106" y="6161323"/>
            <a:ext cx="4512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 smtClean="0">
                <a:solidFill>
                  <a:srgbClr val="FF0000"/>
                </a:solidFill>
              </a:rPr>
              <a:t>一览掌握全业务业务分布和质量状态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456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228899" y="1101246"/>
            <a:ext cx="9589174" cy="45154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704293" y="2108392"/>
            <a:ext cx="4033641" cy="26389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4" name="直接箭头连接符 3"/>
          <p:cNvCxnSpPr/>
          <p:nvPr/>
        </p:nvCxnSpPr>
        <p:spPr>
          <a:xfrm>
            <a:off x="4346936" y="3573195"/>
            <a:ext cx="213808" cy="33286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6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523223" y="2049086"/>
            <a:ext cx="2256245" cy="23566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22"/>
          <p:cNvSpPr txBox="1"/>
          <p:nvPr/>
        </p:nvSpPr>
        <p:spPr>
          <a:xfrm>
            <a:off x="4066622" y="5754484"/>
            <a:ext cx="38304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 smtClean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rPr>
              <a:t>一览掌握核心机房资源信息、设备状态</a:t>
            </a:r>
            <a:endParaRPr lang="en-US" altLang="zh-CN" sz="1600" b="1" dirty="0" smtClean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649250" y="213111"/>
            <a:ext cx="5163593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3200" b="1" dirty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应用场景 </a:t>
            </a:r>
            <a:r>
              <a:rPr lang="en-US" altLang="zh-CN" sz="3200" b="1" dirty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– </a:t>
            </a:r>
            <a:r>
              <a:rPr lang="zh-CN" altLang="en-US" sz="3200" b="1" dirty="0" smtClean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资管可视化</a:t>
            </a:r>
            <a:r>
              <a:rPr lang="zh-CN" altLang="en-US" sz="3200" b="1" dirty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场景</a:t>
            </a:r>
          </a:p>
        </p:txBody>
      </p:sp>
    </p:spTree>
    <p:extLst>
      <p:ext uri="{BB962C8B-B14F-4D97-AF65-F5344CB8AC3E}">
        <p14:creationId xmlns:p14="http://schemas.microsoft.com/office/powerpoint/2010/main" val="2504530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810536" y="1387365"/>
            <a:ext cx="8897251" cy="3889116"/>
          </a:xfrm>
          <a:prstGeom prst="rect">
            <a:avLst/>
          </a:prstGeom>
        </p:spPr>
      </p:pic>
      <p:sp>
        <p:nvSpPr>
          <p:cNvPr id="3" name="圆角矩形 2"/>
          <p:cNvSpPr/>
          <p:nvPr/>
        </p:nvSpPr>
        <p:spPr>
          <a:xfrm>
            <a:off x="1362075" y="1015889"/>
            <a:ext cx="3924300" cy="4365911"/>
          </a:xfrm>
          <a:prstGeom prst="roundRect">
            <a:avLst/>
          </a:prstGeom>
          <a:noFill/>
          <a:ln w="28575" cap="flat" cmpd="sng" algn="ctr">
            <a:solidFill>
              <a:srgbClr val="00AC4E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圆角矩形 3"/>
          <p:cNvSpPr/>
          <p:nvPr/>
        </p:nvSpPr>
        <p:spPr>
          <a:xfrm>
            <a:off x="5286374" y="1015891"/>
            <a:ext cx="1876425" cy="4365910"/>
          </a:xfrm>
          <a:prstGeom prst="roundRect">
            <a:avLst/>
          </a:prstGeom>
          <a:noFill/>
          <a:ln w="28575" cap="flat" cmpd="sng" algn="ctr">
            <a:solidFill>
              <a:schemeClr val="accent5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圆角矩形 4"/>
          <p:cNvSpPr/>
          <p:nvPr/>
        </p:nvSpPr>
        <p:spPr>
          <a:xfrm>
            <a:off x="7162799" y="1015889"/>
            <a:ext cx="3638551" cy="4365911"/>
          </a:xfrm>
          <a:prstGeom prst="roundRect">
            <a:avLst/>
          </a:prstGeom>
          <a:noFill/>
          <a:ln w="28575" cap="flat" cmpd="sng" algn="ctr">
            <a:solidFill>
              <a:srgbClr val="7030A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2597425" y="1064555"/>
            <a:ext cx="1837415" cy="36933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zh-CN" altLang="en-US" dirty="0" smtClean="0"/>
              <a:t>自动获取数据</a:t>
            </a:r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5408295" y="1048513"/>
            <a:ext cx="1571626" cy="36933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zh-CN" altLang="en-US" dirty="0" smtClean="0"/>
              <a:t>关键信息提取</a:t>
            </a:r>
            <a:endParaRPr lang="zh-CN" altLang="en-US" dirty="0"/>
          </a:p>
        </p:txBody>
      </p:sp>
      <p:sp>
        <p:nvSpPr>
          <p:cNvPr id="8" name="文本框 7"/>
          <p:cNvSpPr txBox="1"/>
          <p:nvPr/>
        </p:nvSpPr>
        <p:spPr>
          <a:xfrm>
            <a:off x="8033882" y="1097379"/>
            <a:ext cx="2283597" cy="36933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zh-CN" altLang="en-US" dirty="0" smtClean="0"/>
              <a:t>自动撰写报告和通报</a:t>
            </a:r>
            <a:endParaRPr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649250" y="213111"/>
            <a:ext cx="5163593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3200" b="1" dirty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应用场景 </a:t>
            </a:r>
            <a:r>
              <a:rPr lang="en-US" altLang="zh-CN" sz="3200" b="1" dirty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– </a:t>
            </a:r>
            <a:r>
              <a:rPr lang="zh-CN" altLang="en-US" sz="3200" b="1" dirty="0">
                <a:solidFill>
                  <a:srgbClr val="8EC31F"/>
                </a:solidFill>
                <a:latin typeface="微软雅黑" pitchFamily="34" charset="-122"/>
                <a:ea typeface="微软雅黑" pitchFamily="34" charset="-122"/>
              </a:rPr>
              <a:t>日报撰写机器人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4227589" y="5753274"/>
            <a:ext cx="5504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 smtClean="0">
                <a:solidFill>
                  <a:srgbClr val="FF0000"/>
                </a:solidFill>
              </a:rPr>
              <a:t>1-2</a:t>
            </a:r>
            <a:r>
              <a:rPr lang="zh-CN" altLang="en-US" b="1" dirty="0" smtClean="0">
                <a:solidFill>
                  <a:srgbClr val="FF0000"/>
                </a:solidFill>
              </a:rPr>
              <a:t>小时</a:t>
            </a:r>
            <a:r>
              <a:rPr lang="en-US" altLang="zh-CN" b="1" dirty="0" smtClean="0">
                <a:solidFill>
                  <a:srgbClr val="FF0000"/>
                </a:solidFill>
              </a:rPr>
              <a:t>/</a:t>
            </a:r>
            <a:r>
              <a:rPr lang="zh-CN" altLang="en-US" b="1" dirty="0" smtClean="0">
                <a:solidFill>
                  <a:srgbClr val="FF0000"/>
                </a:solidFill>
              </a:rPr>
              <a:t>人天缩短至</a:t>
            </a:r>
            <a:r>
              <a:rPr lang="en-US" altLang="zh-CN" b="1" dirty="0" smtClean="0">
                <a:solidFill>
                  <a:srgbClr val="FF0000"/>
                </a:solidFill>
              </a:rPr>
              <a:t>5</a:t>
            </a:r>
            <a:r>
              <a:rPr lang="zh-CN" altLang="en-US" b="1" dirty="0" smtClean="0">
                <a:solidFill>
                  <a:srgbClr val="FF0000"/>
                </a:solidFill>
              </a:rPr>
              <a:t>分钟</a:t>
            </a:r>
            <a:r>
              <a:rPr lang="en-US" altLang="zh-CN" b="1" dirty="0" smtClean="0">
                <a:solidFill>
                  <a:srgbClr val="FF0000"/>
                </a:solidFill>
              </a:rPr>
              <a:t>/</a:t>
            </a:r>
            <a:r>
              <a:rPr lang="zh-CN" altLang="en-US" b="1" dirty="0" smtClean="0">
                <a:solidFill>
                  <a:srgbClr val="FF0000"/>
                </a:solidFill>
              </a:rPr>
              <a:t>天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64887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TEMPLATE_CATEGORY" val="custom"/>
  <p:tag name="KSO_WM_TEMPLATE_INDEX" val="160187"/>
  <p:tag name="KSO_WM_UNIT_TYPE" val="l_h_f"/>
  <p:tag name="KSO_WM_UNIT_INDEX" val="1_1_1"/>
  <p:tag name="KSO_WM_UNIT_ID" val="custom160187_8*l_h_f*1_1_1"/>
  <p:tag name="KSO_WM_UNIT_CLEAR" val="1"/>
  <p:tag name="KSO_WM_UNIT_LAYERLEVEL" val="1_1_1"/>
  <p:tag name="KSO_WM_UNIT_VALUE" val="16"/>
  <p:tag name="KSO_WM_UNIT_HIGHLIGHT" val="0"/>
  <p:tag name="KSO_WM_UNIT_COMPATIBLE" val="0"/>
  <p:tag name="KSO_WM_UNIT_PRESET_TEXT_INDEX" val="3"/>
  <p:tag name="KSO_WM_UNIT_PRESET_TEXT_LEN" val="21"/>
  <p:tag name="KSO_WM_DIAGRAM_GROUP_CODE" val="l1-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TEMPLATE_CATEGORY" val="custom"/>
  <p:tag name="KSO_WM_TEMPLATE_INDEX" val="160187"/>
  <p:tag name="KSO_WM_UNIT_TYPE" val="l_h_f"/>
  <p:tag name="KSO_WM_UNIT_INDEX" val="1_1_1"/>
  <p:tag name="KSO_WM_UNIT_ID" val="custom160187_8*l_h_f*1_1_1"/>
  <p:tag name="KSO_WM_UNIT_CLEAR" val="1"/>
  <p:tag name="KSO_WM_UNIT_LAYERLEVEL" val="1_1_1"/>
  <p:tag name="KSO_WM_UNIT_VALUE" val="16"/>
  <p:tag name="KSO_WM_UNIT_HIGHLIGHT" val="0"/>
  <p:tag name="KSO_WM_UNIT_COMPATIBLE" val="0"/>
  <p:tag name="KSO_WM_UNIT_PRESET_TEXT_INDEX" val="3"/>
  <p:tag name="KSO_WM_UNIT_PRESET_TEXT_LEN" val="21"/>
  <p:tag name="KSO_WM_DIAGRAM_GROUP_CODE" val="l1-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TEMPLATE_CATEGORY" val="custom"/>
  <p:tag name="KSO_WM_TEMPLATE_INDEX" val="160187"/>
  <p:tag name="KSO_WM_UNIT_TYPE" val="l_h_f"/>
  <p:tag name="KSO_WM_UNIT_INDEX" val="1_1_1"/>
  <p:tag name="KSO_WM_UNIT_ID" val="custom160187_8*l_h_f*1_1_1"/>
  <p:tag name="KSO_WM_UNIT_CLEAR" val="1"/>
  <p:tag name="KSO_WM_UNIT_LAYERLEVEL" val="1_1_1"/>
  <p:tag name="KSO_WM_UNIT_VALUE" val="16"/>
  <p:tag name="KSO_WM_UNIT_HIGHLIGHT" val="0"/>
  <p:tag name="KSO_WM_UNIT_COMPATIBLE" val="0"/>
  <p:tag name="KSO_WM_UNIT_PRESET_TEXT_INDEX" val="3"/>
  <p:tag name="KSO_WM_UNIT_PRESET_TEXT_LEN" val="21"/>
  <p:tag name="KSO_WM_DIAGRAM_GROUP_CODE" val="l1-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TEMPLATE_CATEGORY" val="custom"/>
  <p:tag name="KSO_WM_TEMPLATE_INDEX" val="160187"/>
  <p:tag name="KSO_WM_UNIT_TYPE" val="l_h_f"/>
  <p:tag name="KSO_WM_UNIT_INDEX" val="1_1_1"/>
  <p:tag name="KSO_WM_UNIT_ID" val="custom160187_8*l_h_f*1_1_1"/>
  <p:tag name="KSO_WM_UNIT_CLEAR" val="1"/>
  <p:tag name="KSO_WM_UNIT_LAYERLEVEL" val="1_1_1"/>
  <p:tag name="KSO_WM_UNIT_VALUE" val="16"/>
  <p:tag name="KSO_WM_UNIT_HIGHLIGHT" val="0"/>
  <p:tag name="KSO_WM_UNIT_COMPATIBLE" val="0"/>
  <p:tag name="KSO_WM_UNIT_PRESET_TEXT_INDEX" val="3"/>
  <p:tag name="KSO_WM_UNIT_PRESET_TEXT_LEN" val="21"/>
  <p:tag name="KSO_WM_DIAGRAM_GROUP_CODE" val="l1-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TEMPLATE_CATEGORY" val="custom"/>
  <p:tag name="KSO_WM_TEMPLATE_INDEX" val="160187"/>
  <p:tag name="KSO_WM_UNIT_TYPE" val="l_h_f"/>
  <p:tag name="KSO_WM_UNIT_INDEX" val="1_1_1"/>
  <p:tag name="KSO_WM_UNIT_ID" val="custom160187_8*l_h_f*1_1_1"/>
  <p:tag name="KSO_WM_UNIT_CLEAR" val="1"/>
  <p:tag name="KSO_WM_UNIT_LAYERLEVEL" val="1_1_1"/>
  <p:tag name="KSO_WM_UNIT_VALUE" val="16"/>
  <p:tag name="KSO_WM_UNIT_HIGHLIGHT" val="0"/>
  <p:tag name="KSO_WM_UNIT_COMPATIBLE" val="0"/>
  <p:tag name="KSO_WM_UNIT_PRESET_TEXT_INDEX" val="3"/>
  <p:tag name="KSO_WM_UNIT_PRESET_TEXT_LEN" val="21"/>
  <p:tag name="KSO_WM_DIAGRAM_GROUP_CODE" val="l1-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TEMPLATE_CATEGORY" val="custom"/>
  <p:tag name="KSO_WM_TEMPLATE_INDEX" val="160187"/>
  <p:tag name="KSO_WM_UNIT_TYPE" val="l_h_f"/>
  <p:tag name="KSO_WM_UNIT_INDEX" val="1_1_1"/>
  <p:tag name="KSO_WM_UNIT_ID" val="custom160187_8*l_h_f*1_1_1"/>
  <p:tag name="KSO_WM_UNIT_CLEAR" val="1"/>
  <p:tag name="KSO_WM_UNIT_LAYERLEVEL" val="1_1_1"/>
  <p:tag name="KSO_WM_UNIT_VALUE" val="16"/>
  <p:tag name="KSO_WM_UNIT_HIGHLIGHT" val="0"/>
  <p:tag name="KSO_WM_UNIT_COMPATIBLE" val="0"/>
  <p:tag name="KSO_WM_UNIT_PRESET_TEXT_INDEX" val="3"/>
  <p:tag name="KSO_WM_UNIT_PRESET_TEXT_LEN" val="21"/>
  <p:tag name="KSO_WM_DIAGRAM_GROUP_CODE" val="l1-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TEMPLATE_CATEGORY" val="custom"/>
  <p:tag name="KSO_WM_TEMPLATE_INDEX" val="160187"/>
  <p:tag name="KSO_WM_UNIT_TYPE" val="l_h_f"/>
  <p:tag name="KSO_WM_UNIT_INDEX" val="1_1_1"/>
  <p:tag name="KSO_WM_UNIT_ID" val="custom160187_8*l_h_f*1_1_1"/>
  <p:tag name="KSO_WM_UNIT_CLEAR" val="1"/>
  <p:tag name="KSO_WM_UNIT_LAYERLEVEL" val="1_1_1"/>
  <p:tag name="KSO_WM_UNIT_VALUE" val="16"/>
  <p:tag name="KSO_WM_UNIT_HIGHLIGHT" val="0"/>
  <p:tag name="KSO_WM_UNIT_COMPATIBLE" val="0"/>
  <p:tag name="KSO_WM_UNIT_PRESET_TEXT_INDEX" val="3"/>
  <p:tag name="KSO_WM_UNIT_PRESET_TEXT_LEN" val="21"/>
  <p:tag name="KSO_WM_DIAGRAM_GROUP_CODE" val="l1-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TEMPLATE_CATEGORY" val="custom"/>
  <p:tag name="KSO_WM_TEMPLATE_INDEX" val="160187"/>
  <p:tag name="KSO_WM_UNIT_TYPE" val="l_h_f"/>
  <p:tag name="KSO_WM_UNIT_INDEX" val="1_1_1"/>
  <p:tag name="KSO_WM_UNIT_ID" val="custom160187_8*l_h_f*1_1_1"/>
  <p:tag name="KSO_WM_UNIT_CLEAR" val="1"/>
  <p:tag name="KSO_WM_UNIT_LAYERLEVEL" val="1_1_1"/>
  <p:tag name="KSO_WM_UNIT_VALUE" val="16"/>
  <p:tag name="KSO_WM_UNIT_HIGHLIGHT" val="0"/>
  <p:tag name="KSO_WM_UNIT_COMPATIBLE" val="0"/>
  <p:tag name="KSO_WM_UNIT_PRESET_TEXT_INDEX" val="3"/>
  <p:tag name="KSO_WM_UNIT_PRESET_TEXT_LEN" val="21"/>
  <p:tag name="KSO_WM_DIAGRAM_GROUP_CODE" val="l1-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TEMPLATE_CATEGORY" val="custom"/>
  <p:tag name="KSO_WM_TEMPLATE_INDEX" val="160187"/>
  <p:tag name="KSO_WM_UNIT_TYPE" val="l_h_f"/>
  <p:tag name="KSO_WM_UNIT_INDEX" val="1_1_1"/>
  <p:tag name="KSO_WM_UNIT_ID" val="custom160187_8*l_h_f*1_1_1"/>
  <p:tag name="KSO_WM_UNIT_CLEAR" val="1"/>
  <p:tag name="KSO_WM_UNIT_LAYERLEVEL" val="1_1_1"/>
  <p:tag name="KSO_WM_UNIT_VALUE" val="16"/>
  <p:tag name="KSO_WM_UNIT_HIGHLIGHT" val="0"/>
  <p:tag name="KSO_WM_UNIT_COMPATIBLE" val="0"/>
  <p:tag name="KSO_WM_UNIT_PRESET_TEXT_INDEX" val="3"/>
  <p:tag name="KSO_WM_UNIT_PRESET_TEXT_LEN" val="21"/>
  <p:tag name="KSO_WM_DIAGRAM_GROUP_CODE" val="l1-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TEMPLATE_CATEGORY" val="custom"/>
  <p:tag name="KSO_WM_TEMPLATE_INDEX" val="160187"/>
  <p:tag name="KSO_WM_UNIT_TYPE" val="l_h_f"/>
  <p:tag name="KSO_WM_UNIT_INDEX" val="1_1_1"/>
  <p:tag name="KSO_WM_UNIT_ID" val="custom160187_8*l_h_f*1_1_1"/>
  <p:tag name="KSO_WM_UNIT_CLEAR" val="1"/>
  <p:tag name="KSO_WM_UNIT_LAYERLEVEL" val="1_1_1"/>
  <p:tag name="KSO_WM_UNIT_VALUE" val="16"/>
  <p:tag name="KSO_WM_UNIT_HIGHLIGHT" val="0"/>
  <p:tag name="KSO_WM_UNIT_COMPATIBLE" val="0"/>
  <p:tag name="KSO_WM_UNIT_PRESET_TEXT_INDEX" val="3"/>
  <p:tag name="KSO_WM_UNIT_PRESET_TEXT_LEN" val="21"/>
  <p:tag name="KSO_WM_DIAGRAM_GROUP_CODE" val="l1-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TEMPLATE_CATEGORY" val="custom"/>
  <p:tag name="KSO_WM_TEMPLATE_INDEX" val="160187"/>
  <p:tag name="KSO_WM_UNIT_TYPE" val="l_h_f"/>
  <p:tag name="KSO_WM_UNIT_INDEX" val="1_1_1"/>
  <p:tag name="KSO_WM_UNIT_ID" val="custom160187_8*l_h_f*1_1_1"/>
  <p:tag name="KSO_WM_UNIT_CLEAR" val="1"/>
  <p:tag name="KSO_WM_UNIT_LAYERLEVEL" val="1_1_1"/>
  <p:tag name="KSO_WM_UNIT_VALUE" val="16"/>
  <p:tag name="KSO_WM_UNIT_HIGHLIGHT" val="0"/>
  <p:tag name="KSO_WM_UNIT_COMPATIBLE" val="0"/>
  <p:tag name="KSO_WM_UNIT_PRESET_TEXT_INDEX" val="3"/>
  <p:tag name="KSO_WM_UNIT_PRESET_TEXT_LEN" val="21"/>
  <p:tag name="KSO_WM_DIAGRAM_GROUP_CODE" val="l1-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TEMPLATE_CATEGORY" val="custom"/>
  <p:tag name="KSO_WM_TEMPLATE_INDEX" val="160187"/>
  <p:tag name="KSO_WM_UNIT_TYPE" val="l_h_f"/>
  <p:tag name="KSO_WM_UNIT_INDEX" val="1_1_1"/>
  <p:tag name="KSO_WM_UNIT_ID" val="custom160187_8*l_h_f*1_1_1"/>
  <p:tag name="KSO_WM_UNIT_CLEAR" val="1"/>
  <p:tag name="KSO_WM_UNIT_LAYERLEVEL" val="1_1_1"/>
  <p:tag name="KSO_WM_UNIT_VALUE" val="16"/>
  <p:tag name="KSO_WM_UNIT_HIGHLIGHT" val="0"/>
  <p:tag name="KSO_WM_UNIT_COMPATIBLE" val="0"/>
  <p:tag name="KSO_WM_UNIT_PRESET_TEXT_INDEX" val="3"/>
  <p:tag name="KSO_WM_UNIT_PRESET_TEXT_LEN" val="21"/>
  <p:tag name="KSO_WM_DIAGRAM_GROUP_CODE" val="l1-1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24657</TotalTime>
  <Words>589</Words>
  <Application>Microsoft Office PowerPoint</Application>
  <PresentationFormat>宽屏</PresentationFormat>
  <Paragraphs>98</Paragraphs>
  <Slides>15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1" baseType="lpstr">
      <vt:lpstr>Lato Light</vt:lpstr>
      <vt:lpstr>宋体</vt:lpstr>
      <vt:lpstr>微软雅黑</vt:lpstr>
      <vt:lpstr>Arial</vt:lpstr>
      <vt:lpstr>Calibri</vt:lpstr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数据中心</dc:title>
  <dc:creator>Qinghai LI</dc:creator>
  <cp:lastModifiedBy>张燕</cp:lastModifiedBy>
  <cp:revision>5566</cp:revision>
  <dcterms:created xsi:type="dcterms:W3CDTF">2015-05-05T08:02:00Z</dcterms:created>
  <dcterms:modified xsi:type="dcterms:W3CDTF">2018-04-10T04:59:11Z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2052-10.1.0.6393</vt:lpwstr>
  </property>
</Properties>
</file>