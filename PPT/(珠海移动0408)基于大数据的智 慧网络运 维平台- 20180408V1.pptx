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96" r:id="rId2"/>
    <p:sldId id="1169" r:id="rId3"/>
    <p:sldId id="1149" r:id="rId4"/>
    <p:sldId id="1170" r:id="rId5"/>
    <p:sldId id="1166" r:id="rId6"/>
    <p:sldId id="1167" r:id="rId7"/>
    <p:sldId id="1152" r:id="rId8"/>
    <p:sldId id="1171" r:id="rId9"/>
    <p:sldId id="1150" r:id="rId10"/>
    <p:sldId id="1154" r:id="rId11"/>
    <p:sldId id="1172" r:id="rId12"/>
    <p:sldId id="1155" r:id="rId13"/>
    <p:sldId id="1153" r:id="rId14"/>
    <p:sldId id="1156" r:id="rId15"/>
    <p:sldId id="115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8">
          <p15:clr>
            <a:srgbClr val="A4A3A4"/>
          </p15:clr>
        </p15:guide>
        <p15:guide id="2" pos="39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d" initials="h" lastIdx="1" clrIdx="0"/>
  <p:cmAuthor id="2" name="Lara Young" initials="LY" lastIdx="1" clrIdx="1"/>
  <p:cmAuthor id="3" name="邹立斌" initials="W用" lastIdx="3" clrIdx="2">
    <p:extLst>
      <p:ext uri="{19B8F6BF-5375-455C-9EA6-DF929625EA0E}">
        <p15:presenceInfo xmlns:p15="http://schemas.microsoft.com/office/powerpoint/2012/main" userId="邹立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5732"/>
    <a:srgbClr val="F6F6F6"/>
    <a:srgbClr val="8EC31F"/>
    <a:srgbClr val="BCDB7A"/>
    <a:srgbClr val="0085D0"/>
    <a:srgbClr val="A9D18E"/>
    <a:srgbClr val="EFF3F2"/>
    <a:srgbClr val="0AFCFA"/>
    <a:srgbClr val="D91617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83993" autoAdjust="0"/>
  </p:normalViewPr>
  <p:slideViewPr>
    <p:cSldViewPr snapToGrid="0">
      <p:cViewPr varScale="1">
        <p:scale>
          <a:sx n="96" d="100"/>
          <a:sy n="96" d="100"/>
        </p:scale>
        <p:origin x="1254" y="90"/>
      </p:cViewPr>
      <p:guideLst>
        <p:guide orient="horz" pos="2058"/>
        <p:guide pos="39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2018/4/11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09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66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以上问题的存在，需要通过管理流程和工作流程上的改变来彻底解决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825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chemeClr val="bg1"/>
                </a:solidFill>
              </a:rPr>
              <a:t>1</a:t>
            </a:r>
            <a:r>
              <a:rPr lang="zh-CN" altLang="en-US" dirty="0" smtClean="0">
                <a:solidFill>
                  <a:schemeClr val="bg1"/>
                </a:solidFill>
              </a:rPr>
              <a:t>、网络运维方法创新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en-US" altLang="zh-CN" dirty="0" smtClean="0"/>
              <a:t>2</a:t>
            </a:r>
            <a:r>
              <a:rPr lang="zh-CN" altLang="en-US" smtClean="0"/>
              <a:t>、盘活网络数据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108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616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788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85D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 bwMode="auto">
          <a:xfrm>
            <a:off x="285750" y="165100"/>
            <a:ext cx="379730" cy="71310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"/>
            </p:custDataLst>
          </p:nvPr>
        </p:nvSpPr>
        <p:spPr bwMode="auto">
          <a:xfrm>
            <a:off x="0" y="194906"/>
            <a:ext cx="219859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 bwMode="auto">
          <a:xfrm>
            <a:off x="11661569" y="194905"/>
            <a:ext cx="530431" cy="622901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wrap="square" anchor="ctr" anchorCtr="0">
            <a:normAutofit/>
          </a:bodyPr>
          <a:lstStyle/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6F6F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0893" y="1717020"/>
            <a:ext cx="8770049" cy="2147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基于大数据的智慧</a:t>
            </a:r>
            <a:endParaRPr lang="en-US" altLang="zh-CN" sz="5400" b="1" dirty="0" smtClean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5400" b="1" dirty="0" smtClean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网络运维平台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213847" y="4007060"/>
            <a:ext cx="5768788" cy="0"/>
          </a:xfrm>
          <a:prstGeom prst="line">
            <a:avLst/>
          </a:prstGeom>
          <a:ln w="63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55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面临的痛点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10857" y="11612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18807" y="1269212"/>
            <a:ext cx="795338" cy="79533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TextBox 19"/>
          <p:cNvSpPr txBox="1">
            <a:spLocks noChangeArrowheads="1"/>
          </p:cNvSpPr>
          <p:nvPr/>
        </p:nvSpPr>
        <p:spPr bwMode="auto">
          <a:xfrm>
            <a:off x="799782" y="132795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2154337" y="2206406"/>
            <a:ext cx="8570912" cy="0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5"/>
          <p:cNvSpPr txBox="1">
            <a:spLocks noChangeArrowheads="1"/>
          </p:cNvSpPr>
          <p:nvPr/>
        </p:nvSpPr>
        <p:spPr bwMode="auto">
          <a:xfrm>
            <a:off x="2154335" y="1423257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忙而无成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26"/>
          <p:cNvSpPr txBox="1"/>
          <p:nvPr/>
        </p:nvSpPr>
        <p:spPr>
          <a:xfrm>
            <a:off x="3770136" y="1304608"/>
            <a:ext cx="7251999" cy="93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基础维护做细坐实，需要投入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大量的时间和精力（约</a:t>
            </a:r>
            <a:r>
              <a:rPr lang="en-US" altLang="zh-CN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时间每人天）且存在疏漏可能，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每周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BSC APG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备份（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人天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周），指标通报（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天），日测（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1-2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天），局数据核对（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小时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周）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等；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536762" y="2526512"/>
            <a:ext cx="1009650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43124" y="2634462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TextBox 31"/>
          <p:cNvSpPr txBox="1">
            <a:spLocks noChangeArrowheads="1"/>
          </p:cNvSpPr>
          <p:nvPr/>
        </p:nvSpPr>
        <p:spPr bwMode="auto">
          <a:xfrm>
            <a:off x="824099" y="2693200"/>
            <a:ext cx="4699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2154337" y="3543081"/>
            <a:ext cx="8570912" cy="285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33"/>
          <p:cNvSpPr txBox="1">
            <a:spLocks noChangeArrowheads="1"/>
          </p:cNvSpPr>
          <p:nvPr/>
        </p:nvSpPr>
        <p:spPr bwMode="auto">
          <a:xfrm>
            <a:off x="2154335" y="2662018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专而不全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TextBox 34"/>
          <p:cNvSpPr txBox="1"/>
          <p:nvPr/>
        </p:nvSpPr>
        <p:spPr>
          <a:xfrm>
            <a:off x="3866454" y="4071299"/>
            <a:ext cx="5146675" cy="34509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无可视化手段，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信息传达和沟通效率低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74282" y="3880650"/>
            <a:ext cx="1011237" cy="1011237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82232" y="3988600"/>
            <a:ext cx="796925" cy="795337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TextBox 38"/>
          <p:cNvSpPr txBox="1">
            <a:spLocks noChangeArrowheads="1"/>
          </p:cNvSpPr>
          <p:nvPr/>
        </p:nvSpPr>
        <p:spPr bwMode="auto">
          <a:xfrm>
            <a:off x="822696" y="3988600"/>
            <a:ext cx="4699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154337" y="4882931"/>
            <a:ext cx="8719674" cy="53975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40"/>
          <p:cNvSpPr txBox="1">
            <a:spLocks noChangeArrowheads="1"/>
          </p:cNvSpPr>
          <p:nvPr/>
        </p:nvSpPr>
        <p:spPr bwMode="auto">
          <a:xfrm>
            <a:off x="2154336" y="4005699"/>
            <a:ext cx="14157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知而不显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71186" y="5263362"/>
            <a:ext cx="1011238" cy="10112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679136" y="5369725"/>
            <a:ext cx="796925" cy="796925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" name="TextBox 45"/>
          <p:cNvSpPr txBox="1">
            <a:spLocks noChangeArrowheads="1"/>
          </p:cNvSpPr>
          <p:nvPr/>
        </p:nvSpPr>
        <p:spPr bwMode="auto">
          <a:xfrm>
            <a:off x="819600" y="5371313"/>
            <a:ext cx="4699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2154337" y="6295806"/>
            <a:ext cx="8719674" cy="11112"/>
          </a:xfrm>
          <a:prstGeom prst="straightConnector1">
            <a:avLst/>
          </a:prstGeom>
          <a:ln w="28575">
            <a:solidFill>
              <a:srgbClr val="0098A8"/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7"/>
          <p:cNvSpPr txBox="1">
            <a:spLocks noChangeArrowheads="1"/>
          </p:cNvSpPr>
          <p:nvPr/>
        </p:nvSpPr>
        <p:spPr bwMode="auto">
          <a:xfrm>
            <a:off x="2121000" y="5397281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有心无力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TextBox 34"/>
          <p:cNvSpPr txBox="1"/>
          <p:nvPr/>
        </p:nvSpPr>
        <p:spPr>
          <a:xfrm>
            <a:off x="3788371" y="2510450"/>
            <a:ext cx="70448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专人专网维护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，专业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跨度大，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无法全程全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网，人员复用难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，如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城域网（陈朝勇）、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CDN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（林庆忠）、交换网（聂敏泉），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IMS\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互联互通（徐晓颖）、承载网（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陈熙东）等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Arial"/>
            </a:endParaRPr>
          </a:p>
        </p:txBody>
      </p:sp>
      <p:sp>
        <p:nvSpPr>
          <p:cNvPr id="33" name="TextBox 34"/>
          <p:cNvSpPr txBox="1"/>
          <p:nvPr/>
        </p:nvSpPr>
        <p:spPr>
          <a:xfrm>
            <a:off x="3817759" y="5507209"/>
            <a:ext cx="7074695" cy="34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故障、投诉发生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后才进行分析和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处理，想做到</a:t>
            </a:r>
            <a:r>
              <a:rPr lang="zh-CN" altLang="en-US" sz="1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先于故障发现问题、先于投诉解决问题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82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95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790" y="2294355"/>
            <a:ext cx="6673147" cy="23396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网络管理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工作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愿景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虚尾箭头 8"/>
          <p:cNvSpPr/>
          <p:nvPr/>
        </p:nvSpPr>
        <p:spPr>
          <a:xfrm>
            <a:off x="2440983" y="2854014"/>
            <a:ext cx="5656881" cy="581695"/>
          </a:xfrm>
          <a:prstGeom prst="stripedRightArrow">
            <a:avLst/>
          </a:prstGeom>
          <a:solidFill>
            <a:srgbClr val="8EC31F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任务下发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虚尾箭头 9"/>
          <p:cNvSpPr/>
          <p:nvPr/>
        </p:nvSpPr>
        <p:spPr>
          <a:xfrm rot="10800000">
            <a:off x="2249107" y="3316636"/>
            <a:ext cx="5656881" cy="649806"/>
          </a:xfrm>
          <a:prstGeom prst="stripedRightArrow">
            <a:avLst/>
          </a:prstGeom>
          <a:solidFill>
            <a:srgbClr val="8EC31F"/>
          </a:solidFill>
          <a:ln>
            <a:solidFill>
              <a:srgbClr val="FAFA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758339" y="3466705"/>
            <a:ext cx="3022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决策建议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结果反馈、呈现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426424" y="1217978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大脑系统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13051" y="1217978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需求角色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直角上箭头 19"/>
          <p:cNvSpPr/>
          <p:nvPr/>
        </p:nvSpPr>
        <p:spPr>
          <a:xfrm>
            <a:off x="7722230" y="5023767"/>
            <a:ext cx="3145538" cy="1431056"/>
          </a:xfrm>
          <a:prstGeom prst="bentUpArrow">
            <a:avLst>
              <a:gd name="adj1" fmla="val 9227"/>
              <a:gd name="adj2" fmla="val 13629"/>
              <a:gd name="adj3" fmla="val 14018"/>
            </a:avLst>
          </a:prstGeom>
          <a:solidFill>
            <a:srgbClr val="8EC3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7722230" y="5050643"/>
            <a:ext cx="2145896" cy="1178422"/>
            <a:chOff x="7722230" y="5050643"/>
            <a:chExt cx="2145896" cy="1178422"/>
          </a:xfrm>
          <a:solidFill>
            <a:srgbClr val="8EC31F"/>
          </a:solidFill>
        </p:grpSpPr>
        <p:sp>
          <p:nvSpPr>
            <p:cNvPr id="24" name="矩形 23"/>
            <p:cNvSpPr/>
            <p:nvPr/>
          </p:nvSpPr>
          <p:spPr>
            <a:xfrm>
              <a:off x="9701939" y="5050643"/>
              <a:ext cx="166187" cy="11050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左箭头 24"/>
            <p:cNvSpPr/>
            <p:nvPr/>
          </p:nvSpPr>
          <p:spPr>
            <a:xfrm>
              <a:off x="7722230" y="5905033"/>
              <a:ext cx="2064836" cy="324032"/>
            </a:xfrm>
            <a:prstGeom prst="lef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506622" y="5646662"/>
            <a:ext cx="1576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任务下发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717898" y="5646662"/>
            <a:ext cx="112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结果反馈</a:t>
            </a:r>
            <a:endParaRPr lang="zh-CN" altLang="en-US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047832" y="5937420"/>
            <a:ext cx="1441343" cy="38279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执行系统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93" y="2130861"/>
            <a:ext cx="1237595" cy="23715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57" y="1639725"/>
            <a:ext cx="3085714" cy="32000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078" y="5327577"/>
            <a:ext cx="1095416" cy="1483929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591" y="5486400"/>
            <a:ext cx="983732" cy="133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0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建设方案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946105"/>
            <a:ext cx="11986567" cy="527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1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120457" y="1237462"/>
            <a:ext cx="983294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1228407" y="1345412"/>
            <a:ext cx="773360" cy="774732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" name="TextBox 19"/>
          <p:cNvSpPr txBox="1">
            <a:spLocks noChangeArrowheads="1"/>
          </p:cNvSpPr>
          <p:nvPr/>
        </p:nvSpPr>
        <p:spPr bwMode="auto">
          <a:xfrm>
            <a:off x="1409382" y="140415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25"/>
          <p:cNvSpPr txBox="1">
            <a:spLocks noChangeArrowheads="1"/>
          </p:cNvSpPr>
          <p:nvPr/>
        </p:nvSpPr>
        <p:spPr bwMode="auto">
          <a:xfrm>
            <a:off x="3041232" y="1499457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自动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26"/>
          <p:cNvSpPr txBox="1"/>
          <p:nvPr/>
        </p:nvSpPr>
        <p:spPr>
          <a:xfrm>
            <a:off x="4297848" y="1506035"/>
            <a:ext cx="7589351" cy="73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数据获取全自动化、需求收集全自动化，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旨在将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重复、低效能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的工作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通过执行系统完成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146362" y="2602712"/>
            <a:ext cx="981750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1252724" y="2710663"/>
            <a:ext cx="774903" cy="77627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TextBox 31"/>
          <p:cNvSpPr txBox="1">
            <a:spLocks noChangeArrowheads="1"/>
          </p:cNvSpPr>
          <p:nvPr/>
        </p:nvSpPr>
        <p:spPr bwMode="auto">
          <a:xfrm>
            <a:off x="1433699" y="276940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endParaRPr lang="zh-CN" altLang="en-US" sz="4400" b="1" dirty="0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TextBox 33"/>
          <p:cNvSpPr txBox="1">
            <a:spLocks noChangeArrowheads="1"/>
          </p:cNvSpPr>
          <p:nvPr/>
        </p:nvSpPr>
        <p:spPr bwMode="auto">
          <a:xfrm>
            <a:off x="3056472" y="2738218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可视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TextBox 34"/>
          <p:cNvSpPr txBox="1"/>
          <p:nvPr/>
        </p:nvSpPr>
        <p:spPr>
          <a:xfrm>
            <a:off x="4379736" y="3946477"/>
            <a:ext cx="7074696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、初级智慧阶段：旨在采用简单机器学习，实现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性能、故障、投诉等预警、               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分析和修复 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，消除专业壁垒，实现人员复用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、高级智慧阶段：旨在利用深度学习，实现网络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自规划和优化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83882" y="3956850"/>
            <a:ext cx="983293" cy="985037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291832" y="4064800"/>
            <a:ext cx="774903" cy="774731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TextBox 38"/>
          <p:cNvSpPr txBox="1">
            <a:spLocks noChangeArrowheads="1"/>
          </p:cNvSpPr>
          <p:nvPr/>
        </p:nvSpPr>
        <p:spPr bwMode="auto">
          <a:xfrm>
            <a:off x="1432296" y="4064800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3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TextBox 40"/>
          <p:cNvSpPr txBox="1">
            <a:spLocks noChangeArrowheads="1"/>
          </p:cNvSpPr>
          <p:nvPr/>
        </p:nvSpPr>
        <p:spPr bwMode="auto">
          <a:xfrm>
            <a:off x="3071713" y="4081899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智慧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180786" y="5339562"/>
            <a:ext cx="983294" cy="985038"/>
          </a:xfrm>
          <a:prstGeom prst="ellipse">
            <a:avLst/>
          </a:prstGeom>
          <a:noFill/>
          <a:ln w="38100">
            <a:solidFill>
              <a:srgbClr val="0098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C89800"/>
              </a:solidFill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288736" y="5445926"/>
            <a:ext cx="774903" cy="776278"/>
          </a:xfrm>
          <a:prstGeom prst="ellipse">
            <a:avLst/>
          </a:prstGeom>
          <a:noFill/>
          <a:ln>
            <a:solidFill>
              <a:srgbClr val="0098A8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TextBox 45"/>
          <p:cNvSpPr txBox="1">
            <a:spLocks noChangeArrowheads="1"/>
          </p:cNvSpPr>
          <p:nvPr/>
        </p:nvSpPr>
        <p:spPr bwMode="auto">
          <a:xfrm>
            <a:off x="1429200" y="5447513"/>
            <a:ext cx="4569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rgbClr val="0098A8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endParaRPr lang="zh-CN" altLang="en-US" sz="4400" b="1">
              <a:solidFill>
                <a:srgbClr val="0098A8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TextBox 47"/>
          <p:cNvSpPr txBox="1">
            <a:spLocks noChangeArrowheads="1"/>
          </p:cNvSpPr>
          <p:nvPr/>
        </p:nvSpPr>
        <p:spPr bwMode="auto">
          <a:xfrm>
            <a:off x="3071713" y="553878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 smtClean="0">
                <a:solidFill>
                  <a:srgbClr val="3C3C3C"/>
                </a:solidFill>
                <a:latin typeface="微软雅黑" panose="020B0503020204020204" pitchFamily="34" charset="-122"/>
              </a:rPr>
              <a:t>无人</a:t>
            </a:r>
            <a:endParaRPr lang="zh-CN" altLang="en-US" sz="2400" b="1" dirty="0">
              <a:solidFill>
                <a:srgbClr val="3C3C3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34"/>
          <p:cNvSpPr txBox="1"/>
          <p:nvPr/>
        </p:nvSpPr>
        <p:spPr>
          <a:xfrm>
            <a:off x="4352439" y="2742104"/>
            <a:ext cx="6538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Arial"/>
              </a:rPr>
              <a:t>反馈结果可视化，旨在借助图形化手段、</a:t>
            </a:r>
            <a:r>
              <a:rPr lang="zh-CN" altLang="en-US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Light" charset="0"/>
                <a:sym typeface="Arial"/>
              </a:rPr>
              <a:t>清晰有效地传达与沟通信息</a:t>
            </a:r>
            <a:endParaRPr lang="en-US" altLang="zh-CN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Light" charset="0"/>
              <a:sym typeface="Arial"/>
            </a:endParaRPr>
          </a:p>
        </p:txBody>
      </p:sp>
      <p:sp>
        <p:nvSpPr>
          <p:cNvPr id="25" name="TextBox 34"/>
          <p:cNvSpPr txBox="1"/>
          <p:nvPr/>
        </p:nvSpPr>
        <p:spPr>
          <a:xfrm>
            <a:off x="4379736" y="5584594"/>
            <a:ext cx="7074695" cy="41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旨在实现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大脑替代人脑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看网管网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56618" y="240325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建设目标</a:t>
            </a:r>
            <a:endParaRPr lang="zh-CN" altLang="en-US" sz="3200" b="1" dirty="0">
              <a:solidFill>
                <a:srgbClr val="8EC31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396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86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建设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计划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74" y="1052338"/>
            <a:ext cx="10935851" cy="540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0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1751" y="228824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大脑系统 </a:t>
            </a:r>
            <a:r>
              <a:rPr lang="en-US" altLang="zh-CN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平台架构</a:t>
            </a:r>
          </a:p>
        </p:txBody>
      </p:sp>
      <p:sp>
        <p:nvSpPr>
          <p:cNvPr id="3" name="矩形 2"/>
          <p:cNvSpPr/>
          <p:nvPr/>
        </p:nvSpPr>
        <p:spPr>
          <a:xfrm>
            <a:off x="980583" y="5043340"/>
            <a:ext cx="1415846" cy="560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85503" y="4394411"/>
            <a:ext cx="1415846" cy="530942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数据采集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85503" y="2673816"/>
            <a:ext cx="1415846" cy="164685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数据分析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00248" y="1788862"/>
            <a:ext cx="1415846" cy="78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应用中心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8630067" y="2678376"/>
            <a:ext cx="1415846" cy="1651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控制系统</a:t>
            </a:r>
            <a:endParaRPr lang="en-US" altLang="zh-CN" dirty="0" smtClean="0"/>
          </a:p>
          <a:p>
            <a:pPr algn="ctr"/>
            <a:r>
              <a:rPr lang="zh-CN" altLang="en-US" sz="1600" dirty="0"/>
              <a:t>决策结果执行</a:t>
            </a:r>
          </a:p>
          <a:p>
            <a:pPr algn="ctr"/>
            <a:r>
              <a:rPr lang="zh-CN" altLang="en-US" sz="1600" dirty="0"/>
              <a:t>事件</a:t>
            </a:r>
            <a:r>
              <a:rPr lang="zh-CN" altLang="en-US" sz="1600" dirty="0" smtClean="0"/>
              <a:t>日志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2425926" y="1788555"/>
            <a:ext cx="7639664" cy="78166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网络全景图、运维场景应用、故障跟踪处理、信息查询、多维分析等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425925" y="5038109"/>
            <a:ext cx="8967020" cy="560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网络设备数据、监控设备数据、其他系统数据、台账数据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425925" y="4389187"/>
            <a:ext cx="7639665" cy="54567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数据采集、数据处理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425925" y="2688207"/>
            <a:ext cx="6061587" cy="4768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配置管理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168816" y="1798388"/>
            <a:ext cx="1238861" cy="312174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管理中心 </a:t>
            </a:r>
            <a:endParaRPr lang="en-US" altLang="zh-CN" dirty="0" smtClean="0"/>
          </a:p>
          <a:p>
            <a:pPr algn="ctr"/>
            <a:endParaRPr lang="en-US" altLang="zh-CN" dirty="0" smtClean="0"/>
          </a:p>
          <a:p>
            <a:pPr algn="ctr"/>
            <a:r>
              <a:rPr lang="zh-CN" altLang="en-US" dirty="0" smtClean="0"/>
              <a:t>用户管理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安全管理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日志管理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425925" y="3224067"/>
            <a:ext cx="6076336" cy="5309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智库管理：算法库、模型库、特征库、机器学习机制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425925" y="3804166"/>
            <a:ext cx="6056670" cy="51127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大数据处理引擎、人工智能引擎、可视化呈现处理引擎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861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1537" y="214757"/>
            <a:ext cx="7973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Rectangle 35"/>
          <p:cNvSpPr>
            <a:spLocks noChangeArrowheads="1"/>
          </p:cNvSpPr>
          <p:nvPr/>
        </p:nvSpPr>
        <p:spPr bwMode="auto">
          <a:xfrm>
            <a:off x="3979314" y="136067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一、建设背景</a:t>
            </a:r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3979314" y="2507159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二、建设目标</a:t>
            </a: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3979314" y="3686658"/>
            <a:ext cx="3739324" cy="816994"/>
          </a:xfrm>
          <a:prstGeom prst="rect">
            <a:avLst/>
          </a:prstGeom>
          <a:solidFill>
            <a:srgbClr val="80808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/>
          <a:lstStyle/>
          <a:p>
            <a:pPr defTabSz="80073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三、计划与举措</a:t>
            </a:r>
          </a:p>
        </p:txBody>
      </p:sp>
      <p:sp>
        <p:nvSpPr>
          <p:cNvPr id="6" name="Rectangle 35"/>
          <p:cNvSpPr>
            <a:spLocks noChangeArrowheads="1"/>
          </p:cNvSpPr>
          <p:nvPr/>
        </p:nvSpPr>
        <p:spPr bwMode="auto">
          <a:xfrm>
            <a:off x="3979314" y="4811878"/>
            <a:ext cx="3739324" cy="816994"/>
          </a:xfrm>
          <a:prstGeom prst="rect">
            <a:avLst/>
          </a:prstGeom>
          <a:solidFill>
            <a:srgbClr val="CC0000"/>
          </a:solidFill>
          <a:ln w="9525" algn="ctr">
            <a:noFill/>
            <a:miter lim="800000"/>
          </a:ln>
          <a:effectLst/>
        </p:spPr>
        <p:txBody>
          <a:bodyPr lIns="79152" tIns="39576" rIns="79152" bIns="39576" anchor="ctr">
            <a:noAutofit/>
          </a:bodyPr>
          <a:lstStyle/>
          <a:p>
            <a:pPr defTabSz="800735" fontAlgn="base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四、应用场景</a:t>
            </a:r>
          </a:p>
        </p:txBody>
      </p:sp>
    </p:spTree>
    <p:extLst>
      <p:ext uri="{BB962C8B-B14F-4D97-AF65-F5344CB8AC3E}">
        <p14:creationId xmlns:p14="http://schemas.microsoft.com/office/powerpoint/2010/main" val="315306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0" y="616342"/>
            <a:ext cx="11777500" cy="63884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49250" y="213111"/>
            <a:ext cx="59843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网络设备可视化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场景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2618" y="5846618"/>
            <a:ext cx="5043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一览掌握全网网络拓扑关系、设备状态等信息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4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95" y="1144109"/>
            <a:ext cx="10102851" cy="467099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49250" y="213111"/>
            <a:ext cx="59843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业务质量可视化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场景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230106" y="6161323"/>
            <a:ext cx="451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一览掌握全业务业务分布和质量状态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5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8899" y="1101246"/>
            <a:ext cx="9589174" cy="4515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04293" y="2108392"/>
            <a:ext cx="4033641" cy="2638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接箭头连接符 3"/>
          <p:cNvCxnSpPr/>
          <p:nvPr/>
        </p:nvCxnSpPr>
        <p:spPr>
          <a:xfrm>
            <a:off x="4346936" y="3573195"/>
            <a:ext cx="213808" cy="3328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3223" y="2049086"/>
            <a:ext cx="2256245" cy="2356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22"/>
          <p:cNvSpPr txBox="1"/>
          <p:nvPr/>
        </p:nvSpPr>
        <p:spPr>
          <a:xfrm>
            <a:off x="4066622" y="5754484"/>
            <a:ext cx="3830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一览掌握核心机房资源信息、设备状态</a:t>
            </a:r>
            <a:endParaRPr lang="en-US" altLang="zh-CN" sz="16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49250" y="213111"/>
            <a:ext cx="51635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 smtClean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资管可视化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场景</a:t>
            </a:r>
          </a:p>
        </p:txBody>
      </p:sp>
    </p:spTree>
    <p:extLst>
      <p:ext uri="{BB962C8B-B14F-4D97-AF65-F5344CB8AC3E}">
        <p14:creationId xmlns:p14="http://schemas.microsoft.com/office/powerpoint/2010/main" val="250453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10536" y="1387365"/>
            <a:ext cx="8897251" cy="3889116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1362075" y="1015889"/>
            <a:ext cx="3924300" cy="4365911"/>
          </a:xfrm>
          <a:prstGeom prst="roundRect">
            <a:avLst/>
          </a:prstGeom>
          <a:noFill/>
          <a:ln w="28575" cap="flat" cmpd="sng" algn="ctr">
            <a:solidFill>
              <a:srgbClr val="00AC4E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5286374" y="1015891"/>
            <a:ext cx="1876425" cy="4365910"/>
          </a:xfrm>
          <a:prstGeom prst="roundRect">
            <a:avLst/>
          </a:prstGeom>
          <a:noFill/>
          <a:ln w="28575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162799" y="1015889"/>
            <a:ext cx="3638551" cy="4365911"/>
          </a:xfrm>
          <a:prstGeom prst="roundRect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597425" y="1064555"/>
            <a:ext cx="1837415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自动获取数据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408295" y="1048513"/>
            <a:ext cx="1571626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关键信息提取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8033882" y="1097379"/>
            <a:ext cx="2283597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 smtClean="0"/>
              <a:t>自动撰写报告和通报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49250" y="213111"/>
            <a:ext cx="51635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应用场景 </a:t>
            </a:r>
            <a:r>
              <a:rPr lang="en-US" altLang="zh-CN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sz="3200" b="1" dirty="0">
                <a:solidFill>
                  <a:srgbClr val="8EC31F"/>
                </a:solidFill>
                <a:latin typeface="微软雅黑" pitchFamily="34" charset="-122"/>
                <a:ea typeface="微软雅黑" pitchFamily="34" charset="-122"/>
              </a:rPr>
              <a:t>日报撰写机器人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27589" y="5753274"/>
            <a:ext cx="5504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1-2</a:t>
            </a:r>
            <a:r>
              <a:rPr lang="zh-CN" altLang="en-US" b="1" dirty="0" smtClean="0">
                <a:solidFill>
                  <a:srgbClr val="FF0000"/>
                </a:solidFill>
              </a:rPr>
              <a:t>小时</a:t>
            </a:r>
            <a:r>
              <a:rPr lang="en-US" altLang="zh-CN" b="1" dirty="0" smtClean="0">
                <a:solidFill>
                  <a:srgbClr val="FF0000"/>
                </a:solidFill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</a:rPr>
              <a:t>人天缩短至</a:t>
            </a:r>
            <a:r>
              <a:rPr lang="en-US" altLang="zh-CN" b="1" dirty="0" smtClean="0">
                <a:solidFill>
                  <a:srgbClr val="FF0000"/>
                </a:solidFill>
              </a:rPr>
              <a:t>5</a:t>
            </a:r>
            <a:r>
              <a:rPr lang="zh-CN" altLang="en-US" b="1" dirty="0" smtClean="0">
                <a:solidFill>
                  <a:srgbClr val="FF0000"/>
                </a:solidFill>
              </a:rPr>
              <a:t>分钟</a:t>
            </a:r>
            <a:r>
              <a:rPr lang="en-US" altLang="zh-CN" b="1" dirty="0" smtClean="0">
                <a:solidFill>
                  <a:srgbClr val="FF0000"/>
                </a:solidFill>
              </a:rPr>
              <a:t>/</a:t>
            </a:r>
            <a:r>
              <a:rPr lang="zh-CN" altLang="en-US" b="1" dirty="0" smtClean="0">
                <a:solidFill>
                  <a:srgbClr val="FF0000"/>
                </a:solidFill>
              </a:rPr>
              <a:t>天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8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160187"/>
  <p:tag name="KSO_WM_UNIT_TYPE" val="l_h_f"/>
  <p:tag name="KSO_WM_UNIT_INDEX" val="1_1_1"/>
  <p:tag name="KSO_WM_UNIT_ID" val="custom160187_8*l_h_f*1_1_1"/>
  <p:tag name="KSO_WM_UNIT_CLEAR" val="1"/>
  <p:tag name="KSO_WM_UNIT_LAYERLEVEL" val="1_1_1"/>
  <p:tag name="KSO_WM_UNIT_VALUE" val="16"/>
  <p:tag name="KSO_WM_UNIT_HIGHLIGHT" val="0"/>
  <p:tag name="KSO_WM_UNIT_COMPATIBLE" val="0"/>
  <p:tag name="KSO_WM_UNIT_PRESET_TEXT_INDEX" val="3"/>
  <p:tag name="KSO_WM_UNIT_PRESET_TEXT_LEN" val="21"/>
  <p:tag name="KSO_WM_DIAGRAM_GROUP_CODE" val="l1-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24763</TotalTime>
  <Words>589</Words>
  <Application>Microsoft Office PowerPoint</Application>
  <PresentationFormat>宽屏</PresentationFormat>
  <Paragraphs>98</Paragraphs>
  <Slides>15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Lato Light</vt:lpstr>
      <vt:lpstr>宋体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数据中心</dc:title>
  <dc:creator>Qinghai LI</dc:creator>
  <cp:lastModifiedBy>cong x</cp:lastModifiedBy>
  <cp:revision>5566</cp:revision>
  <dcterms:created xsi:type="dcterms:W3CDTF">2015-05-05T08:02:00Z</dcterms:created>
  <dcterms:modified xsi:type="dcterms:W3CDTF">2018-04-10T17:54:36Z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