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83" r:id="rId2"/>
    <p:sldId id="284" r:id="rId3"/>
    <p:sldId id="285" r:id="rId4"/>
    <p:sldId id="268" r:id="rId5"/>
    <p:sldId id="307" r:id="rId6"/>
    <p:sldId id="309" r:id="rId7"/>
    <p:sldId id="310" r:id="rId8"/>
    <p:sldId id="311" r:id="rId9"/>
    <p:sldId id="286" r:id="rId10"/>
    <p:sldId id="292" r:id="rId11"/>
    <p:sldId id="291" r:id="rId12"/>
    <p:sldId id="306" r:id="rId13"/>
    <p:sldId id="304" r:id="rId14"/>
    <p:sldId id="293" r:id="rId15"/>
    <p:sldId id="303" r:id="rId16"/>
    <p:sldId id="294" r:id="rId17"/>
    <p:sldId id="296" r:id="rId18"/>
    <p:sldId id="260" r:id="rId19"/>
    <p:sldId id="299" r:id="rId20"/>
    <p:sldId id="287" r:id="rId21"/>
    <p:sldId id="298" r:id="rId22"/>
    <p:sldId id="308" r:id="rId23"/>
    <p:sldId id="301" r:id="rId24"/>
    <p:sldId id="300" r:id="rId25"/>
    <p:sldId id="288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D2C4"/>
    <a:srgbClr val="E73A1C"/>
    <a:srgbClr val="66FF99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50" autoAdjust="0"/>
    <p:restoredTop sz="91472" autoAdjust="0"/>
  </p:normalViewPr>
  <p:slideViewPr>
    <p:cSldViewPr snapToGrid="0">
      <p:cViewPr varScale="1">
        <p:scale>
          <a:sx n="102" d="100"/>
          <a:sy n="102" d="100"/>
        </p:scale>
        <p:origin x="81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35CA9-D0AD-4A8E-B4F1-6D48432A5E86}" type="datetimeFigureOut">
              <a:rPr lang="zh-CN" altLang="en-US" smtClean="0"/>
              <a:t>2018/4/10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C6294-C7B3-4EF0-8EE5-86B292ED20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3149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521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720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72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7853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 smtClean="0">
                <a:solidFill>
                  <a:srgbClr val="42D2C4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接到故障申告后才进行测试和故障分析，不能满足主动监控和主动维护需求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34043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687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57185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4958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151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平台图的重新制作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180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62558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3145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54694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274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拓扑图的动画表示待完善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3943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4399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3662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这是一个数据的时代</a:t>
            </a:r>
            <a:endParaRPr lang="en-US" altLang="zh-CN" dirty="0" smtClean="0">
              <a:solidFill>
                <a:schemeClr val="bg1"/>
              </a:solidFill>
            </a:endParaRPr>
          </a:p>
          <a:p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运维部门拥有着大量的数据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利用这些数据改变运维方式形成一个智能化的平台是未来的趋势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降本增效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548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5143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4881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03909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6461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18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89778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476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office.msn.com.cn/Template/Home.shtml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7" name="矩形 1"/>
          <p:cNvSpPr/>
          <p:nvPr userDrawn="1"/>
        </p:nvSpPr>
        <p:spPr>
          <a:xfrm>
            <a:off x="-152399" y="1719016"/>
            <a:ext cx="8458200" cy="1441240"/>
          </a:xfrm>
          <a:custGeom>
            <a:avLst/>
            <a:gdLst>
              <a:gd name="connsiteX0" fmla="*/ 0 w 6819900"/>
              <a:gd name="connsiteY0" fmla="*/ 0 h 1422190"/>
              <a:gd name="connsiteX1" fmla="*/ 6819900 w 6819900"/>
              <a:gd name="connsiteY1" fmla="*/ 0 h 1422190"/>
              <a:gd name="connsiteX2" fmla="*/ 6819900 w 6819900"/>
              <a:gd name="connsiteY2" fmla="*/ 1422190 h 1422190"/>
              <a:gd name="connsiteX3" fmla="*/ 0 w 6819900"/>
              <a:gd name="connsiteY3" fmla="*/ 1422190 h 1422190"/>
              <a:gd name="connsiteX4" fmla="*/ 0 w 6819900"/>
              <a:gd name="connsiteY4" fmla="*/ 0 h 1422190"/>
              <a:gd name="connsiteX0" fmla="*/ 0 w 8458200"/>
              <a:gd name="connsiteY0" fmla="*/ 0 h 1441240"/>
              <a:gd name="connsiteX1" fmla="*/ 6819900 w 8458200"/>
              <a:gd name="connsiteY1" fmla="*/ 0 h 1441240"/>
              <a:gd name="connsiteX2" fmla="*/ 8458200 w 8458200"/>
              <a:gd name="connsiteY2" fmla="*/ 1441240 h 1441240"/>
              <a:gd name="connsiteX3" fmla="*/ 0 w 8458200"/>
              <a:gd name="connsiteY3" fmla="*/ 1422190 h 1441240"/>
              <a:gd name="connsiteX4" fmla="*/ 0 w 8458200"/>
              <a:gd name="connsiteY4" fmla="*/ 0 h 1441240"/>
              <a:gd name="connsiteX0" fmla="*/ 0 w 8458200"/>
              <a:gd name="connsiteY0" fmla="*/ 0 h 1441240"/>
              <a:gd name="connsiteX1" fmla="*/ 6819900 w 8458200"/>
              <a:gd name="connsiteY1" fmla="*/ 342900 h 1441240"/>
              <a:gd name="connsiteX2" fmla="*/ 8458200 w 8458200"/>
              <a:gd name="connsiteY2" fmla="*/ 1441240 h 1441240"/>
              <a:gd name="connsiteX3" fmla="*/ 0 w 8458200"/>
              <a:gd name="connsiteY3" fmla="*/ 1422190 h 1441240"/>
              <a:gd name="connsiteX4" fmla="*/ 0 w 8458200"/>
              <a:gd name="connsiteY4" fmla="*/ 0 h 144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58200" h="1441240">
                <a:moveTo>
                  <a:pt x="0" y="0"/>
                </a:moveTo>
                <a:lnTo>
                  <a:pt x="6819900" y="342900"/>
                </a:lnTo>
                <a:lnTo>
                  <a:pt x="8458200" y="1441240"/>
                </a:lnTo>
                <a:lnTo>
                  <a:pt x="0" y="142219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kumimoji="1" lang="zh-CN" altLang="en-US">
              <a:solidFill>
                <a:schemeClr val="bg1"/>
              </a:solidFill>
            </a:endParaRPr>
          </a:p>
        </p:txBody>
      </p:sp>
      <p:sp>
        <p:nvSpPr>
          <p:cNvPr id="8" name="矩形 2"/>
          <p:cNvSpPr/>
          <p:nvPr userDrawn="1"/>
        </p:nvSpPr>
        <p:spPr>
          <a:xfrm>
            <a:off x="-152399" y="3141206"/>
            <a:ext cx="5886603" cy="1422190"/>
          </a:xfrm>
          <a:custGeom>
            <a:avLst/>
            <a:gdLst>
              <a:gd name="connsiteX0" fmla="*/ 0 w 5315103"/>
              <a:gd name="connsiteY0" fmla="*/ 0 h 1422190"/>
              <a:gd name="connsiteX1" fmla="*/ 5315103 w 5315103"/>
              <a:gd name="connsiteY1" fmla="*/ 0 h 1422190"/>
              <a:gd name="connsiteX2" fmla="*/ 5315103 w 5315103"/>
              <a:gd name="connsiteY2" fmla="*/ 1422190 h 1422190"/>
              <a:gd name="connsiteX3" fmla="*/ 0 w 5315103"/>
              <a:gd name="connsiteY3" fmla="*/ 1422190 h 1422190"/>
              <a:gd name="connsiteX4" fmla="*/ 0 w 5315103"/>
              <a:gd name="connsiteY4" fmla="*/ 0 h 1422190"/>
              <a:gd name="connsiteX0" fmla="*/ 0 w 5886603"/>
              <a:gd name="connsiteY0" fmla="*/ 19050 h 1441240"/>
              <a:gd name="connsiteX1" fmla="*/ 5886603 w 5886603"/>
              <a:gd name="connsiteY1" fmla="*/ 0 h 1441240"/>
              <a:gd name="connsiteX2" fmla="*/ 5315103 w 5886603"/>
              <a:gd name="connsiteY2" fmla="*/ 1441240 h 1441240"/>
              <a:gd name="connsiteX3" fmla="*/ 0 w 5886603"/>
              <a:gd name="connsiteY3" fmla="*/ 1441240 h 1441240"/>
              <a:gd name="connsiteX4" fmla="*/ 0 w 5886603"/>
              <a:gd name="connsiteY4" fmla="*/ 19050 h 1441240"/>
              <a:gd name="connsiteX0" fmla="*/ 0 w 5886603"/>
              <a:gd name="connsiteY0" fmla="*/ 19050 h 1441240"/>
              <a:gd name="connsiteX1" fmla="*/ 5886603 w 5886603"/>
              <a:gd name="connsiteY1" fmla="*/ 0 h 1441240"/>
              <a:gd name="connsiteX2" fmla="*/ 5124603 w 5886603"/>
              <a:gd name="connsiteY2" fmla="*/ 1307890 h 1441240"/>
              <a:gd name="connsiteX3" fmla="*/ 0 w 5886603"/>
              <a:gd name="connsiteY3" fmla="*/ 1441240 h 1441240"/>
              <a:gd name="connsiteX4" fmla="*/ 0 w 5886603"/>
              <a:gd name="connsiteY4" fmla="*/ 19050 h 1441240"/>
              <a:gd name="connsiteX0" fmla="*/ 0 w 5867553"/>
              <a:gd name="connsiteY0" fmla="*/ 38100 h 1460290"/>
              <a:gd name="connsiteX1" fmla="*/ 5867553 w 5867553"/>
              <a:gd name="connsiteY1" fmla="*/ 0 h 1460290"/>
              <a:gd name="connsiteX2" fmla="*/ 5124603 w 5867553"/>
              <a:gd name="connsiteY2" fmla="*/ 1326940 h 1460290"/>
              <a:gd name="connsiteX3" fmla="*/ 0 w 5867553"/>
              <a:gd name="connsiteY3" fmla="*/ 1460290 h 1460290"/>
              <a:gd name="connsiteX4" fmla="*/ 0 w 5867553"/>
              <a:gd name="connsiteY4" fmla="*/ 38100 h 1460290"/>
              <a:gd name="connsiteX0" fmla="*/ 0 w 5886603"/>
              <a:gd name="connsiteY0" fmla="*/ 0 h 1422190"/>
              <a:gd name="connsiteX1" fmla="*/ 5886603 w 5886603"/>
              <a:gd name="connsiteY1" fmla="*/ 19050 h 1422190"/>
              <a:gd name="connsiteX2" fmla="*/ 5124603 w 5886603"/>
              <a:gd name="connsiteY2" fmla="*/ 1288840 h 1422190"/>
              <a:gd name="connsiteX3" fmla="*/ 0 w 5886603"/>
              <a:gd name="connsiteY3" fmla="*/ 1422190 h 1422190"/>
              <a:gd name="connsiteX4" fmla="*/ 0 w 5886603"/>
              <a:gd name="connsiteY4" fmla="*/ 0 h 142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86603" h="1422190">
                <a:moveTo>
                  <a:pt x="0" y="0"/>
                </a:moveTo>
                <a:lnTo>
                  <a:pt x="5886603" y="19050"/>
                </a:lnTo>
                <a:lnTo>
                  <a:pt x="5124603" y="1288840"/>
                </a:lnTo>
                <a:lnTo>
                  <a:pt x="0" y="142219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kumimoji="1" lang="zh-CN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37297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cxnSp>
        <p:nvCxnSpPr>
          <p:cNvPr id="3" name="直接连接符 2"/>
          <p:cNvCxnSpPr/>
          <p:nvPr userDrawn="1"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占位符 5"/>
          <p:cNvSpPr>
            <a:spLocks noGrp="1"/>
          </p:cNvSpPr>
          <p:nvPr>
            <p:ph type="body" sz="quarter" idx="10" hasCustomPrompt="1"/>
          </p:nvPr>
        </p:nvSpPr>
        <p:spPr>
          <a:xfrm>
            <a:off x="4568248" y="477910"/>
            <a:ext cx="3213677" cy="568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dirty="0" smtClean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35381032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7" name="等腰三角形 6"/>
          <p:cNvSpPr/>
          <p:nvPr userDrawn="1"/>
        </p:nvSpPr>
        <p:spPr>
          <a:xfrm rot="5400000">
            <a:off x="-881063" y="738187"/>
            <a:ext cx="6858000" cy="5381625"/>
          </a:xfrm>
          <a:prstGeom prst="triangl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等腰三角形 7"/>
          <p:cNvSpPr/>
          <p:nvPr userDrawn="1"/>
        </p:nvSpPr>
        <p:spPr>
          <a:xfrm rot="5400000">
            <a:off x="-1624013" y="738186"/>
            <a:ext cx="6858000" cy="5381625"/>
          </a:xfrm>
          <a:prstGeom prst="triangl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86614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grpSp>
        <p:nvGrpSpPr>
          <p:cNvPr id="8" name="组合 7"/>
          <p:cNvGrpSpPr/>
          <p:nvPr userDrawn="1"/>
        </p:nvGrpSpPr>
        <p:grpSpPr>
          <a:xfrm rot="5400000">
            <a:off x="1716652" y="-1178492"/>
            <a:ext cx="4501016" cy="6858000"/>
            <a:chOff x="-885827" y="-1"/>
            <a:chExt cx="6124577" cy="6858000"/>
          </a:xfrm>
        </p:grpSpPr>
        <p:sp>
          <p:nvSpPr>
            <p:cNvPr id="10" name="等腰三角形 9"/>
            <p:cNvSpPr/>
            <p:nvPr/>
          </p:nvSpPr>
          <p:spPr>
            <a:xfrm rot="5400000">
              <a:off x="-1624014" y="738186"/>
              <a:ext cx="6858000" cy="5381625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等腰三角形 8"/>
            <p:cNvSpPr/>
            <p:nvPr/>
          </p:nvSpPr>
          <p:spPr>
            <a:xfrm rot="5400000">
              <a:off x="-1252538" y="366710"/>
              <a:ext cx="6858000" cy="6124577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" name="组合 10"/>
          <p:cNvGrpSpPr/>
          <p:nvPr userDrawn="1"/>
        </p:nvGrpSpPr>
        <p:grpSpPr>
          <a:xfrm rot="16200000">
            <a:off x="1324870" y="795515"/>
            <a:ext cx="5284584" cy="6858001"/>
            <a:chOff x="-896052" y="-1"/>
            <a:chExt cx="6134802" cy="6858000"/>
          </a:xfrm>
        </p:grpSpPr>
        <p:sp>
          <p:nvSpPr>
            <p:cNvPr id="12" name="等腰三角形 11"/>
            <p:cNvSpPr/>
            <p:nvPr/>
          </p:nvSpPr>
          <p:spPr>
            <a:xfrm rot="5400000">
              <a:off x="-1257651" y="361598"/>
              <a:ext cx="6858000" cy="6134802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等腰三角形 12"/>
            <p:cNvSpPr/>
            <p:nvPr/>
          </p:nvSpPr>
          <p:spPr>
            <a:xfrm rot="5400000">
              <a:off x="-1624013" y="738186"/>
              <a:ext cx="6858000" cy="5381625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95015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cxnSp>
        <p:nvCxnSpPr>
          <p:cNvPr id="10" name="直接连接符 9"/>
          <p:cNvCxnSpPr/>
          <p:nvPr userDrawn="1"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7619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6" name="矩形 1"/>
          <p:cNvSpPr/>
          <p:nvPr userDrawn="1"/>
        </p:nvSpPr>
        <p:spPr>
          <a:xfrm>
            <a:off x="2266950" y="2076450"/>
            <a:ext cx="7647842" cy="2266950"/>
          </a:xfrm>
          <a:custGeom>
            <a:avLst/>
            <a:gdLst>
              <a:gd name="connsiteX0" fmla="*/ 0 w 4819650"/>
              <a:gd name="connsiteY0" fmla="*/ 0 h 1885950"/>
              <a:gd name="connsiteX1" fmla="*/ 4819650 w 4819650"/>
              <a:gd name="connsiteY1" fmla="*/ 0 h 1885950"/>
              <a:gd name="connsiteX2" fmla="*/ 4819650 w 4819650"/>
              <a:gd name="connsiteY2" fmla="*/ 1885950 h 1885950"/>
              <a:gd name="connsiteX3" fmla="*/ 0 w 4819650"/>
              <a:gd name="connsiteY3" fmla="*/ 1885950 h 1885950"/>
              <a:gd name="connsiteX4" fmla="*/ 0 w 481965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819650 w 5295900"/>
              <a:gd name="connsiteY2" fmla="*/ 188595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724400 w 5295900"/>
              <a:gd name="connsiteY2" fmla="*/ 163830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609600 w 5905500"/>
              <a:gd name="connsiteY0" fmla="*/ 0 h 2400300"/>
              <a:gd name="connsiteX1" fmla="*/ 5905500 w 5905500"/>
              <a:gd name="connsiteY1" fmla="*/ 304800 h 2400300"/>
              <a:gd name="connsiteX2" fmla="*/ 5334000 w 5905500"/>
              <a:gd name="connsiteY2" fmla="*/ 1638300 h 2400300"/>
              <a:gd name="connsiteX3" fmla="*/ 0 w 5905500"/>
              <a:gd name="connsiteY3" fmla="*/ 2400300 h 2400300"/>
              <a:gd name="connsiteX4" fmla="*/ 609600 w 5905500"/>
              <a:gd name="connsiteY4" fmla="*/ 0 h 2400300"/>
              <a:gd name="connsiteX0" fmla="*/ 895350 w 5905500"/>
              <a:gd name="connsiteY0" fmla="*/ 24765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895350 w 5905500"/>
              <a:gd name="connsiteY4" fmla="*/ 247650 h 2095500"/>
              <a:gd name="connsiteX0" fmla="*/ 685800 w 5905500"/>
              <a:gd name="connsiteY0" fmla="*/ 3810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685800 w 5905500"/>
              <a:gd name="connsiteY4" fmla="*/ 38100 h 2095500"/>
              <a:gd name="connsiteX0" fmla="*/ 628650 w 5848350"/>
              <a:gd name="connsiteY0" fmla="*/ 38100 h 1733550"/>
              <a:gd name="connsiteX1" fmla="*/ 5848350 w 5848350"/>
              <a:gd name="connsiteY1" fmla="*/ 0 h 1733550"/>
              <a:gd name="connsiteX2" fmla="*/ 5276850 w 5848350"/>
              <a:gd name="connsiteY2" fmla="*/ 1333500 h 1733550"/>
              <a:gd name="connsiteX3" fmla="*/ 0 w 5848350"/>
              <a:gd name="connsiteY3" fmla="*/ 1733550 h 1733550"/>
              <a:gd name="connsiteX4" fmla="*/ 628650 w 5848350"/>
              <a:gd name="connsiteY4" fmla="*/ 38100 h 173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48350" h="1733550">
                <a:moveTo>
                  <a:pt x="628650" y="38100"/>
                </a:moveTo>
                <a:lnTo>
                  <a:pt x="5848350" y="0"/>
                </a:lnTo>
                <a:lnTo>
                  <a:pt x="5276850" y="1333500"/>
                </a:lnTo>
                <a:lnTo>
                  <a:pt x="0" y="1733550"/>
                </a:lnTo>
                <a:lnTo>
                  <a:pt x="628650" y="3810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1"/>
          <p:cNvSpPr/>
          <p:nvPr userDrawn="1"/>
        </p:nvSpPr>
        <p:spPr>
          <a:xfrm>
            <a:off x="1790700" y="1905000"/>
            <a:ext cx="8376474" cy="2679739"/>
          </a:xfrm>
          <a:custGeom>
            <a:avLst/>
            <a:gdLst>
              <a:gd name="connsiteX0" fmla="*/ 0 w 4819650"/>
              <a:gd name="connsiteY0" fmla="*/ 0 h 1885950"/>
              <a:gd name="connsiteX1" fmla="*/ 4819650 w 4819650"/>
              <a:gd name="connsiteY1" fmla="*/ 0 h 1885950"/>
              <a:gd name="connsiteX2" fmla="*/ 4819650 w 4819650"/>
              <a:gd name="connsiteY2" fmla="*/ 1885950 h 1885950"/>
              <a:gd name="connsiteX3" fmla="*/ 0 w 4819650"/>
              <a:gd name="connsiteY3" fmla="*/ 1885950 h 1885950"/>
              <a:gd name="connsiteX4" fmla="*/ 0 w 481965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819650 w 5295900"/>
              <a:gd name="connsiteY2" fmla="*/ 188595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724400 w 5295900"/>
              <a:gd name="connsiteY2" fmla="*/ 163830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609600 w 5905500"/>
              <a:gd name="connsiteY0" fmla="*/ 0 h 2400300"/>
              <a:gd name="connsiteX1" fmla="*/ 5905500 w 5905500"/>
              <a:gd name="connsiteY1" fmla="*/ 304800 h 2400300"/>
              <a:gd name="connsiteX2" fmla="*/ 5334000 w 5905500"/>
              <a:gd name="connsiteY2" fmla="*/ 1638300 h 2400300"/>
              <a:gd name="connsiteX3" fmla="*/ 0 w 5905500"/>
              <a:gd name="connsiteY3" fmla="*/ 2400300 h 2400300"/>
              <a:gd name="connsiteX4" fmla="*/ 609600 w 5905500"/>
              <a:gd name="connsiteY4" fmla="*/ 0 h 2400300"/>
              <a:gd name="connsiteX0" fmla="*/ 895350 w 5905500"/>
              <a:gd name="connsiteY0" fmla="*/ 24765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895350 w 5905500"/>
              <a:gd name="connsiteY4" fmla="*/ 247650 h 2095500"/>
              <a:gd name="connsiteX0" fmla="*/ 685800 w 5905500"/>
              <a:gd name="connsiteY0" fmla="*/ 3810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685800 w 5905500"/>
              <a:gd name="connsiteY4" fmla="*/ 38100 h 2095500"/>
              <a:gd name="connsiteX0" fmla="*/ 628650 w 5848350"/>
              <a:gd name="connsiteY0" fmla="*/ 38100 h 1733550"/>
              <a:gd name="connsiteX1" fmla="*/ 5848350 w 5848350"/>
              <a:gd name="connsiteY1" fmla="*/ 0 h 1733550"/>
              <a:gd name="connsiteX2" fmla="*/ 5276850 w 5848350"/>
              <a:gd name="connsiteY2" fmla="*/ 1333500 h 1733550"/>
              <a:gd name="connsiteX3" fmla="*/ 0 w 5848350"/>
              <a:gd name="connsiteY3" fmla="*/ 1733550 h 1733550"/>
              <a:gd name="connsiteX4" fmla="*/ 628650 w 5848350"/>
              <a:gd name="connsiteY4" fmla="*/ 38100 h 173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48350" h="1733550">
                <a:moveTo>
                  <a:pt x="628650" y="38100"/>
                </a:moveTo>
                <a:lnTo>
                  <a:pt x="5848350" y="0"/>
                </a:lnTo>
                <a:lnTo>
                  <a:pt x="5276850" y="1333500"/>
                </a:lnTo>
                <a:lnTo>
                  <a:pt x="0" y="1733550"/>
                </a:lnTo>
                <a:lnTo>
                  <a:pt x="628650" y="38100"/>
                </a:lnTo>
                <a:close/>
              </a:path>
            </a:pathLst>
          </a:custGeom>
          <a:noFill/>
          <a:ln w="38100">
            <a:solidFill>
              <a:srgbClr val="42D2C4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4469104" y="4822836"/>
            <a:ext cx="3252101" cy="400105"/>
          </a:xfrm>
          <a:prstGeom prst="rect">
            <a:avLst/>
          </a:prstGeom>
          <a:solidFill>
            <a:schemeClr val="bg1"/>
          </a:solidFill>
        </p:spPr>
        <p:txBody>
          <a:bodyPr wrap="none" lIns="91436" tIns="45718" rIns="91436" bIns="45718">
            <a:spAutoFit/>
          </a:bodyPr>
          <a:lstStyle/>
          <a:p>
            <a:r>
              <a:rPr kumimoji="1" lang="en-US" altLang="zh-CN" sz="2000" dirty="0"/>
              <a:t>PRESENTED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BY</a:t>
            </a:r>
            <a:r>
              <a:rPr kumimoji="1" lang="zh-CN" altLang="en-US" sz="2000" dirty="0"/>
              <a:t> </a:t>
            </a:r>
            <a:r>
              <a:rPr kumimoji="1" lang="en-US" altLang="zh-CN" sz="2000" dirty="0" smtClean="0"/>
              <a:t>EASTONE</a:t>
            </a:r>
          </a:p>
        </p:txBody>
      </p:sp>
    </p:spTree>
    <p:extLst>
      <p:ext uri="{BB962C8B-B14F-4D97-AF65-F5344CB8AC3E}">
        <p14:creationId xmlns:p14="http://schemas.microsoft.com/office/powerpoint/2010/main" val="63297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E7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440603" y="759873"/>
            <a:ext cx="662361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585"/>
            <a:r>
              <a:rPr lang="zh-CN" altLang="en-US" sz="1867" dirty="0">
                <a:solidFill>
                  <a:srgbClr val="FFFFFF"/>
                </a:solidFill>
                <a:latin typeface="Segoe UI Light"/>
                <a:cs typeface="Segoe UI Light"/>
              </a:rPr>
              <a:t>标注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2857674" y="841948"/>
            <a:ext cx="1402001" cy="3292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字体使用 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行距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背景图片出处</a:t>
            </a: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声明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4395052" y="841948"/>
            <a:ext cx="3727457" cy="38257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英文 </a:t>
            </a:r>
            <a:r>
              <a:rPr lang="en-US" altLang="zh-CN" sz="1333" dirty="0">
                <a:solidFill>
                  <a:srgbClr val="FFFFFF"/>
                </a:solidFill>
                <a:latin typeface="Segoe UI Light"/>
                <a:cs typeface="Segoe UI Light"/>
              </a:rPr>
              <a:t>Calibri</a:t>
            </a: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中文 微软雅黑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正文 </a:t>
            </a:r>
            <a:r>
              <a:rPr lang="en-US" altLang="zh-CN" sz="1333" dirty="0">
                <a:solidFill>
                  <a:srgbClr val="FFFFFF"/>
                </a:solidFill>
                <a:latin typeface="Segoe UI Light"/>
                <a:cs typeface="Segoe UI Light"/>
              </a:rPr>
              <a:t>1.3</a:t>
            </a: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en-US" altLang="zh-CN" sz="1333" dirty="0" err="1">
                <a:solidFill>
                  <a:srgbClr val="FFFFFF"/>
                </a:solidFill>
                <a:latin typeface="Segoe UI Light"/>
                <a:cs typeface="Segoe UI Light"/>
              </a:rPr>
              <a:t>cn.bing.com</a:t>
            </a: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互联网是一个开放共享的平台</a:t>
            </a: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Office</a:t>
            </a:r>
            <a:r>
              <a:rPr lang="en-US" altLang="zh-CN" sz="1333" dirty="0">
                <a:solidFill>
                  <a:prstClr val="white"/>
                </a:solidFill>
              </a:rPr>
              <a:t>PLUS </a:t>
            </a:r>
            <a:r>
              <a:rPr lang="zh-CN" altLang="en-US" sz="1333" dirty="0">
                <a:solidFill>
                  <a:prstClr val="white"/>
                </a:solidFill>
              </a:rPr>
              <a:t>部分设计灵感与元素来源于网络</a:t>
            </a: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如有建议请联系officeplus@microsoft.com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440603" y="182445"/>
            <a:ext cx="816249" cy="2565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585"/>
            <a:r>
              <a:rPr kumimoji="1" lang="en-US" altLang="zh-CN" sz="1067" dirty="0" err="1">
                <a:solidFill>
                  <a:srgbClr val="FFFFFF"/>
                </a:solidFill>
                <a:latin typeface="Segoe UI Light"/>
                <a:cs typeface="Segoe UI Light"/>
              </a:rPr>
              <a:t>OfficePLUS</a:t>
            </a:r>
            <a:endParaRPr lang="zh-CN" altLang="en-US" sz="1067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val="816434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hlinkClick r:id="rId2"/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431" y="2521041"/>
            <a:ext cx="3177903" cy="418585"/>
          </a:xfrm>
          <a:prstGeom prst="rect">
            <a:avLst/>
          </a:prstGeom>
        </p:spPr>
      </p:pic>
      <p:sp>
        <p:nvSpPr>
          <p:cNvPr id="9" name="文本框 8"/>
          <p:cNvSpPr txBox="1"/>
          <p:nvPr userDrawn="1"/>
        </p:nvSpPr>
        <p:spPr>
          <a:xfrm>
            <a:off x="4259746" y="3740751"/>
            <a:ext cx="334739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点击</a:t>
            </a:r>
            <a:r>
              <a:rPr kumimoji="1" lang="en-US" altLang="zh-CN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Logo</a:t>
            </a:r>
            <a:r>
              <a:rPr kumimoji="1" lang="zh-CN" altLang="en-US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获取更多优质模板（放映模式）</a:t>
            </a:r>
          </a:p>
        </p:txBody>
      </p:sp>
    </p:spTree>
    <p:extLst>
      <p:ext uri="{BB962C8B-B14F-4D97-AF65-F5344CB8AC3E}">
        <p14:creationId xmlns:p14="http://schemas.microsoft.com/office/powerpoint/2010/main" val="1813162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317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13" Type="http://schemas.openxmlformats.org/officeDocument/2006/relationships/image" Target="../media/image13.png"/><Relationship Id="rId3" Type="http://schemas.openxmlformats.org/officeDocument/2006/relationships/image" Target="../media/image3.emf"/><Relationship Id="rId7" Type="http://schemas.openxmlformats.org/officeDocument/2006/relationships/image" Target="../media/image7.emf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11" Type="http://schemas.openxmlformats.org/officeDocument/2006/relationships/image" Target="../media/image11.png"/><Relationship Id="rId5" Type="http://schemas.openxmlformats.org/officeDocument/2006/relationships/image" Target="../media/image5.emf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emf"/><Relationship Id="rId9" Type="http://schemas.openxmlformats.org/officeDocument/2006/relationships/image" Target="../media/image9.png"/><Relationship Id="rId1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emf"/><Relationship Id="rId3" Type="http://schemas.openxmlformats.org/officeDocument/2006/relationships/image" Target="../media/image30.emf"/><Relationship Id="rId7" Type="http://schemas.openxmlformats.org/officeDocument/2006/relationships/image" Target="../media/image34.emf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11" Type="http://schemas.openxmlformats.org/officeDocument/2006/relationships/image" Target="../media/image38.png"/><Relationship Id="rId5" Type="http://schemas.openxmlformats.org/officeDocument/2006/relationships/image" Target="../media/image32.emf"/><Relationship Id="rId10" Type="http://schemas.openxmlformats.org/officeDocument/2006/relationships/image" Target="../media/image37.png"/><Relationship Id="rId4" Type="http://schemas.openxmlformats.org/officeDocument/2006/relationships/image" Target="../media/image31.emf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emf"/><Relationship Id="rId3" Type="http://schemas.openxmlformats.org/officeDocument/2006/relationships/image" Target="../media/image40.emf"/><Relationship Id="rId7" Type="http://schemas.openxmlformats.org/officeDocument/2006/relationships/image" Target="../media/image44.emf"/><Relationship Id="rId12" Type="http://schemas.openxmlformats.org/officeDocument/2006/relationships/image" Target="../media/image49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11" Type="http://schemas.openxmlformats.org/officeDocument/2006/relationships/image" Target="../media/image48.emf"/><Relationship Id="rId5" Type="http://schemas.openxmlformats.org/officeDocument/2006/relationships/image" Target="../media/image42.emf"/><Relationship Id="rId10" Type="http://schemas.openxmlformats.org/officeDocument/2006/relationships/image" Target="../media/image47.emf"/><Relationship Id="rId4" Type="http://schemas.openxmlformats.org/officeDocument/2006/relationships/image" Target="../media/image41.emf"/><Relationship Id="rId9" Type="http://schemas.openxmlformats.org/officeDocument/2006/relationships/image" Target="../media/image46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89304" y="1719016"/>
            <a:ext cx="7571295" cy="2751518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sz="7200" b="1" dirty="0" smtClean="0">
                <a:solidFill>
                  <a:schemeClr val="bg1"/>
                </a:solidFill>
              </a:rPr>
              <a:t>基于大数据的</a:t>
            </a:r>
            <a:endParaRPr kumimoji="1" lang="en-US" altLang="zh-CN" sz="7200" b="1" dirty="0" smtClean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kumimoji="1" lang="zh-CN" altLang="en-US" sz="7200" b="1" dirty="0">
                <a:solidFill>
                  <a:schemeClr val="bg1"/>
                </a:solidFill>
              </a:rPr>
              <a:t>智慧</a:t>
            </a:r>
            <a:r>
              <a:rPr kumimoji="1" lang="zh-CN" altLang="en-US" sz="7200" b="1" dirty="0" smtClean="0">
                <a:solidFill>
                  <a:schemeClr val="bg1"/>
                </a:solidFill>
              </a:rPr>
              <a:t>网络运维平台</a:t>
            </a:r>
            <a:endParaRPr kumimoji="1" lang="zh-CN" altLang="en-US" sz="7200" b="1" dirty="0">
              <a:solidFill>
                <a:schemeClr val="bg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999043" y="4754621"/>
            <a:ext cx="3342138" cy="400105"/>
          </a:xfrm>
          <a:prstGeom prst="rect">
            <a:avLst/>
          </a:prstGeom>
          <a:solidFill>
            <a:schemeClr val="bg1"/>
          </a:solidFill>
        </p:spPr>
        <p:txBody>
          <a:bodyPr wrap="square" lIns="91436" tIns="45718" rIns="91436" bIns="45718">
            <a:spAutoFit/>
          </a:bodyPr>
          <a:lstStyle/>
          <a:p>
            <a:r>
              <a:rPr kumimoji="1" lang="en-US" altLang="zh-CN" sz="2000" dirty="0"/>
              <a:t>PRESENTED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BY</a:t>
            </a:r>
            <a:r>
              <a:rPr kumimoji="1" lang="zh-CN" altLang="en-US" sz="2000" dirty="0"/>
              <a:t> </a:t>
            </a:r>
            <a:r>
              <a:rPr kumimoji="1" lang="en-US" altLang="zh-CN" sz="2000" dirty="0" smtClean="0"/>
              <a:t>EASTONE</a:t>
            </a:r>
          </a:p>
        </p:txBody>
      </p:sp>
    </p:spTree>
    <p:extLst>
      <p:ext uri="{BB962C8B-B14F-4D97-AF65-F5344CB8AC3E}">
        <p14:creationId xmlns:p14="http://schemas.microsoft.com/office/powerpoint/2010/main" val="42043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28649" y="3075055"/>
            <a:ext cx="27359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smtClean="0">
                <a:solidFill>
                  <a:schemeClr val="bg1"/>
                </a:solidFill>
              </a:rPr>
              <a:t>CONTENT</a:t>
            </a:r>
            <a:endParaRPr lang="zh-CN" altLang="en-US" sz="4000" b="1" dirty="0">
              <a:solidFill>
                <a:schemeClr val="bg1"/>
              </a:solidFill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5591175" y="990600"/>
            <a:ext cx="781050" cy="762000"/>
            <a:chOff x="5591175" y="990600"/>
            <a:chExt cx="781050" cy="762000"/>
          </a:xfrm>
        </p:grpSpPr>
        <p:sp>
          <p:nvSpPr>
            <p:cNvPr id="4" name="椭圆 3"/>
            <p:cNvSpPr/>
            <p:nvPr/>
          </p:nvSpPr>
          <p:spPr>
            <a:xfrm>
              <a:off x="5610225" y="99060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591175" y="9906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01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5591175" y="2381250"/>
            <a:ext cx="781050" cy="762000"/>
            <a:chOff x="5591175" y="2381250"/>
            <a:chExt cx="781050" cy="762000"/>
          </a:xfrm>
        </p:grpSpPr>
        <p:sp>
          <p:nvSpPr>
            <p:cNvPr id="7" name="椭圆 6"/>
            <p:cNvSpPr/>
            <p:nvPr/>
          </p:nvSpPr>
          <p:spPr>
            <a:xfrm>
              <a:off x="5610225" y="238125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591175" y="24003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02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5591175" y="3771900"/>
            <a:ext cx="781050" cy="762000"/>
            <a:chOff x="5591175" y="3771900"/>
            <a:chExt cx="781050" cy="762000"/>
          </a:xfrm>
        </p:grpSpPr>
        <p:sp>
          <p:nvSpPr>
            <p:cNvPr id="10" name="椭圆 9"/>
            <p:cNvSpPr/>
            <p:nvPr/>
          </p:nvSpPr>
          <p:spPr>
            <a:xfrm>
              <a:off x="5610225" y="377190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91175" y="38100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03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5591175" y="5162550"/>
            <a:ext cx="781050" cy="762000"/>
            <a:chOff x="5591175" y="5162550"/>
            <a:chExt cx="781050" cy="762000"/>
          </a:xfrm>
        </p:grpSpPr>
        <p:sp>
          <p:nvSpPr>
            <p:cNvPr id="13" name="椭圆 12"/>
            <p:cNvSpPr/>
            <p:nvPr/>
          </p:nvSpPr>
          <p:spPr>
            <a:xfrm>
              <a:off x="5610225" y="516255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591175" y="5174159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04</a:t>
              </a:r>
              <a:endParaRPr lang="zh-CN" altLang="en-US" sz="4400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文本框 14"/>
          <p:cNvSpPr txBox="1"/>
          <p:nvPr/>
        </p:nvSpPr>
        <p:spPr>
          <a:xfrm>
            <a:off x="6724650" y="110999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24650" y="250064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724650" y="389129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技术实现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724650" y="528194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4515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1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4781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7923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等腰三角形 2"/>
          <p:cNvSpPr/>
          <p:nvPr/>
        </p:nvSpPr>
        <p:spPr>
          <a:xfrm rot="5400000">
            <a:off x="924947" y="919000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网管工作的七大问题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等腰三角形 2"/>
          <p:cNvSpPr/>
          <p:nvPr/>
        </p:nvSpPr>
        <p:spPr>
          <a:xfrm rot="5400000">
            <a:off x="2817593" y="91899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7" name="等腰三角形 2"/>
          <p:cNvSpPr/>
          <p:nvPr/>
        </p:nvSpPr>
        <p:spPr>
          <a:xfrm rot="5400000">
            <a:off x="4753687" y="919000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8" name="等腰三角形 2"/>
          <p:cNvSpPr/>
          <p:nvPr/>
        </p:nvSpPr>
        <p:spPr>
          <a:xfrm rot="5400000">
            <a:off x="6689784" y="919002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61" name="组合 22"/>
          <p:cNvGrpSpPr>
            <a:grpSpLocks/>
          </p:cNvGrpSpPr>
          <p:nvPr/>
        </p:nvGrpSpPr>
        <p:grpSpPr bwMode="auto">
          <a:xfrm>
            <a:off x="3268830" y="1442105"/>
            <a:ext cx="504140" cy="1119430"/>
            <a:chOff x="1736301" y="3645024"/>
            <a:chExt cx="557973" cy="1241674"/>
          </a:xfrm>
          <a:solidFill>
            <a:schemeClr val="bg1"/>
          </a:solidFill>
        </p:grpSpPr>
        <p:sp>
          <p:nvSpPr>
            <p:cNvPr id="62" name="梯形 17"/>
            <p:cNvSpPr/>
            <p:nvPr/>
          </p:nvSpPr>
          <p:spPr>
            <a:xfrm flipV="1">
              <a:off x="1736301" y="3645024"/>
              <a:ext cx="557973" cy="1008311"/>
            </a:xfrm>
            <a:custGeom>
              <a:avLst/>
              <a:gdLst/>
              <a:ahLst/>
              <a:cxnLst/>
              <a:rect l="l" t="t" r="r" b="b"/>
              <a:pathLst>
                <a:path w="557973" h="1007724">
                  <a:moveTo>
                    <a:pt x="278986" y="1007724"/>
                  </a:moveTo>
                  <a:cubicBezTo>
                    <a:pt x="379960" y="1007724"/>
                    <a:pt x="480933" y="969204"/>
                    <a:pt x="557973" y="892164"/>
                  </a:cubicBezTo>
                  <a:lnTo>
                    <a:pt x="557972" y="892164"/>
                  </a:lnTo>
                  <a:cubicBezTo>
                    <a:pt x="712052" y="738084"/>
                    <a:pt x="712052" y="488271"/>
                    <a:pt x="557972" y="334192"/>
                  </a:cubicBezTo>
                  <a:lnTo>
                    <a:pt x="440691" y="216911"/>
                  </a:lnTo>
                  <a:lnTo>
                    <a:pt x="386463" y="0"/>
                  </a:lnTo>
                  <a:lnTo>
                    <a:pt x="160407" y="0"/>
                  </a:lnTo>
                  <a:lnTo>
                    <a:pt x="102479" y="231714"/>
                  </a:lnTo>
                  <a:lnTo>
                    <a:pt x="0" y="334192"/>
                  </a:lnTo>
                  <a:cubicBezTo>
                    <a:pt x="-154080" y="488272"/>
                    <a:pt x="-154080" y="738085"/>
                    <a:pt x="0" y="892164"/>
                  </a:cubicBezTo>
                  <a:cubicBezTo>
                    <a:pt x="77040" y="969204"/>
                    <a:pt x="178013" y="1007724"/>
                    <a:pt x="278986" y="10077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63" name="圆角矩形 19"/>
            <p:cNvSpPr/>
            <p:nvPr/>
          </p:nvSpPr>
          <p:spPr>
            <a:xfrm>
              <a:off x="1894467" y="4697366"/>
              <a:ext cx="228462" cy="189332"/>
            </a:xfrm>
            <a:custGeom>
              <a:avLst/>
              <a:gdLst/>
              <a:ahLst/>
              <a:cxnLst/>
              <a:rect l="l" t="t" r="r" b="b"/>
              <a:pathLst>
                <a:path w="271312" h="224659">
                  <a:moveTo>
                    <a:pt x="3787" y="0"/>
                  </a:moveTo>
                  <a:lnTo>
                    <a:pt x="267525" y="0"/>
                  </a:lnTo>
                  <a:cubicBezTo>
                    <a:pt x="270857" y="5896"/>
                    <a:pt x="271312" y="12275"/>
                    <a:pt x="271312" y="18759"/>
                  </a:cubicBezTo>
                  <a:cubicBezTo>
                    <a:pt x="271312" y="42174"/>
                    <a:pt x="271311" y="65588"/>
                    <a:pt x="271311" y="89003"/>
                  </a:cubicBezTo>
                  <a:cubicBezTo>
                    <a:pt x="271311" y="163924"/>
                    <a:pt x="210576" y="224659"/>
                    <a:pt x="135655" y="224659"/>
                  </a:cubicBezTo>
                  <a:lnTo>
                    <a:pt x="135656" y="224658"/>
                  </a:lnTo>
                  <a:cubicBezTo>
                    <a:pt x="60735" y="224658"/>
                    <a:pt x="0" y="163923"/>
                    <a:pt x="0" y="89002"/>
                  </a:cubicBezTo>
                  <a:lnTo>
                    <a:pt x="0" y="1875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64" name="圆角矩形 15"/>
          <p:cNvSpPr/>
          <p:nvPr/>
        </p:nvSpPr>
        <p:spPr>
          <a:xfrm>
            <a:off x="1135002" y="1558300"/>
            <a:ext cx="963116" cy="944473"/>
          </a:xfrm>
          <a:custGeom>
            <a:avLst/>
            <a:gdLst/>
            <a:ahLst/>
            <a:cxnLst/>
            <a:rect l="l" t="t" r="r" b="b"/>
            <a:pathLst>
              <a:path w="1152128" h="1120888">
                <a:moveTo>
                  <a:pt x="177161" y="54740"/>
                </a:moveTo>
                <a:cubicBezTo>
                  <a:pt x="116198" y="54740"/>
                  <a:pt x="66777" y="104161"/>
                  <a:pt x="66777" y="165124"/>
                </a:cubicBezTo>
                <a:lnTo>
                  <a:pt x="66777" y="606644"/>
                </a:lnTo>
                <a:cubicBezTo>
                  <a:pt x="66777" y="667607"/>
                  <a:pt x="116198" y="717028"/>
                  <a:pt x="177161" y="717028"/>
                </a:cubicBezTo>
                <a:lnTo>
                  <a:pt x="974966" y="717028"/>
                </a:lnTo>
                <a:cubicBezTo>
                  <a:pt x="1035929" y="717028"/>
                  <a:pt x="1085350" y="667607"/>
                  <a:pt x="1085350" y="606644"/>
                </a:cubicBezTo>
                <a:lnTo>
                  <a:pt x="1085350" y="165124"/>
                </a:lnTo>
                <a:cubicBezTo>
                  <a:pt x="1085350" y="104161"/>
                  <a:pt x="1035929" y="54740"/>
                  <a:pt x="974966" y="54740"/>
                </a:cubicBezTo>
                <a:close/>
                <a:moveTo>
                  <a:pt x="144019" y="0"/>
                </a:moveTo>
                <a:lnTo>
                  <a:pt x="1008109" y="0"/>
                </a:lnTo>
                <a:cubicBezTo>
                  <a:pt x="1087648" y="0"/>
                  <a:pt x="1152128" y="64480"/>
                  <a:pt x="1152128" y="144019"/>
                </a:cubicBezTo>
                <a:lnTo>
                  <a:pt x="1152128" y="720077"/>
                </a:lnTo>
                <a:cubicBezTo>
                  <a:pt x="1152128" y="799616"/>
                  <a:pt x="1087648" y="864096"/>
                  <a:pt x="1008109" y="864096"/>
                </a:cubicBezTo>
                <a:lnTo>
                  <a:pt x="731291" y="864096"/>
                </a:lnTo>
                <a:lnTo>
                  <a:pt x="731291" y="1048880"/>
                </a:lnTo>
                <a:lnTo>
                  <a:pt x="863305" y="1048880"/>
                </a:lnTo>
                <a:cubicBezTo>
                  <a:pt x="869934" y="1048880"/>
                  <a:pt x="875307" y="1054253"/>
                  <a:pt x="875307" y="1060882"/>
                </a:cubicBezTo>
                <a:lnTo>
                  <a:pt x="875307" y="1108886"/>
                </a:lnTo>
                <a:cubicBezTo>
                  <a:pt x="875307" y="1115515"/>
                  <a:pt x="869934" y="1120888"/>
                  <a:pt x="863305" y="1120888"/>
                </a:cubicBezTo>
                <a:lnTo>
                  <a:pt x="731291" y="1120888"/>
                </a:lnTo>
                <a:lnTo>
                  <a:pt x="443259" y="1120888"/>
                </a:lnTo>
                <a:lnTo>
                  <a:pt x="311245" y="1120888"/>
                </a:lnTo>
                <a:cubicBezTo>
                  <a:pt x="304616" y="1120888"/>
                  <a:pt x="299243" y="1115515"/>
                  <a:pt x="299243" y="1108886"/>
                </a:cubicBezTo>
                <a:lnTo>
                  <a:pt x="299243" y="1060882"/>
                </a:lnTo>
                <a:cubicBezTo>
                  <a:pt x="299243" y="1054253"/>
                  <a:pt x="304616" y="1048880"/>
                  <a:pt x="311245" y="1048880"/>
                </a:cubicBezTo>
                <a:lnTo>
                  <a:pt x="443259" y="1048880"/>
                </a:lnTo>
                <a:lnTo>
                  <a:pt x="443259" y="864096"/>
                </a:lnTo>
                <a:lnTo>
                  <a:pt x="144019" y="864096"/>
                </a:lnTo>
                <a:cubicBezTo>
                  <a:pt x="64480" y="864096"/>
                  <a:pt x="0" y="799616"/>
                  <a:pt x="0" y="720077"/>
                </a:cubicBezTo>
                <a:lnTo>
                  <a:pt x="0" y="144019"/>
                </a:lnTo>
                <a:cubicBezTo>
                  <a:pt x="0" y="64480"/>
                  <a:pt x="64480" y="0"/>
                  <a:pt x="1440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5" name="圆角右箭头 64"/>
          <p:cNvSpPr/>
          <p:nvPr/>
        </p:nvSpPr>
        <p:spPr>
          <a:xfrm rot="16200000" flipV="1">
            <a:off x="3940936" y="-2091017"/>
            <a:ext cx="1882068" cy="9950406"/>
          </a:xfrm>
          <a:prstGeom prst="bentArrow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3" name="矩形 7"/>
          <p:cNvSpPr>
            <a:spLocks noChangeArrowheads="1"/>
          </p:cNvSpPr>
          <p:nvPr/>
        </p:nvSpPr>
        <p:spPr bwMode="auto">
          <a:xfrm>
            <a:off x="627347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>
                <a:solidFill>
                  <a:srgbClr val="42D2C4"/>
                </a:solidFill>
                <a:latin typeface="Century Gothic" pitchFamily="34" charset="0"/>
              </a:rPr>
              <a:t>网络</a:t>
            </a: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健康的感知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4" name="矩形 7"/>
          <p:cNvSpPr>
            <a:spLocks noChangeArrowheads="1"/>
          </p:cNvSpPr>
          <p:nvPr/>
        </p:nvSpPr>
        <p:spPr bwMode="auto">
          <a:xfrm>
            <a:off x="2560828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全网信息的呈现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5" name="矩形 7"/>
          <p:cNvSpPr>
            <a:spLocks noChangeArrowheads="1"/>
          </p:cNvSpPr>
          <p:nvPr/>
        </p:nvSpPr>
        <p:spPr bwMode="auto">
          <a:xfrm>
            <a:off x="4490949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故障异常的处理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6" name="矩形 7"/>
          <p:cNvSpPr>
            <a:spLocks noChangeArrowheads="1"/>
          </p:cNvSpPr>
          <p:nvPr/>
        </p:nvSpPr>
        <p:spPr bwMode="auto">
          <a:xfrm>
            <a:off x="6451315" y="2795412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网络发展的规划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77" name="图片 7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087" y="1531441"/>
            <a:ext cx="1309350" cy="1679100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297" y="1531441"/>
            <a:ext cx="1309350" cy="1679100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507" y="1531441"/>
            <a:ext cx="1309350" cy="1679100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927" y="1531441"/>
            <a:ext cx="1309350" cy="1679100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7137" y="1533305"/>
            <a:ext cx="1309350" cy="1679100"/>
          </a:xfrm>
          <a:prstGeom prst="rect">
            <a:avLst/>
          </a:prstGeom>
        </p:spPr>
      </p:pic>
      <p:pic>
        <p:nvPicPr>
          <p:cNvPr id="83" name="图片 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6347" y="1531441"/>
            <a:ext cx="1309350" cy="167910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122" y="1414214"/>
            <a:ext cx="1232644" cy="1232644"/>
          </a:xfrm>
          <a:prstGeom prst="rect">
            <a:avLst/>
          </a:prstGeom>
        </p:spPr>
      </p:pic>
      <p:pic>
        <p:nvPicPr>
          <p:cNvPr id="85" name="图片 8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995" y="1319176"/>
            <a:ext cx="1304471" cy="1304471"/>
          </a:xfrm>
          <a:prstGeom prst="rect">
            <a:avLst/>
          </a:prstGeom>
        </p:spPr>
      </p:pic>
      <p:sp>
        <p:nvSpPr>
          <p:cNvPr id="86" name="圆角右箭头 85"/>
          <p:cNvSpPr/>
          <p:nvPr/>
        </p:nvSpPr>
        <p:spPr>
          <a:xfrm rot="16200000" flipH="1">
            <a:off x="6275763" y="-54188"/>
            <a:ext cx="1882068" cy="9950406"/>
          </a:xfrm>
          <a:prstGeom prst="bentArrow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等腰三角形 2"/>
          <p:cNvSpPr/>
          <p:nvPr/>
        </p:nvSpPr>
        <p:spPr>
          <a:xfrm rot="5400000">
            <a:off x="3418552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3" name="矩形 7"/>
          <p:cNvSpPr>
            <a:spLocks noChangeArrowheads="1"/>
          </p:cNvSpPr>
          <p:nvPr/>
        </p:nvSpPr>
        <p:spPr bwMode="auto">
          <a:xfrm>
            <a:off x="5037804" y="637894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信息呈现不直观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94" name="等腰三角形 2"/>
          <p:cNvSpPr/>
          <p:nvPr/>
        </p:nvSpPr>
        <p:spPr>
          <a:xfrm rot="5400000">
            <a:off x="5331589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5" name="等腰三角形 2"/>
          <p:cNvSpPr/>
          <p:nvPr/>
        </p:nvSpPr>
        <p:spPr>
          <a:xfrm rot="5400000">
            <a:off x="7209851" y="4396577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6" name="等腰三角形 2"/>
          <p:cNvSpPr/>
          <p:nvPr/>
        </p:nvSpPr>
        <p:spPr>
          <a:xfrm rot="5400000">
            <a:off x="9145948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pic>
        <p:nvPicPr>
          <p:cNvPr id="1028" name="Picture 4" descr="âsweat iconâçå¾çæç´¢ç»æ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358" y="4639006"/>
            <a:ext cx="1624183" cy="162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矩形 7"/>
          <p:cNvSpPr>
            <a:spLocks noChangeArrowheads="1"/>
          </p:cNvSpPr>
          <p:nvPr/>
        </p:nvSpPr>
        <p:spPr bwMode="auto">
          <a:xfrm>
            <a:off x="3059758" y="636900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问题感知较被动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1030" name="Picture 6" descr="âprivatization iconâçå¾çæç´¢ç»æ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0272" y="4705431"/>
            <a:ext cx="1410788" cy="1410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矩形 7"/>
          <p:cNvSpPr>
            <a:spLocks noChangeArrowheads="1"/>
          </p:cNvSpPr>
          <p:nvPr/>
        </p:nvSpPr>
        <p:spPr bwMode="auto">
          <a:xfrm>
            <a:off x="7015849" y="6370389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故障处理经验化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1032" name="Picture 8" descr="ç¸å³å¾ç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112" y="4689033"/>
            <a:ext cx="1262804" cy="1482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" name="矩形 7"/>
          <p:cNvSpPr>
            <a:spLocks noChangeArrowheads="1"/>
          </p:cNvSpPr>
          <p:nvPr/>
        </p:nvSpPr>
        <p:spPr bwMode="auto">
          <a:xfrm>
            <a:off x="8976670" y="636900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管理手段较传统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09641" y="3259425"/>
            <a:ext cx="1159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 smtClean="0">
                <a:solidFill>
                  <a:schemeClr val="bg1"/>
                </a:solidFill>
              </a:rPr>
              <a:t>问题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7061174" y="3907377"/>
            <a:ext cx="1159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 smtClean="0">
                <a:solidFill>
                  <a:schemeClr val="bg1"/>
                </a:solidFill>
              </a:rPr>
              <a:t>现状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pic>
        <p:nvPicPr>
          <p:cNvPr id="101" name="图片 10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0143" y="1545632"/>
            <a:ext cx="1309350" cy="1679100"/>
          </a:xfrm>
          <a:prstGeom prst="rect">
            <a:avLst/>
          </a:prstGeom>
        </p:spPr>
      </p:pic>
      <p:pic>
        <p:nvPicPr>
          <p:cNvPr id="89" name="图片 8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682" y="4648412"/>
            <a:ext cx="1564167" cy="1564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546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6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9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56" grpId="0" animBg="1"/>
      <p:bldP spid="57" grpId="0" animBg="1"/>
      <p:bldP spid="58" grpId="0" animBg="1"/>
      <p:bldP spid="64" grpId="0" animBg="1"/>
      <p:bldP spid="65" grpId="0" animBg="1"/>
      <p:bldP spid="73" grpId="0"/>
      <p:bldP spid="74" grpId="0"/>
      <p:bldP spid="75" grpId="0"/>
      <p:bldP spid="76" grpId="0"/>
      <p:bldP spid="86" grpId="0" animBg="1"/>
      <p:bldP spid="92" grpId="0" animBg="1"/>
      <p:bldP spid="93" grpId="0"/>
      <p:bldP spid="94" grpId="0" animBg="1"/>
      <p:bldP spid="95" grpId="0" animBg="1"/>
      <p:bldP spid="96" grpId="0" animBg="1"/>
      <p:bldP spid="98" grpId="0"/>
      <p:bldP spid="100" grpId="0"/>
      <p:bldP spid="102" grpId="0"/>
      <p:bldP spid="91" grpId="0"/>
      <p:bldP spid="10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问题感知较被动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6250" y="1895475"/>
            <a:ext cx="272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例：某机房空调出现问题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182" y="2430001"/>
            <a:ext cx="1637131" cy="1637131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>
          <a:xfrm>
            <a:off x="1164182" y="4390768"/>
            <a:ext cx="1710292" cy="205228"/>
          </a:xfrm>
          <a:prstGeom prst="rect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5" name="矩形 7"/>
          <p:cNvSpPr>
            <a:spLocks noChangeArrowheads="1"/>
          </p:cNvSpPr>
          <p:nvPr/>
        </p:nvSpPr>
        <p:spPr bwMode="auto">
          <a:xfrm>
            <a:off x="1351805" y="3902915"/>
            <a:ext cx="126188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第一天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16" name="矩形 6"/>
          <p:cNvSpPr>
            <a:spLocks noChangeArrowheads="1"/>
          </p:cNvSpPr>
          <p:nvPr/>
        </p:nvSpPr>
        <p:spPr bwMode="auto">
          <a:xfrm>
            <a:off x="1351805" y="4700096"/>
            <a:ext cx="125616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指标微有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下降没有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达到阈值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不能发现问题</a:t>
            </a: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lang="zh-CN" altLang="en-US" sz="1400" dirty="0">
              <a:solidFill>
                <a:schemeClr val="bg1"/>
              </a:solidFill>
              <a:latin typeface="Century Gothic" pitchFamily="34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965" y="2563881"/>
            <a:ext cx="1678711" cy="1203377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3762139" y="4390768"/>
            <a:ext cx="1710292" cy="2052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344459" y="4394192"/>
            <a:ext cx="1710292" cy="205228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9050765" y="4394192"/>
            <a:ext cx="1710292" cy="205228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7" name="矩形 7"/>
          <p:cNvSpPr>
            <a:spLocks noChangeArrowheads="1"/>
          </p:cNvSpPr>
          <p:nvPr/>
        </p:nvSpPr>
        <p:spPr bwMode="auto">
          <a:xfrm>
            <a:off x="3637890" y="3867548"/>
            <a:ext cx="198002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第二第三天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28" name="矩形 7"/>
          <p:cNvSpPr>
            <a:spLocks noChangeArrowheads="1"/>
          </p:cNvSpPr>
          <p:nvPr/>
        </p:nvSpPr>
        <p:spPr bwMode="auto">
          <a:xfrm>
            <a:off x="6295446" y="3867548"/>
            <a:ext cx="162095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多天过去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29" name="矩形 7"/>
          <p:cNvSpPr>
            <a:spLocks noChangeArrowheads="1"/>
          </p:cNvSpPr>
          <p:nvPr/>
        </p:nvSpPr>
        <p:spPr bwMode="auto">
          <a:xfrm>
            <a:off x="9454505" y="3896279"/>
            <a:ext cx="90281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最终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30" name="矩形 6"/>
          <p:cNvSpPr>
            <a:spLocks noChangeArrowheads="1"/>
          </p:cNvSpPr>
          <p:nvPr/>
        </p:nvSpPr>
        <p:spPr bwMode="auto">
          <a:xfrm>
            <a:off x="3996128" y="4694385"/>
            <a:ext cx="1256161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指标微有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下降没有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达到阈值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不能发现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9148" y="2248792"/>
            <a:ext cx="1833554" cy="1833554"/>
          </a:xfrm>
          <a:prstGeom prst="rect">
            <a:avLst/>
          </a:prstGeom>
        </p:spPr>
      </p:pic>
      <p:sp>
        <p:nvSpPr>
          <p:cNvPr id="32" name="矩形 6"/>
          <p:cNvSpPr>
            <a:spLocks noChangeArrowheads="1"/>
          </p:cNvSpPr>
          <p:nvPr/>
        </p:nvSpPr>
        <p:spPr bwMode="auto">
          <a:xfrm>
            <a:off x="6571524" y="4694385"/>
            <a:ext cx="12561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仍未发现问题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5754" y="2487045"/>
            <a:ext cx="1523042" cy="1523042"/>
          </a:xfrm>
          <a:prstGeom prst="rect">
            <a:avLst/>
          </a:prstGeom>
        </p:spPr>
      </p:pic>
      <p:sp>
        <p:nvSpPr>
          <p:cNvPr id="34" name="矩形 6"/>
          <p:cNvSpPr>
            <a:spLocks noChangeArrowheads="1"/>
          </p:cNvSpPr>
          <p:nvPr/>
        </p:nvSpPr>
        <p:spPr bwMode="auto">
          <a:xfrm>
            <a:off x="9085648" y="4694385"/>
            <a:ext cx="1640523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接到部分客户投诉，排查原因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可能失去客户量</a:t>
            </a:r>
          </a:p>
        </p:txBody>
      </p:sp>
    </p:spTree>
    <p:extLst>
      <p:ext uri="{BB962C8B-B14F-4D97-AF65-F5344CB8AC3E}">
        <p14:creationId xmlns:p14="http://schemas.microsoft.com/office/powerpoint/2010/main" val="14850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378" y="54873"/>
            <a:ext cx="5148115" cy="6684368"/>
          </a:xfrm>
          <a:prstGeom prst="rect">
            <a:avLst/>
          </a:prstGeom>
        </p:spPr>
      </p:pic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信息呈现不直观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5213708" y="210847"/>
            <a:ext cx="211996" cy="6372421"/>
          </a:xfrm>
          <a:prstGeom prst="leftBrace">
            <a:avLst/>
          </a:prstGeom>
          <a:ln w="1905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616079" y="2516092"/>
            <a:ext cx="5619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>
                <a:solidFill>
                  <a:srgbClr val="42D2C4"/>
                </a:solidFill>
              </a:rPr>
              <a:t>近</a:t>
            </a:r>
            <a:r>
              <a:rPr lang="en-US" altLang="zh-CN" sz="1600" dirty="0" smtClean="0">
                <a:solidFill>
                  <a:srgbClr val="42D2C4"/>
                </a:solidFill>
              </a:rPr>
              <a:t>20</a:t>
            </a:r>
            <a:r>
              <a:rPr lang="zh-CN" altLang="en-US" sz="1600" dirty="0" smtClean="0">
                <a:solidFill>
                  <a:srgbClr val="42D2C4"/>
                </a:solidFill>
              </a:rPr>
              <a:t>项数据表格</a:t>
            </a:r>
            <a:endParaRPr lang="zh-CN" altLang="en-US" sz="1600" dirty="0">
              <a:solidFill>
                <a:srgbClr val="42D2C4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9373726" y="1331651"/>
            <a:ext cx="1605053" cy="4616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237896" y="927061"/>
            <a:ext cx="2135830" cy="49399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615" y="975680"/>
            <a:ext cx="5143048" cy="463551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8130044" y="3003531"/>
            <a:ext cx="1879275" cy="3714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单纯的数据罗列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7253" y="2941411"/>
            <a:ext cx="5476190" cy="2857143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296977" y="4307360"/>
            <a:ext cx="1879275" cy="3714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简单的数据同比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95035" y="2849414"/>
            <a:ext cx="401365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呈现数据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手动整理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通报途径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不够有效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呈现</a:t>
            </a:r>
            <a:r>
              <a:rPr lang="zh-CN" altLang="en-US" sz="2800" b="1" dirty="0">
                <a:solidFill>
                  <a:srgbClr val="42D2C4"/>
                </a:solidFill>
              </a:rPr>
              <a:t>形式</a:t>
            </a:r>
            <a:r>
              <a:rPr lang="zh-CN" altLang="en-US" sz="2800" b="1" dirty="0">
                <a:solidFill>
                  <a:srgbClr val="FFC000"/>
                </a:solidFill>
              </a:rPr>
              <a:t>单一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固化</a:t>
            </a:r>
            <a:endParaRPr lang="en-US" altLang="zh-CN" sz="28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22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6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9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2" grpId="1" animBg="1"/>
      <p:bldP spid="14" grpId="0" animBg="1"/>
      <p:bldP spid="14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故障处理经验化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0045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管理手段较传统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7455" y="2519313"/>
            <a:ext cx="388759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原始表格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手动拆分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数据子表</a:t>
            </a:r>
            <a:r>
              <a:rPr lang="zh-CN" altLang="en-US" sz="2800" b="1" dirty="0">
                <a:solidFill>
                  <a:srgbClr val="FFC000"/>
                </a:solidFill>
              </a:rPr>
              <a:t>手动合并</a:t>
            </a:r>
            <a:endParaRPr lang="en-US" altLang="zh-CN" sz="2800" b="1" dirty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处理过程</a:t>
            </a:r>
            <a:r>
              <a:rPr lang="zh-CN" altLang="en-US" sz="2800" b="1" dirty="0">
                <a:solidFill>
                  <a:srgbClr val="FFC000"/>
                </a:solidFill>
              </a:rPr>
              <a:t>经验指导</a:t>
            </a:r>
            <a:endParaRPr lang="en-US" altLang="zh-CN" sz="2800" b="1" dirty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数据分析</a:t>
            </a:r>
            <a:r>
              <a:rPr lang="zh-CN" altLang="en-US" sz="2800" b="1" dirty="0">
                <a:solidFill>
                  <a:srgbClr val="FFC000"/>
                </a:solidFill>
              </a:rPr>
              <a:t>缺乏深度</a:t>
            </a:r>
            <a:endParaRPr lang="en-US" altLang="zh-CN" sz="2800" b="1" dirty="0">
              <a:solidFill>
                <a:srgbClr val="FFC000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7903" y="1219902"/>
            <a:ext cx="6651994" cy="479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99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2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4781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71101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96293" y="1883121"/>
            <a:ext cx="427578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平台</a:t>
            </a:r>
            <a:r>
              <a:rPr lang="zh-CN" altLang="en-US" dirty="0" smtClean="0">
                <a:solidFill>
                  <a:schemeClr val="bg1"/>
                </a:solidFill>
              </a:rPr>
              <a:t>功能介绍：全景图、网络拓扑、自动化运维、智能运维 用一张大图的形式来说明 尽可能美观全面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包括本部分后面所介绍的各个功能模块</a:t>
            </a:r>
            <a:endParaRPr lang="en-US" altLang="zh-CN" dirty="0" smtClean="0">
              <a:solidFill>
                <a:schemeClr val="bg1"/>
              </a:solidFill>
            </a:endParaRPr>
          </a:p>
          <a:p>
            <a:endParaRPr lang="en-US" altLang="zh-CN" dirty="0">
              <a:solidFill>
                <a:schemeClr val="bg1"/>
              </a:solidFill>
            </a:endParaRPr>
          </a:p>
          <a:p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网络大脑定位：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网络服务模式突破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网络运维方法革新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数据价值体现升级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功能：知全局 深洞察 拓未来 </a:t>
            </a:r>
            <a:endParaRPr lang="en-US" altLang="zh-CN" dirty="0" smtClean="0">
              <a:solidFill>
                <a:schemeClr val="bg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大脑框图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正在制作中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521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29324" y="2323974"/>
            <a:ext cx="2266765" cy="6133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项目目标</a:t>
            </a:r>
            <a:endParaRPr lang="zh-CN" altLang="en-US" sz="3200" b="1" dirty="0"/>
          </a:p>
        </p:txBody>
      </p:sp>
      <p:sp>
        <p:nvSpPr>
          <p:cNvPr id="9" name="矩形 8"/>
          <p:cNvSpPr/>
          <p:nvPr/>
        </p:nvSpPr>
        <p:spPr>
          <a:xfrm>
            <a:off x="624114" y="3816037"/>
            <a:ext cx="3907870" cy="1029511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展现珠海网络情况、能力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实现珠海网络智慧运维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8962730" y="2323974"/>
            <a:ext cx="2266765" cy="613356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平台特征</a:t>
            </a:r>
            <a:endParaRPr lang="zh-CN" altLang="en-US" sz="3200" b="1" dirty="0"/>
          </a:p>
        </p:txBody>
      </p:sp>
      <p:sp>
        <p:nvSpPr>
          <p:cNvPr id="11" name="矩形 10"/>
          <p:cNvSpPr/>
          <p:nvPr/>
        </p:nvSpPr>
        <p:spPr>
          <a:xfrm>
            <a:off x="4896875" y="2323974"/>
            <a:ext cx="2266765" cy="613356"/>
          </a:xfrm>
          <a:prstGeom prst="rect">
            <a:avLst/>
          </a:prstGeom>
          <a:solidFill>
            <a:srgbClr val="007A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平台面向</a:t>
            </a:r>
            <a:endParaRPr lang="zh-CN" altLang="en-US" sz="3200" b="1" dirty="0"/>
          </a:p>
        </p:txBody>
      </p:sp>
      <p:sp>
        <p:nvSpPr>
          <p:cNvPr id="12" name="矩形 11"/>
          <p:cNvSpPr/>
          <p:nvPr/>
        </p:nvSpPr>
        <p:spPr>
          <a:xfrm>
            <a:off x="4704218" y="3311531"/>
            <a:ext cx="2652078" cy="2469905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领导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其它岗位人员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</a:t>
            </a: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人员等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8255593" y="3575001"/>
            <a:ext cx="3598370" cy="1509642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即时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</a:t>
            </a: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全数据</a:t>
            </a:r>
          </a:p>
        </p:txBody>
      </p:sp>
    </p:spTree>
    <p:extLst>
      <p:ext uri="{BB962C8B-B14F-4D97-AF65-F5344CB8AC3E}">
        <p14:creationId xmlns:p14="http://schemas.microsoft.com/office/powerpoint/2010/main" val="1192477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11" grpId="0" animBg="1"/>
      <p:bldP spid="12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âmachine learning white iconâçå¾çæç´¢ç»æ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222" y="1991644"/>
            <a:ext cx="2043499" cy="2043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70" y="2368726"/>
            <a:ext cx="1905000" cy="1905000"/>
          </a:xfrm>
          <a:prstGeom prst="rect">
            <a:avLst/>
          </a:prstGeom>
        </p:spPr>
      </p:pic>
      <p:sp>
        <p:nvSpPr>
          <p:cNvPr id="44" name="文本框 43"/>
          <p:cNvSpPr txBox="1"/>
          <p:nvPr/>
        </p:nvSpPr>
        <p:spPr>
          <a:xfrm>
            <a:off x="1590156" y="3047040"/>
            <a:ext cx="678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b="1" dirty="0" smtClean="0">
                <a:solidFill>
                  <a:srgbClr val="66FF99"/>
                </a:solidFill>
              </a:rPr>
              <a:t>+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582" y="2539224"/>
            <a:ext cx="1357540" cy="1357540"/>
          </a:xfrm>
          <a:prstGeom prst="rect">
            <a:avLst/>
          </a:prstGeom>
        </p:spPr>
      </p:pic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现状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发展方向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437756" y="2894640"/>
            <a:ext cx="678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b="1" dirty="0" smtClean="0"/>
              <a:t>+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4748211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FF0000"/>
                </a:solidFill>
              </a:rPr>
              <a:t>完善</a:t>
            </a:r>
            <a:r>
              <a:rPr lang="zh-CN" altLang="en-US" dirty="0" smtClean="0">
                <a:solidFill>
                  <a:srgbClr val="66FF99"/>
                </a:solidFill>
              </a:rPr>
              <a:t>的自动化运维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32" name="右箭头 31"/>
          <p:cNvSpPr/>
          <p:nvPr/>
        </p:nvSpPr>
        <p:spPr>
          <a:xfrm>
            <a:off x="3618850" y="2901975"/>
            <a:ext cx="986165" cy="547871"/>
          </a:xfrm>
          <a:prstGeom prst="rightArrow">
            <a:avLst/>
          </a:prstGeom>
          <a:solidFill>
            <a:srgbClr val="8C8C8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Picture 8" descr="“Automation icon”的图片搜索结果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2940" y="2337123"/>
            <a:ext cx="1903185" cy="1903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文本框 33"/>
          <p:cNvSpPr txBox="1"/>
          <p:nvPr/>
        </p:nvSpPr>
        <p:spPr>
          <a:xfrm>
            <a:off x="619123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66FF99"/>
                </a:solidFill>
              </a:rPr>
              <a:t>手工</a:t>
            </a:r>
            <a:r>
              <a:rPr lang="en-US" altLang="zh-CN" dirty="0" smtClean="0">
                <a:solidFill>
                  <a:srgbClr val="66FF99"/>
                </a:solidFill>
              </a:rPr>
              <a:t>+</a:t>
            </a:r>
            <a:r>
              <a:rPr lang="zh-CN" altLang="en-US" dirty="0" smtClean="0">
                <a:solidFill>
                  <a:srgbClr val="66FF99"/>
                </a:solidFill>
              </a:rPr>
              <a:t>半自动化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35" name="右箭头 34"/>
          <p:cNvSpPr/>
          <p:nvPr/>
        </p:nvSpPr>
        <p:spPr>
          <a:xfrm>
            <a:off x="7903192" y="2859897"/>
            <a:ext cx="986165" cy="547871"/>
          </a:xfrm>
          <a:prstGeom prst="rightArrow">
            <a:avLst/>
          </a:prstGeom>
          <a:solidFill>
            <a:srgbClr val="1CBDE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6" name="Picture 2" descr="相关图片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683" y="5601348"/>
            <a:ext cx="1253529" cy="1253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文本框 36"/>
          <p:cNvSpPr txBox="1"/>
          <p:nvPr/>
        </p:nvSpPr>
        <p:spPr>
          <a:xfrm>
            <a:off x="9112036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FF0000"/>
                </a:solidFill>
              </a:rPr>
              <a:t>智慧化</a:t>
            </a:r>
            <a:r>
              <a:rPr lang="zh-CN" altLang="en-US" dirty="0" smtClean="0">
                <a:solidFill>
                  <a:srgbClr val="66FF99"/>
                </a:solidFill>
              </a:rPr>
              <a:t>运维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4651723" y="2033938"/>
            <a:ext cx="3209014" cy="2202132"/>
          </a:xfrm>
          <a:prstGeom prst="wedgeRoundRectCallout">
            <a:avLst/>
          </a:prstGeom>
          <a:solidFill>
            <a:srgbClr val="1CBDE8">
              <a:alpha val="9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圆角矩形标注 37"/>
          <p:cNvSpPr/>
          <p:nvPr/>
        </p:nvSpPr>
        <p:spPr>
          <a:xfrm>
            <a:off x="308620" y="2032766"/>
            <a:ext cx="3209014" cy="2202132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/>
          <p:cNvSpPr txBox="1"/>
          <p:nvPr/>
        </p:nvSpPr>
        <p:spPr>
          <a:xfrm>
            <a:off x="4603940" y="2038176"/>
            <a:ext cx="30765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丰富预设脚本仓库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网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管工具系统集成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运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维动作一致有效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运维语言统一清晰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2" name="圆角矩形标注 41"/>
          <p:cNvSpPr/>
          <p:nvPr/>
        </p:nvSpPr>
        <p:spPr>
          <a:xfrm>
            <a:off x="8892847" y="1991644"/>
            <a:ext cx="3209014" cy="2202132"/>
          </a:xfrm>
          <a:prstGeom prst="wedgeRoundRectCallout">
            <a:avLst/>
          </a:prstGeom>
          <a:solidFill>
            <a:schemeClr val="accent1"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" name="文本框 42"/>
          <p:cNvSpPr txBox="1"/>
          <p:nvPr/>
        </p:nvSpPr>
        <p:spPr>
          <a:xfrm>
            <a:off x="8921535" y="1975581"/>
            <a:ext cx="30765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运维规则自主学习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海量数据智能分析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线网故障快速定位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任务分配智能调度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319795" y="2206414"/>
            <a:ext cx="30765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自动流程覆盖有限</a:t>
            </a: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功能类似系统冗余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运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维语言尚未统一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70187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29" grpId="0"/>
      <p:bldP spid="31" grpId="0"/>
      <p:bldP spid="32" grpId="0" animBg="1"/>
      <p:bldP spid="34" grpId="0"/>
      <p:bldP spid="35" grpId="0" animBg="1"/>
      <p:bldP spid="37" grpId="0"/>
      <p:bldP spid="40" grpId="0" animBg="1"/>
      <p:bldP spid="38" grpId="0" animBg="1"/>
      <p:bldP spid="41" grpId="0"/>
      <p:bldP spid="42" grpId="0" animBg="1"/>
      <p:bldP spid="43" grpId="0"/>
      <p:bldP spid="3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34057" y="2958916"/>
            <a:ext cx="375738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endParaRPr lang="en-US" altLang="zh-CN" sz="2000" b="1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数据获取</a:t>
            </a: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：</a:t>
            </a:r>
            <a:endParaRPr lang="en-US" altLang="zh-CN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异源数据统一采集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本地数据结构存储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数据调用一键完成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KSO_Shape"/>
          <p:cNvSpPr/>
          <p:nvPr/>
        </p:nvSpPr>
        <p:spPr bwMode="auto">
          <a:xfrm>
            <a:off x="8379574" y="2448120"/>
            <a:ext cx="1432846" cy="1203635"/>
          </a:xfrm>
          <a:custGeom>
            <a:avLst/>
            <a:gdLst>
              <a:gd name="T0" fmla="*/ 2147483646 w 6057"/>
              <a:gd name="T1" fmla="*/ 2147483646 h 5454"/>
              <a:gd name="T2" fmla="*/ 0 w 6057"/>
              <a:gd name="T3" fmla="*/ 2147483646 h 5454"/>
              <a:gd name="T4" fmla="*/ 0 w 6057"/>
              <a:gd name="T5" fmla="*/ 2147483646 h 5454"/>
              <a:gd name="T6" fmla="*/ 2147483646 w 6057"/>
              <a:gd name="T7" fmla="*/ 2147483646 h 5454"/>
              <a:gd name="T8" fmla="*/ 2147483646 w 6057"/>
              <a:gd name="T9" fmla="*/ 2147483646 h 5454"/>
              <a:gd name="T10" fmla="*/ 2147483646 w 6057"/>
              <a:gd name="T11" fmla="*/ 2147483646 h 5454"/>
              <a:gd name="T12" fmla="*/ 2147483646 w 6057"/>
              <a:gd name="T13" fmla="*/ 2147483646 h 5454"/>
              <a:gd name="T14" fmla="*/ 2147483646 w 6057"/>
              <a:gd name="T15" fmla="*/ 2147483646 h 5454"/>
              <a:gd name="T16" fmla="*/ 2147483646 w 6057"/>
              <a:gd name="T17" fmla="*/ 2147483646 h 5454"/>
              <a:gd name="T18" fmla="*/ 2147483646 w 6057"/>
              <a:gd name="T19" fmla="*/ 2147483646 h 5454"/>
              <a:gd name="T20" fmla="*/ 2147483646 w 6057"/>
              <a:gd name="T21" fmla="*/ 2147483646 h 5454"/>
              <a:gd name="T22" fmla="*/ 2147483646 w 6057"/>
              <a:gd name="T23" fmla="*/ 2147483646 h 5454"/>
              <a:gd name="T24" fmla="*/ 2147483646 w 6057"/>
              <a:gd name="T25" fmla="*/ 2147483646 h 5454"/>
              <a:gd name="T26" fmla="*/ 2147483646 w 6057"/>
              <a:gd name="T27" fmla="*/ 2147483646 h 5454"/>
              <a:gd name="T28" fmla="*/ 2147483646 w 6057"/>
              <a:gd name="T29" fmla="*/ 2147483646 h 5454"/>
              <a:gd name="T30" fmla="*/ 2147483646 w 6057"/>
              <a:gd name="T31" fmla="*/ 2147483646 h 5454"/>
              <a:gd name="T32" fmla="*/ 2147483646 w 6057"/>
              <a:gd name="T33" fmla="*/ 2147483646 h 5454"/>
              <a:gd name="T34" fmla="*/ 2147483646 w 6057"/>
              <a:gd name="T35" fmla="*/ 2147483646 h 5454"/>
              <a:gd name="T36" fmla="*/ 2147483646 w 6057"/>
              <a:gd name="T37" fmla="*/ 2147483646 h 5454"/>
              <a:gd name="T38" fmla="*/ 2147483646 w 6057"/>
              <a:gd name="T39" fmla="*/ 2147483646 h 5454"/>
              <a:gd name="T40" fmla="*/ 2147483646 w 6057"/>
              <a:gd name="T41" fmla="*/ 2147483646 h 5454"/>
              <a:gd name="T42" fmla="*/ 2147483646 w 6057"/>
              <a:gd name="T43" fmla="*/ 2147483646 h 5454"/>
              <a:gd name="T44" fmla="*/ 2147483646 w 6057"/>
              <a:gd name="T45" fmla="*/ 2147483646 h 5454"/>
              <a:gd name="T46" fmla="*/ 2147483646 w 6057"/>
              <a:gd name="T47" fmla="*/ 2147483646 h 5454"/>
              <a:gd name="T48" fmla="*/ 2147483646 w 6057"/>
              <a:gd name="T49" fmla="*/ 2147483646 h 5454"/>
              <a:gd name="T50" fmla="*/ 2147483646 w 6057"/>
              <a:gd name="T51" fmla="*/ 2147483646 h 5454"/>
              <a:gd name="T52" fmla="*/ 2147483646 w 6057"/>
              <a:gd name="T53" fmla="*/ 2147483646 h 5454"/>
              <a:gd name="T54" fmla="*/ 2147483646 w 6057"/>
              <a:gd name="T55" fmla="*/ 2147483646 h 5454"/>
              <a:gd name="T56" fmla="*/ 2147483646 w 6057"/>
              <a:gd name="T57" fmla="*/ 2147483646 h 5454"/>
              <a:gd name="T58" fmla="*/ 2147483646 w 6057"/>
              <a:gd name="T59" fmla="*/ 2147483646 h 5454"/>
              <a:gd name="T60" fmla="*/ 2147483646 w 6057"/>
              <a:gd name="T61" fmla="*/ 2147483646 h 5454"/>
              <a:gd name="T62" fmla="*/ 2147483646 w 6057"/>
              <a:gd name="T63" fmla="*/ 2147483646 h 5454"/>
              <a:gd name="T64" fmla="*/ 2147483646 w 6057"/>
              <a:gd name="T65" fmla="*/ 2147483646 h 5454"/>
              <a:gd name="T66" fmla="*/ 2147483646 w 6057"/>
              <a:gd name="T67" fmla="*/ 2147483646 h 5454"/>
              <a:gd name="T68" fmla="*/ 2147483646 w 6057"/>
              <a:gd name="T69" fmla="*/ 2147483646 h 5454"/>
              <a:gd name="T70" fmla="*/ 2147483646 w 6057"/>
              <a:gd name="T71" fmla="*/ 2147483646 h 5454"/>
              <a:gd name="T72" fmla="*/ 2147483646 w 6057"/>
              <a:gd name="T73" fmla="*/ 2147483646 h 5454"/>
              <a:gd name="T74" fmla="*/ 2147483646 w 6057"/>
              <a:gd name="T75" fmla="*/ 2147483646 h 5454"/>
              <a:gd name="T76" fmla="*/ 2147483646 w 6057"/>
              <a:gd name="T77" fmla="*/ 0 h 5454"/>
              <a:gd name="T78" fmla="*/ 2147483646 w 6057"/>
              <a:gd name="T79" fmla="*/ 2147483646 h 5454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</a:gdLst>
            <a:ahLst/>
            <a:cxnLst>
              <a:cxn ang="T80">
                <a:pos x="T0" y="T1"/>
              </a:cxn>
              <a:cxn ang="T81">
                <a:pos x="T2" y="T3"/>
              </a:cxn>
              <a:cxn ang="T82">
                <a:pos x="T4" y="T5"/>
              </a:cxn>
              <a:cxn ang="T83">
                <a:pos x="T6" y="T7"/>
              </a:cxn>
              <a:cxn ang="T84">
                <a:pos x="T8" y="T9"/>
              </a:cxn>
              <a:cxn ang="T85">
                <a:pos x="T10" y="T11"/>
              </a:cxn>
              <a:cxn ang="T86">
                <a:pos x="T12" y="T13"/>
              </a:cxn>
              <a:cxn ang="T87">
                <a:pos x="T14" y="T15"/>
              </a:cxn>
              <a:cxn ang="T88">
                <a:pos x="T16" y="T17"/>
              </a:cxn>
              <a:cxn ang="T89">
                <a:pos x="T18" y="T19"/>
              </a:cxn>
              <a:cxn ang="T90">
                <a:pos x="T20" y="T21"/>
              </a:cxn>
              <a:cxn ang="T91">
                <a:pos x="T22" y="T23"/>
              </a:cxn>
              <a:cxn ang="T92">
                <a:pos x="T24" y="T25"/>
              </a:cxn>
              <a:cxn ang="T93">
                <a:pos x="T26" y="T27"/>
              </a:cxn>
              <a:cxn ang="T94">
                <a:pos x="T28" y="T29"/>
              </a:cxn>
              <a:cxn ang="T95">
                <a:pos x="T30" y="T31"/>
              </a:cxn>
              <a:cxn ang="T96">
                <a:pos x="T32" y="T33"/>
              </a:cxn>
              <a:cxn ang="T97">
                <a:pos x="T34" y="T35"/>
              </a:cxn>
              <a:cxn ang="T98">
                <a:pos x="T36" y="T37"/>
              </a:cxn>
              <a:cxn ang="T99">
                <a:pos x="T38" y="T39"/>
              </a:cxn>
              <a:cxn ang="T100">
                <a:pos x="T40" y="T41"/>
              </a:cxn>
              <a:cxn ang="T101">
                <a:pos x="T42" y="T43"/>
              </a:cxn>
              <a:cxn ang="T102">
                <a:pos x="T44" y="T45"/>
              </a:cxn>
              <a:cxn ang="T103">
                <a:pos x="T46" y="T47"/>
              </a:cxn>
              <a:cxn ang="T104">
                <a:pos x="T48" y="T49"/>
              </a:cxn>
              <a:cxn ang="T105">
                <a:pos x="T50" y="T51"/>
              </a:cxn>
              <a:cxn ang="T106">
                <a:pos x="T52" y="T53"/>
              </a:cxn>
              <a:cxn ang="T107">
                <a:pos x="T54" y="T55"/>
              </a:cxn>
              <a:cxn ang="T108">
                <a:pos x="T56" y="T57"/>
              </a:cxn>
              <a:cxn ang="T109">
                <a:pos x="T58" y="T59"/>
              </a:cxn>
              <a:cxn ang="T110">
                <a:pos x="T60" y="T61"/>
              </a:cxn>
              <a:cxn ang="T111">
                <a:pos x="T62" y="T63"/>
              </a:cxn>
              <a:cxn ang="T112">
                <a:pos x="T64" y="T65"/>
              </a:cxn>
              <a:cxn ang="T113">
                <a:pos x="T66" y="T67"/>
              </a:cxn>
              <a:cxn ang="T114">
                <a:pos x="T68" y="T69"/>
              </a:cxn>
              <a:cxn ang="T115">
                <a:pos x="T70" y="T71"/>
              </a:cxn>
              <a:cxn ang="T116">
                <a:pos x="T72" y="T73"/>
              </a:cxn>
              <a:cxn ang="T117">
                <a:pos x="T74" y="T75"/>
              </a:cxn>
              <a:cxn ang="T118">
                <a:pos x="T76" y="T77"/>
              </a:cxn>
              <a:cxn ang="T119">
                <a:pos x="T78" y="T79"/>
              </a:cxn>
            </a:cxnLst>
            <a:rect l="0" t="0" r="r" b="b"/>
            <a:pathLst>
              <a:path w="6057" h="5454">
                <a:moveTo>
                  <a:pt x="0" y="959"/>
                </a:moveTo>
                <a:lnTo>
                  <a:pt x="1930" y="1981"/>
                </a:lnTo>
                <a:lnTo>
                  <a:pt x="1930" y="5454"/>
                </a:lnTo>
                <a:lnTo>
                  <a:pt x="0" y="4432"/>
                </a:lnTo>
                <a:lnTo>
                  <a:pt x="0" y="959"/>
                </a:lnTo>
                <a:close/>
                <a:moveTo>
                  <a:pt x="3263" y="849"/>
                </a:moveTo>
                <a:lnTo>
                  <a:pt x="3260" y="1196"/>
                </a:lnTo>
                <a:lnTo>
                  <a:pt x="3082" y="1115"/>
                </a:lnTo>
                <a:lnTo>
                  <a:pt x="3082" y="871"/>
                </a:lnTo>
                <a:lnTo>
                  <a:pt x="2883" y="783"/>
                </a:lnTo>
                <a:lnTo>
                  <a:pt x="2883" y="1024"/>
                </a:lnTo>
                <a:lnTo>
                  <a:pt x="1772" y="520"/>
                </a:lnTo>
                <a:lnTo>
                  <a:pt x="269" y="883"/>
                </a:lnTo>
                <a:lnTo>
                  <a:pt x="2160" y="1837"/>
                </a:lnTo>
                <a:lnTo>
                  <a:pt x="2149" y="5385"/>
                </a:lnTo>
                <a:lnTo>
                  <a:pt x="3705" y="4796"/>
                </a:lnTo>
                <a:lnTo>
                  <a:pt x="3705" y="4070"/>
                </a:lnTo>
                <a:lnTo>
                  <a:pt x="4114" y="3933"/>
                </a:lnTo>
                <a:lnTo>
                  <a:pt x="4114" y="4296"/>
                </a:lnTo>
                <a:lnTo>
                  <a:pt x="4599" y="4524"/>
                </a:lnTo>
                <a:lnTo>
                  <a:pt x="5626" y="4144"/>
                </a:lnTo>
                <a:lnTo>
                  <a:pt x="5627" y="4077"/>
                </a:lnTo>
                <a:lnTo>
                  <a:pt x="5122" y="3921"/>
                </a:lnTo>
                <a:lnTo>
                  <a:pt x="5122" y="3593"/>
                </a:lnTo>
                <a:lnTo>
                  <a:pt x="6057" y="3278"/>
                </a:lnTo>
                <a:lnTo>
                  <a:pt x="6057" y="95"/>
                </a:lnTo>
                <a:lnTo>
                  <a:pt x="3263" y="849"/>
                </a:lnTo>
                <a:close/>
                <a:moveTo>
                  <a:pt x="3705" y="3759"/>
                </a:moveTo>
                <a:lnTo>
                  <a:pt x="3705" y="2603"/>
                </a:lnTo>
                <a:lnTo>
                  <a:pt x="2433" y="2997"/>
                </a:lnTo>
                <a:lnTo>
                  <a:pt x="2433" y="2598"/>
                </a:lnTo>
                <a:lnTo>
                  <a:pt x="3705" y="2204"/>
                </a:lnTo>
                <a:lnTo>
                  <a:pt x="3705" y="1972"/>
                </a:lnTo>
                <a:lnTo>
                  <a:pt x="2433" y="2365"/>
                </a:lnTo>
                <a:lnTo>
                  <a:pt x="2433" y="1966"/>
                </a:lnTo>
                <a:lnTo>
                  <a:pt x="3705" y="1574"/>
                </a:lnTo>
                <a:lnTo>
                  <a:pt x="3705" y="1397"/>
                </a:lnTo>
                <a:lnTo>
                  <a:pt x="3614" y="1356"/>
                </a:lnTo>
                <a:lnTo>
                  <a:pt x="3617" y="1043"/>
                </a:lnTo>
                <a:lnTo>
                  <a:pt x="5797" y="461"/>
                </a:lnTo>
                <a:lnTo>
                  <a:pt x="5797" y="3054"/>
                </a:lnTo>
                <a:lnTo>
                  <a:pt x="3705" y="3759"/>
                </a:lnTo>
                <a:close/>
                <a:moveTo>
                  <a:pt x="215" y="1434"/>
                </a:moveTo>
                <a:lnTo>
                  <a:pt x="215" y="1579"/>
                </a:lnTo>
                <a:lnTo>
                  <a:pt x="862" y="1925"/>
                </a:lnTo>
                <a:lnTo>
                  <a:pt x="862" y="1780"/>
                </a:lnTo>
                <a:lnTo>
                  <a:pt x="215" y="1434"/>
                </a:lnTo>
                <a:close/>
                <a:moveTo>
                  <a:pt x="215" y="1909"/>
                </a:moveTo>
                <a:lnTo>
                  <a:pt x="215" y="2053"/>
                </a:lnTo>
                <a:lnTo>
                  <a:pt x="862" y="2399"/>
                </a:lnTo>
                <a:lnTo>
                  <a:pt x="862" y="2255"/>
                </a:lnTo>
                <a:lnTo>
                  <a:pt x="215" y="1909"/>
                </a:lnTo>
                <a:close/>
                <a:moveTo>
                  <a:pt x="215" y="1670"/>
                </a:moveTo>
                <a:lnTo>
                  <a:pt x="215" y="1814"/>
                </a:lnTo>
                <a:lnTo>
                  <a:pt x="862" y="2160"/>
                </a:lnTo>
                <a:lnTo>
                  <a:pt x="862" y="2016"/>
                </a:lnTo>
                <a:lnTo>
                  <a:pt x="215" y="1670"/>
                </a:lnTo>
                <a:close/>
                <a:moveTo>
                  <a:pt x="2458" y="3255"/>
                </a:moveTo>
                <a:lnTo>
                  <a:pt x="2820" y="3153"/>
                </a:lnTo>
                <a:lnTo>
                  <a:pt x="2820" y="3376"/>
                </a:lnTo>
                <a:lnTo>
                  <a:pt x="2458" y="3478"/>
                </a:lnTo>
                <a:lnTo>
                  <a:pt x="2458" y="3255"/>
                </a:lnTo>
                <a:close/>
                <a:moveTo>
                  <a:pt x="2458" y="3645"/>
                </a:moveTo>
                <a:lnTo>
                  <a:pt x="2820" y="3543"/>
                </a:lnTo>
                <a:lnTo>
                  <a:pt x="2820" y="3764"/>
                </a:lnTo>
                <a:lnTo>
                  <a:pt x="2458" y="3867"/>
                </a:lnTo>
                <a:lnTo>
                  <a:pt x="2458" y="3645"/>
                </a:lnTo>
                <a:close/>
                <a:moveTo>
                  <a:pt x="3097" y="793"/>
                </a:moveTo>
                <a:lnTo>
                  <a:pt x="2938" y="714"/>
                </a:lnTo>
                <a:lnTo>
                  <a:pt x="5774" y="0"/>
                </a:lnTo>
                <a:lnTo>
                  <a:pt x="5915" y="61"/>
                </a:lnTo>
                <a:lnTo>
                  <a:pt x="3097" y="79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KSO_Shape"/>
          <p:cNvSpPr/>
          <p:nvPr/>
        </p:nvSpPr>
        <p:spPr>
          <a:xfrm>
            <a:off x="6089450" y="3088089"/>
            <a:ext cx="1021276" cy="825399"/>
          </a:xfrm>
          <a:custGeom>
            <a:avLst/>
            <a:gdLst>
              <a:gd name="connsiteX0" fmla="*/ 876522 w 1879600"/>
              <a:gd name="connsiteY0" fmla="*/ 1026915 h 1901723"/>
              <a:gd name="connsiteX1" fmla="*/ 1879600 w 1879600"/>
              <a:gd name="connsiteY1" fmla="*/ 1035310 h 1901723"/>
              <a:gd name="connsiteX2" fmla="*/ 1879600 w 1879600"/>
              <a:gd name="connsiteY2" fmla="*/ 1901723 h 1901723"/>
              <a:gd name="connsiteX3" fmla="*/ 876522 w 1879600"/>
              <a:gd name="connsiteY3" fmla="*/ 1775813 h 1901723"/>
              <a:gd name="connsiteX4" fmla="*/ 0 w 1879600"/>
              <a:gd name="connsiteY4" fmla="*/ 1014080 h 1901723"/>
              <a:gd name="connsiteX5" fmla="*/ 717549 w 1879600"/>
              <a:gd name="connsiteY5" fmla="*/ 1026818 h 1901723"/>
              <a:gd name="connsiteX6" fmla="*/ 717549 w 1879600"/>
              <a:gd name="connsiteY6" fmla="*/ 1753167 h 1901723"/>
              <a:gd name="connsiteX7" fmla="*/ 0 w 1879600"/>
              <a:gd name="connsiteY7" fmla="*/ 1642117 h 1901723"/>
              <a:gd name="connsiteX8" fmla="*/ 717549 w 1879600"/>
              <a:gd name="connsiteY8" fmla="*/ 159389 h 1901723"/>
              <a:gd name="connsiteX9" fmla="*/ 717549 w 1879600"/>
              <a:gd name="connsiteY9" fmla="*/ 883871 h 1901723"/>
              <a:gd name="connsiteX10" fmla="*/ 0 w 1879600"/>
              <a:gd name="connsiteY10" fmla="*/ 908194 h 1901723"/>
              <a:gd name="connsiteX11" fmla="*/ 0 w 1879600"/>
              <a:gd name="connsiteY11" fmla="*/ 256684 h 1901723"/>
              <a:gd name="connsiteX12" fmla="*/ 1879600 w 1879600"/>
              <a:gd name="connsiteY12" fmla="*/ 0 h 1901723"/>
              <a:gd name="connsiteX13" fmla="*/ 1879600 w 1879600"/>
              <a:gd name="connsiteY13" fmla="*/ 872112 h 1901723"/>
              <a:gd name="connsiteX14" fmla="*/ 879497 w 1879600"/>
              <a:gd name="connsiteY14" fmla="*/ 880660 h 1901723"/>
              <a:gd name="connsiteX15" fmla="*/ 876522 w 1879600"/>
              <a:gd name="connsiteY15" fmla="*/ 626314 h 1901723"/>
              <a:gd name="connsiteX16" fmla="*/ 876522 w 1879600"/>
              <a:gd name="connsiteY16" fmla="*/ 144511 h 1901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79600" h="1901723">
                <a:moveTo>
                  <a:pt x="876522" y="1026915"/>
                </a:moveTo>
                <a:lnTo>
                  <a:pt x="1879600" y="1035310"/>
                </a:lnTo>
                <a:lnTo>
                  <a:pt x="1879600" y="1901723"/>
                </a:lnTo>
                <a:lnTo>
                  <a:pt x="876522" y="1775813"/>
                </a:lnTo>
                <a:close/>
                <a:moveTo>
                  <a:pt x="0" y="1014080"/>
                </a:moveTo>
                <a:lnTo>
                  <a:pt x="717549" y="1026818"/>
                </a:lnTo>
                <a:lnTo>
                  <a:pt x="717549" y="1753167"/>
                </a:lnTo>
                <a:lnTo>
                  <a:pt x="0" y="1642117"/>
                </a:lnTo>
                <a:close/>
                <a:moveTo>
                  <a:pt x="717549" y="159389"/>
                </a:moveTo>
                <a:lnTo>
                  <a:pt x="717549" y="883871"/>
                </a:lnTo>
                <a:lnTo>
                  <a:pt x="0" y="908194"/>
                </a:lnTo>
                <a:lnTo>
                  <a:pt x="0" y="256684"/>
                </a:lnTo>
                <a:close/>
                <a:moveTo>
                  <a:pt x="1879600" y="0"/>
                </a:moveTo>
                <a:lnTo>
                  <a:pt x="1879600" y="872112"/>
                </a:lnTo>
                <a:lnTo>
                  <a:pt x="879497" y="880660"/>
                </a:lnTo>
                <a:lnTo>
                  <a:pt x="876522" y="626314"/>
                </a:lnTo>
                <a:lnTo>
                  <a:pt x="876522" y="144511"/>
                </a:ln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KSO_Shape"/>
          <p:cNvSpPr/>
          <p:nvPr/>
        </p:nvSpPr>
        <p:spPr bwMode="auto">
          <a:xfrm>
            <a:off x="4006879" y="247656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cxnSp>
        <p:nvCxnSpPr>
          <p:cNvPr id="13" name="直接连接符 12"/>
          <p:cNvCxnSpPr/>
          <p:nvPr/>
        </p:nvCxnSpPr>
        <p:spPr>
          <a:xfrm>
            <a:off x="5643426" y="2143353"/>
            <a:ext cx="36195" cy="3771900"/>
          </a:xfrm>
          <a:prstGeom prst="line">
            <a:avLst/>
          </a:prstGeom>
          <a:ln w="19050" cmpd="sng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7989751" y="1999208"/>
            <a:ext cx="43180" cy="3641725"/>
          </a:xfrm>
          <a:prstGeom prst="line">
            <a:avLst/>
          </a:prstGeom>
          <a:ln w="19050" cmpd="sng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168033" y="3433718"/>
            <a:ext cx="895985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6155588" y="2842047"/>
            <a:ext cx="9541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数据采集系统</a:t>
            </a:r>
            <a:endParaRPr lang="zh-CN" altLang="en-US" sz="1000" b="1" dirty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KSO_Shape"/>
          <p:cNvSpPr/>
          <p:nvPr/>
        </p:nvSpPr>
        <p:spPr bwMode="auto">
          <a:xfrm>
            <a:off x="8549754" y="4372805"/>
            <a:ext cx="1432846" cy="1203635"/>
          </a:xfrm>
          <a:custGeom>
            <a:avLst/>
            <a:gdLst>
              <a:gd name="T0" fmla="*/ 2147483646 w 6057"/>
              <a:gd name="T1" fmla="*/ 2147483646 h 5454"/>
              <a:gd name="T2" fmla="*/ 0 w 6057"/>
              <a:gd name="T3" fmla="*/ 2147483646 h 5454"/>
              <a:gd name="T4" fmla="*/ 0 w 6057"/>
              <a:gd name="T5" fmla="*/ 2147483646 h 5454"/>
              <a:gd name="T6" fmla="*/ 2147483646 w 6057"/>
              <a:gd name="T7" fmla="*/ 2147483646 h 5454"/>
              <a:gd name="T8" fmla="*/ 2147483646 w 6057"/>
              <a:gd name="T9" fmla="*/ 2147483646 h 5454"/>
              <a:gd name="T10" fmla="*/ 2147483646 w 6057"/>
              <a:gd name="T11" fmla="*/ 2147483646 h 5454"/>
              <a:gd name="T12" fmla="*/ 2147483646 w 6057"/>
              <a:gd name="T13" fmla="*/ 2147483646 h 5454"/>
              <a:gd name="T14" fmla="*/ 2147483646 w 6057"/>
              <a:gd name="T15" fmla="*/ 2147483646 h 5454"/>
              <a:gd name="T16" fmla="*/ 2147483646 w 6057"/>
              <a:gd name="T17" fmla="*/ 2147483646 h 5454"/>
              <a:gd name="T18" fmla="*/ 2147483646 w 6057"/>
              <a:gd name="T19" fmla="*/ 2147483646 h 5454"/>
              <a:gd name="T20" fmla="*/ 2147483646 w 6057"/>
              <a:gd name="T21" fmla="*/ 2147483646 h 5454"/>
              <a:gd name="T22" fmla="*/ 2147483646 w 6057"/>
              <a:gd name="T23" fmla="*/ 2147483646 h 5454"/>
              <a:gd name="T24" fmla="*/ 2147483646 w 6057"/>
              <a:gd name="T25" fmla="*/ 2147483646 h 5454"/>
              <a:gd name="T26" fmla="*/ 2147483646 w 6057"/>
              <a:gd name="T27" fmla="*/ 2147483646 h 5454"/>
              <a:gd name="T28" fmla="*/ 2147483646 w 6057"/>
              <a:gd name="T29" fmla="*/ 2147483646 h 5454"/>
              <a:gd name="T30" fmla="*/ 2147483646 w 6057"/>
              <a:gd name="T31" fmla="*/ 2147483646 h 5454"/>
              <a:gd name="T32" fmla="*/ 2147483646 w 6057"/>
              <a:gd name="T33" fmla="*/ 2147483646 h 5454"/>
              <a:gd name="T34" fmla="*/ 2147483646 w 6057"/>
              <a:gd name="T35" fmla="*/ 2147483646 h 5454"/>
              <a:gd name="T36" fmla="*/ 2147483646 w 6057"/>
              <a:gd name="T37" fmla="*/ 2147483646 h 5454"/>
              <a:gd name="T38" fmla="*/ 2147483646 w 6057"/>
              <a:gd name="T39" fmla="*/ 2147483646 h 5454"/>
              <a:gd name="T40" fmla="*/ 2147483646 w 6057"/>
              <a:gd name="T41" fmla="*/ 2147483646 h 5454"/>
              <a:gd name="T42" fmla="*/ 2147483646 w 6057"/>
              <a:gd name="T43" fmla="*/ 2147483646 h 5454"/>
              <a:gd name="T44" fmla="*/ 2147483646 w 6057"/>
              <a:gd name="T45" fmla="*/ 2147483646 h 5454"/>
              <a:gd name="T46" fmla="*/ 2147483646 w 6057"/>
              <a:gd name="T47" fmla="*/ 2147483646 h 5454"/>
              <a:gd name="T48" fmla="*/ 2147483646 w 6057"/>
              <a:gd name="T49" fmla="*/ 2147483646 h 5454"/>
              <a:gd name="T50" fmla="*/ 2147483646 w 6057"/>
              <a:gd name="T51" fmla="*/ 2147483646 h 5454"/>
              <a:gd name="T52" fmla="*/ 2147483646 w 6057"/>
              <a:gd name="T53" fmla="*/ 2147483646 h 5454"/>
              <a:gd name="T54" fmla="*/ 2147483646 w 6057"/>
              <a:gd name="T55" fmla="*/ 2147483646 h 5454"/>
              <a:gd name="T56" fmla="*/ 2147483646 w 6057"/>
              <a:gd name="T57" fmla="*/ 2147483646 h 5454"/>
              <a:gd name="T58" fmla="*/ 2147483646 w 6057"/>
              <a:gd name="T59" fmla="*/ 2147483646 h 5454"/>
              <a:gd name="T60" fmla="*/ 2147483646 w 6057"/>
              <a:gd name="T61" fmla="*/ 2147483646 h 5454"/>
              <a:gd name="T62" fmla="*/ 2147483646 w 6057"/>
              <a:gd name="T63" fmla="*/ 2147483646 h 5454"/>
              <a:gd name="T64" fmla="*/ 2147483646 w 6057"/>
              <a:gd name="T65" fmla="*/ 2147483646 h 5454"/>
              <a:gd name="T66" fmla="*/ 2147483646 w 6057"/>
              <a:gd name="T67" fmla="*/ 2147483646 h 5454"/>
              <a:gd name="T68" fmla="*/ 2147483646 w 6057"/>
              <a:gd name="T69" fmla="*/ 2147483646 h 5454"/>
              <a:gd name="T70" fmla="*/ 2147483646 w 6057"/>
              <a:gd name="T71" fmla="*/ 2147483646 h 5454"/>
              <a:gd name="T72" fmla="*/ 2147483646 w 6057"/>
              <a:gd name="T73" fmla="*/ 2147483646 h 5454"/>
              <a:gd name="T74" fmla="*/ 2147483646 w 6057"/>
              <a:gd name="T75" fmla="*/ 2147483646 h 5454"/>
              <a:gd name="T76" fmla="*/ 2147483646 w 6057"/>
              <a:gd name="T77" fmla="*/ 0 h 5454"/>
              <a:gd name="T78" fmla="*/ 2147483646 w 6057"/>
              <a:gd name="T79" fmla="*/ 2147483646 h 5454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</a:gdLst>
            <a:ahLst/>
            <a:cxnLst>
              <a:cxn ang="T80">
                <a:pos x="T0" y="T1"/>
              </a:cxn>
              <a:cxn ang="T81">
                <a:pos x="T2" y="T3"/>
              </a:cxn>
              <a:cxn ang="T82">
                <a:pos x="T4" y="T5"/>
              </a:cxn>
              <a:cxn ang="T83">
                <a:pos x="T6" y="T7"/>
              </a:cxn>
              <a:cxn ang="T84">
                <a:pos x="T8" y="T9"/>
              </a:cxn>
              <a:cxn ang="T85">
                <a:pos x="T10" y="T11"/>
              </a:cxn>
              <a:cxn ang="T86">
                <a:pos x="T12" y="T13"/>
              </a:cxn>
              <a:cxn ang="T87">
                <a:pos x="T14" y="T15"/>
              </a:cxn>
              <a:cxn ang="T88">
                <a:pos x="T16" y="T17"/>
              </a:cxn>
              <a:cxn ang="T89">
                <a:pos x="T18" y="T19"/>
              </a:cxn>
              <a:cxn ang="T90">
                <a:pos x="T20" y="T21"/>
              </a:cxn>
              <a:cxn ang="T91">
                <a:pos x="T22" y="T23"/>
              </a:cxn>
              <a:cxn ang="T92">
                <a:pos x="T24" y="T25"/>
              </a:cxn>
              <a:cxn ang="T93">
                <a:pos x="T26" y="T27"/>
              </a:cxn>
              <a:cxn ang="T94">
                <a:pos x="T28" y="T29"/>
              </a:cxn>
              <a:cxn ang="T95">
                <a:pos x="T30" y="T31"/>
              </a:cxn>
              <a:cxn ang="T96">
                <a:pos x="T32" y="T33"/>
              </a:cxn>
              <a:cxn ang="T97">
                <a:pos x="T34" y="T35"/>
              </a:cxn>
              <a:cxn ang="T98">
                <a:pos x="T36" y="T37"/>
              </a:cxn>
              <a:cxn ang="T99">
                <a:pos x="T38" y="T39"/>
              </a:cxn>
              <a:cxn ang="T100">
                <a:pos x="T40" y="T41"/>
              </a:cxn>
              <a:cxn ang="T101">
                <a:pos x="T42" y="T43"/>
              </a:cxn>
              <a:cxn ang="T102">
                <a:pos x="T44" y="T45"/>
              </a:cxn>
              <a:cxn ang="T103">
                <a:pos x="T46" y="T47"/>
              </a:cxn>
              <a:cxn ang="T104">
                <a:pos x="T48" y="T49"/>
              </a:cxn>
              <a:cxn ang="T105">
                <a:pos x="T50" y="T51"/>
              </a:cxn>
              <a:cxn ang="T106">
                <a:pos x="T52" y="T53"/>
              </a:cxn>
              <a:cxn ang="T107">
                <a:pos x="T54" y="T55"/>
              </a:cxn>
              <a:cxn ang="T108">
                <a:pos x="T56" y="T57"/>
              </a:cxn>
              <a:cxn ang="T109">
                <a:pos x="T58" y="T59"/>
              </a:cxn>
              <a:cxn ang="T110">
                <a:pos x="T60" y="T61"/>
              </a:cxn>
              <a:cxn ang="T111">
                <a:pos x="T62" y="T63"/>
              </a:cxn>
              <a:cxn ang="T112">
                <a:pos x="T64" y="T65"/>
              </a:cxn>
              <a:cxn ang="T113">
                <a:pos x="T66" y="T67"/>
              </a:cxn>
              <a:cxn ang="T114">
                <a:pos x="T68" y="T69"/>
              </a:cxn>
              <a:cxn ang="T115">
                <a:pos x="T70" y="T71"/>
              </a:cxn>
              <a:cxn ang="T116">
                <a:pos x="T72" y="T73"/>
              </a:cxn>
              <a:cxn ang="T117">
                <a:pos x="T74" y="T75"/>
              </a:cxn>
              <a:cxn ang="T118">
                <a:pos x="T76" y="T77"/>
              </a:cxn>
              <a:cxn ang="T119">
                <a:pos x="T78" y="T79"/>
              </a:cxn>
            </a:cxnLst>
            <a:rect l="0" t="0" r="r" b="b"/>
            <a:pathLst>
              <a:path w="6057" h="5454">
                <a:moveTo>
                  <a:pt x="0" y="959"/>
                </a:moveTo>
                <a:lnTo>
                  <a:pt x="1930" y="1981"/>
                </a:lnTo>
                <a:lnTo>
                  <a:pt x="1930" y="5454"/>
                </a:lnTo>
                <a:lnTo>
                  <a:pt x="0" y="4432"/>
                </a:lnTo>
                <a:lnTo>
                  <a:pt x="0" y="959"/>
                </a:lnTo>
                <a:close/>
                <a:moveTo>
                  <a:pt x="3263" y="849"/>
                </a:moveTo>
                <a:lnTo>
                  <a:pt x="3260" y="1196"/>
                </a:lnTo>
                <a:lnTo>
                  <a:pt x="3082" y="1115"/>
                </a:lnTo>
                <a:lnTo>
                  <a:pt x="3082" y="871"/>
                </a:lnTo>
                <a:lnTo>
                  <a:pt x="2883" y="783"/>
                </a:lnTo>
                <a:lnTo>
                  <a:pt x="2883" y="1024"/>
                </a:lnTo>
                <a:lnTo>
                  <a:pt x="1772" y="520"/>
                </a:lnTo>
                <a:lnTo>
                  <a:pt x="269" y="883"/>
                </a:lnTo>
                <a:lnTo>
                  <a:pt x="2160" y="1837"/>
                </a:lnTo>
                <a:lnTo>
                  <a:pt x="2149" y="5385"/>
                </a:lnTo>
                <a:lnTo>
                  <a:pt x="3705" y="4796"/>
                </a:lnTo>
                <a:lnTo>
                  <a:pt x="3705" y="4070"/>
                </a:lnTo>
                <a:lnTo>
                  <a:pt x="4114" y="3933"/>
                </a:lnTo>
                <a:lnTo>
                  <a:pt x="4114" y="4296"/>
                </a:lnTo>
                <a:lnTo>
                  <a:pt x="4599" y="4524"/>
                </a:lnTo>
                <a:lnTo>
                  <a:pt x="5626" y="4144"/>
                </a:lnTo>
                <a:lnTo>
                  <a:pt x="5627" y="4077"/>
                </a:lnTo>
                <a:lnTo>
                  <a:pt x="5122" y="3921"/>
                </a:lnTo>
                <a:lnTo>
                  <a:pt x="5122" y="3593"/>
                </a:lnTo>
                <a:lnTo>
                  <a:pt x="6057" y="3278"/>
                </a:lnTo>
                <a:lnTo>
                  <a:pt x="6057" y="95"/>
                </a:lnTo>
                <a:lnTo>
                  <a:pt x="3263" y="849"/>
                </a:lnTo>
                <a:close/>
                <a:moveTo>
                  <a:pt x="3705" y="3759"/>
                </a:moveTo>
                <a:lnTo>
                  <a:pt x="3705" y="2603"/>
                </a:lnTo>
                <a:lnTo>
                  <a:pt x="2433" y="2997"/>
                </a:lnTo>
                <a:lnTo>
                  <a:pt x="2433" y="2598"/>
                </a:lnTo>
                <a:lnTo>
                  <a:pt x="3705" y="2204"/>
                </a:lnTo>
                <a:lnTo>
                  <a:pt x="3705" y="1972"/>
                </a:lnTo>
                <a:lnTo>
                  <a:pt x="2433" y="2365"/>
                </a:lnTo>
                <a:lnTo>
                  <a:pt x="2433" y="1966"/>
                </a:lnTo>
                <a:lnTo>
                  <a:pt x="3705" y="1574"/>
                </a:lnTo>
                <a:lnTo>
                  <a:pt x="3705" y="1397"/>
                </a:lnTo>
                <a:lnTo>
                  <a:pt x="3614" y="1356"/>
                </a:lnTo>
                <a:lnTo>
                  <a:pt x="3617" y="1043"/>
                </a:lnTo>
                <a:lnTo>
                  <a:pt x="5797" y="461"/>
                </a:lnTo>
                <a:lnTo>
                  <a:pt x="5797" y="3054"/>
                </a:lnTo>
                <a:lnTo>
                  <a:pt x="3705" y="3759"/>
                </a:lnTo>
                <a:close/>
                <a:moveTo>
                  <a:pt x="215" y="1434"/>
                </a:moveTo>
                <a:lnTo>
                  <a:pt x="215" y="1579"/>
                </a:lnTo>
                <a:lnTo>
                  <a:pt x="862" y="1925"/>
                </a:lnTo>
                <a:lnTo>
                  <a:pt x="862" y="1780"/>
                </a:lnTo>
                <a:lnTo>
                  <a:pt x="215" y="1434"/>
                </a:lnTo>
                <a:close/>
                <a:moveTo>
                  <a:pt x="215" y="1909"/>
                </a:moveTo>
                <a:lnTo>
                  <a:pt x="215" y="2053"/>
                </a:lnTo>
                <a:lnTo>
                  <a:pt x="862" y="2399"/>
                </a:lnTo>
                <a:lnTo>
                  <a:pt x="862" y="2255"/>
                </a:lnTo>
                <a:lnTo>
                  <a:pt x="215" y="1909"/>
                </a:lnTo>
                <a:close/>
                <a:moveTo>
                  <a:pt x="215" y="1670"/>
                </a:moveTo>
                <a:lnTo>
                  <a:pt x="215" y="1814"/>
                </a:lnTo>
                <a:lnTo>
                  <a:pt x="862" y="2160"/>
                </a:lnTo>
                <a:lnTo>
                  <a:pt x="862" y="2016"/>
                </a:lnTo>
                <a:lnTo>
                  <a:pt x="215" y="1670"/>
                </a:lnTo>
                <a:close/>
                <a:moveTo>
                  <a:pt x="2458" y="3255"/>
                </a:moveTo>
                <a:lnTo>
                  <a:pt x="2820" y="3153"/>
                </a:lnTo>
                <a:lnTo>
                  <a:pt x="2820" y="3376"/>
                </a:lnTo>
                <a:lnTo>
                  <a:pt x="2458" y="3478"/>
                </a:lnTo>
                <a:lnTo>
                  <a:pt x="2458" y="3255"/>
                </a:lnTo>
                <a:close/>
                <a:moveTo>
                  <a:pt x="2458" y="3645"/>
                </a:moveTo>
                <a:lnTo>
                  <a:pt x="2820" y="3543"/>
                </a:lnTo>
                <a:lnTo>
                  <a:pt x="2820" y="3764"/>
                </a:lnTo>
                <a:lnTo>
                  <a:pt x="2458" y="3867"/>
                </a:lnTo>
                <a:lnTo>
                  <a:pt x="2458" y="3645"/>
                </a:lnTo>
                <a:close/>
                <a:moveTo>
                  <a:pt x="3097" y="793"/>
                </a:moveTo>
                <a:lnTo>
                  <a:pt x="2938" y="714"/>
                </a:lnTo>
                <a:lnTo>
                  <a:pt x="5774" y="0"/>
                </a:lnTo>
                <a:lnTo>
                  <a:pt x="5915" y="61"/>
                </a:lnTo>
                <a:lnTo>
                  <a:pt x="3097" y="79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549558" y="403711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应用服务器</a:t>
            </a:r>
            <a:endParaRPr lang="en-US" altLang="zh-CN" sz="1000" b="1" dirty="0" smtClean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KSO_Shape"/>
          <p:cNvSpPr/>
          <p:nvPr/>
        </p:nvSpPr>
        <p:spPr bwMode="auto">
          <a:xfrm>
            <a:off x="3992274" y="368814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182003" y="4581798"/>
            <a:ext cx="895985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4384201" y="4915128"/>
            <a:ext cx="461665" cy="42735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>
                <a:solidFill>
                  <a:schemeClr val="accent1">
                    <a:lumMod val="20000"/>
                    <a:lumOff val="80000"/>
                  </a:schemeClr>
                </a:solidFill>
              </a:rPr>
              <a:t>...</a:t>
            </a:r>
          </a:p>
        </p:txBody>
      </p:sp>
      <p:sp>
        <p:nvSpPr>
          <p:cNvPr id="22" name="KSO_Shape"/>
          <p:cNvSpPr/>
          <p:nvPr/>
        </p:nvSpPr>
        <p:spPr bwMode="auto">
          <a:xfrm>
            <a:off x="3992274" y="515499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184543" y="6038477"/>
            <a:ext cx="902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</a:p>
        </p:txBody>
      </p:sp>
      <p:sp>
        <p:nvSpPr>
          <p:cNvPr id="24" name="左右箭头 23"/>
          <p:cNvSpPr/>
          <p:nvPr/>
        </p:nvSpPr>
        <p:spPr>
          <a:xfrm>
            <a:off x="5386251" y="3855948"/>
            <a:ext cx="550545" cy="180975"/>
          </a:xfrm>
          <a:prstGeom prst="leftRightArrow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5" name="折角形 24"/>
          <p:cNvSpPr/>
          <p:nvPr/>
        </p:nvSpPr>
        <p:spPr>
          <a:xfrm>
            <a:off x="6108246" y="4372838"/>
            <a:ext cx="550545" cy="40640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6" name="折角形 25"/>
          <p:cNvSpPr/>
          <p:nvPr/>
        </p:nvSpPr>
        <p:spPr>
          <a:xfrm>
            <a:off x="6108246" y="4290923"/>
            <a:ext cx="535940" cy="39624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7" name="左右箭头 26"/>
          <p:cNvSpPr/>
          <p:nvPr/>
        </p:nvSpPr>
        <p:spPr>
          <a:xfrm>
            <a:off x="7736386" y="3913733"/>
            <a:ext cx="550545" cy="180975"/>
          </a:xfrm>
          <a:prstGeom prst="leftRightArrow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8" name="折角形 27"/>
          <p:cNvSpPr/>
          <p:nvPr/>
        </p:nvSpPr>
        <p:spPr>
          <a:xfrm>
            <a:off x="6777536" y="4429988"/>
            <a:ext cx="550545" cy="40640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9" name="折角形 28"/>
          <p:cNvSpPr/>
          <p:nvPr/>
        </p:nvSpPr>
        <p:spPr>
          <a:xfrm>
            <a:off x="6777536" y="4291558"/>
            <a:ext cx="535940" cy="39624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203213" y="3988222"/>
            <a:ext cx="1082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工程和投诉信息</a:t>
            </a:r>
            <a:endParaRPr lang="zh-CN" altLang="en-US" sz="1000" b="1" dirty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402886" y="5433923"/>
            <a:ext cx="575945" cy="344170"/>
            <a:chOff x="3186113" y="530112"/>
            <a:chExt cx="2625725" cy="2338387"/>
          </a:xfrm>
        </p:grpSpPr>
        <p:sp>
          <p:nvSpPr>
            <p:cNvPr id="32" name="Rectangle 9"/>
            <p:cNvSpPr>
              <a:spLocks noChangeArrowheads="1"/>
            </p:cNvSpPr>
            <p:nvPr/>
          </p:nvSpPr>
          <p:spPr bwMode="auto">
            <a:xfrm>
              <a:off x="3338513" y="693625"/>
              <a:ext cx="2320925" cy="16351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3" name="Freeform 11"/>
            <p:cNvSpPr>
              <a:spLocks noEditPoints="1"/>
            </p:cNvSpPr>
            <p:nvPr/>
          </p:nvSpPr>
          <p:spPr bwMode="auto">
            <a:xfrm>
              <a:off x="3186113" y="530112"/>
              <a:ext cx="2625725" cy="1895475"/>
            </a:xfrm>
            <a:custGeom>
              <a:avLst/>
              <a:gdLst>
                <a:gd name="T0" fmla="*/ 397 w 432"/>
                <a:gd name="T1" fmla="*/ 0 h 312"/>
                <a:gd name="T2" fmla="*/ 33 w 432"/>
                <a:gd name="T3" fmla="*/ 0 h 312"/>
                <a:gd name="T4" fmla="*/ 0 w 432"/>
                <a:gd name="T5" fmla="*/ 35 h 312"/>
                <a:gd name="T6" fmla="*/ 0 w 432"/>
                <a:gd name="T7" fmla="*/ 276 h 312"/>
                <a:gd name="T8" fmla="*/ 33 w 432"/>
                <a:gd name="T9" fmla="*/ 312 h 312"/>
                <a:gd name="T10" fmla="*/ 397 w 432"/>
                <a:gd name="T11" fmla="*/ 312 h 312"/>
                <a:gd name="T12" fmla="*/ 432 w 432"/>
                <a:gd name="T13" fmla="*/ 276 h 312"/>
                <a:gd name="T14" fmla="*/ 432 w 432"/>
                <a:gd name="T15" fmla="*/ 35 h 312"/>
                <a:gd name="T16" fmla="*/ 397 w 432"/>
                <a:gd name="T17" fmla="*/ 0 h 312"/>
                <a:gd name="T18" fmla="*/ 408 w 432"/>
                <a:gd name="T19" fmla="*/ 284 h 312"/>
                <a:gd name="T20" fmla="*/ 24 w 432"/>
                <a:gd name="T21" fmla="*/ 284 h 312"/>
                <a:gd name="T22" fmla="*/ 24 w 432"/>
                <a:gd name="T23" fmla="*/ 28 h 312"/>
                <a:gd name="T24" fmla="*/ 408 w 432"/>
                <a:gd name="T25" fmla="*/ 28 h 312"/>
                <a:gd name="T26" fmla="*/ 408 w 432"/>
                <a:gd name="T27" fmla="*/ 284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2" h="312">
                  <a:moveTo>
                    <a:pt x="397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5" y="0"/>
                    <a:pt x="0" y="16"/>
                    <a:pt x="0" y="35"/>
                  </a:cubicBezTo>
                  <a:cubicBezTo>
                    <a:pt x="0" y="276"/>
                    <a:pt x="0" y="276"/>
                    <a:pt x="0" y="276"/>
                  </a:cubicBezTo>
                  <a:cubicBezTo>
                    <a:pt x="0" y="295"/>
                    <a:pt x="15" y="312"/>
                    <a:pt x="33" y="312"/>
                  </a:cubicBezTo>
                  <a:cubicBezTo>
                    <a:pt x="397" y="312"/>
                    <a:pt x="397" y="312"/>
                    <a:pt x="397" y="312"/>
                  </a:cubicBezTo>
                  <a:cubicBezTo>
                    <a:pt x="416" y="312"/>
                    <a:pt x="432" y="295"/>
                    <a:pt x="432" y="276"/>
                  </a:cubicBezTo>
                  <a:cubicBezTo>
                    <a:pt x="432" y="35"/>
                    <a:pt x="432" y="35"/>
                    <a:pt x="432" y="35"/>
                  </a:cubicBezTo>
                  <a:cubicBezTo>
                    <a:pt x="432" y="16"/>
                    <a:pt x="416" y="0"/>
                    <a:pt x="397" y="0"/>
                  </a:cubicBezTo>
                  <a:close/>
                  <a:moveTo>
                    <a:pt x="408" y="284"/>
                  </a:moveTo>
                  <a:cubicBezTo>
                    <a:pt x="24" y="284"/>
                    <a:pt x="24" y="284"/>
                    <a:pt x="24" y="28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408" y="28"/>
                    <a:pt x="408" y="28"/>
                    <a:pt x="408" y="28"/>
                  </a:cubicBezTo>
                  <a:lnTo>
                    <a:pt x="408" y="284"/>
                  </a:lnTo>
                  <a:close/>
                </a:path>
              </a:pathLst>
            </a:custGeom>
            <a:solidFill>
              <a:srgbClr val="1C2B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4" name="Freeform 12"/>
            <p:cNvSpPr/>
            <p:nvPr/>
          </p:nvSpPr>
          <p:spPr bwMode="auto">
            <a:xfrm>
              <a:off x="3867150" y="2546237"/>
              <a:ext cx="1257300" cy="322262"/>
            </a:xfrm>
            <a:custGeom>
              <a:avLst/>
              <a:gdLst>
                <a:gd name="T0" fmla="*/ 163 w 207"/>
                <a:gd name="T1" fmla="*/ 35 h 53"/>
                <a:gd name="T2" fmla="*/ 207 w 207"/>
                <a:gd name="T3" fmla="*/ 35 h 53"/>
                <a:gd name="T4" fmla="*/ 207 w 207"/>
                <a:gd name="T5" fmla="*/ 53 h 53"/>
                <a:gd name="T6" fmla="*/ 0 w 207"/>
                <a:gd name="T7" fmla="*/ 53 h 53"/>
                <a:gd name="T8" fmla="*/ 0 w 207"/>
                <a:gd name="T9" fmla="*/ 35 h 53"/>
                <a:gd name="T10" fmla="*/ 44 w 207"/>
                <a:gd name="T11" fmla="*/ 35 h 53"/>
                <a:gd name="T12" fmla="*/ 58 w 207"/>
                <a:gd name="T13" fmla="*/ 11 h 53"/>
                <a:gd name="T14" fmla="*/ 66 w 207"/>
                <a:gd name="T15" fmla="*/ 0 h 53"/>
                <a:gd name="T16" fmla="*/ 104 w 207"/>
                <a:gd name="T17" fmla="*/ 0 h 53"/>
                <a:gd name="T18" fmla="*/ 141 w 207"/>
                <a:gd name="T19" fmla="*/ 0 h 53"/>
                <a:gd name="T20" fmla="*/ 149 w 207"/>
                <a:gd name="T21" fmla="*/ 11 h 53"/>
                <a:gd name="T22" fmla="*/ 163 w 207"/>
                <a:gd name="T23" fmla="*/ 3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7" h="53">
                  <a:moveTo>
                    <a:pt x="163" y="35"/>
                  </a:moveTo>
                  <a:cubicBezTo>
                    <a:pt x="207" y="35"/>
                    <a:pt x="207" y="35"/>
                    <a:pt x="207" y="35"/>
                  </a:cubicBezTo>
                  <a:cubicBezTo>
                    <a:pt x="207" y="53"/>
                    <a:pt x="207" y="53"/>
                    <a:pt x="207" y="5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8" y="31"/>
                    <a:pt x="53" y="24"/>
                    <a:pt x="58" y="11"/>
                  </a:cubicBezTo>
                  <a:cubicBezTo>
                    <a:pt x="58" y="11"/>
                    <a:pt x="61" y="1"/>
                    <a:pt x="66" y="0"/>
                  </a:cubicBezTo>
                  <a:cubicBezTo>
                    <a:pt x="69" y="0"/>
                    <a:pt x="86" y="0"/>
                    <a:pt x="104" y="0"/>
                  </a:cubicBezTo>
                  <a:cubicBezTo>
                    <a:pt x="121" y="0"/>
                    <a:pt x="138" y="0"/>
                    <a:pt x="141" y="0"/>
                  </a:cubicBezTo>
                  <a:cubicBezTo>
                    <a:pt x="146" y="1"/>
                    <a:pt x="149" y="11"/>
                    <a:pt x="149" y="11"/>
                  </a:cubicBezTo>
                  <a:cubicBezTo>
                    <a:pt x="154" y="24"/>
                    <a:pt x="159" y="31"/>
                    <a:pt x="163" y="35"/>
                  </a:cubicBezTo>
                  <a:close/>
                </a:path>
              </a:pathLst>
            </a:custGeom>
            <a:solidFill>
              <a:srgbClr val="464F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5" name="Freeform 13"/>
            <p:cNvSpPr/>
            <p:nvPr/>
          </p:nvSpPr>
          <p:spPr bwMode="auto">
            <a:xfrm>
              <a:off x="4340225" y="2546237"/>
              <a:ext cx="784225" cy="322262"/>
            </a:xfrm>
            <a:custGeom>
              <a:avLst/>
              <a:gdLst>
                <a:gd name="T0" fmla="*/ 85 w 129"/>
                <a:gd name="T1" fmla="*/ 35 h 53"/>
                <a:gd name="T2" fmla="*/ 71 w 129"/>
                <a:gd name="T3" fmla="*/ 11 h 53"/>
                <a:gd name="T4" fmla="*/ 63 w 129"/>
                <a:gd name="T5" fmla="*/ 0 h 53"/>
                <a:gd name="T6" fmla="*/ 26 w 129"/>
                <a:gd name="T7" fmla="*/ 0 h 53"/>
                <a:gd name="T8" fmla="*/ 0 w 129"/>
                <a:gd name="T9" fmla="*/ 0 h 53"/>
                <a:gd name="T10" fmla="*/ 59 w 129"/>
                <a:gd name="T11" fmla="*/ 53 h 53"/>
                <a:gd name="T12" fmla="*/ 129 w 129"/>
                <a:gd name="T13" fmla="*/ 53 h 53"/>
                <a:gd name="T14" fmla="*/ 129 w 129"/>
                <a:gd name="T15" fmla="*/ 35 h 53"/>
                <a:gd name="T16" fmla="*/ 85 w 129"/>
                <a:gd name="T17" fmla="*/ 3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53">
                  <a:moveTo>
                    <a:pt x="85" y="35"/>
                  </a:moveTo>
                  <a:cubicBezTo>
                    <a:pt x="81" y="31"/>
                    <a:pt x="76" y="24"/>
                    <a:pt x="71" y="11"/>
                  </a:cubicBezTo>
                  <a:cubicBezTo>
                    <a:pt x="71" y="11"/>
                    <a:pt x="68" y="1"/>
                    <a:pt x="63" y="0"/>
                  </a:cubicBezTo>
                  <a:cubicBezTo>
                    <a:pt x="60" y="0"/>
                    <a:pt x="43" y="0"/>
                    <a:pt x="26" y="0"/>
                  </a:cubicBezTo>
                  <a:cubicBezTo>
                    <a:pt x="16" y="0"/>
                    <a:pt x="7" y="0"/>
                    <a:pt x="0" y="0"/>
                  </a:cubicBezTo>
                  <a:cubicBezTo>
                    <a:pt x="21" y="15"/>
                    <a:pt x="41" y="33"/>
                    <a:pt x="59" y="53"/>
                  </a:cubicBezTo>
                  <a:cubicBezTo>
                    <a:pt x="129" y="53"/>
                    <a:pt x="129" y="53"/>
                    <a:pt x="129" y="53"/>
                  </a:cubicBezTo>
                  <a:cubicBezTo>
                    <a:pt x="129" y="35"/>
                    <a:pt x="129" y="35"/>
                    <a:pt x="129" y="35"/>
                  </a:cubicBezTo>
                  <a:lnTo>
                    <a:pt x="85" y="35"/>
                  </a:lnTo>
                  <a:close/>
                </a:path>
              </a:pathLst>
            </a:custGeom>
            <a:solidFill>
              <a:srgbClr val="1C2B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</p:grpSp>
      <p:sp>
        <p:nvSpPr>
          <p:cNvPr id="36" name="文本框 35"/>
          <p:cNvSpPr txBox="1"/>
          <p:nvPr/>
        </p:nvSpPr>
        <p:spPr>
          <a:xfrm>
            <a:off x="6280683" y="5148367"/>
            <a:ext cx="944880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其他项目数据</a:t>
            </a:r>
          </a:p>
        </p:txBody>
      </p:sp>
      <p:sp>
        <p:nvSpPr>
          <p:cNvPr id="37" name="圆角矩形标注 36"/>
          <p:cNvSpPr/>
          <p:nvPr/>
        </p:nvSpPr>
        <p:spPr>
          <a:xfrm>
            <a:off x="9876336" y="1347698"/>
            <a:ext cx="2189480" cy="1296670"/>
          </a:xfrm>
          <a:prstGeom prst="wedgeRoundRectCallout">
            <a:avLst>
              <a:gd name="adj1" fmla="val -48743"/>
              <a:gd name="adj2" fmla="val 69747"/>
              <a:gd name="adj3" fmla="val 16667"/>
            </a:avLst>
          </a:prstGeom>
          <a:noFill/>
          <a:ln w="28575" cmpd="dbl">
            <a:solidFill>
              <a:srgbClr val="FC611F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r>
              <a:rPr lang="zh-CN" altLang="zh-CN" sz="16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功能</a:t>
            </a:r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: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1.ftp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服务器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2.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解析存储业务数据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3.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支撑客户端</a:t>
            </a:r>
            <a:endParaRPr lang="en-US" altLang="zh-CN" sz="1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ctr"/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ctr"/>
            <a:endParaRPr lang="en-US" altLang="zh-CN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10040801" y="3605758"/>
            <a:ext cx="1978660" cy="1116965"/>
          </a:xfrm>
          <a:prstGeom prst="wedgeRoundRectCallout">
            <a:avLst>
              <a:gd name="adj1" fmla="val -48743"/>
              <a:gd name="adj2" fmla="val 69747"/>
              <a:gd name="adj3" fmla="val 16667"/>
            </a:avLst>
          </a:prstGeom>
          <a:noFill/>
          <a:ln w="28575" cmpd="dbl">
            <a:solidFill>
              <a:srgbClr val="FC611F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14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 </a:t>
            </a:r>
          </a:p>
          <a:p>
            <a:pPr algn="l"/>
            <a:r>
              <a:rPr lang="zh-CN" altLang="zh-CN" sz="1600" dirty="0" smtClean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功能</a:t>
            </a:r>
            <a:r>
              <a:rPr lang="en-US" altLang="zh-CN" sz="14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:</a:t>
            </a:r>
          </a:p>
          <a:p>
            <a:pPr algn="l"/>
            <a:r>
              <a:rPr lang="zh-CN" altLang="en-US" sz="1600" dirty="0" smtClean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支撑</a:t>
            </a:r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web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系统</a:t>
            </a:r>
          </a:p>
          <a:p>
            <a:pPr algn="l"/>
            <a:endParaRPr lang="zh-CN" altLang="en-US" sz="1600" dirty="0">
              <a:solidFill>
                <a:schemeClr val="accent1">
                  <a:lumMod val="20000"/>
                  <a:lumOff val="80000"/>
                </a:schemeClr>
              </a:solidFill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549558" y="2180265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数据服务器</a:t>
            </a:r>
            <a:endParaRPr lang="en-US" altLang="zh-CN" sz="1000" b="1" dirty="0" smtClean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5490246" y="1808129"/>
            <a:ext cx="2705100" cy="4572000"/>
          </a:xfrm>
          <a:prstGeom prst="roundRect">
            <a:avLst/>
          </a:prstGeom>
          <a:noFill/>
          <a:ln w="28575" cap="flat" cmpd="sng" algn="ctr">
            <a:solidFill>
              <a:srgbClr val="E73A1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5951926" y="1996033"/>
            <a:ext cx="168573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数据来源分散</a:t>
            </a:r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2" name="圆角矩形 41"/>
          <p:cNvSpPr/>
          <p:nvPr/>
        </p:nvSpPr>
        <p:spPr>
          <a:xfrm>
            <a:off x="8207106" y="1808129"/>
            <a:ext cx="2705100" cy="4572000"/>
          </a:xfrm>
          <a:prstGeom prst="roundRect">
            <a:avLst/>
          </a:prstGeom>
          <a:noFill/>
          <a:ln w="28575" cap="flat" cmpd="sng" algn="ctr">
            <a:solidFill>
              <a:srgbClr val="E73A1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8839726" y="1973803"/>
            <a:ext cx="1803646" cy="36933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本地</a:t>
            </a:r>
            <a:r>
              <a:rPr lang="zh-CN" alt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</a:t>
            </a:r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无备份</a:t>
            </a:r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54554" y="2022738"/>
            <a:ext cx="1685730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50000"/>
                  </a:schemeClr>
                </a:solidFill>
              </a:rPr>
              <a:t>数据统一采集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8832741" y="1984177"/>
            <a:ext cx="180364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50000"/>
                  </a:schemeClr>
                </a:solidFill>
              </a:rPr>
              <a:t>数据本地化存储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589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25" grpId="0" animBg="1"/>
      <p:bldP spid="26" grpId="0" animBg="1"/>
      <p:bldP spid="28" grpId="0" animBg="1"/>
      <p:bldP spid="29" grpId="0" animBg="1"/>
      <p:bldP spid="30" grpId="0"/>
      <p:bldP spid="36" grpId="0"/>
      <p:bldP spid="37" grpId="0" animBg="1"/>
      <p:bldP spid="37" grpId="1" animBg="1"/>
      <p:bldP spid="38" grpId="0" animBg="1"/>
      <p:bldP spid="38" grpId="1" animBg="1"/>
      <p:bldP spid="40" grpId="0" animBg="1"/>
      <p:bldP spid="41" grpId="0" animBg="1"/>
      <p:bldP spid="41" grpId="1" animBg="1"/>
      <p:bldP spid="42" grpId="0" animBg="1"/>
      <p:bldP spid="43" grpId="0" animBg="1"/>
      <p:bldP spid="43" grpId="1" animBg="1"/>
      <p:bldP spid="44" grpId="0" animBg="1"/>
      <p:bldP spid="4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99" y="2079101"/>
            <a:ext cx="9459076" cy="4373346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312752" y="1476369"/>
            <a:ext cx="9375775" cy="662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全局总览，整体把控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67714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xit" presetSubtype="21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312752" y="1476369"/>
            <a:ext cx="9375775" cy="662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网络拓扑，一目了然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545" y="2138923"/>
            <a:ext cx="8536187" cy="4700648"/>
          </a:xfrm>
          <a:prstGeom prst="rect">
            <a:avLst/>
          </a:prstGeom>
        </p:spPr>
      </p:pic>
      <p:sp>
        <p:nvSpPr>
          <p:cNvPr id="17" name="矩形 16"/>
          <p:cNvSpPr/>
          <p:nvPr/>
        </p:nvSpPr>
        <p:spPr>
          <a:xfrm>
            <a:off x="950902" y="2138923"/>
            <a:ext cx="10803313" cy="4700648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4732" y="5227526"/>
            <a:ext cx="1188567" cy="757940"/>
          </a:xfrm>
          <a:prstGeom prst="rect">
            <a:avLst/>
          </a:prstGeom>
        </p:spPr>
      </p:pic>
      <p:cxnSp>
        <p:nvCxnSpPr>
          <p:cNvPr id="37" name="直接连接符 36"/>
          <p:cNvCxnSpPr>
            <a:stCxn id="30" idx="0"/>
          </p:cNvCxnSpPr>
          <p:nvPr/>
        </p:nvCxnSpPr>
        <p:spPr>
          <a:xfrm flipV="1">
            <a:off x="3675893" y="5499100"/>
            <a:ext cx="468027" cy="544254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图片 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4093" y="6043354"/>
            <a:ext cx="1083600" cy="714100"/>
          </a:xfrm>
          <a:prstGeom prst="rect">
            <a:avLst/>
          </a:prstGeom>
        </p:spPr>
      </p:pic>
      <p:cxnSp>
        <p:nvCxnSpPr>
          <p:cNvPr id="39" name="直接连接符 38"/>
          <p:cNvCxnSpPr/>
          <p:nvPr/>
        </p:nvCxnSpPr>
        <p:spPr>
          <a:xfrm flipV="1">
            <a:off x="3975100" y="4623488"/>
            <a:ext cx="2792259" cy="154871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图片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920" y="2197573"/>
            <a:ext cx="4811701" cy="3744200"/>
          </a:xfrm>
          <a:prstGeom prst="rect">
            <a:avLst/>
          </a:prstGeom>
        </p:spPr>
      </p:pic>
      <p:cxnSp>
        <p:nvCxnSpPr>
          <p:cNvPr id="44" name="直接连接符 43"/>
          <p:cNvCxnSpPr/>
          <p:nvPr/>
        </p:nvCxnSpPr>
        <p:spPr>
          <a:xfrm flipV="1">
            <a:off x="3975100" y="5323302"/>
            <a:ext cx="4240947" cy="84889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圆角矩形标注 50"/>
          <p:cNvSpPr/>
          <p:nvPr/>
        </p:nvSpPr>
        <p:spPr>
          <a:xfrm flipH="1">
            <a:off x="1379249" y="3969821"/>
            <a:ext cx="1824980" cy="1307334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链路中断</a:t>
            </a:r>
            <a:endParaRPr lang="zh-CN" altLang="en-US" dirty="0"/>
          </a:p>
        </p:txBody>
      </p:sp>
      <p:cxnSp>
        <p:nvCxnSpPr>
          <p:cNvPr id="53" name="直接箭头连接符 52"/>
          <p:cNvCxnSpPr/>
          <p:nvPr/>
        </p:nvCxnSpPr>
        <p:spPr>
          <a:xfrm flipH="1" flipV="1">
            <a:off x="3021534" y="5323302"/>
            <a:ext cx="702591" cy="637935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V="1">
            <a:off x="3678470" y="5499100"/>
            <a:ext cx="468027" cy="5442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4093" y="6035770"/>
            <a:ext cx="1083600" cy="714100"/>
          </a:xfrm>
          <a:prstGeom prst="rect">
            <a:avLst/>
          </a:prstGeom>
        </p:spPr>
      </p:pic>
      <p:pic>
        <p:nvPicPr>
          <p:cNvPr id="56" name="图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0276" y="5230132"/>
            <a:ext cx="1180350" cy="752700"/>
          </a:xfrm>
          <a:prstGeom prst="rect">
            <a:avLst/>
          </a:prstGeom>
        </p:spPr>
      </p:pic>
      <p:cxnSp>
        <p:nvCxnSpPr>
          <p:cNvPr id="57" name="直接连接符 56"/>
          <p:cNvCxnSpPr/>
          <p:nvPr/>
        </p:nvCxnSpPr>
        <p:spPr>
          <a:xfrm flipV="1">
            <a:off x="3946296" y="4631072"/>
            <a:ext cx="2792259" cy="1548712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圆角矩形标注 57"/>
          <p:cNvSpPr/>
          <p:nvPr/>
        </p:nvSpPr>
        <p:spPr>
          <a:xfrm flipH="1">
            <a:off x="3021534" y="3399735"/>
            <a:ext cx="1824980" cy="1307334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备用链路启用</a:t>
            </a:r>
            <a:endParaRPr lang="zh-CN" altLang="en-US" dirty="0"/>
          </a:p>
        </p:txBody>
      </p:sp>
      <p:cxnSp>
        <p:nvCxnSpPr>
          <p:cNvPr id="59" name="直接箭头连接符 58"/>
          <p:cNvCxnSpPr/>
          <p:nvPr/>
        </p:nvCxnSpPr>
        <p:spPr>
          <a:xfrm flipH="1" flipV="1">
            <a:off x="4663819" y="4753216"/>
            <a:ext cx="702591" cy="637935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/>
          <p:cNvSpPr/>
          <p:nvPr/>
        </p:nvSpPr>
        <p:spPr>
          <a:xfrm>
            <a:off x="7929285" y="4901082"/>
            <a:ext cx="1029503" cy="770603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/>
        </p:nvGrpSpPr>
        <p:grpSpPr>
          <a:xfrm>
            <a:off x="2163445" y="2333439"/>
            <a:ext cx="7711440" cy="3459480"/>
            <a:chOff x="2875" y="171"/>
            <a:chExt cx="12144" cy="5448"/>
          </a:xfrm>
        </p:grpSpPr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875" y="171"/>
              <a:ext cx="5977" cy="2520"/>
            </a:xfrm>
            <a:prstGeom prst="rect">
              <a:avLst/>
            </a:prstGeom>
          </p:spPr>
        </p:pic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875" y="2691"/>
              <a:ext cx="12145" cy="2928"/>
            </a:xfrm>
            <a:prstGeom prst="rect">
              <a:avLst/>
            </a:prstGeom>
          </p:spPr>
        </p:pic>
      </p:grpSp>
      <p:pic>
        <p:nvPicPr>
          <p:cNvPr id="69" name="Picture 7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492250" y="4255584"/>
            <a:ext cx="7846060" cy="2130425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70" name="Picture 4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837690" y="4707069"/>
            <a:ext cx="8037830" cy="188341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324212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0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35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4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 animBg="1"/>
      <p:bldP spid="51" grpId="0" animBg="1"/>
      <p:bldP spid="51" grpId="1" animBg="1"/>
      <p:bldP spid="58" grpId="0" animBg="1"/>
      <p:bldP spid="58" grpId="1" animBg="1"/>
      <p:bldP spid="6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15223" y="1347698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网络问题的感知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（有何问题？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问题原因？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影响范围？）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127" name="图片 31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423" y="2484152"/>
            <a:ext cx="1651937" cy="3906971"/>
          </a:xfrm>
          <a:prstGeom prst="rect">
            <a:avLst/>
          </a:prstGeom>
        </p:spPr>
      </p:pic>
      <p:pic>
        <p:nvPicPr>
          <p:cNvPr id="3128" name="图片 31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661" y="2567315"/>
            <a:ext cx="1326106" cy="881787"/>
          </a:xfrm>
          <a:prstGeom prst="rect">
            <a:avLst/>
          </a:prstGeom>
        </p:spPr>
      </p:pic>
      <p:pic>
        <p:nvPicPr>
          <p:cNvPr id="3129" name="图片 31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255" y="2567315"/>
            <a:ext cx="1844293" cy="743658"/>
          </a:xfrm>
          <a:prstGeom prst="rect">
            <a:avLst/>
          </a:prstGeom>
        </p:spPr>
      </p:pic>
      <p:pic>
        <p:nvPicPr>
          <p:cNvPr id="3132" name="图片 31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805" y="4003830"/>
            <a:ext cx="1465587" cy="498341"/>
          </a:xfrm>
          <a:prstGeom prst="rect">
            <a:avLst/>
          </a:prstGeom>
        </p:spPr>
      </p:pic>
      <p:pic>
        <p:nvPicPr>
          <p:cNvPr id="3133" name="图片 31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7260" y="3366189"/>
            <a:ext cx="1179960" cy="692858"/>
          </a:xfrm>
          <a:prstGeom prst="rect">
            <a:avLst/>
          </a:prstGeom>
        </p:spPr>
      </p:pic>
      <p:pic>
        <p:nvPicPr>
          <p:cNvPr id="3134" name="图片 313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7260" y="4509210"/>
            <a:ext cx="1225946" cy="591009"/>
          </a:xfrm>
          <a:prstGeom prst="rect">
            <a:avLst/>
          </a:prstGeom>
        </p:spPr>
      </p:pic>
      <p:pic>
        <p:nvPicPr>
          <p:cNvPr id="3135" name="图片 31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0996" y="5153709"/>
            <a:ext cx="1292771" cy="650043"/>
          </a:xfrm>
          <a:prstGeom prst="rect">
            <a:avLst/>
          </a:prstGeom>
        </p:spPr>
      </p:pic>
      <p:pic>
        <p:nvPicPr>
          <p:cNvPr id="3137" name="图片 313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71668" y="2443835"/>
            <a:ext cx="1636154" cy="3947288"/>
          </a:xfrm>
          <a:prstGeom prst="rect">
            <a:avLst/>
          </a:prstGeom>
        </p:spPr>
      </p:pic>
      <p:sp>
        <p:nvSpPr>
          <p:cNvPr id="3138" name="AutoShape 63" descr="âmachine learning white iconâçå¾çæç´¢ç»æ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3141" name="图片 314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008" y="4926072"/>
            <a:ext cx="1214529" cy="1505368"/>
          </a:xfrm>
          <a:prstGeom prst="rect">
            <a:avLst/>
          </a:prstGeom>
        </p:spPr>
      </p:pic>
      <p:pic>
        <p:nvPicPr>
          <p:cNvPr id="3142" name="图片 314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10431" y="2339656"/>
            <a:ext cx="1542337" cy="1143021"/>
          </a:xfrm>
          <a:prstGeom prst="rect">
            <a:avLst/>
          </a:prstGeom>
        </p:spPr>
      </p:pic>
      <p:sp>
        <p:nvSpPr>
          <p:cNvPr id="135" name="左右箭头 134"/>
          <p:cNvSpPr/>
          <p:nvPr/>
        </p:nvSpPr>
        <p:spPr>
          <a:xfrm>
            <a:off x="6612201" y="5277496"/>
            <a:ext cx="1438639" cy="370157"/>
          </a:xfrm>
          <a:prstGeom prst="leftRightArrow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文本框 135"/>
          <p:cNvSpPr txBox="1"/>
          <p:nvPr/>
        </p:nvSpPr>
        <p:spPr>
          <a:xfrm>
            <a:off x="6634363" y="4697131"/>
            <a:ext cx="152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通过感知系统闭环反馈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146" name="圆角矩形 145"/>
          <p:cNvSpPr/>
          <p:nvPr/>
        </p:nvSpPr>
        <p:spPr>
          <a:xfrm>
            <a:off x="4688935" y="1935640"/>
            <a:ext cx="1830705" cy="4495800"/>
          </a:xfrm>
          <a:prstGeom prst="roundRect">
            <a:avLst/>
          </a:prstGeom>
          <a:noFill/>
          <a:ln w="28575">
            <a:prstDash val="lgDash"/>
          </a:ln>
          <a:extLst>
            <a:ext uri="{909E8E84-426E-40DD-AFC4-6F175D3DCCD1}">
              <a14:hiddenFill xmlns:a14="http://schemas.microsoft.com/office/drawing/2010/main">
                <a:solidFill>
                  <a:schemeClr val="lt1"/>
                </a:solidFill>
              </a14:hiddenFill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文本框 146"/>
          <p:cNvSpPr txBox="1"/>
          <p:nvPr/>
        </p:nvSpPr>
        <p:spPr>
          <a:xfrm>
            <a:off x="4598447" y="6519704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决策系统核心模块</a:t>
            </a:r>
          </a:p>
        </p:txBody>
      </p:sp>
      <p:sp>
        <p:nvSpPr>
          <p:cNvPr id="150" name="左弧形箭头 149"/>
          <p:cNvSpPr/>
          <p:nvPr/>
        </p:nvSpPr>
        <p:spPr>
          <a:xfrm rot="16200000" flipH="1">
            <a:off x="3602753" y="232105"/>
            <a:ext cx="709687" cy="2914650"/>
          </a:xfrm>
          <a:prstGeom prst="curvedRightArrow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1" name="左弧形箭头 150"/>
          <p:cNvSpPr/>
          <p:nvPr/>
        </p:nvSpPr>
        <p:spPr>
          <a:xfrm rot="16200000" flipV="1">
            <a:off x="5094936" y="2684429"/>
            <a:ext cx="1018700" cy="7257347"/>
          </a:xfrm>
          <a:prstGeom prst="curved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2" name="矩形标注 151"/>
          <p:cNvSpPr/>
          <p:nvPr/>
        </p:nvSpPr>
        <p:spPr>
          <a:xfrm>
            <a:off x="5007480" y="1102325"/>
            <a:ext cx="2356569" cy="1160730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利用智库中的算法及模型对数据进行判别及分析</a:t>
            </a:r>
            <a:endParaRPr lang="zh-CN" altLang="en-US" dirty="0"/>
          </a:p>
        </p:txBody>
      </p:sp>
      <p:sp>
        <p:nvSpPr>
          <p:cNvPr id="153" name="左弧形箭头 152"/>
          <p:cNvSpPr/>
          <p:nvPr/>
        </p:nvSpPr>
        <p:spPr>
          <a:xfrm rot="16200000" flipH="1">
            <a:off x="7075883" y="192203"/>
            <a:ext cx="709687" cy="2914650"/>
          </a:xfrm>
          <a:prstGeom prst="curvedRightArrow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4" name="矩形标注 153"/>
          <p:cNvSpPr/>
          <p:nvPr/>
        </p:nvSpPr>
        <p:spPr>
          <a:xfrm flipH="1">
            <a:off x="3866354" y="3876193"/>
            <a:ext cx="2356569" cy="1160730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使用反馈的数据对算法模型进行完善，达到自我学习的功能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392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3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5" dur="500"/>
                                        <p:tgtEl>
                                          <p:spTgt spid="3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3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36" grpId="0"/>
      <p:bldP spid="146" grpId="0" animBg="1"/>
      <p:bldP spid="147" grpId="0"/>
      <p:bldP spid="150" grpId="0" animBg="1"/>
      <p:bldP spid="151" grpId="0" animBg="1"/>
      <p:bldP spid="152" grpId="0" animBg="1"/>
      <p:bldP spid="152" grpId="1" animBg="1"/>
      <p:bldP spid="153" grpId="0" animBg="1"/>
      <p:bldP spid="154" grpId="0" animBg="1"/>
      <p:bldP spid="154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15223" y="1347698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故障异常的处理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（解决策略？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处理进度？）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控制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2947521" y="2061330"/>
            <a:ext cx="1441450" cy="869315"/>
            <a:chOff x="5053" y="1918"/>
            <a:chExt cx="2270" cy="1369"/>
          </a:xfrm>
        </p:grpSpPr>
        <p:sp>
          <p:nvSpPr>
            <p:cNvPr id="11" name="右箭头 10"/>
            <p:cNvSpPr/>
            <p:nvPr/>
          </p:nvSpPr>
          <p:spPr>
            <a:xfrm>
              <a:off x="5053" y="2678"/>
              <a:ext cx="2270" cy="609"/>
            </a:xfrm>
            <a:prstGeom prst="rightArrow">
              <a:avLst/>
            </a:prstGeom>
            <a:solidFill>
              <a:srgbClr val="00B05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03" y="1918"/>
              <a:ext cx="1728" cy="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rgbClr val="66FF99"/>
                  </a:solidFill>
                </a:rPr>
                <a:t>决策指令</a:t>
              </a:r>
            </a:p>
          </p:txBody>
        </p:sp>
      </p:grpSp>
      <p:sp>
        <p:nvSpPr>
          <p:cNvPr id="13" name="右箭头 12"/>
          <p:cNvSpPr/>
          <p:nvPr/>
        </p:nvSpPr>
        <p:spPr>
          <a:xfrm rot="10800000">
            <a:off x="2966571" y="4890255"/>
            <a:ext cx="1352550" cy="386715"/>
          </a:xfrm>
          <a:prstGeom prst="rightArrow">
            <a:avLst/>
          </a:prstGeom>
          <a:solidFill>
            <a:srgbClr val="42D2C4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圆角矩形 13"/>
          <p:cNvSpPr/>
          <p:nvPr/>
        </p:nvSpPr>
        <p:spPr>
          <a:xfrm>
            <a:off x="4694406" y="2200395"/>
            <a:ext cx="1313815" cy="316928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/>
              <a:t>流程处理模块</a:t>
            </a:r>
            <a:endParaRPr lang="zh-CN" altLang="en-US" b="1" dirty="0"/>
          </a:p>
        </p:txBody>
      </p:sp>
      <p:sp>
        <p:nvSpPr>
          <p:cNvPr id="15" name="圆角矩形 14"/>
          <p:cNvSpPr/>
          <p:nvPr/>
        </p:nvSpPr>
        <p:spPr>
          <a:xfrm>
            <a:off x="1428601" y="3547230"/>
            <a:ext cx="1313815" cy="1960245"/>
          </a:xfrm>
          <a:prstGeom prst="roundRect">
            <a:avLst/>
          </a:prstGeom>
          <a:solidFill>
            <a:srgbClr val="1CBDE8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感知系统</a:t>
            </a:r>
            <a:endParaRPr lang="zh-CN" altLang="en-US" dirty="0"/>
          </a:p>
        </p:txBody>
      </p:sp>
      <p:sp>
        <p:nvSpPr>
          <p:cNvPr id="16" name="圆角矩形 15"/>
          <p:cNvSpPr/>
          <p:nvPr/>
        </p:nvSpPr>
        <p:spPr>
          <a:xfrm>
            <a:off x="1428601" y="2298185"/>
            <a:ext cx="1313815" cy="106108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决策系统</a:t>
            </a:r>
          </a:p>
        </p:txBody>
      </p:sp>
      <p:sp>
        <p:nvSpPr>
          <p:cNvPr id="17" name="右箭头 16"/>
          <p:cNvSpPr/>
          <p:nvPr/>
        </p:nvSpPr>
        <p:spPr>
          <a:xfrm>
            <a:off x="6210151" y="3280530"/>
            <a:ext cx="1522730" cy="1009015"/>
          </a:xfrm>
          <a:prstGeom prst="rightArrow">
            <a:avLst/>
          </a:prstGeom>
          <a:solidFill>
            <a:srgbClr val="8FAADC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7935446" y="2200395"/>
            <a:ext cx="1313815" cy="3306445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/>
              <a:t>信息通报模块</a:t>
            </a:r>
            <a:endParaRPr lang="zh-CN" altLang="en-US" b="1" dirty="0"/>
          </a:p>
        </p:txBody>
      </p:sp>
      <p:sp>
        <p:nvSpPr>
          <p:cNvPr id="19" name="圆角矩形 18"/>
          <p:cNvSpPr/>
          <p:nvPr/>
        </p:nvSpPr>
        <p:spPr>
          <a:xfrm>
            <a:off x="4524226" y="1856105"/>
            <a:ext cx="5026025" cy="4158615"/>
          </a:xfrm>
          <a:prstGeom prst="roundRect">
            <a:avLst/>
          </a:prstGeom>
          <a:noFill/>
          <a:ln w="28575">
            <a:prstDash val="lgDash"/>
          </a:ln>
          <a:extLst>
            <a:ext uri="{909E8E84-426E-40DD-AFC4-6F175D3DCCD1}">
              <a14:hiddenFill xmlns:a14="http://schemas.microsoft.com/office/drawing/2010/main">
                <a:solidFill>
                  <a:schemeClr val="lt1"/>
                </a:solidFill>
              </a14:hiddenFill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134211" y="5483980"/>
            <a:ext cx="1588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完成闭环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6031398" y="6185277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控制系统</a:t>
            </a:r>
            <a:r>
              <a:rPr lang="zh-CN" altLang="en-US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核心模块</a:t>
            </a:r>
          </a:p>
        </p:txBody>
      </p:sp>
      <p:pic>
        <p:nvPicPr>
          <p:cNvPr id="22" name="Picture 2" descr="“process icon”的图片搜索结果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3473" y="2619754"/>
            <a:ext cx="924242" cy="924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“inform icon”的图片搜索结果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9224" y="2464646"/>
            <a:ext cx="1081015" cy="108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10151" y="2200395"/>
            <a:ext cx="5372504" cy="3481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待修改完善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55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进化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30574" y="3827750"/>
            <a:ext cx="52686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未来的公司都是大数据公司</a:t>
            </a:r>
            <a:endParaRPr lang="zh-CN" altLang="en-US" sz="32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87" y="4653644"/>
            <a:ext cx="1905000" cy="1905000"/>
          </a:xfrm>
          <a:prstGeom prst="rect">
            <a:avLst/>
          </a:prstGeom>
        </p:spPr>
      </p:pic>
      <p:sp>
        <p:nvSpPr>
          <p:cNvPr id="9" name="右箭头 8"/>
          <p:cNvSpPr/>
          <p:nvPr/>
        </p:nvSpPr>
        <p:spPr>
          <a:xfrm>
            <a:off x="2813051" y="5375730"/>
            <a:ext cx="2833007" cy="4608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2473" y="4653644"/>
            <a:ext cx="1721756" cy="1721756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0372273" y="5098312"/>
            <a:ext cx="13117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 smtClean="0">
                <a:solidFill>
                  <a:schemeClr val="bg1"/>
                </a:solidFill>
              </a:rPr>
              <a:t>···</a:t>
            </a:r>
            <a:endParaRPr lang="zh-CN" altLang="en-US" sz="6000" b="1" dirty="0">
              <a:solidFill>
                <a:schemeClr val="bg1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4149" y="1392262"/>
            <a:ext cx="1905000" cy="19050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728" y="1392262"/>
            <a:ext cx="1905000" cy="1905000"/>
          </a:xfrm>
          <a:prstGeom prst="rect">
            <a:avLst/>
          </a:prstGeom>
        </p:spPr>
      </p:pic>
      <p:sp>
        <p:nvSpPr>
          <p:cNvPr id="15" name="右箭头 14"/>
          <p:cNvSpPr/>
          <p:nvPr/>
        </p:nvSpPr>
        <p:spPr>
          <a:xfrm>
            <a:off x="4818289" y="2040926"/>
            <a:ext cx="1892299" cy="682171"/>
          </a:xfrm>
          <a:prstGeom prst="rightArrow">
            <a:avLst/>
          </a:prstGeom>
          <a:noFill/>
          <a:ln w="5715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4952262" y="1357461"/>
            <a:ext cx="16243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b="1" dirty="0" smtClean="0">
                <a:solidFill>
                  <a:schemeClr val="bg1"/>
                </a:solidFill>
              </a:rPr>
              <a:t>支撑</a:t>
            </a:r>
            <a:endParaRPr lang="zh-CN" altLang="en-US" sz="4400" b="1" dirty="0">
              <a:solidFill>
                <a:schemeClr val="bg1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929617" y="3280463"/>
            <a:ext cx="149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数据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105196" y="3303316"/>
            <a:ext cx="149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人工智能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72421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运维海量数据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141" y="4708751"/>
            <a:ext cx="1611541" cy="1611541"/>
          </a:xfrm>
          <a:prstGeom prst="rect">
            <a:avLst/>
          </a:prstGeom>
        </p:spPr>
      </p:pic>
      <p:sp>
        <p:nvSpPr>
          <p:cNvPr id="25" name="文本框 24"/>
          <p:cNvSpPr txBox="1"/>
          <p:nvPr/>
        </p:nvSpPr>
        <p:spPr>
          <a:xfrm>
            <a:off x="6076439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提升客户感知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8184697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提高管理效率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63900" y="1119811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网络发展的规划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（如何发展？）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内容待完善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665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78185" y="3395050"/>
            <a:ext cx="4345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就第一部分所提问题 使用（平台架构及七大问题？）贝叶斯网络对其进行分析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应用举例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8629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3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244320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808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cs typeface="+mn-ea"/>
                <a:sym typeface="+mn-lt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cs typeface="+mn-ea"/>
              <a:sym typeface="+mn-lt"/>
            </a:endParaRPr>
          </a:p>
        </p:txBody>
      </p:sp>
      <p:sp>
        <p:nvSpPr>
          <p:cNvPr id="8" name="Rectangle 18"/>
          <p:cNvSpPr/>
          <p:nvPr/>
        </p:nvSpPr>
        <p:spPr bwMode="auto">
          <a:xfrm>
            <a:off x="1524998" y="2378143"/>
            <a:ext cx="5775747" cy="22452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9" name="圆角矩形 110"/>
          <p:cNvSpPr>
            <a:spLocks noChangeArrowheads="1"/>
          </p:cNvSpPr>
          <p:nvPr/>
        </p:nvSpPr>
        <p:spPr bwMode="auto">
          <a:xfrm>
            <a:off x="1696822" y="3669063"/>
            <a:ext cx="4502596" cy="702776"/>
          </a:xfrm>
          <a:prstGeom prst="roundRect">
            <a:avLst>
              <a:gd name="adj" fmla="val 9305"/>
            </a:avLst>
          </a:prstGeom>
          <a:solidFill>
            <a:srgbClr val="FFFF00">
              <a:alpha val="50195"/>
            </a:srgbClr>
          </a:solidFill>
          <a:ln w="28575" algn="ctr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 lIns="91424" tIns="45712" rIns="91424" bIns="45712"/>
          <a:lstStyle>
            <a:lvl1pPr marL="801688" indent="-269875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>
              <a:lnSpc>
                <a:spcPct val="130000"/>
              </a:lnSpc>
              <a:spcBef>
                <a:spcPct val="5000"/>
              </a:spcBef>
              <a:buClr>
                <a:srgbClr val="FF0000"/>
              </a:buClr>
              <a:buFont typeface="Wingdings" pitchFamily="2" charset="2"/>
              <a:buAutoNum type="circleNumDbPlain"/>
            </a:pPr>
            <a:endParaRPr lang="zh-CN" altLang="en-US" sz="180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0" name="Rectangle 18"/>
          <p:cNvSpPr/>
          <p:nvPr/>
        </p:nvSpPr>
        <p:spPr bwMode="auto">
          <a:xfrm>
            <a:off x="1518897" y="4758236"/>
            <a:ext cx="5775747" cy="11159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11" name="Rectangle 18"/>
          <p:cNvSpPr/>
          <p:nvPr/>
        </p:nvSpPr>
        <p:spPr bwMode="auto">
          <a:xfrm>
            <a:off x="1523165" y="5938871"/>
            <a:ext cx="5775747" cy="880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12" name="Rectangle 28"/>
          <p:cNvSpPr/>
          <p:nvPr/>
        </p:nvSpPr>
        <p:spPr>
          <a:xfrm>
            <a:off x="1703567" y="6062675"/>
            <a:ext cx="1001366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日志文件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3" name="TextBox 29"/>
          <p:cNvSpPr txBox="1">
            <a:spLocks noChangeArrowheads="1"/>
          </p:cNvSpPr>
          <p:nvPr/>
        </p:nvSpPr>
        <p:spPr bwMode="auto">
          <a:xfrm>
            <a:off x="723559" y="6401655"/>
            <a:ext cx="7953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</a:t>
            </a: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</a:p>
        </p:txBody>
      </p:sp>
      <p:sp>
        <p:nvSpPr>
          <p:cNvPr id="14" name="TextBox 25"/>
          <p:cNvSpPr txBox="1">
            <a:spLocks noChangeArrowheads="1"/>
          </p:cNvSpPr>
          <p:nvPr/>
        </p:nvSpPr>
        <p:spPr bwMode="auto">
          <a:xfrm>
            <a:off x="723559" y="5462349"/>
            <a:ext cx="9064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处理层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5" name="TextBox 25"/>
          <p:cNvSpPr txBox="1">
            <a:spLocks noChangeArrowheads="1"/>
          </p:cNvSpPr>
          <p:nvPr/>
        </p:nvSpPr>
        <p:spPr bwMode="auto">
          <a:xfrm>
            <a:off x="723607" y="3806165"/>
            <a:ext cx="10080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TextBox 25"/>
          <p:cNvSpPr txBox="1">
            <a:spLocks noChangeArrowheads="1"/>
          </p:cNvSpPr>
          <p:nvPr/>
        </p:nvSpPr>
        <p:spPr bwMode="auto">
          <a:xfrm>
            <a:off x="688063" y="1588569"/>
            <a:ext cx="9064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应用层</a:t>
            </a:r>
          </a:p>
        </p:txBody>
      </p:sp>
      <p:sp>
        <p:nvSpPr>
          <p:cNvPr id="17" name="Can 70"/>
          <p:cNvSpPr/>
          <p:nvPr/>
        </p:nvSpPr>
        <p:spPr bwMode="auto">
          <a:xfrm rot="5400000">
            <a:off x="3838937" y="268905"/>
            <a:ext cx="256466" cy="4608511"/>
          </a:xfrm>
          <a:prstGeom prst="can">
            <a:avLst/>
          </a:prstGeom>
          <a:solidFill>
            <a:srgbClr val="92D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vert270" anchor="ctr" anchorCtr="1"/>
          <a:lstStyle/>
          <a:p>
            <a:pPr>
              <a:defRPr/>
            </a:pPr>
            <a:r>
              <a:rPr lang="zh-CN" altLang="en-US" sz="1400" dirty="0" smtClean="0">
                <a:cs typeface="+mn-ea"/>
                <a:sym typeface="+mn-lt"/>
              </a:rPr>
              <a:t>服务接口（</a:t>
            </a:r>
            <a:r>
              <a:rPr lang="en-US" altLang="zh-CN" sz="1400" dirty="0" err="1" smtClean="0">
                <a:cs typeface="+mn-ea"/>
                <a:sym typeface="+mn-lt"/>
              </a:rPr>
              <a:t>WebService</a:t>
            </a:r>
            <a:r>
              <a:rPr lang="zh-CN" altLang="en-US" sz="1400" dirty="0" smtClean="0">
                <a:cs typeface="+mn-ea"/>
                <a:sym typeface="+mn-lt"/>
              </a:rPr>
              <a:t>）</a:t>
            </a:r>
            <a:endParaRPr lang="en-US" sz="1400" dirty="0">
              <a:cs typeface="+mn-ea"/>
              <a:sym typeface="+mn-lt"/>
            </a:endParaRPr>
          </a:p>
        </p:txBody>
      </p:sp>
      <p:sp>
        <p:nvSpPr>
          <p:cNvPr id="18" name="TextBox 13"/>
          <p:cNvSpPr txBox="1"/>
          <p:nvPr/>
        </p:nvSpPr>
        <p:spPr bwMode="auto">
          <a:xfrm>
            <a:off x="1696821" y="5470825"/>
            <a:ext cx="699853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SFTP</a:t>
            </a:r>
          </a:p>
        </p:txBody>
      </p:sp>
      <p:sp>
        <p:nvSpPr>
          <p:cNvPr id="19" name="Rectangle 28"/>
          <p:cNvSpPr/>
          <p:nvPr/>
        </p:nvSpPr>
        <p:spPr>
          <a:xfrm>
            <a:off x="2776940" y="6062675"/>
            <a:ext cx="773320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CP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0" name="Rectangle 28"/>
          <p:cNvSpPr/>
          <p:nvPr/>
        </p:nvSpPr>
        <p:spPr>
          <a:xfrm>
            <a:off x="3607129" y="6062675"/>
            <a:ext cx="1299373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APG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1" name="Rectangle 28"/>
          <p:cNvSpPr/>
          <p:nvPr/>
        </p:nvSpPr>
        <p:spPr>
          <a:xfrm>
            <a:off x="4997095" y="6062675"/>
            <a:ext cx="1150743" cy="2851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CV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2" name="Rectangle 28"/>
          <p:cNvSpPr/>
          <p:nvPr/>
        </p:nvSpPr>
        <p:spPr>
          <a:xfrm>
            <a:off x="6268781" y="6138255"/>
            <a:ext cx="792088" cy="419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……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3" name="虚尾箭头 22"/>
          <p:cNvSpPr/>
          <p:nvPr/>
        </p:nvSpPr>
        <p:spPr>
          <a:xfrm>
            <a:off x="7388057" y="6138255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4" name="文本框 143"/>
          <p:cNvSpPr txBox="1"/>
          <p:nvPr/>
        </p:nvSpPr>
        <p:spPr>
          <a:xfrm>
            <a:off x="7773417" y="6130158"/>
            <a:ext cx="2815608" cy="63094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4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</a:t>
            </a:r>
            <a:r>
              <a:rPr lang="zh-CN" altLang="en-US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接入华为、爱立信、阿尔卡特等多厂家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的网元数据</a:t>
            </a:r>
            <a:endParaRPr lang="zh-CN" altLang="en-US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5" name="虚尾箭头 24"/>
          <p:cNvSpPr/>
          <p:nvPr/>
        </p:nvSpPr>
        <p:spPr>
          <a:xfrm>
            <a:off x="7388057" y="5183680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6" name="文本框 143"/>
          <p:cNvSpPr txBox="1"/>
          <p:nvPr/>
        </p:nvSpPr>
        <p:spPr>
          <a:xfrm>
            <a:off x="7757089" y="4868040"/>
            <a:ext cx="2969440" cy="11695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600">
                <a:solidFill>
                  <a:prstClr val="black">
                    <a:lumMod val="50000"/>
                    <a:lumOff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3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、提供</a:t>
            </a:r>
            <a:r>
              <a:rPr lang="en-US" altLang="zh-CN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SFTP\FTP\TELNET\SNMP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等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实时</a:t>
            </a:r>
            <a:r>
              <a:rPr lang="en-US" altLang="zh-CN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非实时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数据采集接口。底层通过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高效的</a:t>
            </a:r>
            <a:r>
              <a:rPr lang="en-US" altLang="zh-CN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C/C++/JAVA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实现数据清洗、转换、加载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7" name="虚尾箭头 26"/>
          <p:cNvSpPr/>
          <p:nvPr/>
        </p:nvSpPr>
        <p:spPr>
          <a:xfrm>
            <a:off x="7397049" y="3107642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8" name="文本框 143"/>
          <p:cNvSpPr txBox="1"/>
          <p:nvPr/>
        </p:nvSpPr>
        <p:spPr>
          <a:xfrm>
            <a:off x="7749685" y="2617190"/>
            <a:ext cx="2839340" cy="17081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2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、数据存储采用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Greenplum+Mysql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方式，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GreenPlum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用于存储业务指标数据，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MySql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用于存储任务策略、权限、日志等数据。并通过</a:t>
            </a:r>
            <a:r>
              <a:rPr lang="en-US" altLang="zh-CN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JAVA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实现智能运维功能。</a:t>
            </a:r>
            <a:endParaRPr lang="zh-CN" altLang="en-US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9" name="文本框 143"/>
          <p:cNvSpPr txBox="1"/>
          <p:nvPr/>
        </p:nvSpPr>
        <p:spPr>
          <a:xfrm>
            <a:off x="7758916" y="1162847"/>
            <a:ext cx="2830109" cy="11695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1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、应用层采用业界流行的</a:t>
            </a:r>
            <a:r>
              <a:rPr lang="zh-CN" altLang="en-US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开源框架</a:t>
            </a:r>
            <a:r>
              <a:rPr lang="en-US" altLang="zh-CN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SSH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搭建平台，前端采用</a:t>
            </a:r>
            <a:r>
              <a:rPr lang="en-US" altLang="zh-CN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SSH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开源架构及</a:t>
            </a:r>
            <a:r>
              <a:rPr lang="zh-CN" altLang="en-US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开源的报表控件</a:t>
            </a:r>
            <a:r>
              <a:rPr lang="zh-CN" altLang="en-US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实现业务系统的人机交互。</a:t>
            </a:r>
          </a:p>
        </p:txBody>
      </p:sp>
      <p:sp>
        <p:nvSpPr>
          <p:cNvPr id="30" name="虚尾箭头 29"/>
          <p:cNvSpPr/>
          <p:nvPr/>
        </p:nvSpPr>
        <p:spPr>
          <a:xfrm>
            <a:off x="7410301" y="1482080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1" name="Rectangle 18"/>
          <p:cNvSpPr/>
          <p:nvPr/>
        </p:nvSpPr>
        <p:spPr bwMode="auto">
          <a:xfrm>
            <a:off x="1531597" y="888730"/>
            <a:ext cx="5763045" cy="13929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pic>
        <p:nvPicPr>
          <p:cNvPr id="32" name="Picture 70" descr="상승_4"/>
          <p:cNvPicPr>
            <a:picLocks noChangeAspect="1" noChangeArrowheads="1"/>
          </p:cNvPicPr>
          <p:nvPr/>
        </p:nvPicPr>
        <p:blipFill>
          <a:blip r:embed="rId4" cstate="print">
            <a:lum bright="-6000" contrast="36000"/>
          </a:blip>
          <a:srcRect l="3534"/>
          <a:stretch>
            <a:fillRect/>
          </a:stretch>
        </p:blipFill>
        <p:spPr bwMode="auto">
          <a:xfrm rot="10800000">
            <a:off x="2732559" y="4443711"/>
            <a:ext cx="3071834" cy="5715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矩形 32"/>
          <p:cNvSpPr/>
          <p:nvPr/>
        </p:nvSpPr>
        <p:spPr>
          <a:xfrm>
            <a:off x="3175081" y="4325350"/>
            <a:ext cx="221457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01370">
              <a:lnSpc>
                <a:spcPct val="110000"/>
              </a:lnSpc>
              <a:spcBef>
                <a:spcPct val="50000"/>
              </a:spcBef>
              <a:buClr>
                <a:schemeClr val="bg1"/>
              </a:buClr>
              <a:buFont typeface="Wingdings" panose="05000000000000000000" pitchFamily="2" charset="2"/>
              <a:buNone/>
            </a:pP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cs typeface="+mn-ea"/>
                <a:sym typeface="+mn-lt"/>
              </a:rPr>
              <a:t>ETL</a:t>
            </a:r>
          </a:p>
          <a:p>
            <a:pPr algn="ctr" defTabSz="801370">
              <a:lnSpc>
                <a:spcPct val="110000"/>
              </a:lnSpc>
              <a:spcBef>
                <a:spcPct val="50000"/>
              </a:spcBef>
              <a:buClr>
                <a:schemeClr val="bg1"/>
              </a:buClr>
              <a:buFont typeface="Wingdings" panose="05000000000000000000" pitchFamily="2" charset="2"/>
              <a:buNone/>
            </a:pP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cs typeface="+mn-ea"/>
                <a:sym typeface="+mn-lt"/>
              </a:rPr>
              <a:t>（清洗、转换、加载）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4" name="TextBox 31"/>
          <p:cNvSpPr txBox="1"/>
          <p:nvPr/>
        </p:nvSpPr>
        <p:spPr bwMode="auto">
          <a:xfrm>
            <a:off x="2455001" y="5478317"/>
            <a:ext cx="556158" cy="2880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FTP</a:t>
            </a:r>
          </a:p>
        </p:txBody>
      </p:sp>
      <p:sp>
        <p:nvSpPr>
          <p:cNvPr id="35" name="TextBox 32"/>
          <p:cNvSpPr txBox="1"/>
          <p:nvPr/>
        </p:nvSpPr>
        <p:spPr bwMode="auto">
          <a:xfrm>
            <a:off x="3069165" y="5478317"/>
            <a:ext cx="1258044" cy="2880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TELNET</a:t>
            </a:r>
          </a:p>
        </p:txBody>
      </p:sp>
      <p:sp>
        <p:nvSpPr>
          <p:cNvPr id="36" name="TextBox 33"/>
          <p:cNvSpPr txBox="1"/>
          <p:nvPr/>
        </p:nvSpPr>
        <p:spPr bwMode="auto">
          <a:xfrm>
            <a:off x="4374400" y="5478316"/>
            <a:ext cx="1223553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SNMP</a:t>
            </a:r>
          </a:p>
        </p:txBody>
      </p:sp>
      <p:sp>
        <p:nvSpPr>
          <p:cNvPr id="37" name="TextBox 34"/>
          <p:cNvSpPr txBox="1"/>
          <p:nvPr/>
        </p:nvSpPr>
        <p:spPr bwMode="auto">
          <a:xfrm>
            <a:off x="5636054" y="5478316"/>
            <a:ext cx="514200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……</a:t>
            </a:r>
          </a:p>
        </p:txBody>
      </p:sp>
      <p:sp>
        <p:nvSpPr>
          <p:cNvPr id="38" name="TextBox 35"/>
          <p:cNvSpPr txBox="1"/>
          <p:nvPr/>
        </p:nvSpPr>
        <p:spPr bwMode="auto">
          <a:xfrm>
            <a:off x="1703567" y="5046267"/>
            <a:ext cx="4446687" cy="29864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C/C++</a:t>
            </a:r>
          </a:p>
        </p:txBody>
      </p:sp>
      <p:sp>
        <p:nvSpPr>
          <p:cNvPr id="39" name="TextBox 25"/>
          <p:cNvSpPr txBox="1">
            <a:spLocks noChangeArrowheads="1"/>
          </p:cNvSpPr>
          <p:nvPr/>
        </p:nvSpPr>
        <p:spPr bwMode="auto">
          <a:xfrm>
            <a:off x="6271425" y="5478316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采集接口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0" name="TextBox 25"/>
          <p:cNvSpPr txBox="1">
            <a:spLocks noChangeArrowheads="1"/>
          </p:cNvSpPr>
          <p:nvPr/>
        </p:nvSpPr>
        <p:spPr bwMode="auto">
          <a:xfrm>
            <a:off x="6271425" y="5046268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数据处理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1" name="TextBox 40"/>
          <p:cNvSpPr txBox="1"/>
          <p:nvPr/>
        </p:nvSpPr>
        <p:spPr bwMode="auto">
          <a:xfrm>
            <a:off x="1806929" y="3994034"/>
            <a:ext cx="1891258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err="1" smtClean="0">
                <a:latin typeface="+mn-lt"/>
                <a:ea typeface="+mn-ea"/>
                <a:cs typeface="+mn-ea"/>
                <a:sym typeface="+mn-lt"/>
              </a:rPr>
              <a:t>GreenPlum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2" name="TextBox 25"/>
          <p:cNvSpPr txBox="1">
            <a:spLocks noChangeArrowheads="1"/>
          </p:cNvSpPr>
          <p:nvPr/>
        </p:nvSpPr>
        <p:spPr bwMode="auto">
          <a:xfrm>
            <a:off x="3286946" y="3525047"/>
            <a:ext cx="125628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数据存储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3" name="TextBox 25"/>
          <p:cNvSpPr txBox="1">
            <a:spLocks noChangeArrowheads="1"/>
          </p:cNvSpPr>
          <p:nvPr/>
        </p:nvSpPr>
        <p:spPr bwMode="auto">
          <a:xfrm>
            <a:off x="2114867" y="3669063"/>
            <a:ext cx="12762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业务数据存储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4" name="TextBox 25"/>
          <p:cNvSpPr txBox="1">
            <a:spLocks noChangeArrowheads="1"/>
          </p:cNvSpPr>
          <p:nvPr/>
        </p:nvSpPr>
        <p:spPr bwMode="auto">
          <a:xfrm>
            <a:off x="6271425" y="3361867"/>
            <a:ext cx="102321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数据存储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智能运维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5" name="TextBox 25"/>
          <p:cNvSpPr txBox="1">
            <a:spLocks noChangeArrowheads="1"/>
          </p:cNvSpPr>
          <p:nvPr/>
        </p:nvSpPr>
        <p:spPr bwMode="auto">
          <a:xfrm>
            <a:off x="6271425" y="2444927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</a:t>
            </a:r>
            <a:r>
              <a:rPr lang="zh-CN" altLang="en-US" sz="1400" b="1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接口</a:t>
            </a:r>
          </a:p>
        </p:txBody>
      </p:sp>
      <p:sp>
        <p:nvSpPr>
          <p:cNvPr id="46" name="TextBox 49"/>
          <p:cNvSpPr txBox="1"/>
          <p:nvPr/>
        </p:nvSpPr>
        <p:spPr bwMode="auto">
          <a:xfrm>
            <a:off x="1678441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Spring</a:t>
            </a:r>
          </a:p>
        </p:txBody>
      </p:sp>
      <p:sp>
        <p:nvSpPr>
          <p:cNvPr id="47" name="TextBox 50"/>
          <p:cNvSpPr txBox="1"/>
          <p:nvPr/>
        </p:nvSpPr>
        <p:spPr bwMode="auto">
          <a:xfrm>
            <a:off x="3262618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Struts</a:t>
            </a:r>
          </a:p>
        </p:txBody>
      </p:sp>
      <p:sp>
        <p:nvSpPr>
          <p:cNvPr id="48" name="TextBox 51"/>
          <p:cNvSpPr txBox="1"/>
          <p:nvPr/>
        </p:nvSpPr>
        <p:spPr bwMode="auto">
          <a:xfrm>
            <a:off x="4849633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Hibernate</a:t>
            </a:r>
          </a:p>
        </p:txBody>
      </p:sp>
      <p:sp>
        <p:nvSpPr>
          <p:cNvPr id="49" name="TextBox 25"/>
          <p:cNvSpPr txBox="1">
            <a:spLocks noChangeArrowheads="1"/>
          </p:cNvSpPr>
          <p:nvPr/>
        </p:nvSpPr>
        <p:spPr bwMode="auto">
          <a:xfrm>
            <a:off x="6271424" y="1554088"/>
            <a:ext cx="102321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WEB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框架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0" name="TextBox 53"/>
          <p:cNvSpPr txBox="1"/>
          <p:nvPr/>
        </p:nvSpPr>
        <p:spPr bwMode="auto">
          <a:xfrm>
            <a:off x="1678443" y="1410072"/>
            <a:ext cx="2144710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200" dirty="0" err="1" smtClean="0">
                <a:latin typeface="+mn-lt"/>
                <a:ea typeface="+mn-ea"/>
                <a:cs typeface="+mn-ea"/>
                <a:sym typeface="+mn-lt"/>
              </a:rPr>
              <a:t>Echart</a:t>
            </a: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报表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1" name="TextBox 55"/>
          <p:cNvSpPr txBox="1"/>
          <p:nvPr/>
        </p:nvSpPr>
        <p:spPr bwMode="auto">
          <a:xfrm>
            <a:off x="3948119" y="1410073"/>
            <a:ext cx="2395314" cy="2880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200" dirty="0" err="1">
                <a:latin typeface="+mn-lt"/>
                <a:ea typeface="+mn-ea"/>
                <a:cs typeface="+mn-ea"/>
                <a:sym typeface="+mn-lt"/>
              </a:rPr>
              <a:t>A</a:t>
            </a:r>
            <a:r>
              <a:rPr lang="en-US" altLang="zh-CN" sz="1200" dirty="0" err="1" smtClean="0">
                <a:latin typeface="+mn-lt"/>
                <a:ea typeface="+mn-ea"/>
                <a:cs typeface="+mn-ea"/>
                <a:sym typeface="+mn-lt"/>
              </a:rPr>
              <a:t>Jax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2" name="TextBox 25"/>
          <p:cNvSpPr txBox="1">
            <a:spLocks noChangeArrowheads="1"/>
          </p:cNvSpPr>
          <p:nvPr/>
        </p:nvSpPr>
        <p:spPr bwMode="auto">
          <a:xfrm>
            <a:off x="6271425" y="978024"/>
            <a:ext cx="102321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呈现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3" name="TextBox 57"/>
          <p:cNvSpPr txBox="1"/>
          <p:nvPr/>
        </p:nvSpPr>
        <p:spPr bwMode="auto">
          <a:xfrm>
            <a:off x="4010937" y="3994033"/>
            <a:ext cx="1989750" cy="270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err="1" smtClean="0">
                <a:latin typeface="+mn-lt"/>
                <a:ea typeface="+mn-ea"/>
                <a:cs typeface="+mn-ea"/>
                <a:sym typeface="+mn-lt"/>
              </a:rPr>
              <a:t>MySql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4" name="TextBox 25"/>
          <p:cNvSpPr txBox="1">
            <a:spLocks noChangeArrowheads="1"/>
          </p:cNvSpPr>
          <p:nvPr/>
        </p:nvSpPr>
        <p:spPr bwMode="auto">
          <a:xfrm>
            <a:off x="4255201" y="3669063"/>
            <a:ext cx="149399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策略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权限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日志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5" name="圆角矩形 110"/>
          <p:cNvSpPr>
            <a:spLocks noChangeArrowheads="1"/>
          </p:cNvSpPr>
          <p:nvPr/>
        </p:nvSpPr>
        <p:spPr bwMode="auto">
          <a:xfrm>
            <a:off x="1696821" y="2750263"/>
            <a:ext cx="4502596" cy="774784"/>
          </a:xfrm>
          <a:prstGeom prst="roundRect">
            <a:avLst>
              <a:gd name="adj" fmla="val 9305"/>
            </a:avLst>
          </a:prstGeom>
          <a:solidFill>
            <a:srgbClr val="FFFF00">
              <a:alpha val="50195"/>
            </a:srgbClr>
          </a:solidFill>
          <a:ln w="28575" algn="ctr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 lIns="91424" tIns="45712" rIns="91424" bIns="45712"/>
          <a:lstStyle>
            <a:lvl1pPr marL="801688" indent="-269875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>
              <a:lnSpc>
                <a:spcPct val="130000"/>
              </a:lnSpc>
              <a:spcBef>
                <a:spcPct val="5000"/>
              </a:spcBef>
              <a:buClr>
                <a:srgbClr val="FF0000"/>
              </a:buClr>
              <a:buFont typeface="Wingdings" pitchFamily="2" charset="2"/>
              <a:buAutoNum type="circleNumDbPlain"/>
            </a:pPr>
            <a:endParaRPr lang="zh-CN" altLang="en-US" sz="180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6" name="TextBox 25"/>
          <p:cNvSpPr txBox="1">
            <a:spLocks noChangeArrowheads="1"/>
          </p:cNvSpPr>
          <p:nvPr/>
        </p:nvSpPr>
        <p:spPr bwMode="auto">
          <a:xfrm>
            <a:off x="3103073" y="2618056"/>
            <a:ext cx="197636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智能</a:t>
            </a:r>
            <a:r>
              <a:rPr lang="zh-CN" altLang="en-US" sz="1400" b="1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运维（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JAVA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）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7" name="TextBox 65"/>
          <p:cNvSpPr txBox="1"/>
          <p:nvPr/>
        </p:nvSpPr>
        <p:spPr bwMode="auto">
          <a:xfrm>
            <a:off x="1787879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数据备份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8" name="TextBox 66"/>
          <p:cNvSpPr txBox="1"/>
          <p:nvPr/>
        </p:nvSpPr>
        <p:spPr bwMode="auto">
          <a:xfrm>
            <a:off x="2834092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例行检查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9" name="TextBox 67"/>
          <p:cNvSpPr txBox="1"/>
          <p:nvPr/>
        </p:nvSpPr>
        <p:spPr bwMode="auto">
          <a:xfrm>
            <a:off x="3909294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智能分析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0" name="TextBox 68"/>
          <p:cNvSpPr txBox="1"/>
          <p:nvPr/>
        </p:nvSpPr>
        <p:spPr bwMode="auto">
          <a:xfrm>
            <a:off x="4994332" y="3176582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智能预警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1" name="Rectangle 28"/>
          <p:cNvSpPr/>
          <p:nvPr/>
        </p:nvSpPr>
        <p:spPr>
          <a:xfrm>
            <a:off x="1695367" y="6430679"/>
            <a:ext cx="1373798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华为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2" name="Rectangle 28"/>
          <p:cNvSpPr/>
          <p:nvPr/>
        </p:nvSpPr>
        <p:spPr>
          <a:xfrm>
            <a:off x="3218160" y="6435703"/>
            <a:ext cx="1325073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爱立信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3" name="Rectangle 28"/>
          <p:cNvSpPr/>
          <p:nvPr/>
        </p:nvSpPr>
        <p:spPr>
          <a:xfrm>
            <a:off x="4710399" y="6433237"/>
            <a:ext cx="1433414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阿尔卡特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4" name="TextBox 72"/>
          <p:cNvSpPr txBox="1"/>
          <p:nvPr/>
        </p:nvSpPr>
        <p:spPr bwMode="auto">
          <a:xfrm>
            <a:off x="1795354" y="2876975"/>
            <a:ext cx="4188039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智能运维体检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5" name="TextBox 73"/>
          <p:cNvSpPr txBox="1"/>
          <p:nvPr/>
        </p:nvSpPr>
        <p:spPr bwMode="auto">
          <a:xfrm>
            <a:off x="1686063" y="978025"/>
            <a:ext cx="1066495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全景呈现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6" name="TextBox 74"/>
          <p:cNvSpPr txBox="1"/>
          <p:nvPr/>
        </p:nvSpPr>
        <p:spPr bwMode="auto">
          <a:xfrm>
            <a:off x="2906978" y="978024"/>
            <a:ext cx="1060191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日常维护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7" name="TextBox 75"/>
          <p:cNvSpPr txBox="1"/>
          <p:nvPr/>
        </p:nvSpPr>
        <p:spPr bwMode="auto">
          <a:xfrm>
            <a:off x="4073902" y="978024"/>
            <a:ext cx="1071667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应急保障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8" name="TextBox 76"/>
          <p:cNvSpPr txBox="1"/>
          <p:nvPr/>
        </p:nvSpPr>
        <p:spPr bwMode="auto">
          <a:xfrm>
            <a:off x="5271766" y="978024"/>
            <a:ext cx="1071667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网络规划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IT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架构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92363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cs typeface="+mn-ea"/>
                <a:sym typeface="+mn-lt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cs typeface="+mn-ea"/>
              <a:sym typeface="+mn-lt"/>
            </a:endParaRPr>
          </a:p>
        </p:txBody>
      </p:sp>
      <p:sp>
        <p:nvSpPr>
          <p:cNvPr id="13" name="TextBox 29"/>
          <p:cNvSpPr txBox="1">
            <a:spLocks noChangeArrowheads="1"/>
          </p:cNvSpPr>
          <p:nvPr/>
        </p:nvSpPr>
        <p:spPr bwMode="auto">
          <a:xfrm>
            <a:off x="723559" y="6401655"/>
            <a:ext cx="7953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</a:t>
            </a: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</a:p>
        </p:txBody>
      </p:sp>
      <p:sp>
        <p:nvSpPr>
          <p:cNvPr id="14" name="TextBox 25"/>
          <p:cNvSpPr txBox="1">
            <a:spLocks noChangeArrowheads="1"/>
          </p:cNvSpPr>
          <p:nvPr/>
        </p:nvSpPr>
        <p:spPr bwMode="auto">
          <a:xfrm>
            <a:off x="723559" y="5462349"/>
            <a:ext cx="9064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处理层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5" name="TextBox 25"/>
          <p:cNvSpPr txBox="1">
            <a:spLocks noChangeArrowheads="1"/>
          </p:cNvSpPr>
          <p:nvPr/>
        </p:nvSpPr>
        <p:spPr bwMode="auto">
          <a:xfrm>
            <a:off x="723607" y="3806165"/>
            <a:ext cx="10080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TextBox 25"/>
          <p:cNvSpPr txBox="1">
            <a:spLocks noChangeArrowheads="1"/>
          </p:cNvSpPr>
          <p:nvPr/>
        </p:nvSpPr>
        <p:spPr bwMode="auto">
          <a:xfrm>
            <a:off x="688063" y="1588569"/>
            <a:ext cx="9064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应用层</a:t>
            </a:r>
          </a:p>
        </p:txBody>
      </p:sp>
      <p:sp>
        <p:nvSpPr>
          <p:cNvPr id="69" name="文本框 68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IT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架构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752975" y="4295775"/>
            <a:ext cx="5000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纯技术细节 请宜通补充</a:t>
            </a:r>
            <a:endParaRPr lang="zh-CN" altLang="en-US" dirty="0">
              <a:solidFill>
                <a:srgbClr val="66F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704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>
                <a:solidFill>
                  <a:schemeClr val="bg1"/>
                </a:solidFill>
              </a:rPr>
              <a:t>4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244320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643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49994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886200" y="2514600"/>
            <a:ext cx="46863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600" dirty="0" smtClean="0">
                <a:solidFill>
                  <a:schemeClr val="bg1"/>
                </a:solidFill>
              </a:rPr>
              <a:t>THANK YOU!</a:t>
            </a:r>
            <a:endParaRPr lang="zh-CN" altLang="en-US" sz="6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29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自定义设计方案">
  <a:themeElements>
    <a:clrScheme name="自定义 4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2CA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zox4ugo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3127</TotalTime>
  <Words>1467</Words>
  <Application>Microsoft Office PowerPoint</Application>
  <PresentationFormat>宽屏</PresentationFormat>
  <Paragraphs>304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等线</vt:lpstr>
      <vt:lpstr>微软雅黑</vt:lpstr>
      <vt:lpstr>微软雅黑</vt:lpstr>
      <vt:lpstr>Arial</vt:lpstr>
      <vt:lpstr>Century Gothic</vt:lpstr>
      <vt:lpstr>Segoe UI Light</vt:lpstr>
      <vt:lpstr>Wingdings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cong x</cp:lastModifiedBy>
  <cp:revision>120</cp:revision>
  <dcterms:created xsi:type="dcterms:W3CDTF">2015-07-31T08:15:03Z</dcterms:created>
  <dcterms:modified xsi:type="dcterms:W3CDTF">2018-04-10T03:34:44Z</dcterms:modified>
</cp:coreProperties>
</file>