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7"/>
  </p:notesMasterIdLst>
  <p:sldIdLst>
    <p:sldId id="283" r:id="rId2"/>
    <p:sldId id="284" r:id="rId3"/>
    <p:sldId id="285" r:id="rId4"/>
    <p:sldId id="268" r:id="rId5"/>
    <p:sldId id="307" r:id="rId6"/>
    <p:sldId id="309" r:id="rId7"/>
    <p:sldId id="310" r:id="rId8"/>
    <p:sldId id="311" r:id="rId9"/>
    <p:sldId id="286" r:id="rId10"/>
    <p:sldId id="292" r:id="rId11"/>
    <p:sldId id="291" r:id="rId12"/>
    <p:sldId id="306" r:id="rId13"/>
    <p:sldId id="304" r:id="rId14"/>
    <p:sldId id="293" r:id="rId15"/>
    <p:sldId id="303" r:id="rId16"/>
    <p:sldId id="294" r:id="rId17"/>
    <p:sldId id="296" r:id="rId18"/>
    <p:sldId id="260" r:id="rId19"/>
    <p:sldId id="299" r:id="rId20"/>
    <p:sldId id="287" r:id="rId21"/>
    <p:sldId id="298" r:id="rId22"/>
    <p:sldId id="308" r:id="rId23"/>
    <p:sldId id="301" r:id="rId24"/>
    <p:sldId id="300" r:id="rId25"/>
    <p:sldId id="288" r:id="rId2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2D2C4"/>
    <a:srgbClr val="66FF99"/>
    <a:srgbClr val="00B050"/>
    <a:srgbClr val="E73A1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450" autoAdjust="0"/>
    <p:restoredTop sz="91472" autoAdjust="0"/>
  </p:normalViewPr>
  <p:slideViewPr>
    <p:cSldViewPr snapToGrid="0">
      <p:cViewPr>
        <p:scale>
          <a:sx n="100" d="100"/>
          <a:sy n="100" d="100"/>
        </p:scale>
        <p:origin x="852" y="1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A35CA9-D0AD-4A8E-B4F1-6D48432A5E86}" type="datetimeFigureOut">
              <a:rPr lang="zh-CN" altLang="en-US" smtClean="0"/>
              <a:t>2018/4/10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CC6294-C7B3-4EF0-8EE5-86B292ED20F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31494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CC6294-C7B3-4EF0-8EE5-86B292ED20F6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85213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CC6294-C7B3-4EF0-8EE5-86B292ED20F6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97207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CC6294-C7B3-4EF0-8EE5-86B292ED20F6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9726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网络规模增长，运维人员不可能同步增长</a:t>
            </a:r>
            <a:endParaRPr lang="en-US" altLang="zh-CN" dirty="0" smtClean="0"/>
          </a:p>
          <a:p>
            <a:pPr marL="342900" indent="-342900">
              <a:buAutoNum type="arabicPeriod"/>
            </a:pPr>
            <a:r>
              <a:rPr lang="zh-CN" altLang="en-US" dirty="0" smtClean="0">
                <a:solidFill>
                  <a:schemeClr val="bg1"/>
                </a:solidFill>
              </a:rPr>
              <a:t>信息呈现不全面（没有一个统一的的评估体系以及对全网信息的掌控，包括不同岗位的人对信息呈现的需求不同）</a:t>
            </a:r>
            <a:endParaRPr lang="en-US" altLang="zh-CN" dirty="0" smtClean="0">
              <a:solidFill>
                <a:schemeClr val="bg1"/>
              </a:solidFill>
            </a:endParaRPr>
          </a:p>
          <a:p>
            <a:pPr marL="342900" indent="-342900">
              <a:buAutoNum type="arabicPeriod"/>
            </a:pPr>
            <a:r>
              <a:rPr lang="zh-CN" altLang="en-US" dirty="0" smtClean="0">
                <a:solidFill>
                  <a:schemeClr val="bg1"/>
                </a:solidFill>
              </a:rPr>
              <a:t>故障感知较被动（接到故障申告才进行测试和故障分析，不能满足主动维护）</a:t>
            </a:r>
            <a:endParaRPr lang="en-US" altLang="zh-CN" dirty="0" smtClean="0">
              <a:solidFill>
                <a:schemeClr val="bg1"/>
              </a:solidFill>
            </a:endParaRPr>
          </a:p>
          <a:p>
            <a:pPr marL="342900" indent="-342900">
              <a:buAutoNum type="arabicPeriod"/>
            </a:pPr>
            <a:r>
              <a:rPr lang="zh-CN" altLang="en-US" dirty="0" smtClean="0">
                <a:solidFill>
                  <a:schemeClr val="bg1"/>
                </a:solidFill>
              </a:rPr>
              <a:t>问题处理经验化（处理经验私人所有，工作重复性高，难以满足日益增长的需求）</a:t>
            </a:r>
            <a:endParaRPr lang="en-US" altLang="zh-CN" dirty="0" smtClean="0">
              <a:solidFill>
                <a:schemeClr val="bg1"/>
              </a:solidFill>
            </a:endParaRPr>
          </a:p>
          <a:p>
            <a:pPr marL="342900" indent="-342900">
              <a:buAutoNum type="arabicPeriod"/>
            </a:pPr>
            <a:r>
              <a:rPr lang="zh-CN" altLang="en-US" dirty="0" smtClean="0">
                <a:solidFill>
                  <a:schemeClr val="bg1"/>
                </a:solidFill>
              </a:rPr>
              <a:t>管理手段较传统（海量数据价值未开发，包括处理及管理效率较为低下）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CC6294-C7B3-4EF0-8EE5-86B292ED20F6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78536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网络规模增长，运维人员不可能同步增长</a:t>
            </a:r>
            <a:endParaRPr lang="en-US" altLang="zh-CN" dirty="0" smtClean="0"/>
          </a:p>
          <a:p>
            <a:pPr marL="342900" indent="-342900">
              <a:buAutoNum type="arabicPeriod"/>
            </a:pPr>
            <a:r>
              <a:rPr lang="zh-CN" altLang="en-US" dirty="0" smtClean="0">
                <a:solidFill>
                  <a:schemeClr val="bg1"/>
                </a:solidFill>
              </a:rPr>
              <a:t>信息呈现不全面（没有一个统一的的评估体系以及对全网信息的掌控，包括不同岗位的人对信息呈现的需求不同）</a:t>
            </a:r>
            <a:endParaRPr lang="en-US" altLang="zh-CN" dirty="0" smtClean="0">
              <a:solidFill>
                <a:schemeClr val="bg1"/>
              </a:solidFill>
            </a:endParaRPr>
          </a:p>
          <a:p>
            <a:pPr marL="342900" indent="-342900">
              <a:buAutoNum type="arabicPeriod"/>
            </a:pPr>
            <a:r>
              <a:rPr lang="zh-CN" altLang="en-US" dirty="0" smtClean="0">
                <a:solidFill>
                  <a:schemeClr val="bg1"/>
                </a:solidFill>
              </a:rPr>
              <a:t>故障感知较被动（接到故障申告才进行测试和故障分析，不能满足主动维护）</a:t>
            </a:r>
            <a:endParaRPr lang="en-US" altLang="zh-CN" dirty="0" smtClean="0">
              <a:solidFill>
                <a:schemeClr val="bg1"/>
              </a:solidFill>
            </a:endParaRPr>
          </a:p>
          <a:p>
            <a:pPr marL="342900" indent="-342900">
              <a:buAutoNum type="arabicPeriod"/>
            </a:pPr>
            <a:r>
              <a:rPr lang="zh-CN" altLang="en-US" dirty="0" smtClean="0">
                <a:solidFill>
                  <a:schemeClr val="bg1"/>
                </a:solidFill>
              </a:rPr>
              <a:t>问题处理经验化（处理经验私人所有，工作重复性高，难以满足日益增长的需求）</a:t>
            </a:r>
            <a:endParaRPr lang="en-US" altLang="zh-CN" dirty="0" smtClean="0">
              <a:solidFill>
                <a:schemeClr val="bg1"/>
              </a:solidFill>
            </a:endParaRPr>
          </a:p>
          <a:p>
            <a:pPr marL="342900" indent="-342900">
              <a:buAutoNum type="arabicPeriod"/>
            </a:pPr>
            <a:r>
              <a:rPr lang="zh-CN" altLang="en-US" dirty="0" smtClean="0">
                <a:solidFill>
                  <a:schemeClr val="bg1"/>
                </a:solidFill>
              </a:rPr>
              <a:t>管理手段较传统（海量数据价值未开发，包括处理及管理效率较为低下）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CC6294-C7B3-4EF0-8EE5-86B292ED20F6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340435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网络规模增长，运维人员不可能同步增长</a:t>
            </a:r>
            <a:endParaRPr lang="en-US" altLang="zh-CN" dirty="0" smtClean="0"/>
          </a:p>
          <a:p>
            <a:pPr marL="342900" indent="-342900">
              <a:buAutoNum type="arabicPeriod"/>
            </a:pPr>
            <a:r>
              <a:rPr lang="zh-CN" altLang="en-US" dirty="0" smtClean="0">
                <a:solidFill>
                  <a:schemeClr val="bg1"/>
                </a:solidFill>
              </a:rPr>
              <a:t>信息呈现不全面（没有一个统一的的评估体系以及对全网信息的掌控，包括不同岗位的人对信息呈现的需求不同）</a:t>
            </a:r>
            <a:endParaRPr lang="en-US" altLang="zh-CN" dirty="0" smtClean="0">
              <a:solidFill>
                <a:schemeClr val="bg1"/>
              </a:solidFill>
            </a:endParaRPr>
          </a:p>
          <a:p>
            <a:pPr marL="342900" indent="-342900">
              <a:buAutoNum type="arabicPeriod"/>
            </a:pPr>
            <a:r>
              <a:rPr lang="zh-CN" altLang="en-US" dirty="0" smtClean="0">
                <a:solidFill>
                  <a:schemeClr val="bg1"/>
                </a:solidFill>
              </a:rPr>
              <a:t>故障感知较被动（接到故障申告才进行测试和故障分析，不能满足主动维护）</a:t>
            </a:r>
            <a:endParaRPr lang="en-US" altLang="zh-CN" dirty="0" smtClean="0">
              <a:solidFill>
                <a:schemeClr val="bg1"/>
              </a:solidFill>
            </a:endParaRPr>
          </a:p>
          <a:p>
            <a:pPr marL="342900" indent="-342900">
              <a:buAutoNum type="arabicPeriod"/>
            </a:pPr>
            <a:r>
              <a:rPr lang="zh-CN" altLang="en-US" dirty="0" smtClean="0">
                <a:solidFill>
                  <a:schemeClr val="bg1"/>
                </a:solidFill>
              </a:rPr>
              <a:t>问题处理经验化（处理经验私人所有，工作重复性高，难以满足日益增长的需求）</a:t>
            </a:r>
            <a:endParaRPr lang="en-US" altLang="zh-CN" dirty="0" smtClean="0">
              <a:solidFill>
                <a:schemeClr val="bg1"/>
              </a:solidFill>
            </a:endParaRPr>
          </a:p>
          <a:p>
            <a:pPr marL="342900" indent="-342900">
              <a:buAutoNum type="arabicPeriod"/>
            </a:pPr>
            <a:r>
              <a:rPr lang="zh-CN" altLang="en-US" dirty="0" smtClean="0">
                <a:solidFill>
                  <a:schemeClr val="bg1"/>
                </a:solidFill>
              </a:rPr>
              <a:t>管理手段较传统（海量数据价值未开发，包括处理及管理效率较为低下）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CC6294-C7B3-4EF0-8EE5-86B292ED20F6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168715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网络规模增长，运维人员不可能同步增长</a:t>
            </a:r>
            <a:endParaRPr lang="en-US" altLang="zh-CN" dirty="0" smtClean="0"/>
          </a:p>
          <a:p>
            <a:pPr marL="342900" indent="-342900">
              <a:buAutoNum type="arabicPeriod"/>
            </a:pPr>
            <a:r>
              <a:rPr lang="zh-CN" altLang="en-US" dirty="0" smtClean="0">
                <a:solidFill>
                  <a:schemeClr val="bg1"/>
                </a:solidFill>
              </a:rPr>
              <a:t>信息呈现不全面（没有一个统一的的评估体系以及对全网信息的掌控，包括不同岗位的人对信息呈现的需求不同）</a:t>
            </a:r>
            <a:endParaRPr lang="en-US" altLang="zh-CN" dirty="0" smtClean="0">
              <a:solidFill>
                <a:schemeClr val="bg1"/>
              </a:solidFill>
            </a:endParaRPr>
          </a:p>
          <a:p>
            <a:pPr marL="342900" indent="-342900">
              <a:buAutoNum type="arabicPeriod"/>
            </a:pPr>
            <a:r>
              <a:rPr lang="zh-CN" altLang="en-US" dirty="0" smtClean="0">
                <a:solidFill>
                  <a:schemeClr val="bg1"/>
                </a:solidFill>
              </a:rPr>
              <a:t>故障感知较被动（接到故障申告才进行测试和故障分析，不能满足主动维护）</a:t>
            </a:r>
            <a:endParaRPr lang="en-US" altLang="zh-CN" dirty="0" smtClean="0">
              <a:solidFill>
                <a:schemeClr val="bg1"/>
              </a:solidFill>
            </a:endParaRPr>
          </a:p>
          <a:p>
            <a:pPr marL="342900" indent="-342900">
              <a:buAutoNum type="arabicPeriod"/>
            </a:pPr>
            <a:r>
              <a:rPr lang="zh-CN" altLang="en-US" dirty="0" smtClean="0">
                <a:solidFill>
                  <a:schemeClr val="bg1"/>
                </a:solidFill>
              </a:rPr>
              <a:t>问题处理经验化（处理经验私人所有，工作重复性高，难以满足日益增长的需求）</a:t>
            </a:r>
            <a:endParaRPr lang="en-US" altLang="zh-CN" dirty="0" smtClean="0">
              <a:solidFill>
                <a:schemeClr val="bg1"/>
              </a:solidFill>
            </a:endParaRPr>
          </a:p>
          <a:p>
            <a:pPr marL="342900" indent="-342900">
              <a:buAutoNum type="arabicPeriod"/>
            </a:pPr>
            <a:r>
              <a:rPr lang="zh-CN" altLang="en-US" dirty="0" smtClean="0">
                <a:solidFill>
                  <a:schemeClr val="bg1"/>
                </a:solidFill>
              </a:rPr>
              <a:t>管理手段较传统（海量数据价值未开发，包括处理及管理效率较为低下）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CC6294-C7B3-4EF0-8EE5-86B292ED20F6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571856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网络规模增长，运维人员不可能同步增长</a:t>
            </a:r>
            <a:endParaRPr lang="en-US" altLang="zh-CN" dirty="0" smtClean="0"/>
          </a:p>
          <a:p>
            <a:pPr marL="342900" indent="-342900">
              <a:buAutoNum type="arabicPeriod"/>
            </a:pPr>
            <a:r>
              <a:rPr lang="zh-CN" altLang="en-US" dirty="0" smtClean="0">
                <a:solidFill>
                  <a:schemeClr val="bg1"/>
                </a:solidFill>
              </a:rPr>
              <a:t>信息呈现不全面（没有一个统一的的评估体系以及对全网信息的掌控，包括不同岗位的人对信息呈现的需求不同）</a:t>
            </a:r>
            <a:endParaRPr lang="en-US" altLang="zh-CN" dirty="0" smtClean="0">
              <a:solidFill>
                <a:schemeClr val="bg1"/>
              </a:solidFill>
            </a:endParaRPr>
          </a:p>
          <a:p>
            <a:pPr marL="342900" indent="-342900">
              <a:buAutoNum type="arabicPeriod"/>
            </a:pPr>
            <a:r>
              <a:rPr lang="zh-CN" altLang="en-US" dirty="0" smtClean="0">
                <a:solidFill>
                  <a:schemeClr val="bg1"/>
                </a:solidFill>
              </a:rPr>
              <a:t>故障感知较被动（接到故障申告才进行测试和故障分析，不能满足主动维护）</a:t>
            </a:r>
            <a:endParaRPr lang="en-US" altLang="zh-CN" dirty="0" smtClean="0">
              <a:solidFill>
                <a:schemeClr val="bg1"/>
              </a:solidFill>
            </a:endParaRPr>
          </a:p>
          <a:p>
            <a:pPr marL="342900" indent="-342900">
              <a:buAutoNum type="arabicPeriod"/>
            </a:pPr>
            <a:r>
              <a:rPr lang="zh-CN" altLang="en-US" dirty="0" smtClean="0">
                <a:solidFill>
                  <a:schemeClr val="bg1"/>
                </a:solidFill>
              </a:rPr>
              <a:t>问题处理经验化（处理经验私人所有，工作重复性高，难以满足日益增长的需求）</a:t>
            </a:r>
            <a:endParaRPr lang="en-US" altLang="zh-CN" dirty="0" smtClean="0">
              <a:solidFill>
                <a:schemeClr val="bg1"/>
              </a:solidFill>
            </a:endParaRPr>
          </a:p>
          <a:p>
            <a:pPr marL="342900" indent="-342900">
              <a:buAutoNum type="arabicPeriod"/>
            </a:pPr>
            <a:r>
              <a:rPr lang="zh-CN" altLang="en-US" dirty="0" smtClean="0">
                <a:solidFill>
                  <a:schemeClr val="bg1"/>
                </a:solidFill>
              </a:rPr>
              <a:t>管理手段较传统（海量数据价值未开发，包括处理及管理效率较为低下）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CC6294-C7B3-4EF0-8EE5-86B292ED20F6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849587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CC6294-C7B3-4EF0-8EE5-86B292ED20F6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915174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平台图的重新制作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CC6294-C7B3-4EF0-8EE5-86B292ED20F6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18048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CC6294-C7B3-4EF0-8EE5-86B292ED20F6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625586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CC6294-C7B3-4EF0-8EE5-86B292ED20F6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131451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拓扑图的动画表示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CC6294-C7B3-4EF0-8EE5-86B292ED20F6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546942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拓扑图的动画表示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CC6294-C7B3-4EF0-8EE5-86B292ED20F6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127420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拓扑图的动画表示待完善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CC6294-C7B3-4EF0-8EE5-86B292ED20F6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639431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CC6294-C7B3-4EF0-8EE5-86B292ED20F6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439900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CC6294-C7B3-4EF0-8EE5-86B292ED20F6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36623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>
                <a:solidFill>
                  <a:schemeClr val="bg1"/>
                </a:solidFill>
              </a:rPr>
              <a:t>这是一个数据的时代</a:t>
            </a:r>
            <a:endParaRPr lang="en-US" altLang="zh-CN" dirty="0" smtClean="0">
              <a:solidFill>
                <a:schemeClr val="bg1"/>
              </a:solidFill>
            </a:endParaRPr>
          </a:p>
          <a:p>
            <a:endParaRPr lang="en-US" altLang="zh-CN" dirty="0" smtClean="0">
              <a:solidFill>
                <a:schemeClr val="bg1"/>
              </a:solidFill>
            </a:endParaRPr>
          </a:p>
          <a:p>
            <a:r>
              <a:rPr lang="zh-CN" altLang="en-US" dirty="0" smtClean="0">
                <a:solidFill>
                  <a:schemeClr val="bg1"/>
                </a:solidFill>
              </a:rPr>
              <a:t>运维部门拥有着大量的数据</a:t>
            </a:r>
            <a:endParaRPr lang="en-US" altLang="zh-CN" dirty="0" smtClean="0">
              <a:solidFill>
                <a:schemeClr val="bg1"/>
              </a:solidFill>
            </a:endParaRPr>
          </a:p>
          <a:p>
            <a:r>
              <a:rPr lang="zh-CN" altLang="en-US" dirty="0" smtClean="0">
                <a:solidFill>
                  <a:schemeClr val="bg1"/>
                </a:solidFill>
              </a:rPr>
              <a:t>利用这些数据改变运维方式形成一个智能化的平台是未来的趋势</a:t>
            </a:r>
            <a:endParaRPr lang="en-US" altLang="zh-CN" dirty="0" smtClean="0">
              <a:solidFill>
                <a:schemeClr val="bg1"/>
              </a:solidFill>
            </a:endParaRPr>
          </a:p>
          <a:p>
            <a:r>
              <a:rPr lang="zh-CN" altLang="en-US" dirty="0" smtClean="0">
                <a:solidFill>
                  <a:schemeClr val="bg1"/>
                </a:solidFill>
              </a:rPr>
              <a:t>降本增效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CC6294-C7B3-4EF0-8EE5-86B292ED20F6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2954841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CC6294-C7B3-4EF0-8EE5-86B292ED20F6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851439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CC6294-C7B3-4EF0-8EE5-86B292ED20F6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648817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CC6294-C7B3-4EF0-8EE5-86B292ED20F6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039092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CC6294-C7B3-4EF0-8EE5-86B292ED20F6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164611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CC6294-C7B3-4EF0-8EE5-86B292ED20F6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0180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CC6294-C7B3-4EF0-8EE5-86B292ED20F6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897786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CC6294-C7B3-4EF0-8EE5-86B292ED20F6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74762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://office.msn.com.cn/Template/Home.shtml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33350" y="-1"/>
            <a:ext cx="12325350" cy="6866809"/>
          </a:xfrm>
          <a:prstGeom prst="rect">
            <a:avLst/>
          </a:prstGeom>
        </p:spPr>
      </p:pic>
      <p:sp>
        <p:nvSpPr>
          <p:cNvPr id="7" name="矩形 1"/>
          <p:cNvSpPr/>
          <p:nvPr userDrawn="1"/>
        </p:nvSpPr>
        <p:spPr>
          <a:xfrm>
            <a:off x="-152399" y="1719016"/>
            <a:ext cx="8458200" cy="1441240"/>
          </a:xfrm>
          <a:custGeom>
            <a:avLst/>
            <a:gdLst>
              <a:gd name="connsiteX0" fmla="*/ 0 w 6819900"/>
              <a:gd name="connsiteY0" fmla="*/ 0 h 1422190"/>
              <a:gd name="connsiteX1" fmla="*/ 6819900 w 6819900"/>
              <a:gd name="connsiteY1" fmla="*/ 0 h 1422190"/>
              <a:gd name="connsiteX2" fmla="*/ 6819900 w 6819900"/>
              <a:gd name="connsiteY2" fmla="*/ 1422190 h 1422190"/>
              <a:gd name="connsiteX3" fmla="*/ 0 w 6819900"/>
              <a:gd name="connsiteY3" fmla="*/ 1422190 h 1422190"/>
              <a:gd name="connsiteX4" fmla="*/ 0 w 6819900"/>
              <a:gd name="connsiteY4" fmla="*/ 0 h 1422190"/>
              <a:gd name="connsiteX0" fmla="*/ 0 w 8458200"/>
              <a:gd name="connsiteY0" fmla="*/ 0 h 1441240"/>
              <a:gd name="connsiteX1" fmla="*/ 6819900 w 8458200"/>
              <a:gd name="connsiteY1" fmla="*/ 0 h 1441240"/>
              <a:gd name="connsiteX2" fmla="*/ 8458200 w 8458200"/>
              <a:gd name="connsiteY2" fmla="*/ 1441240 h 1441240"/>
              <a:gd name="connsiteX3" fmla="*/ 0 w 8458200"/>
              <a:gd name="connsiteY3" fmla="*/ 1422190 h 1441240"/>
              <a:gd name="connsiteX4" fmla="*/ 0 w 8458200"/>
              <a:gd name="connsiteY4" fmla="*/ 0 h 1441240"/>
              <a:gd name="connsiteX0" fmla="*/ 0 w 8458200"/>
              <a:gd name="connsiteY0" fmla="*/ 0 h 1441240"/>
              <a:gd name="connsiteX1" fmla="*/ 6819900 w 8458200"/>
              <a:gd name="connsiteY1" fmla="*/ 342900 h 1441240"/>
              <a:gd name="connsiteX2" fmla="*/ 8458200 w 8458200"/>
              <a:gd name="connsiteY2" fmla="*/ 1441240 h 1441240"/>
              <a:gd name="connsiteX3" fmla="*/ 0 w 8458200"/>
              <a:gd name="connsiteY3" fmla="*/ 1422190 h 1441240"/>
              <a:gd name="connsiteX4" fmla="*/ 0 w 8458200"/>
              <a:gd name="connsiteY4" fmla="*/ 0 h 14412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458200" h="1441240">
                <a:moveTo>
                  <a:pt x="0" y="0"/>
                </a:moveTo>
                <a:lnTo>
                  <a:pt x="6819900" y="342900"/>
                </a:lnTo>
                <a:lnTo>
                  <a:pt x="8458200" y="1441240"/>
                </a:lnTo>
                <a:lnTo>
                  <a:pt x="0" y="142219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kumimoji="1" lang="zh-CN" altLang="en-US">
              <a:solidFill>
                <a:schemeClr val="bg1"/>
              </a:solidFill>
            </a:endParaRPr>
          </a:p>
        </p:txBody>
      </p:sp>
      <p:sp>
        <p:nvSpPr>
          <p:cNvPr id="8" name="矩形 2"/>
          <p:cNvSpPr/>
          <p:nvPr userDrawn="1"/>
        </p:nvSpPr>
        <p:spPr>
          <a:xfrm>
            <a:off x="-152399" y="3141206"/>
            <a:ext cx="5886603" cy="1422190"/>
          </a:xfrm>
          <a:custGeom>
            <a:avLst/>
            <a:gdLst>
              <a:gd name="connsiteX0" fmla="*/ 0 w 5315103"/>
              <a:gd name="connsiteY0" fmla="*/ 0 h 1422190"/>
              <a:gd name="connsiteX1" fmla="*/ 5315103 w 5315103"/>
              <a:gd name="connsiteY1" fmla="*/ 0 h 1422190"/>
              <a:gd name="connsiteX2" fmla="*/ 5315103 w 5315103"/>
              <a:gd name="connsiteY2" fmla="*/ 1422190 h 1422190"/>
              <a:gd name="connsiteX3" fmla="*/ 0 w 5315103"/>
              <a:gd name="connsiteY3" fmla="*/ 1422190 h 1422190"/>
              <a:gd name="connsiteX4" fmla="*/ 0 w 5315103"/>
              <a:gd name="connsiteY4" fmla="*/ 0 h 1422190"/>
              <a:gd name="connsiteX0" fmla="*/ 0 w 5886603"/>
              <a:gd name="connsiteY0" fmla="*/ 19050 h 1441240"/>
              <a:gd name="connsiteX1" fmla="*/ 5886603 w 5886603"/>
              <a:gd name="connsiteY1" fmla="*/ 0 h 1441240"/>
              <a:gd name="connsiteX2" fmla="*/ 5315103 w 5886603"/>
              <a:gd name="connsiteY2" fmla="*/ 1441240 h 1441240"/>
              <a:gd name="connsiteX3" fmla="*/ 0 w 5886603"/>
              <a:gd name="connsiteY3" fmla="*/ 1441240 h 1441240"/>
              <a:gd name="connsiteX4" fmla="*/ 0 w 5886603"/>
              <a:gd name="connsiteY4" fmla="*/ 19050 h 1441240"/>
              <a:gd name="connsiteX0" fmla="*/ 0 w 5886603"/>
              <a:gd name="connsiteY0" fmla="*/ 19050 h 1441240"/>
              <a:gd name="connsiteX1" fmla="*/ 5886603 w 5886603"/>
              <a:gd name="connsiteY1" fmla="*/ 0 h 1441240"/>
              <a:gd name="connsiteX2" fmla="*/ 5124603 w 5886603"/>
              <a:gd name="connsiteY2" fmla="*/ 1307890 h 1441240"/>
              <a:gd name="connsiteX3" fmla="*/ 0 w 5886603"/>
              <a:gd name="connsiteY3" fmla="*/ 1441240 h 1441240"/>
              <a:gd name="connsiteX4" fmla="*/ 0 w 5886603"/>
              <a:gd name="connsiteY4" fmla="*/ 19050 h 1441240"/>
              <a:gd name="connsiteX0" fmla="*/ 0 w 5867553"/>
              <a:gd name="connsiteY0" fmla="*/ 38100 h 1460290"/>
              <a:gd name="connsiteX1" fmla="*/ 5867553 w 5867553"/>
              <a:gd name="connsiteY1" fmla="*/ 0 h 1460290"/>
              <a:gd name="connsiteX2" fmla="*/ 5124603 w 5867553"/>
              <a:gd name="connsiteY2" fmla="*/ 1326940 h 1460290"/>
              <a:gd name="connsiteX3" fmla="*/ 0 w 5867553"/>
              <a:gd name="connsiteY3" fmla="*/ 1460290 h 1460290"/>
              <a:gd name="connsiteX4" fmla="*/ 0 w 5867553"/>
              <a:gd name="connsiteY4" fmla="*/ 38100 h 1460290"/>
              <a:gd name="connsiteX0" fmla="*/ 0 w 5886603"/>
              <a:gd name="connsiteY0" fmla="*/ 0 h 1422190"/>
              <a:gd name="connsiteX1" fmla="*/ 5886603 w 5886603"/>
              <a:gd name="connsiteY1" fmla="*/ 19050 h 1422190"/>
              <a:gd name="connsiteX2" fmla="*/ 5124603 w 5886603"/>
              <a:gd name="connsiteY2" fmla="*/ 1288840 h 1422190"/>
              <a:gd name="connsiteX3" fmla="*/ 0 w 5886603"/>
              <a:gd name="connsiteY3" fmla="*/ 1422190 h 1422190"/>
              <a:gd name="connsiteX4" fmla="*/ 0 w 5886603"/>
              <a:gd name="connsiteY4" fmla="*/ 0 h 1422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886603" h="1422190">
                <a:moveTo>
                  <a:pt x="0" y="0"/>
                </a:moveTo>
                <a:lnTo>
                  <a:pt x="5886603" y="19050"/>
                </a:lnTo>
                <a:lnTo>
                  <a:pt x="5124603" y="1288840"/>
                </a:lnTo>
                <a:lnTo>
                  <a:pt x="0" y="142219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kumimoji="1" lang="zh-CN" alt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372972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33350" y="-1"/>
            <a:ext cx="12325350" cy="6866809"/>
          </a:xfrm>
          <a:prstGeom prst="rect">
            <a:avLst/>
          </a:prstGeom>
        </p:spPr>
      </p:pic>
      <p:cxnSp>
        <p:nvCxnSpPr>
          <p:cNvPr id="3" name="直接连接符 2"/>
          <p:cNvCxnSpPr/>
          <p:nvPr userDrawn="1"/>
        </p:nvCxnSpPr>
        <p:spPr>
          <a:xfrm>
            <a:off x="-1257300" y="762000"/>
            <a:ext cx="5086350" cy="0"/>
          </a:xfrm>
          <a:prstGeom prst="line">
            <a:avLst/>
          </a:prstGeom>
          <a:ln>
            <a:solidFill>
              <a:schemeClr val="bg1"/>
            </a:solidFill>
            <a:tailEnd type="oval" w="lg" len="lg"/>
          </a:ln>
          <a:effectLst>
            <a:glow rad="139700">
              <a:schemeClr val="accent3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接连接符 3"/>
          <p:cNvCxnSpPr/>
          <p:nvPr userDrawn="1"/>
        </p:nvCxnSpPr>
        <p:spPr>
          <a:xfrm flipH="1">
            <a:off x="8343900" y="762000"/>
            <a:ext cx="5086350" cy="0"/>
          </a:xfrm>
          <a:prstGeom prst="line">
            <a:avLst/>
          </a:prstGeom>
          <a:ln>
            <a:solidFill>
              <a:schemeClr val="bg1"/>
            </a:solidFill>
            <a:tailEnd type="oval" w="lg" len="lg"/>
          </a:ln>
          <a:effectLst>
            <a:glow rad="139700">
              <a:schemeClr val="accent3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占位符 5"/>
          <p:cNvSpPr>
            <a:spLocks noGrp="1"/>
          </p:cNvSpPr>
          <p:nvPr>
            <p:ph type="body" sz="quarter" idx="10" hasCustomPrompt="1"/>
          </p:nvPr>
        </p:nvSpPr>
        <p:spPr>
          <a:xfrm>
            <a:off x="4568248" y="477910"/>
            <a:ext cx="3213677" cy="56818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1">
                <a:solidFill>
                  <a:schemeClr val="bg1"/>
                </a:solidFill>
              </a:defRPr>
            </a:lvl1pPr>
          </a:lstStyle>
          <a:p>
            <a:pPr lvl="0"/>
            <a:r>
              <a:rPr lang="zh-CN" altLang="en-US" dirty="0" smtClean="0"/>
              <a:t>单击此处添加文本</a:t>
            </a:r>
          </a:p>
        </p:txBody>
      </p:sp>
    </p:spTree>
    <p:extLst>
      <p:ext uri="{BB962C8B-B14F-4D97-AF65-F5344CB8AC3E}">
        <p14:creationId xmlns:p14="http://schemas.microsoft.com/office/powerpoint/2010/main" val="353810322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33350" y="-1"/>
            <a:ext cx="12325350" cy="6866809"/>
          </a:xfrm>
          <a:prstGeom prst="rect">
            <a:avLst/>
          </a:prstGeom>
        </p:spPr>
      </p:pic>
      <p:sp>
        <p:nvSpPr>
          <p:cNvPr id="7" name="等腰三角形 6"/>
          <p:cNvSpPr/>
          <p:nvPr userDrawn="1"/>
        </p:nvSpPr>
        <p:spPr>
          <a:xfrm rot="5400000">
            <a:off x="-881063" y="738187"/>
            <a:ext cx="6858000" cy="5381625"/>
          </a:xfrm>
          <a:prstGeom prst="triangl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等腰三角形 7"/>
          <p:cNvSpPr/>
          <p:nvPr userDrawn="1"/>
        </p:nvSpPr>
        <p:spPr>
          <a:xfrm rot="5400000">
            <a:off x="-1624013" y="738186"/>
            <a:ext cx="6858000" cy="5381625"/>
          </a:xfrm>
          <a:prstGeom prst="triangl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866142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33350" y="-1"/>
            <a:ext cx="12325350" cy="6866809"/>
          </a:xfrm>
          <a:prstGeom prst="rect">
            <a:avLst/>
          </a:prstGeom>
        </p:spPr>
      </p:pic>
      <p:grpSp>
        <p:nvGrpSpPr>
          <p:cNvPr id="8" name="组合 7"/>
          <p:cNvGrpSpPr/>
          <p:nvPr userDrawn="1"/>
        </p:nvGrpSpPr>
        <p:grpSpPr>
          <a:xfrm rot="5400000">
            <a:off x="1716652" y="-1178492"/>
            <a:ext cx="4501016" cy="6858000"/>
            <a:chOff x="-885827" y="-1"/>
            <a:chExt cx="6124577" cy="6858000"/>
          </a:xfrm>
        </p:grpSpPr>
        <p:sp>
          <p:nvSpPr>
            <p:cNvPr id="10" name="等腰三角形 9"/>
            <p:cNvSpPr/>
            <p:nvPr/>
          </p:nvSpPr>
          <p:spPr>
            <a:xfrm rot="5400000">
              <a:off x="-1624014" y="738186"/>
              <a:ext cx="6858000" cy="5381625"/>
            </a:xfrm>
            <a:prstGeom prst="triangle">
              <a:avLst/>
            </a:pr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等腰三角形 8"/>
            <p:cNvSpPr/>
            <p:nvPr/>
          </p:nvSpPr>
          <p:spPr>
            <a:xfrm rot="5400000">
              <a:off x="-1252538" y="366710"/>
              <a:ext cx="6858000" cy="6124577"/>
            </a:xfrm>
            <a:prstGeom prst="triangle">
              <a:avLst/>
            </a:pr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1" name="组合 10"/>
          <p:cNvGrpSpPr/>
          <p:nvPr userDrawn="1"/>
        </p:nvGrpSpPr>
        <p:grpSpPr>
          <a:xfrm rot="16200000">
            <a:off x="1324870" y="795515"/>
            <a:ext cx="5284584" cy="6858001"/>
            <a:chOff x="-896052" y="-1"/>
            <a:chExt cx="6134802" cy="6858000"/>
          </a:xfrm>
        </p:grpSpPr>
        <p:sp>
          <p:nvSpPr>
            <p:cNvPr id="12" name="等腰三角形 11"/>
            <p:cNvSpPr/>
            <p:nvPr/>
          </p:nvSpPr>
          <p:spPr>
            <a:xfrm rot="5400000">
              <a:off x="-1257651" y="361598"/>
              <a:ext cx="6858000" cy="6134802"/>
            </a:xfrm>
            <a:prstGeom prst="triangle">
              <a:avLst/>
            </a:pr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等腰三角形 12"/>
            <p:cNvSpPr/>
            <p:nvPr/>
          </p:nvSpPr>
          <p:spPr>
            <a:xfrm rot="5400000">
              <a:off x="-1624013" y="738186"/>
              <a:ext cx="6858000" cy="5381625"/>
            </a:xfrm>
            <a:prstGeom prst="triangle">
              <a:avLst/>
            </a:pr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38950152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33350" y="-1"/>
            <a:ext cx="12325350" cy="6866809"/>
          </a:xfrm>
          <a:prstGeom prst="rect">
            <a:avLst/>
          </a:prstGeom>
        </p:spPr>
      </p:pic>
      <p:cxnSp>
        <p:nvCxnSpPr>
          <p:cNvPr id="10" name="直接连接符 9"/>
          <p:cNvCxnSpPr/>
          <p:nvPr userDrawn="1"/>
        </p:nvCxnSpPr>
        <p:spPr>
          <a:xfrm>
            <a:off x="-1257300" y="762000"/>
            <a:ext cx="5086350" cy="0"/>
          </a:xfrm>
          <a:prstGeom prst="line">
            <a:avLst/>
          </a:prstGeom>
          <a:ln>
            <a:solidFill>
              <a:schemeClr val="bg1"/>
            </a:solidFill>
            <a:tailEnd type="oval" w="lg" len="lg"/>
          </a:ln>
          <a:effectLst>
            <a:glow rad="139700">
              <a:schemeClr val="accent3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 userDrawn="1"/>
        </p:nvCxnSpPr>
        <p:spPr>
          <a:xfrm flipH="1">
            <a:off x="8343900" y="762000"/>
            <a:ext cx="5086350" cy="0"/>
          </a:xfrm>
          <a:prstGeom prst="line">
            <a:avLst/>
          </a:prstGeom>
          <a:ln>
            <a:solidFill>
              <a:schemeClr val="bg1"/>
            </a:solidFill>
            <a:tailEnd type="oval" w="lg" len="lg"/>
          </a:ln>
          <a:effectLst>
            <a:glow rad="139700">
              <a:schemeClr val="accent3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3076192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33350" y="-1"/>
            <a:ext cx="12325350" cy="6866809"/>
          </a:xfrm>
          <a:prstGeom prst="rect">
            <a:avLst/>
          </a:prstGeom>
        </p:spPr>
      </p:pic>
      <p:sp>
        <p:nvSpPr>
          <p:cNvPr id="6" name="矩形 1"/>
          <p:cNvSpPr/>
          <p:nvPr userDrawn="1"/>
        </p:nvSpPr>
        <p:spPr>
          <a:xfrm>
            <a:off x="2266950" y="2076450"/>
            <a:ext cx="7647842" cy="2266950"/>
          </a:xfrm>
          <a:custGeom>
            <a:avLst/>
            <a:gdLst>
              <a:gd name="connsiteX0" fmla="*/ 0 w 4819650"/>
              <a:gd name="connsiteY0" fmla="*/ 0 h 1885950"/>
              <a:gd name="connsiteX1" fmla="*/ 4819650 w 4819650"/>
              <a:gd name="connsiteY1" fmla="*/ 0 h 1885950"/>
              <a:gd name="connsiteX2" fmla="*/ 4819650 w 4819650"/>
              <a:gd name="connsiteY2" fmla="*/ 1885950 h 1885950"/>
              <a:gd name="connsiteX3" fmla="*/ 0 w 4819650"/>
              <a:gd name="connsiteY3" fmla="*/ 1885950 h 1885950"/>
              <a:gd name="connsiteX4" fmla="*/ 0 w 4819650"/>
              <a:gd name="connsiteY4" fmla="*/ 0 h 1885950"/>
              <a:gd name="connsiteX0" fmla="*/ 0 w 5295900"/>
              <a:gd name="connsiteY0" fmla="*/ 0 h 1885950"/>
              <a:gd name="connsiteX1" fmla="*/ 5295900 w 5295900"/>
              <a:gd name="connsiteY1" fmla="*/ 304800 h 1885950"/>
              <a:gd name="connsiteX2" fmla="*/ 4819650 w 5295900"/>
              <a:gd name="connsiteY2" fmla="*/ 1885950 h 1885950"/>
              <a:gd name="connsiteX3" fmla="*/ 0 w 5295900"/>
              <a:gd name="connsiteY3" fmla="*/ 1885950 h 1885950"/>
              <a:gd name="connsiteX4" fmla="*/ 0 w 5295900"/>
              <a:gd name="connsiteY4" fmla="*/ 0 h 1885950"/>
              <a:gd name="connsiteX0" fmla="*/ 0 w 5295900"/>
              <a:gd name="connsiteY0" fmla="*/ 0 h 1885950"/>
              <a:gd name="connsiteX1" fmla="*/ 5295900 w 5295900"/>
              <a:gd name="connsiteY1" fmla="*/ 304800 h 1885950"/>
              <a:gd name="connsiteX2" fmla="*/ 4724400 w 5295900"/>
              <a:gd name="connsiteY2" fmla="*/ 1638300 h 1885950"/>
              <a:gd name="connsiteX3" fmla="*/ 0 w 5295900"/>
              <a:gd name="connsiteY3" fmla="*/ 1885950 h 1885950"/>
              <a:gd name="connsiteX4" fmla="*/ 0 w 5295900"/>
              <a:gd name="connsiteY4" fmla="*/ 0 h 1885950"/>
              <a:gd name="connsiteX0" fmla="*/ 609600 w 5905500"/>
              <a:gd name="connsiteY0" fmla="*/ 0 h 2400300"/>
              <a:gd name="connsiteX1" fmla="*/ 5905500 w 5905500"/>
              <a:gd name="connsiteY1" fmla="*/ 304800 h 2400300"/>
              <a:gd name="connsiteX2" fmla="*/ 5334000 w 5905500"/>
              <a:gd name="connsiteY2" fmla="*/ 1638300 h 2400300"/>
              <a:gd name="connsiteX3" fmla="*/ 0 w 5905500"/>
              <a:gd name="connsiteY3" fmla="*/ 2400300 h 2400300"/>
              <a:gd name="connsiteX4" fmla="*/ 609600 w 5905500"/>
              <a:gd name="connsiteY4" fmla="*/ 0 h 2400300"/>
              <a:gd name="connsiteX0" fmla="*/ 895350 w 5905500"/>
              <a:gd name="connsiteY0" fmla="*/ 247650 h 2095500"/>
              <a:gd name="connsiteX1" fmla="*/ 5905500 w 5905500"/>
              <a:gd name="connsiteY1" fmla="*/ 0 h 2095500"/>
              <a:gd name="connsiteX2" fmla="*/ 5334000 w 5905500"/>
              <a:gd name="connsiteY2" fmla="*/ 1333500 h 2095500"/>
              <a:gd name="connsiteX3" fmla="*/ 0 w 5905500"/>
              <a:gd name="connsiteY3" fmla="*/ 2095500 h 2095500"/>
              <a:gd name="connsiteX4" fmla="*/ 895350 w 5905500"/>
              <a:gd name="connsiteY4" fmla="*/ 247650 h 2095500"/>
              <a:gd name="connsiteX0" fmla="*/ 685800 w 5905500"/>
              <a:gd name="connsiteY0" fmla="*/ 38100 h 2095500"/>
              <a:gd name="connsiteX1" fmla="*/ 5905500 w 5905500"/>
              <a:gd name="connsiteY1" fmla="*/ 0 h 2095500"/>
              <a:gd name="connsiteX2" fmla="*/ 5334000 w 5905500"/>
              <a:gd name="connsiteY2" fmla="*/ 1333500 h 2095500"/>
              <a:gd name="connsiteX3" fmla="*/ 0 w 5905500"/>
              <a:gd name="connsiteY3" fmla="*/ 2095500 h 2095500"/>
              <a:gd name="connsiteX4" fmla="*/ 685800 w 5905500"/>
              <a:gd name="connsiteY4" fmla="*/ 38100 h 2095500"/>
              <a:gd name="connsiteX0" fmla="*/ 628650 w 5848350"/>
              <a:gd name="connsiteY0" fmla="*/ 38100 h 1733550"/>
              <a:gd name="connsiteX1" fmla="*/ 5848350 w 5848350"/>
              <a:gd name="connsiteY1" fmla="*/ 0 h 1733550"/>
              <a:gd name="connsiteX2" fmla="*/ 5276850 w 5848350"/>
              <a:gd name="connsiteY2" fmla="*/ 1333500 h 1733550"/>
              <a:gd name="connsiteX3" fmla="*/ 0 w 5848350"/>
              <a:gd name="connsiteY3" fmla="*/ 1733550 h 1733550"/>
              <a:gd name="connsiteX4" fmla="*/ 628650 w 5848350"/>
              <a:gd name="connsiteY4" fmla="*/ 38100 h 1733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848350" h="1733550">
                <a:moveTo>
                  <a:pt x="628650" y="38100"/>
                </a:moveTo>
                <a:lnTo>
                  <a:pt x="5848350" y="0"/>
                </a:lnTo>
                <a:lnTo>
                  <a:pt x="5276850" y="1333500"/>
                </a:lnTo>
                <a:lnTo>
                  <a:pt x="0" y="1733550"/>
                </a:lnTo>
                <a:lnTo>
                  <a:pt x="628650" y="3810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" name="矩形 1"/>
          <p:cNvSpPr/>
          <p:nvPr userDrawn="1"/>
        </p:nvSpPr>
        <p:spPr>
          <a:xfrm>
            <a:off x="1790700" y="1905000"/>
            <a:ext cx="8376474" cy="2679739"/>
          </a:xfrm>
          <a:custGeom>
            <a:avLst/>
            <a:gdLst>
              <a:gd name="connsiteX0" fmla="*/ 0 w 4819650"/>
              <a:gd name="connsiteY0" fmla="*/ 0 h 1885950"/>
              <a:gd name="connsiteX1" fmla="*/ 4819650 w 4819650"/>
              <a:gd name="connsiteY1" fmla="*/ 0 h 1885950"/>
              <a:gd name="connsiteX2" fmla="*/ 4819650 w 4819650"/>
              <a:gd name="connsiteY2" fmla="*/ 1885950 h 1885950"/>
              <a:gd name="connsiteX3" fmla="*/ 0 w 4819650"/>
              <a:gd name="connsiteY3" fmla="*/ 1885950 h 1885950"/>
              <a:gd name="connsiteX4" fmla="*/ 0 w 4819650"/>
              <a:gd name="connsiteY4" fmla="*/ 0 h 1885950"/>
              <a:gd name="connsiteX0" fmla="*/ 0 w 5295900"/>
              <a:gd name="connsiteY0" fmla="*/ 0 h 1885950"/>
              <a:gd name="connsiteX1" fmla="*/ 5295900 w 5295900"/>
              <a:gd name="connsiteY1" fmla="*/ 304800 h 1885950"/>
              <a:gd name="connsiteX2" fmla="*/ 4819650 w 5295900"/>
              <a:gd name="connsiteY2" fmla="*/ 1885950 h 1885950"/>
              <a:gd name="connsiteX3" fmla="*/ 0 w 5295900"/>
              <a:gd name="connsiteY3" fmla="*/ 1885950 h 1885950"/>
              <a:gd name="connsiteX4" fmla="*/ 0 w 5295900"/>
              <a:gd name="connsiteY4" fmla="*/ 0 h 1885950"/>
              <a:gd name="connsiteX0" fmla="*/ 0 w 5295900"/>
              <a:gd name="connsiteY0" fmla="*/ 0 h 1885950"/>
              <a:gd name="connsiteX1" fmla="*/ 5295900 w 5295900"/>
              <a:gd name="connsiteY1" fmla="*/ 304800 h 1885950"/>
              <a:gd name="connsiteX2" fmla="*/ 4724400 w 5295900"/>
              <a:gd name="connsiteY2" fmla="*/ 1638300 h 1885950"/>
              <a:gd name="connsiteX3" fmla="*/ 0 w 5295900"/>
              <a:gd name="connsiteY3" fmla="*/ 1885950 h 1885950"/>
              <a:gd name="connsiteX4" fmla="*/ 0 w 5295900"/>
              <a:gd name="connsiteY4" fmla="*/ 0 h 1885950"/>
              <a:gd name="connsiteX0" fmla="*/ 609600 w 5905500"/>
              <a:gd name="connsiteY0" fmla="*/ 0 h 2400300"/>
              <a:gd name="connsiteX1" fmla="*/ 5905500 w 5905500"/>
              <a:gd name="connsiteY1" fmla="*/ 304800 h 2400300"/>
              <a:gd name="connsiteX2" fmla="*/ 5334000 w 5905500"/>
              <a:gd name="connsiteY2" fmla="*/ 1638300 h 2400300"/>
              <a:gd name="connsiteX3" fmla="*/ 0 w 5905500"/>
              <a:gd name="connsiteY3" fmla="*/ 2400300 h 2400300"/>
              <a:gd name="connsiteX4" fmla="*/ 609600 w 5905500"/>
              <a:gd name="connsiteY4" fmla="*/ 0 h 2400300"/>
              <a:gd name="connsiteX0" fmla="*/ 895350 w 5905500"/>
              <a:gd name="connsiteY0" fmla="*/ 247650 h 2095500"/>
              <a:gd name="connsiteX1" fmla="*/ 5905500 w 5905500"/>
              <a:gd name="connsiteY1" fmla="*/ 0 h 2095500"/>
              <a:gd name="connsiteX2" fmla="*/ 5334000 w 5905500"/>
              <a:gd name="connsiteY2" fmla="*/ 1333500 h 2095500"/>
              <a:gd name="connsiteX3" fmla="*/ 0 w 5905500"/>
              <a:gd name="connsiteY3" fmla="*/ 2095500 h 2095500"/>
              <a:gd name="connsiteX4" fmla="*/ 895350 w 5905500"/>
              <a:gd name="connsiteY4" fmla="*/ 247650 h 2095500"/>
              <a:gd name="connsiteX0" fmla="*/ 685800 w 5905500"/>
              <a:gd name="connsiteY0" fmla="*/ 38100 h 2095500"/>
              <a:gd name="connsiteX1" fmla="*/ 5905500 w 5905500"/>
              <a:gd name="connsiteY1" fmla="*/ 0 h 2095500"/>
              <a:gd name="connsiteX2" fmla="*/ 5334000 w 5905500"/>
              <a:gd name="connsiteY2" fmla="*/ 1333500 h 2095500"/>
              <a:gd name="connsiteX3" fmla="*/ 0 w 5905500"/>
              <a:gd name="connsiteY3" fmla="*/ 2095500 h 2095500"/>
              <a:gd name="connsiteX4" fmla="*/ 685800 w 5905500"/>
              <a:gd name="connsiteY4" fmla="*/ 38100 h 2095500"/>
              <a:gd name="connsiteX0" fmla="*/ 628650 w 5848350"/>
              <a:gd name="connsiteY0" fmla="*/ 38100 h 1733550"/>
              <a:gd name="connsiteX1" fmla="*/ 5848350 w 5848350"/>
              <a:gd name="connsiteY1" fmla="*/ 0 h 1733550"/>
              <a:gd name="connsiteX2" fmla="*/ 5276850 w 5848350"/>
              <a:gd name="connsiteY2" fmla="*/ 1333500 h 1733550"/>
              <a:gd name="connsiteX3" fmla="*/ 0 w 5848350"/>
              <a:gd name="connsiteY3" fmla="*/ 1733550 h 1733550"/>
              <a:gd name="connsiteX4" fmla="*/ 628650 w 5848350"/>
              <a:gd name="connsiteY4" fmla="*/ 38100 h 1733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848350" h="1733550">
                <a:moveTo>
                  <a:pt x="628650" y="38100"/>
                </a:moveTo>
                <a:lnTo>
                  <a:pt x="5848350" y="0"/>
                </a:lnTo>
                <a:lnTo>
                  <a:pt x="5276850" y="1333500"/>
                </a:lnTo>
                <a:lnTo>
                  <a:pt x="0" y="1733550"/>
                </a:lnTo>
                <a:lnTo>
                  <a:pt x="628650" y="38100"/>
                </a:lnTo>
                <a:close/>
              </a:path>
            </a:pathLst>
          </a:custGeom>
          <a:noFill/>
          <a:ln w="38100">
            <a:solidFill>
              <a:srgbClr val="42D2C4"/>
            </a:solidFill>
          </a:ln>
          <a:effectLst>
            <a:glow rad="1397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" name="矩形 8"/>
          <p:cNvSpPr/>
          <p:nvPr userDrawn="1"/>
        </p:nvSpPr>
        <p:spPr>
          <a:xfrm>
            <a:off x="4469104" y="4822836"/>
            <a:ext cx="3252101" cy="400105"/>
          </a:xfrm>
          <a:prstGeom prst="rect">
            <a:avLst/>
          </a:prstGeom>
          <a:solidFill>
            <a:schemeClr val="bg1"/>
          </a:solidFill>
        </p:spPr>
        <p:txBody>
          <a:bodyPr wrap="none" lIns="91436" tIns="45718" rIns="91436" bIns="45718">
            <a:spAutoFit/>
          </a:bodyPr>
          <a:lstStyle/>
          <a:p>
            <a:r>
              <a:rPr kumimoji="1" lang="en-US" altLang="zh-CN" sz="2000" dirty="0"/>
              <a:t>PRESENTED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BY</a:t>
            </a:r>
            <a:r>
              <a:rPr kumimoji="1" lang="zh-CN" altLang="en-US" sz="2000" dirty="0"/>
              <a:t> </a:t>
            </a:r>
            <a:r>
              <a:rPr kumimoji="1" lang="en-US" altLang="zh-CN" sz="2000" dirty="0" smtClean="0"/>
              <a:t>EASTONE</a:t>
            </a:r>
          </a:p>
        </p:txBody>
      </p:sp>
    </p:spTree>
    <p:extLst>
      <p:ext uri="{BB962C8B-B14F-4D97-AF65-F5344CB8AC3E}">
        <p14:creationId xmlns:p14="http://schemas.microsoft.com/office/powerpoint/2010/main" val="63297390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rgbClr val="E73A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 userDrawn="1"/>
        </p:nvSpPr>
        <p:spPr>
          <a:xfrm>
            <a:off x="440603" y="759873"/>
            <a:ext cx="662361" cy="37965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609585"/>
            <a:r>
              <a:rPr lang="zh-CN" altLang="en-US" sz="1867" dirty="0">
                <a:solidFill>
                  <a:srgbClr val="FFFFFF"/>
                </a:solidFill>
                <a:latin typeface="Segoe UI Light"/>
                <a:cs typeface="Segoe UI Light"/>
              </a:rPr>
              <a:t>标注</a:t>
            </a:r>
          </a:p>
        </p:txBody>
      </p:sp>
      <p:sp>
        <p:nvSpPr>
          <p:cNvPr id="6" name="矩形 5"/>
          <p:cNvSpPr/>
          <p:nvPr userDrawn="1"/>
        </p:nvSpPr>
        <p:spPr>
          <a:xfrm>
            <a:off x="2857674" y="841948"/>
            <a:ext cx="1402001" cy="32924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>
              <a:lnSpc>
                <a:spcPct val="130000"/>
              </a:lnSpc>
            </a:pPr>
            <a:r>
              <a:rPr lang="zh-CN" altLang="en-US" sz="1333" dirty="0">
                <a:solidFill>
                  <a:srgbClr val="FFFFFF"/>
                </a:solidFill>
                <a:latin typeface="Segoe UI Light"/>
                <a:cs typeface="Segoe UI Light"/>
              </a:rPr>
              <a:t>字体使用 </a:t>
            </a:r>
            <a:endParaRPr lang="en-US" altLang="zh-CN" sz="1333" dirty="0">
              <a:solidFill>
                <a:srgbClr val="FFFFFF"/>
              </a:solidFill>
              <a:latin typeface="Segoe UI Light"/>
              <a:cs typeface="Segoe UI Light"/>
            </a:endParaRPr>
          </a:p>
          <a:p>
            <a:pPr defTabSz="609585">
              <a:lnSpc>
                <a:spcPct val="130000"/>
              </a:lnSpc>
            </a:pPr>
            <a:endParaRPr lang="en-US" altLang="zh-CN" sz="1333" dirty="0">
              <a:solidFill>
                <a:srgbClr val="FFFFFF"/>
              </a:solidFill>
              <a:latin typeface="Segoe UI Light"/>
              <a:cs typeface="Segoe UI Light"/>
            </a:endParaRPr>
          </a:p>
          <a:p>
            <a:pPr defTabSz="609585">
              <a:lnSpc>
                <a:spcPct val="130000"/>
              </a:lnSpc>
            </a:pPr>
            <a:endParaRPr lang="en-US" altLang="zh-CN" sz="1333" dirty="0">
              <a:solidFill>
                <a:srgbClr val="FFFFFF"/>
              </a:solidFill>
              <a:latin typeface="Segoe UI Light"/>
              <a:cs typeface="Segoe UI Light"/>
            </a:endParaRPr>
          </a:p>
          <a:p>
            <a:pPr defTabSz="609585">
              <a:lnSpc>
                <a:spcPct val="130000"/>
              </a:lnSpc>
            </a:pPr>
            <a:endParaRPr lang="en-US" altLang="zh-CN" sz="1333" dirty="0">
              <a:solidFill>
                <a:srgbClr val="FFFFFF"/>
              </a:solidFill>
              <a:latin typeface="Segoe UI Light"/>
              <a:cs typeface="Segoe UI Light"/>
            </a:endParaRPr>
          </a:p>
          <a:p>
            <a:pPr defTabSz="609585">
              <a:lnSpc>
                <a:spcPct val="130000"/>
              </a:lnSpc>
            </a:pPr>
            <a:endParaRPr lang="en-US" altLang="zh-CN" sz="1333" dirty="0">
              <a:solidFill>
                <a:srgbClr val="FFFFFF"/>
              </a:solidFill>
              <a:latin typeface="Segoe UI Light"/>
              <a:cs typeface="Segoe UI Light"/>
            </a:endParaRPr>
          </a:p>
          <a:p>
            <a:pPr defTabSz="609585">
              <a:lnSpc>
                <a:spcPct val="130000"/>
              </a:lnSpc>
            </a:pPr>
            <a:r>
              <a:rPr lang="zh-CN" altLang="en-US" sz="1333" dirty="0">
                <a:solidFill>
                  <a:srgbClr val="FFFFFF"/>
                </a:solidFill>
                <a:latin typeface="Segoe UI Light"/>
                <a:cs typeface="Segoe UI Light"/>
              </a:rPr>
              <a:t>行距</a:t>
            </a:r>
            <a:endParaRPr lang="en-US" altLang="zh-CN" sz="1333" dirty="0">
              <a:solidFill>
                <a:srgbClr val="FFFFFF"/>
              </a:solidFill>
              <a:latin typeface="Segoe UI Light"/>
              <a:cs typeface="Segoe UI Light"/>
            </a:endParaRPr>
          </a:p>
          <a:p>
            <a:pPr defTabSz="609585">
              <a:lnSpc>
                <a:spcPct val="130000"/>
              </a:lnSpc>
            </a:pPr>
            <a:endParaRPr lang="en-US" altLang="zh-CN" sz="1333" dirty="0">
              <a:solidFill>
                <a:srgbClr val="FFFFFF"/>
              </a:solidFill>
              <a:latin typeface="Segoe UI Light"/>
              <a:cs typeface="Segoe UI Light"/>
            </a:endParaRPr>
          </a:p>
          <a:p>
            <a:pPr defTabSz="609585">
              <a:lnSpc>
                <a:spcPct val="130000"/>
              </a:lnSpc>
            </a:pPr>
            <a:endParaRPr lang="en-US" altLang="zh-CN" sz="1333" dirty="0">
              <a:solidFill>
                <a:srgbClr val="FFFFFF"/>
              </a:solidFill>
              <a:latin typeface="Segoe UI Light"/>
              <a:cs typeface="Segoe UI Light"/>
            </a:endParaRPr>
          </a:p>
          <a:p>
            <a:pPr defTabSz="609585">
              <a:lnSpc>
                <a:spcPct val="130000"/>
              </a:lnSpc>
            </a:pPr>
            <a:r>
              <a:rPr lang="zh-CN" altLang="en-US" sz="1333" dirty="0">
                <a:solidFill>
                  <a:srgbClr val="FFFFFF"/>
                </a:solidFill>
                <a:latin typeface="Segoe UI Light"/>
                <a:cs typeface="Segoe UI Light"/>
              </a:rPr>
              <a:t>背景图片出处</a:t>
            </a:r>
          </a:p>
          <a:p>
            <a:pPr defTabSz="609585">
              <a:lnSpc>
                <a:spcPct val="130000"/>
              </a:lnSpc>
            </a:pPr>
            <a:endParaRPr lang="zh-CN" altLang="en-US" sz="1333" dirty="0">
              <a:solidFill>
                <a:srgbClr val="FFFFFF"/>
              </a:solidFill>
              <a:latin typeface="Segoe UI Light"/>
              <a:cs typeface="Segoe UI Light"/>
            </a:endParaRPr>
          </a:p>
          <a:p>
            <a:pPr defTabSz="609585">
              <a:lnSpc>
                <a:spcPct val="130000"/>
              </a:lnSpc>
            </a:pPr>
            <a:endParaRPr lang="zh-CN" altLang="en-US" sz="1333" dirty="0">
              <a:solidFill>
                <a:srgbClr val="FFFFFF"/>
              </a:solidFill>
              <a:latin typeface="Segoe UI Light"/>
              <a:cs typeface="Segoe UI Light"/>
            </a:endParaRPr>
          </a:p>
          <a:p>
            <a:pPr defTabSz="609585">
              <a:lnSpc>
                <a:spcPct val="130000"/>
              </a:lnSpc>
            </a:pPr>
            <a:r>
              <a:rPr lang="zh-CN" altLang="en-US" sz="1333" dirty="0">
                <a:solidFill>
                  <a:srgbClr val="FFFFFF"/>
                </a:solidFill>
                <a:latin typeface="Segoe UI Light"/>
                <a:cs typeface="Segoe UI Light"/>
              </a:rPr>
              <a:t>声明</a:t>
            </a:r>
            <a:endParaRPr lang="en-US" altLang="zh-CN" sz="1333" dirty="0">
              <a:solidFill>
                <a:srgbClr val="FFFFFF"/>
              </a:solidFill>
              <a:latin typeface="Segoe UI Light"/>
              <a:cs typeface="Segoe UI Light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4395052" y="841948"/>
            <a:ext cx="3727457" cy="38257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>
              <a:lnSpc>
                <a:spcPct val="130000"/>
              </a:lnSpc>
            </a:pPr>
            <a:r>
              <a:rPr lang="zh-CN" altLang="en-US" sz="1333" dirty="0">
                <a:solidFill>
                  <a:srgbClr val="FFFFFF"/>
                </a:solidFill>
                <a:latin typeface="Segoe UI Light"/>
                <a:cs typeface="Segoe UI Light"/>
              </a:rPr>
              <a:t>英文 </a:t>
            </a:r>
            <a:r>
              <a:rPr lang="en-US" altLang="zh-CN" sz="1333" dirty="0">
                <a:solidFill>
                  <a:srgbClr val="FFFFFF"/>
                </a:solidFill>
                <a:latin typeface="Segoe UI Light"/>
                <a:cs typeface="Segoe UI Light"/>
              </a:rPr>
              <a:t>Calibri</a:t>
            </a:r>
          </a:p>
          <a:p>
            <a:pPr defTabSz="609585">
              <a:lnSpc>
                <a:spcPct val="130000"/>
              </a:lnSpc>
            </a:pPr>
            <a:endParaRPr lang="en-US" altLang="zh-CN" sz="1333" dirty="0">
              <a:solidFill>
                <a:srgbClr val="FFFFFF"/>
              </a:solidFill>
              <a:latin typeface="Segoe UI Light"/>
              <a:cs typeface="Segoe UI Light"/>
            </a:endParaRPr>
          </a:p>
          <a:p>
            <a:pPr defTabSz="609585">
              <a:lnSpc>
                <a:spcPct val="130000"/>
              </a:lnSpc>
            </a:pPr>
            <a:r>
              <a:rPr lang="zh-CN" altLang="en-US" sz="1333" dirty="0">
                <a:solidFill>
                  <a:srgbClr val="FFFFFF"/>
                </a:solidFill>
                <a:latin typeface="Segoe UI Light"/>
                <a:cs typeface="Segoe UI Light"/>
              </a:rPr>
              <a:t>中文 微软雅黑</a:t>
            </a:r>
            <a:endParaRPr lang="en-US" altLang="zh-CN" sz="1333" dirty="0">
              <a:solidFill>
                <a:srgbClr val="FFFFFF"/>
              </a:solidFill>
              <a:latin typeface="Segoe UI Light"/>
              <a:cs typeface="Segoe UI Light"/>
            </a:endParaRPr>
          </a:p>
          <a:p>
            <a:pPr defTabSz="609585">
              <a:lnSpc>
                <a:spcPct val="130000"/>
              </a:lnSpc>
            </a:pPr>
            <a:endParaRPr lang="en-US" altLang="zh-CN" sz="1333" dirty="0">
              <a:solidFill>
                <a:srgbClr val="FFFFFF"/>
              </a:solidFill>
              <a:latin typeface="Segoe UI Light"/>
              <a:cs typeface="Segoe UI Light"/>
            </a:endParaRPr>
          </a:p>
          <a:p>
            <a:pPr defTabSz="609585">
              <a:lnSpc>
                <a:spcPct val="130000"/>
              </a:lnSpc>
            </a:pPr>
            <a:endParaRPr lang="en-US" altLang="zh-CN" sz="1333" dirty="0">
              <a:solidFill>
                <a:srgbClr val="FFFFFF"/>
              </a:solidFill>
              <a:latin typeface="Segoe UI Light"/>
              <a:cs typeface="Segoe UI Light"/>
            </a:endParaRPr>
          </a:p>
          <a:p>
            <a:pPr defTabSz="609585">
              <a:lnSpc>
                <a:spcPct val="130000"/>
              </a:lnSpc>
            </a:pPr>
            <a:r>
              <a:rPr lang="zh-CN" altLang="en-US" sz="1333" dirty="0">
                <a:solidFill>
                  <a:srgbClr val="FFFFFF"/>
                </a:solidFill>
                <a:latin typeface="Segoe UI Light"/>
                <a:cs typeface="Segoe UI Light"/>
              </a:rPr>
              <a:t>正文 </a:t>
            </a:r>
            <a:r>
              <a:rPr lang="en-US" altLang="zh-CN" sz="1333" dirty="0">
                <a:solidFill>
                  <a:srgbClr val="FFFFFF"/>
                </a:solidFill>
                <a:latin typeface="Segoe UI Light"/>
                <a:cs typeface="Segoe UI Light"/>
              </a:rPr>
              <a:t>1.3</a:t>
            </a:r>
          </a:p>
          <a:p>
            <a:pPr defTabSz="609585">
              <a:lnSpc>
                <a:spcPct val="130000"/>
              </a:lnSpc>
            </a:pPr>
            <a:endParaRPr lang="en-US" altLang="zh-CN" sz="1333" dirty="0">
              <a:solidFill>
                <a:srgbClr val="FFFFFF"/>
              </a:solidFill>
              <a:latin typeface="Segoe UI Light"/>
              <a:cs typeface="Segoe UI Light"/>
            </a:endParaRPr>
          </a:p>
          <a:p>
            <a:pPr defTabSz="609585">
              <a:lnSpc>
                <a:spcPct val="130000"/>
              </a:lnSpc>
            </a:pPr>
            <a:endParaRPr lang="en-US" altLang="zh-CN" sz="1333" dirty="0">
              <a:solidFill>
                <a:srgbClr val="FFFFFF"/>
              </a:solidFill>
              <a:latin typeface="Segoe UI Light"/>
              <a:cs typeface="Segoe UI Light"/>
            </a:endParaRPr>
          </a:p>
          <a:p>
            <a:pPr defTabSz="609585">
              <a:lnSpc>
                <a:spcPct val="130000"/>
              </a:lnSpc>
            </a:pPr>
            <a:r>
              <a:rPr lang="en-US" altLang="zh-CN" sz="1333" dirty="0" err="1">
                <a:solidFill>
                  <a:srgbClr val="FFFFFF"/>
                </a:solidFill>
                <a:latin typeface="Segoe UI Light"/>
                <a:cs typeface="Segoe UI Light"/>
              </a:rPr>
              <a:t>cn.bing.com</a:t>
            </a:r>
            <a:endParaRPr lang="zh-CN" altLang="en-US" sz="1333" dirty="0">
              <a:solidFill>
                <a:srgbClr val="FFFFFF"/>
              </a:solidFill>
              <a:latin typeface="Segoe UI Light"/>
              <a:cs typeface="Segoe UI Light"/>
            </a:endParaRPr>
          </a:p>
          <a:p>
            <a:pPr defTabSz="609585">
              <a:lnSpc>
                <a:spcPct val="130000"/>
              </a:lnSpc>
            </a:pPr>
            <a:endParaRPr lang="zh-CN" altLang="en-US" sz="1333" dirty="0">
              <a:solidFill>
                <a:srgbClr val="FFFFFF"/>
              </a:solidFill>
              <a:latin typeface="Segoe UI Light"/>
              <a:cs typeface="Segoe UI Light"/>
            </a:endParaRPr>
          </a:p>
          <a:p>
            <a:pPr defTabSz="609585">
              <a:lnSpc>
                <a:spcPct val="130000"/>
              </a:lnSpc>
            </a:pPr>
            <a:endParaRPr lang="zh-CN" altLang="en-US" sz="1333" dirty="0">
              <a:solidFill>
                <a:srgbClr val="FFFFFF"/>
              </a:solidFill>
              <a:latin typeface="Segoe UI Light"/>
              <a:cs typeface="Segoe UI Light"/>
            </a:endParaRPr>
          </a:p>
          <a:p>
            <a:pPr defTabSz="609585">
              <a:lnSpc>
                <a:spcPct val="130000"/>
              </a:lnSpc>
            </a:pPr>
            <a:r>
              <a:rPr lang="zh-CN" altLang="en-US" sz="1333" dirty="0">
                <a:solidFill>
                  <a:prstClr val="white"/>
                </a:solidFill>
              </a:rPr>
              <a:t>互联网是一个开放共享的平台</a:t>
            </a:r>
          </a:p>
          <a:p>
            <a:pPr defTabSz="609585">
              <a:lnSpc>
                <a:spcPct val="130000"/>
              </a:lnSpc>
            </a:pPr>
            <a:r>
              <a:rPr lang="zh-CN" altLang="en-US" sz="1333" dirty="0">
                <a:solidFill>
                  <a:prstClr val="white"/>
                </a:solidFill>
              </a:rPr>
              <a:t>Office</a:t>
            </a:r>
            <a:r>
              <a:rPr lang="en-US" altLang="zh-CN" sz="1333" dirty="0">
                <a:solidFill>
                  <a:prstClr val="white"/>
                </a:solidFill>
              </a:rPr>
              <a:t>PLUS </a:t>
            </a:r>
            <a:r>
              <a:rPr lang="zh-CN" altLang="en-US" sz="1333" dirty="0">
                <a:solidFill>
                  <a:prstClr val="white"/>
                </a:solidFill>
              </a:rPr>
              <a:t>部分设计灵感与元素来源于网络</a:t>
            </a:r>
          </a:p>
          <a:p>
            <a:pPr defTabSz="609585">
              <a:lnSpc>
                <a:spcPct val="130000"/>
              </a:lnSpc>
            </a:pPr>
            <a:r>
              <a:rPr lang="zh-CN" altLang="en-US" sz="1333" dirty="0">
                <a:solidFill>
                  <a:prstClr val="white"/>
                </a:solidFill>
              </a:rPr>
              <a:t>如有建议请联系officeplus@microsoft.com</a:t>
            </a:r>
            <a:endParaRPr lang="en-US" altLang="zh-CN" sz="1333" dirty="0">
              <a:solidFill>
                <a:srgbClr val="FFFFFF"/>
              </a:solidFill>
              <a:latin typeface="Segoe UI Light"/>
              <a:cs typeface="Segoe UI Light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440603" y="182445"/>
            <a:ext cx="816249" cy="25654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609585"/>
            <a:r>
              <a:rPr kumimoji="1" lang="en-US" altLang="zh-CN" sz="1067" dirty="0" err="1">
                <a:solidFill>
                  <a:srgbClr val="FFFFFF"/>
                </a:solidFill>
                <a:latin typeface="Segoe UI Light"/>
                <a:cs typeface="Segoe UI Light"/>
              </a:rPr>
              <a:t>OfficePLUS</a:t>
            </a:r>
            <a:endParaRPr lang="zh-CN" altLang="en-US" sz="1067" dirty="0">
              <a:solidFill>
                <a:srgbClr val="FFFFFF"/>
              </a:solidFill>
              <a:latin typeface="Segoe UI Light"/>
              <a:cs typeface="Segoe UI Light"/>
            </a:endParaRPr>
          </a:p>
        </p:txBody>
      </p:sp>
    </p:spTree>
    <p:extLst>
      <p:ext uri="{BB962C8B-B14F-4D97-AF65-F5344CB8AC3E}">
        <p14:creationId xmlns:p14="http://schemas.microsoft.com/office/powerpoint/2010/main" val="81643406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hlinkClick r:id="rId2"/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6431" y="2521041"/>
            <a:ext cx="3177903" cy="418585"/>
          </a:xfrm>
          <a:prstGeom prst="rect">
            <a:avLst/>
          </a:prstGeom>
        </p:spPr>
      </p:pic>
      <p:sp>
        <p:nvSpPr>
          <p:cNvPr id="9" name="文本框 8"/>
          <p:cNvSpPr txBox="1"/>
          <p:nvPr userDrawn="1"/>
        </p:nvSpPr>
        <p:spPr>
          <a:xfrm>
            <a:off x="4259746" y="3740751"/>
            <a:ext cx="3347390" cy="2974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1333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点击</a:t>
            </a:r>
            <a:r>
              <a:rPr kumimoji="1" lang="en-US" altLang="zh-CN" sz="1333" dirty="0">
                <a:solidFill>
                  <a:schemeClr val="tx1">
                    <a:lumMod val="75000"/>
                    <a:lumOff val="25000"/>
                  </a:schemeClr>
                </a:solidFill>
              </a:rPr>
              <a:t>Logo</a:t>
            </a:r>
            <a:r>
              <a:rPr kumimoji="1" lang="zh-CN" altLang="en-US" sz="1333" dirty="0">
                <a:solidFill>
                  <a:schemeClr val="tx1">
                    <a:lumMod val="75000"/>
                    <a:lumOff val="25000"/>
                  </a:schemeClr>
                </a:solidFill>
              </a:rPr>
              <a:t>获取更多优质模板（放映模式）</a:t>
            </a:r>
          </a:p>
        </p:txBody>
      </p:sp>
    </p:spTree>
    <p:extLst>
      <p:ext uri="{BB962C8B-B14F-4D97-AF65-F5344CB8AC3E}">
        <p14:creationId xmlns:p14="http://schemas.microsoft.com/office/powerpoint/2010/main" val="18131629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031739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emf"/><Relationship Id="rId13" Type="http://schemas.openxmlformats.org/officeDocument/2006/relationships/image" Target="../media/image13.png"/><Relationship Id="rId3" Type="http://schemas.openxmlformats.org/officeDocument/2006/relationships/image" Target="../media/image3.emf"/><Relationship Id="rId7" Type="http://schemas.openxmlformats.org/officeDocument/2006/relationships/image" Target="../media/image7.emf"/><Relationship Id="rId12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emf"/><Relationship Id="rId11" Type="http://schemas.openxmlformats.org/officeDocument/2006/relationships/image" Target="../media/image11.png"/><Relationship Id="rId5" Type="http://schemas.openxmlformats.org/officeDocument/2006/relationships/image" Target="../media/image5.emf"/><Relationship Id="rId15" Type="http://schemas.openxmlformats.org/officeDocument/2006/relationships/image" Target="../media/image15.png"/><Relationship Id="rId10" Type="http://schemas.openxmlformats.org/officeDocument/2006/relationships/image" Target="../media/image10.png"/><Relationship Id="rId4" Type="http://schemas.openxmlformats.org/officeDocument/2006/relationships/image" Target="../media/image4.emf"/><Relationship Id="rId9" Type="http://schemas.openxmlformats.org/officeDocument/2006/relationships/image" Target="../media/image9.png"/><Relationship Id="rId14" Type="http://schemas.openxmlformats.org/officeDocument/2006/relationships/image" Target="../media/image14.emf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em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emf"/><Relationship Id="rId3" Type="http://schemas.openxmlformats.org/officeDocument/2006/relationships/image" Target="../media/image25.emf"/><Relationship Id="rId7" Type="http://schemas.openxmlformats.org/officeDocument/2006/relationships/image" Target="../media/image29.emf"/><Relationship Id="rId12" Type="http://schemas.openxmlformats.org/officeDocument/2006/relationships/image" Target="../media/image3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emf"/><Relationship Id="rId11" Type="http://schemas.openxmlformats.org/officeDocument/2006/relationships/image" Target="../media/image33.png"/><Relationship Id="rId5" Type="http://schemas.openxmlformats.org/officeDocument/2006/relationships/image" Target="../media/image27.emf"/><Relationship Id="rId10" Type="http://schemas.openxmlformats.org/officeDocument/2006/relationships/image" Target="../media/image32.png"/><Relationship Id="rId4" Type="http://schemas.openxmlformats.org/officeDocument/2006/relationships/image" Target="../media/image26.emf"/><Relationship Id="rId9" Type="http://schemas.openxmlformats.org/officeDocument/2006/relationships/image" Target="../media/image31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emf"/><Relationship Id="rId3" Type="http://schemas.openxmlformats.org/officeDocument/2006/relationships/image" Target="../media/image35.emf"/><Relationship Id="rId7" Type="http://schemas.openxmlformats.org/officeDocument/2006/relationships/image" Target="../media/image39.emf"/><Relationship Id="rId12" Type="http://schemas.openxmlformats.org/officeDocument/2006/relationships/image" Target="../media/image44.em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emf"/><Relationship Id="rId11" Type="http://schemas.openxmlformats.org/officeDocument/2006/relationships/image" Target="../media/image43.emf"/><Relationship Id="rId5" Type="http://schemas.openxmlformats.org/officeDocument/2006/relationships/image" Target="../media/image37.emf"/><Relationship Id="rId10" Type="http://schemas.openxmlformats.org/officeDocument/2006/relationships/image" Target="../media/image42.emf"/><Relationship Id="rId4" Type="http://schemas.openxmlformats.org/officeDocument/2006/relationships/image" Target="../media/image36.emf"/><Relationship Id="rId9" Type="http://schemas.openxmlformats.org/officeDocument/2006/relationships/image" Target="../media/image41.e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7" Type="http://schemas.openxmlformats.org/officeDocument/2006/relationships/image" Target="../media/image5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89304" y="1719016"/>
            <a:ext cx="7571295" cy="2751518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pPr>
              <a:lnSpc>
                <a:spcPct val="120000"/>
              </a:lnSpc>
            </a:pPr>
            <a:r>
              <a:rPr kumimoji="1" lang="zh-CN" altLang="en-US" sz="7200" b="1" dirty="0" smtClean="0">
                <a:solidFill>
                  <a:schemeClr val="bg1"/>
                </a:solidFill>
              </a:rPr>
              <a:t>基于大数据的</a:t>
            </a:r>
            <a:endParaRPr kumimoji="1" lang="en-US" altLang="zh-CN" sz="7200" b="1" dirty="0" smtClean="0">
              <a:solidFill>
                <a:schemeClr val="bg1"/>
              </a:solidFill>
            </a:endParaRPr>
          </a:p>
          <a:p>
            <a:pPr>
              <a:lnSpc>
                <a:spcPct val="120000"/>
              </a:lnSpc>
            </a:pPr>
            <a:r>
              <a:rPr kumimoji="1" lang="zh-CN" altLang="en-US" sz="7200" b="1" dirty="0">
                <a:solidFill>
                  <a:schemeClr val="bg1"/>
                </a:solidFill>
              </a:rPr>
              <a:t>智慧</a:t>
            </a:r>
            <a:r>
              <a:rPr kumimoji="1" lang="zh-CN" altLang="en-US" sz="7200" b="1" dirty="0" smtClean="0">
                <a:solidFill>
                  <a:schemeClr val="bg1"/>
                </a:solidFill>
              </a:rPr>
              <a:t>网络运维平台</a:t>
            </a:r>
            <a:endParaRPr kumimoji="1" lang="zh-CN" altLang="en-US" sz="7200" b="1" dirty="0">
              <a:solidFill>
                <a:schemeClr val="bg1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999043" y="4754621"/>
            <a:ext cx="3342138" cy="400105"/>
          </a:xfrm>
          <a:prstGeom prst="rect">
            <a:avLst/>
          </a:prstGeom>
          <a:solidFill>
            <a:schemeClr val="bg1"/>
          </a:solidFill>
        </p:spPr>
        <p:txBody>
          <a:bodyPr wrap="square" lIns="91436" tIns="45718" rIns="91436" bIns="45718">
            <a:spAutoFit/>
          </a:bodyPr>
          <a:lstStyle/>
          <a:p>
            <a:r>
              <a:rPr kumimoji="1" lang="en-US" altLang="zh-CN" sz="2000" dirty="0"/>
              <a:t>PRESENTED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BY</a:t>
            </a:r>
            <a:r>
              <a:rPr kumimoji="1" lang="zh-CN" altLang="en-US" sz="2000" dirty="0"/>
              <a:t> </a:t>
            </a:r>
            <a:r>
              <a:rPr kumimoji="1" lang="en-US" altLang="zh-CN" sz="2000" dirty="0" smtClean="0"/>
              <a:t>EASTONE</a:t>
            </a:r>
          </a:p>
        </p:txBody>
      </p:sp>
    </p:spTree>
    <p:extLst>
      <p:ext uri="{BB962C8B-B14F-4D97-AF65-F5344CB8AC3E}">
        <p14:creationId xmlns:p14="http://schemas.microsoft.com/office/powerpoint/2010/main" val="4204386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628649" y="3075055"/>
            <a:ext cx="273598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b="1" dirty="0" smtClean="0">
                <a:solidFill>
                  <a:schemeClr val="bg1"/>
                </a:solidFill>
              </a:rPr>
              <a:t>CONTENT</a:t>
            </a:r>
            <a:endParaRPr lang="zh-CN" altLang="en-US" sz="4000" b="1" dirty="0">
              <a:solidFill>
                <a:schemeClr val="bg1"/>
              </a:solidFill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5591175" y="990600"/>
            <a:ext cx="781050" cy="762000"/>
            <a:chOff x="5591175" y="990600"/>
            <a:chExt cx="781050" cy="762000"/>
          </a:xfrm>
        </p:grpSpPr>
        <p:sp>
          <p:nvSpPr>
            <p:cNvPr id="4" name="椭圆 3"/>
            <p:cNvSpPr/>
            <p:nvPr/>
          </p:nvSpPr>
          <p:spPr>
            <a:xfrm>
              <a:off x="5610225" y="990600"/>
              <a:ext cx="762000" cy="762000"/>
            </a:xfrm>
            <a:prstGeom prst="ellipse">
              <a:avLst/>
            </a:prstGeom>
            <a:solidFill>
              <a:schemeClr val="bg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文本框 4"/>
            <p:cNvSpPr txBox="1"/>
            <p:nvPr/>
          </p:nvSpPr>
          <p:spPr>
            <a:xfrm>
              <a:off x="5591175" y="990600"/>
              <a:ext cx="78105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4000" dirty="0" smtClean="0">
                  <a:solidFill>
                    <a:schemeClr val="bg1"/>
                  </a:solidFill>
                </a:rPr>
                <a:t>01</a:t>
              </a:r>
              <a:endParaRPr lang="zh-CN" altLang="en-US" sz="40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5591175" y="2381250"/>
            <a:ext cx="781050" cy="762000"/>
            <a:chOff x="5591175" y="2381250"/>
            <a:chExt cx="781050" cy="762000"/>
          </a:xfrm>
        </p:grpSpPr>
        <p:sp>
          <p:nvSpPr>
            <p:cNvPr id="7" name="椭圆 6"/>
            <p:cNvSpPr/>
            <p:nvPr/>
          </p:nvSpPr>
          <p:spPr>
            <a:xfrm>
              <a:off x="5610225" y="2381250"/>
              <a:ext cx="762000" cy="762000"/>
            </a:xfrm>
            <a:prstGeom prst="ellipse">
              <a:avLst/>
            </a:prstGeom>
            <a:solidFill>
              <a:schemeClr val="bg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5591175" y="2400300"/>
              <a:ext cx="78105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4000" dirty="0" smtClean="0">
                  <a:solidFill>
                    <a:schemeClr val="bg1"/>
                  </a:solidFill>
                </a:rPr>
                <a:t>02</a:t>
              </a:r>
              <a:endParaRPr lang="zh-CN" altLang="en-US" sz="40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5591175" y="3771900"/>
            <a:ext cx="781050" cy="762000"/>
            <a:chOff x="5591175" y="3771900"/>
            <a:chExt cx="781050" cy="762000"/>
          </a:xfrm>
        </p:grpSpPr>
        <p:sp>
          <p:nvSpPr>
            <p:cNvPr id="10" name="椭圆 9"/>
            <p:cNvSpPr/>
            <p:nvPr/>
          </p:nvSpPr>
          <p:spPr>
            <a:xfrm>
              <a:off x="5610225" y="3771900"/>
              <a:ext cx="762000" cy="762000"/>
            </a:xfrm>
            <a:prstGeom prst="ellipse">
              <a:avLst/>
            </a:prstGeom>
            <a:solidFill>
              <a:schemeClr val="bg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5591175" y="3810000"/>
              <a:ext cx="78105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4000" dirty="0" smtClean="0">
                  <a:solidFill>
                    <a:schemeClr val="bg1"/>
                  </a:solidFill>
                </a:rPr>
                <a:t>03</a:t>
              </a:r>
              <a:endParaRPr lang="zh-CN" altLang="en-US" sz="40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5591175" y="5162550"/>
            <a:ext cx="781050" cy="762000"/>
            <a:chOff x="5591175" y="5162550"/>
            <a:chExt cx="781050" cy="762000"/>
          </a:xfrm>
        </p:grpSpPr>
        <p:sp>
          <p:nvSpPr>
            <p:cNvPr id="13" name="椭圆 12"/>
            <p:cNvSpPr/>
            <p:nvPr/>
          </p:nvSpPr>
          <p:spPr>
            <a:xfrm>
              <a:off x="5610225" y="5162550"/>
              <a:ext cx="762000" cy="762000"/>
            </a:xfrm>
            <a:prstGeom prst="ellipse">
              <a:avLst/>
            </a:prstGeom>
            <a:solidFill>
              <a:schemeClr val="bg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5591175" y="5174159"/>
              <a:ext cx="78105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4000" dirty="0" smtClean="0">
                  <a:solidFill>
                    <a:schemeClr val="bg1"/>
                  </a:solidFill>
                </a:rPr>
                <a:t>04</a:t>
              </a:r>
              <a:endParaRPr lang="zh-CN" altLang="en-US" sz="4400" dirty="0">
                <a:solidFill>
                  <a:schemeClr val="bg1"/>
                </a:solidFill>
              </a:endParaRPr>
            </a:p>
          </p:txBody>
        </p:sp>
      </p:grpSp>
      <p:sp>
        <p:nvSpPr>
          <p:cNvPr id="15" name="文本框 14"/>
          <p:cNvSpPr txBox="1"/>
          <p:nvPr/>
        </p:nvSpPr>
        <p:spPr>
          <a:xfrm>
            <a:off x="6724650" y="1109990"/>
            <a:ext cx="43053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项目背景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6724650" y="2500640"/>
            <a:ext cx="43053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平台建设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6724650" y="3891290"/>
            <a:ext cx="43053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技术实现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6724650" y="5281940"/>
            <a:ext cx="43053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建设规划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645156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205160" y="1372916"/>
            <a:ext cx="857250" cy="31547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9900" b="1" dirty="0" smtClean="0">
                <a:solidFill>
                  <a:schemeClr val="bg1"/>
                </a:solidFill>
              </a:rPr>
              <a:t>1</a:t>
            </a:r>
            <a:endParaRPr lang="zh-CN" altLang="en-US" sz="19900" b="1" dirty="0">
              <a:solidFill>
                <a:schemeClr val="bg1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981700" y="2778865"/>
            <a:ext cx="478155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400" b="1" dirty="0" smtClean="0">
                <a:solidFill>
                  <a:schemeClr val="bg1"/>
                </a:solidFill>
                <a:effectLst>
                  <a:glow rad="228600">
                    <a:schemeClr val="accent3">
                      <a:satMod val="175000"/>
                      <a:alpha val="40000"/>
                    </a:schemeClr>
                  </a:glo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项目背景</a:t>
            </a:r>
            <a:endParaRPr lang="zh-CN" altLang="en-US" sz="4400" b="1" dirty="0">
              <a:solidFill>
                <a:schemeClr val="bg1"/>
              </a:solidFill>
              <a:effectLst>
                <a:glow rad="228600">
                  <a:schemeClr val="accent3">
                    <a:satMod val="175000"/>
                    <a:alpha val="40000"/>
                  </a:schemeClr>
                </a:glo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879239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等腰三角形 2"/>
          <p:cNvSpPr/>
          <p:nvPr/>
        </p:nvSpPr>
        <p:spPr>
          <a:xfrm rot="5400000">
            <a:off x="924947" y="919000"/>
            <a:ext cx="1689827" cy="2010502"/>
          </a:xfrm>
          <a:custGeom>
            <a:avLst/>
            <a:gdLst/>
            <a:ahLst/>
            <a:cxnLst/>
            <a:rect l="l" t="t" r="r" b="b"/>
            <a:pathLst>
              <a:path w="1185812" h="1410841">
                <a:moveTo>
                  <a:pt x="0" y="825055"/>
                </a:moveTo>
                <a:lnTo>
                  <a:pt x="199636" y="239269"/>
                </a:lnTo>
                <a:lnTo>
                  <a:pt x="532687" y="239269"/>
                </a:lnTo>
                <a:lnTo>
                  <a:pt x="671463" y="0"/>
                </a:lnTo>
                <a:lnTo>
                  <a:pt x="810239" y="239269"/>
                </a:lnTo>
                <a:lnTo>
                  <a:pt x="1185812" y="239269"/>
                </a:lnTo>
                <a:lnTo>
                  <a:pt x="1185812" y="1410841"/>
                </a:lnTo>
                <a:lnTo>
                  <a:pt x="199636" y="1410841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914400"/>
            <a:endParaRPr lang="zh-CN" altLang="en-US">
              <a:solidFill>
                <a:prstClr val="white"/>
              </a:solidFill>
            </a:endParaRPr>
          </a:p>
        </p:txBody>
      </p:sp>
      <p:cxnSp>
        <p:nvCxnSpPr>
          <p:cNvPr id="2" name="直接连接符 1"/>
          <p:cNvCxnSpPr/>
          <p:nvPr/>
        </p:nvCxnSpPr>
        <p:spPr>
          <a:xfrm>
            <a:off x="-1257300" y="762000"/>
            <a:ext cx="5086350" cy="0"/>
          </a:xfrm>
          <a:prstGeom prst="line">
            <a:avLst/>
          </a:prstGeom>
          <a:ln>
            <a:solidFill>
              <a:schemeClr val="bg1"/>
            </a:solidFill>
            <a:tailEnd type="oval" w="lg" len="lg"/>
          </a:ln>
          <a:effectLst>
            <a:glow rad="139700">
              <a:schemeClr val="accent3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接连接符 2"/>
          <p:cNvCxnSpPr/>
          <p:nvPr/>
        </p:nvCxnSpPr>
        <p:spPr>
          <a:xfrm flipH="1">
            <a:off x="8343900" y="762000"/>
            <a:ext cx="5086350" cy="0"/>
          </a:xfrm>
          <a:prstGeom prst="line">
            <a:avLst/>
          </a:prstGeom>
          <a:ln>
            <a:solidFill>
              <a:schemeClr val="bg1"/>
            </a:solidFill>
            <a:tailEnd type="oval" w="lg" len="lg"/>
          </a:ln>
          <a:effectLst>
            <a:glow rad="139700">
              <a:schemeClr val="accent3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/>
        </p:nvSpPr>
        <p:spPr>
          <a:xfrm>
            <a:off x="4355049" y="452460"/>
            <a:ext cx="34628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b="1" dirty="0" smtClean="0">
                <a:solidFill>
                  <a:schemeClr val="bg1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网管工作的七大问题</a:t>
            </a:r>
            <a:endParaRPr lang="zh-CN" altLang="en-US" sz="2800" b="1" dirty="0">
              <a:solidFill>
                <a:schemeClr val="bg1"/>
              </a:solidFill>
              <a:effectLst>
                <a:glow rad="228600">
                  <a:schemeClr val="accent1">
                    <a:satMod val="175000"/>
                    <a:alpha val="40000"/>
                  </a:schemeClr>
                </a:glo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6" name="等腰三角形 2"/>
          <p:cNvSpPr/>
          <p:nvPr/>
        </p:nvSpPr>
        <p:spPr>
          <a:xfrm rot="5400000">
            <a:off x="2817593" y="918999"/>
            <a:ext cx="1689827" cy="2010502"/>
          </a:xfrm>
          <a:custGeom>
            <a:avLst/>
            <a:gdLst/>
            <a:ahLst/>
            <a:cxnLst/>
            <a:rect l="l" t="t" r="r" b="b"/>
            <a:pathLst>
              <a:path w="1185812" h="1410841">
                <a:moveTo>
                  <a:pt x="0" y="825055"/>
                </a:moveTo>
                <a:lnTo>
                  <a:pt x="199636" y="239269"/>
                </a:lnTo>
                <a:lnTo>
                  <a:pt x="532687" y="239269"/>
                </a:lnTo>
                <a:lnTo>
                  <a:pt x="671463" y="0"/>
                </a:lnTo>
                <a:lnTo>
                  <a:pt x="810239" y="239269"/>
                </a:lnTo>
                <a:lnTo>
                  <a:pt x="1185812" y="239269"/>
                </a:lnTo>
                <a:lnTo>
                  <a:pt x="1185812" y="1410841"/>
                </a:lnTo>
                <a:lnTo>
                  <a:pt x="756105" y="1410841"/>
                </a:lnTo>
                <a:lnTo>
                  <a:pt x="667714" y="1258442"/>
                </a:lnTo>
                <a:lnTo>
                  <a:pt x="579322" y="1410841"/>
                </a:lnTo>
                <a:lnTo>
                  <a:pt x="199636" y="1410841"/>
                </a:lnTo>
                <a:close/>
              </a:path>
            </a:pathLst>
          </a:cu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914400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57" name="等腰三角形 2"/>
          <p:cNvSpPr/>
          <p:nvPr/>
        </p:nvSpPr>
        <p:spPr>
          <a:xfrm rot="5400000">
            <a:off x="4753687" y="919000"/>
            <a:ext cx="1689827" cy="2010502"/>
          </a:xfrm>
          <a:custGeom>
            <a:avLst/>
            <a:gdLst/>
            <a:ahLst/>
            <a:cxnLst/>
            <a:rect l="l" t="t" r="r" b="b"/>
            <a:pathLst>
              <a:path w="1185812" h="1410841">
                <a:moveTo>
                  <a:pt x="0" y="825055"/>
                </a:moveTo>
                <a:lnTo>
                  <a:pt x="199636" y="239269"/>
                </a:lnTo>
                <a:lnTo>
                  <a:pt x="532687" y="239269"/>
                </a:lnTo>
                <a:lnTo>
                  <a:pt x="671463" y="0"/>
                </a:lnTo>
                <a:lnTo>
                  <a:pt x="810239" y="239269"/>
                </a:lnTo>
                <a:lnTo>
                  <a:pt x="1185812" y="239269"/>
                </a:lnTo>
                <a:lnTo>
                  <a:pt x="1185812" y="1410841"/>
                </a:lnTo>
                <a:lnTo>
                  <a:pt x="756105" y="1410841"/>
                </a:lnTo>
                <a:lnTo>
                  <a:pt x="667714" y="1258442"/>
                </a:lnTo>
                <a:lnTo>
                  <a:pt x="579322" y="1410841"/>
                </a:lnTo>
                <a:lnTo>
                  <a:pt x="199636" y="1410841"/>
                </a:lnTo>
                <a:close/>
              </a:path>
            </a:pathLst>
          </a:custGeom>
          <a:solidFill>
            <a:schemeClr val="bg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914400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58" name="等腰三角形 2"/>
          <p:cNvSpPr/>
          <p:nvPr/>
        </p:nvSpPr>
        <p:spPr>
          <a:xfrm rot="5400000">
            <a:off x="6689784" y="919002"/>
            <a:ext cx="1689827" cy="2010502"/>
          </a:xfrm>
          <a:custGeom>
            <a:avLst/>
            <a:gdLst/>
            <a:ahLst/>
            <a:cxnLst/>
            <a:rect l="l" t="t" r="r" b="b"/>
            <a:pathLst>
              <a:path w="1185812" h="1410841">
                <a:moveTo>
                  <a:pt x="0" y="825055"/>
                </a:moveTo>
                <a:lnTo>
                  <a:pt x="199636" y="239269"/>
                </a:lnTo>
                <a:lnTo>
                  <a:pt x="532687" y="239269"/>
                </a:lnTo>
                <a:lnTo>
                  <a:pt x="671463" y="0"/>
                </a:lnTo>
                <a:lnTo>
                  <a:pt x="810239" y="239269"/>
                </a:lnTo>
                <a:lnTo>
                  <a:pt x="1185812" y="239269"/>
                </a:lnTo>
                <a:lnTo>
                  <a:pt x="1185812" y="1410841"/>
                </a:lnTo>
                <a:lnTo>
                  <a:pt x="756105" y="1410841"/>
                </a:lnTo>
                <a:lnTo>
                  <a:pt x="667714" y="1258442"/>
                </a:lnTo>
                <a:lnTo>
                  <a:pt x="579322" y="1410841"/>
                </a:lnTo>
                <a:lnTo>
                  <a:pt x="199636" y="1410841"/>
                </a:lnTo>
                <a:close/>
              </a:path>
            </a:pathLst>
          </a:cu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914400"/>
            <a:endParaRPr lang="zh-CN" altLang="en-US">
              <a:solidFill>
                <a:prstClr val="white"/>
              </a:solidFill>
            </a:endParaRPr>
          </a:p>
        </p:txBody>
      </p:sp>
      <p:grpSp>
        <p:nvGrpSpPr>
          <p:cNvPr id="61" name="组合 22"/>
          <p:cNvGrpSpPr>
            <a:grpSpLocks/>
          </p:cNvGrpSpPr>
          <p:nvPr/>
        </p:nvGrpSpPr>
        <p:grpSpPr bwMode="auto">
          <a:xfrm>
            <a:off x="3268830" y="1442105"/>
            <a:ext cx="504140" cy="1119430"/>
            <a:chOff x="1736301" y="3645024"/>
            <a:chExt cx="557973" cy="1241674"/>
          </a:xfrm>
          <a:solidFill>
            <a:schemeClr val="bg1"/>
          </a:solidFill>
        </p:grpSpPr>
        <p:sp>
          <p:nvSpPr>
            <p:cNvPr id="62" name="梯形 17"/>
            <p:cNvSpPr/>
            <p:nvPr/>
          </p:nvSpPr>
          <p:spPr>
            <a:xfrm flipV="1">
              <a:off x="1736301" y="3645024"/>
              <a:ext cx="557973" cy="1008311"/>
            </a:xfrm>
            <a:custGeom>
              <a:avLst/>
              <a:gdLst/>
              <a:ahLst/>
              <a:cxnLst/>
              <a:rect l="l" t="t" r="r" b="b"/>
              <a:pathLst>
                <a:path w="557973" h="1007724">
                  <a:moveTo>
                    <a:pt x="278986" y="1007724"/>
                  </a:moveTo>
                  <a:cubicBezTo>
                    <a:pt x="379960" y="1007724"/>
                    <a:pt x="480933" y="969204"/>
                    <a:pt x="557973" y="892164"/>
                  </a:cubicBezTo>
                  <a:lnTo>
                    <a:pt x="557972" y="892164"/>
                  </a:lnTo>
                  <a:cubicBezTo>
                    <a:pt x="712052" y="738084"/>
                    <a:pt x="712052" y="488271"/>
                    <a:pt x="557972" y="334192"/>
                  </a:cubicBezTo>
                  <a:lnTo>
                    <a:pt x="440691" y="216911"/>
                  </a:lnTo>
                  <a:lnTo>
                    <a:pt x="386463" y="0"/>
                  </a:lnTo>
                  <a:lnTo>
                    <a:pt x="160407" y="0"/>
                  </a:lnTo>
                  <a:lnTo>
                    <a:pt x="102479" y="231714"/>
                  </a:lnTo>
                  <a:lnTo>
                    <a:pt x="0" y="334192"/>
                  </a:lnTo>
                  <a:cubicBezTo>
                    <a:pt x="-154080" y="488272"/>
                    <a:pt x="-154080" y="738085"/>
                    <a:pt x="0" y="892164"/>
                  </a:cubicBezTo>
                  <a:cubicBezTo>
                    <a:pt x="77040" y="969204"/>
                    <a:pt x="178013" y="1007724"/>
                    <a:pt x="278986" y="1007724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400">
                <a:defRPr/>
              </a:pPr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63" name="圆角矩形 19"/>
            <p:cNvSpPr/>
            <p:nvPr/>
          </p:nvSpPr>
          <p:spPr>
            <a:xfrm>
              <a:off x="1894467" y="4697366"/>
              <a:ext cx="228462" cy="189332"/>
            </a:xfrm>
            <a:custGeom>
              <a:avLst/>
              <a:gdLst/>
              <a:ahLst/>
              <a:cxnLst/>
              <a:rect l="l" t="t" r="r" b="b"/>
              <a:pathLst>
                <a:path w="271312" h="224659">
                  <a:moveTo>
                    <a:pt x="3787" y="0"/>
                  </a:moveTo>
                  <a:lnTo>
                    <a:pt x="267525" y="0"/>
                  </a:lnTo>
                  <a:cubicBezTo>
                    <a:pt x="270857" y="5896"/>
                    <a:pt x="271312" y="12275"/>
                    <a:pt x="271312" y="18759"/>
                  </a:cubicBezTo>
                  <a:cubicBezTo>
                    <a:pt x="271312" y="42174"/>
                    <a:pt x="271311" y="65588"/>
                    <a:pt x="271311" y="89003"/>
                  </a:cubicBezTo>
                  <a:cubicBezTo>
                    <a:pt x="271311" y="163924"/>
                    <a:pt x="210576" y="224659"/>
                    <a:pt x="135655" y="224659"/>
                  </a:cubicBezTo>
                  <a:lnTo>
                    <a:pt x="135656" y="224658"/>
                  </a:lnTo>
                  <a:cubicBezTo>
                    <a:pt x="60735" y="224658"/>
                    <a:pt x="0" y="163923"/>
                    <a:pt x="0" y="89002"/>
                  </a:cubicBezTo>
                  <a:lnTo>
                    <a:pt x="0" y="18759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400">
                <a:defRPr/>
              </a:pPr>
              <a:endParaRPr lang="zh-CN" altLang="en-US">
                <a:solidFill>
                  <a:prstClr val="white"/>
                </a:solidFill>
              </a:endParaRPr>
            </a:p>
          </p:txBody>
        </p:sp>
      </p:grpSp>
      <p:sp>
        <p:nvSpPr>
          <p:cNvPr id="64" name="圆角矩形 15"/>
          <p:cNvSpPr/>
          <p:nvPr/>
        </p:nvSpPr>
        <p:spPr>
          <a:xfrm>
            <a:off x="1135002" y="1558300"/>
            <a:ext cx="963116" cy="944473"/>
          </a:xfrm>
          <a:custGeom>
            <a:avLst/>
            <a:gdLst/>
            <a:ahLst/>
            <a:cxnLst/>
            <a:rect l="l" t="t" r="r" b="b"/>
            <a:pathLst>
              <a:path w="1152128" h="1120888">
                <a:moveTo>
                  <a:pt x="177161" y="54740"/>
                </a:moveTo>
                <a:cubicBezTo>
                  <a:pt x="116198" y="54740"/>
                  <a:pt x="66777" y="104161"/>
                  <a:pt x="66777" y="165124"/>
                </a:cubicBezTo>
                <a:lnTo>
                  <a:pt x="66777" y="606644"/>
                </a:lnTo>
                <a:cubicBezTo>
                  <a:pt x="66777" y="667607"/>
                  <a:pt x="116198" y="717028"/>
                  <a:pt x="177161" y="717028"/>
                </a:cubicBezTo>
                <a:lnTo>
                  <a:pt x="974966" y="717028"/>
                </a:lnTo>
                <a:cubicBezTo>
                  <a:pt x="1035929" y="717028"/>
                  <a:pt x="1085350" y="667607"/>
                  <a:pt x="1085350" y="606644"/>
                </a:cubicBezTo>
                <a:lnTo>
                  <a:pt x="1085350" y="165124"/>
                </a:lnTo>
                <a:cubicBezTo>
                  <a:pt x="1085350" y="104161"/>
                  <a:pt x="1035929" y="54740"/>
                  <a:pt x="974966" y="54740"/>
                </a:cubicBezTo>
                <a:close/>
                <a:moveTo>
                  <a:pt x="144019" y="0"/>
                </a:moveTo>
                <a:lnTo>
                  <a:pt x="1008109" y="0"/>
                </a:lnTo>
                <a:cubicBezTo>
                  <a:pt x="1087648" y="0"/>
                  <a:pt x="1152128" y="64480"/>
                  <a:pt x="1152128" y="144019"/>
                </a:cubicBezTo>
                <a:lnTo>
                  <a:pt x="1152128" y="720077"/>
                </a:lnTo>
                <a:cubicBezTo>
                  <a:pt x="1152128" y="799616"/>
                  <a:pt x="1087648" y="864096"/>
                  <a:pt x="1008109" y="864096"/>
                </a:cubicBezTo>
                <a:lnTo>
                  <a:pt x="731291" y="864096"/>
                </a:lnTo>
                <a:lnTo>
                  <a:pt x="731291" y="1048880"/>
                </a:lnTo>
                <a:lnTo>
                  <a:pt x="863305" y="1048880"/>
                </a:lnTo>
                <a:cubicBezTo>
                  <a:pt x="869934" y="1048880"/>
                  <a:pt x="875307" y="1054253"/>
                  <a:pt x="875307" y="1060882"/>
                </a:cubicBezTo>
                <a:lnTo>
                  <a:pt x="875307" y="1108886"/>
                </a:lnTo>
                <a:cubicBezTo>
                  <a:pt x="875307" y="1115515"/>
                  <a:pt x="869934" y="1120888"/>
                  <a:pt x="863305" y="1120888"/>
                </a:cubicBezTo>
                <a:lnTo>
                  <a:pt x="731291" y="1120888"/>
                </a:lnTo>
                <a:lnTo>
                  <a:pt x="443259" y="1120888"/>
                </a:lnTo>
                <a:lnTo>
                  <a:pt x="311245" y="1120888"/>
                </a:lnTo>
                <a:cubicBezTo>
                  <a:pt x="304616" y="1120888"/>
                  <a:pt x="299243" y="1115515"/>
                  <a:pt x="299243" y="1108886"/>
                </a:cubicBezTo>
                <a:lnTo>
                  <a:pt x="299243" y="1060882"/>
                </a:lnTo>
                <a:cubicBezTo>
                  <a:pt x="299243" y="1054253"/>
                  <a:pt x="304616" y="1048880"/>
                  <a:pt x="311245" y="1048880"/>
                </a:cubicBezTo>
                <a:lnTo>
                  <a:pt x="443259" y="1048880"/>
                </a:lnTo>
                <a:lnTo>
                  <a:pt x="443259" y="864096"/>
                </a:lnTo>
                <a:lnTo>
                  <a:pt x="144019" y="864096"/>
                </a:lnTo>
                <a:cubicBezTo>
                  <a:pt x="64480" y="864096"/>
                  <a:pt x="0" y="799616"/>
                  <a:pt x="0" y="720077"/>
                </a:cubicBezTo>
                <a:lnTo>
                  <a:pt x="0" y="144019"/>
                </a:lnTo>
                <a:cubicBezTo>
                  <a:pt x="0" y="64480"/>
                  <a:pt x="64480" y="0"/>
                  <a:pt x="144019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914400">
              <a:defRPr/>
            </a:pPr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5" name="圆角右箭头 64"/>
          <p:cNvSpPr/>
          <p:nvPr/>
        </p:nvSpPr>
        <p:spPr>
          <a:xfrm rot="16200000" flipV="1">
            <a:off x="3940936" y="-2091017"/>
            <a:ext cx="1882068" cy="9950406"/>
          </a:xfrm>
          <a:prstGeom prst="bentArrow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914400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73" name="矩形 7"/>
          <p:cNvSpPr>
            <a:spLocks noChangeArrowheads="1"/>
          </p:cNvSpPr>
          <p:nvPr/>
        </p:nvSpPr>
        <p:spPr bwMode="auto">
          <a:xfrm>
            <a:off x="627347" y="2798980"/>
            <a:ext cx="1980029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000" dirty="0">
                <a:solidFill>
                  <a:srgbClr val="42D2C4"/>
                </a:solidFill>
                <a:latin typeface="Century Gothic" pitchFamily="34" charset="0"/>
              </a:rPr>
              <a:t>网络</a:t>
            </a:r>
            <a:r>
              <a:rPr lang="zh-CN" altLang="en-US" sz="2000" dirty="0" smtClean="0">
                <a:solidFill>
                  <a:srgbClr val="42D2C4"/>
                </a:solidFill>
                <a:latin typeface="Century Gothic" pitchFamily="34" charset="0"/>
              </a:rPr>
              <a:t>健康的感知</a:t>
            </a:r>
            <a:endParaRPr lang="zh-CN" altLang="en-US" sz="2000" dirty="0">
              <a:solidFill>
                <a:srgbClr val="42D2C4"/>
              </a:solidFill>
              <a:latin typeface="Century Gothic" pitchFamily="34" charset="0"/>
            </a:endParaRPr>
          </a:p>
        </p:txBody>
      </p:sp>
      <p:sp>
        <p:nvSpPr>
          <p:cNvPr id="74" name="矩形 7"/>
          <p:cNvSpPr>
            <a:spLocks noChangeArrowheads="1"/>
          </p:cNvSpPr>
          <p:nvPr/>
        </p:nvSpPr>
        <p:spPr bwMode="auto">
          <a:xfrm>
            <a:off x="2560828" y="2798980"/>
            <a:ext cx="1980029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000" dirty="0" smtClean="0">
                <a:solidFill>
                  <a:srgbClr val="42D2C4"/>
                </a:solidFill>
                <a:latin typeface="Century Gothic" pitchFamily="34" charset="0"/>
              </a:rPr>
              <a:t>全网信息的呈现</a:t>
            </a:r>
            <a:endParaRPr lang="zh-CN" altLang="en-US" sz="2000" dirty="0">
              <a:solidFill>
                <a:srgbClr val="42D2C4"/>
              </a:solidFill>
              <a:latin typeface="Century Gothic" pitchFamily="34" charset="0"/>
            </a:endParaRPr>
          </a:p>
        </p:txBody>
      </p:sp>
      <p:sp>
        <p:nvSpPr>
          <p:cNvPr id="75" name="矩形 7"/>
          <p:cNvSpPr>
            <a:spLocks noChangeArrowheads="1"/>
          </p:cNvSpPr>
          <p:nvPr/>
        </p:nvSpPr>
        <p:spPr bwMode="auto">
          <a:xfrm>
            <a:off x="4490949" y="2798980"/>
            <a:ext cx="1980029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000" dirty="0" smtClean="0">
                <a:solidFill>
                  <a:srgbClr val="42D2C4"/>
                </a:solidFill>
                <a:latin typeface="Century Gothic" pitchFamily="34" charset="0"/>
              </a:rPr>
              <a:t>故障异常的处理</a:t>
            </a:r>
            <a:endParaRPr lang="zh-CN" altLang="en-US" sz="2000" dirty="0">
              <a:solidFill>
                <a:srgbClr val="42D2C4"/>
              </a:solidFill>
              <a:latin typeface="Century Gothic" pitchFamily="34" charset="0"/>
            </a:endParaRPr>
          </a:p>
        </p:txBody>
      </p:sp>
      <p:sp>
        <p:nvSpPr>
          <p:cNvPr id="76" name="矩形 7"/>
          <p:cNvSpPr>
            <a:spLocks noChangeArrowheads="1"/>
          </p:cNvSpPr>
          <p:nvPr/>
        </p:nvSpPr>
        <p:spPr bwMode="auto">
          <a:xfrm>
            <a:off x="6451315" y="2795412"/>
            <a:ext cx="1980029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000" dirty="0" smtClean="0">
                <a:solidFill>
                  <a:srgbClr val="42D2C4"/>
                </a:solidFill>
                <a:latin typeface="Century Gothic" pitchFamily="34" charset="0"/>
              </a:rPr>
              <a:t>网络发展的规划</a:t>
            </a:r>
            <a:endParaRPr lang="zh-CN" altLang="en-US" sz="2000" dirty="0">
              <a:solidFill>
                <a:srgbClr val="42D2C4"/>
              </a:solidFill>
              <a:latin typeface="Century Gothic" pitchFamily="34" charset="0"/>
            </a:endParaRPr>
          </a:p>
        </p:txBody>
      </p:sp>
      <p:pic>
        <p:nvPicPr>
          <p:cNvPr id="77" name="图片 7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087" y="1531441"/>
            <a:ext cx="1309350" cy="1679100"/>
          </a:xfrm>
          <a:prstGeom prst="rect">
            <a:avLst/>
          </a:prstGeom>
        </p:spPr>
      </p:pic>
      <p:pic>
        <p:nvPicPr>
          <p:cNvPr id="78" name="图片 7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30297" y="1531441"/>
            <a:ext cx="1309350" cy="1679100"/>
          </a:xfrm>
          <a:prstGeom prst="rect">
            <a:avLst/>
          </a:prstGeom>
        </p:spPr>
      </p:pic>
      <p:pic>
        <p:nvPicPr>
          <p:cNvPr id="79" name="图片 7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99507" y="1531441"/>
            <a:ext cx="1309350" cy="1679100"/>
          </a:xfrm>
          <a:prstGeom prst="rect">
            <a:avLst/>
          </a:prstGeom>
        </p:spPr>
      </p:pic>
      <p:pic>
        <p:nvPicPr>
          <p:cNvPr id="81" name="图片 8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37927" y="1531441"/>
            <a:ext cx="1309350" cy="1679100"/>
          </a:xfrm>
          <a:prstGeom prst="rect">
            <a:avLst/>
          </a:prstGeom>
        </p:spPr>
      </p:pic>
      <p:pic>
        <p:nvPicPr>
          <p:cNvPr id="82" name="图片 8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07137" y="1533305"/>
            <a:ext cx="1309350" cy="1679100"/>
          </a:xfrm>
          <a:prstGeom prst="rect">
            <a:avLst/>
          </a:prstGeom>
        </p:spPr>
      </p:pic>
      <p:pic>
        <p:nvPicPr>
          <p:cNvPr id="83" name="图片 8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976347" y="1531441"/>
            <a:ext cx="1309350" cy="1679100"/>
          </a:xfrm>
          <a:prstGeom prst="rect">
            <a:avLst/>
          </a:prstGeom>
        </p:spPr>
      </p:pic>
      <p:pic>
        <p:nvPicPr>
          <p:cNvPr id="84" name="图片 83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8122" y="1414214"/>
            <a:ext cx="1232644" cy="1232644"/>
          </a:xfrm>
          <a:prstGeom prst="rect">
            <a:avLst/>
          </a:prstGeom>
        </p:spPr>
      </p:pic>
      <p:pic>
        <p:nvPicPr>
          <p:cNvPr id="85" name="图片 84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1995" y="1319176"/>
            <a:ext cx="1304471" cy="1304471"/>
          </a:xfrm>
          <a:prstGeom prst="rect">
            <a:avLst/>
          </a:prstGeom>
        </p:spPr>
      </p:pic>
      <p:sp>
        <p:nvSpPr>
          <p:cNvPr id="86" name="圆角右箭头 85"/>
          <p:cNvSpPr/>
          <p:nvPr/>
        </p:nvSpPr>
        <p:spPr>
          <a:xfrm rot="16200000" flipH="1">
            <a:off x="6275763" y="-54188"/>
            <a:ext cx="1882068" cy="9950406"/>
          </a:xfrm>
          <a:prstGeom prst="bentArrow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914400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90" name="文本框 89"/>
          <p:cNvSpPr txBox="1"/>
          <p:nvPr/>
        </p:nvSpPr>
        <p:spPr>
          <a:xfrm>
            <a:off x="-39007" y="-7441"/>
            <a:ext cx="25527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400" b="1" dirty="0" smtClean="0">
                <a:solidFill>
                  <a:schemeClr val="bg1"/>
                </a:solidFill>
                <a:effectLst>
                  <a:glow rad="228600">
                    <a:schemeClr val="accent3">
                      <a:satMod val="175000"/>
                      <a:alpha val="40000"/>
                    </a:schemeClr>
                  </a:glo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项目背景</a:t>
            </a:r>
            <a:endParaRPr lang="zh-CN" altLang="en-US" sz="4400" b="1" dirty="0">
              <a:solidFill>
                <a:schemeClr val="bg1"/>
              </a:solidFill>
              <a:effectLst>
                <a:glow rad="228600">
                  <a:schemeClr val="accent3">
                    <a:satMod val="175000"/>
                    <a:alpha val="40000"/>
                  </a:schemeClr>
                </a:glo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2" name="等腰三角形 2"/>
          <p:cNvSpPr/>
          <p:nvPr/>
        </p:nvSpPr>
        <p:spPr>
          <a:xfrm rot="5400000">
            <a:off x="3418552" y="4396579"/>
            <a:ext cx="1689827" cy="2010502"/>
          </a:xfrm>
          <a:custGeom>
            <a:avLst/>
            <a:gdLst/>
            <a:ahLst/>
            <a:cxnLst/>
            <a:rect l="l" t="t" r="r" b="b"/>
            <a:pathLst>
              <a:path w="1185812" h="1410841">
                <a:moveTo>
                  <a:pt x="0" y="825055"/>
                </a:moveTo>
                <a:lnTo>
                  <a:pt x="199636" y="239269"/>
                </a:lnTo>
                <a:lnTo>
                  <a:pt x="532687" y="239269"/>
                </a:lnTo>
                <a:lnTo>
                  <a:pt x="671463" y="0"/>
                </a:lnTo>
                <a:lnTo>
                  <a:pt x="810239" y="239269"/>
                </a:lnTo>
                <a:lnTo>
                  <a:pt x="1185812" y="239269"/>
                </a:lnTo>
                <a:lnTo>
                  <a:pt x="1185812" y="1410841"/>
                </a:lnTo>
                <a:lnTo>
                  <a:pt x="199636" y="1410841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914400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93" name="矩形 7"/>
          <p:cNvSpPr>
            <a:spLocks noChangeArrowheads="1"/>
          </p:cNvSpPr>
          <p:nvPr/>
        </p:nvSpPr>
        <p:spPr bwMode="auto">
          <a:xfrm>
            <a:off x="5037804" y="6378943"/>
            <a:ext cx="1980029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000" dirty="0" smtClean="0">
                <a:solidFill>
                  <a:srgbClr val="42D2C4"/>
                </a:solidFill>
                <a:latin typeface="Century Gothic" pitchFamily="34" charset="0"/>
              </a:rPr>
              <a:t>信息呈现不直观</a:t>
            </a:r>
            <a:endParaRPr lang="zh-CN" altLang="en-US" sz="2000" dirty="0">
              <a:solidFill>
                <a:srgbClr val="42D2C4"/>
              </a:solidFill>
              <a:latin typeface="Century Gothic" pitchFamily="34" charset="0"/>
            </a:endParaRPr>
          </a:p>
        </p:txBody>
      </p:sp>
      <p:sp>
        <p:nvSpPr>
          <p:cNvPr id="94" name="等腰三角形 2"/>
          <p:cNvSpPr/>
          <p:nvPr/>
        </p:nvSpPr>
        <p:spPr>
          <a:xfrm rot="5400000">
            <a:off x="5331589" y="4396579"/>
            <a:ext cx="1689827" cy="2010502"/>
          </a:xfrm>
          <a:custGeom>
            <a:avLst/>
            <a:gdLst/>
            <a:ahLst/>
            <a:cxnLst/>
            <a:rect l="l" t="t" r="r" b="b"/>
            <a:pathLst>
              <a:path w="1185812" h="1410841">
                <a:moveTo>
                  <a:pt x="0" y="825055"/>
                </a:moveTo>
                <a:lnTo>
                  <a:pt x="199636" y="239269"/>
                </a:lnTo>
                <a:lnTo>
                  <a:pt x="532687" y="239269"/>
                </a:lnTo>
                <a:lnTo>
                  <a:pt x="671463" y="0"/>
                </a:lnTo>
                <a:lnTo>
                  <a:pt x="810239" y="239269"/>
                </a:lnTo>
                <a:lnTo>
                  <a:pt x="1185812" y="239269"/>
                </a:lnTo>
                <a:lnTo>
                  <a:pt x="1185812" y="1410841"/>
                </a:lnTo>
                <a:lnTo>
                  <a:pt x="756105" y="1410841"/>
                </a:lnTo>
                <a:lnTo>
                  <a:pt x="667714" y="1258442"/>
                </a:lnTo>
                <a:lnTo>
                  <a:pt x="579322" y="1410841"/>
                </a:lnTo>
                <a:lnTo>
                  <a:pt x="199636" y="1410841"/>
                </a:lnTo>
                <a:close/>
              </a:path>
            </a:pathLst>
          </a:cu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914400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95" name="等腰三角形 2"/>
          <p:cNvSpPr/>
          <p:nvPr/>
        </p:nvSpPr>
        <p:spPr>
          <a:xfrm rot="5400000">
            <a:off x="7209851" y="4396577"/>
            <a:ext cx="1689827" cy="2010502"/>
          </a:xfrm>
          <a:custGeom>
            <a:avLst/>
            <a:gdLst/>
            <a:ahLst/>
            <a:cxnLst/>
            <a:rect l="l" t="t" r="r" b="b"/>
            <a:pathLst>
              <a:path w="1185812" h="1410841">
                <a:moveTo>
                  <a:pt x="0" y="825055"/>
                </a:moveTo>
                <a:lnTo>
                  <a:pt x="199636" y="239269"/>
                </a:lnTo>
                <a:lnTo>
                  <a:pt x="532687" y="239269"/>
                </a:lnTo>
                <a:lnTo>
                  <a:pt x="671463" y="0"/>
                </a:lnTo>
                <a:lnTo>
                  <a:pt x="810239" y="239269"/>
                </a:lnTo>
                <a:lnTo>
                  <a:pt x="1185812" y="239269"/>
                </a:lnTo>
                <a:lnTo>
                  <a:pt x="1185812" y="1410841"/>
                </a:lnTo>
                <a:lnTo>
                  <a:pt x="756105" y="1410841"/>
                </a:lnTo>
                <a:lnTo>
                  <a:pt x="667714" y="1258442"/>
                </a:lnTo>
                <a:lnTo>
                  <a:pt x="579322" y="1410841"/>
                </a:lnTo>
                <a:lnTo>
                  <a:pt x="199636" y="1410841"/>
                </a:lnTo>
                <a:close/>
              </a:path>
            </a:pathLst>
          </a:custGeom>
          <a:solidFill>
            <a:schemeClr val="bg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914400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96" name="等腰三角形 2"/>
          <p:cNvSpPr/>
          <p:nvPr/>
        </p:nvSpPr>
        <p:spPr>
          <a:xfrm rot="5400000">
            <a:off x="9145948" y="4396579"/>
            <a:ext cx="1689827" cy="2010502"/>
          </a:xfrm>
          <a:custGeom>
            <a:avLst/>
            <a:gdLst/>
            <a:ahLst/>
            <a:cxnLst/>
            <a:rect l="l" t="t" r="r" b="b"/>
            <a:pathLst>
              <a:path w="1185812" h="1410841">
                <a:moveTo>
                  <a:pt x="0" y="825055"/>
                </a:moveTo>
                <a:lnTo>
                  <a:pt x="199636" y="239269"/>
                </a:lnTo>
                <a:lnTo>
                  <a:pt x="532687" y="239269"/>
                </a:lnTo>
                <a:lnTo>
                  <a:pt x="671463" y="0"/>
                </a:lnTo>
                <a:lnTo>
                  <a:pt x="810239" y="239269"/>
                </a:lnTo>
                <a:lnTo>
                  <a:pt x="1185812" y="239269"/>
                </a:lnTo>
                <a:lnTo>
                  <a:pt x="1185812" y="1410841"/>
                </a:lnTo>
                <a:lnTo>
                  <a:pt x="756105" y="1410841"/>
                </a:lnTo>
                <a:lnTo>
                  <a:pt x="667714" y="1258442"/>
                </a:lnTo>
                <a:lnTo>
                  <a:pt x="579322" y="1410841"/>
                </a:lnTo>
                <a:lnTo>
                  <a:pt x="199636" y="1410841"/>
                </a:lnTo>
                <a:close/>
              </a:path>
            </a:pathLst>
          </a:cu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914400"/>
            <a:endParaRPr lang="zh-CN" altLang="en-US">
              <a:solidFill>
                <a:prstClr val="white"/>
              </a:solidFill>
            </a:endParaRPr>
          </a:p>
        </p:txBody>
      </p:sp>
      <p:pic>
        <p:nvPicPr>
          <p:cNvPr id="1028" name="Picture 4" descr="âsweat iconâçå¾çæç´¢ç»æ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0358" y="4639006"/>
            <a:ext cx="1624183" cy="16241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8" name="矩形 7"/>
          <p:cNvSpPr>
            <a:spLocks noChangeArrowheads="1"/>
          </p:cNvSpPr>
          <p:nvPr/>
        </p:nvSpPr>
        <p:spPr bwMode="auto">
          <a:xfrm>
            <a:off x="3059758" y="6369003"/>
            <a:ext cx="1980029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000" dirty="0" smtClean="0">
                <a:solidFill>
                  <a:srgbClr val="42D2C4"/>
                </a:solidFill>
                <a:latin typeface="Century Gothic" pitchFamily="34" charset="0"/>
              </a:rPr>
              <a:t>问题感知较被动</a:t>
            </a:r>
            <a:endParaRPr lang="zh-CN" altLang="en-US" sz="2000" dirty="0">
              <a:solidFill>
                <a:srgbClr val="42D2C4"/>
              </a:solidFill>
              <a:latin typeface="Century Gothic" pitchFamily="34" charset="0"/>
            </a:endParaRPr>
          </a:p>
        </p:txBody>
      </p:sp>
      <p:pic>
        <p:nvPicPr>
          <p:cNvPr id="1030" name="Picture 6" descr="âprivatization iconâçå¾çæç´¢ç»æ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50272" y="4705431"/>
            <a:ext cx="1410788" cy="1410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0" name="矩形 7"/>
          <p:cNvSpPr>
            <a:spLocks noChangeArrowheads="1"/>
          </p:cNvSpPr>
          <p:nvPr/>
        </p:nvSpPr>
        <p:spPr bwMode="auto">
          <a:xfrm>
            <a:off x="7015849" y="6370389"/>
            <a:ext cx="1980029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000" dirty="0" smtClean="0">
                <a:solidFill>
                  <a:srgbClr val="42D2C4"/>
                </a:solidFill>
                <a:latin typeface="Century Gothic" pitchFamily="34" charset="0"/>
              </a:rPr>
              <a:t>故障处理经验化</a:t>
            </a:r>
            <a:endParaRPr lang="zh-CN" altLang="en-US" sz="2000" dirty="0">
              <a:solidFill>
                <a:srgbClr val="42D2C4"/>
              </a:solidFill>
              <a:latin typeface="Century Gothic" pitchFamily="34" charset="0"/>
            </a:endParaRPr>
          </a:p>
        </p:txBody>
      </p:sp>
      <p:pic>
        <p:nvPicPr>
          <p:cNvPr id="1032" name="Picture 8" descr="ç¸å³å¾ç"/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02112" y="4689033"/>
            <a:ext cx="1262804" cy="14829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2" name="矩形 7"/>
          <p:cNvSpPr>
            <a:spLocks noChangeArrowheads="1"/>
          </p:cNvSpPr>
          <p:nvPr/>
        </p:nvSpPr>
        <p:spPr bwMode="auto">
          <a:xfrm>
            <a:off x="8976670" y="6369003"/>
            <a:ext cx="1980029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000" dirty="0" smtClean="0">
                <a:solidFill>
                  <a:srgbClr val="42D2C4"/>
                </a:solidFill>
                <a:latin typeface="Century Gothic" pitchFamily="34" charset="0"/>
              </a:rPr>
              <a:t>管理手段较传统</a:t>
            </a:r>
            <a:endParaRPr lang="zh-CN" altLang="en-US" sz="2000" dirty="0">
              <a:solidFill>
                <a:srgbClr val="42D2C4"/>
              </a:solidFill>
              <a:latin typeface="Century Gothic" pitchFamily="34" charset="0"/>
            </a:endParaRPr>
          </a:p>
        </p:txBody>
      </p:sp>
      <p:sp>
        <p:nvSpPr>
          <p:cNvPr id="91" name="文本框 90"/>
          <p:cNvSpPr txBox="1"/>
          <p:nvPr/>
        </p:nvSpPr>
        <p:spPr>
          <a:xfrm>
            <a:off x="4109641" y="3259425"/>
            <a:ext cx="1159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 smtClean="0">
                <a:solidFill>
                  <a:schemeClr val="bg1"/>
                </a:solidFill>
              </a:rPr>
              <a:t>问题</a:t>
            </a:r>
            <a:endParaRPr lang="zh-CN" altLang="en-US" sz="3200" b="1" dirty="0">
              <a:solidFill>
                <a:schemeClr val="bg1"/>
              </a:solidFill>
            </a:endParaRPr>
          </a:p>
        </p:txBody>
      </p:sp>
      <p:sp>
        <p:nvSpPr>
          <p:cNvPr id="104" name="文本框 103"/>
          <p:cNvSpPr txBox="1"/>
          <p:nvPr/>
        </p:nvSpPr>
        <p:spPr>
          <a:xfrm>
            <a:off x="7061174" y="3907377"/>
            <a:ext cx="1159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 smtClean="0">
                <a:solidFill>
                  <a:schemeClr val="bg1"/>
                </a:solidFill>
              </a:rPr>
              <a:t>现状</a:t>
            </a:r>
            <a:endParaRPr lang="zh-CN" altLang="en-US" sz="3200" b="1" dirty="0">
              <a:solidFill>
                <a:schemeClr val="bg1"/>
              </a:solidFill>
            </a:endParaRPr>
          </a:p>
        </p:txBody>
      </p:sp>
      <p:pic>
        <p:nvPicPr>
          <p:cNvPr id="101" name="图片 100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190143" y="1545632"/>
            <a:ext cx="1309350" cy="1679100"/>
          </a:xfrm>
          <a:prstGeom prst="rect">
            <a:avLst/>
          </a:prstGeom>
        </p:spPr>
      </p:pic>
      <p:pic>
        <p:nvPicPr>
          <p:cNvPr id="89" name="图片 88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8682" y="4648412"/>
            <a:ext cx="1564167" cy="1564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65468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6" dur="500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2" presetClass="exit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0" dur="500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2" presetClass="exit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2" presetClass="exit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8" dur="500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2" presetClass="exit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2" dur="500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2" presetClass="exit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6" dur="500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2" presetClass="exit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0" dur="500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5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8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1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4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9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2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5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8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1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4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7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0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3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6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9" dur="500"/>
                                        <p:tgtEl>
                                          <p:spTgt spid="1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2" dur="500"/>
                                        <p:tgtEl>
                                          <p:spTgt spid="10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" grpId="0" animBg="1"/>
      <p:bldP spid="56" grpId="0" animBg="1"/>
      <p:bldP spid="57" grpId="0" animBg="1"/>
      <p:bldP spid="58" grpId="0" animBg="1"/>
      <p:bldP spid="64" grpId="0" animBg="1"/>
      <p:bldP spid="65" grpId="0" animBg="1"/>
      <p:bldP spid="73" grpId="0"/>
      <p:bldP spid="74" grpId="0"/>
      <p:bldP spid="75" grpId="0"/>
      <p:bldP spid="76" grpId="0"/>
      <p:bldP spid="86" grpId="0" animBg="1"/>
      <p:bldP spid="92" grpId="0" animBg="1"/>
      <p:bldP spid="93" grpId="0"/>
      <p:bldP spid="94" grpId="0" animBg="1"/>
      <p:bldP spid="95" grpId="0" animBg="1"/>
      <p:bldP spid="96" grpId="0" animBg="1"/>
      <p:bldP spid="98" grpId="0"/>
      <p:bldP spid="100" grpId="0"/>
      <p:bldP spid="102" grpId="0"/>
      <p:bldP spid="91" grpId="0"/>
      <p:bldP spid="10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>
            <a:off x="-1257300" y="762000"/>
            <a:ext cx="5086350" cy="0"/>
          </a:xfrm>
          <a:prstGeom prst="line">
            <a:avLst/>
          </a:prstGeom>
          <a:ln>
            <a:solidFill>
              <a:schemeClr val="bg1"/>
            </a:solidFill>
            <a:tailEnd type="oval" w="lg" len="lg"/>
          </a:ln>
          <a:effectLst>
            <a:glow rad="139700">
              <a:schemeClr val="accent3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接连接符 2"/>
          <p:cNvCxnSpPr/>
          <p:nvPr/>
        </p:nvCxnSpPr>
        <p:spPr>
          <a:xfrm flipH="1">
            <a:off x="8343900" y="762000"/>
            <a:ext cx="5086350" cy="0"/>
          </a:xfrm>
          <a:prstGeom prst="line">
            <a:avLst/>
          </a:prstGeom>
          <a:ln>
            <a:solidFill>
              <a:schemeClr val="bg1"/>
            </a:solidFill>
            <a:tailEnd type="oval" w="lg" len="lg"/>
          </a:ln>
          <a:effectLst>
            <a:glow rad="139700">
              <a:schemeClr val="accent3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/>
        </p:nvSpPr>
        <p:spPr>
          <a:xfrm>
            <a:off x="4355049" y="452460"/>
            <a:ext cx="34628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b="1" dirty="0" smtClean="0">
                <a:solidFill>
                  <a:schemeClr val="bg1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问题感知较被动</a:t>
            </a:r>
            <a:endParaRPr lang="zh-CN" altLang="en-US" sz="2800" b="1" dirty="0">
              <a:solidFill>
                <a:schemeClr val="bg1"/>
              </a:solidFill>
              <a:effectLst>
                <a:glow rad="228600">
                  <a:schemeClr val="accent1">
                    <a:satMod val="175000"/>
                    <a:alpha val="40000"/>
                  </a:schemeClr>
                </a:glo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0" name="文本框 89"/>
          <p:cNvSpPr txBox="1"/>
          <p:nvPr/>
        </p:nvSpPr>
        <p:spPr>
          <a:xfrm>
            <a:off x="-39007" y="-7441"/>
            <a:ext cx="25527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400" b="1" dirty="0" smtClean="0">
                <a:solidFill>
                  <a:schemeClr val="bg1"/>
                </a:solidFill>
                <a:effectLst>
                  <a:glow rad="228600">
                    <a:schemeClr val="accent3">
                      <a:satMod val="175000"/>
                      <a:alpha val="40000"/>
                    </a:schemeClr>
                  </a:glo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项目背景</a:t>
            </a:r>
            <a:endParaRPr lang="zh-CN" altLang="en-US" sz="4400" b="1" dirty="0">
              <a:solidFill>
                <a:schemeClr val="bg1"/>
              </a:solidFill>
              <a:effectLst>
                <a:glow rad="228600">
                  <a:schemeClr val="accent3">
                    <a:satMod val="175000"/>
                    <a:alpha val="40000"/>
                  </a:schemeClr>
                </a:glo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圆角矩形 7"/>
          <p:cNvSpPr/>
          <p:nvPr/>
        </p:nvSpPr>
        <p:spPr>
          <a:xfrm>
            <a:off x="941740" y="2532532"/>
            <a:ext cx="2125561" cy="622089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200" dirty="0"/>
              <a:t>第一天指标微有下降</a:t>
            </a:r>
            <a:r>
              <a:rPr lang="zh-CN" altLang="en-US" sz="1200" dirty="0" smtClean="0"/>
              <a:t>，</a:t>
            </a:r>
            <a:endParaRPr lang="en-US" altLang="zh-CN" sz="1200" dirty="0" smtClean="0"/>
          </a:p>
          <a:p>
            <a:pPr algn="ctr"/>
            <a:r>
              <a:rPr lang="zh-CN" altLang="en-US" sz="1200" dirty="0" smtClean="0"/>
              <a:t>没有</a:t>
            </a:r>
            <a:r>
              <a:rPr lang="zh-CN" altLang="en-US" sz="1200" dirty="0"/>
              <a:t>达到阈值</a:t>
            </a:r>
          </a:p>
          <a:p>
            <a:pPr algn="ctr"/>
            <a:r>
              <a:rPr lang="zh-CN" altLang="en-US" sz="1200" dirty="0"/>
              <a:t>不能发现问题</a:t>
            </a:r>
          </a:p>
        </p:txBody>
      </p:sp>
      <p:sp>
        <p:nvSpPr>
          <p:cNvPr id="9" name="圆角矩形 8"/>
          <p:cNvSpPr/>
          <p:nvPr/>
        </p:nvSpPr>
        <p:spPr>
          <a:xfrm>
            <a:off x="941741" y="3397191"/>
            <a:ext cx="2125561" cy="645466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200" dirty="0"/>
          </a:p>
          <a:p>
            <a:pPr algn="ctr"/>
            <a:r>
              <a:rPr lang="zh-CN" altLang="en-US" sz="1200" dirty="0"/>
              <a:t>第二天到第三天指标微有下降，</a:t>
            </a:r>
            <a:r>
              <a:rPr lang="zh-CN" altLang="en-US" sz="1200" dirty="0">
                <a:sym typeface="+mn-ea"/>
              </a:rPr>
              <a:t>没有达到阈值</a:t>
            </a:r>
            <a:endParaRPr lang="zh-CN" altLang="en-US" sz="1200" dirty="0"/>
          </a:p>
          <a:p>
            <a:pPr algn="ctr"/>
            <a:r>
              <a:rPr lang="zh-CN" altLang="en-US" sz="1200" dirty="0">
                <a:sym typeface="+mn-ea"/>
              </a:rPr>
              <a:t>不能发现问题</a:t>
            </a:r>
            <a:endParaRPr lang="zh-CN" altLang="en-US" sz="1200" dirty="0"/>
          </a:p>
          <a:p>
            <a:pPr algn="ctr"/>
            <a:endParaRPr lang="zh-CN" altLang="en-US" sz="1200" dirty="0"/>
          </a:p>
        </p:txBody>
      </p:sp>
      <p:sp>
        <p:nvSpPr>
          <p:cNvPr id="10" name="圆角矩形 9"/>
          <p:cNvSpPr/>
          <p:nvPr/>
        </p:nvSpPr>
        <p:spPr>
          <a:xfrm>
            <a:off x="941741" y="4285227"/>
            <a:ext cx="2125561" cy="645466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200" dirty="0"/>
          </a:p>
          <a:p>
            <a:pPr algn="ctr"/>
            <a:r>
              <a:rPr lang="zh-CN" altLang="en-US" sz="1200" dirty="0"/>
              <a:t>过去多天未发现问题</a:t>
            </a:r>
          </a:p>
          <a:p>
            <a:pPr algn="ctr"/>
            <a:endParaRPr lang="zh-CN" altLang="en-US" sz="1200" dirty="0"/>
          </a:p>
        </p:txBody>
      </p:sp>
      <p:sp>
        <p:nvSpPr>
          <p:cNvPr id="11" name="圆角矩形 10"/>
          <p:cNvSpPr/>
          <p:nvPr/>
        </p:nvSpPr>
        <p:spPr>
          <a:xfrm>
            <a:off x="941740" y="5173263"/>
            <a:ext cx="2258659" cy="837012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200" dirty="0" smtClean="0"/>
              <a:t>接到</a:t>
            </a:r>
            <a:r>
              <a:rPr lang="zh-CN" altLang="en-US" sz="1200" dirty="0"/>
              <a:t>部分客户投诉，排查原因</a:t>
            </a:r>
          </a:p>
          <a:p>
            <a:pPr algn="ctr"/>
            <a:r>
              <a:rPr lang="zh-CN" altLang="en-US" sz="1200" dirty="0"/>
              <a:t>可能失去客户量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476250" y="1895475"/>
            <a:ext cx="27241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solidFill>
                  <a:schemeClr val="bg1"/>
                </a:solidFill>
              </a:rPr>
              <a:t>例：某机房空调出现问题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000500" y="3154621"/>
            <a:ext cx="3457575" cy="13388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b="1" dirty="0">
                <a:solidFill>
                  <a:srgbClr val="42D2C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/>
              </a:rPr>
              <a:t>接到故障申告后才进行测试和故障分析，不能满足主动监控和主动维护需求</a:t>
            </a:r>
            <a:endParaRPr lang="zh-CN" altLang="en-US" b="1" dirty="0">
              <a:solidFill>
                <a:srgbClr val="42D2C4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850381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3352" y="210847"/>
            <a:ext cx="5155817" cy="6684368"/>
          </a:xfrm>
          <a:prstGeom prst="rect">
            <a:avLst/>
          </a:prstGeom>
        </p:spPr>
      </p:pic>
      <p:cxnSp>
        <p:nvCxnSpPr>
          <p:cNvPr id="2" name="直接连接符 1"/>
          <p:cNvCxnSpPr/>
          <p:nvPr/>
        </p:nvCxnSpPr>
        <p:spPr>
          <a:xfrm>
            <a:off x="-1257300" y="762000"/>
            <a:ext cx="5086350" cy="0"/>
          </a:xfrm>
          <a:prstGeom prst="line">
            <a:avLst/>
          </a:prstGeom>
          <a:ln>
            <a:solidFill>
              <a:schemeClr val="bg1"/>
            </a:solidFill>
            <a:tailEnd type="oval" w="lg" len="lg"/>
          </a:ln>
          <a:effectLst>
            <a:glow rad="139700">
              <a:schemeClr val="accent3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接连接符 2"/>
          <p:cNvCxnSpPr/>
          <p:nvPr/>
        </p:nvCxnSpPr>
        <p:spPr>
          <a:xfrm flipH="1">
            <a:off x="8343900" y="762000"/>
            <a:ext cx="5086350" cy="0"/>
          </a:xfrm>
          <a:prstGeom prst="line">
            <a:avLst/>
          </a:prstGeom>
          <a:ln>
            <a:solidFill>
              <a:schemeClr val="bg1"/>
            </a:solidFill>
            <a:tailEnd type="oval" w="lg" len="lg"/>
          </a:ln>
          <a:effectLst>
            <a:glow rad="139700">
              <a:schemeClr val="accent3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/>
        </p:nvSpPr>
        <p:spPr>
          <a:xfrm>
            <a:off x="4355049" y="452460"/>
            <a:ext cx="34628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b="1" dirty="0" smtClean="0">
                <a:solidFill>
                  <a:schemeClr val="bg1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信息呈现不直观</a:t>
            </a:r>
            <a:endParaRPr lang="zh-CN" altLang="en-US" sz="2800" b="1" dirty="0">
              <a:solidFill>
                <a:schemeClr val="bg1"/>
              </a:solidFill>
              <a:effectLst>
                <a:glow rad="228600">
                  <a:schemeClr val="accent1">
                    <a:satMod val="175000"/>
                    <a:alpha val="40000"/>
                  </a:schemeClr>
                </a:glo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0" name="文本框 89"/>
          <p:cNvSpPr txBox="1"/>
          <p:nvPr/>
        </p:nvSpPr>
        <p:spPr>
          <a:xfrm>
            <a:off x="-39007" y="-7441"/>
            <a:ext cx="25527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400" b="1" dirty="0" smtClean="0">
                <a:solidFill>
                  <a:schemeClr val="bg1"/>
                </a:solidFill>
                <a:effectLst>
                  <a:glow rad="228600">
                    <a:schemeClr val="accent3">
                      <a:satMod val="175000"/>
                      <a:alpha val="40000"/>
                    </a:schemeClr>
                  </a:glo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项目背景</a:t>
            </a:r>
            <a:endParaRPr lang="zh-CN" altLang="en-US" sz="4400" b="1" dirty="0">
              <a:solidFill>
                <a:schemeClr val="bg1"/>
              </a:solidFill>
              <a:effectLst>
                <a:glow rad="228600">
                  <a:schemeClr val="accent3">
                    <a:satMod val="175000"/>
                    <a:alpha val="40000"/>
                  </a:schemeClr>
                </a:glo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左大括号 6"/>
          <p:cNvSpPr/>
          <p:nvPr/>
        </p:nvSpPr>
        <p:spPr>
          <a:xfrm>
            <a:off x="5213708" y="210847"/>
            <a:ext cx="211996" cy="6372421"/>
          </a:xfrm>
          <a:prstGeom prst="leftBrace">
            <a:avLst/>
          </a:prstGeom>
          <a:ln w="19050"/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4616079" y="2516092"/>
            <a:ext cx="56197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 smtClean="0">
                <a:solidFill>
                  <a:srgbClr val="42D2C4"/>
                </a:solidFill>
              </a:rPr>
              <a:t>近</a:t>
            </a:r>
            <a:r>
              <a:rPr lang="en-US" altLang="zh-CN" sz="1600" dirty="0" smtClean="0">
                <a:solidFill>
                  <a:srgbClr val="42D2C4"/>
                </a:solidFill>
              </a:rPr>
              <a:t>20</a:t>
            </a:r>
            <a:r>
              <a:rPr lang="zh-CN" altLang="en-US" sz="1600" dirty="0" smtClean="0">
                <a:solidFill>
                  <a:srgbClr val="42D2C4"/>
                </a:solidFill>
              </a:rPr>
              <a:t>项数据表格</a:t>
            </a:r>
            <a:endParaRPr lang="zh-CN" altLang="en-US" sz="1600" dirty="0">
              <a:solidFill>
                <a:srgbClr val="42D2C4"/>
              </a:solidFill>
            </a:endParaRPr>
          </a:p>
        </p:txBody>
      </p:sp>
      <p:sp>
        <p:nvSpPr>
          <p:cNvPr id="9" name="矩形 8"/>
          <p:cNvSpPr/>
          <p:nvPr/>
        </p:nvSpPr>
        <p:spPr>
          <a:xfrm>
            <a:off x="9373726" y="1331651"/>
            <a:ext cx="1605053" cy="461676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7237896" y="927061"/>
            <a:ext cx="2135830" cy="493999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5615" y="975680"/>
            <a:ext cx="5143048" cy="4635510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8130044" y="3003531"/>
            <a:ext cx="1879275" cy="371475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solidFill>
                  <a:schemeClr val="bg1"/>
                </a:solidFill>
              </a:rPr>
              <a:t>单纯的数据罗列</a:t>
            </a:r>
            <a:endParaRPr lang="zh-CN" altLang="en-US" dirty="0">
              <a:solidFill>
                <a:schemeClr val="bg1"/>
              </a:solidFill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7253" y="2941411"/>
            <a:ext cx="5476190" cy="2857143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8296977" y="4307360"/>
            <a:ext cx="1879275" cy="371475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solidFill>
                  <a:schemeClr val="bg1"/>
                </a:solidFill>
              </a:rPr>
              <a:t>简单的数据同比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395035" y="2849414"/>
            <a:ext cx="401365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800" b="1" dirty="0" smtClean="0">
                <a:solidFill>
                  <a:srgbClr val="42D2C4"/>
                </a:solidFill>
              </a:rPr>
              <a:t>呈现</a:t>
            </a:r>
            <a:r>
              <a:rPr lang="zh-CN" altLang="en-US" sz="2800" b="1" dirty="0" smtClean="0">
                <a:solidFill>
                  <a:srgbClr val="42D2C4"/>
                </a:solidFill>
              </a:rPr>
              <a:t>数据</a:t>
            </a:r>
            <a:r>
              <a:rPr lang="zh-CN" altLang="en-US" sz="2800" b="1" dirty="0" smtClean="0">
                <a:solidFill>
                  <a:srgbClr val="FFC000"/>
                </a:solidFill>
              </a:rPr>
              <a:t>手动整理</a:t>
            </a:r>
            <a:endParaRPr lang="en-US" altLang="zh-CN" sz="2800" b="1" dirty="0" smtClean="0">
              <a:solidFill>
                <a:srgbClr val="FFC000"/>
              </a:solidFill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800" b="1" dirty="0" smtClean="0">
                <a:solidFill>
                  <a:srgbClr val="42D2C4"/>
                </a:solidFill>
              </a:rPr>
              <a:t>通报途径</a:t>
            </a:r>
            <a:r>
              <a:rPr lang="zh-CN" altLang="en-US" sz="2800" b="1" dirty="0" smtClean="0">
                <a:solidFill>
                  <a:srgbClr val="FFC000"/>
                </a:solidFill>
              </a:rPr>
              <a:t>不够有效</a:t>
            </a:r>
            <a:endParaRPr lang="en-US" altLang="zh-CN" sz="2800" b="1" dirty="0" smtClean="0">
              <a:solidFill>
                <a:srgbClr val="FFC000"/>
              </a:solidFill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800" b="1" dirty="0" smtClean="0">
                <a:solidFill>
                  <a:srgbClr val="42D2C4"/>
                </a:solidFill>
              </a:rPr>
              <a:t>呈现</a:t>
            </a:r>
            <a:r>
              <a:rPr lang="zh-CN" altLang="en-US" sz="2800" b="1" dirty="0">
                <a:solidFill>
                  <a:srgbClr val="42D2C4"/>
                </a:solidFill>
              </a:rPr>
              <a:t>形式</a:t>
            </a:r>
            <a:r>
              <a:rPr lang="zh-CN" altLang="en-US" sz="2800" b="1" dirty="0">
                <a:solidFill>
                  <a:srgbClr val="FFC000"/>
                </a:solidFill>
              </a:rPr>
              <a:t>单一</a:t>
            </a:r>
            <a:r>
              <a:rPr lang="zh-CN" altLang="en-US" sz="2800" b="1" dirty="0" smtClean="0">
                <a:solidFill>
                  <a:srgbClr val="FFC000"/>
                </a:solidFill>
              </a:rPr>
              <a:t>固化</a:t>
            </a:r>
            <a:endParaRPr lang="en-US" altLang="zh-CN" sz="2800" b="1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42257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2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42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42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6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1" dur="500"/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6" dur="500"/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2" grpId="0" animBg="1"/>
      <p:bldP spid="12" grpId="1" animBg="1"/>
      <p:bldP spid="14" grpId="0" animBg="1"/>
      <p:bldP spid="14" grpId="1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>
            <a:off x="-1257300" y="762000"/>
            <a:ext cx="5086350" cy="0"/>
          </a:xfrm>
          <a:prstGeom prst="line">
            <a:avLst/>
          </a:prstGeom>
          <a:ln>
            <a:solidFill>
              <a:schemeClr val="bg1"/>
            </a:solidFill>
            <a:tailEnd type="oval" w="lg" len="lg"/>
          </a:ln>
          <a:effectLst>
            <a:glow rad="139700">
              <a:schemeClr val="accent3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接连接符 2"/>
          <p:cNvCxnSpPr/>
          <p:nvPr/>
        </p:nvCxnSpPr>
        <p:spPr>
          <a:xfrm flipH="1">
            <a:off x="8343900" y="762000"/>
            <a:ext cx="5086350" cy="0"/>
          </a:xfrm>
          <a:prstGeom prst="line">
            <a:avLst/>
          </a:prstGeom>
          <a:ln>
            <a:solidFill>
              <a:schemeClr val="bg1"/>
            </a:solidFill>
            <a:tailEnd type="oval" w="lg" len="lg"/>
          </a:ln>
          <a:effectLst>
            <a:glow rad="139700">
              <a:schemeClr val="accent3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/>
        </p:nvSpPr>
        <p:spPr>
          <a:xfrm>
            <a:off x="4355049" y="452460"/>
            <a:ext cx="34628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b="1" dirty="0" smtClean="0">
                <a:solidFill>
                  <a:schemeClr val="bg1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网管工作的七大问题</a:t>
            </a:r>
            <a:endParaRPr lang="zh-CN" altLang="en-US" sz="2800" b="1" dirty="0">
              <a:solidFill>
                <a:schemeClr val="bg1"/>
              </a:solidFill>
              <a:effectLst>
                <a:glow rad="228600">
                  <a:schemeClr val="accent1">
                    <a:satMod val="175000"/>
                    <a:alpha val="40000"/>
                  </a:schemeClr>
                </a:glo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0" name="文本框 89"/>
          <p:cNvSpPr txBox="1"/>
          <p:nvPr/>
        </p:nvSpPr>
        <p:spPr>
          <a:xfrm>
            <a:off x="-39007" y="-7441"/>
            <a:ext cx="25527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400" b="1" dirty="0" smtClean="0">
                <a:solidFill>
                  <a:schemeClr val="bg1"/>
                </a:solidFill>
                <a:effectLst>
                  <a:glow rad="228600">
                    <a:schemeClr val="accent3">
                      <a:satMod val="175000"/>
                      <a:alpha val="40000"/>
                    </a:schemeClr>
                  </a:glo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项目背景</a:t>
            </a:r>
            <a:endParaRPr lang="zh-CN" altLang="en-US" sz="4400" b="1" dirty="0">
              <a:solidFill>
                <a:schemeClr val="bg1"/>
              </a:solidFill>
              <a:effectLst>
                <a:glow rad="228600">
                  <a:schemeClr val="accent3">
                    <a:satMod val="175000"/>
                    <a:alpha val="40000"/>
                  </a:schemeClr>
                </a:glo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400457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>
            <a:off x="-1257300" y="762000"/>
            <a:ext cx="5086350" cy="0"/>
          </a:xfrm>
          <a:prstGeom prst="line">
            <a:avLst/>
          </a:prstGeom>
          <a:ln>
            <a:solidFill>
              <a:schemeClr val="bg1"/>
            </a:solidFill>
            <a:tailEnd type="oval" w="lg" len="lg"/>
          </a:ln>
          <a:effectLst>
            <a:glow rad="139700">
              <a:schemeClr val="accent3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接连接符 2"/>
          <p:cNvCxnSpPr/>
          <p:nvPr/>
        </p:nvCxnSpPr>
        <p:spPr>
          <a:xfrm flipH="1">
            <a:off x="8343900" y="762000"/>
            <a:ext cx="5086350" cy="0"/>
          </a:xfrm>
          <a:prstGeom prst="line">
            <a:avLst/>
          </a:prstGeom>
          <a:ln>
            <a:solidFill>
              <a:schemeClr val="bg1"/>
            </a:solidFill>
            <a:tailEnd type="oval" w="lg" len="lg"/>
          </a:ln>
          <a:effectLst>
            <a:glow rad="139700">
              <a:schemeClr val="accent3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/>
        </p:nvSpPr>
        <p:spPr>
          <a:xfrm>
            <a:off x="4355049" y="452460"/>
            <a:ext cx="34628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b="1" dirty="0" smtClean="0">
                <a:solidFill>
                  <a:schemeClr val="bg1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网管工作的七大问题</a:t>
            </a:r>
            <a:endParaRPr lang="zh-CN" altLang="en-US" sz="2800" b="1" dirty="0">
              <a:solidFill>
                <a:schemeClr val="bg1"/>
              </a:solidFill>
              <a:effectLst>
                <a:glow rad="228600">
                  <a:schemeClr val="accent1">
                    <a:satMod val="175000"/>
                    <a:alpha val="40000"/>
                  </a:schemeClr>
                </a:glo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0" name="文本框 89"/>
          <p:cNvSpPr txBox="1"/>
          <p:nvPr/>
        </p:nvSpPr>
        <p:spPr>
          <a:xfrm>
            <a:off x="-39007" y="-7441"/>
            <a:ext cx="25527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400" b="1" dirty="0" smtClean="0">
                <a:solidFill>
                  <a:schemeClr val="bg1"/>
                </a:solidFill>
                <a:effectLst>
                  <a:glow rad="228600">
                    <a:schemeClr val="accent3">
                      <a:satMod val="175000"/>
                      <a:alpha val="40000"/>
                    </a:schemeClr>
                  </a:glo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项目背景</a:t>
            </a:r>
            <a:endParaRPr lang="zh-CN" altLang="en-US" sz="4400" b="1" dirty="0">
              <a:solidFill>
                <a:schemeClr val="bg1"/>
              </a:solidFill>
              <a:effectLst>
                <a:glow rad="228600">
                  <a:schemeClr val="accent3">
                    <a:satMod val="175000"/>
                    <a:alpha val="40000"/>
                  </a:schemeClr>
                </a:glo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277996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205160" y="1372916"/>
            <a:ext cx="857250" cy="31547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9900" b="1" dirty="0" smtClean="0">
                <a:solidFill>
                  <a:schemeClr val="bg1"/>
                </a:solidFill>
              </a:rPr>
              <a:t>2</a:t>
            </a:r>
            <a:endParaRPr lang="zh-CN" altLang="en-US" sz="19900" b="1" dirty="0">
              <a:solidFill>
                <a:schemeClr val="bg1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981700" y="2778865"/>
            <a:ext cx="478155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400" b="1" dirty="0" smtClean="0">
                <a:solidFill>
                  <a:schemeClr val="bg1"/>
                </a:solidFill>
                <a:effectLst>
                  <a:glow rad="228600">
                    <a:schemeClr val="accent3">
                      <a:satMod val="175000"/>
                      <a:alpha val="40000"/>
                    </a:schemeClr>
                  </a:glo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平台建设</a:t>
            </a:r>
            <a:endParaRPr lang="zh-CN" altLang="en-US" sz="4400" b="1" dirty="0">
              <a:solidFill>
                <a:schemeClr val="bg1"/>
              </a:solidFill>
              <a:effectLst>
                <a:glow rad="228600">
                  <a:schemeClr val="accent3">
                    <a:satMod val="175000"/>
                    <a:alpha val="40000"/>
                  </a:schemeClr>
                </a:glo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711016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/>
          <p:cNvCxnSpPr/>
          <p:nvPr/>
        </p:nvCxnSpPr>
        <p:spPr>
          <a:xfrm>
            <a:off x="-1257300" y="762000"/>
            <a:ext cx="5086350" cy="0"/>
          </a:xfrm>
          <a:prstGeom prst="line">
            <a:avLst/>
          </a:prstGeom>
          <a:ln>
            <a:solidFill>
              <a:schemeClr val="bg1"/>
            </a:solidFill>
            <a:tailEnd type="oval" w="lg" len="lg"/>
          </a:ln>
          <a:effectLst>
            <a:glow rad="139700">
              <a:schemeClr val="accent3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接连接符 3"/>
          <p:cNvCxnSpPr/>
          <p:nvPr/>
        </p:nvCxnSpPr>
        <p:spPr>
          <a:xfrm flipH="1">
            <a:off x="8343900" y="762000"/>
            <a:ext cx="5086350" cy="0"/>
          </a:xfrm>
          <a:prstGeom prst="line">
            <a:avLst/>
          </a:prstGeom>
          <a:ln>
            <a:solidFill>
              <a:schemeClr val="bg1"/>
            </a:solidFill>
            <a:tailEnd type="oval" w="lg" len="lg"/>
          </a:ln>
          <a:effectLst>
            <a:glow rad="139700">
              <a:schemeClr val="accent3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/>
          <p:cNvSpPr txBox="1"/>
          <p:nvPr/>
        </p:nvSpPr>
        <p:spPr>
          <a:xfrm>
            <a:off x="0" y="1327"/>
            <a:ext cx="262550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400" b="1" dirty="0" smtClean="0">
                <a:solidFill>
                  <a:schemeClr val="bg1"/>
                </a:solidFill>
                <a:effectLst>
                  <a:glow rad="228600">
                    <a:schemeClr val="accent3">
                      <a:satMod val="175000"/>
                      <a:alpha val="40000"/>
                    </a:schemeClr>
                  </a:glo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平台建设</a:t>
            </a:r>
            <a:endParaRPr lang="zh-CN" altLang="en-US" sz="4400" b="1" dirty="0">
              <a:solidFill>
                <a:schemeClr val="bg1"/>
              </a:solidFill>
              <a:effectLst>
                <a:glow rad="228600">
                  <a:schemeClr val="accent3">
                    <a:satMod val="175000"/>
                    <a:alpha val="40000"/>
                  </a:schemeClr>
                </a:glo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896293" y="1883121"/>
            <a:ext cx="4275782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平台</a:t>
            </a:r>
            <a:r>
              <a:rPr lang="zh-CN" altLang="en-US" dirty="0" smtClean="0">
                <a:solidFill>
                  <a:schemeClr val="bg1"/>
                </a:solidFill>
              </a:rPr>
              <a:t>功能介绍：全景图、网络拓扑、自动化运维、智能运维 用一张大图的形式来说明 尽可能美观全面</a:t>
            </a:r>
            <a:endParaRPr lang="en-US" altLang="zh-CN" dirty="0" smtClean="0">
              <a:solidFill>
                <a:schemeClr val="bg1"/>
              </a:solidFill>
            </a:endParaRPr>
          </a:p>
          <a:p>
            <a:r>
              <a:rPr lang="zh-CN" altLang="en-US" dirty="0" smtClean="0">
                <a:solidFill>
                  <a:schemeClr val="bg1"/>
                </a:solidFill>
              </a:rPr>
              <a:t>包括本部分后面所介绍的各个功能模块</a:t>
            </a:r>
            <a:endParaRPr lang="en-US" altLang="zh-CN" dirty="0" smtClean="0">
              <a:solidFill>
                <a:schemeClr val="bg1"/>
              </a:solidFill>
            </a:endParaRPr>
          </a:p>
          <a:p>
            <a:endParaRPr lang="en-US" altLang="zh-CN" dirty="0">
              <a:solidFill>
                <a:schemeClr val="bg1"/>
              </a:solidFill>
            </a:endParaRPr>
          </a:p>
          <a:p>
            <a:endParaRPr lang="en-US" altLang="zh-CN" dirty="0" smtClean="0">
              <a:solidFill>
                <a:schemeClr val="bg1"/>
              </a:solidFill>
            </a:endParaRPr>
          </a:p>
          <a:p>
            <a:r>
              <a:rPr lang="zh-CN" altLang="en-US" dirty="0" smtClean="0">
                <a:solidFill>
                  <a:schemeClr val="bg1"/>
                </a:solidFill>
              </a:rPr>
              <a:t>网络大脑定位：</a:t>
            </a:r>
            <a:endParaRPr lang="en-US" altLang="zh-CN" dirty="0" smtClean="0">
              <a:solidFill>
                <a:schemeClr val="bg1"/>
              </a:solidFill>
            </a:endParaRPr>
          </a:p>
          <a:p>
            <a:pPr marL="342900" indent="-342900">
              <a:buAutoNum type="arabicPeriod"/>
            </a:pPr>
            <a:r>
              <a:rPr lang="zh-CN" altLang="en-US" dirty="0" smtClean="0">
                <a:solidFill>
                  <a:schemeClr val="bg1"/>
                </a:solidFill>
              </a:rPr>
              <a:t>网络服务模式突破</a:t>
            </a:r>
            <a:endParaRPr lang="en-US" altLang="zh-CN" dirty="0" smtClean="0">
              <a:solidFill>
                <a:schemeClr val="bg1"/>
              </a:solidFill>
            </a:endParaRPr>
          </a:p>
          <a:p>
            <a:pPr marL="342900" indent="-342900">
              <a:buAutoNum type="arabicPeriod"/>
            </a:pPr>
            <a:r>
              <a:rPr lang="zh-CN" altLang="en-US" dirty="0" smtClean="0">
                <a:solidFill>
                  <a:schemeClr val="bg1"/>
                </a:solidFill>
              </a:rPr>
              <a:t>网络运维方法革新</a:t>
            </a:r>
            <a:endParaRPr lang="en-US" altLang="zh-CN" dirty="0" smtClean="0">
              <a:solidFill>
                <a:schemeClr val="bg1"/>
              </a:solidFill>
            </a:endParaRPr>
          </a:p>
          <a:p>
            <a:pPr marL="342900" indent="-342900">
              <a:buAutoNum type="arabicPeriod"/>
            </a:pPr>
            <a:r>
              <a:rPr lang="zh-CN" altLang="en-US" dirty="0" smtClean="0">
                <a:solidFill>
                  <a:schemeClr val="bg1"/>
                </a:solidFill>
              </a:rPr>
              <a:t>数据价值体现升级</a:t>
            </a:r>
            <a:endParaRPr lang="en-US" altLang="zh-CN" dirty="0" smtClean="0">
              <a:solidFill>
                <a:schemeClr val="bg1"/>
              </a:solidFill>
            </a:endParaRPr>
          </a:p>
          <a:p>
            <a:pPr marL="342900" indent="-342900">
              <a:buAutoNum type="arabicPeriod"/>
            </a:pPr>
            <a:endParaRPr lang="en-US" altLang="zh-CN" dirty="0">
              <a:solidFill>
                <a:schemeClr val="bg1"/>
              </a:solidFill>
            </a:endParaRPr>
          </a:p>
          <a:p>
            <a:r>
              <a:rPr lang="zh-CN" altLang="en-US" dirty="0" smtClean="0">
                <a:solidFill>
                  <a:schemeClr val="bg1"/>
                </a:solidFill>
              </a:rPr>
              <a:t>功能：知全局 深洞察 拓未来 </a:t>
            </a:r>
            <a:endParaRPr lang="en-US" altLang="zh-CN" dirty="0" smtClean="0">
              <a:solidFill>
                <a:schemeClr val="bg1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629149" y="377279"/>
            <a:ext cx="27441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b="1" dirty="0" smtClean="0">
                <a:solidFill>
                  <a:schemeClr val="bg1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大脑框图</a:t>
            </a:r>
            <a:endParaRPr lang="zh-CN" altLang="en-US" sz="2800" b="1" dirty="0">
              <a:solidFill>
                <a:schemeClr val="bg1"/>
              </a:solidFill>
              <a:effectLst>
                <a:glow rad="228600">
                  <a:schemeClr val="accent1">
                    <a:satMod val="175000"/>
                    <a:alpha val="40000"/>
                  </a:schemeClr>
                </a:glo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8972550" y="1037629"/>
            <a:ext cx="21145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>
                <a:solidFill>
                  <a:srgbClr val="FF0000"/>
                </a:solidFill>
              </a:rPr>
              <a:t>正在制作中</a:t>
            </a:r>
            <a:endParaRPr lang="zh-CN" altLang="en-US" sz="28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605218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/>
          <p:cNvCxnSpPr/>
          <p:nvPr/>
        </p:nvCxnSpPr>
        <p:spPr>
          <a:xfrm>
            <a:off x="-1257300" y="762000"/>
            <a:ext cx="5086350" cy="0"/>
          </a:xfrm>
          <a:prstGeom prst="line">
            <a:avLst/>
          </a:prstGeom>
          <a:ln>
            <a:solidFill>
              <a:schemeClr val="bg1"/>
            </a:solidFill>
            <a:tailEnd type="oval" w="lg" len="lg"/>
          </a:ln>
          <a:effectLst>
            <a:glow rad="139700">
              <a:schemeClr val="accent3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接连接符 3"/>
          <p:cNvCxnSpPr/>
          <p:nvPr/>
        </p:nvCxnSpPr>
        <p:spPr>
          <a:xfrm flipH="1">
            <a:off x="8343900" y="762000"/>
            <a:ext cx="5086350" cy="0"/>
          </a:xfrm>
          <a:prstGeom prst="line">
            <a:avLst/>
          </a:prstGeom>
          <a:ln>
            <a:solidFill>
              <a:schemeClr val="bg1"/>
            </a:solidFill>
            <a:tailEnd type="oval" w="lg" len="lg"/>
          </a:ln>
          <a:effectLst>
            <a:glow rad="139700">
              <a:schemeClr val="accent3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/>
          <p:cNvSpPr txBox="1"/>
          <p:nvPr/>
        </p:nvSpPr>
        <p:spPr>
          <a:xfrm>
            <a:off x="0" y="1327"/>
            <a:ext cx="262550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400" b="1" dirty="0" smtClean="0">
                <a:solidFill>
                  <a:schemeClr val="bg1"/>
                </a:solidFill>
                <a:effectLst>
                  <a:glow rad="228600">
                    <a:schemeClr val="accent3">
                      <a:satMod val="175000"/>
                      <a:alpha val="40000"/>
                    </a:schemeClr>
                  </a:glo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平台建设</a:t>
            </a:r>
            <a:endParaRPr lang="zh-CN" altLang="en-US" sz="4400" b="1" dirty="0">
              <a:solidFill>
                <a:schemeClr val="bg1"/>
              </a:solidFill>
              <a:effectLst>
                <a:glow rad="228600">
                  <a:schemeClr val="accent3">
                    <a:satMod val="175000"/>
                    <a:alpha val="40000"/>
                  </a:schemeClr>
                </a:glo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329324" y="2323974"/>
            <a:ext cx="2266765" cy="613356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200" b="1" dirty="0" smtClean="0"/>
              <a:t>项目目标</a:t>
            </a:r>
            <a:endParaRPr lang="zh-CN" altLang="en-US" sz="3200" b="1" dirty="0"/>
          </a:p>
        </p:txBody>
      </p:sp>
      <p:sp>
        <p:nvSpPr>
          <p:cNvPr id="9" name="矩形 8"/>
          <p:cNvSpPr/>
          <p:nvPr/>
        </p:nvSpPr>
        <p:spPr>
          <a:xfrm>
            <a:off x="624114" y="3816037"/>
            <a:ext cx="3907870" cy="1029511"/>
          </a:xfrm>
          <a:prstGeom prst="rect">
            <a:avLst/>
          </a:prstGeom>
        </p:spPr>
        <p:txBody>
          <a:bodyPr wrap="square" lIns="68570" tIns="34289" rIns="68570" bIns="34289">
            <a:spAutoFit/>
          </a:bodyPr>
          <a:lstStyle/>
          <a:p>
            <a:pPr marL="285750" indent="-285750" defTabSz="685165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展现珠海网络情况、能力</a:t>
            </a:r>
            <a:endParaRPr lang="en-US" altLang="zh-CN" sz="2400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defTabSz="685165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实现珠海网络智慧运维</a:t>
            </a:r>
            <a:endParaRPr lang="en-US" altLang="zh-CN" sz="2400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8962730" y="2323974"/>
            <a:ext cx="2266765" cy="613356"/>
          </a:xfrm>
          <a:prstGeom prst="rect">
            <a:avLst/>
          </a:prstGeom>
          <a:solidFill>
            <a:srgbClr val="333F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200" b="1" dirty="0" smtClean="0"/>
              <a:t>平台特征</a:t>
            </a:r>
            <a:endParaRPr lang="zh-CN" altLang="en-US" sz="3200" b="1" dirty="0"/>
          </a:p>
        </p:txBody>
      </p:sp>
      <p:sp>
        <p:nvSpPr>
          <p:cNvPr id="11" name="矩形 10"/>
          <p:cNvSpPr/>
          <p:nvPr/>
        </p:nvSpPr>
        <p:spPr>
          <a:xfrm>
            <a:off x="4896875" y="2323974"/>
            <a:ext cx="2266765" cy="613356"/>
          </a:xfrm>
          <a:prstGeom prst="rect">
            <a:avLst/>
          </a:prstGeom>
          <a:solidFill>
            <a:srgbClr val="007A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200" b="1" dirty="0" smtClean="0"/>
              <a:t>平台面向</a:t>
            </a:r>
            <a:endParaRPr lang="zh-CN" altLang="en-US" sz="3200" b="1" dirty="0"/>
          </a:p>
        </p:txBody>
      </p:sp>
      <p:sp>
        <p:nvSpPr>
          <p:cNvPr id="12" name="矩形 11"/>
          <p:cNvSpPr/>
          <p:nvPr/>
        </p:nvSpPr>
        <p:spPr>
          <a:xfrm>
            <a:off x="4704218" y="3311531"/>
            <a:ext cx="2652078" cy="2469905"/>
          </a:xfrm>
          <a:prstGeom prst="rect">
            <a:avLst/>
          </a:prstGeom>
        </p:spPr>
        <p:txBody>
          <a:bodyPr wrap="square" lIns="68570" tIns="34289" rIns="68570" bIns="34289">
            <a:spAutoFit/>
          </a:bodyPr>
          <a:lstStyle/>
          <a:p>
            <a:pPr marL="285750" indent="-285750" algn="ctr" defTabSz="685165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领导</a:t>
            </a:r>
          </a:p>
          <a:p>
            <a:pPr marL="285750" indent="-285750" algn="ctr" defTabSz="685165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监控岗位人员</a:t>
            </a:r>
          </a:p>
          <a:p>
            <a:pPr marL="285750" indent="-285750" algn="ctr" defTabSz="685165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专业岗位人员</a:t>
            </a:r>
          </a:p>
          <a:p>
            <a:pPr marL="285750" indent="-285750" algn="ctr" defTabSz="685165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其它岗位人员</a:t>
            </a:r>
          </a:p>
          <a:p>
            <a:pPr marL="285750" indent="-285750" algn="ctr" defTabSz="685165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外部</a:t>
            </a:r>
            <a:r>
              <a:rPr lang="zh-CN" altLang="en-US" sz="2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人员等</a:t>
            </a:r>
            <a:endParaRPr lang="zh-CN" altLang="en-US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8255593" y="3575001"/>
            <a:ext cx="3598370" cy="1509642"/>
          </a:xfrm>
          <a:prstGeom prst="rect">
            <a:avLst/>
          </a:prstGeom>
        </p:spPr>
        <p:txBody>
          <a:bodyPr wrap="square" lIns="68570" tIns="34289" rIns="68570" bIns="34289">
            <a:spAutoFit/>
          </a:bodyPr>
          <a:lstStyle/>
          <a:p>
            <a:pPr marL="285750" indent="-285750" algn="ctr" defTabSz="685165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即时</a:t>
            </a:r>
            <a:endParaRPr lang="en-US" altLang="zh-CN" sz="2400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algn="ctr" defTabSz="685165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全</a:t>
            </a:r>
            <a:r>
              <a:rPr lang="zh-CN" altLang="en-US" sz="2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</a:t>
            </a:r>
            <a:endParaRPr lang="en-US" altLang="zh-CN" sz="2400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algn="ctr" defTabSz="685165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全数据</a:t>
            </a:r>
          </a:p>
        </p:txBody>
      </p:sp>
    </p:spTree>
    <p:extLst>
      <p:ext uri="{BB962C8B-B14F-4D97-AF65-F5344CB8AC3E}">
        <p14:creationId xmlns:p14="http://schemas.microsoft.com/office/powerpoint/2010/main" val="11924772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/>
      <p:bldP spid="10" grpId="0" animBg="1"/>
      <p:bldP spid="11" grpId="0" animBg="1"/>
      <p:bldP spid="12" grpId="0"/>
      <p:bldP spid="1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 descr="âmachine learning white iconâçå¾çæç´¢ç»æ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1222" y="1991644"/>
            <a:ext cx="2043499" cy="20434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070" y="2368726"/>
            <a:ext cx="1905000" cy="1905000"/>
          </a:xfrm>
          <a:prstGeom prst="rect">
            <a:avLst/>
          </a:prstGeom>
        </p:spPr>
      </p:pic>
      <p:sp>
        <p:nvSpPr>
          <p:cNvPr id="44" name="文本框 43"/>
          <p:cNvSpPr txBox="1"/>
          <p:nvPr/>
        </p:nvSpPr>
        <p:spPr>
          <a:xfrm>
            <a:off x="1590156" y="3047040"/>
            <a:ext cx="67860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400" b="1" dirty="0" smtClean="0">
                <a:solidFill>
                  <a:srgbClr val="66FF99"/>
                </a:solidFill>
              </a:rPr>
              <a:t>+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2582" y="2539224"/>
            <a:ext cx="1357540" cy="1357540"/>
          </a:xfrm>
          <a:prstGeom prst="rect">
            <a:avLst/>
          </a:prstGeom>
        </p:spPr>
      </p:pic>
      <p:cxnSp>
        <p:nvCxnSpPr>
          <p:cNvPr id="3" name="直接连接符 2"/>
          <p:cNvCxnSpPr/>
          <p:nvPr/>
        </p:nvCxnSpPr>
        <p:spPr>
          <a:xfrm>
            <a:off x="-1257300" y="762000"/>
            <a:ext cx="5086350" cy="0"/>
          </a:xfrm>
          <a:prstGeom prst="line">
            <a:avLst/>
          </a:prstGeom>
          <a:ln>
            <a:solidFill>
              <a:schemeClr val="bg1"/>
            </a:solidFill>
            <a:tailEnd type="oval" w="lg" len="lg"/>
          </a:ln>
          <a:effectLst>
            <a:glow rad="139700">
              <a:schemeClr val="accent3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接连接符 3"/>
          <p:cNvCxnSpPr/>
          <p:nvPr/>
        </p:nvCxnSpPr>
        <p:spPr>
          <a:xfrm flipH="1">
            <a:off x="8343900" y="762000"/>
            <a:ext cx="5086350" cy="0"/>
          </a:xfrm>
          <a:prstGeom prst="line">
            <a:avLst/>
          </a:prstGeom>
          <a:ln>
            <a:solidFill>
              <a:schemeClr val="bg1"/>
            </a:solidFill>
            <a:tailEnd type="oval" w="lg" len="lg"/>
          </a:ln>
          <a:effectLst>
            <a:glow rad="139700">
              <a:schemeClr val="accent3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/>
          <p:cNvSpPr txBox="1"/>
          <p:nvPr/>
        </p:nvSpPr>
        <p:spPr>
          <a:xfrm>
            <a:off x="0" y="1327"/>
            <a:ext cx="262550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400" b="1" dirty="0" smtClean="0">
                <a:solidFill>
                  <a:schemeClr val="bg1"/>
                </a:solidFill>
                <a:effectLst>
                  <a:glow rad="228600">
                    <a:schemeClr val="accent3">
                      <a:satMod val="175000"/>
                      <a:alpha val="40000"/>
                    </a:schemeClr>
                  </a:glo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平台建设</a:t>
            </a:r>
            <a:endParaRPr lang="zh-CN" altLang="en-US" sz="4400" b="1" dirty="0">
              <a:solidFill>
                <a:schemeClr val="bg1"/>
              </a:solidFill>
              <a:effectLst>
                <a:glow rad="228600">
                  <a:schemeClr val="accent3">
                    <a:satMod val="175000"/>
                    <a:alpha val="40000"/>
                  </a:schemeClr>
                </a:glo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4629149" y="377279"/>
            <a:ext cx="27441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b="1" dirty="0" smtClean="0">
                <a:solidFill>
                  <a:schemeClr val="bg1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现状</a:t>
            </a:r>
            <a:r>
              <a:rPr lang="en-US" altLang="zh-CN" sz="2800" b="1" dirty="0" smtClean="0">
                <a:solidFill>
                  <a:schemeClr val="bg1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&amp;</a:t>
            </a:r>
            <a:r>
              <a:rPr lang="zh-CN" altLang="en-US" sz="2800" b="1" dirty="0" smtClean="0">
                <a:solidFill>
                  <a:schemeClr val="bg1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发展方向</a:t>
            </a:r>
            <a:endParaRPr lang="zh-CN" altLang="en-US" sz="2800" b="1" dirty="0">
              <a:solidFill>
                <a:schemeClr val="bg1"/>
              </a:solidFill>
              <a:effectLst>
                <a:glow rad="228600">
                  <a:schemeClr val="accent1">
                    <a:satMod val="175000"/>
                    <a:alpha val="40000"/>
                  </a:schemeClr>
                </a:glo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1437756" y="2894640"/>
            <a:ext cx="67860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400" b="1" dirty="0" smtClean="0"/>
              <a:t>+</a:t>
            </a:r>
          </a:p>
        </p:txBody>
      </p:sp>
      <p:sp>
        <p:nvSpPr>
          <p:cNvPr id="31" name="文本框 30"/>
          <p:cNvSpPr txBox="1"/>
          <p:nvPr/>
        </p:nvSpPr>
        <p:spPr>
          <a:xfrm>
            <a:off x="4748211" y="4852281"/>
            <a:ext cx="26955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 smtClean="0">
                <a:solidFill>
                  <a:srgbClr val="FF0000"/>
                </a:solidFill>
              </a:rPr>
              <a:t>完善</a:t>
            </a:r>
            <a:r>
              <a:rPr lang="zh-CN" altLang="en-US" dirty="0" smtClean="0">
                <a:solidFill>
                  <a:srgbClr val="66FF99"/>
                </a:solidFill>
              </a:rPr>
              <a:t>的自动化运维</a:t>
            </a:r>
            <a:endParaRPr lang="zh-CN" altLang="en-US" dirty="0">
              <a:solidFill>
                <a:srgbClr val="66FF99"/>
              </a:solidFill>
            </a:endParaRPr>
          </a:p>
        </p:txBody>
      </p:sp>
      <p:sp>
        <p:nvSpPr>
          <p:cNvPr id="32" name="右箭头 31"/>
          <p:cNvSpPr/>
          <p:nvPr/>
        </p:nvSpPr>
        <p:spPr>
          <a:xfrm>
            <a:off x="3618850" y="2901975"/>
            <a:ext cx="986165" cy="547871"/>
          </a:xfrm>
          <a:prstGeom prst="rightArrow">
            <a:avLst/>
          </a:prstGeom>
          <a:solidFill>
            <a:srgbClr val="8C8C8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3" name="Picture 8" descr="“Automation icon”的图片搜索结果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92940" y="2337123"/>
            <a:ext cx="1903185" cy="19031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文本框 33"/>
          <p:cNvSpPr txBox="1"/>
          <p:nvPr/>
        </p:nvSpPr>
        <p:spPr>
          <a:xfrm>
            <a:off x="619123" y="4852281"/>
            <a:ext cx="26955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 smtClean="0">
                <a:solidFill>
                  <a:srgbClr val="66FF99"/>
                </a:solidFill>
              </a:rPr>
              <a:t>手工</a:t>
            </a:r>
            <a:r>
              <a:rPr lang="en-US" altLang="zh-CN" dirty="0" smtClean="0">
                <a:solidFill>
                  <a:srgbClr val="66FF99"/>
                </a:solidFill>
              </a:rPr>
              <a:t>+</a:t>
            </a:r>
            <a:r>
              <a:rPr lang="zh-CN" altLang="en-US" dirty="0" smtClean="0">
                <a:solidFill>
                  <a:srgbClr val="66FF99"/>
                </a:solidFill>
              </a:rPr>
              <a:t>半自动化</a:t>
            </a:r>
            <a:endParaRPr lang="zh-CN" altLang="en-US" dirty="0">
              <a:solidFill>
                <a:srgbClr val="66FF99"/>
              </a:solidFill>
            </a:endParaRPr>
          </a:p>
        </p:txBody>
      </p:sp>
      <p:sp>
        <p:nvSpPr>
          <p:cNvPr id="35" name="右箭头 34"/>
          <p:cNvSpPr/>
          <p:nvPr/>
        </p:nvSpPr>
        <p:spPr>
          <a:xfrm>
            <a:off x="7903192" y="2859897"/>
            <a:ext cx="986165" cy="547871"/>
          </a:xfrm>
          <a:prstGeom prst="rightArrow">
            <a:avLst/>
          </a:prstGeom>
          <a:solidFill>
            <a:srgbClr val="1CBDE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6" name="Picture 2" descr="相关图片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97683" y="5601348"/>
            <a:ext cx="1253529" cy="12535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文本框 36"/>
          <p:cNvSpPr txBox="1"/>
          <p:nvPr/>
        </p:nvSpPr>
        <p:spPr>
          <a:xfrm>
            <a:off x="9112036" y="4852281"/>
            <a:ext cx="26955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 smtClean="0">
                <a:solidFill>
                  <a:srgbClr val="FF0000"/>
                </a:solidFill>
              </a:rPr>
              <a:t>智慧化</a:t>
            </a:r>
            <a:r>
              <a:rPr lang="zh-CN" altLang="en-US" dirty="0" smtClean="0">
                <a:solidFill>
                  <a:srgbClr val="66FF99"/>
                </a:solidFill>
              </a:rPr>
              <a:t>运维</a:t>
            </a:r>
            <a:endParaRPr lang="zh-CN" altLang="en-US" dirty="0">
              <a:solidFill>
                <a:srgbClr val="66FF99"/>
              </a:solidFill>
            </a:endParaRPr>
          </a:p>
        </p:txBody>
      </p:sp>
      <p:sp>
        <p:nvSpPr>
          <p:cNvPr id="40" name="圆角矩形标注 39"/>
          <p:cNvSpPr/>
          <p:nvPr/>
        </p:nvSpPr>
        <p:spPr>
          <a:xfrm>
            <a:off x="4651723" y="2033938"/>
            <a:ext cx="3209014" cy="2202132"/>
          </a:xfrm>
          <a:prstGeom prst="wedgeRoundRectCallout">
            <a:avLst/>
          </a:prstGeom>
          <a:solidFill>
            <a:srgbClr val="1CBDE8">
              <a:alpha val="9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8" name="圆角矩形标注 37"/>
          <p:cNvSpPr/>
          <p:nvPr/>
        </p:nvSpPr>
        <p:spPr>
          <a:xfrm>
            <a:off x="308620" y="2032766"/>
            <a:ext cx="3209014" cy="2202132"/>
          </a:xfrm>
          <a:prstGeom prst="wedgeRoundRectCallout">
            <a:avLst/>
          </a:prstGeom>
          <a:solidFill>
            <a:schemeClr val="bg1">
              <a:lumMod val="50000"/>
              <a:alpha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1" name="文本框 40"/>
          <p:cNvSpPr txBox="1"/>
          <p:nvPr/>
        </p:nvSpPr>
        <p:spPr>
          <a:xfrm>
            <a:off x="4603940" y="2038176"/>
            <a:ext cx="3076575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b="1" dirty="0" smtClean="0">
                <a:solidFill>
                  <a:schemeClr val="bg1"/>
                </a:solidFill>
              </a:rPr>
              <a:t>丰富预设脚本仓库</a:t>
            </a:r>
            <a:endParaRPr lang="en-US" altLang="zh-CN" sz="2000" b="1" dirty="0" smtClean="0">
              <a:solidFill>
                <a:schemeClr val="bg1"/>
              </a:solidFill>
            </a:endParaRPr>
          </a:p>
          <a:p>
            <a:pPr marL="285750" indent="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b="1" dirty="0">
                <a:solidFill>
                  <a:schemeClr val="bg1"/>
                </a:solidFill>
              </a:rPr>
              <a:t>网</a:t>
            </a:r>
            <a:r>
              <a:rPr lang="zh-CN" altLang="en-US" sz="2000" b="1" dirty="0" smtClean="0">
                <a:solidFill>
                  <a:schemeClr val="bg1"/>
                </a:solidFill>
              </a:rPr>
              <a:t>管工具系统集成</a:t>
            </a:r>
            <a:endParaRPr lang="en-US" altLang="zh-CN" sz="2000" b="1" dirty="0" smtClean="0">
              <a:solidFill>
                <a:schemeClr val="bg1"/>
              </a:solidFill>
            </a:endParaRPr>
          </a:p>
          <a:p>
            <a:pPr marL="285750" indent="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b="1" dirty="0">
                <a:solidFill>
                  <a:schemeClr val="bg1"/>
                </a:solidFill>
              </a:rPr>
              <a:t>运</a:t>
            </a:r>
            <a:r>
              <a:rPr lang="zh-CN" altLang="en-US" sz="2000" b="1" dirty="0" smtClean="0">
                <a:solidFill>
                  <a:schemeClr val="bg1"/>
                </a:solidFill>
              </a:rPr>
              <a:t>维动作一致有效</a:t>
            </a:r>
            <a:endParaRPr lang="en-US" altLang="zh-CN" sz="2000" b="1" dirty="0" smtClean="0">
              <a:solidFill>
                <a:schemeClr val="bg1"/>
              </a:solidFill>
            </a:endParaRPr>
          </a:p>
          <a:p>
            <a:pPr marL="285750" indent="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b="1" dirty="0" smtClean="0">
                <a:solidFill>
                  <a:schemeClr val="bg1"/>
                </a:solidFill>
              </a:rPr>
              <a:t>运维语言统一清晰</a:t>
            </a:r>
            <a:endParaRPr lang="en-US" altLang="zh-CN" sz="2000" b="1" dirty="0" smtClean="0">
              <a:solidFill>
                <a:schemeClr val="bg1"/>
              </a:solidFill>
            </a:endParaRPr>
          </a:p>
          <a:p>
            <a:pPr marL="285750" indent="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b="1" dirty="0" smtClean="0">
                <a:solidFill>
                  <a:schemeClr val="bg1"/>
                </a:solidFill>
              </a:rPr>
              <a:t>…</a:t>
            </a:r>
          </a:p>
        </p:txBody>
      </p:sp>
      <p:sp>
        <p:nvSpPr>
          <p:cNvPr id="42" name="圆角矩形标注 41"/>
          <p:cNvSpPr/>
          <p:nvPr/>
        </p:nvSpPr>
        <p:spPr>
          <a:xfrm>
            <a:off x="8892847" y="1991644"/>
            <a:ext cx="3209014" cy="2202132"/>
          </a:xfrm>
          <a:prstGeom prst="wedgeRoundRectCallout">
            <a:avLst/>
          </a:prstGeom>
          <a:solidFill>
            <a:schemeClr val="accent1">
              <a:alpha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3" name="文本框 42"/>
          <p:cNvSpPr txBox="1"/>
          <p:nvPr/>
        </p:nvSpPr>
        <p:spPr>
          <a:xfrm>
            <a:off x="8921535" y="1975581"/>
            <a:ext cx="3076575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b="1" dirty="0" smtClean="0">
                <a:solidFill>
                  <a:schemeClr val="bg1"/>
                </a:solidFill>
              </a:rPr>
              <a:t>运维规则自主学习</a:t>
            </a:r>
            <a:endParaRPr lang="en-US" altLang="zh-CN" sz="2000" b="1" dirty="0" smtClean="0">
              <a:solidFill>
                <a:schemeClr val="bg1"/>
              </a:solidFill>
            </a:endParaRPr>
          </a:p>
          <a:p>
            <a:pPr marL="285750" indent="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b="1" dirty="0" smtClean="0">
                <a:solidFill>
                  <a:schemeClr val="bg1"/>
                </a:solidFill>
              </a:rPr>
              <a:t>海量数据智能分析</a:t>
            </a:r>
            <a:endParaRPr lang="en-US" altLang="zh-CN" sz="2000" b="1" dirty="0" smtClean="0">
              <a:solidFill>
                <a:schemeClr val="bg1"/>
              </a:solidFill>
            </a:endParaRPr>
          </a:p>
          <a:p>
            <a:pPr marL="285750" indent="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b="1" dirty="0" smtClean="0">
                <a:solidFill>
                  <a:schemeClr val="bg1"/>
                </a:solidFill>
              </a:rPr>
              <a:t>线网故障快速定位</a:t>
            </a:r>
            <a:endParaRPr lang="en-US" altLang="zh-CN" sz="2000" b="1" dirty="0" smtClean="0">
              <a:solidFill>
                <a:schemeClr val="bg1"/>
              </a:solidFill>
            </a:endParaRPr>
          </a:p>
          <a:p>
            <a:pPr marL="285750" indent="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b="1" dirty="0" smtClean="0">
                <a:solidFill>
                  <a:schemeClr val="bg1"/>
                </a:solidFill>
              </a:rPr>
              <a:t>任务分配智能调度</a:t>
            </a:r>
            <a:endParaRPr lang="en-US" altLang="zh-CN" sz="2000" b="1" dirty="0" smtClean="0">
              <a:solidFill>
                <a:schemeClr val="bg1"/>
              </a:solidFill>
            </a:endParaRPr>
          </a:p>
          <a:p>
            <a:pPr marL="285750" indent="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b="1" dirty="0" smtClean="0">
                <a:solidFill>
                  <a:schemeClr val="bg1"/>
                </a:solidFill>
              </a:rPr>
              <a:t>…</a:t>
            </a:r>
          </a:p>
        </p:txBody>
      </p:sp>
      <p:sp>
        <p:nvSpPr>
          <p:cNvPr id="39" name="文本框 38"/>
          <p:cNvSpPr txBox="1"/>
          <p:nvPr/>
        </p:nvSpPr>
        <p:spPr>
          <a:xfrm>
            <a:off x="319795" y="2206414"/>
            <a:ext cx="307657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b="1" dirty="0" smtClean="0">
                <a:solidFill>
                  <a:schemeClr val="bg1"/>
                </a:solidFill>
              </a:rPr>
              <a:t>自动流程覆盖有限</a:t>
            </a:r>
          </a:p>
          <a:p>
            <a:pPr marL="285750" indent="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b="1" dirty="0" smtClean="0">
                <a:solidFill>
                  <a:schemeClr val="bg1"/>
                </a:solidFill>
              </a:rPr>
              <a:t>功能类似系统冗余</a:t>
            </a:r>
            <a:endParaRPr lang="en-US" altLang="zh-CN" sz="2000" b="1" dirty="0" smtClean="0">
              <a:solidFill>
                <a:schemeClr val="bg1"/>
              </a:solidFill>
            </a:endParaRPr>
          </a:p>
          <a:p>
            <a:pPr marL="285750" indent="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b="1" dirty="0">
                <a:solidFill>
                  <a:schemeClr val="bg1"/>
                </a:solidFill>
              </a:rPr>
              <a:t>运</a:t>
            </a:r>
            <a:r>
              <a:rPr lang="zh-CN" altLang="en-US" sz="2000" b="1" dirty="0" smtClean="0">
                <a:solidFill>
                  <a:schemeClr val="bg1"/>
                </a:solidFill>
              </a:rPr>
              <a:t>维语言尚未统一</a:t>
            </a:r>
            <a:endParaRPr lang="en-US" altLang="zh-CN" sz="2000" b="1" dirty="0" smtClean="0">
              <a:solidFill>
                <a:schemeClr val="bg1"/>
              </a:solidFill>
            </a:endParaRPr>
          </a:p>
          <a:p>
            <a:pPr marL="285750" indent="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b="1" dirty="0" smtClean="0">
                <a:solidFill>
                  <a:schemeClr val="bg1"/>
                </a:solidFill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9701873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0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/>
      <p:bldP spid="29" grpId="0"/>
      <p:bldP spid="31" grpId="0"/>
      <p:bldP spid="32" grpId="0" animBg="1"/>
      <p:bldP spid="34" grpId="0"/>
      <p:bldP spid="35" grpId="0" animBg="1"/>
      <p:bldP spid="37" grpId="0"/>
      <p:bldP spid="40" grpId="0" animBg="1"/>
      <p:bldP spid="38" grpId="0" animBg="1"/>
      <p:bldP spid="41" grpId="0"/>
      <p:bldP spid="42" grpId="0" animBg="1"/>
      <p:bldP spid="43" grpId="0"/>
      <p:bldP spid="39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/>
          <p:cNvCxnSpPr/>
          <p:nvPr/>
        </p:nvCxnSpPr>
        <p:spPr>
          <a:xfrm>
            <a:off x="-1257300" y="762000"/>
            <a:ext cx="5086350" cy="0"/>
          </a:xfrm>
          <a:prstGeom prst="line">
            <a:avLst/>
          </a:prstGeom>
          <a:ln>
            <a:solidFill>
              <a:schemeClr val="bg1"/>
            </a:solidFill>
            <a:tailEnd type="oval" w="lg" len="lg"/>
          </a:ln>
          <a:effectLst>
            <a:glow rad="139700">
              <a:schemeClr val="accent3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接连接符 3"/>
          <p:cNvCxnSpPr/>
          <p:nvPr/>
        </p:nvCxnSpPr>
        <p:spPr>
          <a:xfrm flipH="1">
            <a:off x="8343900" y="762000"/>
            <a:ext cx="5086350" cy="0"/>
          </a:xfrm>
          <a:prstGeom prst="line">
            <a:avLst/>
          </a:prstGeom>
          <a:ln>
            <a:solidFill>
              <a:schemeClr val="bg1"/>
            </a:solidFill>
            <a:tailEnd type="oval" w="lg" len="lg"/>
          </a:ln>
          <a:effectLst>
            <a:glow rad="139700">
              <a:schemeClr val="accent3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/>
          <p:cNvSpPr txBox="1"/>
          <p:nvPr/>
        </p:nvSpPr>
        <p:spPr>
          <a:xfrm>
            <a:off x="0" y="1327"/>
            <a:ext cx="262550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400" b="1" dirty="0" smtClean="0">
                <a:solidFill>
                  <a:schemeClr val="bg1"/>
                </a:solidFill>
                <a:effectLst>
                  <a:glow rad="228600">
                    <a:schemeClr val="accent3">
                      <a:satMod val="175000"/>
                      <a:alpha val="40000"/>
                    </a:schemeClr>
                  </a:glo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平台建设</a:t>
            </a:r>
            <a:endParaRPr lang="zh-CN" altLang="en-US" sz="4400" b="1" dirty="0">
              <a:solidFill>
                <a:schemeClr val="bg1"/>
              </a:solidFill>
              <a:effectLst>
                <a:glow rad="228600">
                  <a:schemeClr val="accent3">
                    <a:satMod val="175000"/>
                    <a:alpha val="40000"/>
                  </a:schemeClr>
                </a:glo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46100" y="1338008"/>
            <a:ext cx="44919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>
                <a:solidFill>
                  <a:schemeClr val="bg1"/>
                </a:solidFill>
              </a:rPr>
              <a:t>网管七大问题</a:t>
            </a:r>
            <a:r>
              <a:rPr lang="en-US" altLang="zh-CN" b="1" dirty="0" smtClean="0">
                <a:solidFill>
                  <a:schemeClr val="bg1"/>
                </a:solidFill>
              </a:rPr>
              <a:t>-</a:t>
            </a:r>
            <a:r>
              <a:rPr lang="zh-CN" altLang="en-US" b="1" dirty="0" smtClean="0">
                <a:solidFill>
                  <a:schemeClr val="bg1"/>
                </a:solidFill>
              </a:rPr>
              <a:t>全网信息的呈现</a:t>
            </a:r>
            <a:r>
              <a:rPr lang="en-US" altLang="zh-CN" b="1" dirty="0" smtClean="0">
                <a:solidFill>
                  <a:schemeClr val="bg1"/>
                </a:solidFill>
              </a:rPr>
              <a:t>(</a:t>
            </a:r>
            <a:r>
              <a:rPr lang="zh-CN" altLang="en-US" b="1" dirty="0" smtClean="0">
                <a:solidFill>
                  <a:schemeClr val="bg1"/>
                </a:solidFill>
              </a:rPr>
              <a:t>整体情况？</a:t>
            </a:r>
            <a:r>
              <a:rPr lang="en-US" altLang="zh-CN" b="1" dirty="0" smtClean="0">
                <a:solidFill>
                  <a:schemeClr val="bg1"/>
                </a:solidFill>
              </a:rPr>
              <a:t>)</a:t>
            </a:r>
            <a:endParaRPr lang="zh-CN" altLang="en-US" b="1" dirty="0">
              <a:solidFill>
                <a:schemeClr val="bg1"/>
              </a:solidFill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334057" y="2958916"/>
            <a:ext cx="3757386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>
              <a:lnSpc>
                <a:spcPct val="150000"/>
              </a:lnSpc>
            </a:pPr>
            <a:endParaRPr lang="en-US" altLang="zh-CN" sz="2000" b="1" dirty="0" smtClean="0">
              <a:solidFill>
                <a:schemeClr val="accent1">
                  <a:lumMod val="20000"/>
                  <a:lumOff val="80000"/>
                </a:schemeClr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b="1" dirty="0" smtClean="0">
                <a:solidFill>
                  <a:schemeClr val="accent1">
                    <a:lumMod val="20000"/>
                    <a:lumOff val="80000"/>
                  </a:schemeClr>
                </a:solidFill>
              </a:rPr>
              <a:t>数据获取</a:t>
            </a:r>
            <a:r>
              <a:rPr lang="zh-CN" altLang="en-US" sz="2000" dirty="0" smtClean="0">
                <a:solidFill>
                  <a:schemeClr val="accent1">
                    <a:lumMod val="20000"/>
                    <a:lumOff val="80000"/>
                  </a:schemeClr>
                </a:solidFill>
              </a:rPr>
              <a:t>：</a:t>
            </a:r>
            <a:endParaRPr lang="en-US" altLang="zh-CN" sz="2000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 smtClean="0">
                <a:solidFill>
                  <a:schemeClr val="accent1">
                    <a:lumMod val="20000"/>
                    <a:lumOff val="80000"/>
                  </a:schemeClr>
                </a:solidFill>
              </a:rPr>
              <a:t>异源数据统一采集</a:t>
            </a:r>
            <a:endParaRPr lang="en-US" altLang="zh-CN" sz="2000" dirty="0" smtClean="0">
              <a:solidFill>
                <a:schemeClr val="accent1">
                  <a:lumMod val="20000"/>
                  <a:lumOff val="80000"/>
                </a:schemeClr>
              </a:solidFill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 smtClean="0">
                <a:solidFill>
                  <a:schemeClr val="accent1">
                    <a:lumMod val="20000"/>
                    <a:lumOff val="80000"/>
                  </a:schemeClr>
                </a:solidFill>
              </a:rPr>
              <a:t>本地数据结构存储</a:t>
            </a:r>
            <a:endParaRPr lang="en-US" altLang="zh-CN" sz="2000" dirty="0" smtClean="0">
              <a:solidFill>
                <a:schemeClr val="accent1">
                  <a:lumMod val="20000"/>
                  <a:lumOff val="80000"/>
                </a:schemeClr>
              </a:solidFill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 smtClean="0">
                <a:solidFill>
                  <a:schemeClr val="accent1">
                    <a:lumMod val="20000"/>
                    <a:lumOff val="80000"/>
                  </a:schemeClr>
                </a:solidFill>
              </a:rPr>
              <a:t>数据调用一键完成</a:t>
            </a:r>
            <a:endParaRPr lang="en-US" altLang="zh-CN" sz="2000" dirty="0" smtClean="0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0" name="KSO_Shape"/>
          <p:cNvSpPr/>
          <p:nvPr/>
        </p:nvSpPr>
        <p:spPr bwMode="auto">
          <a:xfrm>
            <a:off x="8379574" y="2448120"/>
            <a:ext cx="1432846" cy="1203635"/>
          </a:xfrm>
          <a:custGeom>
            <a:avLst/>
            <a:gdLst>
              <a:gd name="T0" fmla="*/ 2147483646 w 6057"/>
              <a:gd name="T1" fmla="*/ 2147483646 h 5454"/>
              <a:gd name="T2" fmla="*/ 0 w 6057"/>
              <a:gd name="T3" fmla="*/ 2147483646 h 5454"/>
              <a:gd name="T4" fmla="*/ 0 w 6057"/>
              <a:gd name="T5" fmla="*/ 2147483646 h 5454"/>
              <a:gd name="T6" fmla="*/ 2147483646 w 6057"/>
              <a:gd name="T7" fmla="*/ 2147483646 h 5454"/>
              <a:gd name="T8" fmla="*/ 2147483646 w 6057"/>
              <a:gd name="T9" fmla="*/ 2147483646 h 5454"/>
              <a:gd name="T10" fmla="*/ 2147483646 w 6057"/>
              <a:gd name="T11" fmla="*/ 2147483646 h 5454"/>
              <a:gd name="T12" fmla="*/ 2147483646 w 6057"/>
              <a:gd name="T13" fmla="*/ 2147483646 h 5454"/>
              <a:gd name="T14" fmla="*/ 2147483646 w 6057"/>
              <a:gd name="T15" fmla="*/ 2147483646 h 5454"/>
              <a:gd name="T16" fmla="*/ 2147483646 w 6057"/>
              <a:gd name="T17" fmla="*/ 2147483646 h 5454"/>
              <a:gd name="T18" fmla="*/ 2147483646 w 6057"/>
              <a:gd name="T19" fmla="*/ 2147483646 h 5454"/>
              <a:gd name="T20" fmla="*/ 2147483646 w 6057"/>
              <a:gd name="T21" fmla="*/ 2147483646 h 5454"/>
              <a:gd name="T22" fmla="*/ 2147483646 w 6057"/>
              <a:gd name="T23" fmla="*/ 2147483646 h 5454"/>
              <a:gd name="T24" fmla="*/ 2147483646 w 6057"/>
              <a:gd name="T25" fmla="*/ 2147483646 h 5454"/>
              <a:gd name="T26" fmla="*/ 2147483646 w 6057"/>
              <a:gd name="T27" fmla="*/ 2147483646 h 5454"/>
              <a:gd name="T28" fmla="*/ 2147483646 w 6057"/>
              <a:gd name="T29" fmla="*/ 2147483646 h 5454"/>
              <a:gd name="T30" fmla="*/ 2147483646 w 6057"/>
              <a:gd name="T31" fmla="*/ 2147483646 h 5454"/>
              <a:gd name="T32" fmla="*/ 2147483646 w 6057"/>
              <a:gd name="T33" fmla="*/ 2147483646 h 5454"/>
              <a:gd name="T34" fmla="*/ 2147483646 w 6057"/>
              <a:gd name="T35" fmla="*/ 2147483646 h 5454"/>
              <a:gd name="T36" fmla="*/ 2147483646 w 6057"/>
              <a:gd name="T37" fmla="*/ 2147483646 h 5454"/>
              <a:gd name="T38" fmla="*/ 2147483646 w 6057"/>
              <a:gd name="T39" fmla="*/ 2147483646 h 5454"/>
              <a:gd name="T40" fmla="*/ 2147483646 w 6057"/>
              <a:gd name="T41" fmla="*/ 2147483646 h 5454"/>
              <a:gd name="T42" fmla="*/ 2147483646 w 6057"/>
              <a:gd name="T43" fmla="*/ 2147483646 h 5454"/>
              <a:gd name="T44" fmla="*/ 2147483646 w 6057"/>
              <a:gd name="T45" fmla="*/ 2147483646 h 5454"/>
              <a:gd name="T46" fmla="*/ 2147483646 w 6057"/>
              <a:gd name="T47" fmla="*/ 2147483646 h 5454"/>
              <a:gd name="T48" fmla="*/ 2147483646 w 6057"/>
              <a:gd name="T49" fmla="*/ 2147483646 h 5454"/>
              <a:gd name="T50" fmla="*/ 2147483646 w 6057"/>
              <a:gd name="T51" fmla="*/ 2147483646 h 5454"/>
              <a:gd name="T52" fmla="*/ 2147483646 w 6057"/>
              <a:gd name="T53" fmla="*/ 2147483646 h 5454"/>
              <a:gd name="T54" fmla="*/ 2147483646 w 6057"/>
              <a:gd name="T55" fmla="*/ 2147483646 h 5454"/>
              <a:gd name="T56" fmla="*/ 2147483646 w 6057"/>
              <a:gd name="T57" fmla="*/ 2147483646 h 5454"/>
              <a:gd name="T58" fmla="*/ 2147483646 w 6057"/>
              <a:gd name="T59" fmla="*/ 2147483646 h 5454"/>
              <a:gd name="T60" fmla="*/ 2147483646 w 6057"/>
              <a:gd name="T61" fmla="*/ 2147483646 h 5454"/>
              <a:gd name="T62" fmla="*/ 2147483646 w 6057"/>
              <a:gd name="T63" fmla="*/ 2147483646 h 5454"/>
              <a:gd name="T64" fmla="*/ 2147483646 w 6057"/>
              <a:gd name="T65" fmla="*/ 2147483646 h 5454"/>
              <a:gd name="T66" fmla="*/ 2147483646 w 6057"/>
              <a:gd name="T67" fmla="*/ 2147483646 h 5454"/>
              <a:gd name="T68" fmla="*/ 2147483646 w 6057"/>
              <a:gd name="T69" fmla="*/ 2147483646 h 5454"/>
              <a:gd name="T70" fmla="*/ 2147483646 w 6057"/>
              <a:gd name="T71" fmla="*/ 2147483646 h 5454"/>
              <a:gd name="T72" fmla="*/ 2147483646 w 6057"/>
              <a:gd name="T73" fmla="*/ 2147483646 h 5454"/>
              <a:gd name="T74" fmla="*/ 2147483646 w 6057"/>
              <a:gd name="T75" fmla="*/ 2147483646 h 5454"/>
              <a:gd name="T76" fmla="*/ 2147483646 w 6057"/>
              <a:gd name="T77" fmla="*/ 0 h 5454"/>
              <a:gd name="T78" fmla="*/ 2147483646 w 6057"/>
              <a:gd name="T79" fmla="*/ 2147483646 h 5454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</a:gdLst>
            <a:ahLst/>
            <a:cxnLst>
              <a:cxn ang="T80">
                <a:pos x="T0" y="T1"/>
              </a:cxn>
              <a:cxn ang="T81">
                <a:pos x="T2" y="T3"/>
              </a:cxn>
              <a:cxn ang="T82">
                <a:pos x="T4" y="T5"/>
              </a:cxn>
              <a:cxn ang="T83">
                <a:pos x="T6" y="T7"/>
              </a:cxn>
              <a:cxn ang="T84">
                <a:pos x="T8" y="T9"/>
              </a:cxn>
              <a:cxn ang="T85">
                <a:pos x="T10" y="T11"/>
              </a:cxn>
              <a:cxn ang="T86">
                <a:pos x="T12" y="T13"/>
              </a:cxn>
              <a:cxn ang="T87">
                <a:pos x="T14" y="T15"/>
              </a:cxn>
              <a:cxn ang="T88">
                <a:pos x="T16" y="T17"/>
              </a:cxn>
              <a:cxn ang="T89">
                <a:pos x="T18" y="T19"/>
              </a:cxn>
              <a:cxn ang="T90">
                <a:pos x="T20" y="T21"/>
              </a:cxn>
              <a:cxn ang="T91">
                <a:pos x="T22" y="T23"/>
              </a:cxn>
              <a:cxn ang="T92">
                <a:pos x="T24" y="T25"/>
              </a:cxn>
              <a:cxn ang="T93">
                <a:pos x="T26" y="T27"/>
              </a:cxn>
              <a:cxn ang="T94">
                <a:pos x="T28" y="T29"/>
              </a:cxn>
              <a:cxn ang="T95">
                <a:pos x="T30" y="T31"/>
              </a:cxn>
              <a:cxn ang="T96">
                <a:pos x="T32" y="T33"/>
              </a:cxn>
              <a:cxn ang="T97">
                <a:pos x="T34" y="T35"/>
              </a:cxn>
              <a:cxn ang="T98">
                <a:pos x="T36" y="T37"/>
              </a:cxn>
              <a:cxn ang="T99">
                <a:pos x="T38" y="T39"/>
              </a:cxn>
              <a:cxn ang="T100">
                <a:pos x="T40" y="T41"/>
              </a:cxn>
              <a:cxn ang="T101">
                <a:pos x="T42" y="T43"/>
              </a:cxn>
              <a:cxn ang="T102">
                <a:pos x="T44" y="T45"/>
              </a:cxn>
              <a:cxn ang="T103">
                <a:pos x="T46" y="T47"/>
              </a:cxn>
              <a:cxn ang="T104">
                <a:pos x="T48" y="T49"/>
              </a:cxn>
              <a:cxn ang="T105">
                <a:pos x="T50" y="T51"/>
              </a:cxn>
              <a:cxn ang="T106">
                <a:pos x="T52" y="T53"/>
              </a:cxn>
              <a:cxn ang="T107">
                <a:pos x="T54" y="T55"/>
              </a:cxn>
              <a:cxn ang="T108">
                <a:pos x="T56" y="T57"/>
              </a:cxn>
              <a:cxn ang="T109">
                <a:pos x="T58" y="T59"/>
              </a:cxn>
              <a:cxn ang="T110">
                <a:pos x="T60" y="T61"/>
              </a:cxn>
              <a:cxn ang="T111">
                <a:pos x="T62" y="T63"/>
              </a:cxn>
              <a:cxn ang="T112">
                <a:pos x="T64" y="T65"/>
              </a:cxn>
              <a:cxn ang="T113">
                <a:pos x="T66" y="T67"/>
              </a:cxn>
              <a:cxn ang="T114">
                <a:pos x="T68" y="T69"/>
              </a:cxn>
              <a:cxn ang="T115">
                <a:pos x="T70" y="T71"/>
              </a:cxn>
              <a:cxn ang="T116">
                <a:pos x="T72" y="T73"/>
              </a:cxn>
              <a:cxn ang="T117">
                <a:pos x="T74" y="T75"/>
              </a:cxn>
              <a:cxn ang="T118">
                <a:pos x="T76" y="T77"/>
              </a:cxn>
              <a:cxn ang="T119">
                <a:pos x="T78" y="T79"/>
              </a:cxn>
            </a:cxnLst>
            <a:rect l="0" t="0" r="r" b="b"/>
            <a:pathLst>
              <a:path w="6057" h="5454">
                <a:moveTo>
                  <a:pt x="0" y="959"/>
                </a:moveTo>
                <a:lnTo>
                  <a:pt x="1930" y="1981"/>
                </a:lnTo>
                <a:lnTo>
                  <a:pt x="1930" y="5454"/>
                </a:lnTo>
                <a:lnTo>
                  <a:pt x="0" y="4432"/>
                </a:lnTo>
                <a:lnTo>
                  <a:pt x="0" y="959"/>
                </a:lnTo>
                <a:close/>
                <a:moveTo>
                  <a:pt x="3263" y="849"/>
                </a:moveTo>
                <a:lnTo>
                  <a:pt x="3260" y="1196"/>
                </a:lnTo>
                <a:lnTo>
                  <a:pt x="3082" y="1115"/>
                </a:lnTo>
                <a:lnTo>
                  <a:pt x="3082" y="871"/>
                </a:lnTo>
                <a:lnTo>
                  <a:pt x="2883" y="783"/>
                </a:lnTo>
                <a:lnTo>
                  <a:pt x="2883" y="1024"/>
                </a:lnTo>
                <a:lnTo>
                  <a:pt x="1772" y="520"/>
                </a:lnTo>
                <a:lnTo>
                  <a:pt x="269" y="883"/>
                </a:lnTo>
                <a:lnTo>
                  <a:pt x="2160" y="1837"/>
                </a:lnTo>
                <a:lnTo>
                  <a:pt x="2149" y="5385"/>
                </a:lnTo>
                <a:lnTo>
                  <a:pt x="3705" y="4796"/>
                </a:lnTo>
                <a:lnTo>
                  <a:pt x="3705" y="4070"/>
                </a:lnTo>
                <a:lnTo>
                  <a:pt x="4114" y="3933"/>
                </a:lnTo>
                <a:lnTo>
                  <a:pt x="4114" y="4296"/>
                </a:lnTo>
                <a:lnTo>
                  <a:pt x="4599" y="4524"/>
                </a:lnTo>
                <a:lnTo>
                  <a:pt x="5626" y="4144"/>
                </a:lnTo>
                <a:lnTo>
                  <a:pt x="5627" y="4077"/>
                </a:lnTo>
                <a:lnTo>
                  <a:pt x="5122" y="3921"/>
                </a:lnTo>
                <a:lnTo>
                  <a:pt x="5122" y="3593"/>
                </a:lnTo>
                <a:lnTo>
                  <a:pt x="6057" y="3278"/>
                </a:lnTo>
                <a:lnTo>
                  <a:pt x="6057" y="95"/>
                </a:lnTo>
                <a:lnTo>
                  <a:pt x="3263" y="849"/>
                </a:lnTo>
                <a:close/>
                <a:moveTo>
                  <a:pt x="3705" y="3759"/>
                </a:moveTo>
                <a:lnTo>
                  <a:pt x="3705" y="2603"/>
                </a:lnTo>
                <a:lnTo>
                  <a:pt x="2433" y="2997"/>
                </a:lnTo>
                <a:lnTo>
                  <a:pt x="2433" y="2598"/>
                </a:lnTo>
                <a:lnTo>
                  <a:pt x="3705" y="2204"/>
                </a:lnTo>
                <a:lnTo>
                  <a:pt x="3705" y="1972"/>
                </a:lnTo>
                <a:lnTo>
                  <a:pt x="2433" y="2365"/>
                </a:lnTo>
                <a:lnTo>
                  <a:pt x="2433" y="1966"/>
                </a:lnTo>
                <a:lnTo>
                  <a:pt x="3705" y="1574"/>
                </a:lnTo>
                <a:lnTo>
                  <a:pt x="3705" y="1397"/>
                </a:lnTo>
                <a:lnTo>
                  <a:pt x="3614" y="1356"/>
                </a:lnTo>
                <a:lnTo>
                  <a:pt x="3617" y="1043"/>
                </a:lnTo>
                <a:lnTo>
                  <a:pt x="5797" y="461"/>
                </a:lnTo>
                <a:lnTo>
                  <a:pt x="5797" y="3054"/>
                </a:lnTo>
                <a:lnTo>
                  <a:pt x="3705" y="3759"/>
                </a:lnTo>
                <a:close/>
                <a:moveTo>
                  <a:pt x="215" y="1434"/>
                </a:moveTo>
                <a:lnTo>
                  <a:pt x="215" y="1579"/>
                </a:lnTo>
                <a:lnTo>
                  <a:pt x="862" y="1925"/>
                </a:lnTo>
                <a:lnTo>
                  <a:pt x="862" y="1780"/>
                </a:lnTo>
                <a:lnTo>
                  <a:pt x="215" y="1434"/>
                </a:lnTo>
                <a:close/>
                <a:moveTo>
                  <a:pt x="215" y="1909"/>
                </a:moveTo>
                <a:lnTo>
                  <a:pt x="215" y="2053"/>
                </a:lnTo>
                <a:lnTo>
                  <a:pt x="862" y="2399"/>
                </a:lnTo>
                <a:lnTo>
                  <a:pt x="862" y="2255"/>
                </a:lnTo>
                <a:lnTo>
                  <a:pt x="215" y="1909"/>
                </a:lnTo>
                <a:close/>
                <a:moveTo>
                  <a:pt x="215" y="1670"/>
                </a:moveTo>
                <a:lnTo>
                  <a:pt x="215" y="1814"/>
                </a:lnTo>
                <a:lnTo>
                  <a:pt x="862" y="2160"/>
                </a:lnTo>
                <a:lnTo>
                  <a:pt x="862" y="2016"/>
                </a:lnTo>
                <a:lnTo>
                  <a:pt x="215" y="1670"/>
                </a:lnTo>
                <a:close/>
                <a:moveTo>
                  <a:pt x="2458" y="3255"/>
                </a:moveTo>
                <a:lnTo>
                  <a:pt x="2820" y="3153"/>
                </a:lnTo>
                <a:lnTo>
                  <a:pt x="2820" y="3376"/>
                </a:lnTo>
                <a:lnTo>
                  <a:pt x="2458" y="3478"/>
                </a:lnTo>
                <a:lnTo>
                  <a:pt x="2458" y="3255"/>
                </a:lnTo>
                <a:close/>
                <a:moveTo>
                  <a:pt x="2458" y="3645"/>
                </a:moveTo>
                <a:lnTo>
                  <a:pt x="2820" y="3543"/>
                </a:lnTo>
                <a:lnTo>
                  <a:pt x="2820" y="3764"/>
                </a:lnTo>
                <a:lnTo>
                  <a:pt x="2458" y="3867"/>
                </a:lnTo>
                <a:lnTo>
                  <a:pt x="2458" y="3645"/>
                </a:lnTo>
                <a:close/>
                <a:moveTo>
                  <a:pt x="3097" y="793"/>
                </a:moveTo>
                <a:lnTo>
                  <a:pt x="2938" y="714"/>
                </a:lnTo>
                <a:lnTo>
                  <a:pt x="5774" y="0"/>
                </a:lnTo>
                <a:lnTo>
                  <a:pt x="5915" y="61"/>
                </a:lnTo>
                <a:lnTo>
                  <a:pt x="3097" y="79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/>
          <a:p>
            <a:pPr algn="ctr">
              <a:defRPr/>
            </a:pPr>
            <a:endParaRPr lang="zh-CN" altLang="en-US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1" name="KSO_Shape"/>
          <p:cNvSpPr/>
          <p:nvPr/>
        </p:nvSpPr>
        <p:spPr>
          <a:xfrm>
            <a:off x="6089450" y="3088089"/>
            <a:ext cx="1021276" cy="825399"/>
          </a:xfrm>
          <a:custGeom>
            <a:avLst/>
            <a:gdLst>
              <a:gd name="connsiteX0" fmla="*/ 876522 w 1879600"/>
              <a:gd name="connsiteY0" fmla="*/ 1026915 h 1901723"/>
              <a:gd name="connsiteX1" fmla="*/ 1879600 w 1879600"/>
              <a:gd name="connsiteY1" fmla="*/ 1035310 h 1901723"/>
              <a:gd name="connsiteX2" fmla="*/ 1879600 w 1879600"/>
              <a:gd name="connsiteY2" fmla="*/ 1901723 h 1901723"/>
              <a:gd name="connsiteX3" fmla="*/ 876522 w 1879600"/>
              <a:gd name="connsiteY3" fmla="*/ 1775813 h 1901723"/>
              <a:gd name="connsiteX4" fmla="*/ 0 w 1879600"/>
              <a:gd name="connsiteY4" fmla="*/ 1014080 h 1901723"/>
              <a:gd name="connsiteX5" fmla="*/ 717549 w 1879600"/>
              <a:gd name="connsiteY5" fmla="*/ 1026818 h 1901723"/>
              <a:gd name="connsiteX6" fmla="*/ 717549 w 1879600"/>
              <a:gd name="connsiteY6" fmla="*/ 1753167 h 1901723"/>
              <a:gd name="connsiteX7" fmla="*/ 0 w 1879600"/>
              <a:gd name="connsiteY7" fmla="*/ 1642117 h 1901723"/>
              <a:gd name="connsiteX8" fmla="*/ 717549 w 1879600"/>
              <a:gd name="connsiteY8" fmla="*/ 159389 h 1901723"/>
              <a:gd name="connsiteX9" fmla="*/ 717549 w 1879600"/>
              <a:gd name="connsiteY9" fmla="*/ 883871 h 1901723"/>
              <a:gd name="connsiteX10" fmla="*/ 0 w 1879600"/>
              <a:gd name="connsiteY10" fmla="*/ 908194 h 1901723"/>
              <a:gd name="connsiteX11" fmla="*/ 0 w 1879600"/>
              <a:gd name="connsiteY11" fmla="*/ 256684 h 1901723"/>
              <a:gd name="connsiteX12" fmla="*/ 1879600 w 1879600"/>
              <a:gd name="connsiteY12" fmla="*/ 0 h 1901723"/>
              <a:gd name="connsiteX13" fmla="*/ 1879600 w 1879600"/>
              <a:gd name="connsiteY13" fmla="*/ 872112 h 1901723"/>
              <a:gd name="connsiteX14" fmla="*/ 879497 w 1879600"/>
              <a:gd name="connsiteY14" fmla="*/ 880660 h 1901723"/>
              <a:gd name="connsiteX15" fmla="*/ 876522 w 1879600"/>
              <a:gd name="connsiteY15" fmla="*/ 626314 h 1901723"/>
              <a:gd name="connsiteX16" fmla="*/ 876522 w 1879600"/>
              <a:gd name="connsiteY16" fmla="*/ 144511 h 19017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879600" h="1901723">
                <a:moveTo>
                  <a:pt x="876522" y="1026915"/>
                </a:moveTo>
                <a:lnTo>
                  <a:pt x="1879600" y="1035310"/>
                </a:lnTo>
                <a:lnTo>
                  <a:pt x="1879600" y="1901723"/>
                </a:lnTo>
                <a:lnTo>
                  <a:pt x="876522" y="1775813"/>
                </a:lnTo>
                <a:close/>
                <a:moveTo>
                  <a:pt x="0" y="1014080"/>
                </a:moveTo>
                <a:lnTo>
                  <a:pt x="717549" y="1026818"/>
                </a:lnTo>
                <a:lnTo>
                  <a:pt x="717549" y="1753167"/>
                </a:lnTo>
                <a:lnTo>
                  <a:pt x="0" y="1642117"/>
                </a:lnTo>
                <a:close/>
                <a:moveTo>
                  <a:pt x="717549" y="159389"/>
                </a:moveTo>
                <a:lnTo>
                  <a:pt x="717549" y="883871"/>
                </a:lnTo>
                <a:lnTo>
                  <a:pt x="0" y="908194"/>
                </a:lnTo>
                <a:lnTo>
                  <a:pt x="0" y="256684"/>
                </a:lnTo>
                <a:close/>
                <a:moveTo>
                  <a:pt x="1879600" y="0"/>
                </a:moveTo>
                <a:lnTo>
                  <a:pt x="1879600" y="872112"/>
                </a:lnTo>
                <a:lnTo>
                  <a:pt x="879497" y="880660"/>
                </a:lnTo>
                <a:lnTo>
                  <a:pt x="876522" y="626314"/>
                </a:lnTo>
                <a:lnTo>
                  <a:pt x="876522" y="144511"/>
                </a:lnTo>
                <a:close/>
              </a:path>
            </a:pathLst>
          </a:custGeom>
          <a:solidFill>
            <a:schemeClr val="accent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2" name="KSO_Shape"/>
          <p:cNvSpPr/>
          <p:nvPr/>
        </p:nvSpPr>
        <p:spPr bwMode="auto">
          <a:xfrm>
            <a:off x="4006879" y="2476562"/>
            <a:ext cx="1246870" cy="846020"/>
          </a:xfrm>
          <a:custGeom>
            <a:avLst/>
            <a:gdLst>
              <a:gd name="T0" fmla="*/ 1091648 w 2509838"/>
              <a:gd name="T1" fmla="*/ 1608111 h 1787526"/>
              <a:gd name="T2" fmla="*/ 1364673 w 2509838"/>
              <a:gd name="T3" fmla="*/ 1644625 h 1787526"/>
              <a:gd name="T4" fmla="*/ 1419551 w 2509838"/>
              <a:gd name="T5" fmla="*/ 1603152 h 1787526"/>
              <a:gd name="T6" fmla="*/ 2438407 w 2509838"/>
              <a:gd name="T7" fmla="*/ 1567539 h 1787526"/>
              <a:gd name="T8" fmla="*/ 2487842 w 2509838"/>
              <a:gd name="T9" fmla="*/ 1592108 h 1787526"/>
              <a:gd name="T10" fmla="*/ 2509611 w 2509838"/>
              <a:gd name="T11" fmla="*/ 1640568 h 1787526"/>
              <a:gd name="T12" fmla="*/ 2495552 w 2509838"/>
              <a:gd name="T13" fmla="*/ 1753040 h 1787526"/>
              <a:gd name="T14" fmla="*/ 2450426 w 2509838"/>
              <a:gd name="T15" fmla="*/ 1783920 h 1787526"/>
              <a:gd name="T16" fmla="*/ 55558 w 2509838"/>
              <a:gd name="T17" fmla="*/ 1782793 h 1787526"/>
              <a:gd name="T18" fmla="*/ 12472 w 2509838"/>
              <a:gd name="T19" fmla="*/ 1750110 h 1787526"/>
              <a:gd name="T20" fmla="*/ 680 w 2509838"/>
              <a:gd name="T21" fmla="*/ 1636736 h 1787526"/>
              <a:gd name="T22" fmla="*/ 24717 w 2509838"/>
              <a:gd name="T23" fmla="*/ 1589628 h 1787526"/>
              <a:gd name="T24" fmla="*/ 75740 w 2509838"/>
              <a:gd name="T25" fmla="*/ 1567089 h 1787526"/>
              <a:gd name="T26" fmla="*/ 933501 w 2509838"/>
              <a:gd name="T27" fmla="*/ 749091 h 1787526"/>
              <a:gd name="T28" fmla="*/ 932155 w 2509838"/>
              <a:gd name="T29" fmla="*/ 1160902 h 1787526"/>
              <a:gd name="T30" fmla="*/ 829865 w 2509838"/>
              <a:gd name="T31" fmla="*/ 1167944 h 1787526"/>
              <a:gd name="T32" fmla="*/ 814387 w 2509838"/>
              <a:gd name="T33" fmla="*/ 760448 h 1787526"/>
              <a:gd name="T34" fmla="*/ 837043 w 2509838"/>
              <a:gd name="T35" fmla="*/ 738188 h 1787526"/>
              <a:gd name="T36" fmla="*/ 1416304 w 2509838"/>
              <a:gd name="T37" fmla="*/ 686474 h 1787526"/>
              <a:gd name="T38" fmla="*/ 1412034 w 2509838"/>
              <a:gd name="T39" fmla="*/ 1161601 h 1787526"/>
              <a:gd name="T40" fmla="*/ 1308659 w 2509838"/>
              <a:gd name="T41" fmla="*/ 1166588 h 1787526"/>
              <a:gd name="T42" fmla="*/ 1296074 w 2509838"/>
              <a:gd name="T43" fmla="*/ 694181 h 1787526"/>
              <a:gd name="T44" fmla="*/ 988416 w 2509838"/>
              <a:gd name="T45" fmla="*/ 671513 h 1787526"/>
              <a:gd name="T46" fmla="*/ 1088565 w 2509838"/>
              <a:gd name="T47" fmla="*/ 688968 h 1787526"/>
              <a:gd name="T48" fmla="*/ 1081281 w 2509838"/>
              <a:gd name="T49" fmla="*/ 1163414 h 1787526"/>
              <a:gd name="T50" fmla="*/ 976581 w 2509838"/>
              <a:gd name="T51" fmla="*/ 1165228 h 1787526"/>
              <a:gd name="T52" fmla="*/ 966338 w 2509838"/>
              <a:gd name="T53" fmla="*/ 691461 h 1787526"/>
              <a:gd name="T54" fmla="*/ 1546133 w 2509838"/>
              <a:gd name="T55" fmla="*/ 590550 h 1787526"/>
              <a:gd name="T56" fmla="*/ 1571170 w 2509838"/>
              <a:gd name="T57" fmla="*/ 617105 h 1787526"/>
              <a:gd name="T58" fmla="*/ 1558196 w 2509838"/>
              <a:gd name="T59" fmla="*/ 1165903 h 1787526"/>
              <a:gd name="T60" fmla="*/ 1453496 w 2509838"/>
              <a:gd name="T61" fmla="*/ 1160229 h 1787526"/>
              <a:gd name="T62" fmla="*/ 1449399 w 2509838"/>
              <a:gd name="T63" fmla="*/ 608026 h 1787526"/>
              <a:gd name="T64" fmla="*/ 1229322 w 2509838"/>
              <a:gd name="T65" fmla="*/ 590777 h 1787526"/>
              <a:gd name="T66" fmla="*/ 1252538 w 2509838"/>
              <a:gd name="T67" fmla="*/ 620282 h 1787526"/>
              <a:gd name="T68" fmla="*/ 1236833 w 2509838"/>
              <a:gd name="T69" fmla="*/ 1167492 h 1787526"/>
              <a:gd name="T70" fmla="*/ 1132815 w 2509838"/>
              <a:gd name="T71" fmla="*/ 1157959 h 1787526"/>
              <a:gd name="T72" fmla="*/ 1131450 w 2509838"/>
              <a:gd name="T73" fmla="*/ 605303 h 1787526"/>
              <a:gd name="T74" fmla="*/ 1713065 w 2509838"/>
              <a:gd name="T75" fmla="*/ 508680 h 1787526"/>
              <a:gd name="T76" fmla="*/ 1733550 w 2509838"/>
              <a:gd name="T77" fmla="*/ 545860 h 1787526"/>
              <a:gd name="T78" fmla="*/ 1715797 w 2509838"/>
              <a:gd name="T79" fmla="*/ 1168174 h 1787526"/>
              <a:gd name="T80" fmla="*/ 1612689 w 2509838"/>
              <a:gd name="T81" fmla="*/ 1153438 h 1787526"/>
              <a:gd name="T82" fmla="*/ 1614055 w 2509838"/>
              <a:gd name="T83" fmla="*/ 521829 h 1787526"/>
              <a:gd name="T84" fmla="*/ 1733550 w 2509838"/>
              <a:gd name="T85" fmla="*/ 464215 h 1787526"/>
              <a:gd name="T86" fmla="*/ 1501548 w 2509838"/>
              <a:gd name="T87" fmla="*/ 379141 h 1787526"/>
              <a:gd name="T88" fmla="*/ 188232 w 2509838"/>
              <a:gd name="T89" fmla="*/ 103187 h 1787526"/>
              <a:gd name="T90" fmla="*/ 158976 w 2509838"/>
              <a:gd name="T91" fmla="*/ 139700 h 1787526"/>
              <a:gd name="T92" fmla="*/ 160110 w 2509838"/>
              <a:gd name="T93" fmla="*/ 1353684 h 1787526"/>
              <a:gd name="T94" fmla="*/ 191407 w 2509838"/>
              <a:gd name="T95" fmla="*/ 1389063 h 1787526"/>
              <a:gd name="T96" fmla="*/ 2288041 w 2509838"/>
              <a:gd name="T97" fmla="*/ 1398588 h 1787526"/>
              <a:gd name="T98" fmla="*/ 2332945 w 2509838"/>
              <a:gd name="T99" fmla="*/ 1378857 h 1787526"/>
              <a:gd name="T100" fmla="*/ 2354036 w 2509838"/>
              <a:gd name="T101" fmla="*/ 1337129 h 1787526"/>
              <a:gd name="T102" fmla="*/ 2343830 w 2509838"/>
              <a:gd name="T103" fmla="*/ 124505 h 1787526"/>
              <a:gd name="T104" fmla="*/ 2305957 w 2509838"/>
              <a:gd name="T105" fmla="*/ 95704 h 1787526"/>
              <a:gd name="T106" fmla="*/ 2436813 w 2509838"/>
              <a:gd name="T107" fmla="*/ 680 h 1787526"/>
              <a:gd name="T108" fmla="*/ 2486479 w 2509838"/>
              <a:gd name="T109" fmla="*/ 25400 h 1787526"/>
              <a:gd name="T110" fmla="*/ 2508250 w 2509838"/>
              <a:gd name="T111" fmla="*/ 74159 h 1787526"/>
              <a:gd name="T112" fmla="*/ 2493963 w 2509838"/>
              <a:gd name="T113" fmla="*/ 1455965 h 1787526"/>
              <a:gd name="T114" fmla="*/ 2449286 w 2509838"/>
              <a:gd name="T115" fmla="*/ 1487034 h 1787526"/>
              <a:gd name="T116" fmla="*/ 57150 w 2509838"/>
              <a:gd name="T117" fmla="*/ 1485674 h 1787526"/>
              <a:gd name="T118" fmla="*/ 13833 w 2509838"/>
              <a:gd name="T119" fmla="*/ 1452790 h 1787526"/>
              <a:gd name="T120" fmla="*/ 2041 w 2509838"/>
              <a:gd name="T121" fmla="*/ 70304 h 1787526"/>
              <a:gd name="T122" fmla="*/ 26307 w 2509838"/>
              <a:gd name="T123" fmla="*/ 22905 h 1787526"/>
              <a:gd name="T124" fmla="*/ 77333 w 2509838"/>
              <a:gd name="T125" fmla="*/ 227 h 17875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2509838" h="1787526">
                <a:moveTo>
                  <a:pt x="80048" y="1566863"/>
                </a:moveTo>
                <a:lnTo>
                  <a:pt x="84357" y="1566863"/>
                </a:lnTo>
                <a:lnTo>
                  <a:pt x="1096637" y="1566863"/>
                </a:lnTo>
                <a:lnTo>
                  <a:pt x="1094823" y="1569568"/>
                </a:lnTo>
                <a:lnTo>
                  <a:pt x="1093235" y="1572498"/>
                </a:lnTo>
                <a:lnTo>
                  <a:pt x="1092102" y="1575879"/>
                </a:lnTo>
                <a:lnTo>
                  <a:pt x="1090968" y="1579035"/>
                </a:lnTo>
                <a:lnTo>
                  <a:pt x="1090287" y="1582415"/>
                </a:lnTo>
                <a:lnTo>
                  <a:pt x="1089607" y="1585571"/>
                </a:lnTo>
                <a:lnTo>
                  <a:pt x="1089380" y="1589177"/>
                </a:lnTo>
                <a:lnTo>
                  <a:pt x="1089154" y="1592558"/>
                </a:lnTo>
                <a:lnTo>
                  <a:pt x="1089380" y="1597968"/>
                </a:lnTo>
                <a:lnTo>
                  <a:pt x="1090287" y="1603152"/>
                </a:lnTo>
                <a:lnTo>
                  <a:pt x="1091648" y="1608111"/>
                </a:lnTo>
                <a:lnTo>
                  <a:pt x="1093689" y="1612844"/>
                </a:lnTo>
                <a:lnTo>
                  <a:pt x="1095957" y="1617352"/>
                </a:lnTo>
                <a:lnTo>
                  <a:pt x="1098678" y="1621634"/>
                </a:lnTo>
                <a:lnTo>
                  <a:pt x="1101853" y="1625692"/>
                </a:lnTo>
                <a:lnTo>
                  <a:pt x="1105481" y="1629523"/>
                </a:lnTo>
                <a:lnTo>
                  <a:pt x="1109563" y="1632679"/>
                </a:lnTo>
                <a:lnTo>
                  <a:pt x="1113871" y="1635834"/>
                </a:lnTo>
                <a:lnTo>
                  <a:pt x="1118633" y="1638314"/>
                </a:lnTo>
                <a:lnTo>
                  <a:pt x="1123395" y="1640568"/>
                </a:lnTo>
                <a:lnTo>
                  <a:pt x="1128611" y="1642371"/>
                </a:lnTo>
                <a:lnTo>
                  <a:pt x="1134053" y="1643498"/>
                </a:lnTo>
                <a:lnTo>
                  <a:pt x="1139496" y="1644174"/>
                </a:lnTo>
                <a:lnTo>
                  <a:pt x="1145391" y="1644625"/>
                </a:lnTo>
                <a:lnTo>
                  <a:pt x="1364673" y="1644625"/>
                </a:lnTo>
                <a:lnTo>
                  <a:pt x="1370343" y="1644174"/>
                </a:lnTo>
                <a:lnTo>
                  <a:pt x="1376012" y="1643498"/>
                </a:lnTo>
                <a:lnTo>
                  <a:pt x="1381227" y="1642371"/>
                </a:lnTo>
                <a:lnTo>
                  <a:pt x="1386443" y="1640568"/>
                </a:lnTo>
                <a:lnTo>
                  <a:pt x="1391432" y="1638314"/>
                </a:lnTo>
                <a:lnTo>
                  <a:pt x="1396194" y="1635834"/>
                </a:lnTo>
                <a:lnTo>
                  <a:pt x="1400502" y="1632679"/>
                </a:lnTo>
                <a:lnTo>
                  <a:pt x="1404357" y="1629523"/>
                </a:lnTo>
                <a:lnTo>
                  <a:pt x="1407986" y="1625692"/>
                </a:lnTo>
                <a:lnTo>
                  <a:pt x="1411160" y="1621634"/>
                </a:lnTo>
                <a:lnTo>
                  <a:pt x="1414108" y="1617352"/>
                </a:lnTo>
                <a:lnTo>
                  <a:pt x="1416376" y="1612844"/>
                </a:lnTo>
                <a:lnTo>
                  <a:pt x="1418417" y="1608111"/>
                </a:lnTo>
                <a:lnTo>
                  <a:pt x="1419551" y="1603152"/>
                </a:lnTo>
                <a:lnTo>
                  <a:pt x="1420684" y="1597968"/>
                </a:lnTo>
                <a:lnTo>
                  <a:pt x="1420911" y="1592558"/>
                </a:lnTo>
                <a:lnTo>
                  <a:pt x="1420684" y="1589177"/>
                </a:lnTo>
                <a:lnTo>
                  <a:pt x="1420231" y="1585571"/>
                </a:lnTo>
                <a:lnTo>
                  <a:pt x="1419551" y="1582415"/>
                </a:lnTo>
                <a:lnTo>
                  <a:pt x="1418870" y="1579035"/>
                </a:lnTo>
                <a:lnTo>
                  <a:pt x="1417737" y="1575879"/>
                </a:lnTo>
                <a:lnTo>
                  <a:pt x="1416603" y="1572498"/>
                </a:lnTo>
                <a:lnTo>
                  <a:pt x="1415015" y="1569568"/>
                </a:lnTo>
                <a:lnTo>
                  <a:pt x="1413201" y="1566863"/>
                </a:lnTo>
                <a:lnTo>
                  <a:pt x="2425481" y="1566863"/>
                </a:lnTo>
                <a:lnTo>
                  <a:pt x="2429790" y="1566863"/>
                </a:lnTo>
                <a:lnTo>
                  <a:pt x="2434099" y="1567089"/>
                </a:lnTo>
                <a:lnTo>
                  <a:pt x="2438407" y="1567539"/>
                </a:lnTo>
                <a:lnTo>
                  <a:pt x="2442489" y="1568216"/>
                </a:lnTo>
                <a:lnTo>
                  <a:pt x="2446571" y="1569117"/>
                </a:lnTo>
                <a:lnTo>
                  <a:pt x="2450426" y="1570244"/>
                </a:lnTo>
                <a:lnTo>
                  <a:pt x="2454507" y="1571596"/>
                </a:lnTo>
                <a:lnTo>
                  <a:pt x="2458362" y="1572723"/>
                </a:lnTo>
                <a:lnTo>
                  <a:pt x="2462217" y="1574301"/>
                </a:lnTo>
                <a:lnTo>
                  <a:pt x="2465619" y="1576104"/>
                </a:lnTo>
                <a:lnTo>
                  <a:pt x="2469247" y="1578133"/>
                </a:lnTo>
                <a:lnTo>
                  <a:pt x="2472422" y="1580162"/>
                </a:lnTo>
                <a:lnTo>
                  <a:pt x="2476050" y="1581965"/>
                </a:lnTo>
                <a:lnTo>
                  <a:pt x="2478998" y="1584669"/>
                </a:lnTo>
                <a:lnTo>
                  <a:pt x="2482173" y="1586923"/>
                </a:lnTo>
                <a:lnTo>
                  <a:pt x="2485121" y="1589628"/>
                </a:lnTo>
                <a:lnTo>
                  <a:pt x="2487842" y="1592108"/>
                </a:lnTo>
                <a:lnTo>
                  <a:pt x="2490336" y="1595038"/>
                </a:lnTo>
                <a:lnTo>
                  <a:pt x="2492831" y="1597968"/>
                </a:lnTo>
                <a:lnTo>
                  <a:pt x="2495552" y="1601123"/>
                </a:lnTo>
                <a:lnTo>
                  <a:pt x="2497366" y="1604054"/>
                </a:lnTo>
                <a:lnTo>
                  <a:pt x="2499407" y="1607434"/>
                </a:lnTo>
                <a:lnTo>
                  <a:pt x="2501448" y="1610815"/>
                </a:lnTo>
                <a:lnTo>
                  <a:pt x="2503035" y="1614196"/>
                </a:lnTo>
                <a:lnTo>
                  <a:pt x="2504623" y="1618028"/>
                </a:lnTo>
                <a:lnTo>
                  <a:pt x="2505983" y="1621409"/>
                </a:lnTo>
                <a:lnTo>
                  <a:pt x="2507117" y="1625241"/>
                </a:lnTo>
                <a:lnTo>
                  <a:pt x="2508024" y="1629073"/>
                </a:lnTo>
                <a:lnTo>
                  <a:pt x="2508704" y="1632679"/>
                </a:lnTo>
                <a:lnTo>
                  <a:pt x="2509385" y="1636736"/>
                </a:lnTo>
                <a:lnTo>
                  <a:pt x="2509611" y="1640568"/>
                </a:lnTo>
                <a:lnTo>
                  <a:pt x="2509838" y="1644625"/>
                </a:lnTo>
                <a:lnTo>
                  <a:pt x="2509838" y="1709764"/>
                </a:lnTo>
                <a:lnTo>
                  <a:pt x="2509611" y="1713822"/>
                </a:lnTo>
                <a:lnTo>
                  <a:pt x="2509385" y="1717428"/>
                </a:lnTo>
                <a:lnTo>
                  <a:pt x="2508704" y="1721485"/>
                </a:lnTo>
                <a:lnTo>
                  <a:pt x="2508024" y="1725317"/>
                </a:lnTo>
                <a:lnTo>
                  <a:pt x="2507117" y="1729148"/>
                </a:lnTo>
                <a:lnTo>
                  <a:pt x="2505983" y="1732755"/>
                </a:lnTo>
                <a:lnTo>
                  <a:pt x="2504623" y="1736361"/>
                </a:lnTo>
                <a:lnTo>
                  <a:pt x="2503035" y="1740193"/>
                </a:lnTo>
                <a:lnTo>
                  <a:pt x="2501448" y="1743348"/>
                </a:lnTo>
                <a:lnTo>
                  <a:pt x="2499407" y="1746955"/>
                </a:lnTo>
                <a:lnTo>
                  <a:pt x="2497366" y="1750110"/>
                </a:lnTo>
                <a:lnTo>
                  <a:pt x="2495552" y="1753040"/>
                </a:lnTo>
                <a:lnTo>
                  <a:pt x="2492831" y="1756421"/>
                </a:lnTo>
                <a:lnTo>
                  <a:pt x="2490336" y="1759126"/>
                </a:lnTo>
                <a:lnTo>
                  <a:pt x="2487842" y="1762282"/>
                </a:lnTo>
                <a:lnTo>
                  <a:pt x="2485121" y="1764761"/>
                </a:lnTo>
                <a:lnTo>
                  <a:pt x="2482173" y="1767466"/>
                </a:lnTo>
                <a:lnTo>
                  <a:pt x="2478998" y="1769720"/>
                </a:lnTo>
                <a:lnTo>
                  <a:pt x="2476050" y="1772199"/>
                </a:lnTo>
                <a:lnTo>
                  <a:pt x="2472422" y="1774228"/>
                </a:lnTo>
                <a:lnTo>
                  <a:pt x="2469247" y="1776256"/>
                </a:lnTo>
                <a:lnTo>
                  <a:pt x="2465619" y="1778285"/>
                </a:lnTo>
                <a:lnTo>
                  <a:pt x="2462217" y="1780088"/>
                </a:lnTo>
                <a:lnTo>
                  <a:pt x="2458362" y="1781440"/>
                </a:lnTo>
                <a:lnTo>
                  <a:pt x="2454507" y="1782793"/>
                </a:lnTo>
                <a:lnTo>
                  <a:pt x="2450426" y="1783920"/>
                </a:lnTo>
                <a:lnTo>
                  <a:pt x="2446571" y="1785272"/>
                </a:lnTo>
                <a:lnTo>
                  <a:pt x="2442489" y="1785948"/>
                </a:lnTo>
                <a:lnTo>
                  <a:pt x="2438407" y="1786850"/>
                </a:lnTo>
                <a:lnTo>
                  <a:pt x="2434099" y="1787301"/>
                </a:lnTo>
                <a:lnTo>
                  <a:pt x="2429790" y="1787526"/>
                </a:lnTo>
                <a:lnTo>
                  <a:pt x="2425481" y="1787526"/>
                </a:lnTo>
                <a:lnTo>
                  <a:pt x="84357" y="1787526"/>
                </a:lnTo>
                <a:lnTo>
                  <a:pt x="80048" y="1787526"/>
                </a:lnTo>
                <a:lnTo>
                  <a:pt x="75740" y="1787301"/>
                </a:lnTo>
                <a:lnTo>
                  <a:pt x="71431" y="1786850"/>
                </a:lnTo>
                <a:lnTo>
                  <a:pt x="67349" y="1785948"/>
                </a:lnTo>
                <a:lnTo>
                  <a:pt x="63494" y="1785272"/>
                </a:lnTo>
                <a:lnTo>
                  <a:pt x="59413" y="1783920"/>
                </a:lnTo>
                <a:lnTo>
                  <a:pt x="55558" y="1782793"/>
                </a:lnTo>
                <a:lnTo>
                  <a:pt x="51476" y="1781440"/>
                </a:lnTo>
                <a:lnTo>
                  <a:pt x="48074" y="1780088"/>
                </a:lnTo>
                <a:lnTo>
                  <a:pt x="44219" y="1778285"/>
                </a:lnTo>
                <a:lnTo>
                  <a:pt x="40591" y="1776256"/>
                </a:lnTo>
                <a:lnTo>
                  <a:pt x="37416" y="1774228"/>
                </a:lnTo>
                <a:lnTo>
                  <a:pt x="33788" y="1772199"/>
                </a:lnTo>
                <a:lnTo>
                  <a:pt x="30840" y="1769720"/>
                </a:lnTo>
                <a:lnTo>
                  <a:pt x="27892" y="1767466"/>
                </a:lnTo>
                <a:lnTo>
                  <a:pt x="24717" y="1764761"/>
                </a:lnTo>
                <a:lnTo>
                  <a:pt x="21996" y="1762282"/>
                </a:lnTo>
                <a:lnTo>
                  <a:pt x="19502" y="1759126"/>
                </a:lnTo>
                <a:lnTo>
                  <a:pt x="17007" y="1756421"/>
                </a:lnTo>
                <a:lnTo>
                  <a:pt x="14513" y="1753040"/>
                </a:lnTo>
                <a:lnTo>
                  <a:pt x="12472" y="1750110"/>
                </a:lnTo>
                <a:lnTo>
                  <a:pt x="10431" y="1746955"/>
                </a:lnTo>
                <a:lnTo>
                  <a:pt x="8390" y="1743348"/>
                </a:lnTo>
                <a:lnTo>
                  <a:pt x="6803" y="1740193"/>
                </a:lnTo>
                <a:lnTo>
                  <a:pt x="5442" y="1736361"/>
                </a:lnTo>
                <a:lnTo>
                  <a:pt x="3855" y="1732755"/>
                </a:lnTo>
                <a:lnTo>
                  <a:pt x="2948" y="1729148"/>
                </a:lnTo>
                <a:lnTo>
                  <a:pt x="1814" y="1725317"/>
                </a:lnTo>
                <a:lnTo>
                  <a:pt x="1134" y="1721485"/>
                </a:lnTo>
                <a:lnTo>
                  <a:pt x="680" y="1717428"/>
                </a:lnTo>
                <a:lnTo>
                  <a:pt x="227" y="1713822"/>
                </a:lnTo>
                <a:lnTo>
                  <a:pt x="0" y="1709764"/>
                </a:lnTo>
                <a:lnTo>
                  <a:pt x="0" y="1644625"/>
                </a:lnTo>
                <a:lnTo>
                  <a:pt x="227" y="1640568"/>
                </a:lnTo>
                <a:lnTo>
                  <a:pt x="680" y="1636736"/>
                </a:lnTo>
                <a:lnTo>
                  <a:pt x="1134" y="1632679"/>
                </a:lnTo>
                <a:lnTo>
                  <a:pt x="1814" y="1629073"/>
                </a:lnTo>
                <a:lnTo>
                  <a:pt x="2948" y="1625241"/>
                </a:lnTo>
                <a:lnTo>
                  <a:pt x="3855" y="1621409"/>
                </a:lnTo>
                <a:lnTo>
                  <a:pt x="5442" y="1618028"/>
                </a:lnTo>
                <a:lnTo>
                  <a:pt x="6803" y="1614196"/>
                </a:lnTo>
                <a:lnTo>
                  <a:pt x="8390" y="1610815"/>
                </a:lnTo>
                <a:lnTo>
                  <a:pt x="10431" y="1607434"/>
                </a:lnTo>
                <a:lnTo>
                  <a:pt x="12472" y="1604054"/>
                </a:lnTo>
                <a:lnTo>
                  <a:pt x="14513" y="1601123"/>
                </a:lnTo>
                <a:lnTo>
                  <a:pt x="17007" y="1597968"/>
                </a:lnTo>
                <a:lnTo>
                  <a:pt x="19502" y="1595038"/>
                </a:lnTo>
                <a:lnTo>
                  <a:pt x="21996" y="1592108"/>
                </a:lnTo>
                <a:lnTo>
                  <a:pt x="24717" y="1589628"/>
                </a:lnTo>
                <a:lnTo>
                  <a:pt x="27892" y="1586923"/>
                </a:lnTo>
                <a:lnTo>
                  <a:pt x="30840" y="1584669"/>
                </a:lnTo>
                <a:lnTo>
                  <a:pt x="33788" y="1581965"/>
                </a:lnTo>
                <a:lnTo>
                  <a:pt x="37416" y="1580162"/>
                </a:lnTo>
                <a:lnTo>
                  <a:pt x="40591" y="1578133"/>
                </a:lnTo>
                <a:lnTo>
                  <a:pt x="44219" y="1576104"/>
                </a:lnTo>
                <a:lnTo>
                  <a:pt x="48074" y="1574301"/>
                </a:lnTo>
                <a:lnTo>
                  <a:pt x="51476" y="1572723"/>
                </a:lnTo>
                <a:lnTo>
                  <a:pt x="55558" y="1571596"/>
                </a:lnTo>
                <a:lnTo>
                  <a:pt x="59413" y="1570244"/>
                </a:lnTo>
                <a:lnTo>
                  <a:pt x="63494" y="1569117"/>
                </a:lnTo>
                <a:lnTo>
                  <a:pt x="67349" y="1568216"/>
                </a:lnTo>
                <a:lnTo>
                  <a:pt x="71431" y="1567539"/>
                </a:lnTo>
                <a:lnTo>
                  <a:pt x="75740" y="1567089"/>
                </a:lnTo>
                <a:lnTo>
                  <a:pt x="80048" y="1566863"/>
                </a:lnTo>
                <a:close/>
                <a:moveTo>
                  <a:pt x="837043" y="738188"/>
                </a:moveTo>
                <a:lnTo>
                  <a:pt x="839735" y="738188"/>
                </a:lnTo>
                <a:lnTo>
                  <a:pt x="912639" y="738188"/>
                </a:lnTo>
                <a:lnTo>
                  <a:pt x="915107" y="738188"/>
                </a:lnTo>
                <a:lnTo>
                  <a:pt x="917575" y="738870"/>
                </a:lnTo>
                <a:lnTo>
                  <a:pt x="920042" y="739324"/>
                </a:lnTo>
                <a:lnTo>
                  <a:pt x="922285" y="740232"/>
                </a:lnTo>
                <a:lnTo>
                  <a:pt x="924529" y="741368"/>
                </a:lnTo>
                <a:lnTo>
                  <a:pt x="926772" y="742504"/>
                </a:lnTo>
                <a:lnTo>
                  <a:pt x="928791" y="743867"/>
                </a:lnTo>
                <a:lnTo>
                  <a:pt x="930585" y="745684"/>
                </a:lnTo>
                <a:lnTo>
                  <a:pt x="932155" y="747047"/>
                </a:lnTo>
                <a:lnTo>
                  <a:pt x="933501" y="749091"/>
                </a:lnTo>
                <a:lnTo>
                  <a:pt x="934847" y="751135"/>
                </a:lnTo>
                <a:lnTo>
                  <a:pt x="936193" y="753407"/>
                </a:lnTo>
                <a:lnTo>
                  <a:pt x="936866" y="755678"/>
                </a:lnTo>
                <a:lnTo>
                  <a:pt x="937315" y="757950"/>
                </a:lnTo>
                <a:lnTo>
                  <a:pt x="937763" y="760448"/>
                </a:lnTo>
                <a:lnTo>
                  <a:pt x="938212" y="762947"/>
                </a:lnTo>
                <a:lnTo>
                  <a:pt x="938212" y="1145229"/>
                </a:lnTo>
                <a:lnTo>
                  <a:pt x="937763" y="1147728"/>
                </a:lnTo>
                <a:lnTo>
                  <a:pt x="937315" y="1150227"/>
                </a:lnTo>
                <a:lnTo>
                  <a:pt x="936866" y="1152498"/>
                </a:lnTo>
                <a:lnTo>
                  <a:pt x="936193" y="1154770"/>
                </a:lnTo>
                <a:lnTo>
                  <a:pt x="934847" y="1157041"/>
                </a:lnTo>
                <a:lnTo>
                  <a:pt x="933501" y="1159085"/>
                </a:lnTo>
                <a:lnTo>
                  <a:pt x="932155" y="1160902"/>
                </a:lnTo>
                <a:lnTo>
                  <a:pt x="930585" y="1162720"/>
                </a:lnTo>
                <a:lnTo>
                  <a:pt x="928791" y="1164537"/>
                </a:lnTo>
                <a:lnTo>
                  <a:pt x="926772" y="1165672"/>
                </a:lnTo>
                <a:lnTo>
                  <a:pt x="924529" y="1167035"/>
                </a:lnTo>
                <a:lnTo>
                  <a:pt x="922285" y="1167944"/>
                </a:lnTo>
                <a:lnTo>
                  <a:pt x="920042" y="1168852"/>
                </a:lnTo>
                <a:lnTo>
                  <a:pt x="917575" y="1169534"/>
                </a:lnTo>
                <a:lnTo>
                  <a:pt x="915107" y="1169761"/>
                </a:lnTo>
                <a:lnTo>
                  <a:pt x="912639" y="1169988"/>
                </a:lnTo>
                <a:lnTo>
                  <a:pt x="839735" y="1169988"/>
                </a:lnTo>
                <a:lnTo>
                  <a:pt x="837043" y="1169761"/>
                </a:lnTo>
                <a:lnTo>
                  <a:pt x="834576" y="1169534"/>
                </a:lnTo>
                <a:lnTo>
                  <a:pt x="832108" y="1168852"/>
                </a:lnTo>
                <a:lnTo>
                  <a:pt x="829865" y="1167944"/>
                </a:lnTo>
                <a:lnTo>
                  <a:pt x="827622" y="1167035"/>
                </a:lnTo>
                <a:lnTo>
                  <a:pt x="825603" y="1165672"/>
                </a:lnTo>
                <a:lnTo>
                  <a:pt x="823584" y="1164537"/>
                </a:lnTo>
                <a:lnTo>
                  <a:pt x="821790" y="1162720"/>
                </a:lnTo>
                <a:lnTo>
                  <a:pt x="819995" y="1160902"/>
                </a:lnTo>
                <a:lnTo>
                  <a:pt x="818649" y="1159085"/>
                </a:lnTo>
                <a:lnTo>
                  <a:pt x="817303" y="1157041"/>
                </a:lnTo>
                <a:lnTo>
                  <a:pt x="816406" y="1154770"/>
                </a:lnTo>
                <a:lnTo>
                  <a:pt x="815284" y="1152498"/>
                </a:lnTo>
                <a:lnTo>
                  <a:pt x="814836" y="1150227"/>
                </a:lnTo>
                <a:lnTo>
                  <a:pt x="814387" y="1147728"/>
                </a:lnTo>
                <a:lnTo>
                  <a:pt x="814387" y="1145229"/>
                </a:lnTo>
                <a:lnTo>
                  <a:pt x="814387" y="762947"/>
                </a:lnTo>
                <a:lnTo>
                  <a:pt x="814387" y="760448"/>
                </a:lnTo>
                <a:lnTo>
                  <a:pt x="814836" y="757950"/>
                </a:lnTo>
                <a:lnTo>
                  <a:pt x="815284" y="755678"/>
                </a:lnTo>
                <a:lnTo>
                  <a:pt x="816406" y="753407"/>
                </a:lnTo>
                <a:lnTo>
                  <a:pt x="817303" y="751135"/>
                </a:lnTo>
                <a:lnTo>
                  <a:pt x="818649" y="749091"/>
                </a:lnTo>
                <a:lnTo>
                  <a:pt x="819995" y="747047"/>
                </a:lnTo>
                <a:lnTo>
                  <a:pt x="821790" y="745684"/>
                </a:lnTo>
                <a:lnTo>
                  <a:pt x="823584" y="743867"/>
                </a:lnTo>
                <a:lnTo>
                  <a:pt x="825603" y="742504"/>
                </a:lnTo>
                <a:lnTo>
                  <a:pt x="827622" y="741368"/>
                </a:lnTo>
                <a:lnTo>
                  <a:pt x="829865" y="740232"/>
                </a:lnTo>
                <a:lnTo>
                  <a:pt x="832108" y="739324"/>
                </a:lnTo>
                <a:lnTo>
                  <a:pt x="834576" y="738870"/>
                </a:lnTo>
                <a:lnTo>
                  <a:pt x="837043" y="738188"/>
                </a:lnTo>
                <a:close/>
                <a:moveTo>
                  <a:pt x="1318322" y="671513"/>
                </a:moveTo>
                <a:lnTo>
                  <a:pt x="1320794" y="671513"/>
                </a:lnTo>
                <a:lnTo>
                  <a:pt x="1394056" y="671513"/>
                </a:lnTo>
                <a:lnTo>
                  <a:pt x="1396528" y="671513"/>
                </a:lnTo>
                <a:lnTo>
                  <a:pt x="1399000" y="671966"/>
                </a:lnTo>
                <a:lnTo>
                  <a:pt x="1401472" y="672873"/>
                </a:lnTo>
                <a:lnTo>
                  <a:pt x="1403719" y="673553"/>
                </a:lnTo>
                <a:lnTo>
                  <a:pt x="1405966" y="674913"/>
                </a:lnTo>
                <a:lnTo>
                  <a:pt x="1408213" y="676273"/>
                </a:lnTo>
                <a:lnTo>
                  <a:pt x="1410011" y="677860"/>
                </a:lnTo>
                <a:lnTo>
                  <a:pt x="1412034" y="679900"/>
                </a:lnTo>
                <a:lnTo>
                  <a:pt x="1413607" y="681941"/>
                </a:lnTo>
                <a:lnTo>
                  <a:pt x="1414955" y="683981"/>
                </a:lnTo>
                <a:lnTo>
                  <a:pt x="1416304" y="686474"/>
                </a:lnTo>
                <a:lnTo>
                  <a:pt x="1417203" y="688968"/>
                </a:lnTo>
                <a:lnTo>
                  <a:pt x="1418326" y="691461"/>
                </a:lnTo>
                <a:lnTo>
                  <a:pt x="1418776" y="694181"/>
                </a:lnTo>
                <a:lnTo>
                  <a:pt x="1419225" y="696902"/>
                </a:lnTo>
                <a:lnTo>
                  <a:pt x="1419225" y="699848"/>
                </a:lnTo>
                <a:lnTo>
                  <a:pt x="1419225" y="1141426"/>
                </a:lnTo>
                <a:lnTo>
                  <a:pt x="1419225" y="1144373"/>
                </a:lnTo>
                <a:lnTo>
                  <a:pt x="1418776" y="1147320"/>
                </a:lnTo>
                <a:lnTo>
                  <a:pt x="1418326" y="1149813"/>
                </a:lnTo>
                <a:lnTo>
                  <a:pt x="1417203" y="1152534"/>
                </a:lnTo>
                <a:lnTo>
                  <a:pt x="1416304" y="1155254"/>
                </a:lnTo>
                <a:lnTo>
                  <a:pt x="1414955" y="1157521"/>
                </a:lnTo>
                <a:lnTo>
                  <a:pt x="1413607" y="1159787"/>
                </a:lnTo>
                <a:lnTo>
                  <a:pt x="1412034" y="1161601"/>
                </a:lnTo>
                <a:lnTo>
                  <a:pt x="1410011" y="1163414"/>
                </a:lnTo>
                <a:lnTo>
                  <a:pt x="1408213" y="1165228"/>
                </a:lnTo>
                <a:lnTo>
                  <a:pt x="1405966" y="1166588"/>
                </a:lnTo>
                <a:lnTo>
                  <a:pt x="1403719" y="1167721"/>
                </a:lnTo>
                <a:lnTo>
                  <a:pt x="1401472" y="1168855"/>
                </a:lnTo>
                <a:lnTo>
                  <a:pt x="1399000" y="1169535"/>
                </a:lnTo>
                <a:lnTo>
                  <a:pt x="1396528" y="1169761"/>
                </a:lnTo>
                <a:lnTo>
                  <a:pt x="1394056" y="1169988"/>
                </a:lnTo>
                <a:lnTo>
                  <a:pt x="1320794" y="1169988"/>
                </a:lnTo>
                <a:lnTo>
                  <a:pt x="1318322" y="1169761"/>
                </a:lnTo>
                <a:lnTo>
                  <a:pt x="1315850" y="1169535"/>
                </a:lnTo>
                <a:lnTo>
                  <a:pt x="1313154" y="1168855"/>
                </a:lnTo>
                <a:lnTo>
                  <a:pt x="1310906" y="1167721"/>
                </a:lnTo>
                <a:lnTo>
                  <a:pt x="1308659" y="1166588"/>
                </a:lnTo>
                <a:lnTo>
                  <a:pt x="1306861" y="1165228"/>
                </a:lnTo>
                <a:lnTo>
                  <a:pt x="1304839" y="1163414"/>
                </a:lnTo>
                <a:lnTo>
                  <a:pt x="1303041" y="1161601"/>
                </a:lnTo>
                <a:lnTo>
                  <a:pt x="1301243" y="1159787"/>
                </a:lnTo>
                <a:lnTo>
                  <a:pt x="1299670" y="1157521"/>
                </a:lnTo>
                <a:lnTo>
                  <a:pt x="1298546" y="1155254"/>
                </a:lnTo>
                <a:lnTo>
                  <a:pt x="1297423" y="1152534"/>
                </a:lnTo>
                <a:lnTo>
                  <a:pt x="1296524" y="1149813"/>
                </a:lnTo>
                <a:lnTo>
                  <a:pt x="1296074" y="1147320"/>
                </a:lnTo>
                <a:lnTo>
                  <a:pt x="1295400" y="1144373"/>
                </a:lnTo>
                <a:lnTo>
                  <a:pt x="1295400" y="1141426"/>
                </a:lnTo>
                <a:lnTo>
                  <a:pt x="1295400" y="699848"/>
                </a:lnTo>
                <a:lnTo>
                  <a:pt x="1295400" y="696902"/>
                </a:lnTo>
                <a:lnTo>
                  <a:pt x="1296074" y="694181"/>
                </a:lnTo>
                <a:lnTo>
                  <a:pt x="1296524" y="691461"/>
                </a:lnTo>
                <a:lnTo>
                  <a:pt x="1297423" y="688968"/>
                </a:lnTo>
                <a:lnTo>
                  <a:pt x="1298546" y="686474"/>
                </a:lnTo>
                <a:lnTo>
                  <a:pt x="1299670" y="683981"/>
                </a:lnTo>
                <a:lnTo>
                  <a:pt x="1301243" y="681941"/>
                </a:lnTo>
                <a:lnTo>
                  <a:pt x="1303041" y="679900"/>
                </a:lnTo>
                <a:lnTo>
                  <a:pt x="1304839" y="677860"/>
                </a:lnTo>
                <a:lnTo>
                  <a:pt x="1306861" y="676273"/>
                </a:lnTo>
                <a:lnTo>
                  <a:pt x="1308659" y="674913"/>
                </a:lnTo>
                <a:lnTo>
                  <a:pt x="1310906" y="673553"/>
                </a:lnTo>
                <a:lnTo>
                  <a:pt x="1313154" y="672873"/>
                </a:lnTo>
                <a:lnTo>
                  <a:pt x="1315850" y="671966"/>
                </a:lnTo>
                <a:lnTo>
                  <a:pt x="1318322" y="671513"/>
                </a:lnTo>
                <a:close/>
                <a:moveTo>
                  <a:pt x="988416" y="671513"/>
                </a:moveTo>
                <a:lnTo>
                  <a:pt x="990920" y="671513"/>
                </a:lnTo>
                <a:lnTo>
                  <a:pt x="1065121" y="671513"/>
                </a:lnTo>
                <a:lnTo>
                  <a:pt x="1067624" y="671513"/>
                </a:lnTo>
                <a:lnTo>
                  <a:pt x="1070128" y="671966"/>
                </a:lnTo>
                <a:lnTo>
                  <a:pt x="1072632" y="672873"/>
                </a:lnTo>
                <a:lnTo>
                  <a:pt x="1074908" y="673553"/>
                </a:lnTo>
                <a:lnTo>
                  <a:pt x="1077184" y="674913"/>
                </a:lnTo>
                <a:lnTo>
                  <a:pt x="1079460" y="676273"/>
                </a:lnTo>
                <a:lnTo>
                  <a:pt x="1081281" y="677860"/>
                </a:lnTo>
                <a:lnTo>
                  <a:pt x="1083330" y="679900"/>
                </a:lnTo>
                <a:lnTo>
                  <a:pt x="1084923" y="681941"/>
                </a:lnTo>
                <a:lnTo>
                  <a:pt x="1086288" y="683981"/>
                </a:lnTo>
                <a:lnTo>
                  <a:pt x="1087654" y="686474"/>
                </a:lnTo>
                <a:lnTo>
                  <a:pt x="1088565" y="688968"/>
                </a:lnTo>
                <a:lnTo>
                  <a:pt x="1089703" y="691461"/>
                </a:lnTo>
                <a:lnTo>
                  <a:pt x="1090158" y="694181"/>
                </a:lnTo>
                <a:lnTo>
                  <a:pt x="1090613" y="696902"/>
                </a:lnTo>
                <a:lnTo>
                  <a:pt x="1090613" y="699848"/>
                </a:lnTo>
                <a:lnTo>
                  <a:pt x="1090613" y="1141426"/>
                </a:lnTo>
                <a:lnTo>
                  <a:pt x="1090613" y="1144373"/>
                </a:lnTo>
                <a:lnTo>
                  <a:pt x="1090158" y="1147320"/>
                </a:lnTo>
                <a:lnTo>
                  <a:pt x="1089703" y="1149813"/>
                </a:lnTo>
                <a:lnTo>
                  <a:pt x="1088565" y="1152534"/>
                </a:lnTo>
                <a:lnTo>
                  <a:pt x="1087654" y="1155254"/>
                </a:lnTo>
                <a:lnTo>
                  <a:pt x="1086288" y="1157521"/>
                </a:lnTo>
                <a:lnTo>
                  <a:pt x="1084923" y="1159787"/>
                </a:lnTo>
                <a:lnTo>
                  <a:pt x="1083330" y="1161601"/>
                </a:lnTo>
                <a:lnTo>
                  <a:pt x="1081281" y="1163414"/>
                </a:lnTo>
                <a:lnTo>
                  <a:pt x="1079460" y="1165228"/>
                </a:lnTo>
                <a:lnTo>
                  <a:pt x="1077184" y="1166588"/>
                </a:lnTo>
                <a:lnTo>
                  <a:pt x="1074908" y="1167721"/>
                </a:lnTo>
                <a:lnTo>
                  <a:pt x="1072632" y="1168855"/>
                </a:lnTo>
                <a:lnTo>
                  <a:pt x="1070128" y="1169535"/>
                </a:lnTo>
                <a:lnTo>
                  <a:pt x="1067624" y="1169761"/>
                </a:lnTo>
                <a:lnTo>
                  <a:pt x="1065121" y="1169988"/>
                </a:lnTo>
                <a:lnTo>
                  <a:pt x="990920" y="1169988"/>
                </a:lnTo>
                <a:lnTo>
                  <a:pt x="988416" y="1169761"/>
                </a:lnTo>
                <a:lnTo>
                  <a:pt x="985685" y="1169535"/>
                </a:lnTo>
                <a:lnTo>
                  <a:pt x="983181" y="1168855"/>
                </a:lnTo>
                <a:lnTo>
                  <a:pt x="980905" y="1167721"/>
                </a:lnTo>
                <a:lnTo>
                  <a:pt x="978629" y="1166588"/>
                </a:lnTo>
                <a:lnTo>
                  <a:pt x="976581" y="1165228"/>
                </a:lnTo>
                <a:lnTo>
                  <a:pt x="974532" y="1163414"/>
                </a:lnTo>
                <a:lnTo>
                  <a:pt x="972939" y="1161601"/>
                </a:lnTo>
                <a:lnTo>
                  <a:pt x="971118" y="1159787"/>
                </a:lnTo>
                <a:lnTo>
                  <a:pt x="969525" y="1157521"/>
                </a:lnTo>
                <a:lnTo>
                  <a:pt x="968387" y="1155254"/>
                </a:lnTo>
                <a:lnTo>
                  <a:pt x="967249" y="1152534"/>
                </a:lnTo>
                <a:lnTo>
                  <a:pt x="966338" y="1149813"/>
                </a:lnTo>
                <a:lnTo>
                  <a:pt x="965883" y="1147320"/>
                </a:lnTo>
                <a:lnTo>
                  <a:pt x="965200" y="1144373"/>
                </a:lnTo>
                <a:lnTo>
                  <a:pt x="965200" y="1141426"/>
                </a:lnTo>
                <a:lnTo>
                  <a:pt x="965200" y="699848"/>
                </a:lnTo>
                <a:lnTo>
                  <a:pt x="965200" y="696902"/>
                </a:lnTo>
                <a:lnTo>
                  <a:pt x="965883" y="694181"/>
                </a:lnTo>
                <a:lnTo>
                  <a:pt x="966338" y="691461"/>
                </a:lnTo>
                <a:lnTo>
                  <a:pt x="967249" y="688968"/>
                </a:lnTo>
                <a:lnTo>
                  <a:pt x="968387" y="686474"/>
                </a:lnTo>
                <a:lnTo>
                  <a:pt x="969525" y="683981"/>
                </a:lnTo>
                <a:lnTo>
                  <a:pt x="971118" y="681941"/>
                </a:lnTo>
                <a:lnTo>
                  <a:pt x="972939" y="679900"/>
                </a:lnTo>
                <a:lnTo>
                  <a:pt x="974532" y="677860"/>
                </a:lnTo>
                <a:lnTo>
                  <a:pt x="976581" y="676273"/>
                </a:lnTo>
                <a:lnTo>
                  <a:pt x="978629" y="674913"/>
                </a:lnTo>
                <a:lnTo>
                  <a:pt x="980905" y="673553"/>
                </a:lnTo>
                <a:lnTo>
                  <a:pt x="983181" y="672873"/>
                </a:lnTo>
                <a:lnTo>
                  <a:pt x="985685" y="671966"/>
                </a:lnTo>
                <a:lnTo>
                  <a:pt x="988416" y="671513"/>
                </a:lnTo>
                <a:close/>
                <a:moveTo>
                  <a:pt x="1471932" y="590550"/>
                </a:moveTo>
                <a:lnTo>
                  <a:pt x="1546133" y="590550"/>
                </a:lnTo>
                <a:lnTo>
                  <a:pt x="1548636" y="590777"/>
                </a:lnTo>
                <a:lnTo>
                  <a:pt x="1551140" y="591231"/>
                </a:lnTo>
                <a:lnTo>
                  <a:pt x="1553644" y="592139"/>
                </a:lnTo>
                <a:lnTo>
                  <a:pt x="1555920" y="593274"/>
                </a:lnTo>
                <a:lnTo>
                  <a:pt x="1558196" y="594635"/>
                </a:lnTo>
                <a:lnTo>
                  <a:pt x="1560472" y="596451"/>
                </a:lnTo>
                <a:lnTo>
                  <a:pt x="1562293" y="598267"/>
                </a:lnTo>
                <a:lnTo>
                  <a:pt x="1564342" y="600537"/>
                </a:lnTo>
                <a:lnTo>
                  <a:pt x="1565707" y="602806"/>
                </a:lnTo>
                <a:lnTo>
                  <a:pt x="1567300" y="605303"/>
                </a:lnTo>
                <a:lnTo>
                  <a:pt x="1568666" y="608026"/>
                </a:lnTo>
                <a:lnTo>
                  <a:pt x="1569577" y="610750"/>
                </a:lnTo>
                <a:lnTo>
                  <a:pt x="1570487" y="613927"/>
                </a:lnTo>
                <a:lnTo>
                  <a:pt x="1571170" y="617105"/>
                </a:lnTo>
                <a:lnTo>
                  <a:pt x="1571625" y="620282"/>
                </a:lnTo>
                <a:lnTo>
                  <a:pt x="1571625" y="623687"/>
                </a:lnTo>
                <a:lnTo>
                  <a:pt x="1571625" y="1136851"/>
                </a:lnTo>
                <a:lnTo>
                  <a:pt x="1571625" y="1140256"/>
                </a:lnTo>
                <a:lnTo>
                  <a:pt x="1571170" y="1143433"/>
                </a:lnTo>
                <a:lnTo>
                  <a:pt x="1570487" y="1146838"/>
                </a:lnTo>
                <a:lnTo>
                  <a:pt x="1569577" y="1149788"/>
                </a:lnTo>
                <a:lnTo>
                  <a:pt x="1568666" y="1152512"/>
                </a:lnTo>
                <a:lnTo>
                  <a:pt x="1567300" y="1155462"/>
                </a:lnTo>
                <a:lnTo>
                  <a:pt x="1565707" y="1157959"/>
                </a:lnTo>
                <a:lnTo>
                  <a:pt x="1564342" y="1160229"/>
                </a:lnTo>
                <a:lnTo>
                  <a:pt x="1562293" y="1162498"/>
                </a:lnTo>
                <a:lnTo>
                  <a:pt x="1560472" y="1164314"/>
                </a:lnTo>
                <a:lnTo>
                  <a:pt x="1558196" y="1165903"/>
                </a:lnTo>
                <a:lnTo>
                  <a:pt x="1555920" y="1167492"/>
                </a:lnTo>
                <a:lnTo>
                  <a:pt x="1553644" y="1168399"/>
                </a:lnTo>
                <a:lnTo>
                  <a:pt x="1551140" y="1169307"/>
                </a:lnTo>
                <a:lnTo>
                  <a:pt x="1548636" y="1169761"/>
                </a:lnTo>
                <a:lnTo>
                  <a:pt x="1546133" y="1169988"/>
                </a:lnTo>
                <a:lnTo>
                  <a:pt x="1471932" y="1169988"/>
                </a:lnTo>
                <a:lnTo>
                  <a:pt x="1469201" y="1169761"/>
                </a:lnTo>
                <a:lnTo>
                  <a:pt x="1466697" y="1169307"/>
                </a:lnTo>
                <a:lnTo>
                  <a:pt x="1464193" y="1168399"/>
                </a:lnTo>
                <a:lnTo>
                  <a:pt x="1461917" y="1167492"/>
                </a:lnTo>
                <a:lnTo>
                  <a:pt x="1459641" y="1165903"/>
                </a:lnTo>
                <a:lnTo>
                  <a:pt x="1457593" y="1164314"/>
                </a:lnTo>
                <a:lnTo>
                  <a:pt x="1455544" y="1162498"/>
                </a:lnTo>
                <a:lnTo>
                  <a:pt x="1453496" y="1160229"/>
                </a:lnTo>
                <a:lnTo>
                  <a:pt x="1452130" y="1157959"/>
                </a:lnTo>
                <a:lnTo>
                  <a:pt x="1450537" y="1155462"/>
                </a:lnTo>
                <a:lnTo>
                  <a:pt x="1449399" y="1152512"/>
                </a:lnTo>
                <a:lnTo>
                  <a:pt x="1448261" y="1149788"/>
                </a:lnTo>
                <a:lnTo>
                  <a:pt x="1447350" y="1146838"/>
                </a:lnTo>
                <a:lnTo>
                  <a:pt x="1446667" y="1143433"/>
                </a:lnTo>
                <a:lnTo>
                  <a:pt x="1446212" y="1140256"/>
                </a:lnTo>
                <a:lnTo>
                  <a:pt x="1446212" y="1136851"/>
                </a:lnTo>
                <a:lnTo>
                  <a:pt x="1446212" y="623687"/>
                </a:lnTo>
                <a:lnTo>
                  <a:pt x="1446212" y="620282"/>
                </a:lnTo>
                <a:lnTo>
                  <a:pt x="1446667" y="617105"/>
                </a:lnTo>
                <a:lnTo>
                  <a:pt x="1447350" y="613927"/>
                </a:lnTo>
                <a:lnTo>
                  <a:pt x="1448261" y="610750"/>
                </a:lnTo>
                <a:lnTo>
                  <a:pt x="1449399" y="608026"/>
                </a:lnTo>
                <a:lnTo>
                  <a:pt x="1450537" y="605303"/>
                </a:lnTo>
                <a:lnTo>
                  <a:pt x="1452130" y="602806"/>
                </a:lnTo>
                <a:lnTo>
                  <a:pt x="1453496" y="600537"/>
                </a:lnTo>
                <a:lnTo>
                  <a:pt x="1455544" y="598267"/>
                </a:lnTo>
                <a:lnTo>
                  <a:pt x="1457593" y="596451"/>
                </a:lnTo>
                <a:lnTo>
                  <a:pt x="1459641" y="594635"/>
                </a:lnTo>
                <a:lnTo>
                  <a:pt x="1461917" y="593274"/>
                </a:lnTo>
                <a:lnTo>
                  <a:pt x="1464193" y="592139"/>
                </a:lnTo>
                <a:lnTo>
                  <a:pt x="1466697" y="591231"/>
                </a:lnTo>
                <a:lnTo>
                  <a:pt x="1469201" y="590777"/>
                </a:lnTo>
                <a:lnTo>
                  <a:pt x="1471932" y="590550"/>
                </a:lnTo>
                <a:close/>
                <a:moveTo>
                  <a:pt x="1152617" y="590550"/>
                </a:moveTo>
                <a:lnTo>
                  <a:pt x="1226818" y="590550"/>
                </a:lnTo>
                <a:lnTo>
                  <a:pt x="1229322" y="590777"/>
                </a:lnTo>
                <a:lnTo>
                  <a:pt x="1232053" y="591231"/>
                </a:lnTo>
                <a:lnTo>
                  <a:pt x="1234557" y="592139"/>
                </a:lnTo>
                <a:lnTo>
                  <a:pt x="1236833" y="593274"/>
                </a:lnTo>
                <a:lnTo>
                  <a:pt x="1239109" y="594635"/>
                </a:lnTo>
                <a:lnTo>
                  <a:pt x="1241158" y="596451"/>
                </a:lnTo>
                <a:lnTo>
                  <a:pt x="1242978" y="598267"/>
                </a:lnTo>
                <a:lnTo>
                  <a:pt x="1244799" y="600537"/>
                </a:lnTo>
                <a:lnTo>
                  <a:pt x="1246620" y="602806"/>
                </a:lnTo>
                <a:lnTo>
                  <a:pt x="1248213" y="605303"/>
                </a:lnTo>
                <a:lnTo>
                  <a:pt x="1249352" y="608026"/>
                </a:lnTo>
                <a:lnTo>
                  <a:pt x="1250490" y="610750"/>
                </a:lnTo>
                <a:lnTo>
                  <a:pt x="1251400" y="613927"/>
                </a:lnTo>
                <a:lnTo>
                  <a:pt x="1251855" y="617105"/>
                </a:lnTo>
                <a:lnTo>
                  <a:pt x="1252538" y="620282"/>
                </a:lnTo>
                <a:lnTo>
                  <a:pt x="1252538" y="623687"/>
                </a:lnTo>
                <a:lnTo>
                  <a:pt x="1252538" y="1136851"/>
                </a:lnTo>
                <a:lnTo>
                  <a:pt x="1252538" y="1140256"/>
                </a:lnTo>
                <a:lnTo>
                  <a:pt x="1251855" y="1143433"/>
                </a:lnTo>
                <a:lnTo>
                  <a:pt x="1251400" y="1146838"/>
                </a:lnTo>
                <a:lnTo>
                  <a:pt x="1250490" y="1149788"/>
                </a:lnTo>
                <a:lnTo>
                  <a:pt x="1249352" y="1152512"/>
                </a:lnTo>
                <a:lnTo>
                  <a:pt x="1248213" y="1155462"/>
                </a:lnTo>
                <a:lnTo>
                  <a:pt x="1246620" y="1157959"/>
                </a:lnTo>
                <a:lnTo>
                  <a:pt x="1244799" y="1160229"/>
                </a:lnTo>
                <a:lnTo>
                  <a:pt x="1242978" y="1162498"/>
                </a:lnTo>
                <a:lnTo>
                  <a:pt x="1241158" y="1164314"/>
                </a:lnTo>
                <a:lnTo>
                  <a:pt x="1239109" y="1165903"/>
                </a:lnTo>
                <a:lnTo>
                  <a:pt x="1236833" y="1167492"/>
                </a:lnTo>
                <a:lnTo>
                  <a:pt x="1234557" y="1168399"/>
                </a:lnTo>
                <a:lnTo>
                  <a:pt x="1232053" y="1169307"/>
                </a:lnTo>
                <a:lnTo>
                  <a:pt x="1229322" y="1169761"/>
                </a:lnTo>
                <a:lnTo>
                  <a:pt x="1226818" y="1169988"/>
                </a:lnTo>
                <a:lnTo>
                  <a:pt x="1152617" y="1169988"/>
                </a:lnTo>
                <a:lnTo>
                  <a:pt x="1150114" y="1169761"/>
                </a:lnTo>
                <a:lnTo>
                  <a:pt x="1147610" y="1169307"/>
                </a:lnTo>
                <a:lnTo>
                  <a:pt x="1145106" y="1168399"/>
                </a:lnTo>
                <a:lnTo>
                  <a:pt x="1142830" y="1167492"/>
                </a:lnTo>
                <a:lnTo>
                  <a:pt x="1140554" y="1165903"/>
                </a:lnTo>
                <a:lnTo>
                  <a:pt x="1138278" y="1164314"/>
                </a:lnTo>
                <a:lnTo>
                  <a:pt x="1136457" y="1162498"/>
                </a:lnTo>
                <a:lnTo>
                  <a:pt x="1134409" y="1160229"/>
                </a:lnTo>
                <a:lnTo>
                  <a:pt x="1132815" y="1157959"/>
                </a:lnTo>
                <a:lnTo>
                  <a:pt x="1131450" y="1155462"/>
                </a:lnTo>
                <a:lnTo>
                  <a:pt x="1130084" y="1152512"/>
                </a:lnTo>
                <a:lnTo>
                  <a:pt x="1129174" y="1149788"/>
                </a:lnTo>
                <a:lnTo>
                  <a:pt x="1128036" y="1146838"/>
                </a:lnTo>
                <a:lnTo>
                  <a:pt x="1127580" y="1143433"/>
                </a:lnTo>
                <a:lnTo>
                  <a:pt x="1127125" y="1140256"/>
                </a:lnTo>
                <a:lnTo>
                  <a:pt x="1127125" y="1136851"/>
                </a:lnTo>
                <a:lnTo>
                  <a:pt x="1127125" y="623687"/>
                </a:lnTo>
                <a:lnTo>
                  <a:pt x="1127125" y="620282"/>
                </a:lnTo>
                <a:lnTo>
                  <a:pt x="1127580" y="617105"/>
                </a:lnTo>
                <a:lnTo>
                  <a:pt x="1128036" y="613927"/>
                </a:lnTo>
                <a:lnTo>
                  <a:pt x="1129174" y="610750"/>
                </a:lnTo>
                <a:lnTo>
                  <a:pt x="1130084" y="608026"/>
                </a:lnTo>
                <a:lnTo>
                  <a:pt x="1131450" y="605303"/>
                </a:lnTo>
                <a:lnTo>
                  <a:pt x="1132815" y="602806"/>
                </a:lnTo>
                <a:lnTo>
                  <a:pt x="1134409" y="600537"/>
                </a:lnTo>
                <a:lnTo>
                  <a:pt x="1136457" y="598267"/>
                </a:lnTo>
                <a:lnTo>
                  <a:pt x="1138278" y="596451"/>
                </a:lnTo>
                <a:lnTo>
                  <a:pt x="1140554" y="594635"/>
                </a:lnTo>
                <a:lnTo>
                  <a:pt x="1142830" y="593274"/>
                </a:lnTo>
                <a:lnTo>
                  <a:pt x="1145106" y="592139"/>
                </a:lnTo>
                <a:lnTo>
                  <a:pt x="1147610" y="591231"/>
                </a:lnTo>
                <a:lnTo>
                  <a:pt x="1150114" y="590777"/>
                </a:lnTo>
                <a:lnTo>
                  <a:pt x="1152617" y="590550"/>
                </a:lnTo>
                <a:close/>
                <a:moveTo>
                  <a:pt x="1633857" y="508000"/>
                </a:moveTo>
                <a:lnTo>
                  <a:pt x="1707830" y="508000"/>
                </a:lnTo>
                <a:lnTo>
                  <a:pt x="1710561" y="508227"/>
                </a:lnTo>
                <a:lnTo>
                  <a:pt x="1713065" y="508680"/>
                </a:lnTo>
                <a:lnTo>
                  <a:pt x="1715797" y="509814"/>
                </a:lnTo>
                <a:lnTo>
                  <a:pt x="1718073" y="510947"/>
                </a:lnTo>
                <a:lnTo>
                  <a:pt x="1720349" y="512534"/>
                </a:lnTo>
                <a:lnTo>
                  <a:pt x="1722170" y="514575"/>
                </a:lnTo>
                <a:lnTo>
                  <a:pt x="1724218" y="516842"/>
                </a:lnTo>
                <a:lnTo>
                  <a:pt x="1726039" y="519109"/>
                </a:lnTo>
                <a:lnTo>
                  <a:pt x="1727860" y="521829"/>
                </a:lnTo>
                <a:lnTo>
                  <a:pt x="1729453" y="524550"/>
                </a:lnTo>
                <a:lnTo>
                  <a:pt x="1730591" y="527950"/>
                </a:lnTo>
                <a:lnTo>
                  <a:pt x="1731729" y="531124"/>
                </a:lnTo>
                <a:lnTo>
                  <a:pt x="1732640" y="534752"/>
                </a:lnTo>
                <a:lnTo>
                  <a:pt x="1733095" y="538152"/>
                </a:lnTo>
                <a:lnTo>
                  <a:pt x="1733550" y="542006"/>
                </a:lnTo>
                <a:lnTo>
                  <a:pt x="1733550" y="545860"/>
                </a:lnTo>
                <a:lnTo>
                  <a:pt x="1733550" y="1132128"/>
                </a:lnTo>
                <a:lnTo>
                  <a:pt x="1733550" y="1135982"/>
                </a:lnTo>
                <a:lnTo>
                  <a:pt x="1733095" y="1139836"/>
                </a:lnTo>
                <a:lnTo>
                  <a:pt x="1732640" y="1143463"/>
                </a:lnTo>
                <a:lnTo>
                  <a:pt x="1731729" y="1146864"/>
                </a:lnTo>
                <a:lnTo>
                  <a:pt x="1730591" y="1150038"/>
                </a:lnTo>
                <a:lnTo>
                  <a:pt x="1729453" y="1153438"/>
                </a:lnTo>
                <a:lnTo>
                  <a:pt x="1727860" y="1156159"/>
                </a:lnTo>
                <a:lnTo>
                  <a:pt x="1726039" y="1158879"/>
                </a:lnTo>
                <a:lnTo>
                  <a:pt x="1724218" y="1161373"/>
                </a:lnTo>
                <a:lnTo>
                  <a:pt x="1722170" y="1163414"/>
                </a:lnTo>
                <a:lnTo>
                  <a:pt x="1720349" y="1165454"/>
                </a:lnTo>
                <a:lnTo>
                  <a:pt x="1718073" y="1167041"/>
                </a:lnTo>
                <a:lnTo>
                  <a:pt x="1715797" y="1168174"/>
                </a:lnTo>
                <a:lnTo>
                  <a:pt x="1713065" y="1169308"/>
                </a:lnTo>
                <a:lnTo>
                  <a:pt x="1710561" y="1169761"/>
                </a:lnTo>
                <a:lnTo>
                  <a:pt x="1707830" y="1169988"/>
                </a:lnTo>
                <a:lnTo>
                  <a:pt x="1633857" y="1169988"/>
                </a:lnTo>
                <a:lnTo>
                  <a:pt x="1631353" y="1169761"/>
                </a:lnTo>
                <a:lnTo>
                  <a:pt x="1628850" y="1169308"/>
                </a:lnTo>
                <a:lnTo>
                  <a:pt x="1626346" y="1168174"/>
                </a:lnTo>
                <a:lnTo>
                  <a:pt x="1624070" y="1167041"/>
                </a:lnTo>
                <a:lnTo>
                  <a:pt x="1621794" y="1165454"/>
                </a:lnTo>
                <a:lnTo>
                  <a:pt x="1619518" y="1163414"/>
                </a:lnTo>
                <a:lnTo>
                  <a:pt x="1617469" y="1161373"/>
                </a:lnTo>
                <a:lnTo>
                  <a:pt x="1615648" y="1158879"/>
                </a:lnTo>
                <a:lnTo>
                  <a:pt x="1614055" y="1156159"/>
                </a:lnTo>
                <a:lnTo>
                  <a:pt x="1612689" y="1153438"/>
                </a:lnTo>
                <a:lnTo>
                  <a:pt x="1611324" y="1150038"/>
                </a:lnTo>
                <a:lnTo>
                  <a:pt x="1610186" y="1146864"/>
                </a:lnTo>
                <a:lnTo>
                  <a:pt x="1609275" y="1143463"/>
                </a:lnTo>
                <a:lnTo>
                  <a:pt x="1608820" y="1139836"/>
                </a:lnTo>
                <a:lnTo>
                  <a:pt x="1608365" y="1135982"/>
                </a:lnTo>
                <a:lnTo>
                  <a:pt x="1608137" y="1132128"/>
                </a:lnTo>
                <a:lnTo>
                  <a:pt x="1608137" y="545860"/>
                </a:lnTo>
                <a:lnTo>
                  <a:pt x="1608365" y="542006"/>
                </a:lnTo>
                <a:lnTo>
                  <a:pt x="1608820" y="538152"/>
                </a:lnTo>
                <a:lnTo>
                  <a:pt x="1609275" y="534752"/>
                </a:lnTo>
                <a:lnTo>
                  <a:pt x="1610186" y="531124"/>
                </a:lnTo>
                <a:lnTo>
                  <a:pt x="1611324" y="527950"/>
                </a:lnTo>
                <a:lnTo>
                  <a:pt x="1612689" y="524550"/>
                </a:lnTo>
                <a:lnTo>
                  <a:pt x="1614055" y="521829"/>
                </a:lnTo>
                <a:lnTo>
                  <a:pt x="1615648" y="519109"/>
                </a:lnTo>
                <a:lnTo>
                  <a:pt x="1617469" y="516842"/>
                </a:lnTo>
                <a:lnTo>
                  <a:pt x="1619518" y="514575"/>
                </a:lnTo>
                <a:lnTo>
                  <a:pt x="1621794" y="512534"/>
                </a:lnTo>
                <a:lnTo>
                  <a:pt x="1624070" y="510947"/>
                </a:lnTo>
                <a:lnTo>
                  <a:pt x="1626346" y="509814"/>
                </a:lnTo>
                <a:lnTo>
                  <a:pt x="1628850" y="508680"/>
                </a:lnTo>
                <a:lnTo>
                  <a:pt x="1631353" y="508227"/>
                </a:lnTo>
                <a:lnTo>
                  <a:pt x="1633857" y="508000"/>
                </a:lnTo>
                <a:close/>
                <a:moveTo>
                  <a:pt x="1501548" y="319088"/>
                </a:moveTo>
                <a:lnTo>
                  <a:pt x="1733323" y="319088"/>
                </a:lnTo>
                <a:lnTo>
                  <a:pt x="1733323" y="319316"/>
                </a:lnTo>
                <a:lnTo>
                  <a:pt x="1733550" y="319316"/>
                </a:lnTo>
                <a:lnTo>
                  <a:pt x="1733550" y="464215"/>
                </a:lnTo>
                <a:lnTo>
                  <a:pt x="1637620" y="464215"/>
                </a:lnTo>
                <a:lnTo>
                  <a:pt x="1637620" y="418038"/>
                </a:lnTo>
                <a:lnTo>
                  <a:pt x="1318759" y="617303"/>
                </a:lnTo>
                <a:lnTo>
                  <a:pt x="1250723" y="574766"/>
                </a:lnTo>
                <a:lnTo>
                  <a:pt x="1253444" y="573174"/>
                </a:lnTo>
                <a:lnTo>
                  <a:pt x="1146628" y="506525"/>
                </a:lnTo>
                <a:lnTo>
                  <a:pt x="844096" y="695326"/>
                </a:lnTo>
                <a:lnTo>
                  <a:pt x="776287" y="653016"/>
                </a:lnTo>
                <a:lnTo>
                  <a:pt x="1147082" y="421450"/>
                </a:lnTo>
                <a:lnTo>
                  <a:pt x="1215118" y="463533"/>
                </a:lnTo>
                <a:lnTo>
                  <a:pt x="1214437" y="464215"/>
                </a:lnTo>
                <a:lnTo>
                  <a:pt x="1321253" y="530637"/>
                </a:lnTo>
                <a:lnTo>
                  <a:pt x="1564368" y="379141"/>
                </a:lnTo>
                <a:lnTo>
                  <a:pt x="1501548" y="379141"/>
                </a:lnTo>
                <a:lnTo>
                  <a:pt x="1501548" y="319088"/>
                </a:lnTo>
                <a:close/>
                <a:moveTo>
                  <a:pt x="229507" y="91395"/>
                </a:moveTo>
                <a:lnTo>
                  <a:pt x="225651" y="91621"/>
                </a:lnTo>
                <a:lnTo>
                  <a:pt x="221796" y="91848"/>
                </a:lnTo>
                <a:lnTo>
                  <a:pt x="218394" y="92075"/>
                </a:lnTo>
                <a:lnTo>
                  <a:pt x="214539" y="92755"/>
                </a:lnTo>
                <a:lnTo>
                  <a:pt x="210910" y="93662"/>
                </a:lnTo>
                <a:lnTo>
                  <a:pt x="207509" y="94570"/>
                </a:lnTo>
                <a:lnTo>
                  <a:pt x="204107" y="95704"/>
                </a:lnTo>
                <a:lnTo>
                  <a:pt x="200705" y="96837"/>
                </a:lnTo>
                <a:lnTo>
                  <a:pt x="197303" y="98198"/>
                </a:lnTo>
                <a:lnTo>
                  <a:pt x="194355" y="99559"/>
                </a:lnTo>
                <a:lnTo>
                  <a:pt x="191407" y="101373"/>
                </a:lnTo>
                <a:lnTo>
                  <a:pt x="188232" y="103187"/>
                </a:lnTo>
                <a:lnTo>
                  <a:pt x="185284" y="105002"/>
                </a:lnTo>
                <a:lnTo>
                  <a:pt x="182562" y="107270"/>
                </a:lnTo>
                <a:lnTo>
                  <a:pt x="179614" y="109311"/>
                </a:lnTo>
                <a:lnTo>
                  <a:pt x="177119" y="111579"/>
                </a:lnTo>
                <a:lnTo>
                  <a:pt x="174851" y="114073"/>
                </a:lnTo>
                <a:lnTo>
                  <a:pt x="172357" y="116568"/>
                </a:lnTo>
                <a:lnTo>
                  <a:pt x="170316" y="119062"/>
                </a:lnTo>
                <a:lnTo>
                  <a:pt x="168275" y="121784"/>
                </a:lnTo>
                <a:lnTo>
                  <a:pt x="166460" y="124505"/>
                </a:lnTo>
                <a:lnTo>
                  <a:pt x="164646" y="127454"/>
                </a:lnTo>
                <a:lnTo>
                  <a:pt x="162832" y="130402"/>
                </a:lnTo>
                <a:lnTo>
                  <a:pt x="161471" y="133350"/>
                </a:lnTo>
                <a:lnTo>
                  <a:pt x="160110" y="136525"/>
                </a:lnTo>
                <a:lnTo>
                  <a:pt x="158976" y="139700"/>
                </a:lnTo>
                <a:lnTo>
                  <a:pt x="158069" y="143102"/>
                </a:lnTo>
                <a:lnTo>
                  <a:pt x="156935" y="146277"/>
                </a:lnTo>
                <a:lnTo>
                  <a:pt x="156482" y="149679"/>
                </a:lnTo>
                <a:lnTo>
                  <a:pt x="156028" y="153080"/>
                </a:lnTo>
                <a:lnTo>
                  <a:pt x="155801" y="156709"/>
                </a:lnTo>
                <a:lnTo>
                  <a:pt x="155801" y="160111"/>
                </a:lnTo>
                <a:lnTo>
                  <a:pt x="155801" y="1330098"/>
                </a:lnTo>
                <a:lnTo>
                  <a:pt x="155801" y="1333500"/>
                </a:lnTo>
                <a:lnTo>
                  <a:pt x="156028" y="1337129"/>
                </a:lnTo>
                <a:lnTo>
                  <a:pt x="156482" y="1340531"/>
                </a:lnTo>
                <a:lnTo>
                  <a:pt x="156935" y="1343932"/>
                </a:lnTo>
                <a:lnTo>
                  <a:pt x="158069" y="1347561"/>
                </a:lnTo>
                <a:lnTo>
                  <a:pt x="158976" y="1350509"/>
                </a:lnTo>
                <a:lnTo>
                  <a:pt x="160110" y="1353684"/>
                </a:lnTo>
                <a:lnTo>
                  <a:pt x="161471" y="1357086"/>
                </a:lnTo>
                <a:lnTo>
                  <a:pt x="162832" y="1360034"/>
                </a:lnTo>
                <a:lnTo>
                  <a:pt x="164646" y="1362756"/>
                </a:lnTo>
                <a:lnTo>
                  <a:pt x="166460" y="1365931"/>
                </a:lnTo>
                <a:lnTo>
                  <a:pt x="168275" y="1368652"/>
                </a:lnTo>
                <a:lnTo>
                  <a:pt x="170316" y="1371373"/>
                </a:lnTo>
                <a:lnTo>
                  <a:pt x="172357" y="1373868"/>
                </a:lnTo>
                <a:lnTo>
                  <a:pt x="174851" y="1376590"/>
                </a:lnTo>
                <a:lnTo>
                  <a:pt x="177119" y="1378857"/>
                </a:lnTo>
                <a:lnTo>
                  <a:pt x="179614" y="1381125"/>
                </a:lnTo>
                <a:lnTo>
                  <a:pt x="182562" y="1383393"/>
                </a:lnTo>
                <a:lnTo>
                  <a:pt x="185284" y="1385207"/>
                </a:lnTo>
                <a:lnTo>
                  <a:pt x="188232" y="1387248"/>
                </a:lnTo>
                <a:lnTo>
                  <a:pt x="191407" y="1389063"/>
                </a:lnTo>
                <a:lnTo>
                  <a:pt x="194355" y="1390650"/>
                </a:lnTo>
                <a:lnTo>
                  <a:pt x="197303" y="1392238"/>
                </a:lnTo>
                <a:lnTo>
                  <a:pt x="200705" y="1393598"/>
                </a:lnTo>
                <a:lnTo>
                  <a:pt x="204107" y="1394959"/>
                </a:lnTo>
                <a:lnTo>
                  <a:pt x="207509" y="1395866"/>
                </a:lnTo>
                <a:lnTo>
                  <a:pt x="210910" y="1397000"/>
                </a:lnTo>
                <a:lnTo>
                  <a:pt x="214539" y="1397681"/>
                </a:lnTo>
                <a:lnTo>
                  <a:pt x="218394" y="1398134"/>
                </a:lnTo>
                <a:lnTo>
                  <a:pt x="221796" y="1398588"/>
                </a:lnTo>
                <a:lnTo>
                  <a:pt x="225651" y="1399041"/>
                </a:lnTo>
                <a:lnTo>
                  <a:pt x="229507" y="1399041"/>
                </a:lnTo>
                <a:lnTo>
                  <a:pt x="2280330" y="1399041"/>
                </a:lnTo>
                <a:lnTo>
                  <a:pt x="2284186" y="1399041"/>
                </a:lnTo>
                <a:lnTo>
                  <a:pt x="2288041" y="1398588"/>
                </a:lnTo>
                <a:lnTo>
                  <a:pt x="2291670" y="1398134"/>
                </a:lnTo>
                <a:lnTo>
                  <a:pt x="2295298" y="1397681"/>
                </a:lnTo>
                <a:lnTo>
                  <a:pt x="2299154" y="1397000"/>
                </a:lnTo>
                <a:lnTo>
                  <a:pt x="2302555" y="1395866"/>
                </a:lnTo>
                <a:lnTo>
                  <a:pt x="2305957" y="1394959"/>
                </a:lnTo>
                <a:lnTo>
                  <a:pt x="2309359" y="1393598"/>
                </a:lnTo>
                <a:lnTo>
                  <a:pt x="2312534" y="1392238"/>
                </a:lnTo>
                <a:lnTo>
                  <a:pt x="2315709" y="1390650"/>
                </a:lnTo>
                <a:lnTo>
                  <a:pt x="2318884" y="1389063"/>
                </a:lnTo>
                <a:lnTo>
                  <a:pt x="2321832" y="1387248"/>
                </a:lnTo>
                <a:lnTo>
                  <a:pt x="2324780" y="1385207"/>
                </a:lnTo>
                <a:lnTo>
                  <a:pt x="2327502" y="1383393"/>
                </a:lnTo>
                <a:lnTo>
                  <a:pt x="2330223" y="1381125"/>
                </a:lnTo>
                <a:lnTo>
                  <a:pt x="2332945" y="1378857"/>
                </a:lnTo>
                <a:lnTo>
                  <a:pt x="2335213" y="1376590"/>
                </a:lnTo>
                <a:lnTo>
                  <a:pt x="2337707" y="1373868"/>
                </a:lnTo>
                <a:lnTo>
                  <a:pt x="2339748" y="1371373"/>
                </a:lnTo>
                <a:lnTo>
                  <a:pt x="2341789" y="1368652"/>
                </a:lnTo>
                <a:lnTo>
                  <a:pt x="2343830" y="1365931"/>
                </a:lnTo>
                <a:lnTo>
                  <a:pt x="2345418" y="1362756"/>
                </a:lnTo>
                <a:lnTo>
                  <a:pt x="2347232" y="1360034"/>
                </a:lnTo>
                <a:lnTo>
                  <a:pt x="2348593" y="1357086"/>
                </a:lnTo>
                <a:lnTo>
                  <a:pt x="2350180" y="1353684"/>
                </a:lnTo>
                <a:lnTo>
                  <a:pt x="2351088" y="1350509"/>
                </a:lnTo>
                <a:lnTo>
                  <a:pt x="2351995" y="1347561"/>
                </a:lnTo>
                <a:lnTo>
                  <a:pt x="2352902" y="1343932"/>
                </a:lnTo>
                <a:lnTo>
                  <a:pt x="2353582" y="1340531"/>
                </a:lnTo>
                <a:lnTo>
                  <a:pt x="2354036" y="1337129"/>
                </a:lnTo>
                <a:lnTo>
                  <a:pt x="2354263" y="1333500"/>
                </a:lnTo>
                <a:lnTo>
                  <a:pt x="2354263" y="1330098"/>
                </a:lnTo>
                <a:lnTo>
                  <a:pt x="2354263" y="160111"/>
                </a:lnTo>
                <a:lnTo>
                  <a:pt x="2354263" y="156709"/>
                </a:lnTo>
                <a:lnTo>
                  <a:pt x="2354036" y="153080"/>
                </a:lnTo>
                <a:lnTo>
                  <a:pt x="2353582" y="149679"/>
                </a:lnTo>
                <a:lnTo>
                  <a:pt x="2352902" y="146277"/>
                </a:lnTo>
                <a:lnTo>
                  <a:pt x="2351995" y="143102"/>
                </a:lnTo>
                <a:lnTo>
                  <a:pt x="2351088" y="139700"/>
                </a:lnTo>
                <a:lnTo>
                  <a:pt x="2350180" y="136525"/>
                </a:lnTo>
                <a:lnTo>
                  <a:pt x="2348593" y="133350"/>
                </a:lnTo>
                <a:lnTo>
                  <a:pt x="2347232" y="130402"/>
                </a:lnTo>
                <a:lnTo>
                  <a:pt x="2345418" y="127454"/>
                </a:lnTo>
                <a:lnTo>
                  <a:pt x="2343830" y="124505"/>
                </a:lnTo>
                <a:lnTo>
                  <a:pt x="2341789" y="121784"/>
                </a:lnTo>
                <a:lnTo>
                  <a:pt x="2339748" y="119062"/>
                </a:lnTo>
                <a:lnTo>
                  <a:pt x="2337707" y="116568"/>
                </a:lnTo>
                <a:lnTo>
                  <a:pt x="2335213" y="114073"/>
                </a:lnTo>
                <a:lnTo>
                  <a:pt x="2332945" y="111579"/>
                </a:lnTo>
                <a:lnTo>
                  <a:pt x="2330223" y="109311"/>
                </a:lnTo>
                <a:lnTo>
                  <a:pt x="2327502" y="107270"/>
                </a:lnTo>
                <a:lnTo>
                  <a:pt x="2324780" y="105002"/>
                </a:lnTo>
                <a:lnTo>
                  <a:pt x="2321832" y="103187"/>
                </a:lnTo>
                <a:lnTo>
                  <a:pt x="2318884" y="101373"/>
                </a:lnTo>
                <a:lnTo>
                  <a:pt x="2315709" y="99559"/>
                </a:lnTo>
                <a:lnTo>
                  <a:pt x="2312534" y="98198"/>
                </a:lnTo>
                <a:lnTo>
                  <a:pt x="2309359" y="96837"/>
                </a:lnTo>
                <a:lnTo>
                  <a:pt x="2305957" y="95704"/>
                </a:lnTo>
                <a:lnTo>
                  <a:pt x="2302555" y="94570"/>
                </a:lnTo>
                <a:lnTo>
                  <a:pt x="2299154" y="93662"/>
                </a:lnTo>
                <a:lnTo>
                  <a:pt x="2295298" y="92755"/>
                </a:lnTo>
                <a:lnTo>
                  <a:pt x="2291670" y="92075"/>
                </a:lnTo>
                <a:lnTo>
                  <a:pt x="2288041" y="91848"/>
                </a:lnTo>
                <a:lnTo>
                  <a:pt x="2284186" y="91621"/>
                </a:lnTo>
                <a:lnTo>
                  <a:pt x="2280330" y="91395"/>
                </a:lnTo>
                <a:lnTo>
                  <a:pt x="229507" y="91395"/>
                </a:lnTo>
                <a:close/>
                <a:moveTo>
                  <a:pt x="81642" y="0"/>
                </a:moveTo>
                <a:lnTo>
                  <a:pt x="86178" y="0"/>
                </a:lnTo>
                <a:lnTo>
                  <a:pt x="2424113" y="0"/>
                </a:lnTo>
                <a:lnTo>
                  <a:pt x="2428648" y="0"/>
                </a:lnTo>
                <a:lnTo>
                  <a:pt x="2432730" y="227"/>
                </a:lnTo>
                <a:lnTo>
                  <a:pt x="2436813" y="680"/>
                </a:lnTo>
                <a:lnTo>
                  <a:pt x="2441122" y="1361"/>
                </a:lnTo>
                <a:lnTo>
                  <a:pt x="2445204" y="2268"/>
                </a:lnTo>
                <a:lnTo>
                  <a:pt x="2449286" y="3402"/>
                </a:lnTo>
                <a:lnTo>
                  <a:pt x="2452914" y="4536"/>
                </a:lnTo>
                <a:lnTo>
                  <a:pt x="2456770" y="5896"/>
                </a:lnTo>
                <a:lnTo>
                  <a:pt x="2460625" y="7484"/>
                </a:lnTo>
                <a:lnTo>
                  <a:pt x="2464480" y="9298"/>
                </a:lnTo>
                <a:lnTo>
                  <a:pt x="2467882" y="11339"/>
                </a:lnTo>
                <a:lnTo>
                  <a:pt x="2471284" y="13380"/>
                </a:lnTo>
                <a:lnTo>
                  <a:pt x="2474459" y="15421"/>
                </a:lnTo>
                <a:lnTo>
                  <a:pt x="2477861" y="17916"/>
                </a:lnTo>
                <a:lnTo>
                  <a:pt x="2480809" y="20184"/>
                </a:lnTo>
                <a:lnTo>
                  <a:pt x="2483757" y="22905"/>
                </a:lnTo>
                <a:lnTo>
                  <a:pt x="2486479" y="25400"/>
                </a:lnTo>
                <a:lnTo>
                  <a:pt x="2489200" y="28348"/>
                </a:lnTo>
                <a:lnTo>
                  <a:pt x="2491695" y="31296"/>
                </a:lnTo>
                <a:lnTo>
                  <a:pt x="2493963" y="34471"/>
                </a:lnTo>
                <a:lnTo>
                  <a:pt x="2496230" y="37646"/>
                </a:lnTo>
                <a:lnTo>
                  <a:pt x="2498272" y="40821"/>
                </a:lnTo>
                <a:lnTo>
                  <a:pt x="2499859" y="44450"/>
                </a:lnTo>
                <a:lnTo>
                  <a:pt x="2501673" y="47625"/>
                </a:lnTo>
                <a:lnTo>
                  <a:pt x="2503261" y="51480"/>
                </a:lnTo>
                <a:lnTo>
                  <a:pt x="2504395" y="54882"/>
                </a:lnTo>
                <a:lnTo>
                  <a:pt x="2505755" y="58737"/>
                </a:lnTo>
                <a:lnTo>
                  <a:pt x="2506663" y="62593"/>
                </a:lnTo>
                <a:lnTo>
                  <a:pt x="2507343" y="66221"/>
                </a:lnTo>
                <a:lnTo>
                  <a:pt x="2508023" y="70304"/>
                </a:lnTo>
                <a:lnTo>
                  <a:pt x="2508250" y="74159"/>
                </a:lnTo>
                <a:lnTo>
                  <a:pt x="2508250" y="78241"/>
                </a:lnTo>
                <a:lnTo>
                  <a:pt x="2508250" y="1411968"/>
                </a:lnTo>
                <a:lnTo>
                  <a:pt x="2508250" y="1416050"/>
                </a:lnTo>
                <a:lnTo>
                  <a:pt x="2508023" y="1420132"/>
                </a:lnTo>
                <a:lnTo>
                  <a:pt x="2507343" y="1423988"/>
                </a:lnTo>
                <a:lnTo>
                  <a:pt x="2506663" y="1427616"/>
                </a:lnTo>
                <a:lnTo>
                  <a:pt x="2505755" y="1431472"/>
                </a:lnTo>
                <a:lnTo>
                  <a:pt x="2504395" y="1435327"/>
                </a:lnTo>
                <a:lnTo>
                  <a:pt x="2503261" y="1439182"/>
                </a:lnTo>
                <a:lnTo>
                  <a:pt x="2501673" y="1442584"/>
                </a:lnTo>
                <a:lnTo>
                  <a:pt x="2499859" y="1446213"/>
                </a:lnTo>
                <a:lnTo>
                  <a:pt x="2498272" y="1449388"/>
                </a:lnTo>
                <a:lnTo>
                  <a:pt x="2496230" y="1452790"/>
                </a:lnTo>
                <a:lnTo>
                  <a:pt x="2493963" y="1455965"/>
                </a:lnTo>
                <a:lnTo>
                  <a:pt x="2491695" y="1458913"/>
                </a:lnTo>
                <a:lnTo>
                  <a:pt x="2489200" y="1462088"/>
                </a:lnTo>
                <a:lnTo>
                  <a:pt x="2486479" y="1464809"/>
                </a:lnTo>
                <a:lnTo>
                  <a:pt x="2483757" y="1467531"/>
                </a:lnTo>
                <a:lnTo>
                  <a:pt x="2480809" y="1470025"/>
                </a:lnTo>
                <a:lnTo>
                  <a:pt x="2477861" y="1472747"/>
                </a:lnTo>
                <a:lnTo>
                  <a:pt x="2474459" y="1475015"/>
                </a:lnTo>
                <a:lnTo>
                  <a:pt x="2471284" y="1477282"/>
                </a:lnTo>
                <a:lnTo>
                  <a:pt x="2467882" y="1479097"/>
                </a:lnTo>
                <a:lnTo>
                  <a:pt x="2464480" y="1480911"/>
                </a:lnTo>
                <a:lnTo>
                  <a:pt x="2460625" y="1482725"/>
                </a:lnTo>
                <a:lnTo>
                  <a:pt x="2456770" y="1484313"/>
                </a:lnTo>
                <a:lnTo>
                  <a:pt x="2452914" y="1485674"/>
                </a:lnTo>
                <a:lnTo>
                  <a:pt x="2449286" y="1487034"/>
                </a:lnTo>
                <a:lnTo>
                  <a:pt x="2445204" y="1487941"/>
                </a:lnTo>
                <a:lnTo>
                  <a:pt x="2441122" y="1488849"/>
                </a:lnTo>
                <a:lnTo>
                  <a:pt x="2436813" y="1489529"/>
                </a:lnTo>
                <a:lnTo>
                  <a:pt x="2432730" y="1489982"/>
                </a:lnTo>
                <a:lnTo>
                  <a:pt x="2428648" y="1490209"/>
                </a:lnTo>
                <a:lnTo>
                  <a:pt x="2424113" y="1490663"/>
                </a:lnTo>
                <a:lnTo>
                  <a:pt x="86178" y="1490663"/>
                </a:lnTo>
                <a:lnTo>
                  <a:pt x="81642" y="1490209"/>
                </a:lnTo>
                <a:lnTo>
                  <a:pt x="77333" y="1489982"/>
                </a:lnTo>
                <a:lnTo>
                  <a:pt x="73251" y="1489529"/>
                </a:lnTo>
                <a:lnTo>
                  <a:pt x="68942" y="1488849"/>
                </a:lnTo>
                <a:lnTo>
                  <a:pt x="64860" y="1487941"/>
                </a:lnTo>
                <a:lnTo>
                  <a:pt x="60778" y="1487034"/>
                </a:lnTo>
                <a:lnTo>
                  <a:pt x="57150" y="1485674"/>
                </a:lnTo>
                <a:lnTo>
                  <a:pt x="53294" y="1484313"/>
                </a:lnTo>
                <a:lnTo>
                  <a:pt x="49439" y="1482725"/>
                </a:lnTo>
                <a:lnTo>
                  <a:pt x="45810" y="1480911"/>
                </a:lnTo>
                <a:lnTo>
                  <a:pt x="42182" y="1479097"/>
                </a:lnTo>
                <a:lnTo>
                  <a:pt x="39007" y="1477282"/>
                </a:lnTo>
                <a:lnTo>
                  <a:pt x="35605" y="1475015"/>
                </a:lnTo>
                <a:lnTo>
                  <a:pt x="32430" y="1472747"/>
                </a:lnTo>
                <a:lnTo>
                  <a:pt x="29255" y="1470025"/>
                </a:lnTo>
                <a:lnTo>
                  <a:pt x="26307" y="1467531"/>
                </a:lnTo>
                <a:lnTo>
                  <a:pt x="23585" y="1464809"/>
                </a:lnTo>
                <a:lnTo>
                  <a:pt x="21091" y="1462088"/>
                </a:lnTo>
                <a:lnTo>
                  <a:pt x="18596" y="1458913"/>
                </a:lnTo>
                <a:lnTo>
                  <a:pt x="16101" y="1455965"/>
                </a:lnTo>
                <a:lnTo>
                  <a:pt x="13833" y="1452790"/>
                </a:lnTo>
                <a:lnTo>
                  <a:pt x="12019" y="1449388"/>
                </a:lnTo>
                <a:lnTo>
                  <a:pt x="9978" y="1446213"/>
                </a:lnTo>
                <a:lnTo>
                  <a:pt x="8391" y="1442584"/>
                </a:lnTo>
                <a:lnTo>
                  <a:pt x="6803" y="1439182"/>
                </a:lnTo>
                <a:lnTo>
                  <a:pt x="5442" y="1435327"/>
                </a:lnTo>
                <a:lnTo>
                  <a:pt x="4308" y="1431472"/>
                </a:lnTo>
                <a:lnTo>
                  <a:pt x="3401" y="1427616"/>
                </a:lnTo>
                <a:lnTo>
                  <a:pt x="2494" y="1423988"/>
                </a:lnTo>
                <a:lnTo>
                  <a:pt x="2041" y="1420132"/>
                </a:lnTo>
                <a:lnTo>
                  <a:pt x="1814" y="1416050"/>
                </a:lnTo>
                <a:lnTo>
                  <a:pt x="1587" y="1411968"/>
                </a:lnTo>
                <a:lnTo>
                  <a:pt x="1587" y="78241"/>
                </a:lnTo>
                <a:lnTo>
                  <a:pt x="1814" y="74159"/>
                </a:lnTo>
                <a:lnTo>
                  <a:pt x="2041" y="70304"/>
                </a:lnTo>
                <a:lnTo>
                  <a:pt x="2494" y="66221"/>
                </a:lnTo>
                <a:lnTo>
                  <a:pt x="3401" y="62593"/>
                </a:lnTo>
                <a:lnTo>
                  <a:pt x="4308" y="58737"/>
                </a:lnTo>
                <a:lnTo>
                  <a:pt x="5442" y="54882"/>
                </a:lnTo>
                <a:lnTo>
                  <a:pt x="6803" y="51480"/>
                </a:lnTo>
                <a:lnTo>
                  <a:pt x="8391" y="47625"/>
                </a:lnTo>
                <a:lnTo>
                  <a:pt x="9978" y="44450"/>
                </a:lnTo>
                <a:lnTo>
                  <a:pt x="12019" y="40821"/>
                </a:lnTo>
                <a:lnTo>
                  <a:pt x="13833" y="37646"/>
                </a:lnTo>
                <a:lnTo>
                  <a:pt x="16101" y="34471"/>
                </a:lnTo>
                <a:lnTo>
                  <a:pt x="18596" y="31296"/>
                </a:lnTo>
                <a:lnTo>
                  <a:pt x="21091" y="28348"/>
                </a:lnTo>
                <a:lnTo>
                  <a:pt x="23585" y="25400"/>
                </a:lnTo>
                <a:lnTo>
                  <a:pt x="26307" y="22905"/>
                </a:lnTo>
                <a:lnTo>
                  <a:pt x="29255" y="20184"/>
                </a:lnTo>
                <a:lnTo>
                  <a:pt x="32430" y="17916"/>
                </a:lnTo>
                <a:lnTo>
                  <a:pt x="35605" y="15421"/>
                </a:lnTo>
                <a:lnTo>
                  <a:pt x="39007" y="13380"/>
                </a:lnTo>
                <a:lnTo>
                  <a:pt x="42182" y="11339"/>
                </a:lnTo>
                <a:lnTo>
                  <a:pt x="45810" y="9298"/>
                </a:lnTo>
                <a:lnTo>
                  <a:pt x="49439" y="7484"/>
                </a:lnTo>
                <a:lnTo>
                  <a:pt x="53294" y="5896"/>
                </a:lnTo>
                <a:lnTo>
                  <a:pt x="57150" y="4536"/>
                </a:lnTo>
                <a:lnTo>
                  <a:pt x="60778" y="3402"/>
                </a:lnTo>
                <a:lnTo>
                  <a:pt x="64860" y="2268"/>
                </a:lnTo>
                <a:lnTo>
                  <a:pt x="68942" y="1361"/>
                </a:lnTo>
                <a:lnTo>
                  <a:pt x="73251" y="680"/>
                </a:lnTo>
                <a:lnTo>
                  <a:pt x="77333" y="227"/>
                </a:lnTo>
                <a:lnTo>
                  <a:pt x="81642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/>
          <a:p>
            <a:pPr algn="ctr">
              <a:defRPr/>
            </a:pPr>
            <a:endParaRPr lang="zh-CN" altLang="en-US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p:cxnSp>
        <p:nvCxnSpPr>
          <p:cNvPr id="13" name="直接连接符 12"/>
          <p:cNvCxnSpPr/>
          <p:nvPr/>
        </p:nvCxnSpPr>
        <p:spPr>
          <a:xfrm>
            <a:off x="5643426" y="2143353"/>
            <a:ext cx="36195" cy="3771900"/>
          </a:xfrm>
          <a:prstGeom prst="line">
            <a:avLst/>
          </a:prstGeom>
          <a:ln w="19050" cmpd="sng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>
          <a:xfrm>
            <a:off x="7989751" y="1999208"/>
            <a:ext cx="43180" cy="3641725"/>
          </a:xfrm>
          <a:prstGeom prst="line">
            <a:avLst/>
          </a:prstGeom>
          <a:ln w="19050" cmpd="sng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框 14"/>
          <p:cNvSpPr txBox="1"/>
          <p:nvPr/>
        </p:nvSpPr>
        <p:spPr>
          <a:xfrm>
            <a:off x="4168033" y="3433718"/>
            <a:ext cx="895985" cy="2546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000" b="1" dirty="0" smtClean="0">
                <a:solidFill>
                  <a:schemeClr val="accent1">
                    <a:lumMod val="20000"/>
                    <a:lumOff val="8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网管服务器</a:t>
            </a:r>
            <a:r>
              <a:rPr lang="en-US" altLang="zh-CN" sz="1000" b="1" dirty="0" smtClean="0">
                <a:solidFill>
                  <a:schemeClr val="accent1">
                    <a:lumMod val="20000"/>
                    <a:lumOff val="8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6155588" y="2842047"/>
            <a:ext cx="95410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000" b="1" dirty="0" smtClean="0">
                <a:solidFill>
                  <a:schemeClr val="accent1">
                    <a:lumMod val="20000"/>
                    <a:lumOff val="8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数据采集系统</a:t>
            </a:r>
            <a:endParaRPr lang="zh-CN" altLang="en-US" sz="1000" b="1" dirty="0">
              <a:solidFill>
                <a:schemeClr val="accent1">
                  <a:lumMod val="20000"/>
                  <a:lumOff val="8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KSO_Shape"/>
          <p:cNvSpPr/>
          <p:nvPr/>
        </p:nvSpPr>
        <p:spPr bwMode="auto">
          <a:xfrm>
            <a:off x="8549754" y="4372805"/>
            <a:ext cx="1432846" cy="1203635"/>
          </a:xfrm>
          <a:custGeom>
            <a:avLst/>
            <a:gdLst>
              <a:gd name="T0" fmla="*/ 2147483646 w 6057"/>
              <a:gd name="T1" fmla="*/ 2147483646 h 5454"/>
              <a:gd name="T2" fmla="*/ 0 w 6057"/>
              <a:gd name="T3" fmla="*/ 2147483646 h 5454"/>
              <a:gd name="T4" fmla="*/ 0 w 6057"/>
              <a:gd name="T5" fmla="*/ 2147483646 h 5454"/>
              <a:gd name="T6" fmla="*/ 2147483646 w 6057"/>
              <a:gd name="T7" fmla="*/ 2147483646 h 5454"/>
              <a:gd name="T8" fmla="*/ 2147483646 w 6057"/>
              <a:gd name="T9" fmla="*/ 2147483646 h 5454"/>
              <a:gd name="T10" fmla="*/ 2147483646 w 6057"/>
              <a:gd name="T11" fmla="*/ 2147483646 h 5454"/>
              <a:gd name="T12" fmla="*/ 2147483646 w 6057"/>
              <a:gd name="T13" fmla="*/ 2147483646 h 5454"/>
              <a:gd name="T14" fmla="*/ 2147483646 w 6057"/>
              <a:gd name="T15" fmla="*/ 2147483646 h 5454"/>
              <a:gd name="T16" fmla="*/ 2147483646 w 6057"/>
              <a:gd name="T17" fmla="*/ 2147483646 h 5454"/>
              <a:gd name="T18" fmla="*/ 2147483646 w 6057"/>
              <a:gd name="T19" fmla="*/ 2147483646 h 5454"/>
              <a:gd name="T20" fmla="*/ 2147483646 w 6057"/>
              <a:gd name="T21" fmla="*/ 2147483646 h 5454"/>
              <a:gd name="T22" fmla="*/ 2147483646 w 6057"/>
              <a:gd name="T23" fmla="*/ 2147483646 h 5454"/>
              <a:gd name="T24" fmla="*/ 2147483646 w 6057"/>
              <a:gd name="T25" fmla="*/ 2147483646 h 5454"/>
              <a:gd name="T26" fmla="*/ 2147483646 w 6057"/>
              <a:gd name="T27" fmla="*/ 2147483646 h 5454"/>
              <a:gd name="T28" fmla="*/ 2147483646 w 6057"/>
              <a:gd name="T29" fmla="*/ 2147483646 h 5454"/>
              <a:gd name="T30" fmla="*/ 2147483646 w 6057"/>
              <a:gd name="T31" fmla="*/ 2147483646 h 5454"/>
              <a:gd name="T32" fmla="*/ 2147483646 w 6057"/>
              <a:gd name="T33" fmla="*/ 2147483646 h 5454"/>
              <a:gd name="T34" fmla="*/ 2147483646 w 6057"/>
              <a:gd name="T35" fmla="*/ 2147483646 h 5454"/>
              <a:gd name="T36" fmla="*/ 2147483646 w 6057"/>
              <a:gd name="T37" fmla="*/ 2147483646 h 5454"/>
              <a:gd name="T38" fmla="*/ 2147483646 w 6057"/>
              <a:gd name="T39" fmla="*/ 2147483646 h 5454"/>
              <a:gd name="T40" fmla="*/ 2147483646 w 6057"/>
              <a:gd name="T41" fmla="*/ 2147483646 h 5454"/>
              <a:gd name="T42" fmla="*/ 2147483646 w 6057"/>
              <a:gd name="T43" fmla="*/ 2147483646 h 5454"/>
              <a:gd name="T44" fmla="*/ 2147483646 w 6057"/>
              <a:gd name="T45" fmla="*/ 2147483646 h 5454"/>
              <a:gd name="T46" fmla="*/ 2147483646 w 6057"/>
              <a:gd name="T47" fmla="*/ 2147483646 h 5454"/>
              <a:gd name="T48" fmla="*/ 2147483646 w 6057"/>
              <a:gd name="T49" fmla="*/ 2147483646 h 5454"/>
              <a:gd name="T50" fmla="*/ 2147483646 w 6057"/>
              <a:gd name="T51" fmla="*/ 2147483646 h 5454"/>
              <a:gd name="T52" fmla="*/ 2147483646 w 6057"/>
              <a:gd name="T53" fmla="*/ 2147483646 h 5454"/>
              <a:gd name="T54" fmla="*/ 2147483646 w 6057"/>
              <a:gd name="T55" fmla="*/ 2147483646 h 5454"/>
              <a:gd name="T56" fmla="*/ 2147483646 w 6057"/>
              <a:gd name="T57" fmla="*/ 2147483646 h 5454"/>
              <a:gd name="T58" fmla="*/ 2147483646 w 6057"/>
              <a:gd name="T59" fmla="*/ 2147483646 h 5454"/>
              <a:gd name="T60" fmla="*/ 2147483646 w 6057"/>
              <a:gd name="T61" fmla="*/ 2147483646 h 5454"/>
              <a:gd name="T62" fmla="*/ 2147483646 w 6057"/>
              <a:gd name="T63" fmla="*/ 2147483646 h 5454"/>
              <a:gd name="T64" fmla="*/ 2147483646 w 6057"/>
              <a:gd name="T65" fmla="*/ 2147483646 h 5454"/>
              <a:gd name="T66" fmla="*/ 2147483646 w 6057"/>
              <a:gd name="T67" fmla="*/ 2147483646 h 5454"/>
              <a:gd name="T68" fmla="*/ 2147483646 w 6057"/>
              <a:gd name="T69" fmla="*/ 2147483646 h 5454"/>
              <a:gd name="T70" fmla="*/ 2147483646 w 6057"/>
              <a:gd name="T71" fmla="*/ 2147483646 h 5454"/>
              <a:gd name="T72" fmla="*/ 2147483646 w 6057"/>
              <a:gd name="T73" fmla="*/ 2147483646 h 5454"/>
              <a:gd name="T74" fmla="*/ 2147483646 w 6057"/>
              <a:gd name="T75" fmla="*/ 2147483646 h 5454"/>
              <a:gd name="T76" fmla="*/ 2147483646 w 6057"/>
              <a:gd name="T77" fmla="*/ 0 h 5454"/>
              <a:gd name="T78" fmla="*/ 2147483646 w 6057"/>
              <a:gd name="T79" fmla="*/ 2147483646 h 5454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</a:gdLst>
            <a:ahLst/>
            <a:cxnLst>
              <a:cxn ang="T80">
                <a:pos x="T0" y="T1"/>
              </a:cxn>
              <a:cxn ang="T81">
                <a:pos x="T2" y="T3"/>
              </a:cxn>
              <a:cxn ang="T82">
                <a:pos x="T4" y="T5"/>
              </a:cxn>
              <a:cxn ang="T83">
                <a:pos x="T6" y="T7"/>
              </a:cxn>
              <a:cxn ang="T84">
                <a:pos x="T8" y="T9"/>
              </a:cxn>
              <a:cxn ang="T85">
                <a:pos x="T10" y="T11"/>
              </a:cxn>
              <a:cxn ang="T86">
                <a:pos x="T12" y="T13"/>
              </a:cxn>
              <a:cxn ang="T87">
                <a:pos x="T14" y="T15"/>
              </a:cxn>
              <a:cxn ang="T88">
                <a:pos x="T16" y="T17"/>
              </a:cxn>
              <a:cxn ang="T89">
                <a:pos x="T18" y="T19"/>
              </a:cxn>
              <a:cxn ang="T90">
                <a:pos x="T20" y="T21"/>
              </a:cxn>
              <a:cxn ang="T91">
                <a:pos x="T22" y="T23"/>
              </a:cxn>
              <a:cxn ang="T92">
                <a:pos x="T24" y="T25"/>
              </a:cxn>
              <a:cxn ang="T93">
                <a:pos x="T26" y="T27"/>
              </a:cxn>
              <a:cxn ang="T94">
                <a:pos x="T28" y="T29"/>
              </a:cxn>
              <a:cxn ang="T95">
                <a:pos x="T30" y="T31"/>
              </a:cxn>
              <a:cxn ang="T96">
                <a:pos x="T32" y="T33"/>
              </a:cxn>
              <a:cxn ang="T97">
                <a:pos x="T34" y="T35"/>
              </a:cxn>
              <a:cxn ang="T98">
                <a:pos x="T36" y="T37"/>
              </a:cxn>
              <a:cxn ang="T99">
                <a:pos x="T38" y="T39"/>
              </a:cxn>
              <a:cxn ang="T100">
                <a:pos x="T40" y="T41"/>
              </a:cxn>
              <a:cxn ang="T101">
                <a:pos x="T42" y="T43"/>
              </a:cxn>
              <a:cxn ang="T102">
                <a:pos x="T44" y="T45"/>
              </a:cxn>
              <a:cxn ang="T103">
                <a:pos x="T46" y="T47"/>
              </a:cxn>
              <a:cxn ang="T104">
                <a:pos x="T48" y="T49"/>
              </a:cxn>
              <a:cxn ang="T105">
                <a:pos x="T50" y="T51"/>
              </a:cxn>
              <a:cxn ang="T106">
                <a:pos x="T52" y="T53"/>
              </a:cxn>
              <a:cxn ang="T107">
                <a:pos x="T54" y="T55"/>
              </a:cxn>
              <a:cxn ang="T108">
                <a:pos x="T56" y="T57"/>
              </a:cxn>
              <a:cxn ang="T109">
                <a:pos x="T58" y="T59"/>
              </a:cxn>
              <a:cxn ang="T110">
                <a:pos x="T60" y="T61"/>
              </a:cxn>
              <a:cxn ang="T111">
                <a:pos x="T62" y="T63"/>
              </a:cxn>
              <a:cxn ang="T112">
                <a:pos x="T64" y="T65"/>
              </a:cxn>
              <a:cxn ang="T113">
                <a:pos x="T66" y="T67"/>
              </a:cxn>
              <a:cxn ang="T114">
                <a:pos x="T68" y="T69"/>
              </a:cxn>
              <a:cxn ang="T115">
                <a:pos x="T70" y="T71"/>
              </a:cxn>
              <a:cxn ang="T116">
                <a:pos x="T72" y="T73"/>
              </a:cxn>
              <a:cxn ang="T117">
                <a:pos x="T74" y="T75"/>
              </a:cxn>
              <a:cxn ang="T118">
                <a:pos x="T76" y="T77"/>
              </a:cxn>
              <a:cxn ang="T119">
                <a:pos x="T78" y="T79"/>
              </a:cxn>
            </a:cxnLst>
            <a:rect l="0" t="0" r="r" b="b"/>
            <a:pathLst>
              <a:path w="6057" h="5454">
                <a:moveTo>
                  <a:pt x="0" y="959"/>
                </a:moveTo>
                <a:lnTo>
                  <a:pt x="1930" y="1981"/>
                </a:lnTo>
                <a:lnTo>
                  <a:pt x="1930" y="5454"/>
                </a:lnTo>
                <a:lnTo>
                  <a:pt x="0" y="4432"/>
                </a:lnTo>
                <a:lnTo>
                  <a:pt x="0" y="959"/>
                </a:lnTo>
                <a:close/>
                <a:moveTo>
                  <a:pt x="3263" y="849"/>
                </a:moveTo>
                <a:lnTo>
                  <a:pt x="3260" y="1196"/>
                </a:lnTo>
                <a:lnTo>
                  <a:pt x="3082" y="1115"/>
                </a:lnTo>
                <a:lnTo>
                  <a:pt x="3082" y="871"/>
                </a:lnTo>
                <a:lnTo>
                  <a:pt x="2883" y="783"/>
                </a:lnTo>
                <a:lnTo>
                  <a:pt x="2883" y="1024"/>
                </a:lnTo>
                <a:lnTo>
                  <a:pt x="1772" y="520"/>
                </a:lnTo>
                <a:lnTo>
                  <a:pt x="269" y="883"/>
                </a:lnTo>
                <a:lnTo>
                  <a:pt x="2160" y="1837"/>
                </a:lnTo>
                <a:lnTo>
                  <a:pt x="2149" y="5385"/>
                </a:lnTo>
                <a:lnTo>
                  <a:pt x="3705" y="4796"/>
                </a:lnTo>
                <a:lnTo>
                  <a:pt x="3705" y="4070"/>
                </a:lnTo>
                <a:lnTo>
                  <a:pt x="4114" y="3933"/>
                </a:lnTo>
                <a:lnTo>
                  <a:pt x="4114" y="4296"/>
                </a:lnTo>
                <a:lnTo>
                  <a:pt x="4599" y="4524"/>
                </a:lnTo>
                <a:lnTo>
                  <a:pt x="5626" y="4144"/>
                </a:lnTo>
                <a:lnTo>
                  <a:pt x="5627" y="4077"/>
                </a:lnTo>
                <a:lnTo>
                  <a:pt x="5122" y="3921"/>
                </a:lnTo>
                <a:lnTo>
                  <a:pt x="5122" y="3593"/>
                </a:lnTo>
                <a:lnTo>
                  <a:pt x="6057" y="3278"/>
                </a:lnTo>
                <a:lnTo>
                  <a:pt x="6057" y="95"/>
                </a:lnTo>
                <a:lnTo>
                  <a:pt x="3263" y="849"/>
                </a:lnTo>
                <a:close/>
                <a:moveTo>
                  <a:pt x="3705" y="3759"/>
                </a:moveTo>
                <a:lnTo>
                  <a:pt x="3705" y="2603"/>
                </a:lnTo>
                <a:lnTo>
                  <a:pt x="2433" y="2997"/>
                </a:lnTo>
                <a:lnTo>
                  <a:pt x="2433" y="2598"/>
                </a:lnTo>
                <a:lnTo>
                  <a:pt x="3705" y="2204"/>
                </a:lnTo>
                <a:lnTo>
                  <a:pt x="3705" y="1972"/>
                </a:lnTo>
                <a:lnTo>
                  <a:pt x="2433" y="2365"/>
                </a:lnTo>
                <a:lnTo>
                  <a:pt x="2433" y="1966"/>
                </a:lnTo>
                <a:lnTo>
                  <a:pt x="3705" y="1574"/>
                </a:lnTo>
                <a:lnTo>
                  <a:pt x="3705" y="1397"/>
                </a:lnTo>
                <a:lnTo>
                  <a:pt x="3614" y="1356"/>
                </a:lnTo>
                <a:lnTo>
                  <a:pt x="3617" y="1043"/>
                </a:lnTo>
                <a:lnTo>
                  <a:pt x="5797" y="461"/>
                </a:lnTo>
                <a:lnTo>
                  <a:pt x="5797" y="3054"/>
                </a:lnTo>
                <a:lnTo>
                  <a:pt x="3705" y="3759"/>
                </a:lnTo>
                <a:close/>
                <a:moveTo>
                  <a:pt x="215" y="1434"/>
                </a:moveTo>
                <a:lnTo>
                  <a:pt x="215" y="1579"/>
                </a:lnTo>
                <a:lnTo>
                  <a:pt x="862" y="1925"/>
                </a:lnTo>
                <a:lnTo>
                  <a:pt x="862" y="1780"/>
                </a:lnTo>
                <a:lnTo>
                  <a:pt x="215" y="1434"/>
                </a:lnTo>
                <a:close/>
                <a:moveTo>
                  <a:pt x="215" y="1909"/>
                </a:moveTo>
                <a:lnTo>
                  <a:pt x="215" y="2053"/>
                </a:lnTo>
                <a:lnTo>
                  <a:pt x="862" y="2399"/>
                </a:lnTo>
                <a:lnTo>
                  <a:pt x="862" y="2255"/>
                </a:lnTo>
                <a:lnTo>
                  <a:pt x="215" y="1909"/>
                </a:lnTo>
                <a:close/>
                <a:moveTo>
                  <a:pt x="215" y="1670"/>
                </a:moveTo>
                <a:lnTo>
                  <a:pt x="215" y="1814"/>
                </a:lnTo>
                <a:lnTo>
                  <a:pt x="862" y="2160"/>
                </a:lnTo>
                <a:lnTo>
                  <a:pt x="862" y="2016"/>
                </a:lnTo>
                <a:lnTo>
                  <a:pt x="215" y="1670"/>
                </a:lnTo>
                <a:close/>
                <a:moveTo>
                  <a:pt x="2458" y="3255"/>
                </a:moveTo>
                <a:lnTo>
                  <a:pt x="2820" y="3153"/>
                </a:lnTo>
                <a:lnTo>
                  <a:pt x="2820" y="3376"/>
                </a:lnTo>
                <a:lnTo>
                  <a:pt x="2458" y="3478"/>
                </a:lnTo>
                <a:lnTo>
                  <a:pt x="2458" y="3255"/>
                </a:lnTo>
                <a:close/>
                <a:moveTo>
                  <a:pt x="2458" y="3645"/>
                </a:moveTo>
                <a:lnTo>
                  <a:pt x="2820" y="3543"/>
                </a:lnTo>
                <a:lnTo>
                  <a:pt x="2820" y="3764"/>
                </a:lnTo>
                <a:lnTo>
                  <a:pt x="2458" y="3867"/>
                </a:lnTo>
                <a:lnTo>
                  <a:pt x="2458" y="3645"/>
                </a:lnTo>
                <a:close/>
                <a:moveTo>
                  <a:pt x="3097" y="793"/>
                </a:moveTo>
                <a:lnTo>
                  <a:pt x="2938" y="714"/>
                </a:lnTo>
                <a:lnTo>
                  <a:pt x="5774" y="0"/>
                </a:lnTo>
                <a:lnTo>
                  <a:pt x="5915" y="61"/>
                </a:lnTo>
                <a:lnTo>
                  <a:pt x="3097" y="79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/>
          <a:p>
            <a:pPr algn="ctr">
              <a:defRPr/>
            </a:pPr>
            <a:endParaRPr lang="zh-CN" altLang="en-US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8549558" y="4037116"/>
            <a:ext cx="82586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000" b="1" dirty="0" smtClean="0">
                <a:solidFill>
                  <a:schemeClr val="accent1">
                    <a:lumMod val="20000"/>
                    <a:lumOff val="8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应用服务器</a:t>
            </a:r>
            <a:endParaRPr lang="en-US" altLang="zh-CN" sz="1000" b="1" dirty="0" smtClean="0">
              <a:solidFill>
                <a:schemeClr val="accent1">
                  <a:lumMod val="20000"/>
                  <a:lumOff val="8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KSO_Shape"/>
          <p:cNvSpPr/>
          <p:nvPr/>
        </p:nvSpPr>
        <p:spPr bwMode="auto">
          <a:xfrm>
            <a:off x="3992274" y="3688142"/>
            <a:ext cx="1246870" cy="846020"/>
          </a:xfrm>
          <a:custGeom>
            <a:avLst/>
            <a:gdLst>
              <a:gd name="T0" fmla="*/ 1091648 w 2509838"/>
              <a:gd name="T1" fmla="*/ 1608111 h 1787526"/>
              <a:gd name="T2" fmla="*/ 1364673 w 2509838"/>
              <a:gd name="T3" fmla="*/ 1644625 h 1787526"/>
              <a:gd name="T4" fmla="*/ 1419551 w 2509838"/>
              <a:gd name="T5" fmla="*/ 1603152 h 1787526"/>
              <a:gd name="T6" fmla="*/ 2438407 w 2509838"/>
              <a:gd name="T7" fmla="*/ 1567539 h 1787526"/>
              <a:gd name="T8" fmla="*/ 2487842 w 2509838"/>
              <a:gd name="T9" fmla="*/ 1592108 h 1787526"/>
              <a:gd name="T10" fmla="*/ 2509611 w 2509838"/>
              <a:gd name="T11" fmla="*/ 1640568 h 1787526"/>
              <a:gd name="T12" fmla="*/ 2495552 w 2509838"/>
              <a:gd name="T13" fmla="*/ 1753040 h 1787526"/>
              <a:gd name="T14" fmla="*/ 2450426 w 2509838"/>
              <a:gd name="T15" fmla="*/ 1783920 h 1787526"/>
              <a:gd name="T16" fmla="*/ 55558 w 2509838"/>
              <a:gd name="T17" fmla="*/ 1782793 h 1787526"/>
              <a:gd name="T18" fmla="*/ 12472 w 2509838"/>
              <a:gd name="T19" fmla="*/ 1750110 h 1787526"/>
              <a:gd name="T20" fmla="*/ 680 w 2509838"/>
              <a:gd name="T21" fmla="*/ 1636736 h 1787526"/>
              <a:gd name="T22" fmla="*/ 24717 w 2509838"/>
              <a:gd name="T23" fmla="*/ 1589628 h 1787526"/>
              <a:gd name="T24" fmla="*/ 75740 w 2509838"/>
              <a:gd name="T25" fmla="*/ 1567089 h 1787526"/>
              <a:gd name="T26" fmla="*/ 933501 w 2509838"/>
              <a:gd name="T27" fmla="*/ 749091 h 1787526"/>
              <a:gd name="T28" fmla="*/ 932155 w 2509838"/>
              <a:gd name="T29" fmla="*/ 1160902 h 1787526"/>
              <a:gd name="T30" fmla="*/ 829865 w 2509838"/>
              <a:gd name="T31" fmla="*/ 1167944 h 1787526"/>
              <a:gd name="T32" fmla="*/ 814387 w 2509838"/>
              <a:gd name="T33" fmla="*/ 760448 h 1787526"/>
              <a:gd name="T34" fmla="*/ 837043 w 2509838"/>
              <a:gd name="T35" fmla="*/ 738188 h 1787526"/>
              <a:gd name="T36" fmla="*/ 1416304 w 2509838"/>
              <a:gd name="T37" fmla="*/ 686474 h 1787526"/>
              <a:gd name="T38" fmla="*/ 1412034 w 2509838"/>
              <a:gd name="T39" fmla="*/ 1161601 h 1787526"/>
              <a:gd name="T40" fmla="*/ 1308659 w 2509838"/>
              <a:gd name="T41" fmla="*/ 1166588 h 1787526"/>
              <a:gd name="T42" fmla="*/ 1296074 w 2509838"/>
              <a:gd name="T43" fmla="*/ 694181 h 1787526"/>
              <a:gd name="T44" fmla="*/ 988416 w 2509838"/>
              <a:gd name="T45" fmla="*/ 671513 h 1787526"/>
              <a:gd name="T46" fmla="*/ 1088565 w 2509838"/>
              <a:gd name="T47" fmla="*/ 688968 h 1787526"/>
              <a:gd name="T48" fmla="*/ 1081281 w 2509838"/>
              <a:gd name="T49" fmla="*/ 1163414 h 1787526"/>
              <a:gd name="T50" fmla="*/ 976581 w 2509838"/>
              <a:gd name="T51" fmla="*/ 1165228 h 1787526"/>
              <a:gd name="T52" fmla="*/ 966338 w 2509838"/>
              <a:gd name="T53" fmla="*/ 691461 h 1787526"/>
              <a:gd name="T54" fmla="*/ 1546133 w 2509838"/>
              <a:gd name="T55" fmla="*/ 590550 h 1787526"/>
              <a:gd name="T56" fmla="*/ 1571170 w 2509838"/>
              <a:gd name="T57" fmla="*/ 617105 h 1787526"/>
              <a:gd name="T58" fmla="*/ 1558196 w 2509838"/>
              <a:gd name="T59" fmla="*/ 1165903 h 1787526"/>
              <a:gd name="T60" fmla="*/ 1453496 w 2509838"/>
              <a:gd name="T61" fmla="*/ 1160229 h 1787526"/>
              <a:gd name="T62" fmla="*/ 1449399 w 2509838"/>
              <a:gd name="T63" fmla="*/ 608026 h 1787526"/>
              <a:gd name="T64" fmla="*/ 1229322 w 2509838"/>
              <a:gd name="T65" fmla="*/ 590777 h 1787526"/>
              <a:gd name="T66" fmla="*/ 1252538 w 2509838"/>
              <a:gd name="T67" fmla="*/ 620282 h 1787526"/>
              <a:gd name="T68" fmla="*/ 1236833 w 2509838"/>
              <a:gd name="T69" fmla="*/ 1167492 h 1787526"/>
              <a:gd name="T70" fmla="*/ 1132815 w 2509838"/>
              <a:gd name="T71" fmla="*/ 1157959 h 1787526"/>
              <a:gd name="T72" fmla="*/ 1131450 w 2509838"/>
              <a:gd name="T73" fmla="*/ 605303 h 1787526"/>
              <a:gd name="T74" fmla="*/ 1713065 w 2509838"/>
              <a:gd name="T75" fmla="*/ 508680 h 1787526"/>
              <a:gd name="T76" fmla="*/ 1733550 w 2509838"/>
              <a:gd name="T77" fmla="*/ 545860 h 1787526"/>
              <a:gd name="T78" fmla="*/ 1715797 w 2509838"/>
              <a:gd name="T79" fmla="*/ 1168174 h 1787526"/>
              <a:gd name="T80" fmla="*/ 1612689 w 2509838"/>
              <a:gd name="T81" fmla="*/ 1153438 h 1787526"/>
              <a:gd name="T82" fmla="*/ 1614055 w 2509838"/>
              <a:gd name="T83" fmla="*/ 521829 h 1787526"/>
              <a:gd name="T84" fmla="*/ 1733550 w 2509838"/>
              <a:gd name="T85" fmla="*/ 464215 h 1787526"/>
              <a:gd name="T86" fmla="*/ 1501548 w 2509838"/>
              <a:gd name="T87" fmla="*/ 379141 h 1787526"/>
              <a:gd name="T88" fmla="*/ 188232 w 2509838"/>
              <a:gd name="T89" fmla="*/ 103187 h 1787526"/>
              <a:gd name="T90" fmla="*/ 158976 w 2509838"/>
              <a:gd name="T91" fmla="*/ 139700 h 1787526"/>
              <a:gd name="T92" fmla="*/ 160110 w 2509838"/>
              <a:gd name="T93" fmla="*/ 1353684 h 1787526"/>
              <a:gd name="T94" fmla="*/ 191407 w 2509838"/>
              <a:gd name="T95" fmla="*/ 1389063 h 1787526"/>
              <a:gd name="T96" fmla="*/ 2288041 w 2509838"/>
              <a:gd name="T97" fmla="*/ 1398588 h 1787526"/>
              <a:gd name="T98" fmla="*/ 2332945 w 2509838"/>
              <a:gd name="T99" fmla="*/ 1378857 h 1787526"/>
              <a:gd name="T100" fmla="*/ 2354036 w 2509838"/>
              <a:gd name="T101" fmla="*/ 1337129 h 1787526"/>
              <a:gd name="T102" fmla="*/ 2343830 w 2509838"/>
              <a:gd name="T103" fmla="*/ 124505 h 1787526"/>
              <a:gd name="T104" fmla="*/ 2305957 w 2509838"/>
              <a:gd name="T105" fmla="*/ 95704 h 1787526"/>
              <a:gd name="T106" fmla="*/ 2436813 w 2509838"/>
              <a:gd name="T107" fmla="*/ 680 h 1787526"/>
              <a:gd name="T108" fmla="*/ 2486479 w 2509838"/>
              <a:gd name="T109" fmla="*/ 25400 h 1787526"/>
              <a:gd name="T110" fmla="*/ 2508250 w 2509838"/>
              <a:gd name="T111" fmla="*/ 74159 h 1787526"/>
              <a:gd name="T112" fmla="*/ 2493963 w 2509838"/>
              <a:gd name="T113" fmla="*/ 1455965 h 1787526"/>
              <a:gd name="T114" fmla="*/ 2449286 w 2509838"/>
              <a:gd name="T115" fmla="*/ 1487034 h 1787526"/>
              <a:gd name="T116" fmla="*/ 57150 w 2509838"/>
              <a:gd name="T117" fmla="*/ 1485674 h 1787526"/>
              <a:gd name="T118" fmla="*/ 13833 w 2509838"/>
              <a:gd name="T119" fmla="*/ 1452790 h 1787526"/>
              <a:gd name="T120" fmla="*/ 2041 w 2509838"/>
              <a:gd name="T121" fmla="*/ 70304 h 1787526"/>
              <a:gd name="T122" fmla="*/ 26307 w 2509838"/>
              <a:gd name="T123" fmla="*/ 22905 h 1787526"/>
              <a:gd name="T124" fmla="*/ 77333 w 2509838"/>
              <a:gd name="T125" fmla="*/ 227 h 17875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2509838" h="1787526">
                <a:moveTo>
                  <a:pt x="80048" y="1566863"/>
                </a:moveTo>
                <a:lnTo>
                  <a:pt x="84357" y="1566863"/>
                </a:lnTo>
                <a:lnTo>
                  <a:pt x="1096637" y="1566863"/>
                </a:lnTo>
                <a:lnTo>
                  <a:pt x="1094823" y="1569568"/>
                </a:lnTo>
                <a:lnTo>
                  <a:pt x="1093235" y="1572498"/>
                </a:lnTo>
                <a:lnTo>
                  <a:pt x="1092102" y="1575879"/>
                </a:lnTo>
                <a:lnTo>
                  <a:pt x="1090968" y="1579035"/>
                </a:lnTo>
                <a:lnTo>
                  <a:pt x="1090287" y="1582415"/>
                </a:lnTo>
                <a:lnTo>
                  <a:pt x="1089607" y="1585571"/>
                </a:lnTo>
                <a:lnTo>
                  <a:pt x="1089380" y="1589177"/>
                </a:lnTo>
                <a:lnTo>
                  <a:pt x="1089154" y="1592558"/>
                </a:lnTo>
                <a:lnTo>
                  <a:pt x="1089380" y="1597968"/>
                </a:lnTo>
                <a:lnTo>
                  <a:pt x="1090287" y="1603152"/>
                </a:lnTo>
                <a:lnTo>
                  <a:pt x="1091648" y="1608111"/>
                </a:lnTo>
                <a:lnTo>
                  <a:pt x="1093689" y="1612844"/>
                </a:lnTo>
                <a:lnTo>
                  <a:pt x="1095957" y="1617352"/>
                </a:lnTo>
                <a:lnTo>
                  <a:pt x="1098678" y="1621634"/>
                </a:lnTo>
                <a:lnTo>
                  <a:pt x="1101853" y="1625692"/>
                </a:lnTo>
                <a:lnTo>
                  <a:pt x="1105481" y="1629523"/>
                </a:lnTo>
                <a:lnTo>
                  <a:pt x="1109563" y="1632679"/>
                </a:lnTo>
                <a:lnTo>
                  <a:pt x="1113871" y="1635834"/>
                </a:lnTo>
                <a:lnTo>
                  <a:pt x="1118633" y="1638314"/>
                </a:lnTo>
                <a:lnTo>
                  <a:pt x="1123395" y="1640568"/>
                </a:lnTo>
                <a:lnTo>
                  <a:pt x="1128611" y="1642371"/>
                </a:lnTo>
                <a:lnTo>
                  <a:pt x="1134053" y="1643498"/>
                </a:lnTo>
                <a:lnTo>
                  <a:pt x="1139496" y="1644174"/>
                </a:lnTo>
                <a:lnTo>
                  <a:pt x="1145391" y="1644625"/>
                </a:lnTo>
                <a:lnTo>
                  <a:pt x="1364673" y="1644625"/>
                </a:lnTo>
                <a:lnTo>
                  <a:pt x="1370343" y="1644174"/>
                </a:lnTo>
                <a:lnTo>
                  <a:pt x="1376012" y="1643498"/>
                </a:lnTo>
                <a:lnTo>
                  <a:pt x="1381227" y="1642371"/>
                </a:lnTo>
                <a:lnTo>
                  <a:pt x="1386443" y="1640568"/>
                </a:lnTo>
                <a:lnTo>
                  <a:pt x="1391432" y="1638314"/>
                </a:lnTo>
                <a:lnTo>
                  <a:pt x="1396194" y="1635834"/>
                </a:lnTo>
                <a:lnTo>
                  <a:pt x="1400502" y="1632679"/>
                </a:lnTo>
                <a:lnTo>
                  <a:pt x="1404357" y="1629523"/>
                </a:lnTo>
                <a:lnTo>
                  <a:pt x="1407986" y="1625692"/>
                </a:lnTo>
                <a:lnTo>
                  <a:pt x="1411160" y="1621634"/>
                </a:lnTo>
                <a:lnTo>
                  <a:pt x="1414108" y="1617352"/>
                </a:lnTo>
                <a:lnTo>
                  <a:pt x="1416376" y="1612844"/>
                </a:lnTo>
                <a:lnTo>
                  <a:pt x="1418417" y="1608111"/>
                </a:lnTo>
                <a:lnTo>
                  <a:pt x="1419551" y="1603152"/>
                </a:lnTo>
                <a:lnTo>
                  <a:pt x="1420684" y="1597968"/>
                </a:lnTo>
                <a:lnTo>
                  <a:pt x="1420911" y="1592558"/>
                </a:lnTo>
                <a:lnTo>
                  <a:pt x="1420684" y="1589177"/>
                </a:lnTo>
                <a:lnTo>
                  <a:pt x="1420231" y="1585571"/>
                </a:lnTo>
                <a:lnTo>
                  <a:pt x="1419551" y="1582415"/>
                </a:lnTo>
                <a:lnTo>
                  <a:pt x="1418870" y="1579035"/>
                </a:lnTo>
                <a:lnTo>
                  <a:pt x="1417737" y="1575879"/>
                </a:lnTo>
                <a:lnTo>
                  <a:pt x="1416603" y="1572498"/>
                </a:lnTo>
                <a:lnTo>
                  <a:pt x="1415015" y="1569568"/>
                </a:lnTo>
                <a:lnTo>
                  <a:pt x="1413201" y="1566863"/>
                </a:lnTo>
                <a:lnTo>
                  <a:pt x="2425481" y="1566863"/>
                </a:lnTo>
                <a:lnTo>
                  <a:pt x="2429790" y="1566863"/>
                </a:lnTo>
                <a:lnTo>
                  <a:pt x="2434099" y="1567089"/>
                </a:lnTo>
                <a:lnTo>
                  <a:pt x="2438407" y="1567539"/>
                </a:lnTo>
                <a:lnTo>
                  <a:pt x="2442489" y="1568216"/>
                </a:lnTo>
                <a:lnTo>
                  <a:pt x="2446571" y="1569117"/>
                </a:lnTo>
                <a:lnTo>
                  <a:pt x="2450426" y="1570244"/>
                </a:lnTo>
                <a:lnTo>
                  <a:pt x="2454507" y="1571596"/>
                </a:lnTo>
                <a:lnTo>
                  <a:pt x="2458362" y="1572723"/>
                </a:lnTo>
                <a:lnTo>
                  <a:pt x="2462217" y="1574301"/>
                </a:lnTo>
                <a:lnTo>
                  <a:pt x="2465619" y="1576104"/>
                </a:lnTo>
                <a:lnTo>
                  <a:pt x="2469247" y="1578133"/>
                </a:lnTo>
                <a:lnTo>
                  <a:pt x="2472422" y="1580162"/>
                </a:lnTo>
                <a:lnTo>
                  <a:pt x="2476050" y="1581965"/>
                </a:lnTo>
                <a:lnTo>
                  <a:pt x="2478998" y="1584669"/>
                </a:lnTo>
                <a:lnTo>
                  <a:pt x="2482173" y="1586923"/>
                </a:lnTo>
                <a:lnTo>
                  <a:pt x="2485121" y="1589628"/>
                </a:lnTo>
                <a:lnTo>
                  <a:pt x="2487842" y="1592108"/>
                </a:lnTo>
                <a:lnTo>
                  <a:pt x="2490336" y="1595038"/>
                </a:lnTo>
                <a:lnTo>
                  <a:pt x="2492831" y="1597968"/>
                </a:lnTo>
                <a:lnTo>
                  <a:pt x="2495552" y="1601123"/>
                </a:lnTo>
                <a:lnTo>
                  <a:pt x="2497366" y="1604054"/>
                </a:lnTo>
                <a:lnTo>
                  <a:pt x="2499407" y="1607434"/>
                </a:lnTo>
                <a:lnTo>
                  <a:pt x="2501448" y="1610815"/>
                </a:lnTo>
                <a:lnTo>
                  <a:pt x="2503035" y="1614196"/>
                </a:lnTo>
                <a:lnTo>
                  <a:pt x="2504623" y="1618028"/>
                </a:lnTo>
                <a:lnTo>
                  <a:pt x="2505983" y="1621409"/>
                </a:lnTo>
                <a:lnTo>
                  <a:pt x="2507117" y="1625241"/>
                </a:lnTo>
                <a:lnTo>
                  <a:pt x="2508024" y="1629073"/>
                </a:lnTo>
                <a:lnTo>
                  <a:pt x="2508704" y="1632679"/>
                </a:lnTo>
                <a:lnTo>
                  <a:pt x="2509385" y="1636736"/>
                </a:lnTo>
                <a:lnTo>
                  <a:pt x="2509611" y="1640568"/>
                </a:lnTo>
                <a:lnTo>
                  <a:pt x="2509838" y="1644625"/>
                </a:lnTo>
                <a:lnTo>
                  <a:pt x="2509838" y="1709764"/>
                </a:lnTo>
                <a:lnTo>
                  <a:pt x="2509611" y="1713822"/>
                </a:lnTo>
                <a:lnTo>
                  <a:pt x="2509385" y="1717428"/>
                </a:lnTo>
                <a:lnTo>
                  <a:pt x="2508704" y="1721485"/>
                </a:lnTo>
                <a:lnTo>
                  <a:pt x="2508024" y="1725317"/>
                </a:lnTo>
                <a:lnTo>
                  <a:pt x="2507117" y="1729148"/>
                </a:lnTo>
                <a:lnTo>
                  <a:pt x="2505983" y="1732755"/>
                </a:lnTo>
                <a:lnTo>
                  <a:pt x="2504623" y="1736361"/>
                </a:lnTo>
                <a:lnTo>
                  <a:pt x="2503035" y="1740193"/>
                </a:lnTo>
                <a:lnTo>
                  <a:pt x="2501448" y="1743348"/>
                </a:lnTo>
                <a:lnTo>
                  <a:pt x="2499407" y="1746955"/>
                </a:lnTo>
                <a:lnTo>
                  <a:pt x="2497366" y="1750110"/>
                </a:lnTo>
                <a:lnTo>
                  <a:pt x="2495552" y="1753040"/>
                </a:lnTo>
                <a:lnTo>
                  <a:pt x="2492831" y="1756421"/>
                </a:lnTo>
                <a:lnTo>
                  <a:pt x="2490336" y="1759126"/>
                </a:lnTo>
                <a:lnTo>
                  <a:pt x="2487842" y="1762282"/>
                </a:lnTo>
                <a:lnTo>
                  <a:pt x="2485121" y="1764761"/>
                </a:lnTo>
                <a:lnTo>
                  <a:pt x="2482173" y="1767466"/>
                </a:lnTo>
                <a:lnTo>
                  <a:pt x="2478998" y="1769720"/>
                </a:lnTo>
                <a:lnTo>
                  <a:pt x="2476050" y="1772199"/>
                </a:lnTo>
                <a:lnTo>
                  <a:pt x="2472422" y="1774228"/>
                </a:lnTo>
                <a:lnTo>
                  <a:pt x="2469247" y="1776256"/>
                </a:lnTo>
                <a:lnTo>
                  <a:pt x="2465619" y="1778285"/>
                </a:lnTo>
                <a:lnTo>
                  <a:pt x="2462217" y="1780088"/>
                </a:lnTo>
                <a:lnTo>
                  <a:pt x="2458362" y="1781440"/>
                </a:lnTo>
                <a:lnTo>
                  <a:pt x="2454507" y="1782793"/>
                </a:lnTo>
                <a:lnTo>
                  <a:pt x="2450426" y="1783920"/>
                </a:lnTo>
                <a:lnTo>
                  <a:pt x="2446571" y="1785272"/>
                </a:lnTo>
                <a:lnTo>
                  <a:pt x="2442489" y="1785948"/>
                </a:lnTo>
                <a:lnTo>
                  <a:pt x="2438407" y="1786850"/>
                </a:lnTo>
                <a:lnTo>
                  <a:pt x="2434099" y="1787301"/>
                </a:lnTo>
                <a:lnTo>
                  <a:pt x="2429790" y="1787526"/>
                </a:lnTo>
                <a:lnTo>
                  <a:pt x="2425481" y="1787526"/>
                </a:lnTo>
                <a:lnTo>
                  <a:pt x="84357" y="1787526"/>
                </a:lnTo>
                <a:lnTo>
                  <a:pt x="80048" y="1787526"/>
                </a:lnTo>
                <a:lnTo>
                  <a:pt x="75740" y="1787301"/>
                </a:lnTo>
                <a:lnTo>
                  <a:pt x="71431" y="1786850"/>
                </a:lnTo>
                <a:lnTo>
                  <a:pt x="67349" y="1785948"/>
                </a:lnTo>
                <a:lnTo>
                  <a:pt x="63494" y="1785272"/>
                </a:lnTo>
                <a:lnTo>
                  <a:pt x="59413" y="1783920"/>
                </a:lnTo>
                <a:lnTo>
                  <a:pt x="55558" y="1782793"/>
                </a:lnTo>
                <a:lnTo>
                  <a:pt x="51476" y="1781440"/>
                </a:lnTo>
                <a:lnTo>
                  <a:pt x="48074" y="1780088"/>
                </a:lnTo>
                <a:lnTo>
                  <a:pt x="44219" y="1778285"/>
                </a:lnTo>
                <a:lnTo>
                  <a:pt x="40591" y="1776256"/>
                </a:lnTo>
                <a:lnTo>
                  <a:pt x="37416" y="1774228"/>
                </a:lnTo>
                <a:lnTo>
                  <a:pt x="33788" y="1772199"/>
                </a:lnTo>
                <a:lnTo>
                  <a:pt x="30840" y="1769720"/>
                </a:lnTo>
                <a:lnTo>
                  <a:pt x="27892" y="1767466"/>
                </a:lnTo>
                <a:lnTo>
                  <a:pt x="24717" y="1764761"/>
                </a:lnTo>
                <a:lnTo>
                  <a:pt x="21996" y="1762282"/>
                </a:lnTo>
                <a:lnTo>
                  <a:pt x="19502" y="1759126"/>
                </a:lnTo>
                <a:lnTo>
                  <a:pt x="17007" y="1756421"/>
                </a:lnTo>
                <a:lnTo>
                  <a:pt x="14513" y="1753040"/>
                </a:lnTo>
                <a:lnTo>
                  <a:pt x="12472" y="1750110"/>
                </a:lnTo>
                <a:lnTo>
                  <a:pt x="10431" y="1746955"/>
                </a:lnTo>
                <a:lnTo>
                  <a:pt x="8390" y="1743348"/>
                </a:lnTo>
                <a:lnTo>
                  <a:pt x="6803" y="1740193"/>
                </a:lnTo>
                <a:lnTo>
                  <a:pt x="5442" y="1736361"/>
                </a:lnTo>
                <a:lnTo>
                  <a:pt x="3855" y="1732755"/>
                </a:lnTo>
                <a:lnTo>
                  <a:pt x="2948" y="1729148"/>
                </a:lnTo>
                <a:lnTo>
                  <a:pt x="1814" y="1725317"/>
                </a:lnTo>
                <a:lnTo>
                  <a:pt x="1134" y="1721485"/>
                </a:lnTo>
                <a:lnTo>
                  <a:pt x="680" y="1717428"/>
                </a:lnTo>
                <a:lnTo>
                  <a:pt x="227" y="1713822"/>
                </a:lnTo>
                <a:lnTo>
                  <a:pt x="0" y="1709764"/>
                </a:lnTo>
                <a:lnTo>
                  <a:pt x="0" y="1644625"/>
                </a:lnTo>
                <a:lnTo>
                  <a:pt x="227" y="1640568"/>
                </a:lnTo>
                <a:lnTo>
                  <a:pt x="680" y="1636736"/>
                </a:lnTo>
                <a:lnTo>
                  <a:pt x="1134" y="1632679"/>
                </a:lnTo>
                <a:lnTo>
                  <a:pt x="1814" y="1629073"/>
                </a:lnTo>
                <a:lnTo>
                  <a:pt x="2948" y="1625241"/>
                </a:lnTo>
                <a:lnTo>
                  <a:pt x="3855" y="1621409"/>
                </a:lnTo>
                <a:lnTo>
                  <a:pt x="5442" y="1618028"/>
                </a:lnTo>
                <a:lnTo>
                  <a:pt x="6803" y="1614196"/>
                </a:lnTo>
                <a:lnTo>
                  <a:pt x="8390" y="1610815"/>
                </a:lnTo>
                <a:lnTo>
                  <a:pt x="10431" y="1607434"/>
                </a:lnTo>
                <a:lnTo>
                  <a:pt x="12472" y="1604054"/>
                </a:lnTo>
                <a:lnTo>
                  <a:pt x="14513" y="1601123"/>
                </a:lnTo>
                <a:lnTo>
                  <a:pt x="17007" y="1597968"/>
                </a:lnTo>
                <a:lnTo>
                  <a:pt x="19502" y="1595038"/>
                </a:lnTo>
                <a:lnTo>
                  <a:pt x="21996" y="1592108"/>
                </a:lnTo>
                <a:lnTo>
                  <a:pt x="24717" y="1589628"/>
                </a:lnTo>
                <a:lnTo>
                  <a:pt x="27892" y="1586923"/>
                </a:lnTo>
                <a:lnTo>
                  <a:pt x="30840" y="1584669"/>
                </a:lnTo>
                <a:lnTo>
                  <a:pt x="33788" y="1581965"/>
                </a:lnTo>
                <a:lnTo>
                  <a:pt x="37416" y="1580162"/>
                </a:lnTo>
                <a:lnTo>
                  <a:pt x="40591" y="1578133"/>
                </a:lnTo>
                <a:lnTo>
                  <a:pt x="44219" y="1576104"/>
                </a:lnTo>
                <a:lnTo>
                  <a:pt x="48074" y="1574301"/>
                </a:lnTo>
                <a:lnTo>
                  <a:pt x="51476" y="1572723"/>
                </a:lnTo>
                <a:lnTo>
                  <a:pt x="55558" y="1571596"/>
                </a:lnTo>
                <a:lnTo>
                  <a:pt x="59413" y="1570244"/>
                </a:lnTo>
                <a:lnTo>
                  <a:pt x="63494" y="1569117"/>
                </a:lnTo>
                <a:lnTo>
                  <a:pt x="67349" y="1568216"/>
                </a:lnTo>
                <a:lnTo>
                  <a:pt x="71431" y="1567539"/>
                </a:lnTo>
                <a:lnTo>
                  <a:pt x="75740" y="1567089"/>
                </a:lnTo>
                <a:lnTo>
                  <a:pt x="80048" y="1566863"/>
                </a:lnTo>
                <a:close/>
                <a:moveTo>
                  <a:pt x="837043" y="738188"/>
                </a:moveTo>
                <a:lnTo>
                  <a:pt x="839735" y="738188"/>
                </a:lnTo>
                <a:lnTo>
                  <a:pt x="912639" y="738188"/>
                </a:lnTo>
                <a:lnTo>
                  <a:pt x="915107" y="738188"/>
                </a:lnTo>
                <a:lnTo>
                  <a:pt x="917575" y="738870"/>
                </a:lnTo>
                <a:lnTo>
                  <a:pt x="920042" y="739324"/>
                </a:lnTo>
                <a:lnTo>
                  <a:pt x="922285" y="740232"/>
                </a:lnTo>
                <a:lnTo>
                  <a:pt x="924529" y="741368"/>
                </a:lnTo>
                <a:lnTo>
                  <a:pt x="926772" y="742504"/>
                </a:lnTo>
                <a:lnTo>
                  <a:pt x="928791" y="743867"/>
                </a:lnTo>
                <a:lnTo>
                  <a:pt x="930585" y="745684"/>
                </a:lnTo>
                <a:lnTo>
                  <a:pt x="932155" y="747047"/>
                </a:lnTo>
                <a:lnTo>
                  <a:pt x="933501" y="749091"/>
                </a:lnTo>
                <a:lnTo>
                  <a:pt x="934847" y="751135"/>
                </a:lnTo>
                <a:lnTo>
                  <a:pt x="936193" y="753407"/>
                </a:lnTo>
                <a:lnTo>
                  <a:pt x="936866" y="755678"/>
                </a:lnTo>
                <a:lnTo>
                  <a:pt x="937315" y="757950"/>
                </a:lnTo>
                <a:lnTo>
                  <a:pt x="937763" y="760448"/>
                </a:lnTo>
                <a:lnTo>
                  <a:pt x="938212" y="762947"/>
                </a:lnTo>
                <a:lnTo>
                  <a:pt x="938212" y="1145229"/>
                </a:lnTo>
                <a:lnTo>
                  <a:pt x="937763" y="1147728"/>
                </a:lnTo>
                <a:lnTo>
                  <a:pt x="937315" y="1150227"/>
                </a:lnTo>
                <a:lnTo>
                  <a:pt x="936866" y="1152498"/>
                </a:lnTo>
                <a:lnTo>
                  <a:pt x="936193" y="1154770"/>
                </a:lnTo>
                <a:lnTo>
                  <a:pt x="934847" y="1157041"/>
                </a:lnTo>
                <a:lnTo>
                  <a:pt x="933501" y="1159085"/>
                </a:lnTo>
                <a:lnTo>
                  <a:pt x="932155" y="1160902"/>
                </a:lnTo>
                <a:lnTo>
                  <a:pt x="930585" y="1162720"/>
                </a:lnTo>
                <a:lnTo>
                  <a:pt x="928791" y="1164537"/>
                </a:lnTo>
                <a:lnTo>
                  <a:pt x="926772" y="1165672"/>
                </a:lnTo>
                <a:lnTo>
                  <a:pt x="924529" y="1167035"/>
                </a:lnTo>
                <a:lnTo>
                  <a:pt x="922285" y="1167944"/>
                </a:lnTo>
                <a:lnTo>
                  <a:pt x="920042" y="1168852"/>
                </a:lnTo>
                <a:lnTo>
                  <a:pt x="917575" y="1169534"/>
                </a:lnTo>
                <a:lnTo>
                  <a:pt x="915107" y="1169761"/>
                </a:lnTo>
                <a:lnTo>
                  <a:pt x="912639" y="1169988"/>
                </a:lnTo>
                <a:lnTo>
                  <a:pt x="839735" y="1169988"/>
                </a:lnTo>
                <a:lnTo>
                  <a:pt x="837043" y="1169761"/>
                </a:lnTo>
                <a:lnTo>
                  <a:pt x="834576" y="1169534"/>
                </a:lnTo>
                <a:lnTo>
                  <a:pt x="832108" y="1168852"/>
                </a:lnTo>
                <a:lnTo>
                  <a:pt x="829865" y="1167944"/>
                </a:lnTo>
                <a:lnTo>
                  <a:pt x="827622" y="1167035"/>
                </a:lnTo>
                <a:lnTo>
                  <a:pt x="825603" y="1165672"/>
                </a:lnTo>
                <a:lnTo>
                  <a:pt x="823584" y="1164537"/>
                </a:lnTo>
                <a:lnTo>
                  <a:pt x="821790" y="1162720"/>
                </a:lnTo>
                <a:lnTo>
                  <a:pt x="819995" y="1160902"/>
                </a:lnTo>
                <a:lnTo>
                  <a:pt x="818649" y="1159085"/>
                </a:lnTo>
                <a:lnTo>
                  <a:pt x="817303" y="1157041"/>
                </a:lnTo>
                <a:lnTo>
                  <a:pt x="816406" y="1154770"/>
                </a:lnTo>
                <a:lnTo>
                  <a:pt x="815284" y="1152498"/>
                </a:lnTo>
                <a:lnTo>
                  <a:pt x="814836" y="1150227"/>
                </a:lnTo>
                <a:lnTo>
                  <a:pt x="814387" y="1147728"/>
                </a:lnTo>
                <a:lnTo>
                  <a:pt x="814387" y="1145229"/>
                </a:lnTo>
                <a:lnTo>
                  <a:pt x="814387" y="762947"/>
                </a:lnTo>
                <a:lnTo>
                  <a:pt x="814387" y="760448"/>
                </a:lnTo>
                <a:lnTo>
                  <a:pt x="814836" y="757950"/>
                </a:lnTo>
                <a:lnTo>
                  <a:pt x="815284" y="755678"/>
                </a:lnTo>
                <a:lnTo>
                  <a:pt x="816406" y="753407"/>
                </a:lnTo>
                <a:lnTo>
                  <a:pt x="817303" y="751135"/>
                </a:lnTo>
                <a:lnTo>
                  <a:pt x="818649" y="749091"/>
                </a:lnTo>
                <a:lnTo>
                  <a:pt x="819995" y="747047"/>
                </a:lnTo>
                <a:lnTo>
                  <a:pt x="821790" y="745684"/>
                </a:lnTo>
                <a:lnTo>
                  <a:pt x="823584" y="743867"/>
                </a:lnTo>
                <a:lnTo>
                  <a:pt x="825603" y="742504"/>
                </a:lnTo>
                <a:lnTo>
                  <a:pt x="827622" y="741368"/>
                </a:lnTo>
                <a:lnTo>
                  <a:pt x="829865" y="740232"/>
                </a:lnTo>
                <a:lnTo>
                  <a:pt x="832108" y="739324"/>
                </a:lnTo>
                <a:lnTo>
                  <a:pt x="834576" y="738870"/>
                </a:lnTo>
                <a:lnTo>
                  <a:pt x="837043" y="738188"/>
                </a:lnTo>
                <a:close/>
                <a:moveTo>
                  <a:pt x="1318322" y="671513"/>
                </a:moveTo>
                <a:lnTo>
                  <a:pt x="1320794" y="671513"/>
                </a:lnTo>
                <a:lnTo>
                  <a:pt x="1394056" y="671513"/>
                </a:lnTo>
                <a:lnTo>
                  <a:pt x="1396528" y="671513"/>
                </a:lnTo>
                <a:lnTo>
                  <a:pt x="1399000" y="671966"/>
                </a:lnTo>
                <a:lnTo>
                  <a:pt x="1401472" y="672873"/>
                </a:lnTo>
                <a:lnTo>
                  <a:pt x="1403719" y="673553"/>
                </a:lnTo>
                <a:lnTo>
                  <a:pt x="1405966" y="674913"/>
                </a:lnTo>
                <a:lnTo>
                  <a:pt x="1408213" y="676273"/>
                </a:lnTo>
                <a:lnTo>
                  <a:pt x="1410011" y="677860"/>
                </a:lnTo>
                <a:lnTo>
                  <a:pt x="1412034" y="679900"/>
                </a:lnTo>
                <a:lnTo>
                  <a:pt x="1413607" y="681941"/>
                </a:lnTo>
                <a:lnTo>
                  <a:pt x="1414955" y="683981"/>
                </a:lnTo>
                <a:lnTo>
                  <a:pt x="1416304" y="686474"/>
                </a:lnTo>
                <a:lnTo>
                  <a:pt x="1417203" y="688968"/>
                </a:lnTo>
                <a:lnTo>
                  <a:pt x="1418326" y="691461"/>
                </a:lnTo>
                <a:lnTo>
                  <a:pt x="1418776" y="694181"/>
                </a:lnTo>
                <a:lnTo>
                  <a:pt x="1419225" y="696902"/>
                </a:lnTo>
                <a:lnTo>
                  <a:pt x="1419225" y="699848"/>
                </a:lnTo>
                <a:lnTo>
                  <a:pt x="1419225" y="1141426"/>
                </a:lnTo>
                <a:lnTo>
                  <a:pt x="1419225" y="1144373"/>
                </a:lnTo>
                <a:lnTo>
                  <a:pt x="1418776" y="1147320"/>
                </a:lnTo>
                <a:lnTo>
                  <a:pt x="1418326" y="1149813"/>
                </a:lnTo>
                <a:lnTo>
                  <a:pt x="1417203" y="1152534"/>
                </a:lnTo>
                <a:lnTo>
                  <a:pt x="1416304" y="1155254"/>
                </a:lnTo>
                <a:lnTo>
                  <a:pt x="1414955" y="1157521"/>
                </a:lnTo>
                <a:lnTo>
                  <a:pt x="1413607" y="1159787"/>
                </a:lnTo>
                <a:lnTo>
                  <a:pt x="1412034" y="1161601"/>
                </a:lnTo>
                <a:lnTo>
                  <a:pt x="1410011" y="1163414"/>
                </a:lnTo>
                <a:lnTo>
                  <a:pt x="1408213" y="1165228"/>
                </a:lnTo>
                <a:lnTo>
                  <a:pt x="1405966" y="1166588"/>
                </a:lnTo>
                <a:lnTo>
                  <a:pt x="1403719" y="1167721"/>
                </a:lnTo>
                <a:lnTo>
                  <a:pt x="1401472" y="1168855"/>
                </a:lnTo>
                <a:lnTo>
                  <a:pt x="1399000" y="1169535"/>
                </a:lnTo>
                <a:lnTo>
                  <a:pt x="1396528" y="1169761"/>
                </a:lnTo>
                <a:lnTo>
                  <a:pt x="1394056" y="1169988"/>
                </a:lnTo>
                <a:lnTo>
                  <a:pt x="1320794" y="1169988"/>
                </a:lnTo>
                <a:lnTo>
                  <a:pt x="1318322" y="1169761"/>
                </a:lnTo>
                <a:lnTo>
                  <a:pt x="1315850" y="1169535"/>
                </a:lnTo>
                <a:lnTo>
                  <a:pt x="1313154" y="1168855"/>
                </a:lnTo>
                <a:lnTo>
                  <a:pt x="1310906" y="1167721"/>
                </a:lnTo>
                <a:lnTo>
                  <a:pt x="1308659" y="1166588"/>
                </a:lnTo>
                <a:lnTo>
                  <a:pt x="1306861" y="1165228"/>
                </a:lnTo>
                <a:lnTo>
                  <a:pt x="1304839" y="1163414"/>
                </a:lnTo>
                <a:lnTo>
                  <a:pt x="1303041" y="1161601"/>
                </a:lnTo>
                <a:lnTo>
                  <a:pt x="1301243" y="1159787"/>
                </a:lnTo>
                <a:lnTo>
                  <a:pt x="1299670" y="1157521"/>
                </a:lnTo>
                <a:lnTo>
                  <a:pt x="1298546" y="1155254"/>
                </a:lnTo>
                <a:lnTo>
                  <a:pt x="1297423" y="1152534"/>
                </a:lnTo>
                <a:lnTo>
                  <a:pt x="1296524" y="1149813"/>
                </a:lnTo>
                <a:lnTo>
                  <a:pt x="1296074" y="1147320"/>
                </a:lnTo>
                <a:lnTo>
                  <a:pt x="1295400" y="1144373"/>
                </a:lnTo>
                <a:lnTo>
                  <a:pt x="1295400" y="1141426"/>
                </a:lnTo>
                <a:lnTo>
                  <a:pt x="1295400" y="699848"/>
                </a:lnTo>
                <a:lnTo>
                  <a:pt x="1295400" y="696902"/>
                </a:lnTo>
                <a:lnTo>
                  <a:pt x="1296074" y="694181"/>
                </a:lnTo>
                <a:lnTo>
                  <a:pt x="1296524" y="691461"/>
                </a:lnTo>
                <a:lnTo>
                  <a:pt x="1297423" y="688968"/>
                </a:lnTo>
                <a:lnTo>
                  <a:pt x="1298546" y="686474"/>
                </a:lnTo>
                <a:lnTo>
                  <a:pt x="1299670" y="683981"/>
                </a:lnTo>
                <a:lnTo>
                  <a:pt x="1301243" y="681941"/>
                </a:lnTo>
                <a:lnTo>
                  <a:pt x="1303041" y="679900"/>
                </a:lnTo>
                <a:lnTo>
                  <a:pt x="1304839" y="677860"/>
                </a:lnTo>
                <a:lnTo>
                  <a:pt x="1306861" y="676273"/>
                </a:lnTo>
                <a:lnTo>
                  <a:pt x="1308659" y="674913"/>
                </a:lnTo>
                <a:lnTo>
                  <a:pt x="1310906" y="673553"/>
                </a:lnTo>
                <a:lnTo>
                  <a:pt x="1313154" y="672873"/>
                </a:lnTo>
                <a:lnTo>
                  <a:pt x="1315850" y="671966"/>
                </a:lnTo>
                <a:lnTo>
                  <a:pt x="1318322" y="671513"/>
                </a:lnTo>
                <a:close/>
                <a:moveTo>
                  <a:pt x="988416" y="671513"/>
                </a:moveTo>
                <a:lnTo>
                  <a:pt x="990920" y="671513"/>
                </a:lnTo>
                <a:lnTo>
                  <a:pt x="1065121" y="671513"/>
                </a:lnTo>
                <a:lnTo>
                  <a:pt x="1067624" y="671513"/>
                </a:lnTo>
                <a:lnTo>
                  <a:pt x="1070128" y="671966"/>
                </a:lnTo>
                <a:lnTo>
                  <a:pt x="1072632" y="672873"/>
                </a:lnTo>
                <a:lnTo>
                  <a:pt x="1074908" y="673553"/>
                </a:lnTo>
                <a:lnTo>
                  <a:pt x="1077184" y="674913"/>
                </a:lnTo>
                <a:lnTo>
                  <a:pt x="1079460" y="676273"/>
                </a:lnTo>
                <a:lnTo>
                  <a:pt x="1081281" y="677860"/>
                </a:lnTo>
                <a:lnTo>
                  <a:pt x="1083330" y="679900"/>
                </a:lnTo>
                <a:lnTo>
                  <a:pt x="1084923" y="681941"/>
                </a:lnTo>
                <a:lnTo>
                  <a:pt x="1086288" y="683981"/>
                </a:lnTo>
                <a:lnTo>
                  <a:pt x="1087654" y="686474"/>
                </a:lnTo>
                <a:lnTo>
                  <a:pt x="1088565" y="688968"/>
                </a:lnTo>
                <a:lnTo>
                  <a:pt x="1089703" y="691461"/>
                </a:lnTo>
                <a:lnTo>
                  <a:pt x="1090158" y="694181"/>
                </a:lnTo>
                <a:lnTo>
                  <a:pt x="1090613" y="696902"/>
                </a:lnTo>
                <a:lnTo>
                  <a:pt x="1090613" y="699848"/>
                </a:lnTo>
                <a:lnTo>
                  <a:pt x="1090613" y="1141426"/>
                </a:lnTo>
                <a:lnTo>
                  <a:pt x="1090613" y="1144373"/>
                </a:lnTo>
                <a:lnTo>
                  <a:pt x="1090158" y="1147320"/>
                </a:lnTo>
                <a:lnTo>
                  <a:pt x="1089703" y="1149813"/>
                </a:lnTo>
                <a:lnTo>
                  <a:pt x="1088565" y="1152534"/>
                </a:lnTo>
                <a:lnTo>
                  <a:pt x="1087654" y="1155254"/>
                </a:lnTo>
                <a:lnTo>
                  <a:pt x="1086288" y="1157521"/>
                </a:lnTo>
                <a:lnTo>
                  <a:pt x="1084923" y="1159787"/>
                </a:lnTo>
                <a:lnTo>
                  <a:pt x="1083330" y="1161601"/>
                </a:lnTo>
                <a:lnTo>
                  <a:pt x="1081281" y="1163414"/>
                </a:lnTo>
                <a:lnTo>
                  <a:pt x="1079460" y="1165228"/>
                </a:lnTo>
                <a:lnTo>
                  <a:pt x="1077184" y="1166588"/>
                </a:lnTo>
                <a:lnTo>
                  <a:pt x="1074908" y="1167721"/>
                </a:lnTo>
                <a:lnTo>
                  <a:pt x="1072632" y="1168855"/>
                </a:lnTo>
                <a:lnTo>
                  <a:pt x="1070128" y="1169535"/>
                </a:lnTo>
                <a:lnTo>
                  <a:pt x="1067624" y="1169761"/>
                </a:lnTo>
                <a:lnTo>
                  <a:pt x="1065121" y="1169988"/>
                </a:lnTo>
                <a:lnTo>
                  <a:pt x="990920" y="1169988"/>
                </a:lnTo>
                <a:lnTo>
                  <a:pt x="988416" y="1169761"/>
                </a:lnTo>
                <a:lnTo>
                  <a:pt x="985685" y="1169535"/>
                </a:lnTo>
                <a:lnTo>
                  <a:pt x="983181" y="1168855"/>
                </a:lnTo>
                <a:lnTo>
                  <a:pt x="980905" y="1167721"/>
                </a:lnTo>
                <a:lnTo>
                  <a:pt x="978629" y="1166588"/>
                </a:lnTo>
                <a:lnTo>
                  <a:pt x="976581" y="1165228"/>
                </a:lnTo>
                <a:lnTo>
                  <a:pt x="974532" y="1163414"/>
                </a:lnTo>
                <a:lnTo>
                  <a:pt x="972939" y="1161601"/>
                </a:lnTo>
                <a:lnTo>
                  <a:pt x="971118" y="1159787"/>
                </a:lnTo>
                <a:lnTo>
                  <a:pt x="969525" y="1157521"/>
                </a:lnTo>
                <a:lnTo>
                  <a:pt x="968387" y="1155254"/>
                </a:lnTo>
                <a:lnTo>
                  <a:pt x="967249" y="1152534"/>
                </a:lnTo>
                <a:lnTo>
                  <a:pt x="966338" y="1149813"/>
                </a:lnTo>
                <a:lnTo>
                  <a:pt x="965883" y="1147320"/>
                </a:lnTo>
                <a:lnTo>
                  <a:pt x="965200" y="1144373"/>
                </a:lnTo>
                <a:lnTo>
                  <a:pt x="965200" y="1141426"/>
                </a:lnTo>
                <a:lnTo>
                  <a:pt x="965200" y="699848"/>
                </a:lnTo>
                <a:lnTo>
                  <a:pt x="965200" y="696902"/>
                </a:lnTo>
                <a:lnTo>
                  <a:pt x="965883" y="694181"/>
                </a:lnTo>
                <a:lnTo>
                  <a:pt x="966338" y="691461"/>
                </a:lnTo>
                <a:lnTo>
                  <a:pt x="967249" y="688968"/>
                </a:lnTo>
                <a:lnTo>
                  <a:pt x="968387" y="686474"/>
                </a:lnTo>
                <a:lnTo>
                  <a:pt x="969525" y="683981"/>
                </a:lnTo>
                <a:lnTo>
                  <a:pt x="971118" y="681941"/>
                </a:lnTo>
                <a:lnTo>
                  <a:pt x="972939" y="679900"/>
                </a:lnTo>
                <a:lnTo>
                  <a:pt x="974532" y="677860"/>
                </a:lnTo>
                <a:lnTo>
                  <a:pt x="976581" y="676273"/>
                </a:lnTo>
                <a:lnTo>
                  <a:pt x="978629" y="674913"/>
                </a:lnTo>
                <a:lnTo>
                  <a:pt x="980905" y="673553"/>
                </a:lnTo>
                <a:lnTo>
                  <a:pt x="983181" y="672873"/>
                </a:lnTo>
                <a:lnTo>
                  <a:pt x="985685" y="671966"/>
                </a:lnTo>
                <a:lnTo>
                  <a:pt x="988416" y="671513"/>
                </a:lnTo>
                <a:close/>
                <a:moveTo>
                  <a:pt x="1471932" y="590550"/>
                </a:moveTo>
                <a:lnTo>
                  <a:pt x="1546133" y="590550"/>
                </a:lnTo>
                <a:lnTo>
                  <a:pt x="1548636" y="590777"/>
                </a:lnTo>
                <a:lnTo>
                  <a:pt x="1551140" y="591231"/>
                </a:lnTo>
                <a:lnTo>
                  <a:pt x="1553644" y="592139"/>
                </a:lnTo>
                <a:lnTo>
                  <a:pt x="1555920" y="593274"/>
                </a:lnTo>
                <a:lnTo>
                  <a:pt x="1558196" y="594635"/>
                </a:lnTo>
                <a:lnTo>
                  <a:pt x="1560472" y="596451"/>
                </a:lnTo>
                <a:lnTo>
                  <a:pt x="1562293" y="598267"/>
                </a:lnTo>
                <a:lnTo>
                  <a:pt x="1564342" y="600537"/>
                </a:lnTo>
                <a:lnTo>
                  <a:pt x="1565707" y="602806"/>
                </a:lnTo>
                <a:lnTo>
                  <a:pt x="1567300" y="605303"/>
                </a:lnTo>
                <a:lnTo>
                  <a:pt x="1568666" y="608026"/>
                </a:lnTo>
                <a:lnTo>
                  <a:pt x="1569577" y="610750"/>
                </a:lnTo>
                <a:lnTo>
                  <a:pt x="1570487" y="613927"/>
                </a:lnTo>
                <a:lnTo>
                  <a:pt x="1571170" y="617105"/>
                </a:lnTo>
                <a:lnTo>
                  <a:pt x="1571625" y="620282"/>
                </a:lnTo>
                <a:lnTo>
                  <a:pt x="1571625" y="623687"/>
                </a:lnTo>
                <a:lnTo>
                  <a:pt x="1571625" y="1136851"/>
                </a:lnTo>
                <a:lnTo>
                  <a:pt x="1571625" y="1140256"/>
                </a:lnTo>
                <a:lnTo>
                  <a:pt x="1571170" y="1143433"/>
                </a:lnTo>
                <a:lnTo>
                  <a:pt x="1570487" y="1146838"/>
                </a:lnTo>
                <a:lnTo>
                  <a:pt x="1569577" y="1149788"/>
                </a:lnTo>
                <a:lnTo>
                  <a:pt x="1568666" y="1152512"/>
                </a:lnTo>
                <a:lnTo>
                  <a:pt x="1567300" y="1155462"/>
                </a:lnTo>
                <a:lnTo>
                  <a:pt x="1565707" y="1157959"/>
                </a:lnTo>
                <a:lnTo>
                  <a:pt x="1564342" y="1160229"/>
                </a:lnTo>
                <a:lnTo>
                  <a:pt x="1562293" y="1162498"/>
                </a:lnTo>
                <a:lnTo>
                  <a:pt x="1560472" y="1164314"/>
                </a:lnTo>
                <a:lnTo>
                  <a:pt x="1558196" y="1165903"/>
                </a:lnTo>
                <a:lnTo>
                  <a:pt x="1555920" y="1167492"/>
                </a:lnTo>
                <a:lnTo>
                  <a:pt x="1553644" y="1168399"/>
                </a:lnTo>
                <a:lnTo>
                  <a:pt x="1551140" y="1169307"/>
                </a:lnTo>
                <a:lnTo>
                  <a:pt x="1548636" y="1169761"/>
                </a:lnTo>
                <a:lnTo>
                  <a:pt x="1546133" y="1169988"/>
                </a:lnTo>
                <a:lnTo>
                  <a:pt x="1471932" y="1169988"/>
                </a:lnTo>
                <a:lnTo>
                  <a:pt x="1469201" y="1169761"/>
                </a:lnTo>
                <a:lnTo>
                  <a:pt x="1466697" y="1169307"/>
                </a:lnTo>
                <a:lnTo>
                  <a:pt x="1464193" y="1168399"/>
                </a:lnTo>
                <a:lnTo>
                  <a:pt x="1461917" y="1167492"/>
                </a:lnTo>
                <a:lnTo>
                  <a:pt x="1459641" y="1165903"/>
                </a:lnTo>
                <a:lnTo>
                  <a:pt x="1457593" y="1164314"/>
                </a:lnTo>
                <a:lnTo>
                  <a:pt x="1455544" y="1162498"/>
                </a:lnTo>
                <a:lnTo>
                  <a:pt x="1453496" y="1160229"/>
                </a:lnTo>
                <a:lnTo>
                  <a:pt x="1452130" y="1157959"/>
                </a:lnTo>
                <a:lnTo>
                  <a:pt x="1450537" y="1155462"/>
                </a:lnTo>
                <a:lnTo>
                  <a:pt x="1449399" y="1152512"/>
                </a:lnTo>
                <a:lnTo>
                  <a:pt x="1448261" y="1149788"/>
                </a:lnTo>
                <a:lnTo>
                  <a:pt x="1447350" y="1146838"/>
                </a:lnTo>
                <a:lnTo>
                  <a:pt x="1446667" y="1143433"/>
                </a:lnTo>
                <a:lnTo>
                  <a:pt x="1446212" y="1140256"/>
                </a:lnTo>
                <a:lnTo>
                  <a:pt x="1446212" y="1136851"/>
                </a:lnTo>
                <a:lnTo>
                  <a:pt x="1446212" y="623687"/>
                </a:lnTo>
                <a:lnTo>
                  <a:pt x="1446212" y="620282"/>
                </a:lnTo>
                <a:lnTo>
                  <a:pt x="1446667" y="617105"/>
                </a:lnTo>
                <a:lnTo>
                  <a:pt x="1447350" y="613927"/>
                </a:lnTo>
                <a:lnTo>
                  <a:pt x="1448261" y="610750"/>
                </a:lnTo>
                <a:lnTo>
                  <a:pt x="1449399" y="608026"/>
                </a:lnTo>
                <a:lnTo>
                  <a:pt x="1450537" y="605303"/>
                </a:lnTo>
                <a:lnTo>
                  <a:pt x="1452130" y="602806"/>
                </a:lnTo>
                <a:lnTo>
                  <a:pt x="1453496" y="600537"/>
                </a:lnTo>
                <a:lnTo>
                  <a:pt x="1455544" y="598267"/>
                </a:lnTo>
                <a:lnTo>
                  <a:pt x="1457593" y="596451"/>
                </a:lnTo>
                <a:lnTo>
                  <a:pt x="1459641" y="594635"/>
                </a:lnTo>
                <a:lnTo>
                  <a:pt x="1461917" y="593274"/>
                </a:lnTo>
                <a:lnTo>
                  <a:pt x="1464193" y="592139"/>
                </a:lnTo>
                <a:lnTo>
                  <a:pt x="1466697" y="591231"/>
                </a:lnTo>
                <a:lnTo>
                  <a:pt x="1469201" y="590777"/>
                </a:lnTo>
                <a:lnTo>
                  <a:pt x="1471932" y="590550"/>
                </a:lnTo>
                <a:close/>
                <a:moveTo>
                  <a:pt x="1152617" y="590550"/>
                </a:moveTo>
                <a:lnTo>
                  <a:pt x="1226818" y="590550"/>
                </a:lnTo>
                <a:lnTo>
                  <a:pt x="1229322" y="590777"/>
                </a:lnTo>
                <a:lnTo>
                  <a:pt x="1232053" y="591231"/>
                </a:lnTo>
                <a:lnTo>
                  <a:pt x="1234557" y="592139"/>
                </a:lnTo>
                <a:lnTo>
                  <a:pt x="1236833" y="593274"/>
                </a:lnTo>
                <a:lnTo>
                  <a:pt x="1239109" y="594635"/>
                </a:lnTo>
                <a:lnTo>
                  <a:pt x="1241158" y="596451"/>
                </a:lnTo>
                <a:lnTo>
                  <a:pt x="1242978" y="598267"/>
                </a:lnTo>
                <a:lnTo>
                  <a:pt x="1244799" y="600537"/>
                </a:lnTo>
                <a:lnTo>
                  <a:pt x="1246620" y="602806"/>
                </a:lnTo>
                <a:lnTo>
                  <a:pt x="1248213" y="605303"/>
                </a:lnTo>
                <a:lnTo>
                  <a:pt x="1249352" y="608026"/>
                </a:lnTo>
                <a:lnTo>
                  <a:pt x="1250490" y="610750"/>
                </a:lnTo>
                <a:lnTo>
                  <a:pt x="1251400" y="613927"/>
                </a:lnTo>
                <a:lnTo>
                  <a:pt x="1251855" y="617105"/>
                </a:lnTo>
                <a:lnTo>
                  <a:pt x="1252538" y="620282"/>
                </a:lnTo>
                <a:lnTo>
                  <a:pt x="1252538" y="623687"/>
                </a:lnTo>
                <a:lnTo>
                  <a:pt x="1252538" y="1136851"/>
                </a:lnTo>
                <a:lnTo>
                  <a:pt x="1252538" y="1140256"/>
                </a:lnTo>
                <a:lnTo>
                  <a:pt x="1251855" y="1143433"/>
                </a:lnTo>
                <a:lnTo>
                  <a:pt x="1251400" y="1146838"/>
                </a:lnTo>
                <a:lnTo>
                  <a:pt x="1250490" y="1149788"/>
                </a:lnTo>
                <a:lnTo>
                  <a:pt x="1249352" y="1152512"/>
                </a:lnTo>
                <a:lnTo>
                  <a:pt x="1248213" y="1155462"/>
                </a:lnTo>
                <a:lnTo>
                  <a:pt x="1246620" y="1157959"/>
                </a:lnTo>
                <a:lnTo>
                  <a:pt x="1244799" y="1160229"/>
                </a:lnTo>
                <a:lnTo>
                  <a:pt x="1242978" y="1162498"/>
                </a:lnTo>
                <a:lnTo>
                  <a:pt x="1241158" y="1164314"/>
                </a:lnTo>
                <a:lnTo>
                  <a:pt x="1239109" y="1165903"/>
                </a:lnTo>
                <a:lnTo>
                  <a:pt x="1236833" y="1167492"/>
                </a:lnTo>
                <a:lnTo>
                  <a:pt x="1234557" y="1168399"/>
                </a:lnTo>
                <a:lnTo>
                  <a:pt x="1232053" y="1169307"/>
                </a:lnTo>
                <a:lnTo>
                  <a:pt x="1229322" y="1169761"/>
                </a:lnTo>
                <a:lnTo>
                  <a:pt x="1226818" y="1169988"/>
                </a:lnTo>
                <a:lnTo>
                  <a:pt x="1152617" y="1169988"/>
                </a:lnTo>
                <a:lnTo>
                  <a:pt x="1150114" y="1169761"/>
                </a:lnTo>
                <a:lnTo>
                  <a:pt x="1147610" y="1169307"/>
                </a:lnTo>
                <a:lnTo>
                  <a:pt x="1145106" y="1168399"/>
                </a:lnTo>
                <a:lnTo>
                  <a:pt x="1142830" y="1167492"/>
                </a:lnTo>
                <a:lnTo>
                  <a:pt x="1140554" y="1165903"/>
                </a:lnTo>
                <a:lnTo>
                  <a:pt x="1138278" y="1164314"/>
                </a:lnTo>
                <a:lnTo>
                  <a:pt x="1136457" y="1162498"/>
                </a:lnTo>
                <a:lnTo>
                  <a:pt x="1134409" y="1160229"/>
                </a:lnTo>
                <a:lnTo>
                  <a:pt x="1132815" y="1157959"/>
                </a:lnTo>
                <a:lnTo>
                  <a:pt x="1131450" y="1155462"/>
                </a:lnTo>
                <a:lnTo>
                  <a:pt x="1130084" y="1152512"/>
                </a:lnTo>
                <a:lnTo>
                  <a:pt x="1129174" y="1149788"/>
                </a:lnTo>
                <a:lnTo>
                  <a:pt x="1128036" y="1146838"/>
                </a:lnTo>
                <a:lnTo>
                  <a:pt x="1127580" y="1143433"/>
                </a:lnTo>
                <a:lnTo>
                  <a:pt x="1127125" y="1140256"/>
                </a:lnTo>
                <a:lnTo>
                  <a:pt x="1127125" y="1136851"/>
                </a:lnTo>
                <a:lnTo>
                  <a:pt x="1127125" y="623687"/>
                </a:lnTo>
                <a:lnTo>
                  <a:pt x="1127125" y="620282"/>
                </a:lnTo>
                <a:lnTo>
                  <a:pt x="1127580" y="617105"/>
                </a:lnTo>
                <a:lnTo>
                  <a:pt x="1128036" y="613927"/>
                </a:lnTo>
                <a:lnTo>
                  <a:pt x="1129174" y="610750"/>
                </a:lnTo>
                <a:lnTo>
                  <a:pt x="1130084" y="608026"/>
                </a:lnTo>
                <a:lnTo>
                  <a:pt x="1131450" y="605303"/>
                </a:lnTo>
                <a:lnTo>
                  <a:pt x="1132815" y="602806"/>
                </a:lnTo>
                <a:lnTo>
                  <a:pt x="1134409" y="600537"/>
                </a:lnTo>
                <a:lnTo>
                  <a:pt x="1136457" y="598267"/>
                </a:lnTo>
                <a:lnTo>
                  <a:pt x="1138278" y="596451"/>
                </a:lnTo>
                <a:lnTo>
                  <a:pt x="1140554" y="594635"/>
                </a:lnTo>
                <a:lnTo>
                  <a:pt x="1142830" y="593274"/>
                </a:lnTo>
                <a:lnTo>
                  <a:pt x="1145106" y="592139"/>
                </a:lnTo>
                <a:lnTo>
                  <a:pt x="1147610" y="591231"/>
                </a:lnTo>
                <a:lnTo>
                  <a:pt x="1150114" y="590777"/>
                </a:lnTo>
                <a:lnTo>
                  <a:pt x="1152617" y="590550"/>
                </a:lnTo>
                <a:close/>
                <a:moveTo>
                  <a:pt x="1633857" y="508000"/>
                </a:moveTo>
                <a:lnTo>
                  <a:pt x="1707830" y="508000"/>
                </a:lnTo>
                <a:lnTo>
                  <a:pt x="1710561" y="508227"/>
                </a:lnTo>
                <a:lnTo>
                  <a:pt x="1713065" y="508680"/>
                </a:lnTo>
                <a:lnTo>
                  <a:pt x="1715797" y="509814"/>
                </a:lnTo>
                <a:lnTo>
                  <a:pt x="1718073" y="510947"/>
                </a:lnTo>
                <a:lnTo>
                  <a:pt x="1720349" y="512534"/>
                </a:lnTo>
                <a:lnTo>
                  <a:pt x="1722170" y="514575"/>
                </a:lnTo>
                <a:lnTo>
                  <a:pt x="1724218" y="516842"/>
                </a:lnTo>
                <a:lnTo>
                  <a:pt x="1726039" y="519109"/>
                </a:lnTo>
                <a:lnTo>
                  <a:pt x="1727860" y="521829"/>
                </a:lnTo>
                <a:lnTo>
                  <a:pt x="1729453" y="524550"/>
                </a:lnTo>
                <a:lnTo>
                  <a:pt x="1730591" y="527950"/>
                </a:lnTo>
                <a:lnTo>
                  <a:pt x="1731729" y="531124"/>
                </a:lnTo>
                <a:lnTo>
                  <a:pt x="1732640" y="534752"/>
                </a:lnTo>
                <a:lnTo>
                  <a:pt x="1733095" y="538152"/>
                </a:lnTo>
                <a:lnTo>
                  <a:pt x="1733550" y="542006"/>
                </a:lnTo>
                <a:lnTo>
                  <a:pt x="1733550" y="545860"/>
                </a:lnTo>
                <a:lnTo>
                  <a:pt x="1733550" y="1132128"/>
                </a:lnTo>
                <a:lnTo>
                  <a:pt x="1733550" y="1135982"/>
                </a:lnTo>
                <a:lnTo>
                  <a:pt x="1733095" y="1139836"/>
                </a:lnTo>
                <a:lnTo>
                  <a:pt x="1732640" y="1143463"/>
                </a:lnTo>
                <a:lnTo>
                  <a:pt x="1731729" y="1146864"/>
                </a:lnTo>
                <a:lnTo>
                  <a:pt x="1730591" y="1150038"/>
                </a:lnTo>
                <a:lnTo>
                  <a:pt x="1729453" y="1153438"/>
                </a:lnTo>
                <a:lnTo>
                  <a:pt x="1727860" y="1156159"/>
                </a:lnTo>
                <a:lnTo>
                  <a:pt x="1726039" y="1158879"/>
                </a:lnTo>
                <a:lnTo>
                  <a:pt x="1724218" y="1161373"/>
                </a:lnTo>
                <a:lnTo>
                  <a:pt x="1722170" y="1163414"/>
                </a:lnTo>
                <a:lnTo>
                  <a:pt x="1720349" y="1165454"/>
                </a:lnTo>
                <a:lnTo>
                  <a:pt x="1718073" y="1167041"/>
                </a:lnTo>
                <a:lnTo>
                  <a:pt x="1715797" y="1168174"/>
                </a:lnTo>
                <a:lnTo>
                  <a:pt x="1713065" y="1169308"/>
                </a:lnTo>
                <a:lnTo>
                  <a:pt x="1710561" y="1169761"/>
                </a:lnTo>
                <a:lnTo>
                  <a:pt x="1707830" y="1169988"/>
                </a:lnTo>
                <a:lnTo>
                  <a:pt x="1633857" y="1169988"/>
                </a:lnTo>
                <a:lnTo>
                  <a:pt x="1631353" y="1169761"/>
                </a:lnTo>
                <a:lnTo>
                  <a:pt x="1628850" y="1169308"/>
                </a:lnTo>
                <a:lnTo>
                  <a:pt x="1626346" y="1168174"/>
                </a:lnTo>
                <a:lnTo>
                  <a:pt x="1624070" y="1167041"/>
                </a:lnTo>
                <a:lnTo>
                  <a:pt x="1621794" y="1165454"/>
                </a:lnTo>
                <a:lnTo>
                  <a:pt x="1619518" y="1163414"/>
                </a:lnTo>
                <a:lnTo>
                  <a:pt x="1617469" y="1161373"/>
                </a:lnTo>
                <a:lnTo>
                  <a:pt x="1615648" y="1158879"/>
                </a:lnTo>
                <a:lnTo>
                  <a:pt x="1614055" y="1156159"/>
                </a:lnTo>
                <a:lnTo>
                  <a:pt x="1612689" y="1153438"/>
                </a:lnTo>
                <a:lnTo>
                  <a:pt x="1611324" y="1150038"/>
                </a:lnTo>
                <a:lnTo>
                  <a:pt x="1610186" y="1146864"/>
                </a:lnTo>
                <a:lnTo>
                  <a:pt x="1609275" y="1143463"/>
                </a:lnTo>
                <a:lnTo>
                  <a:pt x="1608820" y="1139836"/>
                </a:lnTo>
                <a:lnTo>
                  <a:pt x="1608365" y="1135982"/>
                </a:lnTo>
                <a:lnTo>
                  <a:pt x="1608137" y="1132128"/>
                </a:lnTo>
                <a:lnTo>
                  <a:pt x="1608137" y="545860"/>
                </a:lnTo>
                <a:lnTo>
                  <a:pt x="1608365" y="542006"/>
                </a:lnTo>
                <a:lnTo>
                  <a:pt x="1608820" y="538152"/>
                </a:lnTo>
                <a:lnTo>
                  <a:pt x="1609275" y="534752"/>
                </a:lnTo>
                <a:lnTo>
                  <a:pt x="1610186" y="531124"/>
                </a:lnTo>
                <a:lnTo>
                  <a:pt x="1611324" y="527950"/>
                </a:lnTo>
                <a:lnTo>
                  <a:pt x="1612689" y="524550"/>
                </a:lnTo>
                <a:lnTo>
                  <a:pt x="1614055" y="521829"/>
                </a:lnTo>
                <a:lnTo>
                  <a:pt x="1615648" y="519109"/>
                </a:lnTo>
                <a:lnTo>
                  <a:pt x="1617469" y="516842"/>
                </a:lnTo>
                <a:lnTo>
                  <a:pt x="1619518" y="514575"/>
                </a:lnTo>
                <a:lnTo>
                  <a:pt x="1621794" y="512534"/>
                </a:lnTo>
                <a:lnTo>
                  <a:pt x="1624070" y="510947"/>
                </a:lnTo>
                <a:lnTo>
                  <a:pt x="1626346" y="509814"/>
                </a:lnTo>
                <a:lnTo>
                  <a:pt x="1628850" y="508680"/>
                </a:lnTo>
                <a:lnTo>
                  <a:pt x="1631353" y="508227"/>
                </a:lnTo>
                <a:lnTo>
                  <a:pt x="1633857" y="508000"/>
                </a:lnTo>
                <a:close/>
                <a:moveTo>
                  <a:pt x="1501548" y="319088"/>
                </a:moveTo>
                <a:lnTo>
                  <a:pt x="1733323" y="319088"/>
                </a:lnTo>
                <a:lnTo>
                  <a:pt x="1733323" y="319316"/>
                </a:lnTo>
                <a:lnTo>
                  <a:pt x="1733550" y="319316"/>
                </a:lnTo>
                <a:lnTo>
                  <a:pt x="1733550" y="464215"/>
                </a:lnTo>
                <a:lnTo>
                  <a:pt x="1637620" y="464215"/>
                </a:lnTo>
                <a:lnTo>
                  <a:pt x="1637620" y="418038"/>
                </a:lnTo>
                <a:lnTo>
                  <a:pt x="1318759" y="617303"/>
                </a:lnTo>
                <a:lnTo>
                  <a:pt x="1250723" y="574766"/>
                </a:lnTo>
                <a:lnTo>
                  <a:pt x="1253444" y="573174"/>
                </a:lnTo>
                <a:lnTo>
                  <a:pt x="1146628" y="506525"/>
                </a:lnTo>
                <a:lnTo>
                  <a:pt x="844096" y="695326"/>
                </a:lnTo>
                <a:lnTo>
                  <a:pt x="776287" y="653016"/>
                </a:lnTo>
                <a:lnTo>
                  <a:pt x="1147082" y="421450"/>
                </a:lnTo>
                <a:lnTo>
                  <a:pt x="1215118" y="463533"/>
                </a:lnTo>
                <a:lnTo>
                  <a:pt x="1214437" y="464215"/>
                </a:lnTo>
                <a:lnTo>
                  <a:pt x="1321253" y="530637"/>
                </a:lnTo>
                <a:lnTo>
                  <a:pt x="1564368" y="379141"/>
                </a:lnTo>
                <a:lnTo>
                  <a:pt x="1501548" y="379141"/>
                </a:lnTo>
                <a:lnTo>
                  <a:pt x="1501548" y="319088"/>
                </a:lnTo>
                <a:close/>
                <a:moveTo>
                  <a:pt x="229507" y="91395"/>
                </a:moveTo>
                <a:lnTo>
                  <a:pt x="225651" y="91621"/>
                </a:lnTo>
                <a:lnTo>
                  <a:pt x="221796" y="91848"/>
                </a:lnTo>
                <a:lnTo>
                  <a:pt x="218394" y="92075"/>
                </a:lnTo>
                <a:lnTo>
                  <a:pt x="214539" y="92755"/>
                </a:lnTo>
                <a:lnTo>
                  <a:pt x="210910" y="93662"/>
                </a:lnTo>
                <a:lnTo>
                  <a:pt x="207509" y="94570"/>
                </a:lnTo>
                <a:lnTo>
                  <a:pt x="204107" y="95704"/>
                </a:lnTo>
                <a:lnTo>
                  <a:pt x="200705" y="96837"/>
                </a:lnTo>
                <a:lnTo>
                  <a:pt x="197303" y="98198"/>
                </a:lnTo>
                <a:lnTo>
                  <a:pt x="194355" y="99559"/>
                </a:lnTo>
                <a:lnTo>
                  <a:pt x="191407" y="101373"/>
                </a:lnTo>
                <a:lnTo>
                  <a:pt x="188232" y="103187"/>
                </a:lnTo>
                <a:lnTo>
                  <a:pt x="185284" y="105002"/>
                </a:lnTo>
                <a:lnTo>
                  <a:pt x="182562" y="107270"/>
                </a:lnTo>
                <a:lnTo>
                  <a:pt x="179614" y="109311"/>
                </a:lnTo>
                <a:lnTo>
                  <a:pt x="177119" y="111579"/>
                </a:lnTo>
                <a:lnTo>
                  <a:pt x="174851" y="114073"/>
                </a:lnTo>
                <a:lnTo>
                  <a:pt x="172357" y="116568"/>
                </a:lnTo>
                <a:lnTo>
                  <a:pt x="170316" y="119062"/>
                </a:lnTo>
                <a:lnTo>
                  <a:pt x="168275" y="121784"/>
                </a:lnTo>
                <a:lnTo>
                  <a:pt x="166460" y="124505"/>
                </a:lnTo>
                <a:lnTo>
                  <a:pt x="164646" y="127454"/>
                </a:lnTo>
                <a:lnTo>
                  <a:pt x="162832" y="130402"/>
                </a:lnTo>
                <a:lnTo>
                  <a:pt x="161471" y="133350"/>
                </a:lnTo>
                <a:lnTo>
                  <a:pt x="160110" y="136525"/>
                </a:lnTo>
                <a:lnTo>
                  <a:pt x="158976" y="139700"/>
                </a:lnTo>
                <a:lnTo>
                  <a:pt x="158069" y="143102"/>
                </a:lnTo>
                <a:lnTo>
                  <a:pt x="156935" y="146277"/>
                </a:lnTo>
                <a:lnTo>
                  <a:pt x="156482" y="149679"/>
                </a:lnTo>
                <a:lnTo>
                  <a:pt x="156028" y="153080"/>
                </a:lnTo>
                <a:lnTo>
                  <a:pt x="155801" y="156709"/>
                </a:lnTo>
                <a:lnTo>
                  <a:pt x="155801" y="160111"/>
                </a:lnTo>
                <a:lnTo>
                  <a:pt x="155801" y="1330098"/>
                </a:lnTo>
                <a:lnTo>
                  <a:pt x="155801" y="1333500"/>
                </a:lnTo>
                <a:lnTo>
                  <a:pt x="156028" y="1337129"/>
                </a:lnTo>
                <a:lnTo>
                  <a:pt x="156482" y="1340531"/>
                </a:lnTo>
                <a:lnTo>
                  <a:pt x="156935" y="1343932"/>
                </a:lnTo>
                <a:lnTo>
                  <a:pt x="158069" y="1347561"/>
                </a:lnTo>
                <a:lnTo>
                  <a:pt x="158976" y="1350509"/>
                </a:lnTo>
                <a:lnTo>
                  <a:pt x="160110" y="1353684"/>
                </a:lnTo>
                <a:lnTo>
                  <a:pt x="161471" y="1357086"/>
                </a:lnTo>
                <a:lnTo>
                  <a:pt x="162832" y="1360034"/>
                </a:lnTo>
                <a:lnTo>
                  <a:pt x="164646" y="1362756"/>
                </a:lnTo>
                <a:lnTo>
                  <a:pt x="166460" y="1365931"/>
                </a:lnTo>
                <a:lnTo>
                  <a:pt x="168275" y="1368652"/>
                </a:lnTo>
                <a:lnTo>
                  <a:pt x="170316" y="1371373"/>
                </a:lnTo>
                <a:lnTo>
                  <a:pt x="172357" y="1373868"/>
                </a:lnTo>
                <a:lnTo>
                  <a:pt x="174851" y="1376590"/>
                </a:lnTo>
                <a:lnTo>
                  <a:pt x="177119" y="1378857"/>
                </a:lnTo>
                <a:lnTo>
                  <a:pt x="179614" y="1381125"/>
                </a:lnTo>
                <a:lnTo>
                  <a:pt x="182562" y="1383393"/>
                </a:lnTo>
                <a:lnTo>
                  <a:pt x="185284" y="1385207"/>
                </a:lnTo>
                <a:lnTo>
                  <a:pt x="188232" y="1387248"/>
                </a:lnTo>
                <a:lnTo>
                  <a:pt x="191407" y="1389063"/>
                </a:lnTo>
                <a:lnTo>
                  <a:pt x="194355" y="1390650"/>
                </a:lnTo>
                <a:lnTo>
                  <a:pt x="197303" y="1392238"/>
                </a:lnTo>
                <a:lnTo>
                  <a:pt x="200705" y="1393598"/>
                </a:lnTo>
                <a:lnTo>
                  <a:pt x="204107" y="1394959"/>
                </a:lnTo>
                <a:lnTo>
                  <a:pt x="207509" y="1395866"/>
                </a:lnTo>
                <a:lnTo>
                  <a:pt x="210910" y="1397000"/>
                </a:lnTo>
                <a:lnTo>
                  <a:pt x="214539" y="1397681"/>
                </a:lnTo>
                <a:lnTo>
                  <a:pt x="218394" y="1398134"/>
                </a:lnTo>
                <a:lnTo>
                  <a:pt x="221796" y="1398588"/>
                </a:lnTo>
                <a:lnTo>
                  <a:pt x="225651" y="1399041"/>
                </a:lnTo>
                <a:lnTo>
                  <a:pt x="229507" y="1399041"/>
                </a:lnTo>
                <a:lnTo>
                  <a:pt x="2280330" y="1399041"/>
                </a:lnTo>
                <a:lnTo>
                  <a:pt x="2284186" y="1399041"/>
                </a:lnTo>
                <a:lnTo>
                  <a:pt x="2288041" y="1398588"/>
                </a:lnTo>
                <a:lnTo>
                  <a:pt x="2291670" y="1398134"/>
                </a:lnTo>
                <a:lnTo>
                  <a:pt x="2295298" y="1397681"/>
                </a:lnTo>
                <a:lnTo>
                  <a:pt x="2299154" y="1397000"/>
                </a:lnTo>
                <a:lnTo>
                  <a:pt x="2302555" y="1395866"/>
                </a:lnTo>
                <a:lnTo>
                  <a:pt x="2305957" y="1394959"/>
                </a:lnTo>
                <a:lnTo>
                  <a:pt x="2309359" y="1393598"/>
                </a:lnTo>
                <a:lnTo>
                  <a:pt x="2312534" y="1392238"/>
                </a:lnTo>
                <a:lnTo>
                  <a:pt x="2315709" y="1390650"/>
                </a:lnTo>
                <a:lnTo>
                  <a:pt x="2318884" y="1389063"/>
                </a:lnTo>
                <a:lnTo>
                  <a:pt x="2321832" y="1387248"/>
                </a:lnTo>
                <a:lnTo>
                  <a:pt x="2324780" y="1385207"/>
                </a:lnTo>
                <a:lnTo>
                  <a:pt x="2327502" y="1383393"/>
                </a:lnTo>
                <a:lnTo>
                  <a:pt x="2330223" y="1381125"/>
                </a:lnTo>
                <a:lnTo>
                  <a:pt x="2332945" y="1378857"/>
                </a:lnTo>
                <a:lnTo>
                  <a:pt x="2335213" y="1376590"/>
                </a:lnTo>
                <a:lnTo>
                  <a:pt x="2337707" y="1373868"/>
                </a:lnTo>
                <a:lnTo>
                  <a:pt x="2339748" y="1371373"/>
                </a:lnTo>
                <a:lnTo>
                  <a:pt x="2341789" y="1368652"/>
                </a:lnTo>
                <a:lnTo>
                  <a:pt x="2343830" y="1365931"/>
                </a:lnTo>
                <a:lnTo>
                  <a:pt x="2345418" y="1362756"/>
                </a:lnTo>
                <a:lnTo>
                  <a:pt x="2347232" y="1360034"/>
                </a:lnTo>
                <a:lnTo>
                  <a:pt x="2348593" y="1357086"/>
                </a:lnTo>
                <a:lnTo>
                  <a:pt x="2350180" y="1353684"/>
                </a:lnTo>
                <a:lnTo>
                  <a:pt x="2351088" y="1350509"/>
                </a:lnTo>
                <a:lnTo>
                  <a:pt x="2351995" y="1347561"/>
                </a:lnTo>
                <a:lnTo>
                  <a:pt x="2352902" y="1343932"/>
                </a:lnTo>
                <a:lnTo>
                  <a:pt x="2353582" y="1340531"/>
                </a:lnTo>
                <a:lnTo>
                  <a:pt x="2354036" y="1337129"/>
                </a:lnTo>
                <a:lnTo>
                  <a:pt x="2354263" y="1333500"/>
                </a:lnTo>
                <a:lnTo>
                  <a:pt x="2354263" y="1330098"/>
                </a:lnTo>
                <a:lnTo>
                  <a:pt x="2354263" y="160111"/>
                </a:lnTo>
                <a:lnTo>
                  <a:pt x="2354263" y="156709"/>
                </a:lnTo>
                <a:lnTo>
                  <a:pt x="2354036" y="153080"/>
                </a:lnTo>
                <a:lnTo>
                  <a:pt x="2353582" y="149679"/>
                </a:lnTo>
                <a:lnTo>
                  <a:pt x="2352902" y="146277"/>
                </a:lnTo>
                <a:lnTo>
                  <a:pt x="2351995" y="143102"/>
                </a:lnTo>
                <a:lnTo>
                  <a:pt x="2351088" y="139700"/>
                </a:lnTo>
                <a:lnTo>
                  <a:pt x="2350180" y="136525"/>
                </a:lnTo>
                <a:lnTo>
                  <a:pt x="2348593" y="133350"/>
                </a:lnTo>
                <a:lnTo>
                  <a:pt x="2347232" y="130402"/>
                </a:lnTo>
                <a:lnTo>
                  <a:pt x="2345418" y="127454"/>
                </a:lnTo>
                <a:lnTo>
                  <a:pt x="2343830" y="124505"/>
                </a:lnTo>
                <a:lnTo>
                  <a:pt x="2341789" y="121784"/>
                </a:lnTo>
                <a:lnTo>
                  <a:pt x="2339748" y="119062"/>
                </a:lnTo>
                <a:lnTo>
                  <a:pt x="2337707" y="116568"/>
                </a:lnTo>
                <a:lnTo>
                  <a:pt x="2335213" y="114073"/>
                </a:lnTo>
                <a:lnTo>
                  <a:pt x="2332945" y="111579"/>
                </a:lnTo>
                <a:lnTo>
                  <a:pt x="2330223" y="109311"/>
                </a:lnTo>
                <a:lnTo>
                  <a:pt x="2327502" y="107270"/>
                </a:lnTo>
                <a:lnTo>
                  <a:pt x="2324780" y="105002"/>
                </a:lnTo>
                <a:lnTo>
                  <a:pt x="2321832" y="103187"/>
                </a:lnTo>
                <a:lnTo>
                  <a:pt x="2318884" y="101373"/>
                </a:lnTo>
                <a:lnTo>
                  <a:pt x="2315709" y="99559"/>
                </a:lnTo>
                <a:lnTo>
                  <a:pt x="2312534" y="98198"/>
                </a:lnTo>
                <a:lnTo>
                  <a:pt x="2309359" y="96837"/>
                </a:lnTo>
                <a:lnTo>
                  <a:pt x="2305957" y="95704"/>
                </a:lnTo>
                <a:lnTo>
                  <a:pt x="2302555" y="94570"/>
                </a:lnTo>
                <a:lnTo>
                  <a:pt x="2299154" y="93662"/>
                </a:lnTo>
                <a:lnTo>
                  <a:pt x="2295298" y="92755"/>
                </a:lnTo>
                <a:lnTo>
                  <a:pt x="2291670" y="92075"/>
                </a:lnTo>
                <a:lnTo>
                  <a:pt x="2288041" y="91848"/>
                </a:lnTo>
                <a:lnTo>
                  <a:pt x="2284186" y="91621"/>
                </a:lnTo>
                <a:lnTo>
                  <a:pt x="2280330" y="91395"/>
                </a:lnTo>
                <a:lnTo>
                  <a:pt x="229507" y="91395"/>
                </a:lnTo>
                <a:close/>
                <a:moveTo>
                  <a:pt x="81642" y="0"/>
                </a:moveTo>
                <a:lnTo>
                  <a:pt x="86178" y="0"/>
                </a:lnTo>
                <a:lnTo>
                  <a:pt x="2424113" y="0"/>
                </a:lnTo>
                <a:lnTo>
                  <a:pt x="2428648" y="0"/>
                </a:lnTo>
                <a:lnTo>
                  <a:pt x="2432730" y="227"/>
                </a:lnTo>
                <a:lnTo>
                  <a:pt x="2436813" y="680"/>
                </a:lnTo>
                <a:lnTo>
                  <a:pt x="2441122" y="1361"/>
                </a:lnTo>
                <a:lnTo>
                  <a:pt x="2445204" y="2268"/>
                </a:lnTo>
                <a:lnTo>
                  <a:pt x="2449286" y="3402"/>
                </a:lnTo>
                <a:lnTo>
                  <a:pt x="2452914" y="4536"/>
                </a:lnTo>
                <a:lnTo>
                  <a:pt x="2456770" y="5896"/>
                </a:lnTo>
                <a:lnTo>
                  <a:pt x="2460625" y="7484"/>
                </a:lnTo>
                <a:lnTo>
                  <a:pt x="2464480" y="9298"/>
                </a:lnTo>
                <a:lnTo>
                  <a:pt x="2467882" y="11339"/>
                </a:lnTo>
                <a:lnTo>
                  <a:pt x="2471284" y="13380"/>
                </a:lnTo>
                <a:lnTo>
                  <a:pt x="2474459" y="15421"/>
                </a:lnTo>
                <a:lnTo>
                  <a:pt x="2477861" y="17916"/>
                </a:lnTo>
                <a:lnTo>
                  <a:pt x="2480809" y="20184"/>
                </a:lnTo>
                <a:lnTo>
                  <a:pt x="2483757" y="22905"/>
                </a:lnTo>
                <a:lnTo>
                  <a:pt x="2486479" y="25400"/>
                </a:lnTo>
                <a:lnTo>
                  <a:pt x="2489200" y="28348"/>
                </a:lnTo>
                <a:lnTo>
                  <a:pt x="2491695" y="31296"/>
                </a:lnTo>
                <a:lnTo>
                  <a:pt x="2493963" y="34471"/>
                </a:lnTo>
                <a:lnTo>
                  <a:pt x="2496230" y="37646"/>
                </a:lnTo>
                <a:lnTo>
                  <a:pt x="2498272" y="40821"/>
                </a:lnTo>
                <a:lnTo>
                  <a:pt x="2499859" y="44450"/>
                </a:lnTo>
                <a:lnTo>
                  <a:pt x="2501673" y="47625"/>
                </a:lnTo>
                <a:lnTo>
                  <a:pt x="2503261" y="51480"/>
                </a:lnTo>
                <a:lnTo>
                  <a:pt x="2504395" y="54882"/>
                </a:lnTo>
                <a:lnTo>
                  <a:pt x="2505755" y="58737"/>
                </a:lnTo>
                <a:lnTo>
                  <a:pt x="2506663" y="62593"/>
                </a:lnTo>
                <a:lnTo>
                  <a:pt x="2507343" y="66221"/>
                </a:lnTo>
                <a:lnTo>
                  <a:pt x="2508023" y="70304"/>
                </a:lnTo>
                <a:lnTo>
                  <a:pt x="2508250" y="74159"/>
                </a:lnTo>
                <a:lnTo>
                  <a:pt x="2508250" y="78241"/>
                </a:lnTo>
                <a:lnTo>
                  <a:pt x="2508250" y="1411968"/>
                </a:lnTo>
                <a:lnTo>
                  <a:pt x="2508250" y="1416050"/>
                </a:lnTo>
                <a:lnTo>
                  <a:pt x="2508023" y="1420132"/>
                </a:lnTo>
                <a:lnTo>
                  <a:pt x="2507343" y="1423988"/>
                </a:lnTo>
                <a:lnTo>
                  <a:pt x="2506663" y="1427616"/>
                </a:lnTo>
                <a:lnTo>
                  <a:pt x="2505755" y="1431472"/>
                </a:lnTo>
                <a:lnTo>
                  <a:pt x="2504395" y="1435327"/>
                </a:lnTo>
                <a:lnTo>
                  <a:pt x="2503261" y="1439182"/>
                </a:lnTo>
                <a:lnTo>
                  <a:pt x="2501673" y="1442584"/>
                </a:lnTo>
                <a:lnTo>
                  <a:pt x="2499859" y="1446213"/>
                </a:lnTo>
                <a:lnTo>
                  <a:pt x="2498272" y="1449388"/>
                </a:lnTo>
                <a:lnTo>
                  <a:pt x="2496230" y="1452790"/>
                </a:lnTo>
                <a:lnTo>
                  <a:pt x="2493963" y="1455965"/>
                </a:lnTo>
                <a:lnTo>
                  <a:pt x="2491695" y="1458913"/>
                </a:lnTo>
                <a:lnTo>
                  <a:pt x="2489200" y="1462088"/>
                </a:lnTo>
                <a:lnTo>
                  <a:pt x="2486479" y="1464809"/>
                </a:lnTo>
                <a:lnTo>
                  <a:pt x="2483757" y="1467531"/>
                </a:lnTo>
                <a:lnTo>
                  <a:pt x="2480809" y="1470025"/>
                </a:lnTo>
                <a:lnTo>
                  <a:pt x="2477861" y="1472747"/>
                </a:lnTo>
                <a:lnTo>
                  <a:pt x="2474459" y="1475015"/>
                </a:lnTo>
                <a:lnTo>
                  <a:pt x="2471284" y="1477282"/>
                </a:lnTo>
                <a:lnTo>
                  <a:pt x="2467882" y="1479097"/>
                </a:lnTo>
                <a:lnTo>
                  <a:pt x="2464480" y="1480911"/>
                </a:lnTo>
                <a:lnTo>
                  <a:pt x="2460625" y="1482725"/>
                </a:lnTo>
                <a:lnTo>
                  <a:pt x="2456770" y="1484313"/>
                </a:lnTo>
                <a:lnTo>
                  <a:pt x="2452914" y="1485674"/>
                </a:lnTo>
                <a:lnTo>
                  <a:pt x="2449286" y="1487034"/>
                </a:lnTo>
                <a:lnTo>
                  <a:pt x="2445204" y="1487941"/>
                </a:lnTo>
                <a:lnTo>
                  <a:pt x="2441122" y="1488849"/>
                </a:lnTo>
                <a:lnTo>
                  <a:pt x="2436813" y="1489529"/>
                </a:lnTo>
                <a:lnTo>
                  <a:pt x="2432730" y="1489982"/>
                </a:lnTo>
                <a:lnTo>
                  <a:pt x="2428648" y="1490209"/>
                </a:lnTo>
                <a:lnTo>
                  <a:pt x="2424113" y="1490663"/>
                </a:lnTo>
                <a:lnTo>
                  <a:pt x="86178" y="1490663"/>
                </a:lnTo>
                <a:lnTo>
                  <a:pt x="81642" y="1490209"/>
                </a:lnTo>
                <a:lnTo>
                  <a:pt x="77333" y="1489982"/>
                </a:lnTo>
                <a:lnTo>
                  <a:pt x="73251" y="1489529"/>
                </a:lnTo>
                <a:lnTo>
                  <a:pt x="68942" y="1488849"/>
                </a:lnTo>
                <a:lnTo>
                  <a:pt x="64860" y="1487941"/>
                </a:lnTo>
                <a:lnTo>
                  <a:pt x="60778" y="1487034"/>
                </a:lnTo>
                <a:lnTo>
                  <a:pt x="57150" y="1485674"/>
                </a:lnTo>
                <a:lnTo>
                  <a:pt x="53294" y="1484313"/>
                </a:lnTo>
                <a:lnTo>
                  <a:pt x="49439" y="1482725"/>
                </a:lnTo>
                <a:lnTo>
                  <a:pt x="45810" y="1480911"/>
                </a:lnTo>
                <a:lnTo>
                  <a:pt x="42182" y="1479097"/>
                </a:lnTo>
                <a:lnTo>
                  <a:pt x="39007" y="1477282"/>
                </a:lnTo>
                <a:lnTo>
                  <a:pt x="35605" y="1475015"/>
                </a:lnTo>
                <a:lnTo>
                  <a:pt x="32430" y="1472747"/>
                </a:lnTo>
                <a:lnTo>
                  <a:pt x="29255" y="1470025"/>
                </a:lnTo>
                <a:lnTo>
                  <a:pt x="26307" y="1467531"/>
                </a:lnTo>
                <a:lnTo>
                  <a:pt x="23585" y="1464809"/>
                </a:lnTo>
                <a:lnTo>
                  <a:pt x="21091" y="1462088"/>
                </a:lnTo>
                <a:lnTo>
                  <a:pt x="18596" y="1458913"/>
                </a:lnTo>
                <a:lnTo>
                  <a:pt x="16101" y="1455965"/>
                </a:lnTo>
                <a:lnTo>
                  <a:pt x="13833" y="1452790"/>
                </a:lnTo>
                <a:lnTo>
                  <a:pt x="12019" y="1449388"/>
                </a:lnTo>
                <a:lnTo>
                  <a:pt x="9978" y="1446213"/>
                </a:lnTo>
                <a:lnTo>
                  <a:pt x="8391" y="1442584"/>
                </a:lnTo>
                <a:lnTo>
                  <a:pt x="6803" y="1439182"/>
                </a:lnTo>
                <a:lnTo>
                  <a:pt x="5442" y="1435327"/>
                </a:lnTo>
                <a:lnTo>
                  <a:pt x="4308" y="1431472"/>
                </a:lnTo>
                <a:lnTo>
                  <a:pt x="3401" y="1427616"/>
                </a:lnTo>
                <a:lnTo>
                  <a:pt x="2494" y="1423988"/>
                </a:lnTo>
                <a:lnTo>
                  <a:pt x="2041" y="1420132"/>
                </a:lnTo>
                <a:lnTo>
                  <a:pt x="1814" y="1416050"/>
                </a:lnTo>
                <a:lnTo>
                  <a:pt x="1587" y="1411968"/>
                </a:lnTo>
                <a:lnTo>
                  <a:pt x="1587" y="78241"/>
                </a:lnTo>
                <a:lnTo>
                  <a:pt x="1814" y="74159"/>
                </a:lnTo>
                <a:lnTo>
                  <a:pt x="2041" y="70304"/>
                </a:lnTo>
                <a:lnTo>
                  <a:pt x="2494" y="66221"/>
                </a:lnTo>
                <a:lnTo>
                  <a:pt x="3401" y="62593"/>
                </a:lnTo>
                <a:lnTo>
                  <a:pt x="4308" y="58737"/>
                </a:lnTo>
                <a:lnTo>
                  <a:pt x="5442" y="54882"/>
                </a:lnTo>
                <a:lnTo>
                  <a:pt x="6803" y="51480"/>
                </a:lnTo>
                <a:lnTo>
                  <a:pt x="8391" y="47625"/>
                </a:lnTo>
                <a:lnTo>
                  <a:pt x="9978" y="44450"/>
                </a:lnTo>
                <a:lnTo>
                  <a:pt x="12019" y="40821"/>
                </a:lnTo>
                <a:lnTo>
                  <a:pt x="13833" y="37646"/>
                </a:lnTo>
                <a:lnTo>
                  <a:pt x="16101" y="34471"/>
                </a:lnTo>
                <a:lnTo>
                  <a:pt x="18596" y="31296"/>
                </a:lnTo>
                <a:lnTo>
                  <a:pt x="21091" y="28348"/>
                </a:lnTo>
                <a:lnTo>
                  <a:pt x="23585" y="25400"/>
                </a:lnTo>
                <a:lnTo>
                  <a:pt x="26307" y="22905"/>
                </a:lnTo>
                <a:lnTo>
                  <a:pt x="29255" y="20184"/>
                </a:lnTo>
                <a:lnTo>
                  <a:pt x="32430" y="17916"/>
                </a:lnTo>
                <a:lnTo>
                  <a:pt x="35605" y="15421"/>
                </a:lnTo>
                <a:lnTo>
                  <a:pt x="39007" y="13380"/>
                </a:lnTo>
                <a:lnTo>
                  <a:pt x="42182" y="11339"/>
                </a:lnTo>
                <a:lnTo>
                  <a:pt x="45810" y="9298"/>
                </a:lnTo>
                <a:lnTo>
                  <a:pt x="49439" y="7484"/>
                </a:lnTo>
                <a:lnTo>
                  <a:pt x="53294" y="5896"/>
                </a:lnTo>
                <a:lnTo>
                  <a:pt x="57150" y="4536"/>
                </a:lnTo>
                <a:lnTo>
                  <a:pt x="60778" y="3402"/>
                </a:lnTo>
                <a:lnTo>
                  <a:pt x="64860" y="2268"/>
                </a:lnTo>
                <a:lnTo>
                  <a:pt x="68942" y="1361"/>
                </a:lnTo>
                <a:lnTo>
                  <a:pt x="73251" y="680"/>
                </a:lnTo>
                <a:lnTo>
                  <a:pt x="77333" y="227"/>
                </a:lnTo>
                <a:lnTo>
                  <a:pt x="81642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/>
          <a:p>
            <a:pPr algn="ctr">
              <a:defRPr/>
            </a:pPr>
            <a:endParaRPr lang="zh-CN" altLang="en-US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4182003" y="4581798"/>
            <a:ext cx="895985" cy="2546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000" b="1" dirty="0" smtClean="0">
                <a:solidFill>
                  <a:schemeClr val="accent1">
                    <a:lumMod val="20000"/>
                    <a:lumOff val="8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网管服务器</a:t>
            </a:r>
            <a:r>
              <a:rPr lang="en-US" altLang="zh-CN" sz="1000" b="1" dirty="0" smtClean="0">
                <a:solidFill>
                  <a:schemeClr val="accent1">
                    <a:lumMod val="20000"/>
                    <a:lumOff val="8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4384201" y="4915128"/>
            <a:ext cx="461665" cy="427355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zh-CN">
                <a:solidFill>
                  <a:schemeClr val="accent1">
                    <a:lumMod val="20000"/>
                    <a:lumOff val="80000"/>
                  </a:schemeClr>
                </a:solidFill>
              </a:rPr>
              <a:t>...</a:t>
            </a:r>
          </a:p>
        </p:txBody>
      </p:sp>
      <p:sp>
        <p:nvSpPr>
          <p:cNvPr id="22" name="KSO_Shape"/>
          <p:cNvSpPr/>
          <p:nvPr/>
        </p:nvSpPr>
        <p:spPr bwMode="auto">
          <a:xfrm>
            <a:off x="3992274" y="5154992"/>
            <a:ext cx="1246870" cy="846020"/>
          </a:xfrm>
          <a:custGeom>
            <a:avLst/>
            <a:gdLst>
              <a:gd name="T0" fmla="*/ 1091648 w 2509838"/>
              <a:gd name="T1" fmla="*/ 1608111 h 1787526"/>
              <a:gd name="T2" fmla="*/ 1364673 w 2509838"/>
              <a:gd name="T3" fmla="*/ 1644625 h 1787526"/>
              <a:gd name="T4" fmla="*/ 1419551 w 2509838"/>
              <a:gd name="T5" fmla="*/ 1603152 h 1787526"/>
              <a:gd name="T6" fmla="*/ 2438407 w 2509838"/>
              <a:gd name="T7" fmla="*/ 1567539 h 1787526"/>
              <a:gd name="T8" fmla="*/ 2487842 w 2509838"/>
              <a:gd name="T9" fmla="*/ 1592108 h 1787526"/>
              <a:gd name="T10" fmla="*/ 2509611 w 2509838"/>
              <a:gd name="T11" fmla="*/ 1640568 h 1787526"/>
              <a:gd name="T12" fmla="*/ 2495552 w 2509838"/>
              <a:gd name="T13" fmla="*/ 1753040 h 1787526"/>
              <a:gd name="T14" fmla="*/ 2450426 w 2509838"/>
              <a:gd name="T15" fmla="*/ 1783920 h 1787526"/>
              <a:gd name="T16" fmla="*/ 55558 w 2509838"/>
              <a:gd name="T17" fmla="*/ 1782793 h 1787526"/>
              <a:gd name="T18" fmla="*/ 12472 w 2509838"/>
              <a:gd name="T19" fmla="*/ 1750110 h 1787526"/>
              <a:gd name="T20" fmla="*/ 680 w 2509838"/>
              <a:gd name="T21" fmla="*/ 1636736 h 1787526"/>
              <a:gd name="T22" fmla="*/ 24717 w 2509838"/>
              <a:gd name="T23" fmla="*/ 1589628 h 1787526"/>
              <a:gd name="T24" fmla="*/ 75740 w 2509838"/>
              <a:gd name="T25" fmla="*/ 1567089 h 1787526"/>
              <a:gd name="T26" fmla="*/ 933501 w 2509838"/>
              <a:gd name="T27" fmla="*/ 749091 h 1787526"/>
              <a:gd name="T28" fmla="*/ 932155 w 2509838"/>
              <a:gd name="T29" fmla="*/ 1160902 h 1787526"/>
              <a:gd name="T30" fmla="*/ 829865 w 2509838"/>
              <a:gd name="T31" fmla="*/ 1167944 h 1787526"/>
              <a:gd name="T32" fmla="*/ 814387 w 2509838"/>
              <a:gd name="T33" fmla="*/ 760448 h 1787526"/>
              <a:gd name="T34" fmla="*/ 837043 w 2509838"/>
              <a:gd name="T35" fmla="*/ 738188 h 1787526"/>
              <a:gd name="T36" fmla="*/ 1416304 w 2509838"/>
              <a:gd name="T37" fmla="*/ 686474 h 1787526"/>
              <a:gd name="T38" fmla="*/ 1412034 w 2509838"/>
              <a:gd name="T39" fmla="*/ 1161601 h 1787526"/>
              <a:gd name="T40" fmla="*/ 1308659 w 2509838"/>
              <a:gd name="T41" fmla="*/ 1166588 h 1787526"/>
              <a:gd name="T42" fmla="*/ 1296074 w 2509838"/>
              <a:gd name="T43" fmla="*/ 694181 h 1787526"/>
              <a:gd name="T44" fmla="*/ 988416 w 2509838"/>
              <a:gd name="T45" fmla="*/ 671513 h 1787526"/>
              <a:gd name="T46" fmla="*/ 1088565 w 2509838"/>
              <a:gd name="T47" fmla="*/ 688968 h 1787526"/>
              <a:gd name="T48" fmla="*/ 1081281 w 2509838"/>
              <a:gd name="T49" fmla="*/ 1163414 h 1787526"/>
              <a:gd name="T50" fmla="*/ 976581 w 2509838"/>
              <a:gd name="T51" fmla="*/ 1165228 h 1787526"/>
              <a:gd name="T52" fmla="*/ 966338 w 2509838"/>
              <a:gd name="T53" fmla="*/ 691461 h 1787526"/>
              <a:gd name="T54" fmla="*/ 1546133 w 2509838"/>
              <a:gd name="T55" fmla="*/ 590550 h 1787526"/>
              <a:gd name="T56" fmla="*/ 1571170 w 2509838"/>
              <a:gd name="T57" fmla="*/ 617105 h 1787526"/>
              <a:gd name="T58" fmla="*/ 1558196 w 2509838"/>
              <a:gd name="T59" fmla="*/ 1165903 h 1787526"/>
              <a:gd name="T60" fmla="*/ 1453496 w 2509838"/>
              <a:gd name="T61" fmla="*/ 1160229 h 1787526"/>
              <a:gd name="T62" fmla="*/ 1449399 w 2509838"/>
              <a:gd name="T63" fmla="*/ 608026 h 1787526"/>
              <a:gd name="T64" fmla="*/ 1229322 w 2509838"/>
              <a:gd name="T65" fmla="*/ 590777 h 1787526"/>
              <a:gd name="T66" fmla="*/ 1252538 w 2509838"/>
              <a:gd name="T67" fmla="*/ 620282 h 1787526"/>
              <a:gd name="T68" fmla="*/ 1236833 w 2509838"/>
              <a:gd name="T69" fmla="*/ 1167492 h 1787526"/>
              <a:gd name="T70" fmla="*/ 1132815 w 2509838"/>
              <a:gd name="T71" fmla="*/ 1157959 h 1787526"/>
              <a:gd name="T72" fmla="*/ 1131450 w 2509838"/>
              <a:gd name="T73" fmla="*/ 605303 h 1787526"/>
              <a:gd name="T74" fmla="*/ 1713065 w 2509838"/>
              <a:gd name="T75" fmla="*/ 508680 h 1787526"/>
              <a:gd name="T76" fmla="*/ 1733550 w 2509838"/>
              <a:gd name="T77" fmla="*/ 545860 h 1787526"/>
              <a:gd name="T78" fmla="*/ 1715797 w 2509838"/>
              <a:gd name="T79" fmla="*/ 1168174 h 1787526"/>
              <a:gd name="T80" fmla="*/ 1612689 w 2509838"/>
              <a:gd name="T81" fmla="*/ 1153438 h 1787526"/>
              <a:gd name="T82" fmla="*/ 1614055 w 2509838"/>
              <a:gd name="T83" fmla="*/ 521829 h 1787526"/>
              <a:gd name="T84" fmla="*/ 1733550 w 2509838"/>
              <a:gd name="T85" fmla="*/ 464215 h 1787526"/>
              <a:gd name="T86" fmla="*/ 1501548 w 2509838"/>
              <a:gd name="T87" fmla="*/ 379141 h 1787526"/>
              <a:gd name="T88" fmla="*/ 188232 w 2509838"/>
              <a:gd name="T89" fmla="*/ 103187 h 1787526"/>
              <a:gd name="T90" fmla="*/ 158976 w 2509838"/>
              <a:gd name="T91" fmla="*/ 139700 h 1787526"/>
              <a:gd name="T92" fmla="*/ 160110 w 2509838"/>
              <a:gd name="T93" fmla="*/ 1353684 h 1787526"/>
              <a:gd name="T94" fmla="*/ 191407 w 2509838"/>
              <a:gd name="T95" fmla="*/ 1389063 h 1787526"/>
              <a:gd name="T96" fmla="*/ 2288041 w 2509838"/>
              <a:gd name="T97" fmla="*/ 1398588 h 1787526"/>
              <a:gd name="T98" fmla="*/ 2332945 w 2509838"/>
              <a:gd name="T99" fmla="*/ 1378857 h 1787526"/>
              <a:gd name="T100" fmla="*/ 2354036 w 2509838"/>
              <a:gd name="T101" fmla="*/ 1337129 h 1787526"/>
              <a:gd name="T102" fmla="*/ 2343830 w 2509838"/>
              <a:gd name="T103" fmla="*/ 124505 h 1787526"/>
              <a:gd name="T104" fmla="*/ 2305957 w 2509838"/>
              <a:gd name="T105" fmla="*/ 95704 h 1787526"/>
              <a:gd name="T106" fmla="*/ 2436813 w 2509838"/>
              <a:gd name="T107" fmla="*/ 680 h 1787526"/>
              <a:gd name="T108" fmla="*/ 2486479 w 2509838"/>
              <a:gd name="T109" fmla="*/ 25400 h 1787526"/>
              <a:gd name="T110" fmla="*/ 2508250 w 2509838"/>
              <a:gd name="T111" fmla="*/ 74159 h 1787526"/>
              <a:gd name="T112" fmla="*/ 2493963 w 2509838"/>
              <a:gd name="T113" fmla="*/ 1455965 h 1787526"/>
              <a:gd name="T114" fmla="*/ 2449286 w 2509838"/>
              <a:gd name="T115" fmla="*/ 1487034 h 1787526"/>
              <a:gd name="T116" fmla="*/ 57150 w 2509838"/>
              <a:gd name="T117" fmla="*/ 1485674 h 1787526"/>
              <a:gd name="T118" fmla="*/ 13833 w 2509838"/>
              <a:gd name="T119" fmla="*/ 1452790 h 1787526"/>
              <a:gd name="T120" fmla="*/ 2041 w 2509838"/>
              <a:gd name="T121" fmla="*/ 70304 h 1787526"/>
              <a:gd name="T122" fmla="*/ 26307 w 2509838"/>
              <a:gd name="T123" fmla="*/ 22905 h 1787526"/>
              <a:gd name="T124" fmla="*/ 77333 w 2509838"/>
              <a:gd name="T125" fmla="*/ 227 h 17875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2509838" h="1787526">
                <a:moveTo>
                  <a:pt x="80048" y="1566863"/>
                </a:moveTo>
                <a:lnTo>
                  <a:pt x="84357" y="1566863"/>
                </a:lnTo>
                <a:lnTo>
                  <a:pt x="1096637" y="1566863"/>
                </a:lnTo>
                <a:lnTo>
                  <a:pt x="1094823" y="1569568"/>
                </a:lnTo>
                <a:lnTo>
                  <a:pt x="1093235" y="1572498"/>
                </a:lnTo>
                <a:lnTo>
                  <a:pt x="1092102" y="1575879"/>
                </a:lnTo>
                <a:lnTo>
                  <a:pt x="1090968" y="1579035"/>
                </a:lnTo>
                <a:lnTo>
                  <a:pt x="1090287" y="1582415"/>
                </a:lnTo>
                <a:lnTo>
                  <a:pt x="1089607" y="1585571"/>
                </a:lnTo>
                <a:lnTo>
                  <a:pt x="1089380" y="1589177"/>
                </a:lnTo>
                <a:lnTo>
                  <a:pt x="1089154" y="1592558"/>
                </a:lnTo>
                <a:lnTo>
                  <a:pt x="1089380" y="1597968"/>
                </a:lnTo>
                <a:lnTo>
                  <a:pt x="1090287" y="1603152"/>
                </a:lnTo>
                <a:lnTo>
                  <a:pt x="1091648" y="1608111"/>
                </a:lnTo>
                <a:lnTo>
                  <a:pt x="1093689" y="1612844"/>
                </a:lnTo>
                <a:lnTo>
                  <a:pt x="1095957" y="1617352"/>
                </a:lnTo>
                <a:lnTo>
                  <a:pt x="1098678" y="1621634"/>
                </a:lnTo>
                <a:lnTo>
                  <a:pt x="1101853" y="1625692"/>
                </a:lnTo>
                <a:lnTo>
                  <a:pt x="1105481" y="1629523"/>
                </a:lnTo>
                <a:lnTo>
                  <a:pt x="1109563" y="1632679"/>
                </a:lnTo>
                <a:lnTo>
                  <a:pt x="1113871" y="1635834"/>
                </a:lnTo>
                <a:lnTo>
                  <a:pt x="1118633" y="1638314"/>
                </a:lnTo>
                <a:lnTo>
                  <a:pt x="1123395" y="1640568"/>
                </a:lnTo>
                <a:lnTo>
                  <a:pt x="1128611" y="1642371"/>
                </a:lnTo>
                <a:lnTo>
                  <a:pt x="1134053" y="1643498"/>
                </a:lnTo>
                <a:lnTo>
                  <a:pt x="1139496" y="1644174"/>
                </a:lnTo>
                <a:lnTo>
                  <a:pt x="1145391" y="1644625"/>
                </a:lnTo>
                <a:lnTo>
                  <a:pt x="1364673" y="1644625"/>
                </a:lnTo>
                <a:lnTo>
                  <a:pt x="1370343" y="1644174"/>
                </a:lnTo>
                <a:lnTo>
                  <a:pt x="1376012" y="1643498"/>
                </a:lnTo>
                <a:lnTo>
                  <a:pt x="1381227" y="1642371"/>
                </a:lnTo>
                <a:lnTo>
                  <a:pt x="1386443" y="1640568"/>
                </a:lnTo>
                <a:lnTo>
                  <a:pt x="1391432" y="1638314"/>
                </a:lnTo>
                <a:lnTo>
                  <a:pt x="1396194" y="1635834"/>
                </a:lnTo>
                <a:lnTo>
                  <a:pt x="1400502" y="1632679"/>
                </a:lnTo>
                <a:lnTo>
                  <a:pt x="1404357" y="1629523"/>
                </a:lnTo>
                <a:lnTo>
                  <a:pt x="1407986" y="1625692"/>
                </a:lnTo>
                <a:lnTo>
                  <a:pt x="1411160" y="1621634"/>
                </a:lnTo>
                <a:lnTo>
                  <a:pt x="1414108" y="1617352"/>
                </a:lnTo>
                <a:lnTo>
                  <a:pt x="1416376" y="1612844"/>
                </a:lnTo>
                <a:lnTo>
                  <a:pt x="1418417" y="1608111"/>
                </a:lnTo>
                <a:lnTo>
                  <a:pt x="1419551" y="1603152"/>
                </a:lnTo>
                <a:lnTo>
                  <a:pt x="1420684" y="1597968"/>
                </a:lnTo>
                <a:lnTo>
                  <a:pt x="1420911" y="1592558"/>
                </a:lnTo>
                <a:lnTo>
                  <a:pt x="1420684" y="1589177"/>
                </a:lnTo>
                <a:lnTo>
                  <a:pt x="1420231" y="1585571"/>
                </a:lnTo>
                <a:lnTo>
                  <a:pt x="1419551" y="1582415"/>
                </a:lnTo>
                <a:lnTo>
                  <a:pt x="1418870" y="1579035"/>
                </a:lnTo>
                <a:lnTo>
                  <a:pt x="1417737" y="1575879"/>
                </a:lnTo>
                <a:lnTo>
                  <a:pt x="1416603" y="1572498"/>
                </a:lnTo>
                <a:lnTo>
                  <a:pt x="1415015" y="1569568"/>
                </a:lnTo>
                <a:lnTo>
                  <a:pt x="1413201" y="1566863"/>
                </a:lnTo>
                <a:lnTo>
                  <a:pt x="2425481" y="1566863"/>
                </a:lnTo>
                <a:lnTo>
                  <a:pt x="2429790" y="1566863"/>
                </a:lnTo>
                <a:lnTo>
                  <a:pt x="2434099" y="1567089"/>
                </a:lnTo>
                <a:lnTo>
                  <a:pt x="2438407" y="1567539"/>
                </a:lnTo>
                <a:lnTo>
                  <a:pt x="2442489" y="1568216"/>
                </a:lnTo>
                <a:lnTo>
                  <a:pt x="2446571" y="1569117"/>
                </a:lnTo>
                <a:lnTo>
                  <a:pt x="2450426" y="1570244"/>
                </a:lnTo>
                <a:lnTo>
                  <a:pt x="2454507" y="1571596"/>
                </a:lnTo>
                <a:lnTo>
                  <a:pt x="2458362" y="1572723"/>
                </a:lnTo>
                <a:lnTo>
                  <a:pt x="2462217" y="1574301"/>
                </a:lnTo>
                <a:lnTo>
                  <a:pt x="2465619" y="1576104"/>
                </a:lnTo>
                <a:lnTo>
                  <a:pt x="2469247" y="1578133"/>
                </a:lnTo>
                <a:lnTo>
                  <a:pt x="2472422" y="1580162"/>
                </a:lnTo>
                <a:lnTo>
                  <a:pt x="2476050" y="1581965"/>
                </a:lnTo>
                <a:lnTo>
                  <a:pt x="2478998" y="1584669"/>
                </a:lnTo>
                <a:lnTo>
                  <a:pt x="2482173" y="1586923"/>
                </a:lnTo>
                <a:lnTo>
                  <a:pt x="2485121" y="1589628"/>
                </a:lnTo>
                <a:lnTo>
                  <a:pt x="2487842" y="1592108"/>
                </a:lnTo>
                <a:lnTo>
                  <a:pt x="2490336" y="1595038"/>
                </a:lnTo>
                <a:lnTo>
                  <a:pt x="2492831" y="1597968"/>
                </a:lnTo>
                <a:lnTo>
                  <a:pt x="2495552" y="1601123"/>
                </a:lnTo>
                <a:lnTo>
                  <a:pt x="2497366" y="1604054"/>
                </a:lnTo>
                <a:lnTo>
                  <a:pt x="2499407" y="1607434"/>
                </a:lnTo>
                <a:lnTo>
                  <a:pt x="2501448" y="1610815"/>
                </a:lnTo>
                <a:lnTo>
                  <a:pt x="2503035" y="1614196"/>
                </a:lnTo>
                <a:lnTo>
                  <a:pt x="2504623" y="1618028"/>
                </a:lnTo>
                <a:lnTo>
                  <a:pt x="2505983" y="1621409"/>
                </a:lnTo>
                <a:lnTo>
                  <a:pt x="2507117" y="1625241"/>
                </a:lnTo>
                <a:lnTo>
                  <a:pt x="2508024" y="1629073"/>
                </a:lnTo>
                <a:lnTo>
                  <a:pt x="2508704" y="1632679"/>
                </a:lnTo>
                <a:lnTo>
                  <a:pt x="2509385" y="1636736"/>
                </a:lnTo>
                <a:lnTo>
                  <a:pt x="2509611" y="1640568"/>
                </a:lnTo>
                <a:lnTo>
                  <a:pt x="2509838" y="1644625"/>
                </a:lnTo>
                <a:lnTo>
                  <a:pt x="2509838" y="1709764"/>
                </a:lnTo>
                <a:lnTo>
                  <a:pt x="2509611" y="1713822"/>
                </a:lnTo>
                <a:lnTo>
                  <a:pt x="2509385" y="1717428"/>
                </a:lnTo>
                <a:lnTo>
                  <a:pt x="2508704" y="1721485"/>
                </a:lnTo>
                <a:lnTo>
                  <a:pt x="2508024" y="1725317"/>
                </a:lnTo>
                <a:lnTo>
                  <a:pt x="2507117" y="1729148"/>
                </a:lnTo>
                <a:lnTo>
                  <a:pt x="2505983" y="1732755"/>
                </a:lnTo>
                <a:lnTo>
                  <a:pt x="2504623" y="1736361"/>
                </a:lnTo>
                <a:lnTo>
                  <a:pt x="2503035" y="1740193"/>
                </a:lnTo>
                <a:lnTo>
                  <a:pt x="2501448" y="1743348"/>
                </a:lnTo>
                <a:lnTo>
                  <a:pt x="2499407" y="1746955"/>
                </a:lnTo>
                <a:lnTo>
                  <a:pt x="2497366" y="1750110"/>
                </a:lnTo>
                <a:lnTo>
                  <a:pt x="2495552" y="1753040"/>
                </a:lnTo>
                <a:lnTo>
                  <a:pt x="2492831" y="1756421"/>
                </a:lnTo>
                <a:lnTo>
                  <a:pt x="2490336" y="1759126"/>
                </a:lnTo>
                <a:lnTo>
                  <a:pt x="2487842" y="1762282"/>
                </a:lnTo>
                <a:lnTo>
                  <a:pt x="2485121" y="1764761"/>
                </a:lnTo>
                <a:lnTo>
                  <a:pt x="2482173" y="1767466"/>
                </a:lnTo>
                <a:lnTo>
                  <a:pt x="2478998" y="1769720"/>
                </a:lnTo>
                <a:lnTo>
                  <a:pt x="2476050" y="1772199"/>
                </a:lnTo>
                <a:lnTo>
                  <a:pt x="2472422" y="1774228"/>
                </a:lnTo>
                <a:lnTo>
                  <a:pt x="2469247" y="1776256"/>
                </a:lnTo>
                <a:lnTo>
                  <a:pt x="2465619" y="1778285"/>
                </a:lnTo>
                <a:lnTo>
                  <a:pt x="2462217" y="1780088"/>
                </a:lnTo>
                <a:lnTo>
                  <a:pt x="2458362" y="1781440"/>
                </a:lnTo>
                <a:lnTo>
                  <a:pt x="2454507" y="1782793"/>
                </a:lnTo>
                <a:lnTo>
                  <a:pt x="2450426" y="1783920"/>
                </a:lnTo>
                <a:lnTo>
                  <a:pt x="2446571" y="1785272"/>
                </a:lnTo>
                <a:lnTo>
                  <a:pt x="2442489" y="1785948"/>
                </a:lnTo>
                <a:lnTo>
                  <a:pt x="2438407" y="1786850"/>
                </a:lnTo>
                <a:lnTo>
                  <a:pt x="2434099" y="1787301"/>
                </a:lnTo>
                <a:lnTo>
                  <a:pt x="2429790" y="1787526"/>
                </a:lnTo>
                <a:lnTo>
                  <a:pt x="2425481" y="1787526"/>
                </a:lnTo>
                <a:lnTo>
                  <a:pt x="84357" y="1787526"/>
                </a:lnTo>
                <a:lnTo>
                  <a:pt x="80048" y="1787526"/>
                </a:lnTo>
                <a:lnTo>
                  <a:pt x="75740" y="1787301"/>
                </a:lnTo>
                <a:lnTo>
                  <a:pt x="71431" y="1786850"/>
                </a:lnTo>
                <a:lnTo>
                  <a:pt x="67349" y="1785948"/>
                </a:lnTo>
                <a:lnTo>
                  <a:pt x="63494" y="1785272"/>
                </a:lnTo>
                <a:lnTo>
                  <a:pt x="59413" y="1783920"/>
                </a:lnTo>
                <a:lnTo>
                  <a:pt x="55558" y="1782793"/>
                </a:lnTo>
                <a:lnTo>
                  <a:pt x="51476" y="1781440"/>
                </a:lnTo>
                <a:lnTo>
                  <a:pt x="48074" y="1780088"/>
                </a:lnTo>
                <a:lnTo>
                  <a:pt x="44219" y="1778285"/>
                </a:lnTo>
                <a:lnTo>
                  <a:pt x="40591" y="1776256"/>
                </a:lnTo>
                <a:lnTo>
                  <a:pt x="37416" y="1774228"/>
                </a:lnTo>
                <a:lnTo>
                  <a:pt x="33788" y="1772199"/>
                </a:lnTo>
                <a:lnTo>
                  <a:pt x="30840" y="1769720"/>
                </a:lnTo>
                <a:lnTo>
                  <a:pt x="27892" y="1767466"/>
                </a:lnTo>
                <a:lnTo>
                  <a:pt x="24717" y="1764761"/>
                </a:lnTo>
                <a:lnTo>
                  <a:pt x="21996" y="1762282"/>
                </a:lnTo>
                <a:lnTo>
                  <a:pt x="19502" y="1759126"/>
                </a:lnTo>
                <a:lnTo>
                  <a:pt x="17007" y="1756421"/>
                </a:lnTo>
                <a:lnTo>
                  <a:pt x="14513" y="1753040"/>
                </a:lnTo>
                <a:lnTo>
                  <a:pt x="12472" y="1750110"/>
                </a:lnTo>
                <a:lnTo>
                  <a:pt x="10431" y="1746955"/>
                </a:lnTo>
                <a:lnTo>
                  <a:pt x="8390" y="1743348"/>
                </a:lnTo>
                <a:lnTo>
                  <a:pt x="6803" y="1740193"/>
                </a:lnTo>
                <a:lnTo>
                  <a:pt x="5442" y="1736361"/>
                </a:lnTo>
                <a:lnTo>
                  <a:pt x="3855" y="1732755"/>
                </a:lnTo>
                <a:lnTo>
                  <a:pt x="2948" y="1729148"/>
                </a:lnTo>
                <a:lnTo>
                  <a:pt x="1814" y="1725317"/>
                </a:lnTo>
                <a:lnTo>
                  <a:pt x="1134" y="1721485"/>
                </a:lnTo>
                <a:lnTo>
                  <a:pt x="680" y="1717428"/>
                </a:lnTo>
                <a:lnTo>
                  <a:pt x="227" y="1713822"/>
                </a:lnTo>
                <a:lnTo>
                  <a:pt x="0" y="1709764"/>
                </a:lnTo>
                <a:lnTo>
                  <a:pt x="0" y="1644625"/>
                </a:lnTo>
                <a:lnTo>
                  <a:pt x="227" y="1640568"/>
                </a:lnTo>
                <a:lnTo>
                  <a:pt x="680" y="1636736"/>
                </a:lnTo>
                <a:lnTo>
                  <a:pt x="1134" y="1632679"/>
                </a:lnTo>
                <a:lnTo>
                  <a:pt x="1814" y="1629073"/>
                </a:lnTo>
                <a:lnTo>
                  <a:pt x="2948" y="1625241"/>
                </a:lnTo>
                <a:lnTo>
                  <a:pt x="3855" y="1621409"/>
                </a:lnTo>
                <a:lnTo>
                  <a:pt x="5442" y="1618028"/>
                </a:lnTo>
                <a:lnTo>
                  <a:pt x="6803" y="1614196"/>
                </a:lnTo>
                <a:lnTo>
                  <a:pt x="8390" y="1610815"/>
                </a:lnTo>
                <a:lnTo>
                  <a:pt x="10431" y="1607434"/>
                </a:lnTo>
                <a:lnTo>
                  <a:pt x="12472" y="1604054"/>
                </a:lnTo>
                <a:lnTo>
                  <a:pt x="14513" y="1601123"/>
                </a:lnTo>
                <a:lnTo>
                  <a:pt x="17007" y="1597968"/>
                </a:lnTo>
                <a:lnTo>
                  <a:pt x="19502" y="1595038"/>
                </a:lnTo>
                <a:lnTo>
                  <a:pt x="21996" y="1592108"/>
                </a:lnTo>
                <a:lnTo>
                  <a:pt x="24717" y="1589628"/>
                </a:lnTo>
                <a:lnTo>
                  <a:pt x="27892" y="1586923"/>
                </a:lnTo>
                <a:lnTo>
                  <a:pt x="30840" y="1584669"/>
                </a:lnTo>
                <a:lnTo>
                  <a:pt x="33788" y="1581965"/>
                </a:lnTo>
                <a:lnTo>
                  <a:pt x="37416" y="1580162"/>
                </a:lnTo>
                <a:lnTo>
                  <a:pt x="40591" y="1578133"/>
                </a:lnTo>
                <a:lnTo>
                  <a:pt x="44219" y="1576104"/>
                </a:lnTo>
                <a:lnTo>
                  <a:pt x="48074" y="1574301"/>
                </a:lnTo>
                <a:lnTo>
                  <a:pt x="51476" y="1572723"/>
                </a:lnTo>
                <a:lnTo>
                  <a:pt x="55558" y="1571596"/>
                </a:lnTo>
                <a:lnTo>
                  <a:pt x="59413" y="1570244"/>
                </a:lnTo>
                <a:lnTo>
                  <a:pt x="63494" y="1569117"/>
                </a:lnTo>
                <a:lnTo>
                  <a:pt x="67349" y="1568216"/>
                </a:lnTo>
                <a:lnTo>
                  <a:pt x="71431" y="1567539"/>
                </a:lnTo>
                <a:lnTo>
                  <a:pt x="75740" y="1567089"/>
                </a:lnTo>
                <a:lnTo>
                  <a:pt x="80048" y="1566863"/>
                </a:lnTo>
                <a:close/>
                <a:moveTo>
                  <a:pt x="837043" y="738188"/>
                </a:moveTo>
                <a:lnTo>
                  <a:pt x="839735" y="738188"/>
                </a:lnTo>
                <a:lnTo>
                  <a:pt x="912639" y="738188"/>
                </a:lnTo>
                <a:lnTo>
                  <a:pt x="915107" y="738188"/>
                </a:lnTo>
                <a:lnTo>
                  <a:pt x="917575" y="738870"/>
                </a:lnTo>
                <a:lnTo>
                  <a:pt x="920042" y="739324"/>
                </a:lnTo>
                <a:lnTo>
                  <a:pt x="922285" y="740232"/>
                </a:lnTo>
                <a:lnTo>
                  <a:pt x="924529" y="741368"/>
                </a:lnTo>
                <a:lnTo>
                  <a:pt x="926772" y="742504"/>
                </a:lnTo>
                <a:lnTo>
                  <a:pt x="928791" y="743867"/>
                </a:lnTo>
                <a:lnTo>
                  <a:pt x="930585" y="745684"/>
                </a:lnTo>
                <a:lnTo>
                  <a:pt x="932155" y="747047"/>
                </a:lnTo>
                <a:lnTo>
                  <a:pt x="933501" y="749091"/>
                </a:lnTo>
                <a:lnTo>
                  <a:pt x="934847" y="751135"/>
                </a:lnTo>
                <a:lnTo>
                  <a:pt x="936193" y="753407"/>
                </a:lnTo>
                <a:lnTo>
                  <a:pt x="936866" y="755678"/>
                </a:lnTo>
                <a:lnTo>
                  <a:pt x="937315" y="757950"/>
                </a:lnTo>
                <a:lnTo>
                  <a:pt x="937763" y="760448"/>
                </a:lnTo>
                <a:lnTo>
                  <a:pt x="938212" y="762947"/>
                </a:lnTo>
                <a:lnTo>
                  <a:pt x="938212" y="1145229"/>
                </a:lnTo>
                <a:lnTo>
                  <a:pt x="937763" y="1147728"/>
                </a:lnTo>
                <a:lnTo>
                  <a:pt x="937315" y="1150227"/>
                </a:lnTo>
                <a:lnTo>
                  <a:pt x="936866" y="1152498"/>
                </a:lnTo>
                <a:lnTo>
                  <a:pt x="936193" y="1154770"/>
                </a:lnTo>
                <a:lnTo>
                  <a:pt x="934847" y="1157041"/>
                </a:lnTo>
                <a:lnTo>
                  <a:pt x="933501" y="1159085"/>
                </a:lnTo>
                <a:lnTo>
                  <a:pt x="932155" y="1160902"/>
                </a:lnTo>
                <a:lnTo>
                  <a:pt x="930585" y="1162720"/>
                </a:lnTo>
                <a:lnTo>
                  <a:pt x="928791" y="1164537"/>
                </a:lnTo>
                <a:lnTo>
                  <a:pt x="926772" y="1165672"/>
                </a:lnTo>
                <a:lnTo>
                  <a:pt x="924529" y="1167035"/>
                </a:lnTo>
                <a:lnTo>
                  <a:pt x="922285" y="1167944"/>
                </a:lnTo>
                <a:lnTo>
                  <a:pt x="920042" y="1168852"/>
                </a:lnTo>
                <a:lnTo>
                  <a:pt x="917575" y="1169534"/>
                </a:lnTo>
                <a:lnTo>
                  <a:pt x="915107" y="1169761"/>
                </a:lnTo>
                <a:lnTo>
                  <a:pt x="912639" y="1169988"/>
                </a:lnTo>
                <a:lnTo>
                  <a:pt x="839735" y="1169988"/>
                </a:lnTo>
                <a:lnTo>
                  <a:pt x="837043" y="1169761"/>
                </a:lnTo>
                <a:lnTo>
                  <a:pt x="834576" y="1169534"/>
                </a:lnTo>
                <a:lnTo>
                  <a:pt x="832108" y="1168852"/>
                </a:lnTo>
                <a:lnTo>
                  <a:pt x="829865" y="1167944"/>
                </a:lnTo>
                <a:lnTo>
                  <a:pt x="827622" y="1167035"/>
                </a:lnTo>
                <a:lnTo>
                  <a:pt x="825603" y="1165672"/>
                </a:lnTo>
                <a:lnTo>
                  <a:pt x="823584" y="1164537"/>
                </a:lnTo>
                <a:lnTo>
                  <a:pt x="821790" y="1162720"/>
                </a:lnTo>
                <a:lnTo>
                  <a:pt x="819995" y="1160902"/>
                </a:lnTo>
                <a:lnTo>
                  <a:pt x="818649" y="1159085"/>
                </a:lnTo>
                <a:lnTo>
                  <a:pt x="817303" y="1157041"/>
                </a:lnTo>
                <a:lnTo>
                  <a:pt x="816406" y="1154770"/>
                </a:lnTo>
                <a:lnTo>
                  <a:pt x="815284" y="1152498"/>
                </a:lnTo>
                <a:lnTo>
                  <a:pt x="814836" y="1150227"/>
                </a:lnTo>
                <a:lnTo>
                  <a:pt x="814387" y="1147728"/>
                </a:lnTo>
                <a:lnTo>
                  <a:pt x="814387" y="1145229"/>
                </a:lnTo>
                <a:lnTo>
                  <a:pt x="814387" y="762947"/>
                </a:lnTo>
                <a:lnTo>
                  <a:pt x="814387" y="760448"/>
                </a:lnTo>
                <a:lnTo>
                  <a:pt x="814836" y="757950"/>
                </a:lnTo>
                <a:lnTo>
                  <a:pt x="815284" y="755678"/>
                </a:lnTo>
                <a:lnTo>
                  <a:pt x="816406" y="753407"/>
                </a:lnTo>
                <a:lnTo>
                  <a:pt x="817303" y="751135"/>
                </a:lnTo>
                <a:lnTo>
                  <a:pt x="818649" y="749091"/>
                </a:lnTo>
                <a:lnTo>
                  <a:pt x="819995" y="747047"/>
                </a:lnTo>
                <a:lnTo>
                  <a:pt x="821790" y="745684"/>
                </a:lnTo>
                <a:lnTo>
                  <a:pt x="823584" y="743867"/>
                </a:lnTo>
                <a:lnTo>
                  <a:pt x="825603" y="742504"/>
                </a:lnTo>
                <a:lnTo>
                  <a:pt x="827622" y="741368"/>
                </a:lnTo>
                <a:lnTo>
                  <a:pt x="829865" y="740232"/>
                </a:lnTo>
                <a:lnTo>
                  <a:pt x="832108" y="739324"/>
                </a:lnTo>
                <a:lnTo>
                  <a:pt x="834576" y="738870"/>
                </a:lnTo>
                <a:lnTo>
                  <a:pt x="837043" y="738188"/>
                </a:lnTo>
                <a:close/>
                <a:moveTo>
                  <a:pt x="1318322" y="671513"/>
                </a:moveTo>
                <a:lnTo>
                  <a:pt x="1320794" y="671513"/>
                </a:lnTo>
                <a:lnTo>
                  <a:pt x="1394056" y="671513"/>
                </a:lnTo>
                <a:lnTo>
                  <a:pt x="1396528" y="671513"/>
                </a:lnTo>
                <a:lnTo>
                  <a:pt x="1399000" y="671966"/>
                </a:lnTo>
                <a:lnTo>
                  <a:pt x="1401472" y="672873"/>
                </a:lnTo>
                <a:lnTo>
                  <a:pt x="1403719" y="673553"/>
                </a:lnTo>
                <a:lnTo>
                  <a:pt x="1405966" y="674913"/>
                </a:lnTo>
                <a:lnTo>
                  <a:pt x="1408213" y="676273"/>
                </a:lnTo>
                <a:lnTo>
                  <a:pt x="1410011" y="677860"/>
                </a:lnTo>
                <a:lnTo>
                  <a:pt x="1412034" y="679900"/>
                </a:lnTo>
                <a:lnTo>
                  <a:pt x="1413607" y="681941"/>
                </a:lnTo>
                <a:lnTo>
                  <a:pt x="1414955" y="683981"/>
                </a:lnTo>
                <a:lnTo>
                  <a:pt x="1416304" y="686474"/>
                </a:lnTo>
                <a:lnTo>
                  <a:pt x="1417203" y="688968"/>
                </a:lnTo>
                <a:lnTo>
                  <a:pt x="1418326" y="691461"/>
                </a:lnTo>
                <a:lnTo>
                  <a:pt x="1418776" y="694181"/>
                </a:lnTo>
                <a:lnTo>
                  <a:pt x="1419225" y="696902"/>
                </a:lnTo>
                <a:lnTo>
                  <a:pt x="1419225" y="699848"/>
                </a:lnTo>
                <a:lnTo>
                  <a:pt x="1419225" y="1141426"/>
                </a:lnTo>
                <a:lnTo>
                  <a:pt x="1419225" y="1144373"/>
                </a:lnTo>
                <a:lnTo>
                  <a:pt x="1418776" y="1147320"/>
                </a:lnTo>
                <a:lnTo>
                  <a:pt x="1418326" y="1149813"/>
                </a:lnTo>
                <a:lnTo>
                  <a:pt x="1417203" y="1152534"/>
                </a:lnTo>
                <a:lnTo>
                  <a:pt x="1416304" y="1155254"/>
                </a:lnTo>
                <a:lnTo>
                  <a:pt x="1414955" y="1157521"/>
                </a:lnTo>
                <a:lnTo>
                  <a:pt x="1413607" y="1159787"/>
                </a:lnTo>
                <a:lnTo>
                  <a:pt x="1412034" y="1161601"/>
                </a:lnTo>
                <a:lnTo>
                  <a:pt x="1410011" y="1163414"/>
                </a:lnTo>
                <a:lnTo>
                  <a:pt x="1408213" y="1165228"/>
                </a:lnTo>
                <a:lnTo>
                  <a:pt x="1405966" y="1166588"/>
                </a:lnTo>
                <a:lnTo>
                  <a:pt x="1403719" y="1167721"/>
                </a:lnTo>
                <a:lnTo>
                  <a:pt x="1401472" y="1168855"/>
                </a:lnTo>
                <a:lnTo>
                  <a:pt x="1399000" y="1169535"/>
                </a:lnTo>
                <a:lnTo>
                  <a:pt x="1396528" y="1169761"/>
                </a:lnTo>
                <a:lnTo>
                  <a:pt x="1394056" y="1169988"/>
                </a:lnTo>
                <a:lnTo>
                  <a:pt x="1320794" y="1169988"/>
                </a:lnTo>
                <a:lnTo>
                  <a:pt x="1318322" y="1169761"/>
                </a:lnTo>
                <a:lnTo>
                  <a:pt x="1315850" y="1169535"/>
                </a:lnTo>
                <a:lnTo>
                  <a:pt x="1313154" y="1168855"/>
                </a:lnTo>
                <a:lnTo>
                  <a:pt x="1310906" y="1167721"/>
                </a:lnTo>
                <a:lnTo>
                  <a:pt x="1308659" y="1166588"/>
                </a:lnTo>
                <a:lnTo>
                  <a:pt x="1306861" y="1165228"/>
                </a:lnTo>
                <a:lnTo>
                  <a:pt x="1304839" y="1163414"/>
                </a:lnTo>
                <a:lnTo>
                  <a:pt x="1303041" y="1161601"/>
                </a:lnTo>
                <a:lnTo>
                  <a:pt x="1301243" y="1159787"/>
                </a:lnTo>
                <a:lnTo>
                  <a:pt x="1299670" y="1157521"/>
                </a:lnTo>
                <a:lnTo>
                  <a:pt x="1298546" y="1155254"/>
                </a:lnTo>
                <a:lnTo>
                  <a:pt x="1297423" y="1152534"/>
                </a:lnTo>
                <a:lnTo>
                  <a:pt x="1296524" y="1149813"/>
                </a:lnTo>
                <a:lnTo>
                  <a:pt x="1296074" y="1147320"/>
                </a:lnTo>
                <a:lnTo>
                  <a:pt x="1295400" y="1144373"/>
                </a:lnTo>
                <a:lnTo>
                  <a:pt x="1295400" y="1141426"/>
                </a:lnTo>
                <a:lnTo>
                  <a:pt x="1295400" y="699848"/>
                </a:lnTo>
                <a:lnTo>
                  <a:pt x="1295400" y="696902"/>
                </a:lnTo>
                <a:lnTo>
                  <a:pt x="1296074" y="694181"/>
                </a:lnTo>
                <a:lnTo>
                  <a:pt x="1296524" y="691461"/>
                </a:lnTo>
                <a:lnTo>
                  <a:pt x="1297423" y="688968"/>
                </a:lnTo>
                <a:lnTo>
                  <a:pt x="1298546" y="686474"/>
                </a:lnTo>
                <a:lnTo>
                  <a:pt x="1299670" y="683981"/>
                </a:lnTo>
                <a:lnTo>
                  <a:pt x="1301243" y="681941"/>
                </a:lnTo>
                <a:lnTo>
                  <a:pt x="1303041" y="679900"/>
                </a:lnTo>
                <a:lnTo>
                  <a:pt x="1304839" y="677860"/>
                </a:lnTo>
                <a:lnTo>
                  <a:pt x="1306861" y="676273"/>
                </a:lnTo>
                <a:lnTo>
                  <a:pt x="1308659" y="674913"/>
                </a:lnTo>
                <a:lnTo>
                  <a:pt x="1310906" y="673553"/>
                </a:lnTo>
                <a:lnTo>
                  <a:pt x="1313154" y="672873"/>
                </a:lnTo>
                <a:lnTo>
                  <a:pt x="1315850" y="671966"/>
                </a:lnTo>
                <a:lnTo>
                  <a:pt x="1318322" y="671513"/>
                </a:lnTo>
                <a:close/>
                <a:moveTo>
                  <a:pt x="988416" y="671513"/>
                </a:moveTo>
                <a:lnTo>
                  <a:pt x="990920" y="671513"/>
                </a:lnTo>
                <a:lnTo>
                  <a:pt x="1065121" y="671513"/>
                </a:lnTo>
                <a:lnTo>
                  <a:pt x="1067624" y="671513"/>
                </a:lnTo>
                <a:lnTo>
                  <a:pt x="1070128" y="671966"/>
                </a:lnTo>
                <a:lnTo>
                  <a:pt x="1072632" y="672873"/>
                </a:lnTo>
                <a:lnTo>
                  <a:pt x="1074908" y="673553"/>
                </a:lnTo>
                <a:lnTo>
                  <a:pt x="1077184" y="674913"/>
                </a:lnTo>
                <a:lnTo>
                  <a:pt x="1079460" y="676273"/>
                </a:lnTo>
                <a:lnTo>
                  <a:pt x="1081281" y="677860"/>
                </a:lnTo>
                <a:lnTo>
                  <a:pt x="1083330" y="679900"/>
                </a:lnTo>
                <a:lnTo>
                  <a:pt x="1084923" y="681941"/>
                </a:lnTo>
                <a:lnTo>
                  <a:pt x="1086288" y="683981"/>
                </a:lnTo>
                <a:lnTo>
                  <a:pt x="1087654" y="686474"/>
                </a:lnTo>
                <a:lnTo>
                  <a:pt x="1088565" y="688968"/>
                </a:lnTo>
                <a:lnTo>
                  <a:pt x="1089703" y="691461"/>
                </a:lnTo>
                <a:lnTo>
                  <a:pt x="1090158" y="694181"/>
                </a:lnTo>
                <a:lnTo>
                  <a:pt x="1090613" y="696902"/>
                </a:lnTo>
                <a:lnTo>
                  <a:pt x="1090613" y="699848"/>
                </a:lnTo>
                <a:lnTo>
                  <a:pt x="1090613" y="1141426"/>
                </a:lnTo>
                <a:lnTo>
                  <a:pt x="1090613" y="1144373"/>
                </a:lnTo>
                <a:lnTo>
                  <a:pt x="1090158" y="1147320"/>
                </a:lnTo>
                <a:lnTo>
                  <a:pt x="1089703" y="1149813"/>
                </a:lnTo>
                <a:lnTo>
                  <a:pt x="1088565" y="1152534"/>
                </a:lnTo>
                <a:lnTo>
                  <a:pt x="1087654" y="1155254"/>
                </a:lnTo>
                <a:lnTo>
                  <a:pt x="1086288" y="1157521"/>
                </a:lnTo>
                <a:lnTo>
                  <a:pt x="1084923" y="1159787"/>
                </a:lnTo>
                <a:lnTo>
                  <a:pt x="1083330" y="1161601"/>
                </a:lnTo>
                <a:lnTo>
                  <a:pt x="1081281" y="1163414"/>
                </a:lnTo>
                <a:lnTo>
                  <a:pt x="1079460" y="1165228"/>
                </a:lnTo>
                <a:lnTo>
                  <a:pt x="1077184" y="1166588"/>
                </a:lnTo>
                <a:lnTo>
                  <a:pt x="1074908" y="1167721"/>
                </a:lnTo>
                <a:lnTo>
                  <a:pt x="1072632" y="1168855"/>
                </a:lnTo>
                <a:lnTo>
                  <a:pt x="1070128" y="1169535"/>
                </a:lnTo>
                <a:lnTo>
                  <a:pt x="1067624" y="1169761"/>
                </a:lnTo>
                <a:lnTo>
                  <a:pt x="1065121" y="1169988"/>
                </a:lnTo>
                <a:lnTo>
                  <a:pt x="990920" y="1169988"/>
                </a:lnTo>
                <a:lnTo>
                  <a:pt x="988416" y="1169761"/>
                </a:lnTo>
                <a:lnTo>
                  <a:pt x="985685" y="1169535"/>
                </a:lnTo>
                <a:lnTo>
                  <a:pt x="983181" y="1168855"/>
                </a:lnTo>
                <a:lnTo>
                  <a:pt x="980905" y="1167721"/>
                </a:lnTo>
                <a:lnTo>
                  <a:pt x="978629" y="1166588"/>
                </a:lnTo>
                <a:lnTo>
                  <a:pt x="976581" y="1165228"/>
                </a:lnTo>
                <a:lnTo>
                  <a:pt x="974532" y="1163414"/>
                </a:lnTo>
                <a:lnTo>
                  <a:pt x="972939" y="1161601"/>
                </a:lnTo>
                <a:lnTo>
                  <a:pt x="971118" y="1159787"/>
                </a:lnTo>
                <a:lnTo>
                  <a:pt x="969525" y="1157521"/>
                </a:lnTo>
                <a:lnTo>
                  <a:pt x="968387" y="1155254"/>
                </a:lnTo>
                <a:lnTo>
                  <a:pt x="967249" y="1152534"/>
                </a:lnTo>
                <a:lnTo>
                  <a:pt x="966338" y="1149813"/>
                </a:lnTo>
                <a:lnTo>
                  <a:pt x="965883" y="1147320"/>
                </a:lnTo>
                <a:lnTo>
                  <a:pt x="965200" y="1144373"/>
                </a:lnTo>
                <a:lnTo>
                  <a:pt x="965200" y="1141426"/>
                </a:lnTo>
                <a:lnTo>
                  <a:pt x="965200" y="699848"/>
                </a:lnTo>
                <a:lnTo>
                  <a:pt x="965200" y="696902"/>
                </a:lnTo>
                <a:lnTo>
                  <a:pt x="965883" y="694181"/>
                </a:lnTo>
                <a:lnTo>
                  <a:pt x="966338" y="691461"/>
                </a:lnTo>
                <a:lnTo>
                  <a:pt x="967249" y="688968"/>
                </a:lnTo>
                <a:lnTo>
                  <a:pt x="968387" y="686474"/>
                </a:lnTo>
                <a:lnTo>
                  <a:pt x="969525" y="683981"/>
                </a:lnTo>
                <a:lnTo>
                  <a:pt x="971118" y="681941"/>
                </a:lnTo>
                <a:lnTo>
                  <a:pt x="972939" y="679900"/>
                </a:lnTo>
                <a:lnTo>
                  <a:pt x="974532" y="677860"/>
                </a:lnTo>
                <a:lnTo>
                  <a:pt x="976581" y="676273"/>
                </a:lnTo>
                <a:lnTo>
                  <a:pt x="978629" y="674913"/>
                </a:lnTo>
                <a:lnTo>
                  <a:pt x="980905" y="673553"/>
                </a:lnTo>
                <a:lnTo>
                  <a:pt x="983181" y="672873"/>
                </a:lnTo>
                <a:lnTo>
                  <a:pt x="985685" y="671966"/>
                </a:lnTo>
                <a:lnTo>
                  <a:pt x="988416" y="671513"/>
                </a:lnTo>
                <a:close/>
                <a:moveTo>
                  <a:pt x="1471932" y="590550"/>
                </a:moveTo>
                <a:lnTo>
                  <a:pt x="1546133" y="590550"/>
                </a:lnTo>
                <a:lnTo>
                  <a:pt x="1548636" y="590777"/>
                </a:lnTo>
                <a:lnTo>
                  <a:pt x="1551140" y="591231"/>
                </a:lnTo>
                <a:lnTo>
                  <a:pt x="1553644" y="592139"/>
                </a:lnTo>
                <a:lnTo>
                  <a:pt x="1555920" y="593274"/>
                </a:lnTo>
                <a:lnTo>
                  <a:pt x="1558196" y="594635"/>
                </a:lnTo>
                <a:lnTo>
                  <a:pt x="1560472" y="596451"/>
                </a:lnTo>
                <a:lnTo>
                  <a:pt x="1562293" y="598267"/>
                </a:lnTo>
                <a:lnTo>
                  <a:pt x="1564342" y="600537"/>
                </a:lnTo>
                <a:lnTo>
                  <a:pt x="1565707" y="602806"/>
                </a:lnTo>
                <a:lnTo>
                  <a:pt x="1567300" y="605303"/>
                </a:lnTo>
                <a:lnTo>
                  <a:pt x="1568666" y="608026"/>
                </a:lnTo>
                <a:lnTo>
                  <a:pt x="1569577" y="610750"/>
                </a:lnTo>
                <a:lnTo>
                  <a:pt x="1570487" y="613927"/>
                </a:lnTo>
                <a:lnTo>
                  <a:pt x="1571170" y="617105"/>
                </a:lnTo>
                <a:lnTo>
                  <a:pt x="1571625" y="620282"/>
                </a:lnTo>
                <a:lnTo>
                  <a:pt x="1571625" y="623687"/>
                </a:lnTo>
                <a:lnTo>
                  <a:pt x="1571625" y="1136851"/>
                </a:lnTo>
                <a:lnTo>
                  <a:pt x="1571625" y="1140256"/>
                </a:lnTo>
                <a:lnTo>
                  <a:pt x="1571170" y="1143433"/>
                </a:lnTo>
                <a:lnTo>
                  <a:pt x="1570487" y="1146838"/>
                </a:lnTo>
                <a:lnTo>
                  <a:pt x="1569577" y="1149788"/>
                </a:lnTo>
                <a:lnTo>
                  <a:pt x="1568666" y="1152512"/>
                </a:lnTo>
                <a:lnTo>
                  <a:pt x="1567300" y="1155462"/>
                </a:lnTo>
                <a:lnTo>
                  <a:pt x="1565707" y="1157959"/>
                </a:lnTo>
                <a:lnTo>
                  <a:pt x="1564342" y="1160229"/>
                </a:lnTo>
                <a:lnTo>
                  <a:pt x="1562293" y="1162498"/>
                </a:lnTo>
                <a:lnTo>
                  <a:pt x="1560472" y="1164314"/>
                </a:lnTo>
                <a:lnTo>
                  <a:pt x="1558196" y="1165903"/>
                </a:lnTo>
                <a:lnTo>
                  <a:pt x="1555920" y="1167492"/>
                </a:lnTo>
                <a:lnTo>
                  <a:pt x="1553644" y="1168399"/>
                </a:lnTo>
                <a:lnTo>
                  <a:pt x="1551140" y="1169307"/>
                </a:lnTo>
                <a:lnTo>
                  <a:pt x="1548636" y="1169761"/>
                </a:lnTo>
                <a:lnTo>
                  <a:pt x="1546133" y="1169988"/>
                </a:lnTo>
                <a:lnTo>
                  <a:pt x="1471932" y="1169988"/>
                </a:lnTo>
                <a:lnTo>
                  <a:pt x="1469201" y="1169761"/>
                </a:lnTo>
                <a:lnTo>
                  <a:pt x="1466697" y="1169307"/>
                </a:lnTo>
                <a:lnTo>
                  <a:pt x="1464193" y="1168399"/>
                </a:lnTo>
                <a:lnTo>
                  <a:pt x="1461917" y="1167492"/>
                </a:lnTo>
                <a:lnTo>
                  <a:pt x="1459641" y="1165903"/>
                </a:lnTo>
                <a:lnTo>
                  <a:pt x="1457593" y="1164314"/>
                </a:lnTo>
                <a:lnTo>
                  <a:pt x="1455544" y="1162498"/>
                </a:lnTo>
                <a:lnTo>
                  <a:pt x="1453496" y="1160229"/>
                </a:lnTo>
                <a:lnTo>
                  <a:pt x="1452130" y="1157959"/>
                </a:lnTo>
                <a:lnTo>
                  <a:pt x="1450537" y="1155462"/>
                </a:lnTo>
                <a:lnTo>
                  <a:pt x="1449399" y="1152512"/>
                </a:lnTo>
                <a:lnTo>
                  <a:pt x="1448261" y="1149788"/>
                </a:lnTo>
                <a:lnTo>
                  <a:pt x="1447350" y="1146838"/>
                </a:lnTo>
                <a:lnTo>
                  <a:pt x="1446667" y="1143433"/>
                </a:lnTo>
                <a:lnTo>
                  <a:pt x="1446212" y="1140256"/>
                </a:lnTo>
                <a:lnTo>
                  <a:pt x="1446212" y="1136851"/>
                </a:lnTo>
                <a:lnTo>
                  <a:pt x="1446212" y="623687"/>
                </a:lnTo>
                <a:lnTo>
                  <a:pt x="1446212" y="620282"/>
                </a:lnTo>
                <a:lnTo>
                  <a:pt x="1446667" y="617105"/>
                </a:lnTo>
                <a:lnTo>
                  <a:pt x="1447350" y="613927"/>
                </a:lnTo>
                <a:lnTo>
                  <a:pt x="1448261" y="610750"/>
                </a:lnTo>
                <a:lnTo>
                  <a:pt x="1449399" y="608026"/>
                </a:lnTo>
                <a:lnTo>
                  <a:pt x="1450537" y="605303"/>
                </a:lnTo>
                <a:lnTo>
                  <a:pt x="1452130" y="602806"/>
                </a:lnTo>
                <a:lnTo>
                  <a:pt x="1453496" y="600537"/>
                </a:lnTo>
                <a:lnTo>
                  <a:pt x="1455544" y="598267"/>
                </a:lnTo>
                <a:lnTo>
                  <a:pt x="1457593" y="596451"/>
                </a:lnTo>
                <a:lnTo>
                  <a:pt x="1459641" y="594635"/>
                </a:lnTo>
                <a:lnTo>
                  <a:pt x="1461917" y="593274"/>
                </a:lnTo>
                <a:lnTo>
                  <a:pt x="1464193" y="592139"/>
                </a:lnTo>
                <a:lnTo>
                  <a:pt x="1466697" y="591231"/>
                </a:lnTo>
                <a:lnTo>
                  <a:pt x="1469201" y="590777"/>
                </a:lnTo>
                <a:lnTo>
                  <a:pt x="1471932" y="590550"/>
                </a:lnTo>
                <a:close/>
                <a:moveTo>
                  <a:pt x="1152617" y="590550"/>
                </a:moveTo>
                <a:lnTo>
                  <a:pt x="1226818" y="590550"/>
                </a:lnTo>
                <a:lnTo>
                  <a:pt x="1229322" y="590777"/>
                </a:lnTo>
                <a:lnTo>
                  <a:pt x="1232053" y="591231"/>
                </a:lnTo>
                <a:lnTo>
                  <a:pt x="1234557" y="592139"/>
                </a:lnTo>
                <a:lnTo>
                  <a:pt x="1236833" y="593274"/>
                </a:lnTo>
                <a:lnTo>
                  <a:pt x="1239109" y="594635"/>
                </a:lnTo>
                <a:lnTo>
                  <a:pt x="1241158" y="596451"/>
                </a:lnTo>
                <a:lnTo>
                  <a:pt x="1242978" y="598267"/>
                </a:lnTo>
                <a:lnTo>
                  <a:pt x="1244799" y="600537"/>
                </a:lnTo>
                <a:lnTo>
                  <a:pt x="1246620" y="602806"/>
                </a:lnTo>
                <a:lnTo>
                  <a:pt x="1248213" y="605303"/>
                </a:lnTo>
                <a:lnTo>
                  <a:pt x="1249352" y="608026"/>
                </a:lnTo>
                <a:lnTo>
                  <a:pt x="1250490" y="610750"/>
                </a:lnTo>
                <a:lnTo>
                  <a:pt x="1251400" y="613927"/>
                </a:lnTo>
                <a:lnTo>
                  <a:pt x="1251855" y="617105"/>
                </a:lnTo>
                <a:lnTo>
                  <a:pt x="1252538" y="620282"/>
                </a:lnTo>
                <a:lnTo>
                  <a:pt x="1252538" y="623687"/>
                </a:lnTo>
                <a:lnTo>
                  <a:pt x="1252538" y="1136851"/>
                </a:lnTo>
                <a:lnTo>
                  <a:pt x="1252538" y="1140256"/>
                </a:lnTo>
                <a:lnTo>
                  <a:pt x="1251855" y="1143433"/>
                </a:lnTo>
                <a:lnTo>
                  <a:pt x="1251400" y="1146838"/>
                </a:lnTo>
                <a:lnTo>
                  <a:pt x="1250490" y="1149788"/>
                </a:lnTo>
                <a:lnTo>
                  <a:pt x="1249352" y="1152512"/>
                </a:lnTo>
                <a:lnTo>
                  <a:pt x="1248213" y="1155462"/>
                </a:lnTo>
                <a:lnTo>
                  <a:pt x="1246620" y="1157959"/>
                </a:lnTo>
                <a:lnTo>
                  <a:pt x="1244799" y="1160229"/>
                </a:lnTo>
                <a:lnTo>
                  <a:pt x="1242978" y="1162498"/>
                </a:lnTo>
                <a:lnTo>
                  <a:pt x="1241158" y="1164314"/>
                </a:lnTo>
                <a:lnTo>
                  <a:pt x="1239109" y="1165903"/>
                </a:lnTo>
                <a:lnTo>
                  <a:pt x="1236833" y="1167492"/>
                </a:lnTo>
                <a:lnTo>
                  <a:pt x="1234557" y="1168399"/>
                </a:lnTo>
                <a:lnTo>
                  <a:pt x="1232053" y="1169307"/>
                </a:lnTo>
                <a:lnTo>
                  <a:pt x="1229322" y="1169761"/>
                </a:lnTo>
                <a:lnTo>
                  <a:pt x="1226818" y="1169988"/>
                </a:lnTo>
                <a:lnTo>
                  <a:pt x="1152617" y="1169988"/>
                </a:lnTo>
                <a:lnTo>
                  <a:pt x="1150114" y="1169761"/>
                </a:lnTo>
                <a:lnTo>
                  <a:pt x="1147610" y="1169307"/>
                </a:lnTo>
                <a:lnTo>
                  <a:pt x="1145106" y="1168399"/>
                </a:lnTo>
                <a:lnTo>
                  <a:pt x="1142830" y="1167492"/>
                </a:lnTo>
                <a:lnTo>
                  <a:pt x="1140554" y="1165903"/>
                </a:lnTo>
                <a:lnTo>
                  <a:pt x="1138278" y="1164314"/>
                </a:lnTo>
                <a:lnTo>
                  <a:pt x="1136457" y="1162498"/>
                </a:lnTo>
                <a:lnTo>
                  <a:pt x="1134409" y="1160229"/>
                </a:lnTo>
                <a:lnTo>
                  <a:pt x="1132815" y="1157959"/>
                </a:lnTo>
                <a:lnTo>
                  <a:pt x="1131450" y="1155462"/>
                </a:lnTo>
                <a:lnTo>
                  <a:pt x="1130084" y="1152512"/>
                </a:lnTo>
                <a:lnTo>
                  <a:pt x="1129174" y="1149788"/>
                </a:lnTo>
                <a:lnTo>
                  <a:pt x="1128036" y="1146838"/>
                </a:lnTo>
                <a:lnTo>
                  <a:pt x="1127580" y="1143433"/>
                </a:lnTo>
                <a:lnTo>
                  <a:pt x="1127125" y="1140256"/>
                </a:lnTo>
                <a:lnTo>
                  <a:pt x="1127125" y="1136851"/>
                </a:lnTo>
                <a:lnTo>
                  <a:pt x="1127125" y="623687"/>
                </a:lnTo>
                <a:lnTo>
                  <a:pt x="1127125" y="620282"/>
                </a:lnTo>
                <a:lnTo>
                  <a:pt x="1127580" y="617105"/>
                </a:lnTo>
                <a:lnTo>
                  <a:pt x="1128036" y="613927"/>
                </a:lnTo>
                <a:lnTo>
                  <a:pt x="1129174" y="610750"/>
                </a:lnTo>
                <a:lnTo>
                  <a:pt x="1130084" y="608026"/>
                </a:lnTo>
                <a:lnTo>
                  <a:pt x="1131450" y="605303"/>
                </a:lnTo>
                <a:lnTo>
                  <a:pt x="1132815" y="602806"/>
                </a:lnTo>
                <a:lnTo>
                  <a:pt x="1134409" y="600537"/>
                </a:lnTo>
                <a:lnTo>
                  <a:pt x="1136457" y="598267"/>
                </a:lnTo>
                <a:lnTo>
                  <a:pt x="1138278" y="596451"/>
                </a:lnTo>
                <a:lnTo>
                  <a:pt x="1140554" y="594635"/>
                </a:lnTo>
                <a:lnTo>
                  <a:pt x="1142830" y="593274"/>
                </a:lnTo>
                <a:lnTo>
                  <a:pt x="1145106" y="592139"/>
                </a:lnTo>
                <a:lnTo>
                  <a:pt x="1147610" y="591231"/>
                </a:lnTo>
                <a:lnTo>
                  <a:pt x="1150114" y="590777"/>
                </a:lnTo>
                <a:lnTo>
                  <a:pt x="1152617" y="590550"/>
                </a:lnTo>
                <a:close/>
                <a:moveTo>
                  <a:pt x="1633857" y="508000"/>
                </a:moveTo>
                <a:lnTo>
                  <a:pt x="1707830" y="508000"/>
                </a:lnTo>
                <a:lnTo>
                  <a:pt x="1710561" y="508227"/>
                </a:lnTo>
                <a:lnTo>
                  <a:pt x="1713065" y="508680"/>
                </a:lnTo>
                <a:lnTo>
                  <a:pt x="1715797" y="509814"/>
                </a:lnTo>
                <a:lnTo>
                  <a:pt x="1718073" y="510947"/>
                </a:lnTo>
                <a:lnTo>
                  <a:pt x="1720349" y="512534"/>
                </a:lnTo>
                <a:lnTo>
                  <a:pt x="1722170" y="514575"/>
                </a:lnTo>
                <a:lnTo>
                  <a:pt x="1724218" y="516842"/>
                </a:lnTo>
                <a:lnTo>
                  <a:pt x="1726039" y="519109"/>
                </a:lnTo>
                <a:lnTo>
                  <a:pt x="1727860" y="521829"/>
                </a:lnTo>
                <a:lnTo>
                  <a:pt x="1729453" y="524550"/>
                </a:lnTo>
                <a:lnTo>
                  <a:pt x="1730591" y="527950"/>
                </a:lnTo>
                <a:lnTo>
                  <a:pt x="1731729" y="531124"/>
                </a:lnTo>
                <a:lnTo>
                  <a:pt x="1732640" y="534752"/>
                </a:lnTo>
                <a:lnTo>
                  <a:pt x="1733095" y="538152"/>
                </a:lnTo>
                <a:lnTo>
                  <a:pt x="1733550" y="542006"/>
                </a:lnTo>
                <a:lnTo>
                  <a:pt x="1733550" y="545860"/>
                </a:lnTo>
                <a:lnTo>
                  <a:pt x="1733550" y="1132128"/>
                </a:lnTo>
                <a:lnTo>
                  <a:pt x="1733550" y="1135982"/>
                </a:lnTo>
                <a:lnTo>
                  <a:pt x="1733095" y="1139836"/>
                </a:lnTo>
                <a:lnTo>
                  <a:pt x="1732640" y="1143463"/>
                </a:lnTo>
                <a:lnTo>
                  <a:pt x="1731729" y="1146864"/>
                </a:lnTo>
                <a:lnTo>
                  <a:pt x="1730591" y="1150038"/>
                </a:lnTo>
                <a:lnTo>
                  <a:pt x="1729453" y="1153438"/>
                </a:lnTo>
                <a:lnTo>
                  <a:pt x="1727860" y="1156159"/>
                </a:lnTo>
                <a:lnTo>
                  <a:pt x="1726039" y="1158879"/>
                </a:lnTo>
                <a:lnTo>
                  <a:pt x="1724218" y="1161373"/>
                </a:lnTo>
                <a:lnTo>
                  <a:pt x="1722170" y="1163414"/>
                </a:lnTo>
                <a:lnTo>
                  <a:pt x="1720349" y="1165454"/>
                </a:lnTo>
                <a:lnTo>
                  <a:pt x="1718073" y="1167041"/>
                </a:lnTo>
                <a:lnTo>
                  <a:pt x="1715797" y="1168174"/>
                </a:lnTo>
                <a:lnTo>
                  <a:pt x="1713065" y="1169308"/>
                </a:lnTo>
                <a:lnTo>
                  <a:pt x="1710561" y="1169761"/>
                </a:lnTo>
                <a:lnTo>
                  <a:pt x="1707830" y="1169988"/>
                </a:lnTo>
                <a:lnTo>
                  <a:pt x="1633857" y="1169988"/>
                </a:lnTo>
                <a:lnTo>
                  <a:pt x="1631353" y="1169761"/>
                </a:lnTo>
                <a:lnTo>
                  <a:pt x="1628850" y="1169308"/>
                </a:lnTo>
                <a:lnTo>
                  <a:pt x="1626346" y="1168174"/>
                </a:lnTo>
                <a:lnTo>
                  <a:pt x="1624070" y="1167041"/>
                </a:lnTo>
                <a:lnTo>
                  <a:pt x="1621794" y="1165454"/>
                </a:lnTo>
                <a:lnTo>
                  <a:pt x="1619518" y="1163414"/>
                </a:lnTo>
                <a:lnTo>
                  <a:pt x="1617469" y="1161373"/>
                </a:lnTo>
                <a:lnTo>
                  <a:pt x="1615648" y="1158879"/>
                </a:lnTo>
                <a:lnTo>
                  <a:pt x="1614055" y="1156159"/>
                </a:lnTo>
                <a:lnTo>
                  <a:pt x="1612689" y="1153438"/>
                </a:lnTo>
                <a:lnTo>
                  <a:pt x="1611324" y="1150038"/>
                </a:lnTo>
                <a:lnTo>
                  <a:pt x="1610186" y="1146864"/>
                </a:lnTo>
                <a:lnTo>
                  <a:pt x="1609275" y="1143463"/>
                </a:lnTo>
                <a:lnTo>
                  <a:pt x="1608820" y="1139836"/>
                </a:lnTo>
                <a:lnTo>
                  <a:pt x="1608365" y="1135982"/>
                </a:lnTo>
                <a:lnTo>
                  <a:pt x="1608137" y="1132128"/>
                </a:lnTo>
                <a:lnTo>
                  <a:pt x="1608137" y="545860"/>
                </a:lnTo>
                <a:lnTo>
                  <a:pt x="1608365" y="542006"/>
                </a:lnTo>
                <a:lnTo>
                  <a:pt x="1608820" y="538152"/>
                </a:lnTo>
                <a:lnTo>
                  <a:pt x="1609275" y="534752"/>
                </a:lnTo>
                <a:lnTo>
                  <a:pt x="1610186" y="531124"/>
                </a:lnTo>
                <a:lnTo>
                  <a:pt x="1611324" y="527950"/>
                </a:lnTo>
                <a:lnTo>
                  <a:pt x="1612689" y="524550"/>
                </a:lnTo>
                <a:lnTo>
                  <a:pt x="1614055" y="521829"/>
                </a:lnTo>
                <a:lnTo>
                  <a:pt x="1615648" y="519109"/>
                </a:lnTo>
                <a:lnTo>
                  <a:pt x="1617469" y="516842"/>
                </a:lnTo>
                <a:lnTo>
                  <a:pt x="1619518" y="514575"/>
                </a:lnTo>
                <a:lnTo>
                  <a:pt x="1621794" y="512534"/>
                </a:lnTo>
                <a:lnTo>
                  <a:pt x="1624070" y="510947"/>
                </a:lnTo>
                <a:lnTo>
                  <a:pt x="1626346" y="509814"/>
                </a:lnTo>
                <a:lnTo>
                  <a:pt x="1628850" y="508680"/>
                </a:lnTo>
                <a:lnTo>
                  <a:pt x="1631353" y="508227"/>
                </a:lnTo>
                <a:lnTo>
                  <a:pt x="1633857" y="508000"/>
                </a:lnTo>
                <a:close/>
                <a:moveTo>
                  <a:pt x="1501548" y="319088"/>
                </a:moveTo>
                <a:lnTo>
                  <a:pt x="1733323" y="319088"/>
                </a:lnTo>
                <a:lnTo>
                  <a:pt x="1733323" y="319316"/>
                </a:lnTo>
                <a:lnTo>
                  <a:pt x="1733550" y="319316"/>
                </a:lnTo>
                <a:lnTo>
                  <a:pt x="1733550" y="464215"/>
                </a:lnTo>
                <a:lnTo>
                  <a:pt x="1637620" y="464215"/>
                </a:lnTo>
                <a:lnTo>
                  <a:pt x="1637620" y="418038"/>
                </a:lnTo>
                <a:lnTo>
                  <a:pt x="1318759" y="617303"/>
                </a:lnTo>
                <a:lnTo>
                  <a:pt x="1250723" y="574766"/>
                </a:lnTo>
                <a:lnTo>
                  <a:pt x="1253444" y="573174"/>
                </a:lnTo>
                <a:lnTo>
                  <a:pt x="1146628" y="506525"/>
                </a:lnTo>
                <a:lnTo>
                  <a:pt x="844096" y="695326"/>
                </a:lnTo>
                <a:lnTo>
                  <a:pt x="776287" y="653016"/>
                </a:lnTo>
                <a:lnTo>
                  <a:pt x="1147082" y="421450"/>
                </a:lnTo>
                <a:lnTo>
                  <a:pt x="1215118" y="463533"/>
                </a:lnTo>
                <a:lnTo>
                  <a:pt x="1214437" y="464215"/>
                </a:lnTo>
                <a:lnTo>
                  <a:pt x="1321253" y="530637"/>
                </a:lnTo>
                <a:lnTo>
                  <a:pt x="1564368" y="379141"/>
                </a:lnTo>
                <a:lnTo>
                  <a:pt x="1501548" y="379141"/>
                </a:lnTo>
                <a:lnTo>
                  <a:pt x="1501548" y="319088"/>
                </a:lnTo>
                <a:close/>
                <a:moveTo>
                  <a:pt x="229507" y="91395"/>
                </a:moveTo>
                <a:lnTo>
                  <a:pt x="225651" y="91621"/>
                </a:lnTo>
                <a:lnTo>
                  <a:pt x="221796" y="91848"/>
                </a:lnTo>
                <a:lnTo>
                  <a:pt x="218394" y="92075"/>
                </a:lnTo>
                <a:lnTo>
                  <a:pt x="214539" y="92755"/>
                </a:lnTo>
                <a:lnTo>
                  <a:pt x="210910" y="93662"/>
                </a:lnTo>
                <a:lnTo>
                  <a:pt x="207509" y="94570"/>
                </a:lnTo>
                <a:lnTo>
                  <a:pt x="204107" y="95704"/>
                </a:lnTo>
                <a:lnTo>
                  <a:pt x="200705" y="96837"/>
                </a:lnTo>
                <a:lnTo>
                  <a:pt x="197303" y="98198"/>
                </a:lnTo>
                <a:lnTo>
                  <a:pt x="194355" y="99559"/>
                </a:lnTo>
                <a:lnTo>
                  <a:pt x="191407" y="101373"/>
                </a:lnTo>
                <a:lnTo>
                  <a:pt x="188232" y="103187"/>
                </a:lnTo>
                <a:lnTo>
                  <a:pt x="185284" y="105002"/>
                </a:lnTo>
                <a:lnTo>
                  <a:pt x="182562" y="107270"/>
                </a:lnTo>
                <a:lnTo>
                  <a:pt x="179614" y="109311"/>
                </a:lnTo>
                <a:lnTo>
                  <a:pt x="177119" y="111579"/>
                </a:lnTo>
                <a:lnTo>
                  <a:pt x="174851" y="114073"/>
                </a:lnTo>
                <a:lnTo>
                  <a:pt x="172357" y="116568"/>
                </a:lnTo>
                <a:lnTo>
                  <a:pt x="170316" y="119062"/>
                </a:lnTo>
                <a:lnTo>
                  <a:pt x="168275" y="121784"/>
                </a:lnTo>
                <a:lnTo>
                  <a:pt x="166460" y="124505"/>
                </a:lnTo>
                <a:lnTo>
                  <a:pt x="164646" y="127454"/>
                </a:lnTo>
                <a:lnTo>
                  <a:pt x="162832" y="130402"/>
                </a:lnTo>
                <a:lnTo>
                  <a:pt x="161471" y="133350"/>
                </a:lnTo>
                <a:lnTo>
                  <a:pt x="160110" y="136525"/>
                </a:lnTo>
                <a:lnTo>
                  <a:pt x="158976" y="139700"/>
                </a:lnTo>
                <a:lnTo>
                  <a:pt x="158069" y="143102"/>
                </a:lnTo>
                <a:lnTo>
                  <a:pt x="156935" y="146277"/>
                </a:lnTo>
                <a:lnTo>
                  <a:pt x="156482" y="149679"/>
                </a:lnTo>
                <a:lnTo>
                  <a:pt x="156028" y="153080"/>
                </a:lnTo>
                <a:lnTo>
                  <a:pt x="155801" y="156709"/>
                </a:lnTo>
                <a:lnTo>
                  <a:pt x="155801" y="160111"/>
                </a:lnTo>
                <a:lnTo>
                  <a:pt x="155801" y="1330098"/>
                </a:lnTo>
                <a:lnTo>
                  <a:pt x="155801" y="1333500"/>
                </a:lnTo>
                <a:lnTo>
                  <a:pt x="156028" y="1337129"/>
                </a:lnTo>
                <a:lnTo>
                  <a:pt x="156482" y="1340531"/>
                </a:lnTo>
                <a:lnTo>
                  <a:pt x="156935" y="1343932"/>
                </a:lnTo>
                <a:lnTo>
                  <a:pt x="158069" y="1347561"/>
                </a:lnTo>
                <a:lnTo>
                  <a:pt x="158976" y="1350509"/>
                </a:lnTo>
                <a:lnTo>
                  <a:pt x="160110" y="1353684"/>
                </a:lnTo>
                <a:lnTo>
                  <a:pt x="161471" y="1357086"/>
                </a:lnTo>
                <a:lnTo>
                  <a:pt x="162832" y="1360034"/>
                </a:lnTo>
                <a:lnTo>
                  <a:pt x="164646" y="1362756"/>
                </a:lnTo>
                <a:lnTo>
                  <a:pt x="166460" y="1365931"/>
                </a:lnTo>
                <a:lnTo>
                  <a:pt x="168275" y="1368652"/>
                </a:lnTo>
                <a:lnTo>
                  <a:pt x="170316" y="1371373"/>
                </a:lnTo>
                <a:lnTo>
                  <a:pt x="172357" y="1373868"/>
                </a:lnTo>
                <a:lnTo>
                  <a:pt x="174851" y="1376590"/>
                </a:lnTo>
                <a:lnTo>
                  <a:pt x="177119" y="1378857"/>
                </a:lnTo>
                <a:lnTo>
                  <a:pt x="179614" y="1381125"/>
                </a:lnTo>
                <a:lnTo>
                  <a:pt x="182562" y="1383393"/>
                </a:lnTo>
                <a:lnTo>
                  <a:pt x="185284" y="1385207"/>
                </a:lnTo>
                <a:lnTo>
                  <a:pt x="188232" y="1387248"/>
                </a:lnTo>
                <a:lnTo>
                  <a:pt x="191407" y="1389063"/>
                </a:lnTo>
                <a:lnTo>
                  <a:pt x="194355" y="1390650"/>
                </a:lnTo>
                <a:lnTo>
                  <a:pt x="197303" y="1392238"/>
                </a:lnTo>
                <a:lnTo>
                  <a:pt x="200705" y="1393598"/>
                </a:lnTo>
                <a:lnTo>
                  <a:pt x="204107" y="1394959"/>
                </a:lnTo>
                <a:lnTo>
                  <a:pt x="207509" y="1395866"/>
                </a:lnTo>
                <a:lnTo>
                  <a:pt x="210910" y="1397000"/>
                </a:lnTo>
                <a:lnTo>
                  <a:pt x="214539" y="1397681"/>
                </a:lnTo>
                <a:lnTo>
                  <a:pt x="218394" y="1398134"/>
                </a:lnTo>
                <a:lnTo>
                  <a:pt x="221796" y="1398588"/>
                </a:lnTo>
                <a:lnTo>
                  <a:pt x="225651" y="1399041"/>
                </a:lnTo>
                <a:lnTo>
                  <a:pt x="229507" y="1399041"/>
                </a:lnTo>
                <a:lnTo>
                  <a:pt x="2280330" y="1399041"/>
                </a:lnTo>
                <a:lnTo>
                  <a:pt x="2284186" y="1399041"/>
                </a:lnTo>
                <a:lnTo>
                  <a:pt x="2288041" y="1398588"/>
                </a:lnTo>
                <a:lnTo>
                  <a:pt x="2291670" y="1398134"/>
                </a:lnTo>
                <a:lnTo>
                  <a:pt x="2295298" y="1397681"/>
                </a:lnTo>
                <a:lnTo>
                  <a:pt x="2299154" y="1397000"/>
                </a:lnTo>
                <a:lnTo>
                  <a:pt x="2302555" y="1395866"/>
                </a:lnTo>
                <a:lnTo>
                  <a:pt x="2305957" y="1394959"/>
                </a:lnTo>
                <a:lnTo>
                  <a:pt x="2309359" y="1393598"/>
                </a:lnTo>
                <a:lnTo>
                  <a:pt x="2312534" y="1392238"/>
                </a:lnTo>
                <a:lnTo>
                  <a:pt x="2315709" y="1390650"/>
                </a:lnTo>
                <a:lnTo>
                  <a:pt x="2318884" y="1389063"/>
                </a:lnTo>
                <a:lnTo>
                  <a:pt x="2321832" y="1387248"/>
                </a:lnTo>
                <a:lnTo>
                  <a:pt x="2324780" y="1385207"/>
                </a:lnTo>
                <a:lnTo>
                  <a:pt x="2327502" y="1383393"/>
                </a:lnTo>
                <a:lnTo>
                  <a:pt x="2330223" y="1381125"/>
                </a:lnTo>
                <a:lnTo>
                  <a:pt x="2332945" y="1378857"/>
                </a:lnTo>
                <a:lnTo>
                  <a:pt x="2335213" y="1376590"/>
                </a:lnTo>
                <a:lnTo>
                  <a:pt x="2337707" y="1373868"/>
                </a:lnTo>
                <a:lnTo>
                  <a:pt x="2339748" y="1371373"/>
                </a:lnTo>
                <a:lnTo>
                  <a:pt x="2341789" y="1368652"/>
                </a:lnTo>
                <a:lnTo>
                  <a:pt x="2343830" y="1365931"/>
                </a:lnTo>
                <a:lnTo>
                  <a:pt x="2345418" y="1362756"/>
                </a:lnTo>
                <a:lnTo>
                  <a:pt x="2347232" y="1360034"/>
                </a:lnTo>
                <a:lnTo>
                  <a:pt x="2348593" y="1357086"/>
                </a:lnTo>
                <a:lnTo>
                  <a:pt x="2350180" y="1353684"/>
                </a:lnTo>
                <a:lnTo>
                  <a:pt x="2351088" y="1350509"/>
                </a:lnTo>
                <a:lnTo>
                  <a:pt x="2351995" y="1347561"/>
                </a:lnTo>
                <a:lnTo>
                  <a:pt x="2352902" y="1343932"/>
                </a:lnTo>
                <a:lnTo>
                  <a:pt x="2353582" y="1340531"/>
                </a:lnTo>
                <a:lnTo>
                  <a:pt x="2354036" y="1337129"/>
                </a:lnTo>
                <a:lnTo>
                  <a:pt x="2354263" y="1333500"/>
                </a:lnTo>
                <a:lnTo>
                  <a:pt x="2354263" y="1330098"/>
                </a:lnTo>
                <a:lnTo>
                  <a:pt x="2354263" y="160111"/>
                </a:lnTo>
                <a:lnTo>
                  <a:pt x="2354263" y="156709"/>
                </a:lnTo>
                <a:lnTo>
                  <a:pt x="2354036" y="153080"/>
                </a:lnTo>
                <a:lnTo>
                  <a:pt x="2353582" y="149679"/>
                </a:lnTo>
                <a:lnTo>
                  <a:pt x="2352902" y="146277"/>
                </a:lnTo>
                <a:lnTo>
                  <a:pt x="2351995" y="143102"/>
                </a:lnTo>
                <a:lnTo>
                  <a:pt x="2351088" y="139700"/>
                </a:lnTo>
                <a:lnTo>
                  <a:pt x="2350180" y="136525"/>
                </a:lnTo>
                <a:lnTo>
                  <a:pt x="2348593" y="133350"/>
                </a:lnTo>
                <a:lnTo>
                  <a:pt x="2347232" y="130402"/>
                </a:lnTo>
                <a:lnTo>
                  <a:pt x="2345418" y="127454"/>
                </a:lnTo>
                <a:lnTo>
                  <a:pt x="2343830" y="124505"/>
                </a:lnTo>
                <a:lnTo>
                  <a:pt x="2341789" y="121784"/>
                </a:lnTo>
                <a:lnTo>
                  <a:pt x="2339748" y="119062"/>
                </a:lnTo>
                <a:lnTo>
                  <a:pt x="2337707" y="116568"/>
                </a:lnTo>
                <a:lnTo>
                  <a:pt x="2335213" y="114073"/>
                </a:lnTo>
                <a:lnTo>
                  <a:pt x="2332945" y="111579"/>
                </a:lnTo>
                <a:lnTo>
                  <a:pt x="2330223" y="109311"/>
                </a:lnTo>
                <a:lnTo>
                  <a:pt x="2327502" y="107270"/>
                </a:lnTo>
                <a:lnTo>
                  <a:pt x="2324780" y="105002"/>
                </a:lnTo>
                <a:lnTo>
                  <a:pt x="2321832" y="103187"/>
                </a:lnTo>
                <a:lnTo>
                  <a:pt x="2318884" y="101373"/>
                </a:lnTo>
                <a:lnTo>
                  <a:pt x="2315709" y="99559"/>
                </a:lnTo>
                <a:lnTo>
                  <a:pt x="2312534" y="98198"/>
                </a:lnTo>
                <a:lnTo>
                  <a:pt x="2309359" y="96837"/>
                </a:lnTo>
                <a:lnTo>
                  <a:pt x="2305957" y="95704"/>
                </a:lnTo>
                <a:lnTo>
                  <a:pt x="2302555" y="94570"/>
                </a:lnTo>
                <a:lnTo>
                  <a:pt x="2299154" y="93662"/>
                </a:lnTo>
                <a:lnTo>
                  <a:pt x="2295298" y="92755"/>
                </a:lnTo>
                <a:lnTo>
                  <a:pt x="2291670" y="92075"/>
                </a:lnTo>
                <a:lnTo>
                  <a:pt x="2288041" y="91848"/>
                </a:lnTo>
                <a:lnTo>
                  <a:pt x="2284186" y="91621"/>
                </a:lnTo>
                <a:lnTo>
                  <a:pt x="2280330" y="91395"/>
                </a:lnTo>
                <a:lnTo>
                  <a:pt x="229507" y="91395"/>
                </a:lnTo>
                <a:close/>
                <a:moveTo>
                  <a:pt x="81642" y="0"/>
                </a:moveTo>
                <a:lnTo>
                  <a:pt x="86178" y="0"/>
                </a:lnTo>
                <a:lnTo>
                  <a:pt x="2424113" y="0"/>
                </a:lnTo>
                <a:lnTo>
                  <a:pt x="2428648" y="0"/>
                </a:lnTo>
                <a:lnTo>
                  <a:pt x="2432730" y="227"/>
                </a:lnTo>
                <a:lnTo>
                  <a:pt x="2436813" y="680"/>
                </a:lnTo>
                <a:lnTo>
                  <a:pt x="2441122" y="1361"/>
                </a:lnTo>
                <a:lnTo>
                  <a:pt x="2445204" y="2268"/>
                </a:lnTo>
                <a:lnTo>
                  <a:pt x="2449286" y="3402"/>
                </a:lnTo>
                <a:lnTo>
                  <a:pt x="2452914" y="4536"/>
                </a:lnTo>
                <a:lnTo>
                  <a:pt x="2456770" y="5896"/>
                </a:lnTo>
                <a:lnTo>
                  <a:pt x="2460625" y="7484"/>
                </a:lnTo>
                <a:lnTo>
                  <a:pt x="2464480" y="9298"/>
                </a:lnTo>
                <a:lnTo>
                  <a:pt x="2467882" y="11339"/>
                </a:lnTo>
                <a:lnTo>
                  <a:pt x="2471284" y="13380"/>
                </a:lnTo>
                <a:lnTo>
                  <a:pt x="2474459" y="15421"/>
                </a:lnTo>
                <a:lnTo>
                  <a:pt x="2477861" y="17916"/>
                </a:lnTo>
                <a:lnTo>
                  <a:pt x="2480809" y="20184"/>
                </a:lnTo>
                <a:lnTo>
                  <a:pt x="2483757" y="22905"/>
                </a:lnTo>
                <a:lnTo>
                  <a:pt x="2486479" y="25400"/>
                </a:lnTo>
                <a:lnTo>
                  <a:pt x="2489200" y="28348"/>
                </a:lnTo>
                <a:lnTo>
                  <a:pt x="2491695" y="31296"/>
                </a:lnTo>
                <a:lnTo>
                  <a:pt x="2493963" y="34471"/>
                </a:lnTo>
                <a:lnTo>
                  <a:pt x="2496230" y="37646"/>
                </a:lnTo>
                <a:lnTo>
                  <a:pt x="2498272" y="40821"/>
                </a:lnTo>
                <a:lnTo>
                  <a:pt x="2499859" y="44450"/>
                </a:lnTo>
                <a:lnTo>
                  <a:pt x="2501673" y="47625"/>
                </a:lnTo>
                <a:lnTo>
                  <a:pt x="2503261" y="51480"/>
                </a:lnTo>
                <a:lnTo>
                  <a:pt x="2504395" y="54882"/>
                </a:lnTo>
                <a:lnTo>
                  <a:pt x="2505755" y="58737"/>
                </a:lnTo>
                <a:lnTo>
                  <a:pt x="2506663" y="62593"/>
                </a:lnTo>
                <a:lnTo>
                  <a:pt x="2507343" y="66221"/>
                </a:lnTo>
                <a:lnTo>
                  <a:pt x="2508023" y="70304"/>
                </a:lnTo>
                <a:lnTo>
                  <a:pt x="2508250" y="74159"/>
                </a:lnTo>
                <a:lnTo>
                  <a:pt x="2508250" y="78241"/>
                </a:lnTo>
                <a:lnTo>
                  <a:pt x="2508250" y="1411968"/>
                </a:lnTo>
                <a:lnTo>
                  <a:pt x="2508250" y="1416050"/>
                </a:lnTo>
                <a:lnTo>
                  <a:pt x="2508023" y="1420132"/>
                </a:lnTo>
                <a:lnTo>
                  <a:pt x="2507343" y="1423988"/>
                </a:lnTo>
                <a:lnTo>
                  <a:pt x="2506663" y="1427616"/>
                </a:lnTo>
                <a:lnTo>
                  <a:pt x="2505755" y="1431472"/>
                </a:lnTo>
                <a:lnTo>
                  <a:pt x="2504395" y="1435327"/>
                </a:lnTo>
                <a:lnTo>
                  <a:pt x="2503261" y="1439182"/>
                </a:lnTo>
                <a:lnTo>
                  <a:pt x="2501673" y="1442584"/>
                </a:lnTo>
                <a:lnTo>
                  <a:pt x="2499859" y="1446213"/>
                </a:lnTo>
                <a:lnTo>
                  <a:pt x="2498272" y="1449388"/>
                </a:lnTo>
                <a:lnTo>
                  <a:pt x="2496230" y="1452790"/>
                </a:lnTo>
                <a:lnTo>
                  <a:pt x="2493963" y="1455965"/>
                </a:lnTo>
                <a:lnTo>
                  <a:pt x="2491695" y="1458913"/>
                </a:lnTo>
                <a:lnTo>
                  <a:pt x="2489200" y="1462088"/>
                </a:lnTo>
                <a:lnTo>
                  <a:pt x="2486479" y="1464809"/>
                </a:lnTo>
                <a:lnTo>
                  <a:pt x="2483757" y="1467531"/>
                </a:lnTo>
                <a:lnTo>
                  <a:pt x="2480809" y="1470025"/>
                </a:lnTo>
                <a:lnTo>
                  <a:pt x="2477861" y="1472747"/>
                </a:lnTo>
                <a:lnTo>
                  <a:pt x="2474459" y="1475015"/>
                </a:lnTo>
                <a:lnTo>
                  <a:pt x="2471284" y="1477282"/>
                </a:lnTo>
                <a:lnTo>
                  <a:pt x="2467882" y="1479097"/>
                </a:lnTo>
                <a:lnTo>
                  <a:pt x="2464480" y="1480911"/>
                </a:lnTo>
                <a:lnTo>
                  <a:pt x="2460625" y="1482725"/>
                </a:lnTo>
                <a:lnTo>
                  <a:pt x="2456770" y="1484313"/>
                </a:lnTo>
                <a:lnTo>
                  <a:pt x="2452914" y="1485674"/>
                </a:lnTo>
                <a:lnTo>
                  <a:pt x="2449286" y="1487034"/>
                </a:lnTo>
                <a:lnTo>
                  <a:pt x="2445204" y="1487941"/>
                </a:lnTo>
                <a:lnTo>
                  <a:pt x="2441122" y="1488849"/>
                </a:lnTo>
                <a:lnTo>
                  <a:pt x="2436813" y="1489529"/>
                </a:lnTo>
                <a:lnTo>
                  <a:pt x="2432730" y="1489982"/>
                </a:lnTo>
                <a:lnTo>
                  <a:pt x="2428648" y="1490209"/>
                </a:lnTo>
                <a:lnTo>
                  <a:pt x="2424113" y="1490663"/>
                </a:lnTo>
                <a:lnTo>
                  <a:pt x="86178" y="1490663"/>
                </a:lnTo>
                <a:lnTo>
                  <a:pt x="81642" y="1490209"/>
                </a:lnTo>
                <a:lnTo>
                  <a:pt x="77333" y="1489982"/>
                </a:lnTo>
                <a:lnTo>
                  <a:pt x="73251" y="1489529"/>
                </a:lnTo>
                <a:lnTo>
                  <a:pt x="68942" y="1488849"/>
                </a:lnTo>
                <a:lnTo>
                  <a:pt x="64860" y="1487941"/>
                </a:lnTo>
                <a:lnTo>
                  <a:pt x="60778" y="1487034"/>
                </a:lnTo>
                <a:lnTo>
                  <a:pt x="57150" y="1485674"/>
                </a:lnTo>
                <a:lnTo>
                  <a:pt x="53294" y="1484313"/>
                </a:lnTo>
                <a:lnTo>
                  <a:pt x="49439" y="1482725"/>
                </a:lnTo>
                <a:lnTo>
                  <a:pt x="45810" y="1480911"/>
                </a:lnTo>
                <a:lnTo>
                  <a:pt x="42182" y="1479097"/>
                </a:lnTo>
                <a:lnTo>
                  <a:pt x="39007" y="1477282"/>
                </a:lnTo>
                <a:lnTo>
                  <a:pt x="35605" y="1475015"/>
                </a:lnTo>
                <a:lnTo>
                  <a:pt x="32430" y="1472747"/>
                </a:lnTo>
                <a:lnTo>
                  <a:pt x="29255" y="1470025"/>
                </a:lnTo>
                <a:lnTo>
                  <a:pt x="26307" y="1467531"/>
                </a:lnTo>
                <a:lnTo>
                  <a:pt x="23585" y="1464809"/>
                </a:lnTo>
                <a:lnTo>
                  <a:pt x="21091" y="1462088"/>
                </a:lnTo>
                <a:lnTo>
                  <a:pt x="18596" y="1458913"/>
                </a:lnTo>
                <a:lnTo>
                  <a:pt x="16101" y="1455965"/>
                </a:lnTo>
                <a:lnTo>
                  <a:pt x="13833" y="1452790"/>
                </a:lnTo>
                <a:lnTo>
                  <a:pt x="12019" y="1449388"/>
                </a:lnTo>
                <a:lnTo>
                  <a:pt x="9978" y="1446213"/>
                </a:lnTo>
                <a:lnTo>
                  <a:pt x="8391" y="1442584"/>
                </a:lnTo>
                <a:lnTo>
                  <a:pt x="6803" y="1439182"/>
                </a:lnTo>
                <a:lnTo>
                  <a:pt x="5442" y="1435327"/>
                </a:lnTo>
                <a:lnTo>
                  <a:pt x="4308" y="1431472"/>
                </a:lnTo>
                <a:lnTo>
                  <a:pt x="3401" y="1427616"/>
                </a:lnTo>
                <a:lnTo>
                  <a:pt x="2494" y="1423988"/>
                </a:lnTo>
                <a:lnTo>
                  <a:pt x="2041" y="1420132"/>
                </a:lnTo>
                <a:lnTo>
                  <a:pt x="1814" y="1416050"/>
                </a:lnTo>
                <a:lnTo>
                  <a:pt x="1587" y="1411968"/>
                </a:lnTo>
                <a:lnTo>
                  <a:pt x="1587" y="78241"/>
                </a:lnTo>
                <a:lnTo>
                  <a:pt x="1814" y="74159"/>
                </a:lnTo>
                <a:lnTo>
                  <a:pt x="2041" y="70304"/>
                </a:lnTo>
                <a:lnTo>
                  <a:pt x="2494" y="66221"/>
                </a:lnTo>
                <a:lnTo>
                  <a:pt x="3401" y="62593"/>
                </a:lnTo>
                <a:lnTo>
                  <a:pt x="4308" y="58737"/>
                </a:lnTo>
                <a:lnTo>
                  <a:pt x="5442" y="54882"/>
                </a:lnTo>
                <a:lnTo>
                  <a:pt x="6803" y="51480"/>
                </a:lnTo>
                <a:lnTo>
                  <a:pt x="8391" y="47625"/>
                </a:lnTo>
                <a:lnTo>
                  <a:pt x="9978" y="44450"/>
                </a:lnTo>
                <a:lnTo>
                  <a:pt x="12019" y="40821"/>
                </a:lnTo>
                <a:lnTo>
                  <a:pt x="13833" y="37646"/>
                </a:lnTo>
                <a:lnTo>
                  <a:pt x="16101" y="34471"/>
                </a:lnTo>
                <a:lnTo>
                  <a:pt x="18596" y="31296"/>
                </a:lnTo>
                <a:lnTo>
                  <a:pt x="21091" y="28348"/>
                </a:lnTo>
                <a:lnTo>
                  <a:pt x="23585" y="25400"/>
                </a:lnTo>
                <a:lnTo>
                  <a:pt x="26307" y="22905"/>
                </a:lnTo>
                <a:lnTo>
                  <a:pt x="29255" y="20184"/>
                </a:lnTo>
                <a:lnTo>
                  <a:pt x="32430" y="17916"/>
                </a:lnTo>
                <a:lnTo>
                  <a:pt x="35605" y="15421"/>
                </a:lnTo>
                <a:lnTo>
                  <a:pt x="39007" y="13380"/>
                </a:lnTo>
                <a:lnTo>
                  <a:pt x="42182" y="11339"/>
                </a:lnTo>
                <a:lnTo>
                  <a:pt x="45810" y="9298"/>
                </a:lnTo>
                <a:lnTo>
                  <a:pt x="49439" y="7484"/>
                </a:lnTo>
                <a:lnTo>
                  <a:pt x="53294" y="5896"/>
                </a:lnTo>
                <a:lnTo>
                  <a:pt x="57150" y="4536"/>
                </a:lnTo>
                <a:lnTo>
                  <a:pt x="60778" y="3402"/>
                </a:lnTo>
                <a:lnTo>
                  <a:pt x="64860" y="2268"/>
                </a:lnTo>
                <a:lnTo>
                  <a:pt x="68942" y="1361"/>
                </a:lnTo>
                <a:lnTo>
                  <a:pt x="73251" y="680"/>
                </a:lnTo>
                <a:lnTo>
                  <a:pt x="77333" y="227"/>
                </a:lnTo>
                <a:lnTo>
                  <a:pt x="81642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/>
          <a:p>
            <a:pPr algn="ctr">
              <a:defRPr/>
            </a:pPr>
            <a:endParaRPr lang="zh-CN" altLang="en-US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4184543" y="6038477"/>
            <a:ext cx="90281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000" b="1" dirty="0" smtClean="0">
                <a:solidFill>
                  <a:schemeClr val="accent1">
                    <a:lumMod val="20000"/>
                    <a:lumOff val="8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网管服务器</a:t>
            </a:r>
            <a:r>
              <a:rPr lang="en-US" altLang="zh-CN" sz="1000" b="1" dirty="0" smtClean="0">
                <a:solidFill>
                  <a:schemeClr val="accent1">
                    <a:lumMod val="20000"/>
                    <a:lumOff val="8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</a:t>
            </a:r>
          </a:p>
        </p:txBody>
      </p:sp>
      <p:sp>
        <p:nvSpPr>
          <p:cNvPr id="24" name="左右箭头 23"/>
          <p:cNvSpPr/>
          <p:nvPr/>
        </p:nvSpPr>
        <p:spPr>
          <a:xfrm>
            <a:off x="5386251" y="3855948"/>
            <a:ext cx="550545" cy="180975"/>
          </a:xfrm>
          <a:prstGeom prst="leftRightArrow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25" name="折角形 24"/>
          <p:cNvSpPr/>
          <p:nvPr/>
        </p:nvSpPr>
        <p:spPr>
          <a:xfrm>
            <a:off x="6108246" y="4372838"/>
            <a:ext cx="550545" cy="406400"/>
          </a:xfrm>
          <a:prstGeom prst="foldedCorner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26" name="折角形 25"/>
          <p:cNvSpPr/>
          <p:nvPr/>
        </p:nvSpPr>
        <p:spPr>
          <a:xfrm>
            <a:off x="6108246" y="4290923"/>
            <a:ext cx="535940" cy="396240"/>
          </a:xfrm>
          <a:prstGeom prst="foldedCorner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27" name="左右箭头 26"/>
          <p:cNvSpPr/>
          <p:nvPr/>
        </p:nvSpPr>
        <p:spPr>
          <a:xfrm>
            <a:off x="7736386" y="3913733"/>
            <a:ext cx="550545" cy="180975"/>
          </a:xfrm>
          <a:prstGeom prst="leftRightArrow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28" name="折角形 27"/>
          <p:cNvSpPr/>
          <p:nvPr/>
        </p:nvSpPr>
        <p:spPr>
          <a:xfrm>
            <a:off x="6777536" y="4429988"/>
            <a:ext cx="550545" cy="406400"/>
          </a:xfrm>
          <a:prstGeom prst="foldedCorner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29" name="折角形 28"/>
          <p:cNvSpPr/>
          <p:nvPr/>
        </p:nvSpPr>
        <p:spPr>
          <a:xfrm>
            <a:off x="6777536" y="4291558"/>
            <a:ext cx="535940" cy="396240"/>
          </a:xfrm>
          <a:prstGeom prst="foldedCorner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6203213" y="3988222"/>
            <a:ext cx="10823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000" b="1" dirty="0" smtClean="0">
                <a:solidFill>
                  <a:schemeClr val="accent1">
                    <a:lumMod val="20000"/>
                    <a:lumOff val="8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工程和投诉信息</a:t>
            </a:r>
            <a:endParaRPr lang="zh-CN" altLang="en-US" sz="1000" b="1" dirty="0">
              <a:solidFill>
                <a:schemeClr val="accent1">
                  <a:lumMod val="20000"/>
                  <a:lumOff val="8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1" name="组合 30"/>
          <p:cNvGrpSpPr/>
          <p:nvPr/>
        </p:nvGrpSpPr>
        <p:grpSpPr>
          <a:xfrm>
            <a:off x="6402886" y="5433923"/>
            <a:ext cx="575945" cy="344170"/>
            <a:chOff x="3186113" y="530112"/>
            <a:chExt cx="2625725" cy="2338387"/>
          </a:xfrm>
        </p:grpSpPr>
        <p:sp>
          <p:nvSpPr>
            <p:cNvPr id="32" name="Rectangle 9"/>
            <p:cNvSpPr>
              <a:spLocks noChangeArrowheads="1"/>
            </p:cNvSpPr>
            <p:nvPr/>
          </p:nvSpPr>
          <p:spPr bwMode="auto">
            <a:xfrm>
              <a:off x="3338513" y="693625"/>
              <a:ext cx="2320925" cy="163512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chemeClr val="accent1">
                    <a:lumMod val="20000"/>
                    <a:lumOff val="80000"/>
                  </a:schemeClr>
                </a:solidFill>
              </a:endParaRPr>
            </a:p>
          </p:txBody>
        </p:sp>
        <p:sp>
          <p:nvSpPr>
            <p:cNvPr id="33" name="Freeform 11"/>
            <p:cNvSpPr>
              <a:spLocks noEditPoints="1"/>
            </p:cNvSpPr>
            <p:nvPr/>
          </p:nvSpPr>
          <p:spPr bwMode="auto">
            <a:xfrm>
              <a:off x="3186113" y="530112"/>
              <a:ext cx="2625725" cy="1895475"/>
            </a:xfrm>
            <a:custGeom>
              <a:avLst/>
              <a:gdLst>
                <a:gd name="T0" fmla="*/ 397 w 432"/>
                <a:gd name="T1" fmla="*/ 0 h 312"/>
                <a:gd name="T2" fmla="*/ 33 w 432"/>
                <a:gd name="T3" fmla="*/ 0 h 312"/>
                <a:gd name="T4" fmla="*/ 0 w 432"/>
                <a:gd name="T5" fmla="*/ 35 h 312"/>
                <a:gd name="T6" fmla="*/ 0 w 432"/>
                <a:gd name="T7" fmla="*/ 276 h 312"/>
                <a:gd name="T8" fmla="*/ 33 w 432"/>
                <a:gd name="T9" fmla="*/ 312 h 312"/>
                <a:gd name="T10" fmla="*/ 397 w 432"/>
                <a:gd name="T11" fmla="*/ 312 h 312"/>
                <a:gd name="T12" fmla="*/ 432 w 432"/>
                <a:gd name="T13" fmla="*/ 276 h 312"/>
                <a:gd name="T14" fmla="*/ 432 w 432"/>
                <a:gd name="T15" fmla="*/ 35 h 312"/>
                <a:gd name="T16" fmla="*/ 397 w 432"/>
                <a:gd name="T17" fmla="*/ 0 h 312"/>
                <a:gd name="T18" fmla="*/ 408 w 432"/>
                <a:gd name="T19" fmla="*/ 284 h 312"/>
                <a:gd name="T20" fmla="*/ 24 w 432"/>
                <a:gd name="T21" fmla="*/ 284 h 312"/>
                <a:gd name="T22" fmla="*/ 24 w 432"/>
                <a:gd name="T23" fmla="*/ 28 h 312"/>
                <a:gd name="T24" fmla="*/ 408 w 432"/>
                <a:gd name="T25" fmla="*/ 28 h 312"/>
                <a:gd name="T26" fmla="*/ 408 w 432"/>
                <a:gd name="T27" fmla="*/ 284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32" h="312">
                  <a:moveTo>
                    <a:pt x="397" y="0"/>
                  </a:moveTo>
                  <a:cubicBezTo>
                    <a:pt x="33" y="0"/>
                    <a:pt x="33" y="0"/>
                    <a:pt x="33" y="0"/>
                  </a:cubicBezTo>
                  <a:cubicBezTo>
                    <a:pt x="15" y="0"/>
                    <a:pt x="0" y="16"/>
                    <a:pt x="0" y="35"/>
                  </a:cubicBezTo>
                  <a:cubicBezTo>
                    <a:pt x="0" y="276"/>
                    <a:pt x="0" y="276"/>
                    <a:pt x="0" y="276"/>
                  </a:cubicBezTo>
                  <a:cubicBezTo>
                    <a:pt x="0" y="295"/>
                    <a:pt x="15" y="312"/>
                    <a:pt x="33" y="312"/>
                  </a:cubicBezTo>
                  <a:cubicBezTo>
                    <a:pt x="397" y="312"/>
                    <a:pt x="397" y="312"/>
                    <a:pt x="397" y="312"/>
                  </a:cubicBezTo>
                  <a:cubicBezTo>
                    <a:pt x="416" y="312"/>
                    <a:pt x="432" y="295"/>
                    <a:pt x="432" y="276"/>
                  </a:cubicBezTo>
                  <a:cubicBezTo>
                    <a:pt x="432" y="35"/>
                    <a:pt x="432" y="35"/>
                    <a:pt x="432" y="35"/>
                  </a:cubicBezTo>
                  <a:cubicBezTo>
                    <a:pt x="432" y="16"/>
                    <a:pt x="416" y="0"/>
                    <a:pt x="397" y="0"/>
                  </a:cubicBezTo>
                  <a:close/>
                  <a:moveTo>
                    <a:pt x="408" y="284"/>
                  </a:moveTo>
                  <a:cubicBezTo>
                    <a:pt x="24" y="284"/>
                    <a:pt x="24" y="284"/>
                    <a:pt x="24" y="284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408" y="28"/>
                    <a:pt x="408" y="28"/>
                    <a:pt x="408" y="28"/>
                  </a:cubicBezTo>
                  <a:lnTo>
                    <a:pt x="408" y="284"/>
                  </a:lnTo>
                  <a:close/>
                </a:path>
              </a:pathLst>
            </a:custGeom>
            <a:solidFill>
              <a:srgbClr val="1C2B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chemeClr val="accent1">
                    <a:lumMod val="20000"/>
                    <a:lumOff val="80000"/>
                  </a:schemeClr>
                </a:solidFill>
              </a:endParaRPr>
            </a:p>
          </p:txBody>
        </p:sp>
        <p:sp>
          <p:nvSpPr>
            <p:cNvPr id="34" name="Freeform 12"/>
            <p:cNvSpPr/>
            <p:nvPr/>
          </p:nvSpPr>
          <p:spPr bwMode="auto">
            <a:xfrm>
              <a:off x="3867150" y="2546237"/>
              <a:ext cx="1257300" cy="322262"/>
            </a:xfrm>
            <a:custGeom>
              <a:avLst/>
              <a:gdLst>
                <a:gd name="T0" fmla="*/ 163 w 207"/>
                <a:gd name="T1" fmla="*/ 35 h 53"/>
                <a:gd name="T2" fmla="*/ 207 w 207"/>
                <a:gd name="T3" fmla="*/ 35 h 53"/>
                <a:gd name="T4" fmla="*/ 207 w 207"/>
                <a:gd name="T5" fmla="*/ 53 h 53"/>
                <a:gd name="T6" fmla="*/ 0 w 207"/>
                <a:gd name="T7" fmla="*/ 53 h 53"/>
                <a:gd name="T8" fmla="*/ 0 w 207"/>
                <a:gd name="T9" fmla="*/ 35 h 53"/>
                <a:gd name="T10" fmla="*/ 44 w 207"/>
                <a:gd name="T11" fmla="*/ 35 h 53"/>
                <a:gd name="T12" fmla="*/ 58 w 207"/>
                <a:gd name="T13" fmla="*/ 11 h 53"/>
                <a:gd name="T14" fmla="*/ 66 w 207"/>
                <a:gd name="T15" fmla="*/ 0 h 53"/>
                <a:gd name="T16" fmla="*/ 104 w 207"/>
                <a:gd name="T17" fmla="*/ 0 h 53"/>
                <a:gd name="T18" fmla="*/ 141 w 207"/>
                <a:gd name="T19" fmla="*/ 0 h 53"/>
                <a:gd name="T20" fmla="*/ 149 w 207"/>
                <a:gd name="T21" fmla="*/ 11 h 53"/>
                <a:gd name="T22" fmla="*/ 163 w 207"/>
                <a:gd name="T23" fmla="*/ 35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07" h="53">
                  <a:moveTo>
                    <a:pt x="163" y="35"/>
                  </a:moveTo>
                  <a:cubicBezTo>
                    <a:pt x="207" y="35"/>
                    <a:pt x="207" y="35"/>
                    <a:pt x="207" y="35"/>
                  </a:cubicBezTo>
                  <a:cubicBezTo>
                    <a:pt x="207" y="53"/>
                    <a:pt x="207" y="53"/>
                    <a:pt x="207" y="53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44" y="35"/>
                    <a:pt x="44" y="35"/>
                    <a:pt x="44" y="35"/>
                  </a:cubicBezTo>
                  <a:cubicBezTo>
                    <a:pt x="48" y="31"/>
                    <a:pt x="53" y="24"/>
                    <a:pt x="58" y="11"/>
                  </a:cubicBezTo>
                  <a:cubicBezTo>
                    <a:pt x="58" y="11"/>
                    <a:pt x="61" y="1"/>
                    <a:pt x="66" y="0"/>
                  </a:cubicBezTo>
                  <a:cubicBezTo>
                    <a:pt x="69" y="0"/>
                    <a:pt x="86" y="0"/>
                    <a:pt x="104" y="0"/>
                  </a:cubicBezTo>
                  <a:cubicBezTo>
                    <a:pt x="121" y="0"/>
                    <a:pt x="138" y="0"/>
                    <a:pt x="141" y="0"/>
                  </a:cubicBezTo>
                  <a:cubicBezTo>
                    <a:pt x="146" y="1"/>
                    <a:pt x="149" y="11"/>
                    <a:pt x="149" y="11"/>
                  </a:cubicBezTo>
                  <a:cubicBezTo>
                    <a:pt x="154" y="24"/>
                    <a:pt x="159" y="31"/>
                    <a:pt x="163" y="35"/>
                  </a:cubicBezTo>
                  <a:close/>
                </a:path>
              </a:pathLst>
            </a:custGeom>
            <a:solidFill>
              <a:srgbClr val="464F5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chemeClr val="accent1">
                    <a:lumMod val="20000"/>
                    <a:lumOff val="80000"/>
                  </a:schemeClr>
                </a:solidFill>
              </a:endParaRPr>
            </a:p>
          </p:txBody>
        </p:sp>
        <p:sp>
          <p:nvSpPr>
            <p:cNvPr id="35" name="Freeform 13"/>
            <p:cNvSpPr/>
            <p:nvPr/>
          </p:nvSpPr>
          <p:spPr bwMode="auto">
            <a:xfrm>
              <a:off x="4340225" y="2546237"/>
              <a:ext cx="784225" cy="322262"/>
            </a:xfrm>
            <a:custGeom>
              <a:avLst/>
              <a:gdLst>
                <a:gd name="T0" fmla="*/ 85 w 129"/>
                <a:gd name="T1" fmla="*/ 35 h 53"/>
                <a:gd name="T2" fmla="*/ 71 w 129"/>
                <a:gd name="T3" fmla="*/ 11 h 53"/>
                <a:gd name="T4" fmla="*/ 63 w 129"/>
                <a:gd name="T5" fmla="*/ 0 h 53"/>
                <a:gd name="T6" fmla="*/ 26 w 129"/>
                <a:gd name="T7" fmla="*/ 0 h 53"/>
                <a:gd name="T8" fmla="*/ 0 w 129"/>
                <a:gd name="T9" fmla="*/ 0 h 53"/>
                <a:gd name="T10" fmla="*/ 59 w 129"/>
                <a:gd name="T11" fmla="*/ 53 h 53"/>
                <a:gd name="T12" fmla="*/ 129 w 129"/>
                <a:gd name="T13" fmla="*/ 53 h 53"/>
                <a:gd name="T14" fmla="*/ 129 w 129"/>
                <a:gd name="T15" fmla="*/ 35 h 53"/>
                <a:gd name="T16" fmla="*/ 85 w 129"/>
                <a:gd name="T17" fmla="*/ 35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9" h="53">
                  <a:moveTo>
                    <a:pt x="85" y="35"/>
                  </a:moveTo>
                  <a:cubicBezTo>
                    <a:pt x="81" y="31"/>
                    <a:pt x="76" y="24"/>
                    <a:pt x="71" y="11"/>
                  </a:cubicBezTo>
                  <a:cubicBezTo>
                    <a:pt x="71" y="11"/>
                    <a:pt x="68" y="1"/>
                    <a:pt x="63" y="0"/>
                  </a:cubicBezTo>
                  <a:cubicBezTo>
                    <a:pt x="60" y="0"/>
                    <a:pt x="43" y="0"/>
                    <a:pt x="26" y="0"/>
                  </a:cubicBezTo>
                  <a:cubicBezTo>
                    <a:pt x="16" y="0"/>
                    <a:pt x="7" y="0"/>
                    <a:pt x="0" y="0"/>
                  </a:cubicBezTo>
                  <a:cubicBezTo>
                    <a:pt x="21" y="15"/>
                    <a:pt x="41" y="33"/>
                    <a:pt x="59" y="53"/>
                  </a:cubicBezTo>
                  <a:cubicBezTo>
                    <a:pt x="129" y="53"/>
                    <a:pt x="129" y="53"/>
                    <a:pt x="129" y="53"/>
                  </a:cubicBezTo>
                  <a:cubicBezTo>
                    <a:pt x="129" y="35"/>
                    <a:pt x="129" y="35"/>
                    <a:pt x="129" y="35"/>
                  </a:cubicBezTo>
                  <a:lnTo>
                    <a:pt x="85" y="35"/>
                  </a:lnTo>
                  <a:close/>
                </a:path>
              </a:pathLst>
            </a:custGeom>
            <a:solidFill>
              <a:srgbClr val="1C2B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chemeClr val="accent1">
                    <a:lumMod val="20000"/>
                    <a:lumOff val="80000"/>
                  </a:schemeClr>
                </a:solidFill>
              </a:endParaRPr>
            </a:p>
          </p:txBody>
        </p:sp>
      </p:grpSp>
      <p:sp>
        <p:nvSpPr>
          <p:cNvPr id="36" name="文本框 35"/>
          <p:cNvSpPr txBox="1"/>
          <p:nvPr/>
        </p:nvSpPr>
        <p:spPr>
          <a:xfrm>
            <a:off x="6280683" y="5148367"/>
            <a:ext cx="944880" cy="2546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0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其他项目数据</a:t>
            </a:r>
          </a:p>
        </p:txBody>
      </p:sp>
      <p:sp>
        <p:nvSpPr>
          <p:cNvPr id="37" name="圆角矩形标注 36"/>
          <p:cNvSpPr/>
          <p:nvPr/>
        </p:nvSpPr>
        <p:spPr>
          <a:xfrm>
            <a:off x="9876336" y="1347698"/>
            <a:ext cx="2189480" cy="1296670"/>
          </a:xfrm>
          <a:prstGeom prst="wedgeRoundRectCallout">
            <a:avLst>
              <a:gd name="adj1" fmla="val -48743"/>
              <a:gd name="adj2" fmla="val 69747"/>
              <a:gd name="adj3" fmla="val 16667"/>
            </a:avLst>
          </a:prstGeom>
          <a:noFill/>
          <a:ln w="28575" cmpd="dbl">
            <a:solidFill>
              <a:srgbClr val="FC611F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1400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  <a:p>
            <a:pPr algn="l"/>
            <a:endParaRPr lang="en-US" altLang="zh-CN" sz="1400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  <a:p>
            <a:pPr algn="l"/>
            <a:endParaRPr lang="en-US" altLang="zh-CN" sz="1400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  <a:p>
            <a:pPr algn="l"/>
            <a:r>
              <a:rPr lang="zh-CN" altLang="zh-CN" sz="1600" dirty="0" smtClean="0">
                <a:solidFill>
                  <a:schemeClr val="accent1">
                    <a:lumMod val="20000"/>
                    <a:lumOff val="80000"/>
                  </a:schemeClr>
                </a:solidFill>
              </a:rPr>
              <a:t>功能</a:t>
            </a:r>
            <a:r>
              <a:rPr lang="en-US" altLang="zh-CN" sz="16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:</a:t>
            </a:r>
          </a:p>
          <a:p>
            <a:pPr algn="l"/>
            <a:r>
              <a:rPr lang="en-US" altLang="zh-CN" sz="16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1.ftp</a:t>
            </a:r>
            <a:r>
              <a:rPr lang="zh-CN" altLang="en-US" sz="16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服务器</a:t>
            </a:r>
          </a:p>
          <a:p>
            <a:pPr algn="l"/>
            <a:r>
              <a:rPr lang="en-US" altLang="zh-CN" sz="16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2.</a:t>
            </a:r>
            <a:r>
              <a:rPr lang="zh-CN" altLang="en-US" sz="16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解析存储业务数据</a:t>
            </a:r>
          </a:p>
          <a:p>
            <a:pPr algn="l"/>
            <a:r>
              <a:rPr lang="en-US" altLang="zh-CN" sz="16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3.</a:t>
            </a:r>
            <a:r>
              <a:rPr lang="zh-CN" altLang="en-US" sz="16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支撑客户端</a:t>
            </a:r>
            <a:endParaRPr lang="en-US" altLang="zh-CN" sz="1600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  <a:p>
            <a:pPr algn="ctr"/>
            <a:endParaRPr lang="zh-CN" altLang="en-US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  <a:p>
            <a:pPr algn="ctr"/>
            <a:endParaRPr lang="en-US" altLang="zh-CN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38" name="圆角矩形标注 37"/>
          <p:cNvSpPr/>
          <p:nvPr/>
        </p:nvSpPr>
        <p:spPr>
          <a:xfrm>
            <a:off x="10040801" y="3605758"/>
            <a:ext cx="1978660" cy="1116965"/>
          </a:xfrm>
          <a:prstGeom prst="wedgeRoundRectCallout">
            <a:avLst>
              <a:gd name="adj1" fmla="val -48743"/>
              <a:gd name="adj2" fmla="val 69747"/>
              <a:gd name="adj3" fmla="val 16667"/>
            </a:avLst>
          </a:prstGeom>
          <a:noFill/>
          <a:ln w="28575" cmpd="dbl">
            <a:solidFill>
              <a:srgbClr val="FC611F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altLang="zh-CN" sz="1400" dirty="0">
                <a:solidFill>
                  <a:schemeClr val="accent1">
                    <a:lumMod val="20000"/>
                    <a:lumOff val="80000"/>
                  </a:schemeClr>
                </a:solidFill>
                <a:sym typeface="+mn-ea"/>
              </a:rPr>
              <a:t> </a:t>
            </a:r>
          </a:p>
          <a:p>
            <a:pPr algn="l"/>
            <a:r>
              <a:rPr lang="zh-CN" altLang="zh-CN" sz="1600" dirty="0" smtClean="0">
                <a:solidFill>
                  <a:schemeClr val="accent1">
                    <a:lumMod val="20000"/>
                    <a:lumOff val="80000"/>
                  </a:schemeClr>
                </a:solidFill>
                <a:sym typeface="+mn-ea"/>
              </a:rPr>
              <a:t>功能</a:t>
            </a:r>
            <a:r>
              <a:rPr lang="en-US" altLang="zh-CN" sz="1400" dirty="0">
                <a:solidFill>
                  <a:schemeClr val="accent1">
                    <a:lumMod val="20000"/>
                    <a:lumOff val="80000"/>
                  </a:schemeClr>
                </a:solidFill>
                <a:sym typeface="+mn-ea"/>
              </a:rPr>
              <a:t>:</a:t>
            </a:r>
          </a:p>
          <a:p>
            <a:pPr algn="l"/>
            <a:r>
              <a:rPr lang="zh-CN" altLang="en-US" sz="1600" dirty="0" smtClean="0">
                <a:solidFill>
                  <a:schemeClr val="accent1">
                    <a:lumMod val="20000"/>
                    <a:lumOff val="80000"/>
                  </a:schemeClr>
                </a:solidFill>
                <a:sym typeface="+mn-ea"/>
              </a:rPr>
              <a:t>支撑</a:t>
            </a:r>
            <a:r>
              <a:rPr lang="en-US" altLang="zh-CN" sz="1600" dirty="0">
                <a:solidFill>
                  <a:schemeClr val="accent1">
                    <a:lumMod val="20000"/>
                    <a:lumOff val="80000"/>
                  </a:schemeClr>
                </a:solidFill>
                <a:sym typeface="+mn-ea"/>
              </a:rPr>
              <a:t>web</a:t>
            </a:r>
            <a:r>
              <a:rPr lang="zh-CN" altLang="en-US" sz="1600" dirty="0">
                <a:solidFill>
                  <a:schemeClr val="accent1">
                    <a:lumMod val="20000"/>
                    <a:lumOff val="80000"/>
                  </a:schemeClr>
                </a:solidFill>
                <a:sym typeface="+mn-ea"/>
              </a:rPr>
              <a:t>系统</a:t>
            </a:r>
          </a:p>
          <a:p>
            <a:pPr algn="l"/>
            <a:endParaRPr lang="zh-CN" altLang="en-US" sz="1600" dirty="0">
              <a:solidFill>
                <a:schemeClr val="accent1">
                  <a:lumMod val="20000"/>
                  <a:lumOff val="80000"/>
                </a:schemeClr>
              </a:solidFill>
              <a:sym typeface="+mn-ea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8549558" y="2180265"/>
            <a:ext cx="82586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000" b="1" dirty="0" smtClean="0">
                <a:solidFill>
                  <a:schemeClr val="accent1">
                    <a:lumMod val="20000"/>
                    <a:lumOff val="8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数据服务器</a:t>
            </a:r>
            <a:endParaRPr lang="en-US" altLang="zh-CN" sz="1000" b="1" dirty="0" smtClean="0">
              <a:solidFill>
                <a:schemeClr val="accent1">
                  <a:lumMod val="20000"/>
                  <a:lumOff val="8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圆角矩形 39"/>
          <p:cNvSpPr/>
          <p:nvPr/>
        </p:nvSpPr>
        <p:spPr>
          <a:xfrm>
            <a:off x="5490246" y="1808129"/>
            <a:ext cx="2705100" cy="4572000"/>
          </a:xfrm>
          <a:prstGeom prst="roundRect">
            <a:avLst/>
          </a:prstGeom>
          <a:noFill/>
          <a:ln w="28575" cap="flat" cmpd="sng" algn="ctr">
            <a:solidFill>
              <a:srgbClr val="E73A1C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5951926" y="1996033"/>
            <a:ext cx="1685730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zh-CN" altLang="en-US" dirty="0" smtClean="0">
                <a:solidFill>
                  <a:schemeClr val="accent1">
                    <a:lumMod val="20000"/>
                    <a:lumOff val="80000"/>
                  </a:schemeClr>
                </a:solidFill>
              </a:rPr>
              <a:t>数据来源分散</a:t>
            </a:r>
            <a:endParaRPr lang="zh-CN" altLang="en-US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42" name="圆角矩形 41"/>
          <p:cNvSpPr/>
          <p:nvPr/>
        </p:nvSpPr>
        <p:spPr>
          <a:xfrm>
            <a:off x="8207106" y="1808129"/>
            <a:ext cx="2705100" cy="4572000"/>
          </a:xfrm>
          <a:prstGeom prst="roundRect">
            <a:avLst/>
          </a:prstGeom>
          <a:noFill/>
          <a:ln w="28575" cap="flat" cmpd="sng" algn="ctr">
            <a:solidFill>
              <a:srgbClr val="E73A1C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8839726" y="1973803"/>
            <a:ext cx="1803646" cy="369332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zh-CN" altLang="en-US" dirty="0" smtClean="0">
                <a:solidFill>
                  <a:schemeClr val="accent1">
                    <a:lumMod val="20000"/>
                    <a:lumOff val="80000"/>
                  </a:schemeClr>
                </a:solidFill>
              </a:rPr>
              <a:t>本地</a:t>
            </a:r>
            <a:r>
              <a:rPr lang="zh-CN" altLang="en-US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数据</a:t>
            </a:r>
            <a:r>
              <a:rPr lang="zh-CN" altLang="en-US" dirty="0" smtClean="0">
                <a:solidFill>
                  <a:schemeClr val="accent1">
                    <a:lumMod val="20000"/>
                    <a:lumOff val="80000"/>
                  </a:schemeClr>
                </a:solidFill>
              </a:rPr>
              <a:t>无备份</a:t>
            </a:r>
            <a:endParaRPr lang="zh-CN" altLang="en-US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44" name="文本框 43"/>
          <p:cNvSpPr txBox="1"/>
          <p:nvPr/>
        </p:nvSpPr>
        <p:spPr>
          <a:xfrm>
            <a:off x="5954554" y="2022738"/>
            <a:ext cx="1685730" cy="3693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zh-CN" altLang="en-US" dirty="0" smtClean="0">
                <a:solidFill>
                  <a:schemeClr val="tx2">
                    <a:lumMod val="50000"/>
                  </a:schemeClr>
                </a:solidFill>
              </a:rPr>
              <a:t>数据统一采集</a:t>
            </a:r>
            <a:endParaRPr lang="zh-CN" altLang="en-US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8832741" y="1984177"/>
            <a:ext cx="1803646" cy="3693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zh-CN" altLang="en-US" dirty="0" smtClean="0">
                <a:solidFill>
                  <a:schemeClr val="tx2">
                    <a:lumMod val="50000"/>
                  </a:schemeClr>
                </a:solidFill>
              </a:rPr>
              <a:t>数据本地化存储</a:t>
            </a:r>
            <a:endParaRPr lang="zh-CN" altLang="en-US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46" name="文本框 45"/>
          <p:cNvSpPr txBox="1"/>
          <p:nvPr/>
        </p:nvSpPr>
        <p:spPr>
          <a:xfrm>
            <a:off x="4524226" y="334355"/>
            <a:ext cx="32666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b="1" dirty="0" smtClean="0">
                <a:solidFill>
                  <a:schemeClr val="bg1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网络大脑</a:t>
            </a:r>
            <a:r>
              <a:rPr lang="en-US" altLang="zh-CN" sz="2800" b="1" dirty="0" smtClean="0">
                <a:solidFill>
                  <a:schemeClr val="bg1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800" b="1" dirty="0" smtClean="0">
                <a:solidFill>
                  <a:schemeClr val="bg1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感知</a:t>
            </a:r>
            <a:endParaRPr lang="zh-CN" altLang="en-US" sz="2800" b="1" dirty="0">
              <a:solidFill>
                <a:schemeClr val="bg1"/>
              </a:solidFill>
              <a:effectLst>
                <a:glow rad="228600">
                  <a:schemeClr val="accent1">
                    <a:satMod val="175000"/>
                    <a:alpha val="40000"/>
                  </a:schemeClr>
                </a:glo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58967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6" grpId="0"/>
      <p:bldP spid="25" grpId="0" animBg="1"/>
      <p:bldP spid="26" grpId="0" animBg="1"/>
      <p:bldP spid="28" grpId="0" animBg="1"/>
      <p:bldP spid="29" grpId="0" animBg="1"/>
      <p:bldP spid="30" grpId="0"/>
      <p:bldP spid="36" grpId="0"/>
      <p:bldP spid="37" grpId="0" animBg="1"/>
      <p:bldP spid="37" grpId="1" animBg="1"/>
      <p:bldP spid="38" grpId="0" animBg="1"/>
      <p:bldP spid="38" grpId="1" animBg="1"/>
      <p:bldP spid="40" grpId="0" animBg="1"/>
      <p:bldP spid="41" grpId="0" animBg="1"/>
      <p:bldP spid="41" grpId="1" animBg="1"/>
      <p:bldP spid="42" grpId="0" animBg="1"/>
      <p:bldP spid="43" grpId="0" animBg="1"/>
      <p:bldP spid="43" grpId="1" animBg="1"/>
      <p:bldP spid="44" grpId="0" animBg="1"/>
      <p:bldP spid="4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/>
          <p:cNvCxnSpPr/>
          <p:nvPr/>
        </p:nvCxnSpPr>
        <p:spPr>
          <a:xfrm>
            <a:off x="-1257300" y="762000"/>
            <a:ext cx="5086350" cy="0"/>
          </a:xfrm>
          <a:prstGeom prst="line">
            <a:avLst/>
          </a:prstGeom>
          <a:ln>
            <a:solidFill>
              <a:schemeClr val="bg1"/>
            </a:solidFill>
            <a:tailEnd type="oval" w="lg" len="lg"/>
          </a:ln>
          <a:effectLst>
            <a:glow rad="139700">
              <a:schemeClr val="accent3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接连接符 3"/>
          <p:cNvCxnSpPr/>
          <p:nvPr/>
        </p:nvCxnSpPr>
        <p:spPr>
          <a:xfrm flipH="1">
            <a:off x="8343900" y="762000"/>
            <a:ext cx="5086350" cy="0"/>
          </a:xfrm>
          <a:prstGeom prst="line">
            <a:avLst/>
          </a:prstGeom>
          <a:ln>
            <a:solidFill>
              <a:schemeClr val="bg1"/>
            </a:solidFill>
            <a:tailEnd type="oval" w="lg" len="lg"/>
          </a:ln>
          <a:effectLst>
            <a:glow rad="139700">
              <a:schemeClr val="accent3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/>
          <p:cNvSpPr txBox="1"/>
          <p:nvPr/>
        </p:nvSpPr>
        <p:spPr>
          <a:xfrm>
            <a:off x="0" y="1327"/>
            <a:ext cx="262550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400" b="1" dirty="0" smtClean="0">
                <a:solidFill>
                  <a:schemeClr val="bg1"/>
                </a:solidFill>
                <a:effectLst>
                  <a:glow rad="228600">
                    <a:schemeClr val="accent3">
                      <a:satMod val="175000"/>
                      <a:alpha val="40000"/>
                    </a:schemeClr>
                  </a:glo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平台建设</a:t>
            </a:r>
            <a:endParaRPr lang="zh-CN" altLang="en-US" sz="4400" b="1" dirty="0">
              <a:solidFill>
                <a:schemeClr val="bg1"/>
              </a:solidFill>
              <a:effectLst>
                <a:glow rad="228600">
                  <a:schemeClr val="accent3">
                    <a:satMod val="175000"/>
                    <a:alpha val="40000"/>
                  </a:schemeClr>
                </a:glo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46100" y="1338008"/>
            <a:ext cx="44919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>
                <a:solidFill>
                  <a:schemeClr val="bg1"/>
                </a:solidFill>
              </a:rPr>
              <a:t>网管七大问题</a:t>
            </a:r>
            <a:r>
              <a:rPr lang="en-US" altLang="zh-CN" b="1" dirty="0" smtClean="0">
                <a:solidFill>
                  <a:schemeClr val="bg1"/>
                </a:solidFill>
              </a:rPr>
              <a:t>-</a:t>
            </a:r>
            <a:r>
              <a:rPr lang="zh-CN" altLang="en-US" b="1" dirty="0" smtClean="0">
                <a:solidFill>
                  <a:schemeClr val="bg1"/>
                </a:solidFill>
              </a:rPr>
              <a:t>全网信息的呈现</a:t>
            </a:r>
            <a:r>
              <a:rPr lang="en-US" altLang="zh-CN" b="1" dirty="0" smtClean="0">
                <a:solidFill>
                  <a:schemeClr val="bg1"/>
                </a:solidFill>
              </a:rPr>
              <a:t>(</a:t>
            </a:r>
            <a:r>
              <a:rPr lang="zh-CN" altLang="en-US" b="1" dirty="0" smtClean="0">
                <a:solidFill>
                  <a:schemeClr val="bg1"/>
                </a:solidFill>
              </a:rPr>
              <a:t>整体情况？</a:t>
            </a:r>
            <a:r>
              <a:rPr lang="en-US" altLang="zh-CN" b="1" dirty="0" smtClean="0">
                <a:solidFill>
                  <a:schemeClr val="bg1"/>
                </a:solidFill>
              </a:rPr>
              <a:t>)</a:t>
            </a:r>
            <a:endParaRPr lang="zh-CN" altLang="en-US" b="1" dirty="0">
              <a:solidFill>
                <a:schemeClr val="bg1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7999" y="2079101"/>
            <a:ext cx="9459076" cy="4373346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1312752" y="1476369"/>
            <a:ext cx="9375775" cy="662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0" algn="ctr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sz="2800" dirty="0" smtClean="0">
                <a:solidFill>
                  <a:schemeClr val="accent1">
                    <a:lumMod val="20000"/>
                    <a:lumOff val="80000"/>
                  </a:schemeClr>
                </a:solidFill>
              </a:rPr>
              <a:t>全局总览，整体把控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4524226" y="334355"/>
            <a:ext cx="32666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b="1" dirty="0" smtClean="0">
                <a:solidFill>
                  <a:schemeClr val="bg1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网络大脑</a:t>
            </a:r>
            <a:r>
              <a:rPr lang="en-US" altLang="zh-CN" sz="2800" b="1" dirty="0" smtClean="0">
                <a:solidFill>
                  <a:schemeClr val="bg1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800" b="1" dirty="0" smtClean="0">
                <a:solidFill>
                  <a:schemeClr val="bg1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信息呈现</a:t>
            </a:r>
            <a:endParaRPr lang="zh-CN" altLang="en-US" sz="2800" b="1" dirty="0">
              <a:solidFill>
                <a:schemeClr val="bg1"/>
              </a:solidFill>
              <a:effectLst>
                <a:glow rad="228600">
                  <a:schemeClr val="accent1">
                    <a:satMod val="175000"/>
                    <a:alpha val="40000"/>
                  </a:schemeClr>
                </a:glo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677148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xit" presetSubtype="2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6" presetClass="exit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9" grpId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/>
          <p:cNvCxnSpPr/>
          <p:nvPr/>
        </p:nvCxnSpPr>
        <p:spPr>
          <a:xfrm>
            <a:off x="-1257300" y="762000"/>
            <a:ext cx="5086350" cy="0"/>
          </a:xfrm>
          <a:prstGeom prst="line">
            <a:avLst/>
          </a:prstGeom>
          <a:ln>
            <a:solidFill>
              <a:schemeClr val="bg1"/>
            </a:solidFill>
            <a:tailEnd type="oval" w="lg" len="lg"/>
          </a:ln>
          <a:effectLst>
            <a:glow rad="139700">
              <a:schemeClr val="accent3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接连接符 3"/>
          <p:cNvCxnSpPr/>
          <p:nvPr/>
        </p:nvCxnSpPr>
        <p:spPr>
          <a:xfrm flipH="1">
            <a:off x="8343900" y="762000"/>
            <a:ext cx="5086350" cy="0"/>
          </a:xfrm>
          <a:prstGeom prst="line">
            <a:avLst/>
          </a:prstGeom>
          <a:ln>
            <a:solidFill>
              <a:schemeClr val="bg1"/>
            </a:solidFill>
            <a:tailEnd type="oval" w="lg" len="lg"/>
          </a:ln>
          <a:effectLst>
            <a:glow rad="139700">
              <a:schemeClr val="accent3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/>
          <p:cNvSpPr txBox="1"/>
          <p:nvPr/>
        </p:nvSpPr>
        <p:spPr>
          <a:xfrm>
            <a:off x="0" y="1327"/>
            <a:ext cx="262550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400" b="1" dirty="0" smtClean="0">
                <a:solidFill>
                  <a:schemeClr val="bg1"/>
                </a:solidFill>
                <a:effectLst>
                  <a:glow rad="228600">
                    <a:schemeClr val="accent3">
                      <a:satMod val="175000"/>
                      <a:alpha val="40000"/>
                    </a:schemeClr>
                  </a:glo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平台建设</a:t>
            </a:r>
            <a:endParaRPr lang="zh-CN" altLang="en-US" sz="4400" b="1" dirty="0">
              <a:solidFill>
                <a:schemeClr val="bg1"/>
              </a:solidFill>
              <a:effectLst>
                <a:glow rad="228600">
                  <a:schemeClr val="accent3">
                    <a:satMod val="175000"/>
                    <a:alpha val="40000"/>
                  </a:schemeClr>
                </a:glo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46100" y="1338008"/>
            <a:ext cx="44919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>
                <a:solidFill>
                  <a:schemeClr val="bg1"/>
                </a:solidFill>
              </a:rPr>
              <a:t>网管七大问题</a:t>
            </a:r>
            <a:r>
              <a:rPr lang="en-US" altLang="zh-CN" b="1" dirty="0" smtClean="0">
                <a:solidFill>
                  <a:schemeClr val="bg1"/>
                </a:solidFill>
              </a:rPr>
              <a:t>-</a:t>
            </a:r>
            <a:r>
              <a:rPr lang="zh-CN" altLang="en-US" b="1" dirty="0" smtClean="0">
                <a:solidFill>
                  <a:schemeClr val="bg1"/>
                </a:solidFill>
              </a:rPr>
              <a:t>全网信息的呈现</a:t>
            </a:r>
            <a:r>
              <a:rPr lang="en-US" altLang="zh-CN" b="1" dirty="0" smtClean="0">
                <a:solidFill>
                  <a:schemeClr val="bg1"/>
                </a:solidFill>
              </a:rPr>
              <a:t>(</a:t>
            </a:r>
            <a:r>
              <a:rPr lang="zh-CN" altLang="en-US" b="1" dirty="0" smtClean="0">
                <a:solidFill>
                  <a:schemeClr val="bg1"/>
                </a:solidFill>
              </a:rPr>
              <a:t>整体情况？</a:t>
            </a:r>
            <a:r>
              <a:rPr lang="en-US" altLang="zh-CN" b="1" dirty="0" smtClean="0">
                <a:solidFill>
                  <a:schemeClr val="bg1"/>
                </a:solidFill>
              </a:rPr>
              <a:t>)</a:t>
            </a:r>
            <a:endParaRPr lang="zh-CN" altLang="en-US" b="1" dirty="0">
              <a:solidFill>
                <a:schemeClr val="bg1"/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312752" y="1476369"/>
            <a:ext cx="9375775" cy="662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0" algn="ctr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sz="28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网络拓扑，一目了然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2545" y="2138923"/>
            <a:ext cx="8536187" cy="4700648"/>
          </a:xfrm>
          <a:prstGeom prst="rect">
            <a:avLst/>
          </a:prstGeom>
        </p:spPr>
      </p:pic>
      <p:sp>
        <p:nvSpPr>
          <p:cNvPr id="17" name="矩形 16"/>
          <p:cNvSpPr/>
          <p:nvPr/>
        </p:nvSpPr>
        <p:spPr>
          <a:xfrm>
            <a:off x="950902" y="2138923"/>
            <a:ext cx="10803313" cy="4700648"/>
          </a:xfrm>
          <a:prstGeom prst="rect">
            <a:avLst/>
          </a:prstGeom>
          <a:solidFill>
            <a:schemeClr val="bg1">
              <a:lumMod val="85000"/>
            </a:schemeClr>
          </a:solidFill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4524226" y="334355"/>
            <a:ext cx="32666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b="1" dirty="0" smtClean="0">
                <a:solidFill>
                  <a:schemeClr val="bg1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网络大脑</a:t>
            </a:r>
            <a:r>
              <a:rPr lang="en-US" altLang="zh-CN" sz="2800" b="1" dirty="0" smtClean="0">
                <a:solidFill>
                  <a:schemeClr val="bg1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800" b="1" dirty="0" smtClean="0">
                <a:solidFill>
                  <a:schemeClr val="bg1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信息呈现</a:t>
            </a:r>
            <a:endParaRPr lang="zh-CN" altLang="en-US" sz="2800" b="1" dirty="0">
              <a:solidFill>
                <a:schemeClr val="bg1"/>
              </a:solidFill>
              <a:effectLst>
                <a:glow rad="228600">
                  <a:schemeClr val="accent1">
                    <a:satMod val="175000"/>
                    <a:alpha val="40000"/>
                  </a:schemeClr>
                </a:glo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9" name="图片 2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24732" y="5227526"/>
            <a:ext cx="1188567" cy="757940"/>
          </a:xfrm>
          <a:prstGeom prst="rect">
            <a:avLst/>
          </a:prstGeom>
        </p:spPr>
      </p:pic>
      <p:cxnSp>
        <p:nvCxnSpPr>
          <p:cNvPr id="37" name="直接连接符 36"/>
          <p:cNvCxnSpPr>
            <a:stCxn id="30" idx="0"/>
          </p:cNvCxnSpPr>
          <p:nvPr/>
        </p:nvCxnSpPr>
        <p:spPr>
          <a:xfrm flipV="1">
            <a:off x="3675893" y="5499100"/>
            <a:ext cx="468027" cy="544254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" name="图片 2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34093" y="6043354"/>
            <a:ext cx="1083600" cy="714100"/>
          </a:xfrm>
          <a:prstGeom prst="rect">
            <a:avLst/>
          </a:prstGeom>
        </p:spPr>
      </p:pic>
      <p:cxnSp>
        <p:nvCxnSpPr>
          <p:cNvPr id="39" name="直接连接符 38"/>
          <p:cNvCxnSpPr/>
          <p:nvPr/>
        </p:nvCxnSpPr>
        <p:spPr>
          <a:xfrm flipV="1">
            <a:off x="3975100" y="4623488"/>
            <a:ext cx="2792259" cy="154871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5" name="图片 3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43920" y="2197573"/>
            <a:ext cx="4811701" cy="3744200"/>
          </a:xfrm>
          <a:prstGeom prst="rect">
            <a:avLst/>
          </a:prstGeom>
        </p:spPr>
      </p:pic>
      <p:cxnSp>
        <p:nvCxnSpPr>
          <p:cNvPr id="44" name="直接连接符 43"/>
          <p:cNvCxnSpPr/>
          <p:nvPr/>
        </p:nvCxnSpPr>
        <p:spPr>
          <a:xfrm flipV="1">
            <a:off x="3975100" y="5323302"/>
            <a:ext cx="4240947" cy="84889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圆角矩形标注 50"/>
          <p:cNvSpPr/>
          <p:nvPr/>
        </p:nvSpPr>
        <p:spPr>
          <a:xfrm flipH="1">
            <a:off x="1379249" y="3969821"/>
            <a:ext cx="1824980" cy="1307334"/>
          </a:xfrm>
          <a:prstGeom prst="wedgeRoundRectCallout">
            <a:avLst/>
          </a:prstGeom>
          <a:solidFill>
            <a:schemeClr val="bg1">
              <a:lumMod val="50000"/>
              <a:alpha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链路中断</a:t>
            </a:r>
            <a:endParaRPr lang="zh-CN" altLang="en-US" dirty="0"/>
          </a:p>
        </p:txBody>
      </p:sp>
      <p:cxnSp>
        <p:nvCxnSpPr>
          <p:cNvPr id="53" name="直接箭头连接符 52"/>
          <p:cNvCxnSpPr/>
          <p:nvPr/>
        </p:nvCxnSpPr>
        <p:spPr>
          <a:xfrm flipH="1" flipV="1">
            <a:off x="3021534" y="5323302"/>
            <a:ext cx="702591" cy="637935"/>
          </a:xfrm>
          <a:prstGeom prst="straightConnector1">
            <a:avLst/>
          </a:prstGeom>
          <a:ln w="57150">
            <a:solidFill>
              <a:schemeClr val="tx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接连接符 53"/>
          <p:cNvCxnSpPr/>
          <p:nvPr/>
        </p:nvCxnSpPr>
        <p:spPr>
          <a:xfrm flipV="1">
            <a:off x="3678470" y="5499100"/>
            <a:ext cx="468027" cy="544254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5" name="图片 5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34093" y="6035770"/>
            <a:ext cx="1083600" cy="714100"/>
          </a:xfrm>
          <a:prstGeom prst="rect">
            <a:avLst/>
          </a:prstGeom>
        </p:spPr>
      </p:pic>
      <p:pic>
        <p:nvPicPr>
          <p:cNvPr id="56" name="图片 5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20276" y="5230132"/>
            <a:ext cx="1180350" cy="752700"/>
          </a:xfrm>
          <a:prstGeom prst="rect">
            <a:avLst/>
          </a:prstGeom>
        </p:spPr>
      </p:pic>
      <p:cxnSp>
        <p:nvCxnSpPr>
          <p:cNvPr id="57" name="直接连接符 56"/>
          <p:cNvCxnSpPr/>
          <p:nvPr/>
        </p:nvCxnSpPr>
        <p:spPr>
          <a:xfrm flipV="1">
            <a:off x="3946296" y="4631072"/>
            <a:ext cx="2792259" cy="1548712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圆角矩形标注 57"/>
          <p:cNvSpPr/>
          <p:nvPr/>
        </p:nvSpPr>
        <p:spPr>
          <a:xfrm flipH="1">
            <a:off x="3021534" y="3399735"/>
            <a:ext cx="1824980" cy="1307334"/>
          </a:xfrm>
          <a:prstGeom prst="wedgeRoundRectCallout">
            <a:avLst/>
          </a:prstGeom>
          <a:solidFill>
            <a:schemeClr val="bg1">
              <a:lumMod val="50000"/>
              <a:alpha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备用链路启用</a:t>
            </a:r>
            <a:endParaRPr lang="zh-CN" altLang="en-US" dirty="0"/>
          </a:p>
        </p:txBody>
      </p:sp>
      <p:cxnSp>
        <p:nvCxnSpPr>
          <p:cNvPr id="59" name="直接箭头连接符 58"/>
          <p:cNvCxnSpPr/>
          <p:nvPr/>
        </p:nvCxnSpPr>
        <p:spPr>
          <a:xfrm flipH="1" flipV="1">
            <a:off x="4663819" y="4753216"/>
            <a:ext cx="702591" cy="637935"/>
          </a:xfrm>
          <a:prstGeom prst="straightConnector1">
            <a:avLst/>
          </a:prstGeom>
          <a:ln w="57150">
            <a:solidFill>
              <a:schemeClr val="tx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椭圆 59"/>
          <p:cNvSpPr/>
          <p:nvPr/>
        </p:nvSpPr>
        <p:spPr>
          <a:xfrm>
            <a:off x="7929285" y="4901082"/>
            <a:ext cx="1029503" cy="770603"/>
          </a:xfrm>
          <a:prstGeom prst="ellipse">
            <a:avLst/>
          </a:prstGeom>
          <a:noFill/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66" name="组合 65"/>
          <p:cNvGrpSpPr/>
          <p:nvPr/>
        </p:nvGrpSpPr>
        <p:grpSpPr>
          <a:xfrm>
            <a:off x="2163445" y="2333439"/>
            <a:ext cx="7711440" cy="3459480"/>
            <a:chOff x="2875" y="171"/>
            <a:chExt cx="12144" cy="5448"/>
          </a:xfrm>
        </p:grpSpPr>
        <p:pic>
          <p:nvPicPr>
            <p:cNvPr id="67" name="图片 66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2875" y="171"/>
              <a:ext cx="5977" cy="2520"/>
            </a:xfrm>
            <a:prstGeom prst="rect">
              <a:avLst/>
            </a:prstGeom>
          </p:spPr>
        </p:pic>
        <p:pic>
          <p:nvPicPr>
            <p:cNvPr id="68" name="图片 67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2875" y="2691"/>
              <a:ext cx="12145" cy="2928"/>
            </a:xfrm>
            <a:prstGeom prst="rect">
              <a:avLst/>
            </a:prstGeom>
          </p:spPr>
        </p:pic>
      </p:grpSp>
      <p:pic>
        <p:nvPicPr>
          <p:cNvPr id="69" name="Picture 7"/>
          <p:cNvPicPr>
            <a:picLocks noChangeAspect="1" noChangeArrowheads="1"/>
          </p:cNvPicPr>
          <p:nvPr/>
        </p:nvPicPr>
        <p:blipFill>
          <a:blip r:embed="rId11" cstate="print"/>
          <a:srcRect/>
          <a:stretch>
            <a:fillRect/>
          </a:stretch>
        </p:blipFill>
        <p:spPr bwMode="auto">
          <a:xfrm>
            <a:off x="1492250" y="4255584"/>
            <a:ext cx="7846060" cy="2130425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</p:spPr>
      </p:pic>
      <p:pic>
        <p:nvPicPr>
          <p:cNvPr id="70" name="Picture 4"/>
          <p:cNvPicPr>
            <a:picLocks noChangeAspect="1" noChangeArrowheads="1"/>
          </p:cNvPicPr>
          <p:nvPr/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1837690" y="4707069"/>
            <a:ext cx="8037830" cy="1883410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3242122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4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4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8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42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42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4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8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4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7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4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4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7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1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0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42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4" dur="1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5" dur="1000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1000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42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9" dur="1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0" dur="1000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1000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4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06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" presetID="14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09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1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10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7" dur="1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1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2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3" dur="1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1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135" dur="10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2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0" dur="1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1" dur="1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142" dur="10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7" grpId="0" animBg="1"/>
      <p:bldP spid="51" grpId="0" animBg="1"/>
      <p:bldP spid="51" grpId="1" animBg="1"/>
      <p:bldP spid="58" grpId="0" animBg="1"/>
      <p:bldP spid="58" grpId="1" animBg="1"/>
      <p:bldP spid="60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/>
          <p:cNvCxnSpPr/>
          <p:nvPr/>
        </p:nvCxnSpPr>
        <p:spPr>
          <a:xfrm>
            <a:off x="-1257300" y="762000"/>
            <a:ext cx="5086350" cy="0"/>
          </a:xfrm>
          <a:prstGeom prst="line">
            <a:avLst/>
          </a:prstGeom>
          <a:ln>
            <a:solidFill>
              <a:schemeClr val="bg1"/>
            </a:solidFill>
            <a:tailEnd type="oval" w="lg" len="lg"/>
          </a:ln>
          <a:effectLst>
            <a:glow rad="139700">
              <a:schemeClr val="accent3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接连接符 3"/>
          <p:cNvCxnSpPr/>
          <p:nvPr/>
        </p:nvCxnSpPr>
        <p:spPr>
          <a:xfrm flipH="1">
            <a:off x="8343900" y="762000"/>
            <a:ext cx="5086350" cy="0"/>
          </a:xfrm>
          <a:prstGeom prst="line">
            <a:avLst/>
          </a:prstGeom>
          <a:ln>
            <a:solidFill>
              <a:schemeClr val="bg1"/>
            </a:solidFill>
            <a:tailEnd type="oval" w="lg" len="lg"/>
          </a:ln>
          <a:effectLst>
            <a:glow rad="139700">
              <a:schemeClr val="accent3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/>
          <p:cNvSpPr txBox="1"/>
          <p:nvPr/>
        </p:nvSpPr>
        <p:spPr>
          <a:xfrm>
            <a:off x="0" y="1327"/>
            <a:ext cx="262550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400" b="1" dirty="0" smtClean="0">
                <a:solidFill>
                  <a:schemeClr val="bg1"/>
                </a:solidFill>
                <a:effectLst>
                  <a:glow rad="228600">
                    <a:schemeClr val="accent3">
                      <a:satMod val="175000"/>
                      <a:alpha val="40000"/>
                    </a:schemeClr>
                  </a:glo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平台建设</a:t>
            </a:r>
            <a:endParaRPr lang="zh-CN" altLang="en-US" sz="4400" b="1" dirty="0">
              <a:solidFill>
                <a:schemeClr val="bg1"/>
              </a:solidFill>
              <a:effectLst>
                <a:glow rad="228600">
                  <a:schemeClr val="accent3">
                    <a:satMod val="175000"/>
                    <a:alpha val="40000"/>
                  </a:schemeClr>
                </a:glo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715223" y="1347698"/>
            <a:ext cx="44522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>
                <a:solidFill>
                  <a:schemeClr val="bg1"/>
                </a:solidFill>
              </a:rPr>
              <a:t>网管七大问题</a:t>
            </a:r>
            <a:r>
              <a:rPr lang="en-US" altLang="zh-CN" b="1" dirty="0" smtClean="0">
                <a:solidFill>
                  <a:schemeClr val="bg1"/>
                </a:solidFill>
              </a:rPr>
              <a:t>-</a:t>
            </a:r>
            <a:r>
              <a:rPr lang="zh-CN" altLang="en-US" b="1" dirty="0" smtClean="0">
                <a:solidFill>
                  <a:schemeClr val="bg1"/>
                </a:solidFill>
              </a:rPr>
              <a:t>网络问题的感知</a:t>
            </a:r>
            <a:endParaRPr lang="en-US" altLang="zh-CN" b="1" dirty="0" smtClean="0">
              <a:solidFill>
                <a:schemeClr val="bg1"/>
              </a:solidFill>
            </a:endParaRPr>
          </a:p>
          <a:p>
            <a:r>
              <a:rPr lang="zh-CN" altLang="en-US" b="1" dirty="0" smtClean="0">
                <a:solidFill>
                  <a:schemeClr val="bg1"/>
                </a:solidFill>
              </a:rPr>
              <a:t>（有何问题？</a:t>
            </a:r>
            <a:r>
              <a:rPr lang="en-US" altLang="zh-CN" b="1" dirty="0" smtClean="0">
                <a:solidFill>
                  <a:schemeClr val="bg1"/>
                </a:solidFill>
              </a:rPr>
              <a:t>&amp;</a:t>
            </a:r>
            <a:r>
              <a:rPr lang="zh-CN" altLang="en-US" b="1" dirty="0" smtClean="0">
                <a:solidFill>
                  <a:schemeClr val="bg1"/>
                </a:solidFill>
              </a:rPr>
              <a:t>问题原因？</a:t>
            </a:r>
            <a:r>
              <a:rPr lang="en-US" altLang="zh-CN" b="1" dirty="0" smtClean="0">
                <a:solidFill>
                  <a:schemeClr val="bg1"/>
                </a:solidFill>
              </a:rPr>
              <a:t>&amp;</a:t>
            </a:r>
            <a:r>
              <a:rPr lang="zh-CN" altLang="en-US" b="1" dirty="0" smtClean="0">
                <a:solidFill>
                  <a:schemeClr val="bg1"/>
                </a:solidFill>
              </a:rPr>
              <a:t>影响范围？）</a:t>
            </a:r>
            <a:endParaRPr lang="zh-CN" altLang="en-US" b="1" dirty="0">
              <a:solidFill>
                <a:schemeClr val="bg1"/>
              </a:solidFill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4524226" y="334355"/>
            <a:ext cx="32666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b="1" dirty="0" smtClean="0">
                <a:solidFill>
                  <a:schemeClr val="bg1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网络大脑</a:t>
            </a:r>
            <a:r>
              <a:rPr lang="en-US" altLang="zh-CN" sz="2800" b="1" dirty="0" smtClean="0">
                <a:solidFill>
                  <a:schemeClr val="bg1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800" b="1" dirty="0" smtClean="0">
                <a:solidFill>
                  <a:schemeClr val="bg1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决策</a:t>
            </a:r>
            <a:endParaRPr lang="zh-CN" altLang="en-US" sz="2800" b="1" dirty="0">
              <a:solidFill>
                <a:schemeClr val="bg1"/>
              </a:solidFill>
              <a:effectLst>
                <a:glow rad="228600">
                  <a:schemeClr val="accent1">
                    <a:satMod val="175000"/>
                    <a:alpha val="40000"/>
                  </a:schemeClr>
                </a:glo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127" name="图片 312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6423" y="2484152"/>
            <a:ext cx="1651937" cy="3906971"/>
          </a:xfrm>
          <a:prstGeom prst="rect">
            <a:avLst/>
          </a:prstGeom>
        </p:spPr>
      </p:pic>
      <p:pic>
        <p:nvPicPr>
          <p:cNvPr id="3128" name="图片 312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7661" y="2567315"/>
            <a:ext cx="1326106" cy="881787"/>
          </a:xfrm>
          <a:prstGeom prst="rect">
            <a:avLst/>
          </a:prstGeom>
        </p:spPr>
      </p:pic>
      <p:pic>
        <p:nvPicPr>
          <p:cNvPr id="3129" name="图片 312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19255" y="2567315"/>
            <a:ext cx="1844293" cy="743658"/>
          </a:xfrm>
          <a:prstGeom prst="rect">
            <a:avLst/>
          </a:prstGeom>
        </p:spPr>
      </p:pic>
      <p:pic>
        <p:nvPicPr>
          <p:cNvPr id="3132" name="图片 313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8805" y="4003830"/>
            <a:ext cx="1465587" cy="498341"/>
          </a:xfrm>
          <a:prstGeom prst="rect">
            <a:avLst/>
          </a:prstGeom>
        </p:spPr>
      </p:pic>
      <p:pic>
        <p:nvPicPr>
          <p:cNvPr id="3133" name="图片 313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17260" y="3366189"/>
            <a:ext cx="1179960" cy="692858"/>
          </a:xfrm>
          <a:prstGeom prst="rect">
            <a:avLst/>
          </a:prstGeom>
        </p:spPr>
      </p:pic>
      <p:pic>
        <p:nvPicPr>
          <p:cNvPr id="3134" name="图片 313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17260" y="4509210"/>
            <a:ext cx="1225946" cy="591009"/>
          </a:xfrm>
          <a:prstGeom prst="rect">
            <a:avLst/>
          </a:prstGeom>
        </p:spPr>
      </p:pic>
      <p:pic>
        <p:nvPicPr>
          <p:cNvPr id="3135" name="图片 313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70996" y="5153709"/>
            <a:ext cx="1292771" cy="650043"/>
          </a:xfrm>
          <a:prstGeom prst="rect">
            <a:avLst/>
          </a:prstGeom>
        </p:spPr>
      </p:pic>
      <p:pic>
        <p:nvPicPr>
          <p:cNvPr id="3137" name="图片 3136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71668" y="2443835"/>
            <a:ext cx="1636154" cy="3947288"/>
          </a:xfrm>
          <a:prstGeom prst="rect">
            <a:avLst/>
          </a:prstGeom>
        </p:spPr>
      </p:pic>
      <p:sp>
        <p:nvSpPr>
          <p:cNvPr id="3138" name="AutoShape 63" descr="âmachine learning white iconâçå¾çæç´¢ç»æ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3141" name="图片 3140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943008" y="4926072"/>
            <a:ext cx="1214529" cy="1505368"/>
          </a:xfrm>
          <a:prstGeom prst="rect">
            <a:avLst/>
          </a:prstGeom>
        </p:spPr>
      </p:pic>
      <p:pic>
        <p:nvPicPr>
          <p:cNvPr id="3142" name="图片 3141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810431" y="2339656"/>
            <a:ext cx="1542337" cy="1143021"/>
          </a:xfrm>
          <a:prstGeom prst="rect">
            <a:avLst/>
          </a:prstGeom>
        </p:spPr>
      </p:pic>
      <p:sp>
        <p:nvSpPr>
          <p:cNvPr id="135" name="左右箭头 134"/>
          <p:cNvSpPr/>
          <p:nvPr/>
        </p:nvSpPr>
        <p:spPr>
          <a:xfrm>
            <a:off x="6612201" y="5277496"/>
            <a:ext cx="1438639" cy="370157"/>
          </a:xfrm>
          <a:prstGeom prst="leftRightArrow">
            <a:avLst/>
          </a:prstGeom>
          <a:noFill/>
          <a:ln w="38100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6" name="文本框 135"/>
          <p:cNvSpPr txBox="1"/>
          <p:nvPr/>
        </p:nvSpPr>
        <p:spPr>
          <a:xfrm>
            <a:off x="6634363" y="4697131"/>
            <a:ext cx="15210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solidFill>
                  <a:srgbClr val="66FF99"/>
                </a:solidFill>
              </a:rPr>
              <a:t>通过感知系统闭环反馈</a:t>
            </a:r>
            <a:endParaRPr lang="zh-CN" altLang="en-US" dirty="0">
              <a:solidFill>
                <a:srgbClr val="66FF99"/>
              </a:solidFill>
            </a:endParaRPr>
          </a:p>
        </p:txBody>
      </p:sp>
      <p:sp>
        <p:nvSpPr>
          <p:cNvPr id="146" name="圆角矩形 145"/>
          <p:cNvSpPr/>
          <p:nvPr/>
        </p:nvSpPr>
        <p:spPr>
          <a:xfrm>
            <a:off x="4688935" y="1935640"/>
            <a:ext cx="1830705" cy="4495800"/>
          </a:xfrm>
          <a:prstGeom prst="roundRect">
            <a:avLst/>
          </a:prstGeom>
          <a:noFill/>
          <a:ln w="28575">
            <a:prstDash val="lgDash"/>
          </a:ln>
          <a:extLst>
            <a:ext uri="{909E8E84-426E-40DD-AFC4-6F175D3DCCD1}">
              <a14:hiddenFill xmlns:a14="http://schemas.microsoft.com/office/drawing/2010/main">
                <a:solidFill>
                  <a:schemeClr val="lt1"/>
                </a:solidFill>
              </a14:hiddenFill>
            </a:ext>
          </a:ex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7" name="文本框 146"/>
          <p:cNvSpPr txBox="1"/>
          <p:nvPr/>
        </p:nvSpPr>
        <p:spPr>
          <a:xfrm>
            <a:off x="4598447" y="6519704"/>
            <a:ext cx="20116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决策系统核心模块</a:t>
            </a:r>
          </a:p>
        </p:txBody>
      </p:sp>
      <p:sp>
        <p:nvSpPr>
          <p:cNvPr id="150" name="左弧形箭头 149"/>
          <p:cNvSpPr/>
          <p:nvPr/>
        </p:nvSpPr>
        <p:spPr>
          <a:xfrm rot="16200000" flipH="1">
            <a:off x="3602753" y="232105"/>
            <a:ext cx="709687" cy="2914650"/>
          </a:xfrm>
          <a:prstGeom prst="curvedRightArrow">
            <a:avLst/>
          </a:prstGeom>
          <a:solidFill>
            <a:srgbClr val="D9D9D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51" name="左弧形箭头 150"/>
          <p:cNvSpPr/>
          <p:nvPr/>
        </p:nvSpPr>
        <p:spPr>
          <a:xfrm rot="16200000" flipV="1">
            <a:off x="5094936" y="2684429"/>
            <a:ext cx="1018700" cy="7257347"/>
          </a:xfrm>
          <a:prstGeom prst="curvedRightArrow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52" name="矩形标注 151"/>
          <p:cNvSpPr/>
          <p:nvPr/>
        </p:nvSpPr>
        <p:spPr>
          <a:xfrm>
            <a:off x="5007480" y="1102325"/>
            <a:ext cx="2356569" cy="1160730"/>
          </a:xfrm>
          <a:prstGeom prst="wedgeRect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利用智库中的算法及模型对数据进行判别及分析</a:t>
            </a:r>
            <a:endParaRPr lang="zh-CN" altLang="en-US" dirty="0"/>
          </a:p>
        </p:txBody>
      </p:sp>
      <p:sp>
        <p:nvSpPr>
          <p:cNvPr id="153" name="左弧形箭头 152"/>
          <p:cNvSpPr/>
          <p:nvPr/>
        </p:nvSpPr>
        <p:spPr>
          <a:xfrm rot="16200000" flipH="1">
            <a:off x="7075883" y="192203"/>
            <a:ext cx="709687" cy="2914650"/>
          </a:xfrm>
          <a:prstGeom prst="curvedRightArrow">
            <a:avLst/>
          </a:prstGeom>
          <a:solidFill>
            <a:srgbClr val="D9D9D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54" name="矩形标注 153"/>
          <p:cNvSpPr/>
          <p:nvPr/>
        </p:nvSpPr>
        <p:spPr>
          <a:xfrm flipH="1">
            <a:off x="3866354" y="3876193"/>
            <a:ext cx="2356569" cy="1160730"/>
          </a:xfrm>
          <a:prstGeom prst="wedgeRect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使用反馈的数据对算法模型进行完善，达到自我学习的功能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053924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3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3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2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10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/>
                                        <p:tgtEl>
                                          <p:spTgt spid="1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/>
                                        <p:tgtEl>
                                          <p:spTgt spid="1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3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7"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2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7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2" dur="500"/>
                                        <p:tgtEl>
                                          <p:spTgt spid="3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5" dur="500"/>
                                        <p:tgtEl>
                                          <p:spTgt spid="3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8" dur="500"/>
                                        <p:tgtEl>
                                          <p:spTgt spid="3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10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42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9" dur="10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1000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7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0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1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1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1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1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5" grpId="0" animBg="1"/>
      <p:bldP spid="136" grpId="0"/>
      <p:bldP spid="146" grpId="0" animBg="1"/>
      <p:bldP spid="147" grpId="0"/>
      <p:bldP spid="150" grpId="0" animBg="1"/>
      <p:bldP spid="151" grpId="0" animBg="1"/>
      <p:bldP spid="152" grpId="0" animBg="1"/>
      <p:bldP spid="152" grpId="1" animBg="1"/>
      <p:bldP spid="153" grpId="0" animBg="1"/>
      <p:bldP spid="154" grpId="0" animBg="1"/>
      <p:bldP spid="154" grpId="1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/>
          <p:cNvCxnSpPr/>
          <p:nvPr/>
        </p:nvCxnSpPr>
        <p:spPr>
          <a:xfrm>
            <a:off x="-1257300" y="762000"/>
            <a:ext cx="5086350" cy="0"/>
          </a:xfrm>
          <a:prstGeom prst="line">
            <a:avLst/>
          </a:prstGeom>
          <a:ln>
            <a:solidFill>
              <a:schemeClr val="bg1"/>
            </a:solidFill>
            <a:tailEnd type="oval" w="lg" len="lg"/>
          </a:ln>
          <a:effectLst>
            <a:glow rad="139700">
              <a:schemeClr val="accent3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接连接符 3"/>
          <p:cNvCxnSpPr/>
          <p:nvPr/>
        </p:nvCxnSpPr>
        <p:spPr>
          <a:xfrm flipH="1">
            <a:off x="8343900" y="762000"/>
            <a:ext cx="5086350" cy="0"/>
          </a:xfrm>
          <a:prstGeom prst="line">
            <a:avLst/>
          </a:prstGeom>
          <a:ln>
            <a:solidFill>
              <a:schemeClr val="bg1"/>
            </a:solidFill>
            <a:tailEnd type="oval" w="lg" len="lg"/>
          </a:ln>
          <a:effectLst>
            <a:glow rad="139700">
              <a:schemeClr val="accent3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/>
          <p:cNvSpPr txBox="1"/>
          <p:nvPr/>
        </p:nvSpPr>
        <p:spPr>
          <a:xfrm>
            <a:off x="0" y="1327"/>
            <a:ext cx="262550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400" b="1" dirty="0" smtClean="0">
                <a:solidFill>
                  <a:schemeClr val="bg1"/>
                </a:solidFill>
                <a:effectLst>
                  <a:glow rad="228600">
                    <a:schemeClr val="accent3">
                      <a:satMod val="175000"/>
                      <a:alpha val="40000"/>
                    </a:schemeClr>
                  </a:glo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平台建设</a:t>
            </a:r>
            <a:endParaRPr lang="zh-CN" altLang="en-US" sz="4400" b="1" dirty="0">
              <a:solidFill>
                <a:schemeClr val="bg1"/>
              </a:solidFill>
              <a:effectLst>
                <a:glow rad="228600">
                  <a:schemeClr val="accent3">
                    <a:satMod val="175000"/>
                    <a:alpha val="40000"/>
                  </a:schemeClr>
                </a:glo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715223" y="1347698"/>
            <a:ext cx="44522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>
                <a:solidFill>
                  <a:schemeClr val="bg1"/>
                </a:solidFill>
              </a:rPr>
              <a:t>网管七大问题</a:t>
            </a:r>
            <a:r>
              <a:rPr lang="en-US" altLang="zh-CN" b="1" dirty="0" smtClean="0">
                <a:solidFill>
                  <a:schemeClr val="bg1"/>
                </a:solidFill>
              </a:rPr>
              <a:t>-</a:t>
            </a:r>
            <a:r>
              <a:rPr lang="zh-CN" altLang="en-US" b="1" dirty="0" smtClean="0">
                <a:solidFill>
                  <a:schemeClr val="bg1"/>
                </a:solidFill>
              </a:rPr>
              <a:t>故障异常的处理</a:t>
            </a:r>
            <a:endParaRPr lang="en-US" altLang="zh-CN" b="1" dirty="0" smtClean="0">
              <a:solidFill>
                <a:schemeClr val="bg1"/>
              </a:solidFill>
            </a:endParaRPr>
          </a:p>
          <a:p>
            <a:r>
              <a:rPr lang="zh-CN" altLang="en-US" b="1" dirty="0" smtClean="0">
                <a:solidFill>
                  <a:schemeClr val="bg1"/>
                </a:solidFill>
              </a:rPr>
              <a:t>（解决策略？</a:t>
            </a:r>
            <a:r>
              <a:rPr lang="en-US" altLang="zh-CN" b="1" dirty="0" smtClean="0">
                <a:solidFill>
                  <a:schemeClr val="bg1"/>
                </a:solidFill>
              </a:rPr>
              <a:t>&amp;</a:t>
            </a:r>
            <a:r>
              <a:rPr lang="zh-CN" altLang="en-US" b="1" dirty="0" smtClean="0">
                <a:solidFill>
                  <a:schemeClr val="bg1"/>
                </a:solidFill>
              </a:rPr>
              <a:t>处理进度？）</a:t>
            </a:r>
            <a:endParaRPr lang="zh-CN" altLang="en-US" b="1" dirty="0">
              <a:solidFill>
                <a:schemeClr val="bg1"/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524226" y="334355"/>
            <a:ext cx="32666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b="1" dirty="0" smtClean="0">
                <a:solidFill>
                  <a:schemeClr val="bg1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网络大脑</a:t>
            </a:r>
            <a:r>
              <a:rPr lang="en-US" altLang="zh-CN" sz="2800" b="1" dirty="0" smtClean="0">
                <a:solidFill>
                  <a:schemeClr val="bg1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800" b="1" dirty="0" smtClean="0">
                <a:solidFill>
                  <a:schemeClr val="bg1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控制</a:t>
            </a:r>
            <a:endParaRPr lang="zh-CN" altLang="en-US" sz="2800" b="1" dirty="0">
              <a:solidFill>
                <a:schemeClr val="bg1"/>
              </a:solidFill>
              <a:effectLst>
                <a:glow rad="228600">
                  <a:schemeClr val="accent1">
                    <a:satMod val="175000"/>
                    <a:alpha val="40000"/>
                  </a:schemeClr>
                </a:glo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2947521" y="2061330"/>
            <a:ext cx="1441450" cy="869315"/>
            <a:chOff x="5053" y="1918"/>
            <a:chExt cx="2270" cy="1369"/>
          </a:xfrm>
        </p:grpSpPr>
        <p:sp>
          <p:nvSpPr>
            <p:cNvPr id="11" name="右箭头 10"/>
            <p:cNvSpPr/>
            <p:nvPr/>
          </p:nvSpPr>
          <p:spPr>
            <a:xfrm>
              <a:off x="5053" y="2678"/>
              <a:ext cx="2270" cy="609"/>
            </a:xfrm>
            <a:prstGeom prst="rightArrow">
              <a:avLst/>
            </a:prstGeom>
            <a:solidFill>
              <a:srgbClr val="00B050"/>
            </a:solidFill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5403" y="1918"/>
              <a:ext cx="1728" cy="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>
                  <a:solidFill>
                    <a:srgbClr val="66FF99"/>
                  </a:solidFill>
                </a:rPr>
                <a:t>决策指令</a:t>
              </a:r>
            </a:p>
          </p:txBody>
        </p:sp>
      </p:grpSp>
      <p:sp>
        <p:nvSpPr>
          <p:cNvPr id="13" name="右箭头 12"/>
          <p:cNvSpPr/>
          <p:nvPr/>
        </p:nvSpPr>
        <p:spPr>
          <a:xfrm rot="10800000">
            <a:off x="2966571" y="4890255"/>
            <a:ext cx="1352550" cy="386715"/>
          </a:xfrm>
          <a:prstGeom prst="rightArrow">
            <a:avLst/>
          </a:prstGeom>
          <a:solidFill>
            <a:srgbClr val="42D2C4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圆角矩形 13"/>
          <p:cNvSpPr/>
          <p:nvPr/>
        </p:nvSpPr>
        <p:spPr>
          <a:xfrm>
            <a:off x="4694406" y="2200395"/>
            <a:ext cx="1313815" cy="3169285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 smtClean="0"/>
              <a:t>流程处理模块</a:t>
            </a:r>
            <a:endParaRPr lang="zh-CN" altLang="en-US" b="1" dirty="0"/>
          </a:p>
        </p:txBody>
      </p:sp>
      <p:sp>
        <p:nvSpPr>
          <p:cNvPr id="15" name="圆角矩形 14"/>
          <p:cNvSpPr/>
          <p:nvPr/>
        </p:nvSpPr>
        <p:spPr>
          <a:xfrm>
            <a:off x="1428601" y="3547230"/>
            <a:ext cx="1313815" cy="1960245"/>
          </a:xfrm>
          <a:prstGeom prst="roundRect">
            <a:avLst/>
          </a:prstGeom>
          <a:solidFill>
            <a:srgbClr val="1CBDE8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感知系统</a:t>
            </a:r>
            <a:endParaRPr lang="zh-CN" altLang="en-US" dirty="0"/>
          </a:p>
        </p:txBody>
      </p:sp>
      <p:sp>
        <p:nvSpPr>
          <p:cNvPr id="16" name="圆角矩形 15"/>
          <p:cNvSpPr/>
          <p:nvPr/>
        </p:nvSpPr>
        <p:spPr>
          <a:xfrm>
            <a:off x="1428601" y="2298185"/>
            <a:ext cx="1313815" cy="1061085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决策系统</a:t>
            </a:r>
          </a:p>
        </p:txBody>
      </p:sp>
      <p:sp>
        <p:nvSpPr>
          <p:cNvPr id="17" name="右箭头 16"/>
          <p:cNvSpPr/>
          <p:nvPr/>
        </p:nvSpPr>
        <p:spPr>
          <a:xfrm>
            <a:off x="6210151" y="3280530"/>
            <a:ext cx="1522730" cy="1009015"/>
          </a:xfrm>
          <a:prstGeom prst="rightArrow">
            <a:avLst/>
          </a:prstGeom>
          <a:solidFill>
            <a:srgbClr val="8FAADC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圆角矩形 17"/>
          <p:cNvSpPr/>
          <p:nvPr/>
        </p:nvSpPr>
        <p:spPr>
          <a:xfrm>
            <a:off x="7935446" y="2200395"/>
            <a:ext cx="1313815" cy="3306445"/>
          </a:xfrm>
          <a:prstGeom prst="round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 smtClean="0"/>
              <a:t>信息通报模块</a:t>
            </a:r>
            <a:endParaRPr lang="zh-CN" altLang="en-US" b="1" dirty="0"/>
          </a:p>
        </p:txBody>
      </p:sp>
      <p:sp>
        <p:nvSpPr>
          <p:cNvPr id="19" name="圆角矩形 18"/>
          <p:cNvSpPr/>
          <p:nvPr/>
        </p:nvSpPr>
        <p:spPr>
          <a:xfrm>
            <a:off x="4524226" y="1856105"/>
            <a:ext cx="5026025" cy="4158615"/>
          </a:xfrm>
          <a:prstGeom prst="roundRect">
            <a:avLst/>
          </a:prstGeom>
          <a:noFill/>
          <a:ln w="28575">
            <a:prstDash val="lgDash"/>
          </a:ln>
          <a:extLst>
            <a:ext uri="{909E8E84-426E-40DD-AFC4-6F175D3DCCD1}">
              <a14:hiddenFill xmlns:a14="http://schemas.microsoft.com/office/drawing/2010/main">
                <a:solidFill>
                  <a:schemeClr val="lt1"/>
                </a:solidFill>
              </a14:hiddenFill>
            </a:ext>
          </a:ex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/>
        </p:nvSpPr>
        <p:spPr>
          <a:xfrm>
            <a:off x="3134211" y="5483980"/>
            <a:ext cx="15887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solidFill>
                  <a:srgbClr val="66FF99"/>
                </a:solidFill>
              </a:rPr>
              <a:t>完成闭环</a:t>
            </a:r>
            <a:endParaRPr lang="zh-CN" altLang="en-US" dirty="0">
              <a:solidFill>
                <a:srgbClr val="66FF99"/>
              </a:solidFill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6031398" y="6185277"/>
            <a:ext cx="20116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 smtClean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控制系统</a:t>
            </a:r>
            <a:r>
              <a:rPr lang="zh-CN" altLang="en-US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核心模块</a:t>
            </a:r>
          </a:p>
        </p:txBody>
      </p:sp>
      <p:pic>
        <p:nvPicPr>
          <p:cNvPr id="22" name="Picture 2" descr="“process icon”的图片搜索结果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3473" y="2619754"/>
            <a:ext cx="924242" cy="9242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6" descr="“inform icon”的图片搜索结果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9224" y="2464646"/>
            <a:ext cx="1081015" cy="10810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2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210151" y="2200395"/>
            <a:ext cx="5372504" cy="34816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文本框 1"/>
          <p:cNvSpPr txBox="1"/>
          <p:nvPr/>
        </p:nvSpPr>
        <p:spPr>
          <a:xfrm>
            <a:off x="8972550" y="1037629"/>
            <a:ext cx="21145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>
                <a:solidFill>
                  <a:srgbClr val="FF0000"/>
                </a:solidFill>
              </a:rPr>
              <a:t>待修改完善</a:t>
            </a:r>
            <a:endParaRPr lang="zh-CN" altLang="en-US" sz="28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55095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/>
      <p:bldP spid="21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/>
          <p:cNvCxnSpPr/>
          <p:nvPr/>
        </p:nvCxnSpPr>
        <p:spPr>
          <a:xfrm>
            <a:off x="-1257300" y="762000"/>
            <a:ext cx="5086350" cy="0"/>
          </a:xfrm>
          <a:prstGeom prst="line">
            <a:avLst/>
          </a:prstGeom>
          <a:ln>
            <a:solidFill>
              <a:schemeClr val="bg1"/>
            </a:solidFill>
            <a:tailEnd type="oval" w="lg" len="lg"/>
          </a:ln>
          <a:effectLst>
            <a:glow rad="139700">
              <a:schemeClr val="accent3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接连接符 3"/>
          <p:cNvCxnSpPr/>
          <p:nvPr/>
        </p:nvCxnSpPr>
        <p:spPr>
          <a:xfrm flipH="1">
            <a:off x="8343900" y="762000"/>
            <a:ext cx="5086350" cy="0"/>
          </a:xfrm>
          <a:prstGeom prst="line">
            <a:avLst/>
          </a:prstGeom>
          <a:ln>
            <a:solidFill>
              <a:schemeClr val="bg1"/>
            </a:solidFill>
            <a:tailEnd type="oval" w="lg" len="lg"/>
          </a:ln>
          <a:effectLst>
            <a:glow rad="139700">
              <a:schemeClr val="accent3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4629149" y="377279"/>
            <a:ext cx="27441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>
                <a:solidFill>
                  <a:schemeClr val="bg1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网络大脑</a:t>
            </a:r>
            <a:r>
              <a:rPr lang="en-US" altLang="zh-CN" sz="2800" b="1" dirty="0" smtClean="0">
                <a:solidFill>
                  <a:schemeClr val="bg1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800" b="1" dirty="0" smtClean="0">
                <a:solidFill>
                  <a:schemeClr val="bg1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进化</a:t>
            </a:r>
            <a:endParaRPr lang="zh-CN" altLang="en-US" sz="2800" b="1" dirty="0">
              <a:solidFill>
                <a:schemeClr val="bg1"/>
              </a:solidFill>
              <a:effectLst>
                <a:glow rad="228600">
                  <a:schemeClr val="accent1">
                    <a:satMod val="175000"/>
                    <a:alpha val="40000"/>
                  </a:schemeClr>
                </a:glo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-39007" y="-7441"/>
            <a:ext cx="25527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400" b="1" dirty="0" smtClean="0">
                <a:solidFill>
                  <a:schemeClr val="bg1"/>
                </a:solidFill>
                <a:effectLst>
                  <a:glow rad="228600">
                    <a:schemeClr val="accent3">
                      <a:satMod val="175000"/>
                      <a:alpha val="40000"/>
                    </a:schemeClr>
                  </a:glo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项目背景</a:t>
            </a:r>
            <a:endParaRPr lang="zh-CN" altLang="en-US" sz="4400" b="1" dirty="0">
              <a:solidFill>
                <a:schemeClr val="bg1"/>
              </a:solidFill>
              <a:effectLst>
                <a:glow rad="228600">
                  <a:schemeClr val="accent3">
                    <a:satMod val="175000"/>
                    <a:alpha val="40000"/>
                  </a:schemeClr>
                </a:glo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330574" y="3827750"/>
            <a:ext cx="526868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 smtClean="0">
                <a:solidFill>
                  <a:schemeClr val="accent1">
                    <a:lumMod val="20000"/>
                    <a:lumOff val="80000"/>
                  </a:schemeClr>
                </a:solidFill>
              </a:rPr>
              <a:t>未来的公司都是大数据公司</a:t>
            </a:r>
            <a:endParaRPr lang="zh-CN" altLang="en-US" sz="3200" b="1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9687" y="4653644"/>
            <a:ext cx="1905000" cy="1905000"/>
          </a:xfrm>
          <a:prstGeom prst="rect">
            <a:avLst/>
          </a:prstGeom>
        </p:spPr>
      </p:pic>
      <p:sp>
        <p:nvSpPr>
          <p:cNvPr id="9" name="右箭头 8"/>
          <p:cNvSpPr/>
          <p:nvPr/>
        </p:nvSpPr>
        <p:spPr>
          <a:xfrm>
            <a:off x="2813051" y="5375730"/>
            <a:ext cx="2833007" cy="46082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62473" y="4653644"/>
            <a:ext cx="1721756" cy="1721756"/>
          </a:xfrm>
          <a:prstGeom prst="rect">
            <a:avLst/>
          </a:prstGeom>
        </p:spPr>
      </p:pic>
      <p:sp>
        <p:nvSpPr>
          <p:cNvPr id="16" name="文本框 15"/>
          <p:cNvSpPr txBox="1"/>
          <p:nvPr/>
        </p:nvSpPr>
        <p:spPr>
          <a:xfrm>
            <a:off x="10372273" y="5098312"/>
            <a:ext cx="131172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6000" b="1" dirty="0" smtClean="0">
                <a:solidFill>
                  <a:schemeClr val="bg1"/>
                </a:solidFill>
              </a:rPr>
              <a:t>···</a:t>
            </a:r>
            <a:endParaRPr lang="zh-CN" altLang="en-US" sz="6000" b="1" dirty="0">
              <a:solidFill>
                <a:schemeClr val="bg1"/>
              </a:solidFill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4149" y="1392262"/>
            <a:ext cx="1905000" cy="1905000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99728" y="1392262"/>
            <a:ext cx="1905000" cy="1905000"/>
          </a:xfrm>
          <a:prstGeom prst="rect">
            <a:avLst/>
          </a:prstGeom>
        </p:spPr>
      </p:pic>
      <p:sp>
        <p:nvSpPr>
          <p:cNvPr id="15" name="右箭头 14"/>
          <p:cNvSpPr/>
          <p:nvPr/>
        </p:nvSpPr>
        <p:spPr>
          <a:xfrm>
            <a:off x="4818289" y="2040926"/>
            <a:ext cx="1892299" cy="682171"/>
          </a:xfrm>
          <a:prstGeom prst="rightArrow">
            <a:avLst/>
          </a:prstGeom>
          <a:noFill/>
          <a:ln w="5715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/>
        </p:nvSpPr>
        <p:spPr>
          <a:xfrm>
            <a:off x="4952262" y="1357461"/>
            <a:ext cx="162435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400" b="1" dirty="0" smtClean="0">
                <a:solidFill>
                  <a:schemeClr val="bg1"/>
                </a:solidFill>
              </a:rPr>
              <a:t>支撑</a:t>
            </a:r>
            <a:endParaRPr lang="zh-CN" altLang="en-US" sz="4400" b="1" dirty="0">
              <a:solidFill>
                <a:schemeClr val="bg1"/>
              </a:solidFill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2929617" y="3280463"/>
            <a:ext cx="14940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 smtClean="0">
                <a:solidFill>
                  <a:schemeClr val="bg1"/>
                </a:solidFill>
              </a:rPr>
              <a:t>数据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7105196" y="3303316"/>
            <a:ext cx="14940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 smtClean="0">
                <a:solidFill>
                  <a:schemeClr val="bg1"/>
                </a:solidFill>
              </a:rPr>
              <a:t>人工智能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672421" y="6373978"/>
            <a:ext cx="16995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 smtClean="0">
                <a:solidFill>
                  <a:schemeClr val="bg1"/>
                </a:solidFill>
              </a:rPr>
              <a:t>运维海量数据</a:t>
            </a:r>
            <a:endParaRPr lang="zh-CN" altLang="en-US" dirty="0">
              <a:solidFill>
                <a:schemeClr val="bg1"/>
              </a:solidFill>
            </a:endParaRPr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4141" y="4708751"/>
            <a:ext cx="1611541" cy="1611541"/>
          </a:xfrm>
          <a:prstGeom prst="rect">
            <a:avLst/>
          </a:prstGeom>
        </p:spPr>
      </p:pic>
      <p:sp>
        <p:nvSpPr>
          <p:cNvPr id="25" name="文本框 24"/>
          <p:cNvSpPr txBox="1"/>
          <p:nvPr/>
        </p:nvSpPr>
        <p:spPr>
          <a:xfrm>
            <a:off x="6076439" y="6373978"/>
            <a:ext cx="16995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 smtClean="0">
                <a:solidFill>
                  <a:schemeClr val="bg1"/>
                </a:solidFill>
              </a:rPr>
              <a:t>提升客户感知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8184697" y="6373978"/>
            <a:ext cx="16995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 smtClean="0">
                <a:solidFill>
                  <a:schemeClr val="bg1"/>
                </a:solidFill>
              </a:rPr>
              <a:t>提高管理效率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363900" y="1119811"/>
            <a:ext cx="44522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>
                <a:solidFill>
                  <a:schemeClr val="bg1"/>
                </a:solidFill>
              </a:rPr>
              <a:t>网管七大问题</a:t>
            </a:r>
            <a:r>
              <a:rPr lang="en-US" altLang="zh-CN" b="1" dirty="0" smtClean="0">
                <a:solidFill>
                  <a:schemeClr val="bg1"/>
                </a:solidFill>
              </a:rPr>
              <a:t>-</a:t>
            </a:r>
            <a:r>
              <a:rPr lang="zh-CN" altLang="en-US" b="1" dirty="0" smtClean="0">
                <a:solidFill>
                  <a:schemeClr val="bg1"/>
                </a:solidFill>
              </a:rPr>
              <a:t>网络发展的规划</a:t>
            </a:r>
            <a:endParaRPr lang="en-US" altLang="zh-CN" b="1" dirty="0" smtClean="0">
              <a:solidFill>
                <a:schemeClr val="bg1"/>
              </a:solidFill>
            </a:endParaRPr>
          </a:p>
          <a:p>
            <a:r>
              <a:rPr lang="zh-CN" altLang="en-US" b="1" dirty="0" smtClean="0">
                <a:solidFill>
                  <a:schemeClr val="bg1"/>
                </a:solidFill>
              </a:rPr>
              <a:t>（如何发展？）</a:t>
            </a:r>
            <a:endParaRPr lang="zh-CN" altLang="en-US" b="1" dirty="0">
              <a:solidFill>
                <a:schemeClr val="bg1"/>
              </a:solidFill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8972550" y="1037629"/>
            <a:ext cx="21145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>
                <a:solidFill>
                  <a:srgbClr val="FF0000"/>
                </a:solidFill>
              </a:rPr>
              <a:t>内容待完善</a:t>
            </a:r>
            <a:endParaRPr lang="zh-CN" altLang="en-US" sz="28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26652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/>
          <p:cNvCxnSpPr/>
          <p:nvPr/>
        </p:nvCxnSpPr>
        <p:spPr>
          <a:xfrm>
            <a:off x="-1257300" y="762000"/>
            <a:ext cx="5086350" cy="0"/>
          </a:xfrm>
          <a:prstGeom prst="line">
            <a:avLst/>
          </a:prstGeom>
          <a:ln>
            <a:solidFill>
              <a:schemeClr val="bg1"/>
            </a:solidFill>
            <a:tailEnd type="oval" w="lg" len="lg"/>
          </a:ln>
          <a:effectLst>
            <a:glow rad="139700">
              <a:schemeClr val="accent3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接连接符 3"/>
          <p:cNvCxnSpPr/>
          <p:nvPr/>
        </p:nvCxnSpPr>
        <p:spPr>
          <a:xfrm flipH="1">
            <a:off x="8343900" y="762000"/>
            <a:ext cx="5086350" cy="0"/>
          </a:xfrm>
          <a:prstGeom prst="line">
            <a:avLst/>
          </a:prstGeom>
          <a:ln>
            <a:solidFill>
              <a:schemeClr val="bg1"/>
            </a:solidFill>
            <a:tailEnd type="oval" w="lg" len="lg"/>
          </a:ln>
          <a:effectLst>
            <a:glow rad="139700">
              <a:schemeClr val="accent3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/>
          <p:cNvSpPr txBox="1"/>
          <p:nvPr/>
        </p:nvSpPr>
        <p:spPr>
          <a:xfrm>
            <a:off x="0" y="1327"/>
            <a:ext cx="262550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400" b="1" dirty="0" smtClean="0">
                <a:solidFill>
                  <a:schemeClr val="bg1"/>
                </a:solidFill>
                <a:effectLst>
                  <a:glow rad="228600">
                    <a:schemeClr val="accent3">
                      <a:satMod val="175000"/>
                      <a:alpha val="40000"/>
                    </a:schemeClr>
                  </a:glo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平台建设</a:t>
            </a:r>
            <a:endParaRPr lang="zh-CN" altLang="en-US" sz="4400" b="1" dirty="0">
              <a:solidFill>
                <a:schemeClr val="bg1"/>
              </a:solidFill>
              <a:effectLst>
                <a:glow rad="228600">
                  <a:schemeClr val="accent3">
                    <a:satMod val="175000"/>
                    <a:alpha val="40000"/>
                  </a:schemeClr>
                </a:glo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78185" y="3395050"/>
            <a:ext cx="43456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solidFill>
                  <a:schemeClr val="bg1"/>
                </a:solidFill>
              </a:rPr>
              <a:t>就第一部分所提问题 使用（平台架构及七大问题？）贝叶斯网络对其进行分析</a:t>
            </a:r>
            <a:endParaRPr lang="en-US" altLang="zh-CN" dirty="0">
              <a:solidFill>
                <a:schemeClr val="bg1"/>
              </a:solidFill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4543233" y="326904"/>
            <a:ext cx="33147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b="1" dirty="0" smtClean="0">
                <a:solidFill>
                  <a:schemeClr val="bg1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应用举例</a:t>
            </a:r>
            <a:endParaRPr lang="zh-CN" altLang="en-US" sz="2800" b="1" dirty="0">
              <a:solidFill>
                <a:schemeClr val="bg1"/>
              </a:solidFill>
              <a:effectLst>
                <a:glow rad="228600">
                  <a:schemeClr val="accent1">
                    <a:satMod val="175000"/>
                    <a:alpha val="40000"/>
                  </a:schemeClr>
                </a:glo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986299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205160" y="1372916"/>
            <a:ext cx="857250" cy="31547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9900" b="1" dirty="0" smtClean="0">
                <a:solidFill>
                  <a:schemeClr val="bg1"/>
                </a:solidFill>
              </a:rPr>
              <a:t>3</a:t>
            </a:r>
            <a:endParaRPr lang="zh-CN" altLang="en-US" sz="19900" b="1" dirty="0">
              <a:solidFill>
                <a:schemeClr val="bg1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981700" y="2778865"/>
            <a:ext cx="244320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400" b="1" dirty="0" smtClean="0">
                <a:solidFill>
                  <a:schemeClr val="bg1"/>
                </a:solidFill>
                <a:effectLst>
                  <a:glow rad="228600">
                    <a:schemeClr val="accent3">
                      <a:satMod val="175000"/>
                      <a:alpha val="40000"/>
                    </a:schemeClr>
                  </a:glo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技术实现</a:t>
            </a:r>
            <a:endParaRPr lang="zh-CN" altLang="en-US" sz="4400" b="1" dirty="0">
              <a:solidFill>
                <a:schemeClr val="bg1"/>
              </a:solidFill>
              <a:effectLst>
                <a:glow rad="228600">
                  <a:schemeClr val="accent3">
                    <a:satMod val="175000"/>
                    <a:alpha val="40000"/>
                  </a:schemeClr>
                </a:glo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080865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/>
          <p:cNvCxnSpPr/>
          <p:nvPr/>
        </p:nvCxnSpPr>
        <p:spPr>
          <a:xfrm>
            <a:off x="-1257300" y="762000"/>
            <a:ext cx="5086350" cy="0"/>
          </a:xfrm>
          <a:prstGeom prst="line">
            <a:avLst/>
          </a:prstGeom>
          <a:ln>
            <a:solidFill>
              <a:schemeClr val="bg1"/>
            </a:solidFill>
            <a:tailEnd type="oval" w="lg" len="lg"/>
          </a:ln>
          <a:effectLst>
            <a:glow rad="139700">
              <a:schemeClr val="accent3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接连接符 3"/>
          <p:cNvCxnSpPr/>
          <p:nvPr/>
        </p:nvCxnSpPr>
        <p:spPr>
          <a:xfrm flipH="1">
            <a:off x="8343900" y="762000"/>
            <a:ext cx="5086350" cy="0"/>
          </a:xfrm>
          <a:prstGeom prst="line">
            <a:avLst/>
          </a:prstGeom>
          <a:ln>
            <a:solidFill>
              <a:schemeClr val="bg1"/>
            </a:solidFill>
            <a:tailEnd type="oval" w="lg" len="lg"/>
          </a:ln>
          <a:effectLst>
            <a:glow rad="139700">
              <a:schemeClr val="accent3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/>
          <p:cNvSpPr txBox="1"/>
          <p:nvPr/>
        </p:nvSpPr>
        <p:spPr>
          <a:xfrm>
            <a:off x="0" y="1327"/>
            <a:ext cx="262550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400" b="1" dirty="0" smtClean="0">
                <a:solidFill>
                  <a:schemeClr val="bg1"/>
                </a:solidFill>
                <a:effectLst>
                  <a:glow rad="228600">
                    <a:schemeClr val="accent3">
                      <a:satMod val="175000"/>
                      <a:alpha val="40000"/>
                    </a:schemeClr>
                  </a:glow>
                </a:effectLst>
                <a:cs typeface="+mn-ea"/>
                <a:sym typeface="+mn-lt"/>
              </a:rPr>
              <a:t>技术实现</a:t>
            </a:r>
            <a:endParaRPr lang="zh-CN" altLang="en-US" sz="4400" b="1" dirty="0">
              <a:solidFill>
                <a:schemeClr val="bg1"/>
              </a:solidFill>
              <a:effectLst>
                <a:glow rad="228600">
                  <a:schemeClr val="accent3">
                    <a:satMod val="175000"/>
                    <a:alpha val="40000"/>
                  </a:schemeClr>
                </a:glow>
              </a:effectLst>
              <a:cs typeface="+mn-ea"/>
              <a:sym typeface="+mn-lt"/>
            </a:endParaRPr>
          </a:p>
        </p:txBody>
      </p:sp>
      <p:sp>
        <p:nvSpPr>
          <p:cNvPr id="8" name="Rectangle 18"/>
          <p:cNvSpPr/>
          <p:nvPr/>
        </p:nvSpPr>
        <p:spPr bwMode="auto">
          <a:xfrm>
            <a:off x="1524998" y="2378143"/>
            <a:ext cx="5775747" cy="224528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0">
            <a:solidFill>
              <a:schemeClr val="accent1">
                <a:shade val="95000"/>
                <a:satMod val="105000"/>
              </a:schemeClr>
            </a:solidFill>
          </a:ln>
          <a:effectLst/>
          <a:extLst/>
        </p:spPr>
        <p:txBody>
          <a:bodyPr anchor="ctr" anchorCtr="1"/>
          <a:lstStyle/>
          <a:p>
            <a:pPr>
              <a:defRPr/>
            </a:pPr>
            <a:endParaRPr lang="en-US" sz="1400" dirty="0">
              <a:solidFill>
                <a:srgbClr val="333399"/>
              </a:solidFill>
              <a:cs typeface="+mn-ea"/>
              <a:sym typeface="+mn-lt"/>
            </a:endParaRPr>
          </a:p>
        </p:txBody>
      </p:sp>
      <p:sp>
        <p:nvSpPr>
          <p:cNvPr id="9" name="圆角矩形 110"/>
          <p:cNvSpPr>
            <a:spLocks noChangeArrowheads="1"/>
          </p:cNvSpPr>
          <p:nvPr/>
        </p:nvSpPr>
        <p:spPr bwMode="auto">
          <a:xfrm>
            <a:off x="1696822" y="3669063"/>
            <a:ext cx="4502596" cy="702776"/>
          </a:xfrm>
          <a:prstGeom prst="roundRect">
            <a:avLst>
              <a:gd name="adj" fmla="val 9305"/>
            </a:avLst>
          </a:prstGeom>
          <a:solidFill>
            <a:srgbClr val="FFFF00">
              <a:alpha val="50195"/>
            </a:srgbClr>
          </a:solidFill>
          <a:ln w="28575" algn="ctr">
            <a:solidFill>
              <a:srgbClr val="FF0000"/>
            </a:solidFill>
            <a:prstDash val="dash"/>
            <a:round/>
            <a:headEnd/>
            <a:tailEnd/>
          </a:ln>
        </p:spPr>
        <p:txBody>
          <a:bodyPr lIns="91424" tIns="45712" rIns="91424" bIns="45712"/>
          <a:lstStyle>
            <a:lvl1pPr marL="801688" indent="-269875" eaLnBrk="0" hangingPunct="0">
              <a:spcBef>
                <a:spcPct val="20000"/>
              </a:spcBef>
              <a:buBlip>
                <a:blip r:embed="rId3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1pPr>
            <a:lvl2pPr marL="742950" indent="-285750" eaLnBrk="0" hangingPunct="0">
              <a:spcBef>
                <a:spcPct val="20000"/>
              </a:spcBef>
              <a:buBlip>
                <a:blip r:embed="rId3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2pPr>
            <a:lvl3pPr marL="1143000" indent="-228600" eaLnBrk="0" hangingPunct="0">
              <a:spcBef>
                <a:spcPct val="20000"/>
              </a:spcBef>
              <a:buBlip>
                <a:blip r:embed="rId3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3pPr>
            <a:lvl4pPr marL="1600200" indent="-228600" eaLnBrk="0" hangingPunct="0">
              <a:spcBef>
                <a:spcPct val="20000"/>
              </a:spcBef>
              <a:buBlip>
                <a:blip r:embed="rId3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4pPr>
            <a:lvl5pPr marL="2057400" indent="-228600" eaLnBrk="0" hangingPunct="0">
              <a:spcBef>
                <a:spcPct val="20000"/>
              </a:spcBef>
              <a:buBlip>
                <a:blip r:embed="rId3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9pPr>
          </a:lstStyle>
          <a:p>
            <a:pPr>
              <a:lnSpc>
                <a:spcPct val="130000"/>
              </a:lnSpc>
              <a:spcBef>
                <a:spcPct val="5000"/>
              </a:spcBef>
              <a:buClr>
                <a:srgbClr val="FF0000"/>
              </a:buClr>
              <a:buFont typeface="Wingdings" pitchFamily="2" charset="2"/>
              <a:buAutoNum type="circleNumDbPlain"/>
            </a:pPr>
            <a:endParaRPr lang="zh-CN" altLang="en-US" sz="1800">
              <a:solidFill>
                <a:schemeClr val="tx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0" name="Rectangle 18"/>
          <p:cNvSpPr/>
          <p:nvPr/>
        </p:nvSpPr>
        <p:spPr bwMode="auto">
          <a:xfrm>
            <a:off x="1518897" y="4758236"/>
            <a:ext cx="5775747" cy="111599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0">
            <a:solidFill>
              <a:schemeClr val="accent1">
                <a:shade val="95000"/>
                <a:satMod val="105000"/>
              </a:schemeClr>
            </a:solidFill>
          </a:ln>
          <a:effectLst/>
          <a:extLst/>
        </p:spPr>
        <p:txBody>
          <a:bodyPr anchor="ctr" anchorCtr="1"/>
          <a:lstStyle/>
          <a:p>
            <a:pPr>
              <a:defRPr/>
            </a:pPr>
            <a:endParaRPr lang="en-US" sz="1400" dirty="0">
              <a:solidFill>
                <a:srgbClr val="333399"/>
              </a:solidFill>
              <a:cs typeface="+mn-ea"/>
              <a:sym typeface="+mn-lt"/>
            </a:endParaRPr>
          </a:p>
        </p:txBody>
      </p:sp>
      <p:sp>
        <p:nvSpPr>
          <p:cNvPr id="11" name="Rectangle 18"/>
          <p:cNvSpPr/>
          <p:nvPr/>
        </p:nvSpPr>
        <p:spPr bwMode="auto">
          <a:xfrm>
            <a:off x="1523165" y="5938871"/>
            <a:ext cx="5775747" cy="88002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0">
            <a:solidFill>
              <a:schemeClr val="accent1">
                <a:shade val="95000"/>
                <a:satMod val="105000"/>
              </a:schemeClr>
            </a:solidFill>
          </a:ln>
          <a:effectLst/>
          <a:extLst/>
        </p:spPr>
        <p:txBody>
          <a:bodyPr anchor="ctr" anchorCtr="1"/>
          <a:lstStyle/>
          <a:p>
            <a:pPr>
              <a:defRPr/>
            </a:pPr>
            <a:endParaRPr lang="en-US" sz="1400" dirty="0">
              <a:solidFill>
                <a:srgbClr val="333399"/>
              </a:solidFill>
              <a:cs typeface="+mn-ea"/>
              <a:sym typeface="+mn-lt"/>
            </a:endParaRPr>
          </a:p>
        </p:txBody>
      </p:sp>
      <p:sp>
        <p:nvSpPr>
          <p:cNvPr id="12" name="Rectangle 28"/>
          <p:cNvSpPr/>
          <p:nvPr/>
        </p:nvSpPr>
        <p:spPr>
          <a:xfrm>
            <a:off x="1703567" y="6062675"/>
            <a:ext cx="1001366" cy="31620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400" dirty="0" smtClean="0">
                <a:solidFill>
                  <a:schemeClr val="tx1"/>
                </a:solidFill>
                <a:cs typeface="+mn-ea"/>
                <a:sym typeface="+mn-lt"/>
              </a:rPr>
              <a:t>日志文件</a:t>
            </a:r>
            <a:endParaRPr lang="en-US" sz="1400" dirty="0">
              <a:solidFill>
                <a:schemeClr val="tx1"/>
              </a:solidFill>
              <a:cs typeface="+mn-ea"/>
              <a:sym typeface="+mn-lt"/>
            </a:endParaRPr>
          </a:p>
        </p:txBody>
      </p:sp>
      <p:sp>
        <p:nvSpPr>
          <p:cNvPr id="13" name="TextBox 29"/>
          <p:cNvSpPr txBox="1">
            <a:spLocks noChangeArrowheads="1"/>
          </p:cNvSpPr>
          <p:nvPr/>
        </p:nvSpPr>
        <p:spPr bwMode="auto">
          <a:xfrm>
            <a:off x="723559" y="6401655"/>
            <a:ext cx="795338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1pPr>
            <a:lvl2pPr marL="742950" indent="-285750" eaLnBrk="0" hangingPunct="0">
              <a:spcBef>
                <a:spcPct val="20000"/>
              </a:spcBef>
              <a:buBlip>
                <a:blip r:embed="rId3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2pPr>
            <a:lvl3pPr marL="1143000" indent="-228600" eaLnBrk="0" hangingPunct="0">
              <a:spcBef>
                <a:spcPct val="20000"/>
              </a:spcBef>
              <a:buBlip>
                <a:blip r:embed="rId3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3pPr>
            <a:lvl4pPr marL="1600200" indent="-228600" eaLnBrk="0" hangingPunct="0">
              <a:spcBef>
                <a:spcPct val="20000"/>
              </a:spcBef>
              <a:buBlip>
                <a:blip r:embed="rId3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4pPr>
            <a:lvl5pPr marL="2057400" indent="-228600" eaLnBrk="0" hangingPunct="0">
              <a:spcBef>
                <a:spcPct val="20000"/>
              </a:spcBef>
              <a:buBlip>
                <a:blip r:embed="rId3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1600" dirty="0" smtClean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采集</a:t>
            </a:r>
            <a:r>
              <a:rPr lang="zh-CN" altLang="en-US" sz="1600" dirty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层</a:t>
            </a:r>
          </a:p>
        </p:txBody>
      </p:sp>
      <p:sp>
        <p:nvSpPr>
          <p:cNvPr id="14" name="TextBox 25"/>
          <p:cNvSpPr txBox="1">
            <a:spLocks noChangeArrowheads="1"/>
          </p:cNvSpPr>
          <p:nvPr/>
        </p:nvSpPr>
        <p:spPr bwMode="auto">
          <a:xfrm>
            <a:off x="723559" y="5462349"/>
            <a:ext cx="906464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1pPr>
            <a:lvl2pPr marL="742950" indent="-285750" eaLnBrk="0" hangingPunct="0">
              <a:spcBef>
                <a:spcPct val="20000"/>
              </a:spcBef>
              <a:buBlip>
                <a:blip r:embed="rId3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2pPr>
            <a:lvl3pPr marL="1143000" indent="-228600" eaLnBrk="0" hangingPunct="0">
              <a:spcBef>
                <a:spcPct val="20000"/>
              </a:spcBef>
              <a:buBlip>
                <a:blip r:embed="rId3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3pPr>
            <a:lvl4pPr marL="1600200" indent="-228600" eaLnBrk="0" hangingPunct="0">
              <a:spcBef>
                <a:spcPct val="20000"/>
              </a:spcBef>
              <a:buBlip>
                <a:blip r:embed="rId3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4pPr>
            <a:lvl5pPr marL="2057400" indent="-228600" eaLnBrk="0" hangingPunct="0">
              <a:spcBef>
                <a:spcPct val="20000"/>
              </a:spcBef>
              <a:buBlip>
                <a:blip r:embed="rId3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1600" dirty="0" smtClean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处理层</a:t>
            </a:r>
            <a:endParaRPr lang="zh-CN" altLang="en-US" sz="1600" dirty="0">
              <a:solidFill>
                <a:schemeClr val="tx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5" name="TextBox 25"/>
          <p:cNvSpPr txBox="1">
            <a:spLocks noChangeArrowheads="1"/>
          </p:cNvSpPr>
          <p:nvPr/>
        </p:nvSpPr>
        <p:spPr bwMode="auto">
          <a:xfrm>
            <a:off x="723607" y="3806165"/>
            <a:ext cx="1008064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1pPr>
            <a:lvl2pPr marL="742950" indent="-285750" eaLnBrk="0" hangingPunct="0">
              <a:spcBef>
                <a:spcPct val="20000"/>
              </a:spcBef>
              <a:buBlip>
                <a:blip r:embed="rId3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2pPr>
            <a:lvl3pPr marL="1143000" indent="-228600" eaLnBrk="0" hangingPunct="0">
              <a:spcBef>
                <a:spcPct val="20000"/>
              </a:spcBef>
              <a:buBlip>
                <a:blip r:embed="rId3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3pPr>
            <a:lvl4pPr marL="1600200" indent="-228600" eaLnBrk="0" hangingPunct="0">
              <a:spcBef>
                <a:spcPct val="20000"/>
              </a:spcBef>
              <a:buBlip>
                <a:blip r:embed="rId3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4pPr>
            <a:lvl5pPr marL="2057400" indent="-228600" eaLnBrk="0" hangingPunct="0">
              <a:spcBef>
                <a:spcPct val="20000"/>
              </a:spcBef>
              <a:buBlip>
                <a:blip r:embed="rId3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1600" dirty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业务</a:t>
            </a:r>
            <a:r>
              <a:rPr lang="zh-CN" altLang="en-US" sz="1600" dirty="0" smtClean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层</a:t>
            </a:r>
            <a:endParaRPr lang="zh-CN" altLang="en-US" sz="1600" dirty="0">
              <a:solidFill>
                <a:schemeClr val="tx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6" name="TextBox 25"/>
          <p:cNvSpPr txBox="1">
            <a:spLocks noChangeArrowheads="1"/>
          </p:cNvSpPr>
          <p:nvPr/>
        </p:nvSpPr>
        <p:spPr bwMode="auto">
          <a:xfrm>
            <a:off x="688063" y="1588569"/>
            <a:ext cx="906463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1pPr>
            <a:lvl2pPr marL="742950" indent="-285750" eaLnBrk="0" hangingPunct="0">
              <a:spcBef>
                <a:spcPct val="20000"/>
              </a:spcBef>
              <a:buBlip>
                <a:blip r:embed="rId3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2pPr>
            <a:lvl3pPr marL="1143000" indent="-228600" eaLnBrk="0" hangingPunct="0">
              <a:spcBef>
                <a:spcPct val="20000"/>
              </a:spcBef>
              <a:buBlip>
                <a:blip r:embed="rId3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3pPr>
            <a:lvl4pPr marL="1600200" indent="-228600" eaLnBrk="0" hangingPunct="0">
              <a:spcBef>
                <a:spcPct val="20000"/>
              </a:spcBef>
              <a:buBlip>
                <a:blip r:embed="rId3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4pPr>
            <a:lvl5pPr marL="2057400" indent="-228600" eaLnBrk="0" hangingPunct="0">
              <a:spcBef>
                <a:spcPct val="20000"/>
              </a:spcBef>
              <a:buBlip>
                <a:blip r:embed="rId3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1600" dirty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应用层</a:t>
            </a:r>
          </a:p>
        </p:txBody>
      </p:sp>
      <p:sp>
        <p:nvSpPr>
          <p:cNvPr id="17" name="Can 70"/>
          <p:cNvSpPr/>
          <p:nvPr/>
        </p:nvSpPr>
        <p:spPr bwMode="auto">
          <a:xfrm rot="5400000">
            <a:off x="3838937" y="268905"/>
            <a:ext cx="256466" cy="4608511"/>
          </a:xfrm>
          <a:prstGeom prst="can">
            <a:avLst/>
          </a:prstGeom>
          <a:solidFill>
            <a:srgbClr val="92D05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vert270" anchor="ctr" anchorCtr="1"/>
          <a:lstStyle/>
          <a:p>
            <a:pPr>
              <a:defRPr/>
            </a:pPr>
            <a:r>
              <a:rPr lang="zh-CN" altLang="en-US" sz="1400" dirty="0" smtClean="0">
                <a:cs typeface="+mn-ea"/>
                <a:sym typeface="+mn-lt"/>
              </a:rPr>
              <a:t>服务接口（</a:t>
            </a:r>
            <a:r>
              <a:rPr lang="en-US" altLang="zh-CN" sz="1400" dirty="0" err="1" smtClean="0">
                <a:cs typeface="+mn-ea"/>
                <a:sym typeface="+mn-lt"/>
              </a:rPr>
              <a:t>WebService</a:t>
            </a:r>
            <a:r>
              <a:rPr lang="zh-CN" altLang="en-US" sz="1400" dirty="0" smtClean="0">
                <a:cs typeface="+mn-ea"/>
                <a:sym typeface="+mn-lt"/>
              </a:rPr>
              <a:t>）</a:t>
            </a:r>
            <a:endParaRPr lang="en-US" sz="1400" dirty="0">
              <a:cs typeface="+mn-ea"/>
              <a:sym typeface="+mn-lt"/>
            </a:endParaRPr>
          </a:p>
        </p:txBody>
      </p:sp>
      <p:sp>
        <p:nvSpPr>
          <p:cNvPr id="18" name="TextBox 13"/>
          <p:cNvSpPr txBox="1"/>
          <p:nvPr/>
        </p:nvSpPr>
        <p:spPr bwMode="auto">
          <a:xfrm>
            <a:off x="1696821" y="5470825"/>
            <a:ext cx="699853" cy="295523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ctr" fontAlgn="auto">
              <a:spcBef>
                <a:spcPts val="0"/>
              </a:spcBef>
              <a:spcAft>
                <a:spcPts val="0"/>
              </a:spcAft>
              <a:defRPr sz="1000" b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>
              <a:defRPr/>
            </a:pPr>
            <a:r>
              <a:rPr lang="en-US" altLang="zh-CN" sz="1400" dirty="0" smtClean="0">
                <a:latin typeface="+mn-lt"/>
                <a:ea typeface="+mn-ea"/>
                <a:cs typeface="+mn-ea"/>
                <a:sym typeface="+mn-lt"/>
              </a:rPr>
              <a:t>SFTP</a:t>
            </a:r>
          </a:p>
        </p:txBody>
      </p:sp>
      <p:sp>
        <p:nvSpPr>
          <p:cNvPr id="19" name="Rectangle 28"/>
          <p:cNvSpPr/>
          <p:nvPr/>
        </p:nvSpPr>
        <p:spPr>
          <a:xfrm>
            <a:off x="2776940" y="6062675"/>
            <a:ext cx="773320" cy="31620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dirty="0" smtClean="0">
                <a:solidFill>
                  <a:schemeClr val="tx1"/>
                </a:solidFill>
                <a:cs typeface="+mn-ea"/>
                <a:sym typeface="+mn-lt"/>
              </a:rPr>
              <a:t>CP</a:t>
            </a:r>
            <a:r>
              <a:rPr lang="zh-CN" altLang="en-US" sz="1400" dirty="0" smtClean="0">
                <a:solidFill>
                  <a:schemeClr val="tx1"/>
                </a:solidFill>
                <a:cs typeface="+mn-ea"/>
                <a:sym typeface="+mn-lt"/>
              </a:rPr>
              <a:t>备份</a:t>
            </a:r>
            <a:endParaRPr lang="en-US" sz="1400" dirty="0">
              <a:solidFill>
                <a:schemeClr val="tx1"/>
              </a:solidFill>
              <a:cs typeface="+mn-ea"/>
              <a:sym typeface="+mn-lt"/>
            </a:endParaRPr>
          </a:p>
        </p:txBody>
      </p:sp>
      <p:sp>
        <p:nvSpPr>
          <p:cNvPr id="20" name="Rectangle 28"/>
          <p:cNvSpPr/>
          <p:nvPr/>
        </p:nvSpPr>
        <p:spPr>
          <a:xfrm>
            <a:off x="3607129" y="6062675"/>
            <a:ext cx="1299373" cy="31620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dirty="0" smtClean="0">
                <a:solidFill>
                  <a:schemeClr val="tx1"/>
                </a:solidFill>
                <a:cs typeface="+mn-ea"/>
                <a:sym typeface="+mn-lt"/>
              </a:rPr>
              <a:t>APG</a:t>
            </a:r>
            <a:r>
              <a:rPr lang="zh-CN" altLang="en-US" sz="1400" dirty="0" smtClean="0">
                <a:solidFill>
                  <a:schemeClr val="tx1"/>
                </a:solidFill>
                <a:cs typeface="+mn-ea"/>
                <a:sym typeface="+mn-lt"/>
              </a:rPr>
              <a:t>备份文件</a:t>
            </a:r>
            <a:endParaRPr lang="en-US" sz="1400" dirty="0">
              <a:solidFill>
                <a:schemeClr val="tx1"/>
              </a:solidFill>
              <a:cs typeface="+mn-ea"/>
              <a:sym typeface="+mn-lt"/>
            </a:endParaRPr>
          </a:p>
        </p:txBody>
      </p:sp>
      <p:sp>
        <p:nvSpPr>
          <p:cNvPr id="21" name="Rectangle 28"/>
          <p:cNvSpPr/>
          <p:nvPr/>
        </p:nvSpPr>
        <p:spPr>
          <a:xfrm>
            <a:off x="4997095" y="6062675"/>
            <a:ext cx="1150743" cy="28513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dirty="0" smtClean="0">
                <a:solidFill>
                  <a:schemeClr val="tx1"/>
                </a:solidFill>
                <a:cs typeface="+mn-ea"/>
                <a:sym typeface="+mn-lt"/>
              </a:rPr>
              <a:t>CV</a:t>
            </a:r>
            <a:r>
              <a:rPr lang="zh-CN" altLang="en-US" sz="1400" dirty="0" smtClean="0">
                <a:solidFill>
                  <a:schemeClr val="tx1"/>
                </a:solidFill>
                <a:cs typeface="+mn-ea"/>
                <a:sym typeface="+mn-lt"/>
              </a:rPr>
              <a:t>备份文件</a:t>
            </a:r>
            <a:endParaRPr lang="en-US" sz="1400" dirty="0">
              <a:solidFill>
                <a:schemeClr val="tx1"/>
              </a:solidFill>
              <a:cs typeface="+mn-ea"/>
              <a:sym typeface="+mn-lt"/>
            </a:endParaRPr>
          </a:p>
        </p:txBody>
      </p:sp>
      <p:sp>
        <p:nvSpPr>
          <p:cNvPr id="22" name="Rectangle 28"/>
          <p:cNvSpPr/>
          <p:nvPr/>
        </p:nvSpPr>
        <p:spPr>
          <a:xfrm>
            <a:off x="6268781" y="6138255"/>
            <a:ext cx="792088" cy="4191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dirty="0" smtClean="0">
                <a:solidFill>
                  <a:schemeClr val="tx1"/>
                </a:solidFill>
                <a:cs typeface="+mn-ea"/>
                <a:sym typeface="+mn-lt"/>
              </a:rPr>
              <a:t>……</a:t>
            </a:r>
            <a:endParaRPr lang="en-US" sz="1400" dirty="0">
              <a:solidFill>
                <a:schemeClr val="tx1"/>
              </a:solidFill>
              <a:cs typeface="+mn-ea"/>
              <a:sym typeface="+mn-lt"/>
            </a:endParaRPr>
          </a:p>
        </p:txBody>
      </p:sp>
      <p:sp>
        <p:nvSpPr>
          <p:cNvPr id="23" name="虚尾箭头 22"/>
          <p:cNvSpPr/>
          <p:nvPr/>
        </p:nvSpPr>
        <p:spPr>
          <a:xfrm>
            <a:off x="7388057" y="6138255"/>
            <a:ext cx="360040" cy="534678"/>
          </a:xfrm>
          <a:prstGeom prst="striped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4" name="文本框 143"/>
          <p:cNvSpPr txBox="1"/>
          <p:nvPr/>
        </p:nvSpPr>
        <p:spPr>
          <a:xfrm>
            <a:off x="7773417" y="6130158"/>
            <a:ext cx="2815608" cy="63094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25000"/>
              </a:lnSpc>
              <a:defRPr sz="1400">
                <a:solidFill>
                  <a:prstClr val="black">
                    <a:lumMod val="50000"/>
                    <a:lumOff val="50000"/>
                  </a:prstClr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1pPr>
          </a:lstStyle>
          <a:p>
            <a:r>
              <a:rPr lang="en-US" altLang="zh-CN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4</a:t>
            </a:r>
            <a:r>
              <a:rPr lang="zh-CN" altLang="en-US" dirty="0" smtClean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、</a:t>
            </a:r>
            <a:r>
              <a:rPr lang="zh-CN" altLang="en-US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接入华为、爱立信、阿尔卡特等多厂家</a:t>
            </a:r>
            <a:r>
              <a:rPr lang="zh-CN" altLang="en-US" dirty="0" smtClean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的网元数据</a:t>
            </a:r>
            <a:endParaRPr lang="zh-CN" altLang="en-US" dirty="0">
              <a:solidFill>
                <a:schemeClr val="bg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5" name="虚尾箭头 24"/>
          <p:cNvSpPr/>
          <p:nvPr/>
        </p:nvSpPr>
        <p:spPr>
          <a:xfrm>
            <a:off x="7388057" y="5183680"/>
            <a:ext cx="360040" cy="534678"/>
          </a:xfrm>
          <a:prstGeom prst="striped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6" name="文本框 143"/>
          <p:cNvSpPr txBox="1"/>
          <p:nvPr/>
        </p:nvSpPr>
        <p:spPr>
          <a:xfrm>
            <a:off x="7757089" y="4868040"/>
            <a:ext cx="2969440" cy="116955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25000"/>
              </a:lnSpc>
              <a:defRPr sz="1600">
                <a:solidFill>
                  <a:prstClr val="black">
                    <a:lumMod val="50000"/>
                    <a:lumOff val="50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sz="1400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3</a:t>
            </a:r>
            <a:r>
              <a:rPr lang="zh-CN" altLang="en-US" sz="1400" dirty="0" smtClean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、提供</a:t>
            </a:r>
            <a:r>
              <a:rPr lang="en-US" altLang="zh-CN" sz="1400" dirty="0" smtClean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SFTP\FTP\TELNET\SNMP</a:t>
            </a:r>
            <a:r>
              <a:rPr lang="zh-CN" altLang="en-US" sz="1400" dirty="0" smtClean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等</a:t>
            </a:r>
            <a:r>
              <a:rPr lang="zh-CN" altLang="en-US" sz="1400" b="1" dirty="0" smtClean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实时</a:t>
            </a:r>
            <a:r>
              <a:rPr lang="en-US" altLang="zh-CN" sz="1400" b="1" dirty="0" smtClean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/</a:t>
            </a:r>
            <a:r>
              <a:rPr lang="zh-CN" altLang="en-US" sz="1400" b="1" dirty="0" smtClean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非实时</a:t>
            </a:r>
            <a:r>
              <a:rPr lang="zh-CN" altLang="en-US" sz="1400" dirty="0" smtClean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数据采集接口。底层通过</a:t>
            </a:r>
            <a:r>
              <a:rPr lang="zh-CN" altLang="en-US" sz="1400" b="1" dirty="0" smtClean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高效的</a:t>
            </a:r>
            <a:r>
              <a:rPr lang="en-US" altLang="zh-CN" sz="1400" b="1" dirty="0" smtClean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C/C++/JAVA</a:t>
            </a:r>
            <a:r>
              <a:rPr lang="zh-CN" altLang="en-US" sz="1400" dirty="0" smtClean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实现数据清洗、转换、加载</a:t>
            </a:r>
            <a:endParaRPr lang="zh-CN" altLang="en-US" sz="1400" dirty="0">
              <a:solidFill>
                <a:schemeClr val="bg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7" name="虚尾箭头 26"/>
          <p:cNvSpPr/>
          <p:nvPr/>
        </p:nvSpPr>
        <p:spPr>
          <a:xfrm>
            <a:off x="7397049" y="3107642"/>
            <a:ext cx="360040" cy="534678"/>
          </a:xfrm>
          <a:prstGeom prst="striped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8" name="文本框 143"/>
          <p:cNvSpPr txBox="1"/>
          <p:nvPr/>
        </p:nvSpPr>
        <p:spPr>
          <a:xfrm>
            <a:off x="7749685" y="2617190"/>
            <a:ext cx="2839340" cy="170816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25000"/>
              </a:lnSpc>
              <a:defRPr sz="1400">
                <a:solidFill>
                  <a:prstClr val="black">
                    <a:lumMod val="50000"/>
                    <a:lumOff val="50000"/>
                  </a:prstClr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1pPr>
          </a:lstStyle>
          <a:p>
            <a:r>
              <a:rPr lang="en-US" altLang="zh-CN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2</a:t>
            </a:r>
            <a:r>
              <a:rPr lang="zh-CN" altLang="en-US" dirty="0" smtClean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、数据存储采用</a:t>
            </a:r>
            <a:r>
              <a:rPr lang="en-US" altLang="zh-CN" dirty="0" err="1" smtClean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Greenplum+Mysql</a:t>
            </a:r>
            <a:r>
              <a:rPr lang="zh-CN" altLang="en-US" dirty="0" smtClean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方式，</a:t>
            </a:r>
            <a:r>
              <a:rPr lang="en-US" altLang="zh-CN" dirty="0" err="1" smtClean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GreenPlum</a:t>
            </a:r>
            <a:r>
              <a:rPr lang="zh-CN" altLang="en-US" dirty="0" smtClean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用于存储业务指标数据，</a:t>
            </a:r>
            <a:r>
              <a:rPr lang="en-US" altLang="zh-CN" dirty="0" err="1" smtClean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MySql</a:t>
            </a:r>
            <a:r>
              <a:rPr lang="zh-CN" altLang="en-US" dirty="0" smtClean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用于存储任务策略、权限、日志等数据。并通过</a:t>
            </a:r>
            <a:r>
              <a:rPr lang="en-US" altLang="zh-CN" dirty="0" smtClean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JAVA</a:t>
            </a:r>
            <a:r>
              <a:rPr lang="zh-CN" altLang="en-US" dirty="0" smtClean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实现智能运维功能。</a:t>
            </a:r>
            <a:endParaRPr lang="zh-CN" altLang="en-US" dirty="0">
              <a:solidFill>
                <a:schemeClr val="bg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9" name="文本框 143"/>
          <p:cNvSpPr txBox="1"/>
          <p:nvPr/>
        </p:nvSpPr>
        <p:spPr>
          <a:xfrm>
            <a:off x="7758916" y="1162847"/>
            <a:ext cx="2830109" cy="116955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25000"/>
              </a:lnSpc>
              <a:defRPr sz="1400">
                <a:solidFill>
                  <a:prstClr val="black">
                    <a:lumMod val="50000"/>
                    <a:lumOff val="50000"/>
                  </a:prstClr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1pPr>
          </a:lstStyle>
          <a:p>
            <a:r>
              <a:rPr lang="en-US" altLang="zh-CN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1</a:t>
            </a:r>
            <a:r>
              <a:rPr lang="zh-CN" altLang="en-US" dirty="0" smtClean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、应用层采用业界流行的</a:t>
            </a:r>
            <a:r>
              <a:rPr lang="zh-CN" altLang="en-US" b="1" dirty="0" smtClean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开源框架</a:t>
            </a:r>
            <a:r>
              <a:rPr lang="en-US" altLang="zh-CN" b="1" dirty="0" smtClean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SSH</a:t>
            </a:r>
            <a:r>
              <a:rPr lang="zh-CN" altLang="en-US" dirty="0" smtClean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搭建平台，前端采用</a:t>
            </a:r>
            <a:r>
              <a:rPr lang="en-US" altLang="zh-CN" dirty="0" smtClean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SSH</a:t>
            </a:r>
            <a:r>
              <a:rPr lang="zh-CN" altLang="en-US" dirty="0" smtClean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开源架构及</a:t>
            </a:r>
            <a:r>
              <a:rPr lang="zh-CN" altLang="en-US" b="1" dirty="0" smtClean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开源的报表控件</a:t>
            </a:r>
            <a:r>
              <a:rPr lang="zh-CN" altLang="en-US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实现业务系统的人机交互。</a:t>
            </a:r>
          </a:p>
        </p:txBody>
      </p:sp>
      <p:sp>
        <p:nvSpPr>
          <p:cNvPr id="30" name="虚尾箭头 29"/>
          <p:cNvSpPr/>
          <p:nvPr/>
        </p:nvSpPr>
        <p:spPr>
          <a:xfrm>
            <a:off x="7410301" y="1482080"/>
            <a:ext cx="360040" cy="534678"/>
          </a:xfrm>
          <a:prstGeom prst="striped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1" name="Rectangle 18"/>
          <p:cNvSpPr/>
          <p:nvPr/>
        </p:nvSpPr>
        <p:spPr bwMode="auto">
          <a:xfrm>
            <a:off x="1531597" y="888730"/>
            <a:ext cx="5763045" cy="139299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0">
            <a:solidFill>
              <a:schemeClr val="accent1">
                <a:shade val="95000"/>
                <a:satMod val="105000"/>
              </a:schemeClr>
            </a:solidFill>
          </a:ln>
          <a:effectLst/>
          <a:extLst/>
        </p:spPr>
        <p:txBody>
          <a:bodyPr anchor="ctr" anchorCtr="1"/>
          <a:lstStyle/>
          <a:p>
            <a:pPr>
              <a:defRPr/>
            </a:pPr>
            <a:endParaRPr lang="en-US" sz="1400" dirty="0">
              <a:solidFill>
                <a:srgbClr val="333399"/>
              </a:solidFill>
              <a:cs typeface="+mn-ea"/>
              <a:sym typeface="+mn-lt"/>
            </a:endParaRPr>
          </a:p>
        </p:txBody>
      </p:sp>
      <p:pic>
        <p:nvPicPr>
          <p:cNvPr id="32" name="Picture 70" descr="상승_4"/>
          <p:cNvPicPr>
            <a:picLocks noChangeAspect="1" noChangeArrowheads="1"/>
          </p:cNvPicPr>
          <p:nvPr/>
        </p:nvPicPr>
        <p:blipFill>
          <a:blip r:embed="rId4" cstate="print">
            <a:lum bright="-6000" contrast="36000"/>
          </a:blip>
          <a:srcRect l="3534"/>
          <a:stretch>
            <a:fillRect/>
          </a:stretch>
        </p:blipFill>
        <p:spPr bwMode="auto">
          <a:xfrm rot="10800000">
            <a:off x="2732559" y="4443711"/>
            <a:ext cx="3071834" cy="5715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3" name="矩形 32"/>
          <p:cNvSpPr/>
          <p:nvPr/>
        </p:nvSpPr>
        <p:spPr>
          <a:xfrm>
            <a:off x="3175081" y="4325350"/>
            <a:ext cx="2214578" cy="7571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801370">
              <a:lnSpc>
                <a:spcPct val="110000"/>
              </a:lnSpc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None/>
            </a:pPr>
            <a:r>
              <a:rPr lang="en-US" altLang="zh-CN" sz="1600" b="1" dirty="0" smtClean="0">
                <a:solidFill>
                  <a:schemeClr val="tx2">
                    <a:lumMod val="75000"/>
                  </a:schemeClr>
                </a:solidFill>
                <a:cs typeface="+mn-ea"/>
                <a:sym typeface="+mn-lt"/>
              </a:rPr>
              <a:t>ETL</a:t>
            </a:r>
          </a:p>
          <a:p>
            <a:pPr algn="ctr" defTabSz="801370">
              <a:lnSpc>
                <a:spcPct val="110000"/>
              </a:lnSpc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None/>
            </a:pPr>
            <a:r>
              <a:rPr lang="zh-CN" altLang="en-US" sz="1600" b="1" dirty="0" smtClean="0">
                <a:solidFill>
                  <a:schemeClr val="tx2">
                    <a:lumMod val="75000"/>
                  </a:schemeClr>
                </a:solidFill>
                <a:cs typeface="+mn-ea"/>
                <a:sym typeface="+mn-lt"/>
              </a:rPr>
              <a:t>（清洗、转换、加载）</a:t>
            </a:r>
            <a:endParaRPr lang="zh-CN" altLang="en-US" sz="1600" b="1" dirty="0">
              <a:solidFill>
                <a:schemeClr val="tx2">
                  <a:lumMod val="7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4" name="TextBox 31"/>
          <p:cNvSpPr txBox="1"/>
          <p:nvPr/>
        </p:nvSpPr>
        <p:spPr bwMode="auto">
          <a:xfrm>
            <a:off x="2455001" y="5478317"/>
            <a:ext cx="556158" cy="288032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ctr" fontAlgn="auto">
              <a:spcBef>
                <a:spcPts val="0"/>
              </a:spcBef>
              <a:spcAft>
                <a:spcPts val="0"/>
              </a:spcAft>
              <a:defRPr sz="1000" b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>
              <a:defRPr/>
            </a:pPr>
            <a:r>
              <a:rPr lang="en-US" altLang="zh-CN" sz="1400" dirty="0" smtClean="0">
                <a:latin typeface="+mn-lt"/>
                <a:ea typeface="+mn-ea"/>
                <a:cs typeface="+mn-ea"/>
                <a:sym typeface="+mn-lt"/>
              </a:rPr>
              <a:t>FTP</a:t>
            </a:r>
          </a:p>
        </p:txBody>
      </p:sp>
      <p:sp>
        <p:nvSpPr>
          <p:cNvPr id="35" name="TextBox 32"/>
          <p:cNvSpPr txBox="1"/>
          <p:nvPr/>
        </p:nvSpPr>
        <p:spPr bwMode="auto">
          <a:xfrm>
            <a:off x="3069165" y="5478317"/>
            <a:ext cx="1258044" cy="288031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ctr" fontAlgn="auto">
              <a:spcBef>
                <a:spcPts val="0"/>
              </a:spcBef>
              <a:spcAft>
                <a:spcPts val="0"/>
              </a:spcAft>
              <a:defRPr sz="1000" b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>
              <a:defRPr/>
            </a:pPr>
            <a:r>
              <a:rPr lang="en-US" altLang="zh-CN" sz="1400" dirty="0" smtClean="0">
                <a:latin typeface="+mn-lt"/>
                <a:ea typeface="+mn-ea"/>
                <a:cs typeface="+mn-ea"/>
                <a:sym typeface="+mn-lt"/>
              </a:rPr>
              <a:t>TELNET</a:t>
            </a:r>
          </a:p>
        </p:txBody>
      </p:sp>
      <p:sp>
        <p:nvSpPr>
          <p:cNvPr id="36" name="TextBox 33"/>
          <p:cNvSpPr txBox="1"/>
          <p:nvPr/>
        </p:nvSpPr>
        <p:spPr bwMode="auto">
          <a:xfrm>
            <a:off x="4374400" y="5478316"/>
            <a:ext cx="1223553" cy="295523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ctr" fontAlgn="auto">
              <a:spcBef>
                <a:spcPts val="0"/>
              </a:spcBef>
              <a:spcAft>
                <a:spcPts val="0"/>
              </a:spcAft>
              <a:defRPr sz="1000" b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>
              <a:defRPr/>
            </a:pPr>
            <a:r>
              <a:rPr lang="en-US" altLang="zh-CN" sz="1400" dirty="0" smtClean="0">
                <a:latin typeface="+mn-lt"/>
                <a:ea typeface="+mn-ea"/>
                <a:cs typeface="+mn-ea"/>
                <a:sym typeface="+mn-lt"/>
              </a:rPr>
              <a:t>SNMP</a:t>
            </a:r>
          </a:p>
        </p:txBody>
      </p:sp>
      <p:sp>
        <p:nvSpPr>
          <p:cNvPr id="37" name="TextBox 34"/>
          <p:cNvSpPr txBox="1"/>
          <p:nvPr/>
        </p:nvSpPr>
        <p:spPr bwMode="auto">
          <a:xfrm>
            <a:off x="5636054" y="5478316"/>
            <a:ext cx="514200" cy="295523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ctr" fontAlgn="auto">
              <a:spcBef>
                <a:spcPts val="0"/>
              </a:spcBef>
              <a:spcAft>
                <a:spcPts val="0"/>
              </a:spcAft>
              <a:defRPr sz="1000" b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>
              <a:defRPr/>
            </a:pPr>
            <a:r>
              <a:rPr lang="en-US" altLang="zh-CN" sz="1400" dirty="0" smtClean="0">
                <a:latin typeface="+mn-lt"/>
                <a:ea typeface="+mn-ea"/>
                <a:cs typeface="+mn-ea"/>
                <a:sym typeface="+mn-lt"/>
              </a:rPr>
              <a:t>……</a:t>
            </a:r>
          </a:p>
        </p:txBody>
      </p:sp>
      <p:sp>
        <p:nvSpPr>
          <p:cNvPr id="38" name="TextBox 35"/>
          <p:cNvSpPr txBox="1"/>
          <p:nvPr/>
        </p:nvSpPr>
        <p:spPr bwMode="auto">
          <a:xfrm>
            <a:off x="1703567" y="5046267"/>
            <a:ext cx="4446687" cy="298641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ctr" fontAlgn="auto">
              <a:spcBef>
                <a:spcPts val="0"/>
              </a:spcBef>
              <a:spcAft>
                <a:spcPts val="0"/>
              </a:spcAft>
              <a:defRPr sz="1000" b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>
              <a:defRPr/>
            </a:pPr>
            <a:r>
              <a:rPr lang="en-US" altLang="zh-CN" sz="1400" dirty="0" smtClean="0">
                <a:latin typeface="+mn-lt"/>
                <a:ea typeface="+mn-ea"/>
                <a:cs typeface="+mn-ea"/>
                <a:sym typeface="+mn-lt"/>
              </a:rPr>
              <a:t>C/C++</a:t>
            </a:r>
          </a:p>
        </p:txBody>
      </p:sp>
      <p:sp>
        <p:nvSpPr>
          <p:cNvPr id="39" name="TextBox 25"/>
          <p:cNvSpPr txBox="1">
            <a:spLocks noChangeArrowheads="1"/>
          </p:cNvSpPr>
          <p:nvPr/>
        </p:nvSpPr>
        <p:spPr bwMode="auto">
          <a:xfrm>
            <a:off x="6271425" y="5478316"/>
            <a:ext cx="906464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1pPr>
            <a:lvl2pPr marL="742950" indent="-285750" eaLnBrk="0" hangingPunct="0">
              <a:spcBef>
                <a:spcPct val="20000"/>
              </a:spcBef>
              <a:buBlip>
                <a:blip r:embed="rId3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2pPr>
            <a:lvl3pPr marL="1143000" indent="-228600" eaLnBrk="0" hangingPunct="0">
              <a:spcBef>
                <a:spcPct val="20000"/>
              </a:spcBef>
              <a:buBlip>
                <a:blip r:embed="rId3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3pPr>
            <a:lvl4pPr marL="1600200" indent="-228600" eaLnBrk="0" hangingPunct="0">
              <a:spcBef>
                <a:spcPct val="20000"/>
              </a:spcBef>
              <a:buBlip>
                <a:blip r:embed="rId3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4pPr>
            <a:lvl5pPr marL="2057400" indent="-228600" eaLnBrk="0" hangingPunct="0">
              <a:spcBef>
                <a:spcPct val="20000"/>
              </a:spcBef>
              <a:buBlip>
                <a:blip r:embed="rId3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1400" b="1" dirty="0" smtClean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采集接口</a:t>
            </a:r>
            <a:endParaRPr lang="zh-CN" altLang="en-US" sz="1400" b="1" dirty="0">
              <a:solidFill>
                <a:schemeClr val="tx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0" name="TextBox 25"/>
          <p:cNvSpPr txBox="1">
            <a:spLocks noChangeArrowheads="1"/>
          </p:cNvSpPr>
          <p:nvPr/>
        </p:nvSpPr>
        <p:spPr bwMode="auto">
          <a:xfrm>
            <a:off x="6271425" y="5046268"/>
            <a:ext cx="906464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1pPr>
            <a:lvl2pPr marL="742950" indent="-285750" eaLnBrk="0" hangingPunct="0">
              <a:spcBef>
                <a:spcPct val="20000"/>
              </a:spcBef>
              <a:buBlip>
                <a:blip r:embed="rId3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2pPr>
            <a:lvl3pPr marL="1143000" indent="-228600" eaLnBrk="0" hangingPunct="0">
              <a:spcBef>
                <a:spcPct val="20000"/>
              </a:spcBef>
              <a:buBlip>
                <a:blip r:embed="rId3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3pPr>
            <a:lvl4pPr marL="1600200" indent="-228600" eaLnBrk="0" hangingPunct="0">
              <a:spcBef>
                <a:spcPct val="20000"/>
              </a:spcBef>
              <a:buBlip>
                <a:blip r:embed="rId3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4pPr>
            <a:lvl5pPr marL="2057400" indent="-228600" eaLnBrk="0" hangingPunct="0">
              <a:spcBef>
                <a:spcPct val="20000"/>
              </a:spcBef>
              <a:buBlip>
                <a:blip r:embed="rId3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1400" b="1" dirty="0" smtClean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数据处理</a:t>
            </a:r>
            <a:endParaRPr lang="zh-CN" altLang="en-US" sz="1400" b="1" dirty="0">
              <a:solidFill>
                <a:schemeClr val="tx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1" name="TextBox 40"/>
          <p:cNvSpPr txBox="1"/>
          <p:nvPr/>
        </p:nvSpPr>
        <p:spPr bwMode="auto">
          <a:xfrm>
            <a:off x="1806929" y="3994034"/>
            <a:ext cx="1891258" cy="27083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ctr" fontAlgn="auto">
              <a:spcBef>
                <a:spcPts val="0"/>
              </a:spcBef>
              <a:spcAft>
                <a:spcPts val="0"/>
              </a:spcAft>
              <a:defRPr sz="1000" b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>
              <a:defRPr/>
            </a:pPr>
            <a:r>
              <a:rPr lang="en-US" altLang="zh-CN" sz="1400" dirty="0" err="1" smtClean="0">
                <a:latin typeface="+mn-lt"/>
                <a:ea typeface="+mn-ea"/>
                <a:cs typeface="+mn-ea"/>
                <a:sym typeface="+mn-lt"/>
              </a:rPr>
              <a:t>GreenPlum</a:t>
            </a:r>
            <a:endParaRPr lang="en-US" altLang="zh-CN" sz="1400" dirty="0" smtClean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2" name="TextBox 25"/>
          <p:cNvSpPr txBox="1">
            <a:spLocks noChangeArrowheads="1"/>
          </p:cNvSpPr>
          <p:nvPr/>
        </p:nvSpPr>
        <p:spPr bwMode="auto">
          <a:xfrm>
            <a:off x="3286946" y="3525047"/>
            <a:ext cx="1256287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1pPr>
            <a:lvl2pPr marL="742950" indent="-285750" eaLnBrk="0" hangingPunct="0">
              <a:spcBef>
                <a:spcPct val="20000"/>
              </a:spcBef>
              <a:buBlip>
                <a:blip r:embed="rId3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2pPr>
            <a:lvl3pPr marL="1143000" indent="-228600" eaLnBrk="0" hangingPunct="0">
              <a:spcBef>
                <a:spcPct val="20000"/>
              </a:spcBef>
              <a:buBlip>
                <a:blip r:embed="rId3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3pPr>
            <a:lvl4pPr marL="1600200" indent="-228600" eaLnBrk="0" hangingPunct="0">
              <a:spcBef>
                <a:spcPct val="20000"/>
              </a:spcBef>
              <a:buBlip>
                <a:blip r:embed="rId3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4pPr>
            <a:lvl5pPr marL="2057400" indent="-228600" eaLnBrk="0" hangingPunct="0">
              <a:spcBef>
                <a:spcPct val="20000"/>
              </a:spcBef>
              <a:buBlip>
                <a:blip r:embed="rId3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1400" b="1" dirty="0" smtClean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数据存储</a:t>
            </a:r>
            <a:endParaRPr lang="zh-CN" altLang="en-US" sz="1400" b="1" dirty="0">
              <a:solidFill>
                <a:schemeClr val="tx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3" name="TextBox 25"/>
          <p:cNvSpPr txBox="1">
            <a:spLocks noChangeArrowheads="1"/>
          </p:cNvSpPr>
          <p:nvPr/>
        </p:nvSpPr>
        <p:spPr bwMode="auto">
          <a:xfrm>
            <a:off x="2114867" y="3669063"/>
            <a:ext cx="1276238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1pPr>
            <a:lvl2pPr marL="742950" indent="-285750" eaLnBrk="0" hangingPunct="0">
              <a:spcBef>
                <a:spcPct val="20000"/>
              </a:spcBef>
              <a:buBlip>
                <a:blip r:embed="rId3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2pPr>
            <a:lvl3pPr marL="1143000" indent="-228600" eaLnBrk="0" hangingPunct="0">
              <a:spcBef>
                <a:spcPct val="20000"/>
              </a:spcBef>
              <a:buBlip>
                <a:blip r:embed="rId3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3pPr>
            <a:lvl4pPr marL="1600200" indent="-228600" eaLnBrk="0" hangingPunct="0">
              <a:spcBef>
                <a:spcPct val="20000"/>
              </a:spcBef>
              <a:buBlip>
                <a:blip r:embed="rId3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4pPr>
            <a:lvl5pPr marL="2057400" indent="-228600" eaLnBrk="0" hangingPunct="0">
              <a:spcBef>
                <a:spcPct val="20000"/>
              </a:spcBef>
              <a:buBlip>
                <a:blip r:embed="rId3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1400" b="1" dirty="0" smtClean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业务数据存储</a:t>
            </a:r>
            <a:endParaRPr lang="zh-CN" altLang="en-US" sz="1400" b="1" dirty="0">
              <a:solidFill>
                <a:schemeClr val="tx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4" name="TextBox 25"/>
          <p:cNvSpPr txBox="1">
            <a:spLocks noChangeArrowheads="1"/>
          </p:cNvSpPr>
          <p:nvPr/>
        </p:nvSpPr>
        <p:spPr bwMode="auto">
          <a:xfrm>
            <a:off x="6271425" y="3361867"/>
            <a:ext cx="102321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1pPr>
            <a:lvl2pPr marL="742950" indent="-285750" eaLnBrk="0" hangingPunct="0">
              <a:spcBef>
                <a:spcPct val="20000"/>
              </a:spcBef>
              <a:buBlip>
                <a:blip r:embed="rId3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2pPr>
            <a:lvl3pPr marL="1143000" indent="-228600" eaLnBrk="0" hangingPunct="0">
              <a:spcBef>
                <a:spcPct val="20000"/>
              </a:spcBef>
              <a:buBlip>
                <a:blip r:embed="rId3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3pPr>
            <a:lvl4pPr marL="1600200" indent="-228600" eaLnBrk="0" hangingPunct="0">
              <a:spcBef>
                <a:spcPct val="20000"/>
              </a:spcBef>
              <a:buBlip>
                <a:blip r:embed="rId3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4pPr>
            <a:lvl5pPr marL="2057400" indent="-228600" eaLnBrk="0" hangingPunct="0">
              <a:spcBef>
                <a:spcPct val="20000"/>
              </a:spcBef>
              <a:buBlip>
                <a:blip r:embed="rId3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1400" b="1" dirty="0" smtClean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数据存储</a:t>
            </a:r>
            <a:r>
              <a:rPr lang="en-US" altLang="zh-CN" sz="1400" b="1" dirty="0" smtClean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/</a:t>
            </a:r>
            <a:r>
              <a:rPr lang="zh-CN" altLang="en-US" sz="1400" b="1" dirty="0" smtClean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智能运维</a:t>
            </a:r>
            <a:endParaRPr lang="zh-CN" altLang="en-US" sz="1400" b="1" dirty="0">
              <a:solidFill>
                <a:schemeClr val="tx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5" name="TextBox 25"/>
          <p:cNvSpPr txBox="1">
            <a:spLocks noChangeArrowheads="1"/>
          </p:cNvSpPr>
          <p:nvPr/>
        </p:nvSpPr>
        <p:spPr bwMode="auto">
          <a:xfrm>
            <a:off x="6271425" y="2444927"/>
            <a:ext cx="906464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1pPr>
            <a:lvl2pPr marL="742950" indent="-285750" eaLnBrk="0" hangingPunct="0">
              <a:spcBef>
                <a:spcPct val="20000"/>
              </a:spcBef>
              <a:buBlip>
                <a:blip r:embed="rId3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2pPr>
            <a:lvl3pPr marL="1143000" indent="-228600" eaLnBrk="0" hangingPunct="0">
              <a:spcBef>
                <a:spcPct val="20000"/>
              </a:spcBef>
              <a:buBlip>
                <a:blip r:embed="rId3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3pPr>
            <a:lvl4pPr marL="1600200" indent="-228600" eaLnBrk="0" hangingPunct="0">
              <a:spcBef>
                <a:spcPct val="20000"/>
              </a:spcBef>
              <a:buBlip>
                <a:blip r:embed="rId3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4pPr>
            <a:lvl5pPr marL="2057400" indent="-228600" eaLnBrk="0" hangingPunct="0">
              <a:spcBef>
                <a:spcPct val="20000"/>
              </a:spcBef>
              <a:buBlip>
                <a:blip r:embed="rId3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1400" b="1" dirty="0" smtClean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数据</a:t>
            </a:r>
            <a:r>
              <a:rPr lang="zh-CN" altLang="en-US" sz="1400" b="1" dirty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接口</a:t>
            </a:r>
          </a:p>
        </p:txBody>
      </p:sp>
      <p:sp>
        <p:nvSpPr>
          <p:cNvPr id="46" name="TextBox 49"/>
          <p:cNvSpPr txBox="1"/>
          <p:nvPr/>
        </p:nvSpPr>
        <p:spPr bwMode="auto">
          <a:xfrm>
            <a:off x="1678441" y="1842120"/>
            <a:ext cx="1496639" cy="28803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ctr" fontAlgn="auto">
              <a:spcBef>
                <a:spcPts val="0"/>
              </a:spcBef>
              <a:spcAft>
                <a:spcPts val="0"/>
              </a:spcAft>
              <a:defRPr sz="1000" b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>
              <a:defRPr/>
            </a:pPr>
            <a:r>
              <a:rPr lang="en-US" altLang="zh-CN" sz="1400" dirty="0" smtClean="0">
                <a:latin typeface="+mn-lt"/>
                <a:ea typeface="+mn-ea"/>
                <a:cs typeface="+mn-ea"/>
                <a:sym typeface="+mn-lt"/>
              </a:rPr>
              <a:t>Spring</a:t>
            </a:r>
          </a:p>
        </p:txBody>
      </p:sp>
      <p:sp>
        <p:nvSpPr>
          <p:cNvPr id="47" name="TextBox 50"/>
          <p:cNvSpPr txBox="1"/>
          <p:nvPr/>
        </p:nvSpPr>
        <p:spPr bwMode="auto">
          <a:xfrm>
            <a:off x="3262618" y="1842120"/>
            <a:ext cx="1496639" cy="28803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ctr" fontAlgn="auto">
              <a:spcBef>
                <a:spcPts val="0"/>
              </a:spcBef>
              <a:spcAft>
                <a:spcPts val="0"/>
              </a:spcAft>
              <a:defRPr sz="1000" b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>
              <a:defRPr/>
            </a:pPr>
            <a:r>
              <a:rPr lang="en-US" altLang="zh-CN" sz="1400" dirty="0" smtClean="0">
                <a:latin typeface="+mn-lt"/>
                <a:ea typeface="+mn-ea"/>
                <a:cs typeface="+mn-ea"/>
                <a:sym typeface="+mn-lt"/>
              </a:rPr>
              <a:t>Struts</a:t>
            </a:r>
          </a:p>
        </p:txBody>
      </p:sp>
      <p:sp>
        <p:nvSpPr>
          <p:cNvPr id="48" name="TextBox 51"/>
          <p:cNvSpPr txBox="1"/>
          <p:nvPr/>
        </p:nvSpPr>
        <p:spPr bwMode="auto">
          <a:xfrm>
            <a:off x="4849633" y="1842120"/>
            <a:ext cx="1496639" cy="28803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ctr" fontAlgn="auto">
              <a:spcBef>
                <a:spcPts val="0"/>
              </a:spcBef>
              <a:spcAft>
                <a:spcPts val="0"/>
              </a:spcAft>
              <a:defRPr sz="1000" b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>
              <a:defRPr/>
            </a:pPr>
            <a:r>
              <a:rPr lang="en-US" altLang="zh-CN" sz="1400" dirty="0" smtClean="0">
                <a:latin typeface="+mn-lt"/>
                <a:ea typeface="+mn-ea"/>
                <a:cs typeface="+mn-ea"/>
                <a:sym typeface="+mn-lt"/>
              </a:rPr>
              <a:t>Hibernate</a:t>
            </a:r>
          </a:p>
        </p:txBody>
      </p:sp>
      <p:sp>
        <p:nvSpPr>
          <p:cNvPr id="49" name="TextBox 25"/>
          <p:cNvSpPr txBox="1">
            <a:spLocks noChangeArrowheads="1"/>
          </p:cNvSpPr>
          <p:nvPr/>
        </p:nvSpPr>
        <p:spPr bwMode="auto">
          <a:xfrm>
            <a:off x="6271424" y="1554088"/>
            <a:ext cx="1023219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1pPr>
            <a:lvl2pPr marL="742950" indent="-285750" eaLnBrk="0" hangingPunct="0">
              <a:spcBef>
                <a:spcPct val="20000"/>
              </a:spcBef>
              <a:buBlip>
                <a:blip r:embed="rId3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2pPr>
            <a:lvl3pPr marL="1143000" indent="-228600" eaLnBrk="0" hangingPunct="0">
              <a:spcBef>
                <a:spcPct val="20000"/>
              </a:spcBef>
              <a:buBlip>
                <a:blip r:embed="rId3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3pPr>
            <a:lvl4pPr marL="1600200" indent="-228600" eaLnBrk="0" hangingPunct="0">
              <a:spcBef>
                <a:spcPct val="20000"/>
              </a:spcBef>
              <a:buBlip>
                <a:blip r:embed="rId3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4pPr>
            <a:lvl5pPr marL="2057400" indent="-228600" eaLnBrk="0" hangingPunct="0">
              <a:spcBef>
                <a:spcPct val="20000"/>
              </a:spcBef>
              <a:buBlip>
                <a:blip r:embed="rId3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1400" b="1" dirty="0" smtClean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WEB</a:t>
            </a:r>
            <a:r>
              <a:rPr lang="zh-CN" altLang="en-US" sz="1400" b="1" dirty="0" smtClean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框架</a:t>
            </a:r>
            <a:endParaRPr lang="zh-CN" altLang="en-US" sz="1400" b="1" dirty="0">
              <a:solidFill>
                <a:schemeClr val="tx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50" name="TextBox 53"/>
          <p:cNvSpPr txBox="1"/>
          <p:nvPr/>
        </p:nvSpPr>
        <p:spPr bwMode="auto">
          <a:xfrm>
            <a:off x="1678443" y="1410072"/>
            <a:ext cx="2144710" cy="28803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ctr" fontAlgn="auto">
              <a:spcBef>
                <a:spcPts val="0"/>
              </a:spcBef>
              <a:spcAft>
                <a:spcPts val="0"/>
              </a:spcAft>
              <a:defRPr sz="1000" b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>
              <a:defRPr/>
            </a:pPr>
            <a:r>
              <a:rPr lang="en-US" altLang="zh-CN" sz="1200" dirty="0" err="1" smtClean="0">
                <a:latin typeface="+mn-lt"/>
                <a:ea typeface="+mn-ea"/>
                <a:cs typeface="+mn-ea"/>
                <a:sym typeface="+mn-lt"/>
              </a:rPr>
              <a:t>Echart</a:t>
            </a:r>
            <a:r>
              <a:rPr lang="zh-CN" altLang="en-US" sz="1200" dirty="0" smtClean="0">
                <a:latin typeface="+mn-lt"/>
                <a:ea typeface="+mn-ea"/>
                <a:cs typeface="+mn-ea"/>
                <a:sym typeface="+mn-lt"/>
              </a:rPr>
              <a:t>报表</a:t>
            </a:r>
            <a:endParaRPr lang="en-US" altLang="zh-CN" sz="1200" dirty="0" smtClean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51" name="TextBox 55"/>
          <p:cNvSpPr txBox="1"/>
          <p:nvPr/>
        </p:nvSpPr>
        <p:spPr bwMode="auto">
          <a:xfrm>
            <a:off x="3948119" y="1410073"/>
            <a:ext cx="2395314" cy="28803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ctr" fontAlgn="auto">
              <a:spcBef>
                <a:spcPts val="0"/>
              </a:spcBef>
              <a:spcAft>
                <a:spcPts val="0"/>
              </a:spcAft>
              <a:defRPr sz="1000" b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>
              <a:defRPr/>
            </a:pPr>
            <a:r>
              <a:rPr lang="en-US" altLang="zh-CN" sz="1200" dirty="0" err="1">
                <a:latin typeface="+mn-lt"/>
                <a:ea typeface="+mn-ea"/>
                <a:cs typeface="+mn-ea"/>
                <a:sym typeface="+mn-lt"/>
              </a:rPr>
              <a:t>A</a:t>
            </a:r>
            <a:r>
              <a:rPr lang="en-US" altLang="zh-CN" sz="1200" dirty="0" err="1" smtClean="0">
                <a:latin typeface="+mn-lt"/>
                <a:ea typeface="+mn-ea"/>
                <a:cs typeface="+mn-ea"/>
                <a:sym typeface="+mn-lt"/>
              </a:rPr>
              <a:t>Jax</a:t>
            </a:r>
            <a:endParaRPr lang="en-US" altLang="zh-CN" sz="1200" dirty="0" smtClean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52" name="TextBox 25"/>
          <p:cNvSpPr txBox="1">
            <a:spLocks noChangeArrowheads="1"/>
          </p:cNvSpPr>
          <p:nvPr/>
        </p:nvSpPr>
        <p:spPr bwMode="auto">
          <a:xfrm>
            <a:off x="6271425" y="978024"/>
            <a:ext cx="1023219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1pPr>
            <a:lvl2pPr marL="742950" indent="-285750" eaLnBrk="0" hangingPunct="0">
              <a:spcBef>
                <a:spcPct val="20000"/>
              </a:spcBef>
              <a:buBlip>
                <a:blip r:embed="rId3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2pPr>
            <a:lvl3pPr marL="1143000" indent="-228600" eaLnBrk="0" hangingPunct="0">
              <a:spcBef>
                <a:spcPct val="20000"/>
              </a:spcBef>
              <a:buBlip>
                <a:blip r:embed="rId3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3pPr>
            <a:lvl4pPr marL="1600200" indent="-228600" eaLnBrk="0" hangingPunct="0">
              <a:spcBef>
                <a:spcPct val="20000"/>
              </a:spcBef>
              <a:buBlip>
                <a:blip r:embed="rId3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4pPr>
            <a:lvl5pPr marL="2057400" indent="-228600" eaLnBrk="0" hangingPunct="0">
              <a:spcBef>
                <a:spcPct val="20000"/>
              </a:spcBef>
              <a:buBlip>
                <a:blip r:embed="rId3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1400" b="1" dirty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业务</a:t>
            </a:r>
            <a:r>
              <a:rPr lang="zh-CN" altLang="en-US" sz="1400" b="1" dirty="0" smtClean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呈现</a:t>
            </a:r>
            <a:endParaRPr lang="zh-CN" altLang="en-US" sz="1400" b="1" dirty="0">
              <a:solidFill>
                <a:schemeClr val="tx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53" name="TextBox 57"/>
          <p:cNvSpPr txBox="1"/>
          <p:nvPr/>
        </p:nvSpPr>
        <p:spPr bwMode="auto">
          <a:xfrm>
            <a:off x="4010937" y="3994033"/>
            <a:ext cx="1989750" cy="27083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ctr" fontAlgn="auto">
              <a:spcBef>
                <a:spcPts val="0"/>
              </a:spcBef>
              <a:spcAft>
                <a:spcPts val="0"/>
              </a:spcAft>
              <a:defRPr sz="1000" b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>
              <a:defRPr/>
            </a:pPr>
            <a:r>
              <a:rPr lang="en-US" altLang="zh-CN" sz="1400" dirty="0" err="1" smtClean="0">
                <a:latin typeface="+mn-lt"/>
                <a:ea typeface="+mn-ea"/>
                <a:cs typeface="+mn-ea"/>
                <a:sym typeface="+mn-lt"/>
              </a:rPr>
              <a:t>MySql</a:t>
            </a:r>
            <a:endParaRPr lang="en-US" altLang="zh-CN" sz="1400" dirty="0" smtClean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54" name="TextBox 25"/>
          <p:cNvSpPr txBox="1">
            <a:spLocks noChangeArrowheads="1"/>
          </p:cNvSpPr>
          <p:nvPr/>
        </p:nvSpPr>
        <p:spPr bwMode="auto">
          <a:xfrm>
            <a:off x="4255201" y="3669063"/>
            <a:ext cx="1493996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1pPr>
            <a:lvl2pPr marL="742950" indent="-285750" eaLnBrk="0" hangingPunct="0">
              <a:spcBef>
                <a:spcPct val="20000"/>
              </a:spcBef>
              <a:buBlip>
                <a:blip r:embed="rId3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2pPr>
            <a:lvl3pPr marL="1143000" indent="-228600" eaLnBrk="0" hangingPunct="0">
              <a:spcBef>
                <a:spcPct val="20000"/>
              </a:spcBef>
              <a:buBlip>
                <a:blip r:embed="rId3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3pPr>
            <a:lvl4pPr marL="1600200" indent="-228600" eaLnBrk="0" hangingPunct="0">
              <a:spcBef>
                <a:spcPct val="20000"/>
              </a:spcBef>
              <a:buBlip>
                <a:blip r:embed="rId3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4pPr>
            <a:lvl5pPr marL="2057400" indent="-228600" eaLnBrk="0" hangingPunct="0">
              <a:spcBef>
                <a:spcPct val="20000"/>
              </a:spcBef>
              <a:buBlip>
                <a:blip r:embed="rId3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1400" b="1" dirty="0" smtClean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策略</a:t>
            </a:r>
            <a:r>
              <a:rPr lang="en-US" altLang="zh-CN" sz="1400" b="1" dirty="0" smtClean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/</a:t>
            </a:r>
            <a:r>
              <a:rPr lang="zh-CN" altLang="en-US" sz="1400" b="1" dirty="0" smtClean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权限</a:t>
            </a:r>
            <a:r>
              <a:rPr lang="en-US" altLang="zh-CN" sz="1400" b="1" dirty="0" smtClean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/</a:t>
            </a:r>
            <a:r>
              <a:rPr lang="zh-CN" altLang="en-US" sz="1400" b="1" dirty="0" smtClean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日志</a:t>
            </a:r>
            <a:endParaRPr lang="zh-CN" altLang="en-US" sz="1400" b="1" dirty="0">
              <a:solidFill>
                <a:schemeClr val="tx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55" name="圆角矩形 110"/>
          <p:cNvSpPr>
            <a:spLocks noChangeArrowheads="1"/>
          </p:cNvSpPr>
          <p:nvPr/>
        </p:nvSpPr>
        <p:spPr bwMode="auto">
          <a:xfrm>
            <a:off x="1696821" y="2750263"/>
            <a:ext cx="4502596" cy="774784"/>
          </a:xfrm>
          <a:prstGeom prst="roundRect">
            <a:avLst>
              <a:gd name="adj" fmla="val 9305"/>
            </a:avLst>
          </a:prstGeom>
          <a:solidFill>
            <a:srgbClr val="FFFF00">
              <a:alpha val="50195"/>
            </a:srgbClr>
          </a:solidFill>
          <a:ln w="28575" algn="ctr">
            <a:solidFill>
              <a:srgbClr val="FF0000"/>
            </a:solidFill>
            <a:prstDash val="dash"/>
            <a:round/>
            <a:headEnd/>
            <a:tailEnd/>
          </a:ln>
        </p:spPr>
        <p:txBody>
          <a:bodyPr lIns="91424" tIns="45712" rIns="91424" bIns="45712"/>
          <a:lstStyle>
            <a:lvl1pPr marL="801688" indent="-269875" eaLnBrk="0" hangingPunct="0">
              <a:spcBef>
                <a:spcPct val="20000"/>
              </a:spcBef>
              <a:buBlip>
                <a:blip r:embed="rId3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1pPr>
            <a:lvl2pPr marL="742950" indent="-285750" eaLnBrk="0" hangingPunct="0">
              <a:spcBef>
                <a:spcPct val="20000"/>
              </a:spcBef>
              <a:buBlip>
                <a:blip r:embed="rId3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2pPr>
            <a:lvl3pPr marL="1143000" indent="-228600" eaLnBrk="0" hangingPunct="0">
              <a:spcBef>
                <a:spcPct val="20000"/>
              </a:spcBef>
              <a:buBlip>
                <a:blip r:embed="rId3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3pPr>
            <a:lvl4pPr marL="1600200" indent="-228600" eaLnBrk="0" hangingPunct="0">
              <a:spcBef>
                <a:spcPct val="20000"/>
              </a:spcBef>
              <a:buBlip>
                <a:blip r:embed="rId3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4pPr>
            <a:lvl5pPr marL="2057400" indent="-228600" eaLnBrk="0" hangingPunct="0">
              <a:spcBef>
                <a:spcPct val="20000"/>
              </a:spcBef>
              <a:buBlip>
                <a:blip r:embed="rId3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9pPr>
          </a:lstStyle>
          <a:p>
            <a:pPr>
              <a:lnSpc>
                <a:spcPct val="130000"/>
              </a:lnSpc>
              <a:spcBef>
                <a:spcPct val="5000"/>
              </a:spcBef>
              <a:buClr>
                <a:srgbClr val="FF0000"/>
              </a:buClr>
              <a:buFont typeface="Wingdings" pitchFamily="2" charset="2"/>
              <a:buAutoNum type="circleNumDbPlain"/>
            </a:pPr>
            <a:endParaRPr lang="zh-CN" altLang="en-US" sz="1800">
              <a:solidFill>
                <a:schemeClr val="tx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56" name="TextBox 25"/>
          <p:cNvSpPr txBox="1">
            <a:spLocks noChangeArrowheads="1"/>
          </p:cNvSpPr>
          <p:nvPr/>
        </p:nvSpPr>
        <p:spPr bwMode="auto">
          <a:xfrm>
            <a:off x="3103073" y="2618056"/>
            <a:ext cx="1976367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1pPr>
            <a:lvl2pPr marL="742950" indent="-285750" eaLnBrk="0" hangingPunct="0">
              <a:spcBef>
                <a:spcPct val="20000"/>
              </a:spcBef>
              <a:buBlip>
                <a:blip r:embed="rId3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2pPr>
            <a:lvl3pPr marL="1143000" indent="-228600" eaLnBrk="0" hangingPunct="0">
              <a:spcBef>
                <a:spcPct val="20000"/>
              </a:spcBef>
              <a:buBlip>
                <a:blip r:embed="rId3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3pPr>
            <a:lvl4pPr marL="1600200" indent="-228600" eaLnBrk="0" hangingPunct="0">
              <a:spcBef>
                <a:spcPct val="20000"/>
              </a:spcBef>
              <a:buBlip>
                <a:blip r:embed="rId3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4pPr>
            <a:lvl5pPr marL="2057400" indent="-228600" eaLnBrk="0" hangingPunct="0">
              <a:spcBef>
                <a:spcPct val="20000"/>
              </a:spcBef>
              <a:buBlip>
                <a:blip r:embed="rId3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1400" b="1" dirty="0" smtClean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智能</a:t>
            </a:r>
            <a:r>
              <a:rPr lang="zh-CN" altLang="en-US" sz="1400" b="1" smtClean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运维（</a:t>
            </a:r>
            <a:r>
              <a:rPr lang="en-US" altLang="zh-CN" sz="1400" b="1" dirty="0" smtClean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JAVA</a:t>
            </a:r>
            <a:r>
              <a:rPr lang="zh-CN" altLang="en-US" sz="1400" b="1" dirty="0" smtClean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）</a:t>
            </a:r>
            <a:endParaRPr lang="zh-CN" altLang="en-US" sz="1400" b="1" dirty="0">
              <a:solidFill>
                <a:schemeClr val="tx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57" name="TextBox 65"/>
          <p:cNvSpPr txBox="1"/>
          <p:nvPr/>
        </p:nvSpPr>
        <p:spPr bwMode="auto">
          <a:xfrm>
            <a:off x="1787879" y="3182201"/>
            <a:ext cx="989061" cy="27083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ctr" fontAlgn="auto">
              <a:spcBef>
                <a:spcPts val="0"/>
              </a:spcBef>
              <a:spcAft>
                <a:spcPts val="0"/>
              </a:spcAft>
              <a:defRPr sz="1000" b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>
              <a:defRPr/>
            </a:pPr>
            <a:r>
              <a:rPr lang="zh-CN" altLang="en-US" sz="1400" dirty="0" smtClean="0">
                <a:latin typeface="+mn-lt"/>
                <a:ea typeface="+mn-ea"/>
                <a:cs typeface="+mn-ea"/>
                <a:sym typeface="+mn-lt"/>
              </a:rPr>
              <a:t>数据备份</a:t>
            </a:r>
            <a:endParaRPr lang="en-US" altLang="zh-CN" sz="1400" dirty="0" smtClean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58" name="TextBox 66"/>
          <p:cNvSpPr txBox="1"/>
          <p:nvPr/>
        </p:nvSpPr>
        <p:spPr bwMode="auto">
          <a:xfrm>
            <a:off x="2834092" y="3182201"/>
            <a:ext cx="989061" cy="27083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ctr" fontAlgn="auto">
              <a:spcBef>
                <a:spcPts val="0"/>
              </a:spcBef>
              <a:spcAft>
                <a:spcPts val="0"/>
              </a:spcAft>
              <a:defRPr sz="1000" b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>
              <a:defRPr/>
            </a:pPr>
            <a:r>
              <a:rPr lang="zh-CN" altLang="en-US" sz="1400" dirty="0" smtClean="0">
                <a:latin typeface="+mn-lt"/>
                <a:ea typeface="+mn-ea"/>
                <a:cs typeface="+mn-ea"/>
                <a:sym typeface="+mn-lt"/>
              </a:rPr>
              <a:t>例行检查</a:t>
            </a:r>
            <a:endParaRPr lang="en-US" altLang="zh-CN" sz="1400" dirty="0" smtClean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59" name="TextBox 67"/>
          <p:cNvSpPr txBox="1"/>
          <p:nvPr/>
        </p:nvSpPr>
        <p:spPr bwMode="auto">
          <a:xfrm>
            <a:off x="3909294" y="3182201"/>
            <a:ext cx="989061" cy="27083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ctr" fontAlgn="auto">
              <a:spcBef>
                <a:spcPts val="0"/>
              </a:spcBef>
              <a:spcAft>
                <a:spcPts val="0"/>
              </a:spcAft>
              <a:defRPr sz="1000" b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>
              <a:defRPr/>
            </a:pPr>
            <a:r>
              <a:rPr lang="zh-CN" altLang="en-US" sz="1400" dirty="0" smtClean="0">
                <a:latin typeface="+mn-lt"/>
                <a:ea typeface="+mn-ea"/>
                <a:cs typeface="+mn-ea"/>
                <a:sym typeface="+mn-lt"/>
              </a:rPr>
              <a:t>智能分析</a:t>
            </a:r>
            <a:endParaRPr lang="en-US" altLang="zh-CN" sz="1400" dirty="0" smtClean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60" name="TextBox 68"/>
          <p:cNvSpPr txBox="1"/>
          <p:nvPr/>
        </p:nvSpPr>
        <p:spPr bwMode="auto">
          <a:xfrm>
            <a:off x="4994332" y="3176582"/>
            <a:ext cx="989061" cy="27083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ctr" fontAlgn="auto">
              <a:spcBef>
                <a:spcPts val="0"/>
              </a:spcBef>
              <a:spcAft>
                <a:spcPts val="0"/>
              </a:spcAft>
              <a:defRPr sz="1000" b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>
              <a:defRPr/>
            </a:pPr>
            <a:r>
              <a:rPr lang="zh-CN" altLang="en-US" sz="1400" dirty="0" smtClean="0">
                <a:latin typeface="+mn-lt"/>
                <a:ea typeface="+mn-ea"/>
                <a:cs typeface="+mn-ea"/>
                <a:sym typeface="+mn-lt"/>
              </a:rPr>
              <a:t>智能预警</a:t>
            </a:r>
            <a:endParaRPr lang="en-US" altLang="zh-CN" sz="1400" dirty="0" smtClean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61" name="Rectangle 28"/>
          <p:cNvSpPr/>
          <p:nvPr/>
        </p:nvSpPr>
        <p:spPr>
          <a:xfrm>
            <a:off x="1695367" y="6430679"/>
            <a:ext cx="1373798" cy="31620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400" dirty="0" smtClean="0">
                <a:solidFill>
                  <a:schemeClr val="tx1"/>
                </a:solidFill>
                <a:cs typeface="+mn-ea"/>
                <a:sym typeface="+mn-lt"/>
              </a:rPr>
              <a:t>华为</a:t>
            </a:r>
            <a:endParaRPr lang="en-US" sz="1400" dirty="0">
              <a:solidFill>
                <a:schemeClr val="tx1"/>
              </a:solidFill>
              <a:cs typeface="+mn-ea"/>
              <a:sym typeface="+mn-lt"/>
            </a:endParaRPr>
          </a:p>
        </p:txBody>
      </p:sp>
      <p:sp>
        <p:nvSpPr>
          <p:cNvPr id="62" name="Rectangle 28"/>
          <p:cNvSpPr/>
          <p:nvPr/>
        </p:nvSpPr>
        <p:spPr>
          <a:xfrm>
            <a:off x="3218160" y="6435703"/>
            <a:ext cx="1325073" cy="31620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400" dirty="0" smtClean="0">
                <a:solidFill>
                  <a:schemeClr val="tx1"/>
                </a:solidFill>
                <a:cs typeface="+mn-ea"/>
                <a:sym typeface="+mn-lt"/>
              </a:rPr>
              <a:t>爱立信</a:t>
            </a:r>
            <a:endParaRPr lang="en-US" sz="1400" dirty="0">
              <a:solidFill>
                <a:schemeClr val="tx1"/>
              </a:solidFill>
              <a:cs typeface="+mn-ea"/>
              <a:sym typeface="+mn-lt"/>
            </a:endParaRPr>
          </a:p>
        </p:txBody>
      </p:sp>
      <p:sp>
        <p:nvSpPr>
          <p:cNvPr id="63" name="Rectangle 28"/>
          <p:cNvSpPr/>
          <p:nvPr/>
        </p:nvSpPr>
        <p:spPr>
          <a:xfrm>
            <a:off x="4710399" y="6433237"/>
            <a:ext cx="1433414" cy="31620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400" dirty="0" smtClean="0">
                <a:solidFill>
                  <a:schemeClr val="tx1"/>
                </a:solidFill>
                <a:cs typeface="+mn-ea"/>
                <a:sym typeface="+mn-lt"/>
              </a:rPr>
              <a:t>阿尔卡特</a:t>
            </a:r>
            <a:endParaRPr lang="en-US" sz="1400" dirty="0">
              <a:solidFill>
                <a:schemeClr val="tx1"/>
              </a:solidFill>
              <a:cs typeface="+mn-ea"/>
              <a:sym typeface="+mn-lt"/>
            </a:endParaRPr>
          </a:p>
        </p:txBody>
      </p:sp>
      <p:sp>
        <p:nvSpPr>
          <p:cNvPr id="64" name="TextBox 72"/>
          <p:cNvSpPr txBox="1"/>
          <p:nvPr/>
        </p:nvSpPr>
        <p:spPr bwMode="auto">
          <a:xfrm>
            <a:off x="1795354" y="2876975"/>
            <a:ext cx="4188039" cy="27083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ctr" fontAlgn="auto">
              <a:spcBef>
                <a:spcPts val="0"/>
              </a:spcBef>
              <a:spcAft>
                <a:spcPts val="0"/>
              </a:spcAft>
              <a:defRPr sz="1000" b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>
              <a:defRPr/>
            </a:pPr>
            <a:r>
              <a:rPr lang="zh-CN" altLang="en-US" sz="1400" dirty="0" smtClean="0">
                <a:latin typeface="+mn-lt"/>
                <a:ea typeface="+mn-ea"/>
                <a:cs typeface="+mn-ea"/>
                <a:sym typeface="+mn-lt"/>
              </a:rPr>
              <a:t>智能运维体检</a:t>
            </a:r>
            <a:endParaRPr lang="en-US" altLang="zh-CN" sz="1400" dirty="0" smtClean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65" name="TextBox 73"/>
          <p:cNvSpPr txBox="1"/>
          <p:nvPr/>
        </p:nvSpPr>
        <p:spPr bwMode="auto">
          <a:xfrm>
            <a:off x="1686063" y="978025"/>
            <a:ext cx="1066495" cy="28803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ctr" fontAlgn="auto">
              <a:spcBef>
                <a:spcPts val="0"/>
              </a:spcBef>
              <a:spcAft>
                <a:spcPts val="0"/>
              </a:spcAft>
              <a:defRPr sz="1000" b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>
              <a:defRPr/>
            </a:pPr>
            <a:r>
              <a:rPr lang="zh-CN" altLang="en-US" sz="1200" dirty="0" smtClean="0">
                <a:latin typeface="+mn-lt"/>
                <a:ea typeface="+mn-ea"/>
                <a:cs typeface="+mn-ea"/>
                <a:sym typeface="+mn-lt"/>
              </a:rPr>
              <a:t>全景呈现</a:t>
            </a:r>
            <a:endParaRPr lang="en-US" altLang="zh-CN" sz="1200" dirty="0" smtClean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66" name="TextBox 74"/>
          <p:cNvSpPr txBox="1"/>
          <p:nvPr/>
        </p:nvSpPr>
        <p:spPr bwMode="auto">
          <a:xfrm>
            <a:off x="2906978" y="978024"/>
            <a:ext cx="1060191" cy="28803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ctr" fontAlgn="auto">
              <a:spcBef>
                <a:spcPts val="0"/>
              </a:spcBef>
              <a:spcAft>
                <a:spcPts val="0"/>
              </a:spcAft>
              <a:defRPr sz="1000" b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>
              <a:defRPr/>
            </a:pPr>
            <a:r>
              <a:rPr lang="zh-CN" altLang="en-US" sz="1200" dirty="0" smtClean="0">
                <a:latin typeface="+mn-lt"/>
                <a:ea typeface="+mn-ea"/>
                <a:cs typeface="+mn-ea"/>
                <a:sym typeface="+mn-lt"/>
              </a:rPr>
              <a:t>日常维护</a:t>
            </a:r>
            <a:endParaRPr lang="en-US" altLang="zh-CN" sz="1200" dirty="0" smtClean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67" name="TextBox 75"/>
          <p:cNvSpPr txBox="1"/>
          <p:nvPr/>
        </p:nvSpPr>
        <p:spPr bwMode="auto">
          <a:xfrm>
            <a:off x="4073902" y="978024"/>
            <a:ext cx="1071667" cy="28803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ctr" fontAlgn="auto">
              <a:spcBef>
                <a:spcPts val="0"/>
              </a:spcBef>
              <a:spcAft>
                <a:spcPts val="0"/>
              </a:spcAft>
              <a:defRPr sz="1000" b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>
              <a:defRPr/>
            </a:pPr>
            <a:r>
              <a:rPr lang="zh-CN" altLang="en-US" sz="1200" dirty="0" smtClean="0">
                <a:latin typeface="+mn-lt"/>
                <a:ea typeface="+mn-ea"/>
                <a:cs typeface="+mn-ea"/>
                <a:sym typeface="+mn-lt"/>
              </a:rPr>
              <a:t>应急保障</a:t>
            </a:r>
            <a:endParaRPr lang="en-US" altLang="zh-CN" sz="1200" dirty="0" smtClean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68" name="TextBox 76"/>
          <p:cNvSpPr txBox="1"/>
          <p:nvPr/>
        </p:nvSpPr>
        <p:spPr bwMode="auto">
          <a:xfrm>
            <a:off x="5271766" y="978024"/>
            <a:ext cx="1071667" cy="28803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ctr" fontAlgn="auto">
              <a:spcBef>
                <a:spcPts val="0"/>
              </a:spcBef>
              <a:spcAft>
                <a:spcPts val="0"/>
              </a:spcAft>
              <a:defRPr sz="1000" b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>
              <a:defRPr/>
            </a:pPr>
            <a:r>
              <a:rPr lang="zh-CN" altLang="en-US" sz="1200" dirty="0" smtClean="0">
                <a:latin typeface="+mn-lt"/>
                <a:ea typeface="+mn-ea"/>
                <a:cs typeface="+mn-ea"/>
                <a:sym typeface="+mn-lt"/>
              </a:rPr>
              <a:t>网络规划</a:t>
            </a:r>
            <a:endParaRPr lang="en-US" altLang="zh-CN" sz="1200" dirty="0" smtClean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69" name="文本框 68"/>
          <p:cNvSpPr txBox="1"/>
          <p:nvPr/>
        </p:nvSpPr>
        <p:spPr>
          <a:xfrm>
            <a:off x="4543233" y="326904"/>
            <a:ext cx="33147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 smtClean="0">
                <a:solidFill>
                  <a:schemeClr val="bg1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IT</a:t>
            </a:r>
            <a:r>
              <a:rPr lang="zh-CN" altLang="en-US" sz="2800" b="1" dirty="0" smtClean="0">
                <a:solidFill>
                  <a:schemeClr val="bg1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架构</a:t>
            </a:r>
            <a:endParaRPr lang="zh-CN" altLang="en-US" sz="2800" b="1" dirty="0">
              <a:solidFill>
                <a:schemeClr val="bg1"/>
              </a:solidFill>
              <a:effectLst>
                <a:glow rad="228600">
                  <a:schemeClr val="accent1">
                    <a:satMod val="175000"/>
                    <a:alpha val="40000"/>
                  </a:schemeClr>
                </a:glo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923638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/>
          <p:cNvCxnSpPr/>
          <p:nvPr/>
        </p:nvCxnSpPr>
        <p:spPr>
          <a:xfrm>
            <a:off x="-1257300" y="762000"/>
            <a:ext cx="5086350" cy="0"/>
          </a:xfrm>
          <a:prstGeom prst="line">
            <a:avLst/>
          </a:prstGeom>
          <a:ln>
            <a:solidFill>
              <a:schemeClr val="bg1"/>
            </a:solidFill>
            <a:tailEnd type="oval" w="lg" len="lg"/>
          </a:ln>
          <a:effectLst>
            <a:glow rad="139700">
              <a:schemeClr val="accent3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接连接符 3"/>
          <p:cNvCxnSpPr/>
          <p:nvPr/>
        </p:nvCxnSpPr>
        <p:spPr>
          <a:xfrm flipH="1">
            <a:off x="8343900" y="762000"/>
            <a:ext cx="5086350" cy="0"/>
          </a:xfrm>
          <a:prstGeom prst="line">
            <a:avLst/>
          </a:prstGeom>
          <a:ln>
            <a:solidFill>
              <a:schemeClr val="bg1"/>
            </a:solidFill>
            <a:tailEnd type="oval" w="lg" len="lg"/>
          </a:ln>
          <a:effectLst>
            <a:glow rad="139700">
              <a:schemeClr val="accent3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/>
          <p:cNvSpPr txBox="1"/>
          <p:nvPr/>
        </p:nvSpPr>
        <p:spPr>
          <a:xfrm>
            <a:off x="0" y="1327"/>
            <a:ext cx="262550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400" b="1" dirty="0" smtClean="0">
                <a:solidFill>
                  <a:schemeClr val="bg1"/>
                </a:solidFill>
                <a:effectLst>
                  <a:glow rad="228600">
                    <a:schemeClr val="accent3">
                      <a:satMod val="175000"/>
                      <a:alpha val="40000"/>
                    </a:schemeClr>
                  </a:glow>
                </a:effectLst>
                <a:cs typeface="+mn-ea"/>
                <a:sym typeface="+mn-lt"/>
              </a:rPr>
              <a:t>技术实现</a:t>
            </a:r>
            <a:endParaRPr lang="zh-CN" altLang="en-US" sz="4400" b="1" dirty="0">
              <a:solidFill>
                <a:schemeClr val="bg1"/>
              </a:solidFill>
              <a:effectLst>
                <a:glow rad="228600">
                  <a:schemeClr val="accent3">
                    <a:satMod val="175000"/>
                    <a:alpha val="40000"/>
                  </a:schemeClr>
                </a:glow>
              </a:effectLst>
              <a:cs typeface="+mn-ea"/>
              <a:sym typeface="+mn-lt"/>
            </a:endParaRPr>
          </a:p>
        </p:txBody>
      </p:sp>
      <p:sp>
        <p:nvSpPr>
          <p:cNvPr id="13" name="TextBox 29"/>
          <p:cNvSpPr txBox="1">
            <a:spLocks noChangeArrowheads="1"/>
          </p:cNvSpPr>
          <p:nvPr/>
        </p:nvSpPr>
        <p:spPr bwMode="auto">
          <a:xfrm>
            <a:off x="723559" y="6401655"/>
            <a:ext cx="795338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1pPr>
            <a:lvl2pPr marL="742950" indent="-285750" eaLnBrk="0" hangingPunct="0">
              <a:spcBef>
                <a:spcPct val="20000"/>
              </a:spcBef>
              <a:buBlip>
                <a:blip r:embed="rId3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2pPr>
            <a:lvl3pPr marL="1143000" indent="-228600" eaLnBrk="0" hangingPunct="0">
              <a:spcBef>
                <a:spcPct val="20000"/>
              </a:spcBef>
              <a:buBlip>
                <a:blip r:embed="rId3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3pPr>
            <a:lvl4pPr marL="1600200" indent="-228600" eaLnBrk="0" hangingPunct="0">
              <a:spcBef>
                <a:spcPct val="20000"/>
              </a:spcBef>
              <a:buBlip>
                <a:blip r:embed="rId3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4pPr>
            <a:lvl5pPr marL="2057400" indent="-228600" eaLnBrk="0" hangingPunct="0">
              <a:spcBef>
                <a:spcPct val="20000"/>
              </a:spcBef>
              <a:buBlip>
                <a:blip r:embed="rId3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1600" dirty="0" smtClean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采集</a:t>
            </a:r>
            <a:r>
              <a:rPr lang="zh-CN" altLang="en-US" sz="1600" dirty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层</a:t>
            </a:r>
          </a:p>
        </p:txBody>
      </p:sp>
      <p:sp>
        <p:nvSpPr>
          <p:cNvPr id="14" name="TextBox 25"/>
          <p:cNvSpPr txBox="1">
            <a:spLocks noChangeArrowheads="1"/>
          </p:cNvSpPr>
          <p:nvPr/>
        </p:nvSpPr>
        <p:spPr bwMode="auto">
          <a:xfrm>
            <a:off x="723559" y="5462349"/>
            <a:ext cx="906464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1pPr>
            <a:lvl2pPr marL="742950" indent="-285750" eaLnBrk="0" hangingPunct="0">
              <a:spcBef>
                <a:spcPct val="20000"/>
              </a:spcBef>
              <a:buBlip>
                <a:blip r:embed="rId3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2pPr>
            <a:lvl3pPr marL="1143000" indent="-228600" eaLnBrk="0" hangingPunct="0">
              <a:spcBef>
                <a:spcPct val="20000"/>
              </a:spcBef>
              <a:buBlip>
                <a:blip r:embed="rId3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3pPr>
            <a:lvl4pPr marL="1600200" indent="-228600" eaLnBrk="0" hangingPunct="0">
              <a:spcBef>
                <a:spcPct val="20000"/>
              </a:spcBef>
              <a:buBlip>
                <a:blip r:embed="rId3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4pPr>
            <a:lvl5pPr marL="2057400" indent="-228600" eaLnBrk="0" hangingPunct="0">
              <a:spcBef>
                <a:spcPct val="20000"/>
              </a:spcBef>
              <a:buBlip>
                <a:blip r:embed="rId3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1600" dirty="0" smtClean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处理层</a:t>
            </a:r>
            <a:endParaRPr lang="zh-CN" altLang="en-US" sz="1600" dirty="0">
              <a:solidFill>
                <a:schemeClr val="tx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5" name="TextBox 25"/>
          <p:cNvSpPr txBox="1">
            <a:spLocks noChangeArrowheads="1"/>
          </p:cNvSpPr>
          <p:nvPr/>
        </p:nvSpPr>
        <p:spPr bwMode="auto">
          <a:xfrm>
            <a:off x="723607" y="3806165"/>
            <a:ext cx="1008064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1pPr>
            <a:lvl2pPr marL="742950" indent="-285750" eaLnBrk="0" hangingPunct="0">
              <a:spcBef>
                <a:spcPct val="20000"/>
              </a:spcBef>
              <a:buBlip>
                <a:blip r:embed="rId3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2pPr>
            <a:lvl3pPr marL="1143000" indent="-228600" eaLnBrk="0" hangingPunct="0">
              <a:spcBef>
                <a:spcPct val="20000"/>
              </a:spcBef>
              <a:buBlip>
                <a:blip r:embed="rId3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3pPr>
            <a:lvl4pPr marL="1600200" indent="-228600" eaLnBrk="0" hangingPunct="0">
              <a:spcBef>
                <a:spcPct val="20000"/>
              </a:spcBef>
              <a:buBlip>
                <a:blip r:embed="rId3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4pPr>
            <a:lvl5pPr marL="2057400" indent="-228600" eaLnBrk="0" hangingPunct="0">
              <a:spcBef>
                <a:spcPct val="20000"/>
              </a:spcBef>
              <a:buBlip>
                <a:blip r:embed="rId3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1600" dirty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业务</a:t>
            </a:r>
            <a:r>
              <a:rPr lang="zh-CN" altLang="en-US" sz="1600" dirty="0" smtClean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层</a:t>
            </a:r>
            <a:endParaRPr lang="zh-CN" altLang="en-US" sz="1600" dirty="0">
              <a:solidFill>
                <a:schemeClr val="tx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6" name="TextBox 25"/>
          <p:cNvSpPr txBox="1">
            <a:spLocks noChangeArrowheads="1"/>
          </p:cNvSpPr>
          <p:nvPr/>
        </p:nvSpPr>
        <p:spPr bwMode="auto">
          <a:xfrm>
            <a:off x="688063" y="1588569"/>
            <a:ext cx="906463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1pPr>
            <a:lvl2pPr marL="742950" indent="-285750" eaLnBrk="0" hangingPunct="0">
              <a:spcBef>
                <a:spcPct val="20000"/>
              </a:spcBef>
              <a:buBlip>
                <a:blip r:embed="rId3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2pPr>
            <a:lvl3pPr marL="1143000" indent="-228600" eaLnBrk="0" hangingPunct="0">
              <a:spcBef>
                <a:spcPct val="20000"/>
              </a:spcBef>
              <a:buBlip>
                <a:blip r:embed="rId3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3pPr>
            <a:lvl4pPr marL="1600200" indent="-228600" eaLnBrk="0" hangingPunct="0">
              <a:spcBef>
                <a:spcPct val="20000"/>
              </a:spcBef>
              <a:buBlip>
                <a:blip r:embed="rId3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4pPr>
            <a:lvl5pPr marL="2057400" indent="-228600" eaLnBrk="0" hangingPunct="0">
              <a:spcBef>
                <a:spcPct val="20000"/>
              </a:spcBef>
              <a:buBlip>
                <a:blip r:embed="rId3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1600" dirty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应用层</a:t>
            </a:r>
          </a:p>
        </p:txBody>
      </p:sp>
      <p:sp>
        <p:nvSpPr>
          <p:cNvPr id="69" name="文本框 68"/>
          <p:cNvSpPr txBox="1"/>
          <p:nvPr/>
        </p:nvSpPr>
        <p:spPr>
          <a:xfrm>
            <a:off x="4543233" y="326904"/>
            <a:ext cx="33147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 smtClean="0">
                <a:solidFill>
                  <a:schemeClr val="bg1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IT</a:t>
            </a:r>
            <a:r>
              <a:rPr lang="zh-CN" altLang="en-US" sz="2800" b="1" dirty="0" smtClean="0">
                <a:solidFill>
                  <a:schemeClr val="bg1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架构</a:t>
            </a:r>
            <a:endParaRPr lang="zh-CN" altLang="en-US" sz="2800" b="1" dirty="0">
              <a:solidFill>
                <a:schemeClr val="bg1"/>
              </a:solidFill>
              <a:effectLst>
                <a:glow rad="228600">
                  <a:schemeClr val="accent1">
                    <a:satMod val="175000"/>
                    <a:alpha val="40000"/>
                  </a:schemeClr>
                </a:glo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752975" y="4295775"/>
            <a:ext cx="50006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solidFill>
                  <a:srgbClr val="66FF99"/>
                </a:solidFill>
              </a:rPr>
              <a:t>纯技术细节 请宜通补充</a:t>
            </a:r>
            <a:endParaRPr lang="zh-CN" altLang="en-US" dirty="0">
              <a:solidFill>
                <a:srgbClr val="66FF9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70466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205160" y="1372916"/>
            <a:ext cx="857250" cy="31547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9900" b="1" dirty="0">
                <a:solidFill>
                  <a:schemeClr val="bg1"/>
                </a:solidFill>
              </a:rPr>
              <a:t>4</a:t>
            </a:r>
            <a:endParaRPr lang="zh-CN" altLang="en-US" sz="19900" b="1" dirty="0">
              <a:solidFill>
                <a:schemeClr val="bg1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981700" y="2778865"/>
            <a:ext cx="244320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400" b="1" dirty="0" smtClean="0">
                <a:solidFill>
                  <a:schemeClr val="bg1"/>
                </a:solidFill>
                <a:effectLst>
                  <a:glow rad="228600">
                    <a:schemeClr val="accent3">
                      <a:satMod val="175000"/>
                      <a:alpha val="40000"/>
                    </a:schemeClr>
                  </a:glo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建设规划</a:t>
            </a:r>
            <a:endParaRPr lang="zh-CN" altLang="en-US" sz="4400" b="1" dirty="0">
              <a:solidFill>
                <a:schemeClr val="bg1"/>
              </a:solidFill>
              <a:effectLst>
                <a:glow rad="228600">
                  <a:schemeClr val="accent3">
                    <a:satMod val="175000"/>
                    <a:alpha val="40000"/>
                  </a:schemeClr>
                </a:glo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264357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/>
          <p:cNvCxnSpPr/>
          <p:nvPr/>
        </p:nvCxnSpPr>
        <p:spPr>
          <a:xfrm>
            <a:off x="-1257300" y="762000"/>
            <a:ext cx="5086350" cy="0"/>
          </a:xfrm>
          <a:prstGeom prst="line">
            <a:avLst/>
          </a:prstGeom>
          <a:ln>
            <a:solidFill>
              <a:schemeClr val="bg1"/>
            </a:solidFill>
            <a:tailEnd type="oval" w="lg" len="lg"/>
          </a:ln>
          <a:effectLst>
            <a:glow rad="139700">
              <a:schemeClr val="accent3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接连接符 3"/>
          <p:cNvCxnSpPr/>
          <p:nvPr/>
        </p:nvCxnSpPr>
        <p:spPr>
          <a:xfrm flipH="1">
            <a:off x="8343900" y="762000"/>
            <a:ext cx="5086350" cy="0"/>
          </a:xfrm>
          <a:prstGeom prst="line">
            <a:avLst/>
          </a:prstGeom>
          <a:ln>
            <a:solidFill>
              <a:schemeClr val="bg1"/>
            </a:solidFill>
            <a:tailEnd type="oval" w="lg" len="lg"/>
          </a:ln>
          <a:effectLst>
            <a:glow rad="139700">
              <a:schemeClr val="accent3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/>
          <p:cNvSpPr txBox="1"/>
          <p:nvPr/>
        </p:nvSpPr>
        <p:spPr>
          <a:xfrm>
            <a:off x="0" y="1327"/>
            <a:ext cx="262550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400" b="1" dirty="0" smtClean="0">
                <a:solidFill>
                  <a:schemeClr val="bg1"/>
                </a:solidFill>
                <a:effectLst>
                  <a:glow rad="228600">
                    <a:schemeClr val="accent3">
                      <a:satMod val="175000"/>
                      <a:alpha val="40000"/>
                    </a:schemeClr>
                  </a:glo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建设规划</a:t>
            </a:r>
            <a:endParaRPr lang="zh-CN" altLang="en-US" sz="4400" b="1" dirty="0">
              <a:solidFill>
                <a:schemeClr val="bg1"/>
              </a:solidFill>
              <a:effectLst>
                <a:glow rad="228600">
                  <a:schemeClr val="accent3">
                    <a:satMod val="175000"/>
                    <a:alpha val="40000"/>
                  </a:schemeClr>
                </a:glo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499945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886200" y="2514600"/>
            <a:ext cx="46863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600" dirty="0" smtClean="0">
                <a:solidFill>
                  <a:schemeClr val="bg1"/>
                </a:solidFill>
              </a:rPr>
              <a:t>THANK YOU!</a:t>
            </a:r>
            <a:endParaRPr lang="zh-CN" altLang="en-US" sz="6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72973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自定义设计方案">
  <a:themeElements>
    <a:clrScheme name="自定义 43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F2CA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zox4ugo">
      <a:majorFont>
        <a:latin typeface="Microsoft YaHei"/>
        <a:ea typeface="Microsoft YaHei"/>
        <a:cs typeface=""/>
      </a:majorFont>
      <a:minorFont>
        <a:latin typeface="Microsoft YaHei"/>
        <a:ea typeface="Microsoft YaHe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3026</TotalTime>
  <Words>1561</Words>
  <Application>Microsoft Office PowerPoint</Application>
  <PresentationFormat>宽屏</PresentationFormat>
  <Paragraphs>304</Paragraphs>
  <Slides>25</Slides>
  <Notes>25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33" baseType="lpstr">
      <vt:lpstr>等线</vt:lpstr>
      <vt:lpstr>Microsoft YaHei</vt:lpstr>
      <vt:lpstr>Microsoft YaHei</vt:lpstr>
      <vt:lpstr>Arial</vt:lpstr>
      <vt:lpstr>Century Gothic</vt:lpstr>
      <vt:lpstr>Segoe UI Light</vt:lpstr>
      <vt:lpstr>Wingdings</vt:lpstr>
      <vt:lpstr>自定义设计方案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Asus</dc:creator>
  <cp:lastModifiedBy>cong x</cp:lastModifiedBy>
  <cp:revision>112</cp:revision>
  <dcterms:created xsi:type="dcterms:W3CDTF">2015-07-31T08:15:03Z</dcterms:created>
  <dcterms:modified xsi:type="dcterms:W3CDTF">2018-04-10T01:41:03Z</dcterms:modified>
</cp:coreProperties>
</file>